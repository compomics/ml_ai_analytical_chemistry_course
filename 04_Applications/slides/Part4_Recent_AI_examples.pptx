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c1d69e945944fb" /><Relationship Type="http://schemas.openxmlformats.org/officeDocument/2006/relationships/extended-properties" Target="/docProps/app.xml" Id="R4062ea93039e4682" /><Relationship Type="http://schemas.openxmlformats.org/officeDocument/2006/relationships/officeDocument" Target="/ppt/presentation.xml" Id="R3c080a08de954529" /></Relationships>
</file>

<file path=ppt/presentation.xml><?xml version="1.0" encoding="utf-8"?>
<p:presentation xmlns:p="http://schemas.openxmlformats.org/presentationml/2006/main">
  <p:sldMasterIdLst>
    <p:sldMasterId xmlns:r="http://schemas.openxmlformats.org/officeDocument/2006/relationships" id="2147483648" r:id="R080c200e89ad407a"/>
  </p:sldMasterIdLst>
  <p:notesMasterIdLst>
    <p:notesMasterId xmlns:r="http://schemas.openxmlformats.org/officeDocument/2006/relationships" r:id="R7636199190e14935"/>
  </p:notesMasterIdLst>
  <p:sldIdLst>
    <p:sldId xmlns:r="http://schemas.openxmlformats.org/officeDocument/2006/relationships" id="256" r:id="Rd4ef807401c849ae"/>
    <p:sldId xmlns:r="http://schemas.openxmlformats.org/officeDocument/2006/relationships" id="257" r:id="Reba50a25a23d4bcb"/>
    <p:sldId xmlns:r="http://schemas.openxmlformats.org/officeDocument/2006/relationships" id="258" r:id="R0087660e9a03408d"/>
    <p:sldId xmlns:r="http://schemas.openxmlformats.org/officeDocument/2006/relationships" id="259" r:id="Rcbc15eec35a34507"/>
    <p:sldId xmlns:r="http://schemas.openxmlformats.org/officeDocument/2006/relationships" id="260" r:id="R41af8e5ba79c4e9b"/>
    <p:sldId xmlns:r="http://schemas.openxmlformats.org/officeDocument/2006/relationships" id="261" r:id="Rbf981644f3824d9c"/>
    <p:sldId xmlns:r="http://schemas.openxmlformats.org/officeDocument/2006/relationships" id="262" r:id="R5e5cd1be9d024a6e"/>
    <p:sldId xmlns:r="http://schemas.openxmlformats.org/officeDocument/2006/relationships" id="263" r:id="Re7187253cde84174"/>
    <p:sldId xmlns:r="http://schemas.openxmlformats.org/officeDocument/2006/relationships" id="264" r:id="R5e1658aa1f0745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a64cbfb0fb4255" /><Relationship Type="http://schemas.openxmlformats.org/officeDocument/2006/relationships/slideMaster" Target="/ppt/slideMasters/slideMaster1.xml" Id="R080c200e89ad407a" /><Relationship Type="http://schemas.openxmlformats.org/officeDocument/2006/relationships/notesMaster" Target="/ppt/notesMasters/notesMaster1.xml" Id="R7636199190e14935" /><Relationship Type="http://schemas.openxmlformats.org/officeDocument/2006/relationships/presProps" Target="/ppt/presProps.xml" Id="Rfb209fd91d9a4bff" /><Relationship Type="http://schemas.openxmlformats.org/officeDocument/2006/relationships/tableStyles" Target="/ppt/tableStyles.xml" Id="Rbd1712416d104311" /><Relationship Type="http://schemas.openxmlformats.org/officeDocument/2006/relationships/slide" Target="/ppt/slides/slide1.xml" Id="Rd4ef807401c849ae" /><Relationship Type="http://schemas.openxmlformats.org/officeDocument/2006/relationships/slide" Target="/ppt/slides/slide2.xml" Id="Reba50a25a23d4bcb" /><Relationship Type="http://schemas.openxmlformats.org/officeDocument/2006/relationships/slide" Target="/ppt/slides/slide3.xml" Id="R0087660e9a03408d" /><Relationship Type="http://schemas.openxmlformats.org/officeDocument/2006/relationships/slide" Target="/ppt/slides/slide4.xml" Id="Rcbc15eec35a34507" /><Relationship Type="http://schemas.openxmlformats.org/officeDocument/2006/relationships/slide" Target="/ppt/slides/slide5.xml" Id="R41af8e5ba79c4e9b" /><Relationship Type="http://schemas.openxmlformats.org/officeDocument/2006/relationships/slide" Target="/ppt/slides/slide6.xml" Id="Rbf981644f3824d9c" /><Relationship Type="http://schemas.openxmlformats.org/officeDocument/2006/relationships/slide" Target="/ppt/slides/slide7.xml" Id="R5e5cd1be9d024a6e" /><Relationship Type="http://schemas.openxmlformats.org/officeDocument/2006/relationships/slide" Target="/ppt/slides/slide8.xml" Id="Re7187253cde84174" /><Relationship Type="http://schemas.openxmlformats.org/officeDocument/2006/relationships/slide" Target="/ppt/slides/slide9.xml" Id="R5e1658aa1f0745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f56b8f6f6e47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0a084412ff4bf5" /><Relationship Type="http://schemas.openxmlformats.org/officeDocument/2006/relationships/notesMaster" Target="/ppt/notesMasters/notesMaster1.xml" Id="R5a11601e0a5643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1e9cb8263e4379" /><Relationship Type="http://schemas.openxmlformats.org/officeDocument/2006/relationships/notesMaster" Target="/ppt/notesMasters/notesMaster1.xml" Id="Rcde26bf3473548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396a791a894094" /><Relationship Type="http://schemas.openxmlformats.org/officeDocument/2006/relationships/notesMaster" Target="/ppt/notesMasters/notesMaster1.xml" Id="Rf415f83f5fef4d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5900a5550a417c" /><Relationship Type="http://schemas.openxmlformats.org/officeDocument/2006/relationships/notesMaster" Target="/ppt/notesMasters/notesMaster1.xml" Id="Rded569d64dfa49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1deee2a56949ea" /><Relationship Type="http://schemas.openxmlformats.org/officeDocument/2006/relationships/notesMaster" Target="/ppt/notesMasters/notesMaster1.xml" Id="R6d9c2dd76f2343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2dae1c9cd24cb9" /><Relationship Type="http://schemas.openxmlformats.org/officeDocument/2006/relationships/notesMaster" Target="/ppt/notesMasters/notesMaster1.xml" Id="R218d925966e746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5d085adb77444d" /><Relationship Type="http://schemas.openxmlformats.org/officeDocument/2006/relationships/notesMaster" Target="/ppt/notesMasters/notesMaster1.xml" Id="Rc2a3f1a0f36242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50dc1f38d84482" /><Relationship Type="http://schemas.openxmlformats.org/officeDocument/2006/relationships/notesMaster" Target="/ppt/notesMasters/notesMaster1.xml" Id="Ree90b398a46943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d18ce6f88d49ac" /><Relationship Type="http://schemas.openxmlformats.org/officeDocument/2006/relationships/notesMaster" Target="/ppt/notesMasters/notesMaster1.xml" Id="R0131bd9bceb44e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measured ethanol spectrum published by the Hebrew University NMR laboratory, Figure 2, recorded in CDCl3. The original image includes actual multiplet structure and orange integration traces: OH 1, CH2 2 and CH3 3. The OH signal lies near 3.9 ppm here and changes with conditions. The figure preserves the source signal and axes; only GIF-to-PNG format conversion was used. Peak height alone does not count hydrogens. Use this known structure to introduce the inverse question of identifying an unknown molecule.</a:t>
            </a:r>
          </a:p>
          <a:p xmlns:a="http://schemas.openxmlformats.org/drawingml/2006/main">
            <a:r>
              <a:t/>
            </a:r>
          </a:p>
          <a:p xmlns:a="http://schemas.openxmlformats.org/drawingml/2006/main">
            <a:r>
              <a:t>Spectrum and interpretation</a:t>
            </a:r>
          </a:p>
          <a:p xmlns:a="http://schemas.openxmlformats.org/drawingml/2006/main">
            <a:r>
              <a:t>https://chem.ch.huji.ac.il/nmr/techniques/1d/row1/h.html</a:t>
            </a:r>
          </a:p>
          <a:p xmlns:a="http://schemas.openxmlformats.org/drawingml/2006/main">
            <a:r>
              <a:t>https://chem.ch.huji.ac.il/nmr/techniques/1d/row1/h_files/ethanol.gif</a:t>
            </a:r>
          </a:p>
          <a:p xmlns:a="http://schemas.openxmlformats.org/drawingml/2006/main">
            <a:r>
              <a:t/>
            </a:r>
          </a:p>
          <a:p xmlns:a="http://schemas.openxmlformats.org/drawingml/2006/main">
            <a:r>
              <a:t>NMR-Solver</a:t>
            </a:r>
          </a:p>
          <a:p xmlns:a="http://schemas.openxmlformats.org/drawingml/2006/main">
            <a:r>
              <a:t>https://doi.org/10.1038/s41467-026-71315-0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each predicted shift set with the measurements. Keep promising candidates and repeat. A molecular formula or expert starting structure can constrain the search. Figure reproduced unchanged.</a:t>
            </a:r>
          </a:p>
          <a:p xmlns:a="http://schemas.openxmlformats.org/drawingml/2006/main">
            <a:r>
              <a:t/>
            </a:r>
          </a:p>
          <a:p xmlns:a="http://schemas.openxmlformats.org/drawingml/2006/main">
            <a:r>
              <a:t>Sources</a:t>
            </a:r>
          </a:p>
          <a:p xmlns:a="http://schemas.openxmlformats.org/drawingml/2006/main">
            <a:r>
              <a:t>https://doi.org/10.1038/s41467-026-71315-0</a:t>
            </a:r>
          </a:p>
          <a:p xmlns:a="http://schemas.openxmlformats.org/drawingml/2006/main">
            <a:r>
              <a:t>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a Pd-catalysed transformation, checked using HMBC, HSQC and HRMS. Right: forward-model error favoured the wrong structure. Crops omit reaction mechanisms and other cases.</a:t>
            </a:r>
          </a:p>
          <a:p xmlns:a="http://schemas.openxmlformats.org/drawingml/2006/main">
            <a:r>
              <a:t/>
            </a:r>
          </a:p>
          <a:p xmlns:a="http://schemas.openxmlformats.org/drawingml/2006/main">
            <a:r>
              <a:t>Sources</a:t>
            </a:r>
          </a:p>
          <a:p xmlns:a="http://schemas.openxmlformats.org/drawingml/2006/main">
            <a:r>
              <a:t>https://doi.org/10.1038/s41467-026-71315-0</a:t>
            </a:r>
          </a:p>
          <a:p xmlns:a="http://schemas.openxmlformats.org/drawingml/2006/main">
            <a:r>
              <a:t>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Raman shift measures energy exchanged with molecular vibrations. The curves are schematic compound spectra. A whole cell contains many chemical components, and its combined spectrum can help distinguish microorganisms. The following example uses a CNN trained on known species.</a:t>
            </a:r>
          </a:p>
          <a:p xmlns:a="http://schemas.openxmlformats.org/drawingml/2006/main">
            <a:r>
              <a:t/>
            </a:r>
          </a:p>
          <a:p xmlns:a="http://schemas.openxmlformats.org/drawingml/2006/main">
            <a:r>
              <a:t>Sources</a:t>
            </a:r>
          </a:p>
          <a:p xmlns:a="http://schemas.openxmlformats.org/drawingml/2006/main">
            <a:r>
              <a:t>https://www.renishaw.com/en/what-is-raman-scattering--25805</a:t>
            </a:r>
          </a:p>
          <a:p xmlns:a="http://schemas.openxmlformats.org/drawingml/2006/main">
            <a:r>
              <a:t>https://doi.org/10.1038/s41467-025-66996-y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one-dimensional ResNet learns local Raman patterns from 342 clinical isolates representing 36 species. Several measured cells contribute to each identification. This is classification among represented species. Fig. 1b is cropped from Li et al.; figure credit: Xu, J., BioRender https://BioRender.com/dmb6g5f.</a:t>
            </a:r>
          </a:p>
          <a:p xmlns:a="http://schemas.openxmlformats.org/drawingml/2006/main">
            <a:r>
              <a:t/>
            </a:r>
          </a:p>
          <a:p xmlns:a="http://schemas.openxmlformats.org/drawingml/2006/main">
            <a:r>
              <a:t>https://doi.org/10.1038/s41467-025-66996-y</a:t>
            </a:r>
          </a:p>
          <a:p xmlns:a="http://schemas.openxmlformats.org/drawingml/2006/main">
            <a:r>
              <a:t>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Isolate result: grouped five-fold cross-validation. Clinical identification: blinded evaluation of 120 selected positive samples with represented species and culture/MALDI-TOF results. These are distinct cohorts and endpoints. Clinical agreement: 82.5%, 95% CI 74.7–88.3%. The abstract’s 95.4% concerns infection screening, not species identification. Direct transfer between instruments also performed poorly in a six-Candida-species subset.</a:t>
            </a:r>
          </a:p>
          <a:p xmlns:a="http://schemas.openxmlformats.org/drawingml/2006/main">
            <a:r>
              <a:t/>
            </a:r>
          </a:p>
          <a:p xmlns:a="http://schemas.openxmlformats.org/drawingml/2006/main">
            <a:r>
              <a:t>https://doi.org/10.1038/s41467-025-66996-y</a:t>
            </a:r>
          </a:p>
          <a:p xmlns:a="http://schemas.openxmlformats.org/drawingml/2006/main">
            <a:r>
              <a:t>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powder pattern, not a specific material or a PXRDGen result. Different orientations produce diffraction at different angles. Peak positions constrain lattice spacings, while relative intensities contain information about unit-cell contents. Overlap complicates inversion. PXRDGen uses the chemical formula as an additional constraint.</a:t>
            </a:r>
          </a:p>
          <a:p xmlns:a="http://schemas.openxmlformats.org/drawingml/2006/main">
            <a:r>
              <a:t/>
            </a:r>
          </a:p>
          <a:p xmlns:a="http://schemas.openxmlformats.org/drawingml/2006/main">
            <a:r>
              <a:t>Sources</a:t>
            </a:r>
          </a:p>
          <a:p xmlns:a="http://schemas.openxmlformats.org/drawingml/2006/main">
            <a:r>
              <a:t>https://www.iucr.org/education/pamphlets/2/full-text</a:t>
            </a:r>
          </a:p>
          <a:p xmlns:a="http://schemas.openxmlformats.org/drawingml/2006/main">
            <a:r>
              <a:t>https://doi.org/10.1038/s41467-025-62708-8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PXRD means powder X-ray diffraction. The generator learns plausible crystal structures. Rietveld refinement compares calculated and input diffraction intensities. Full original figure, without crops or overlays.</a:t>
            </a:r>
          </a:p>
          <a:p xmlns:a="http://schemas.openxmlformats.org/drawingml/2006/main">
            <a:r>
              <a:t/>
            </a:r>
          </a:p>
          <a:p xmlns:a="http://schemas.openxmlformats.org/drawingml/2006/main">
            <a:r>
              <a:t>Sources</a:t>
            </a:r>
          </a:p>
          <a:p xmlns:a="http://schemas.openxmlformats.org/drawingml/2006/main">
            <a:r>
              <a:t>https://doi.org/10.1038/s41467-025-62708-8</a:t>
            </a:r>
          </a:p>
          <a:p xmlns:a="http://schemas.openxmlformats.org/drawingml/2006/main">
            <a:r>
              <a:t>https://creativecommons.org/licenses/by-nc-nd/4.0/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counts use flow-CNN-Ltruth: 8,238 valid entries from 9,046 test cases, 7,946 structure matches and 7,304 automatic refinements. Do not generalise this result to all experimental powders.</a:t>
            </a:r>
          </a:p>
          <a:p xmlns:a="http://schemas.openxmlformats.org/drawingml/2006/main">
            <a:r>
              <a:t/>
            </a:r>
          </a:p>
          <a:p xmlns:a="http://schemas.openxmlformats.org/drawingml/2006/main">
            <a:r>
              <a:t>Sources</a:t>
            </a:r>
          </a:p>
          <a:p xmlns:a="http://schemas.openxmlformats.org/drawingml/2006/main">
            <a:r>
              <a:t>https://doi.org/10.1038/s41467-025-62708-8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654d19691c47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c36837d5f245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70a33dfa8a47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cc7a5391ad48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4362cbf0604e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461b15dfd347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ABEBEE-4CEE-4F01-A4AE-5C95E56B24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6E97CC-06C1-4719-BBF7-90E25F5A9A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C02362-A68B-493C-AFAC-B2C8796C5C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02D1F5-736B-4B17-834A-6FA42DC9C1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C2F771-E7CF-4C0E-A575-F339AAE350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AE9F78-53A8-4ACD-AD68-0105EB4429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C9E375-794B-441C-B6A5-5358E0B97E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59FB3A-9372-4FDB-B635-A9DD183986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F59361-FF40-4F5F-9335-22B7098CFD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E9D298-CB72-4899-BE33-F7AEAEA4F7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88cc97366049c9" /><Relationship Type="http://schemas.openxmlformats.org/officeDocument/2006/relationships/slideLayout" Target="/ppt/slideLayouts/slideLayout1.xml" Id="R66e3de1976624e74" /><Relationship Type="http://schemas.openxmlformats.org/officeDocument/2006/relationships/slideLayout" Target="/ppt/slideLayouts/slideLayout2.xml" Id="Rd54f101d34bc478a" /><Relationship Type="http://schemas.openxmlformats.org/officeDocument/2006/relationships/slideLayout" Target="/ppt/slideLayouts/slideLayout3.xml" Id="Re20c39f5aed4491f" /><Relationship Type="http://schemas.openxmlformats.org/officeDocument/2006/relationships/slideLayout" Target="/ppt/slideLayouts/slideLayout4.xml" Id="Ree394612e5ec4106" /><Relationship Type="http://schemas.openxmlformats.org/officeDocument/2006/relationships/slideLayout" Target="/ppt/slideLayouts/slideLayout5.xml" Id="R74426652b4154ed7" /><Relationship Type="http://schemas.openxmlformats.org/officeDocument/2006/relationships/slideLayout" Target="/ppt/slideLayouts/slideLayout6.xml" Id="R8baf07fa428e46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e3de1976624e74"/>
    <p:sldLayoutId xmlns:r="http://schemas.openxmlformats.org/officeDocument/2006/relationships" id="2147483650" r:id="Rd54f101d34bc478a"/>
    <p:sldLayoutId xmlns:r="http://schemas.openxmlformats.org/officeDocument/2006/relationships" id="2147483651" r:id="Re20c39f5aed4491f"/>
    <p:sldLayoutId xmlns:r="http://schemas.openxmlformats.org/officeDocument/2006/relationships" id="2147483652" r:id="Ree394612e5ec4106"/>
    <p:sldLayoutId xmlns:r="http://schemas.openxmlformats.org/officeDocument/2006/relationships" id="2147483653" r:id="R74426652b4154ed7"/>
    <p:sldLayoutId xmlns:r="http://schemas.openxmlformats.org/officeDocument/2006/relationships" id="2147483654" r:id="R8baf07fa428e46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6.xml" Id="R2dd41399e3bc48c4" /><Relationship Type="http://schemas.openxmlformats.org/officeDocument/2006/relationships/hyperlink" Target="https://chem.ch.huji.ac.il/nmr/techniques/1d/row1/h.html" TargetMode="External" Id="Ref212633d0234309" /><Relationship Type="http://schemas.openxmlformats.org/officeDocument/2006/relationships/image" Target="/ppt/media/real-ethanol-spectrum.png" Id="R8a7ed29bbd8d4f12" /><Relationship Type="http://schemas.openxmlformats.org/officeDocument/2006/relationships/notesSlide" Target="/ppt/notesSlides/notesSlide1.xml" Id="R2f71c437fddf4a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79d28abf3d4844" /><Relationship Type="http://schemas.openxmlformats.org/officeDocument/2006/relationships/hyperlink" Target="https://doi.org/10.1038/s41467-026-71315-0" TargetMode="External" Id="R30629e86895747f4" /><Relationship Type="http://schemas.openxmlformats.org/officeDocument/2006/relationships/image" Target="/ppt/media/image.png" Id="R17bfe7667db84c3c" /><Relationship Type="http://schemas.openxmlformats.org/officeDocument/2006/relationships/notesSlide" Target="/ppt/notesSlides/notesSlide2.xml" Id="Rb70a7aa9c9064e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8d0dd72f1f4482" /><Relationship Type="http://schemas.openxmlformats.org/officeDocument/2006/relationships/hyperlink" Target="https://doi.org/10.1038/s41467-026-71315-0" TargetMode="External" Id="R2739ded996f64b2a" /><Relationship Type="http://schemas.openxmlformats.org/officeDocument/2006/relationships/image" Target="/ppt/media/image2.png" Id="Rc31ea515099741ad" /><Relationship Type="http://schemas.openxmlformats.org/officeDocument/2006/relationships/image" Target="/ppt/media/image3.png" Id="R7c011288869f4b5c" /><Relationship Type="http://schemas.openxmlformats.org/officeDocument/2006/relationships/notesSlide" Target="/ppt/notesSlides/notesSlide3.xml" Id="R7d1bd7e9d52048b5"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6b7921b5a8334092" /><Relationship Type="http://schemas.openxmlformats.org/officeDocument/2006/relationships/hyperlink" Target="https://www.renishaw.com/en/what-is-raman-scattering--25805" TargetMode="External" Id="R63a54a860fc948ac" /><Relationship Type="http://schemas.openxmlformats.org/officeDocument/2006/relationships/chart" Target="/ppt/slides/charts/chart2.xml" Id="Rbd193a87e1b4431b" /><Relationship Type="http://schemas.openxmlformats.org/officeDocument/2006/relationships/notesSlide" Target="/ppt/notesSlides/notesSlide4.xml" Id="Rc8ae7fb481f941bf"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860bb333eb1c45c8" /><Relationship Type="http://schemas.openxmlformats.org/officeDocument/2006/relationships/hyperlink" Target="https://doi.org/10.1038/s41467-025-66996-y" TargetMode="External" Id="Rc2f49c183429400a" /><Relationship Type="http://schemas.openxmlformats.org/officeDocument/2006/relationships/image" Target="/ppt/media/replacement-raman-5-2.png" Id="Ra10cf504fda94b62" /><Relationship Type="http://schemas.openxmlformats.org/officeDocument/2006/relationships/notesSlide" Target="/ppt/notesSlides/notesSlide5.xml" Id="R29c1ef35618d42d3"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c9e7d737614945a6" /><Relationship Type="http://schemas.openxmlformats.org/officeDocument/2006/relationships/hyperlink" Target="https://doi.org/10.1038/s41467-025-66996-y" TargetMode="External" Id="R6c53794c66714f1f" /><Relationship Type="http://schemas.openxmlformats.org/officeDocument/2006/relationships/image" Target="/ppt/media/replacement-raman-6-2.png" Id="R92c1508e7e9b49e2" /><Relationship Type="http://schemas.openxmlformats.org/officeDocument/2006/relationships/notesSlide" Target="/ppt/notesSlides/notesSlide6.xml" Id="R366578a459db43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8528912a2a4baa" /><Relationship Type="http://schemas.openxmlformats.org/officeDocument/2006/relationships/hyperlink" Target="https://www.iucr.org/education/pamphlets/2/full-text" TargetMode="External" Id="R5781d5fe47864aef" /><Relationship Type="http://schemas.openxmlformats.org/officeDocument/2006/relationships/chart" Target="/ppt/slides/charts/chart3.xml" Id="Rd66f7c775d0c4404" /><Relationship Type="http://schemas.openxmlformats.org/officeDocument/2006/relationships/notesSlide" Target="/ppt/notesSlides/notesSlide7.xml" Id="R603356f86dac49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e6deb682494754" /><Relationship Type="http://schemas.openxmlformats.org/officeDocument/2006/relationships/hyperlink" Target="https://doi.org/10.1038/s41467-025-62708-8" TargetMode="External" Id="R4e757befea1c4fd6" /><Relationship Type="http://schemas.openxmlformats.org/officeDocument/2006/relationships/image" Target="/ppt/media/image6.png" Id="R2f79c0ad52a64f8b" /><Relationship Type="http://schemas.openxmlformats.org/officeDocument/2006/relationships/notesSlide" Target="/ppt/notesSlides/notesSlide8.xml" Id="R7a8640a8e6d944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8db1fff9e944b3" /><Relationship Type="http://schemas.openxmlformats.org/officeDocument/2006/relationships/hyperlink" Target="https://doi.org/10.1038/s41467-025-62708-8" TargetMode="External" Id="R4adf92de5c914c9d" /><Relationship Type="http://schemas.openxmlformats.org/officeDocument/2006/relationships/chart" Target="/ppt/slides/charts/chart4.xml" Id="R36ff79e1c8cc433a" /><Relationship Type="http://schemas.openxmlformats.org/officeDocument/2006/relationships/notesSlide" Target="/ppt/notesSlides/notesSlide9.xml" Id="Rc42cd22ab5a34fad" /></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Relationships xmlns="http://schemas.openxmlformats.org/package/2006/relationships"><Relationship Id="rIdChartSnapshot1" Type="http://schemas.openxmlformats.org/officeDocument/2006/relationships/package" Target="../../embeddings/retained-original-pxrd.xlsx" /></Relationships>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Compound A</c:v>
          </c:tx>
          <c:spPr>
            <ns1:ln w="20955">
              <ns1:solidFill>
                <ns1:srgbClr val="028090"/>
              </ns1:solidFill>
            </ns1:ln>
          </c:spPr>
          <c:marker>
            <c:symbol val="none"/>
          </c:marker>
          <c:cat>
            <c:numRef>
              <c:f>'Chart Data'!$A$2:$A$262</c:f>
              <c:numCache>
                <c:formatCode>General</c:formatCode>
                <c:ptCount val="261"/>
                <c:pt idx="0">
                  <c:v>500</c:v>
                </c:pt>
                <c:pt idx="1">
                  <c:v>505</c:v>
                </c:pt>
                <c:pt idx="2">
                  <c:v>510</c:v>
                </c:pt>
                <c:pt idx="3">
                  <c:v>515</c:v>
                </c:pt>
                <c:pt idx="4">
                  <c:v>520</c:v>
                </c:pt>
                <c:pt idx="5">
                  <c:v>525</c:v>
                </c:pt>
                <c:pt idx="6">
                  <c:v>530</c:v>
                </c:pt>
                <c:pt idx="7">
                  <c:v>535</c:v>
                </c:pt>
                <c:pt idx="8">
                  <c:v>540</c:v>
                </c:pt>
                <c:pt idx="9">
                  <c:v>545</c:v>
                </c:pt>
                <c:pt idx="10">
                  <c:v>550</c:v>
                </c:pt>
                <c:pt idx="11">
                  <c:v>555</c:v>
                </c:pt>
                <c:pt idx="12">
                  <c:v>560</c:v>
                </c:pt>
                <c:pt idx="13">
                  <c:v>565</c:v>
                </c:pt>
                <c:pt idx="14">
                  <c:v>570</c:v>
                </c:pt>
                <c:pt idx="15">
                  <c:v>575</c:v>
                </c:pt>
                <c:pt idx="16">
                  <c:v>580</c:v>
                </c:pt>
                <c:pt idx="17">
                  <c:v>585</c:v>
                </c:pt>
                <c:pt idx="18">
                  <c:v>590</c:v>
                </c:pt>
                <c:pt idx="19">
                  <c:v>595</c:v>
                </c:pt>
                <c:pt idx="20">
                  <c:v>600</c:v>
                </c:pt>
                <c:pt idx="21">
                  <c:v>605</c:v>
                </c:pt>
                <c:pt idx="22">
                  <c:v>610</c:v>
                </c:pt>
                <c:pt idx="23">
                  <c:v>615</c:v>
                </c:pt>
                <c:pt idx="24">
                  <c:v>620</c:v>
                </c:pt>
                <c:pt idx="25">
                  <c:v>625</c:v>
                </c:pt>
                <c:pt idx="26">
                  <c:v>630</c:v>
                </c:pt>
                <c:pt idx="27">
                  <c:v>635</c:v>
                </c:pt>
                <c:pt idx="28">
                  <c:v>640</c:v>
                </c:pt>
                <c:pt idx="29">
                  <c:v>645</c:v>
                </c:pt>
                <c:pt idx="30">
                  <c:v>650</c:v>
                </c:pt>
                <c:pt idx="31">
                  <c:v>655</c:v>
                </c:pt>
                <c:pt idx="32">
                  <c:v>660</c:v>
                </c:pt>
                <c:pt idx="33">
                  <c:v>665</c:v>
                </c:pt>
                <c:pt idx="34">
                  <c:v>670</c:v>
                </c:pt>
                <c:pt idx="35">
                  <c:v>675</c:v>
                </c:pt>
                <c:pt idx="36">
                  <c:v>680</c:v>
                </c:pt>
                <c:pt idx="37">
                  <c:v>685</c:v>
                </c:pt>
                <c:pt idx="38">
                  <c:v>690</c:v>
                </c:pt>
                <c:pt idx="39">
                  <c:v>695</c:v>
                </c:pt>
                <c:pt idx="40">
                  <c:v>700</c:v>
                </c:pt>
                <c:pt idx="41">
                  <c:v>705</c:v>
                </c:pt>
                <c:pt idx="42">
                  <c:v>710</c:v>
                </c:pt>
                <c:pt idx="43">
                  <c:v>715</c:v>
                </c:pt>
                <c:pt idx="44">
                  <c:v>720</c:v>
                </c:pt>
                <c:pt idx="45">
                  <c:v>725</c:v>
                </c:pt>
                <c:pt idx="46">
                  <c:v>730</c:v>
                </c:pt>
                <c:pt idx="47">
                  <c:v>735</c:v>
                </c:pt>
                <c:pt idx="48">
                  <c:v>740</c:v>
                </c:pt>
                <c:pt idx="49">
                  <c:v>745</c:v>
                </c:pt>
                <c:pt idx="50">
                  <c:v>750</c:v>
                </c:pt>
                <c:pt idx="51">
                  <c:v>755</c:v>
                </c:pt>
                <c:pt idx="52">
                  <c:v>760</c:v>
                </c:pt>
                <c:pt idx="53">
                  <c:v>765</c:v>
                </c:pt>
                <c:pt idx="54">
                  <c:v>770</c:v>
                </c:pt>
                <c:pt idx="55">
                  <c:v>775</c:v>
                </c:pt>
                <c:pt idx="56">
                  <c:v>780</c:v>
                </c:pt>
                <c:pt idx="57">
                  <c:v>785</c:v>
                </c:pt>
                <c:pt idx="58">
                  <c:v>790</c:v>
                </c:pt>
                <c:pt idx="59">
                  <c:v>795</c:v>
                </c:pt>
                <c:pt idx="60">
                  <c:v>800</c:v>
                </c:pt>
                <c:pt idx="61">
                  <c:v>805</c:v>
                </c:pt>
                <c:pt idx="62">
                  <c:v>810</c:v>
                </c:pt>
                <c:pt idx="63">
                  <c:v>815</c:v>
                </c:pt>
                <c:pt idx="64">
                  <c:v>820</c:v>
                </c:pt>
                <c:pt idx="65">
                  <c:v>825</c:v>
                </c:pt>
                <c:pt idx="66">
                  <c:v>830</c:v>
                </c:pt>
                <c:pt idx="67">
                  <c:v>835</c:v>
                </c:pt>
                <c:pt idx="68">
                  <c:v>840</c:v>
                </c:pt>
                <c:pt idx="69">
                  <c:v>845</c:v>
                </c:pt>
                <c:pt idx="70">
                  <c:v>850</c:v>
                </c:pt>
                <c:pt idx="71">
                  <c:v>855</c:v>
                </c:pt>
                <c:pt idx="72">
                  <c:v>860</c:v>
                </c:pt>
                <c:pt idx="73">
                  <c:v>865</c:v>
                </c:pt>
                <c:pt idx="74">
                  <c:v>870</c:v>
                </c:pt>
                <c:pt idx="75">
                  <c:v>875</c:v>
                </c:pt>
                <c:pt idx="76">
                  <c:v>880</c:v>
                </c:pt>
                <c:pt idx="77">
                  <c:v>885</c:v>
                </c:pt>
                <c:pt idx="78">
                  <c:v>890</c:v>
                </c:pt>
                <c:pt idx="79">
                  <c:v>895</c:v>
                </c:pt>
                <c:pt idx="80">
                  <c:v>900</c:v>
                </c:pt>
                <c:pt idx="81">
                  <c:v>905</c:v>
                </c:pt>
                <c:pt idx="82">
                  <c:v>910</c:v>
                </c:pt>
                <c:pt idx="83">
                  <c:v>915</c:v>
                </c:pt>
                <c:pt idx="84">
                  <c:v>920</c:v>
                </c:pt>
                <c:pt idx="85">
                  <c:v>925</c:v>
                </c:pt>
                <c:pt idx="86">
                  <c:v>930</c:v>
                </c:pt>
                <c:pt idx="87">
                  <c:v>935</c:v>
                </c:pt>
                <c:pt idx="88">
                  <c:v>940</c:v>
                </c:pt>
                <c:pt idx="89">
                  <c:v>945</c:v>
                </c:pt>
                <c:pt idx="90">
                  <c:v>950</c:v>
                </c:pt>
                <c:pt idx="91">
                  <c:v>955</c:v>
                </c:pt>
                <c:pt idx="92">
                  <c:v>960</c:v>
                </c:pt>
                <c:pt idx="93">
                  <c:v>965</c:v>
                </c:pt>
                <c:pt idx="94">
                  <c:v>970</c:v>
                </c:pt>
                <c:pt idx="95">
                  <c:v>975</c:v>
                </c:pt>
                <c:pt idx="96">
                  <c:v>980</c:v>
                </c:pt>
                <c:pt idx="97">
                  <c:v>985</c:v>
                </c:pt>
                <c:pt idx="98">
                  <c:v>990</c:v>
                </c:pt>
                <c:pt idx="99">
                  <c:v>995</c:v>
                </c:pt>
                <c:pt idx="100">
                  <c:v>1000</c:v>
                </c:pt>
                <c:pt idx="101">
                  <c:v>1005</c:v>
                </c:pt>
                <c:pt idx="102">
                  <c:v>1010</c:v>
                </c:pt>
                <c:pt idx="103">
                  <c:v>1015</c:v>
                </c:pt>
                <c:pt idx="104">
                  <c:v>1020</c:v>
                </c:pt>
                <c:pt idx="105">
                  <c:v>1025</c:v>
                </c:pt>
                <c:pt idx="106">
                  <c:v>1030</c:v>
                </c:pt>
                <c:pt idx="107">
                  <c:v>1035</c:v>
                </c:pt>
                <c:pt idx="108">
                  <c:v>1040</c:v>
                </c:pt>
                <c:pt idx="109">
                  <c:v>1045</c:v>
                </c:pt>
                <c:pt idx="110">
                  <c:v>1050</c:v>
                </c:pt>
                <c:pt idx="111">
                  <c:v>1055</c:v>
                </c:pt>
                <c:pt idx="112">
                  <c:v>1060</c:v>
                </c:pt>
                <c:pt idx="113">
                  <c:v>1065</c:v>
                </c:pt>
                <c:pt idx="114">
                  <c:v>1070</c:v>
                </c:pt>
                <c:pt idx="115">
                  <c:v>1075</c:v>
                </c:pt>
                <c:pt idx="116">
                  <c:v>1080</c:v>
                </c:pt>
                <c:pt idx="117">
                  <c:v>1085</c:v>
                </c:pt>
                <c:pt idx="118">
                  <c:v>1090</c:v>
                </c:pt>
                <c:pt idx="119">
                  <c:v>1095</c:v>
                </c:pt>
                <c:pt idx="120">
                  <c:v>1100</c:v>
                </c:pt>
                <c:pt idx="121">
                  <c:v>1105</c:v>
                </c:pt>
                <c:pt idx="122">
                  <c:v>1110</c:v>
                </c:pt>
                <c:pt idx="123">
                  <c:v>1115</c:v>
                </c:pt>
                <c:pt idx="124">
                  <c:v>1120</c:v>
                </c:pt>
                <c:pt idx="125">
                  <c:v>1125</c:v>
                </c:pt>
                <c:pt idx="126">
                  <c:v>1130</c:v>
                </c:pt>
                <c:pt idx="127">
                  <c:v>1135</c:v>
                </c:pt>
                <c:pt idx="128">
                  <c:v>1140</c:v>
                </c:pt>
                <c:pt idx="129">
                  <c:v>1145</c:v>
                </c:pt>
                <c:pt idx="130">
                  <c:v>1150</c:v>
                </c:pt>
                <c:pt idx="131">
                  <c:v>1155</c:v>
                </c:pt>
                <c:pt idx="132">
                  <c:v>1160</c:v>
                </c:pt>
                <c:pt idx="133">
                  <c:v>1165</c:v>
                </c:pt>
                <c:pt idx="134">
                  <c:v>1170</c:v>
                </c:pt>
                <c:pt idx="135">
                  <c:v>1175</c:v>
                </c:pt>
                <c:pt idx="136">
                  <c:v>1180</c:v>
                </c:pt>
                <c:pt idx="137">
                  <c:v>1185</c:v>
                </c:pt>
                <c:pt idx="138">
                  <c:v>1190</c:v>
                </c:pt>
                <c:pt idx="139">
                  <c:v>1195</c:v>
                </c:pt>
                <c:pt idx="140">
                  <c:v>1200</c:v>
                </c:pt>
                <c:pt idx="141">
                  <c:v>1205</c:v>
                </c:pt>
                <c:pt idx="142">
                  <c:v>1210</c:v>
                </c:pt>
                <c:pt idx="143">
                  <c:v>1215</c:v>
                </c:pt>
                <c:pt idx="144">
                  <c:v>1220</c:v>
                </c:pt>
                <c:pt idx="145">
                  <c:v>1225</c:v>
                </c:pt>
                <c:pt idx="146">
                  <c:v>1230</c:v>
                </c:pt>
                <c:pt idx="147">
                  <c:v>1235</c:v>
                </c:pt>
                <c:pt idx="148">
                  <c:v>1240</c:v>
                </c:pt>
                <c:pt idx="149">
                  <c:v>1245</c:v>
                </c:pt>
                <c:pt idx="150">
                  <c:v>1250</c:v>
                </c:pt>
                <c:pt idx="151">
                  <c:v>1255</c:v>
                </c:pt>
                <c:pt idx="152">
                  <c:v>1260</c:v>
                </c:pt>
                <c:pt idx="153">
                  <c:v>1265</c:v>
                </c:pt>
                <c:pt idx="154">
                  <c:v>1270</c:v>
                </c:pt>
                <c:pt idx="155">
                  <c:v>1275</c:v>
                </c:pt>
                <c:pt idx="156">
                  <c:v>1280</c:v>
                </c:pt>
                <c:pt idx="157">
                  <c:v>1285</c:v>
                </c:pt>
                <c:pt idx="158">
                  <c:v>1290</c:v>
                </c:pt>
                <c:pt idx="159">
                  <c:v>1295</c:v>
                </c:pt>
                <c:pt idx="160">
                  <c:v>1300</c:v>
                </c:pt>
                <c:pt idx="161">
                  <c:v>1305</c:v>
                </c:pt>
                <c:pt idx="162">
                  <c:v>1310</c:v>
                </c:pt>
                <c:pt idx="163">
                  <c:v>1315</c:v>
                </c:pt>
                <c:pt idx="164">
                  <c:v>1320</c:v>
                </c:pt>
                <c:pt idx="165">
                  <c:v>1325</c:v>
                </c:pt>
                <c:pt idx="166">
                  <c:v>1330</c:v>
                </c:pt>
                <c:pt idx="167">
                  <c:v>1335</c:v>
                </c:pt>
                <c:pt idx="168">
                  <c:v>1340</c:v>
                </c:pt>
                <c:pt idx="169">
                  <c:v>1345</c:v>
                </c:pt>
                <c:pt idx="170">
                  <c:v>1350</c:v>
                </c:pt>
                <c:pt idx="171">
                  <c:v>1355</c:v>
                </c:pt>
                <c:pt idx="172">
                  <c:v>1360</c:v>
                </c:pt>
                <c:pt idx="173">
                  <c:v>1365</c:v>
                </c:pt>
                <c:pt idx="174">
                  <c:v>1370</c:v>
                </c:pt>
                <c:pt idx="175">
                  <c:v>1375</c:v>
                </c:pt>
                <c:pt idx="176">
                  <c:v>1380</c:v>
                </c:pt>
                <c:pt idx="177">
                  <c:v>1385</c:v>
                </c:pt>
                <c:pt idx="178">
                  <c:v>1390</c:v>
                </c:pt>
                <c:pt idx="179">
                  <c:v>1395</c:v>
                </c:pt>
                <c:pt idx="180">
                  <c:v>1400</c:v>
                </c:pt>
                <c:pt idx="181">
                  <c:v>1405</c:v>
                </c:pt>
                <c:pt idx="182">
                  <c:v>1410</c:v>
                </c:pt>
                <c:pt idx="183">
                  <c:v>1415</c:v>
                </c:pt>
                <c:pt idx="184">
                  <c:v>1420</c:v>
                </c:pt>
                <c:pt idx="185">
                  <c:v>1425</c:v>
                </c:pt>
                <c:pt idx="186">
                  <c:v>1430</c:v>
                </c:pt>
                <c:pt idx="187">
                  <c:v>1435</c:v>
                </c:pt>
                <c:pt idx="188">
                  <c:v>1440</c:v>
                </c:pt>
                <c:pt idx="189">
                  <c:v>1445</c:v>
                </c:pt>
                <c:pt idx="190">
                  <c:v>1450</c:v>
                </c:pt>
                <c:pt idx="191">
                  <c:v>1455</c:v>
                </c:pt>
                <c:pt idx="192">
                  <c:v>1460</c:v>
                </c:pt>
                <c:pt idx="193">
                  <c:v>1465</c:v>
                </c:pt>
                <c:pt idx="194">
                  <c:v>1470</c:v>
                </c:pt>
                <c:pt idx="195">
                  <c:v>1475</c:v>
                </c:pt>
                <c:pt idx="196">
                  <c:v>1480</c:v>
                </c:pt>
                <c:pt idx="197">
                  <c:v>1485</c:v>
                </c:pt>
                <c:pt idx="198">
                  <c:v>1490</c:v>
                </c:pt>
                <c:pt idx="199">
                  <c:v>1495</c:v>
                </c:pt>
                <c:pt idx="200">
                  <c:v>1500</c:v>
                </c:pt>
                <c:pt idx="201">
                  <c:v>1505</c:v>
                </c:pt>
                <c:pt idx="202">
                  <c:v>1510</c:v>
                </c:pt>
                <c:pt idx="203">
                  <c:v>1515</c:v>
                </c:pt>
                <c:pt idx="204">
                  <c:v>1520</c:v>
                </c:pt>
                <c:pt idx="205">
                  <c:v>1525</c:v>
                </c:pt>
                <c:pt idx="206">
                  <c:v>1530</c:v>
                </c:pt>
                <c:pt idx="207">
                  <c:v>1535</c:v>
                </c:pt>
                <c:pt idx="208">
                  <c:v>1540</c:v>
                </c:pt>
                <c:pt idx="209">
                  <c:v>1545</c:v>
                </c:pt>
                <c:pt idx="210">
                  <c:v>1550</c:v>
                </c:pt>
                <c:pt idx="211">
                  <c:v>1555</c:v>
                </c:pt>
                <c:pt idx="212">
                  <c:v>1560</c:v>
                </c:pt>
                <c:pt idx="213">
                  <c:v>1565</c:v>
                </c:pt>
                <c:pt idx="214">
                  <c:v>1570</c:v>
                </c:pt>
                <c:pt idx="215">
                  <c:v>1575</c:v>
                </c:pt>
                <c:pt idx="216">
                  <c:v>1580</c:v>
                </c:pt>
                <c:pt idx="217">
                  <c:v>1585</c:v>
                </c:pt>
                <c:pt idx="218">
                  <c:v>1590</c:v>
                </c:pt>
                <c:pt idx="219">
                  <c:v>1595</c:v>
                </c:pt>
                <c:pt idx="220">
                  <c:v>1600</c:v>
                </c:pt>
                <c:pt idx="221">
                  <c:v>1605</c:v>
                </c:pt>
                <c:pt idx="222">
                  <c:v>1610</c:v>
                </c:pt>
                <c:pt idx="223">
                  <c:v>1615</c:v>
                </c:pt>
                <c:pt idx="224">
                  <c:v>1620</c:v>
                </c:pt>
                <c:pt idx="225">
                  <c:v>1625</c:v>
                </c:pt>
                <c:pt idx="226">
                  <c:v>1630</c:v>
                </c:pt>
                <c:pt idx="227">
                  <c:v>1635</c:v>
                </c:pt>
                <c:pt idx="228">
                  <c:v>1640</c:v>
                </c:pt>
                <c:pt idx="229">
                  <c:v>1645</c:v>
                </c:pt>
                <c:pt idx="230">
                  <c:v>1650</c:v>
                </c:pt>
                <c:pt idx="231">
                  <c:v>1655</c:v>
                </c:pt>
                <c:pt idx="232">
                  <c:v>1660</c:v>
                </c:pt>
                <c:pt idx="233">
                  <c:v>1665</c:v>
                </c:pt>
                <c:pt idx="234">
                  <c:v>1670</c:v>
                </c:pt>
                <c:pt idx="235">
                  <c:v>1675</c:v>
                </c:pt>
                <c:pt idx="236">
                  <c:v>1680</c:v>
                </c:pt>
                <c:pt idx="237">
                  <c:v>1685</c:v>
                </c:pt>
                <c:pt idx="238">
                  <c:v>1690</c:v>
                </c:pt>
                <c:pt idx="239">
                  <c:v>1695</c:v>
                </c:pt>
                <c:pt idx="240">
                  <c:v>1700</c:v>
                </c:pt>
                <c:pt idx="241">
                  <c:v>1705</c:v>
                </c:pt>
                <c:pt idx="242">
                  <c:v>1710</c:v>
                </c:pt>
                <c:pt idx="243">
                  <c:v>1715</c:v>
                </c:pt>
                <c:pt idx="244">
                  <c:v>1720</c:v>
                </c:pt>
                <c:pt idx="245">
                  <c:v>1725</c:v>
                </c:pt>
                <c:pt idx="246">
                  <c:v>1730</c:v>
                </c:pt>
                <c:pt idx="247">
                  <c:v>1735</c:v>
                </c:pt>
                <c:pt idx="248">
                  <c:v>1740</c:v>
                </c:pt>
                <c:pt idx="249">
                  <c:v>1745</c:v>
                </c:pt>
                <c:pt idx="250">
                  <c:v>1750</c:v>
                </c:pt>
                <c:pt idx="251">
                  <c:v>1755</c:v>
                </c:pt>
                <c:pt idx="252">
                  <c:v>1760</c:v>
                </c:pt>
                <c:pt idx="253">
                  <c:v>1765</c:v>
                </c:pt>
                <c:pt idx="254">
                  <c:v>1770</c:v>
                </c:pt>
                <c:pt idx="255">
                  <c:v>1775</c:v>
                </c:pt>
                <c:pt idx="256">
                  <c:v>1780</c:v>
                </c:pt>
                <c:pt idx="257">
                  <c:v>1785</c:v>
                </c:pt>
                <c:pt idx="258">
                  <c:v>1790</c:v>
                </c:pt>
                <c:pt idx="259">
                  <c:v>1795</c:v>
                </c:pt>
                <c:pt idx="260">
                  <c:v>1800</c:v>
                </c:pt>
              </c:numCache>
            </c:numRef>
          </c:cat>
          <c:val>
            <c:numRef>
              <c:f>'Chart Data'!$B$2:$B$262</c:f>
              <c:numCache>
                <c:formatCode>General</c:formatCode>
                <c:ptCount val="2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1E-08</c:v>
                </c:pt>
                <c:pt idx="15">
                  <c:v>1.3E-07</c:v>
                </c:pt>
                <c:pt idx="16">
                  <c:v>1.12E-06</c:v>
                </c:pt>
                <c:pt idx="17">
                  <c:v>8.23E-06</c:v>
                </c:pt>
                <c:pt idx="18">
                  <c:v>5.096E-05</c:v>
                </c:pt>
                <c:pt idx="19">
                  <c:v>0.00026515</c:v>
                </c:pt>
                <c:pt idx="20">
                  <c:v>0.00115978</c:v>
                </c:pt>
                <c:pt idx="21">
                  <c:v>0.00426444</c:v>
                </c:pt>
                <c:pt idx="22">
                  <c:v>0.01318108</c:v>
                </c:pt>
                <c:pt idx="23">
                  <c:v>0.03424853</c:v>
                </c:pt>
                <c:pt idx="24">
                  <c:v>0.07480566</c:v>
                </c:pt>
                <c:pt idx="25">
                  <c:v>0.13735001</c:v>
                </c:pt>
                <c:pt idx="26">
                  <c:v>0.21199448</c:v>
                </c:pt>
                <c:pt idx="27">
                  <c:v>0.27505661</c:v>
                </c:pt>
                <c:pt idx="28">
                  <c:v>0.3</c:v>
                </c:pt>
                <c:pt idx="29">
                  <c:v>0.27505661</c:v>
                </c:pt>
                <c:pt idx="30">
                  <c:v>0.21199448</c:v>
                </c:pt>
                <c:pt idx="31">
                  <c:v>0.13735001</c:v>
                </c:pt>
                <c:pt idx="32">
                  <c:v>0.07480566</c:v>
                </c:pt>
                <c:pt idx="33">
                  <c:v>0.03424853</c:v>
                </c:pt>
                <c:pt idx="34">
                  <c:v>0.01318108</c:v>
                </c:pt>
                <c:pt idx="35">
                  <c:v>0.00426444</c:v>
                </c:pt>
                <c:pt idx="36">
                  <c:v>0.00115978</c:v>
                </c:pt>
                <c:pt idx="37">
                  <c:v>0.00026515</c:v>
                </c:pt>
                <c:pt idx="38">
                  <c:v>5.096E-05</c:v>
                </c:pt>
                <c:pt idx="39">
                  <c:v>8.23E-06</c:v>
                </c:pt>
                <c:pt idx="40">
                  <c:v>1.12E-06</c:v>
                </c:pt>
                <c:pt idx="41">
                  <c:v>1.3E-07</c:v>
                </c:pt>
                <c:pt idx="42">
                  <c:v>1E-08</c:v>
                </c:pt>
                <c:pt idx="43">
                  <c:v>0</c:v>
                </c:pt>
                <c:pt idx="44">
                  <c:v>0</c:v>
                </c:pt>
                <c:pt idx="45">
                  <c:v>0</c:v>
                </c:pt>
                <c:pt idx="46">
                  <c:v>0</c:v>
                </c:pt>
                <c:pt idx="47">
                  <c:v>0</c:v>
                </c:pt>
                <c:pt idx="48">
                  <c:v>0</c:v>
                </c:pt>
                <c:pt idx="49">
                  <c:v>0</c:v>
                </c:pt>
                <c:pt idx="50">
                  <c:v>0</c:v>
                </c:pt>
                <c:pt idx="51">
                  <c:v>1E-08</c:v>
                </c:pt>
                <c:pt idx="52">
                  <c:v>7E-08</c:v>
                </c:pt>
                <c:pt idx="53">
                  <c:v>4.1E-07</c:v>
                </c:pt>
                <c:pt idx="54">
                  <c:v>2.05E-06</c:v>
                </c:pt>
                <c:pt idx="55">
                  <c:v>9.31E-06</c:v>
                </c:pt>
                <c:pt idx="56">
                  <c:v>3.837E-05</c:v>
                </c:pt>
                <c:pt idx="57">
                  <c:v>0.00014341</c:v>
                </c:pt>
                <c:pt idx="58">
                  <c:v>0.0004861</c:v>
                </c:pt>
                <c:pt idx="59">
                  <c:v>0.00149439</c:v>
                </c:pt>
                <c:pt idx="60">
                  <c:v>0.00416662</c:v>
                </c:pt>
                <c:pt idx="61">
                  <c:v>0.01053644</c:v>
                </c:pt>
                <c:pt idx="62">
                  <c:v>0.02416531</c:v>
                </c:pt>
                <c:pt idx="63">
                  <c:v>0.05026657</c:v>
                </c:pt>
                <c:pt idx="64">
                  <c:v>0.09483189</c:v>
                </c:pt>
                <c:pt idx="65">
                  <c:v>0.16226246</c:v>
                </c:pt>
                <c:pt idx="66">
                  <c:v>0.25180835</c:v>
                </c:pt>
                <c:pt idx="67">
                  <c:v>0.3544138</c:v>
                </c:pt>
                <c:pt idx="68">
                  <c:v>0.45241766</c:v>
                </c:pt>
                <c:pt idx="69">
                  <c:v>0.52378964</c:v>
                </c:pt>
                <c:pt idx="70">
                  <c:v>0.55</c:v>
                </c:pt>
                <c:pt idx="71">
                  <c:v>0.52378964</c:v>
                </c:pt>
                <c:pt idx="72">
                  <c:v>0.45241766</c:v>
                </c:pt>
                <c:pt idx="73">
                  <c:v>0.3544138</c:v>
                </c:pt>
                <c:pt idx="74">
                  <c:v>0.25180835</c:v>
                </c:pt>
                <c:pt idx="75">
                  <c:v>0.16226246</c:v>
                </c:pt>
                <c:pt idx="76">
                  <c:v>0.09483189</c:v>
                </c:pt>
                <c:pt idx="77">
                  <c:v>0.05026657</c:v>
                </c:pt>
                <c:pt idx="78">
                  <c:v>0.02416531</c:v>
                </c:pt>
                <c:pt idx="79">
                  <c:v>0.01053644</c:v>
                </c:pt>
                <c:pt idx="80">
                  <c:v>0.00416662</c:v>
                </c:pt>
                <c:pt idx="81">
                  <c:v>0.00149439</c:v>
                </c:pt>
                <c:pt idx="82">
                  <c:v>0.0004861</c:v>
                </c:pt>
                <c:pt idx="83">
                  <c:v>0.00014341</c:v>
                </c:pt>
                <c:pt idx="84">
                  <c:v>3.837E-05</c:v>
                </c:pt>
                <c:pt idx="85">
                  <c:v>9.31E-06</c:v>
                </c:pt>
                <c:pt idx="86">
                  <c:v>2.05E-06</c:v>
                </c:pt>
                <c:pt idx="87">
                  <c:v>4.1E-07</c:v>
                </c:pt>
                <c:pt idx="88">
                  <c:v>7E-08</c:v>
                </c:pt>
                <c:pt idx="89">
                  <c:v>1E-08</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1E-08</c:v>
                </c:pt>
                <c:pt idx="105">
                  <c:v>1E-07</c:v>
                </c:pt>
                <c:pt idx="106">
                  <c:v>6E-07</c:v>
                </c:pt>
                <c:pt idx="107">
                  <c:v>3.35E-06</c:v>
                </c:pt>
                <c:pt idx="108">
                  <c:v>1.68E-05</c:v>
                </c:pt>
                <c:pt idx="109">
                  <c:v>7.528E-05</c:v>
                </c:pt>
                <c:pt idx="110">
                  <c:v>0.00030192</c:v>
                </c:pt>
                <c:pt idx="111">
                  <c:v>0.00108347</c:v>
                </c:pt>
                <c:pt idx="112">
                  <c:v>0.00347933</c:v>
                </c:pt>
                <c:pt idx="113">
                  <c:v>0.0099981</c:v>
                </c:pt>
                <c:pt idx="114">
                  <c:v>0.02570895</c:v>
                </c:pt>
                <c:pt idx="115">
                  <c:v>0.05915568</c:v>
                </c:pt>
                <c:pt idx="116">
                  <c:v>0.12180175</c:v>
                </c:pt>
                <c:pt idx="117">
                  <c:v>0.22441699</c:v>
                </c:pt>
                <c:pt idx="118">
                  <c:v>0.37000106</c:v>
                </c:pt>
                <c:pt idx="119">
                  <c:v>0.54587759</c:v>
                </c:pt>
                <c:pt idx="120">
                  <c:v>0.72066366</c:v>
                </c:pt>
                <c:pt idx="121">
                  <c:v>0.85136352</c:v>
                </c:pt>
                <c:pt idx="122">
                  <c:v>0.9</c:v>
                </c:pt>
                <c:pt idx="123">
                  <c:v>0.85136352</c:v>
                </c:pt>
                <c:pt idx="124">
                  <c:v>0.72066366</c:v>
                </c:pt>
                <c:pt idx="125">
                  <c:v>0.54587759</c:v>
                </c:pt>
                <c:pt idx="126">
                  <c:v>0.37000106</c:v>
                </c:pt>
                <c:pt idx="127">
                  <c:v>0.22441699</c:v>
                </c:pt>
                <c:pt idx="128">
                  <c:v>0.12180175</c:v>
                </c:pt>
                <c:pt idx="129">
                  <c:v>0.05915568</c:v>
                </c:pt>
                <c:pt idx="130">
                  <c:v>0.02570895</c:v>
                </c:pt>
                <c:pt idx="131">
                  <c:v>0.0099981</c:v>
                </c:pt>
                <c:pt idx="132">
                  <c:v>0.00347933</c:v>
                </c:pt>
                <c:pt idx="133">
                  <c:v>0.00108347</c:v>
                </c:pt>
                <c:pt idx="134">
                  <c:v>0.00030192</c:v>
                </c:pt>
                <c:pt idx="135">
                  <c:v>7.528E-05</c:v>
                </c:pt>
                <c:pt idx="136">
                  <c:v>1.68E-05</c:v>
                </c:pt>
                <c:pt idx="137">
                  <c:v>3.35E-06</c:v>
                </c:pt>
                <c:pt idx="138">
                  <c:v>6E-07</c:v>
                </c:pt>
                <c:pt idx="139">
                  <c:v>1E-07</c:v>
                </c:pt>
                <c:pt idx="140">
                  <c:v>1E-08</c:v>
                </c:pt>
                <c:pt idx="141">
                  <c:v>0</c:v>
                </c:pt>
                <c:pt idx="142">
                  <c:v>0</c:v>
                </c:pt>
                <c:pt idx="143">
                  <c:v>0</c:v>
                </c:pt>
                <c:pt idx="144">
                  <c:v>0</c:v>
                </c:pt>
                <c:pt idx="145">
                  <c:v>0</c:v>
                </c:pt>
                <c:pt idx="146">
                  <c:v>0</c:v>
                </c:pt>
                <c:pt idx="147">
                  <c:v>0</c:v>
                </c:pt>
                <c:pt idx="148">
                  <c:v>0</c:v>
                </c:pt>
                <c:pt idx="149">
                  <c:v>0</c:v>
                </c:pt>
                <c:pt idx="150">
                  <c:v>1E-08</c:v>
                </c:pt>
                <c:pt idx="151">
                  <c:v>3E-08</c:v>
                </c:pt>
                <c:pt idx="152">
                  <c:v>1.1E-07</c:v>
                </c:pt>
                <c:pt idx="153">
                  <c:v>4.1E-07</c:v>
                </c:pt>
                <c:pt idx="154">
                  <c:v>1.49E-06</c:v>
                </c:pt>
                <c:pt idx="155">
                  <c:v>5.04E-06</c:v>
                </c:pt>
                <c:pt idx="156">
                  <c:v>1.603E-05</c:v>
                </c:pt>
                <c:pt idx="157">
                  <c:v>4.785E-05</c:v>
                </c:pt>
                <c:pt idx="158">
                  <c:v>0.00013419</c:v>
                </c:pt>
                <c:pt idx="159">
                  <c:v>0.00035353</c:v>
                </c:pt>
                <c:pt idx="160">
                  <c:v>0.000875</c:v>
                </c:pt>
                <c:pt idx="161">
                  <c:v>0.00203443</c:v>
                </c:pt>
                <c:pt idx="162">
                  <c:v>0.0044436</c:v>
                </c:pt>
                <c:pt idx="163">
                  <c:v>0.00911767</c:v>
                </c:pt>
                <c:pt idx="164">
                  <c:v>0.01757477</c:v>
                </c:pt>
                <c:pt idx="165">
                  <c:v>0.0318238</c:v>
                </c:pt>
                <c:pt idx="166">
                  <c:v>0.05413411</c:v>
                </c:pt>
                <c:pt idx="167">
                  <c:v>0.08650607</c:v>
                </c:pt>
                <c:pt idx="168">
                  <c:v>0.12986099</c:v>
                </c:pt>
                <c:pt idx="169">
                  <c:v>0.18313334</c:v>
                </c:pt>
                <c:pt idx="170">
                  <c:v>0.24261226</c:v>
                </c:pt>
                <c:pt idx="171">
                  <c:v>0.30193584</c:v>
                </c:pt>
                <c:pt idx="172">
                  <c:v>0.35299876</c:v>
                </c:pt>
                <c:pt idx="173">
                  <c:v>0.38769329</c:v>
                </c:pt>
                <c:pt idx="174">
                  <c:v>0.4</c:v>
                </c:pt>
                <c:pt idx="175">
                  <c:v>0.38769329</c:v>
                </c:pt>
                <c:pt idx="176">
                  <c:v>0.35299876</c:v>
                </c:pt>
                <c:pt idx="177">
                  <c:v>0.30193584</c:v>
                </c:pt>
                <c:pt idx="178">
                  <c:v>0.24261226</c:v>
                </c:pt>
                <c:pt idx="179">
                  <c:v>0.18313334</c:v>
                </c:pt>
                <c:pt idx="180">
                  <c:v>0.12986099</c:v>
                </c:pt>
                <c:pt idx="181">
                  <c:v>0.08650607</c:v>
                </c:pt>
                <c:pt idx="182">
                  <c:v>0.05413411</c:v>
                </c:pt>
                <c:pt idx="183">
                  <c:v>0.0318238</c:v>
                </c:pt>
                <c:pt idx="184">
                  <c:v>0.01757477</c:v>
                </c:pt>
                <c:pt idx="185">
                  <c:v>0.00911767</c:v>
                </c:pt>
                <c:pt idx="186">
                  <c:v>0.0044436</c:v>
                </c:pt>
                <c:pt idx="187">
                  <c:v>0.00203443</c:v>
                </c:pt>
                <c:pt idx="188">
                  <c:v>0.000875</c:v>
                </c:pt>
                <c:pt idx="189">
                  <c:v>0.00035353</c:v>
                </c:pt>
                <c:pt idx="190">
                  <c:v>0.00013419</c:v>
                </c:pt>
                <c:pt idx="191">
                  <c:v>4.785E-05</c:v>
                </c:pt>
                <c:pt idx="192">
                  <c:v>1.603E-05</c:v>
                </c:pt>
                <c:pt idx="193">
                  <c:v>5.04E-06</c:v>
                </c:pt>
                <c:pt idx="194">
                  <c:v>1.49E-06</c:v>
                </c:pt>
                <c:pt idx="195">
                  <c:v>4.1E-07</c:v>
                </c:pt>
                <c:pt idx="196">
                  <c:v>1.1E-07</c:v>
                </c:pt>
                <c:pt idx="197">
                  <c:v>3E-08</c:v>
                </c:pt>
                <c:pt idx="198">
                  <c:v>1E-08</c:v>
                </c:pt>
                <c:pt idx="199">
                  <c:v>0</c:v>
                </c:pt>
                <c:pt idx="200">
                  <c:v>0</c:v>
                </c:pt>
                <c:pt idx="201">
                  <c:v>0</c:v>
                </c:pt>
                <c:pt idx="202">
                  <c:v>0</c:v>
                </c:pt>
                <c:pt idx="203">
                  <c:v>0</c:v>
                </c:pt>
                <c:pt idx="204">
                  <c:v>0</c:v>
                </c:pt>
                <c:pt idx="205">
                  <c:v>0</c:v>
                </c:pt>
                <c:pt idx="206">
                  <c:v>0</c:v>
                </c:pt>
                <c:pt idx="207">
                  <c:v>0</c:v>
                </c:pt>
                <c:pt idx="208">
                  <c:v>0</c:v>
                </c:pt>
                <c:pt idx="209">
                  <c:v>4E-08</c:v>
                </c:pt>
                <c:pt idx="210">
                  <c:v>3.5E-07</c:v>
                </c:pt>
                <c:pt idx="211">
                  <c:v>2.61E-06</c:v>
                </c:pt>
                <c:pt idx="212">
                  <c:v>1.658E-05</c:v>
                </c:pt>
                <c:pt idx="213">
                  <c:v>9.084E-05</c:v>
                </c:pt>
                <c:pt idx="214">
                  <c:v>0.0004294</c:v>
                </c:pt>
                <c:pt idx="215">
                  <c:v>0.0017506</c:v>
                </c:pt>
                <c:pt idx="216">
                  <c:v>0.00615554</c:v>
                </c:pt>
                <c:pt idx="217">
                  <c:v>0.01866817</c:v>
                </c:pt>
                <c:pt idx="218">
                  <c:v>0.04883066</c:v>
                </c:pt>
                <c:pt idx="219">
                  <c:v>0.11016375</c:v>
                </c:pt>
                <c:pt idx="220">
                  <c:v>0.21435819</c:v>
                </c:pt>
                <c:pt idx="221">
                  <c:v>0.35974659</c:v>
                </c:pt>
                <c:pt idx="222">
                  <c:v>0.52072514</c:v>
                </c:pt>
                <c:pt idx="223">
                  <c:v>0.65009327</c:v>
                </c:pt>
                <c:pt idx="224">
                  <c:v>0.7</c:v>
                </c:pt>
                <c:pt idx="225">
                  <c:v>0.65009327</c:v>
                </c:pt>
                <c:pt idx="226">
                  <c:v>0.52072514</c:v>
                </c:pt>
                <c:pt idx="227">
                  <c:v>0.35974659</c:v>
                </c:pt>
                <c:pt idx="228">
                  <c:v>0.21435819</c:v>
                </c:pt>
                <c:pt idx="229">
                  <c:v>0.11016375</c:v>
                </c:pt>
                <c:pt idx="230">
                  <c:v>0.04883066</c:v>
                </c:pt>
                <c:pt idx="231">
                  <c:v>0.01866817</c:v>
                </c:pt>
                <c:pt idx="232">
                  <c:v>0.00615554</c:v>
                </c:pt>
                <c:pt idx="233">
                  <c:v>0.0017506</c:v>
                </c:pt>
                <c:pt idx="234">
                  <c:v>0.0004294</c:v>
                </c:pt>
                <c:pt idx="235">
                  <c:v>9.084E-05</c:v>
                </c:pt>
                <c:pt idx="236">
                  <c:v>1.658E-05</c:v>
                </c:pt>
                <c:pt idx="237">
                  <c:v>2.61E-06</c:v>
                </c:pt>
                <c:pt idx="238">
                  <c:v>3.5E-07</c:v>
                </c:pt>
                <c:pt idx="239">
                  <c:v>4E-08</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numCache>
            </c:numRef>
          </c:val>
          <c:smooth val="0"/>
        </c:ser>
        <c:ser>
          <c:idx val="1"/>
          <c:order val="1"/>
          <c:tx>
            <c:v>Compound B</c:v>
          </c:tx>
          <c:spPr>
            <ns1:ln w="20955">
              <ns1:solidFill>
                <ns1:srgbClr val="C56B30"/>
              </ns1:solidFill>
            </ns1:ln>
          </c:spPr>
          <c:marker>
            <c:symbol val="none"/>
          </c:marker>
          <c:cat>
            <c:numRef>
              <c:f>'Chart Data'!$C$2:$C$262</c:f>
              <c:numCache>
                <c:formatCode>General</c:formatCode>
                <c:ptCount val="261"/>
                <c:pt idx="0">
                  <c:v>500</c:v>
                </c:pt>
                <c:pt idx="1">
                  <c:v>505</c:v>
                </c:pt>
                <c:pt idx="2">
                  <c:v>510</c:v>
                </c:pt>
                <c:pt idx="3">
                  <c:v>515</c:v>
                </c:pt>
                <c:pt idx="4">
                  <c:v>520</c:v>
                </c:pt>
                <c:pt idx="5">
                  <c:v>525</c:v>
                </c:pt>
                <c:pt idx="6">
                  <c:v>530</c:v>
                </c:pt>
                <c:pt idx="7">
                  <c:v>535</c:v>
                </c:pt>
                <c:pt idx="8">
                  <c:v>540</c:v>
                </c:pt>
                <c:pt idx="9">
                  <c:v>545</c:v>
                </c:pt>
                <c:pt idx="10">
                  <c:v>550</c:v>
                </c:pt>
                <c:pt idx="11">
                  <c:v>555</c:v>
                </c:pt>
                <c:pt idx="12">
                  <c:v>560</c:v>
                </c:pt>
                <c:pt idx="13">
                  <c:v>565</c:v>
                </c:pt>
                <c:pt idx="14">
                  <c:v>570</c:v>
                </c:pt>
                <c:pt idx="15">
                  <c:v>575</c:v>
                </c:pt>
                <c:pt idx="16">
                  <c:v>580</c:v>
                </c:pt>
                <c:pt idx="17">
                  <c:v>585</c:v>
                </c:pt>
                <c:pt idx="18">
                  <c:v>590</c:v>
                </c:pt>
                <c:pt idx="19">
                  <c:v>595</c:v>
                </c:pt>
                <c:pt idx="20">
                  <c:v>600</c:v>
                </c:pt>
                <c:pt idx="21">
                  <c:v>605</c:v>
                </c:pt>
                <c:pt idx="22">
                  <c:v>610</c:v>
                </c:pt>
                <c:pt idx="23">
                  <c:v>615</c:v>
                </c:pt>
                <c:pt idx="24">
                  <c:v>620</c:v>
                </c:pt>
                <c:pt idx="25">
                  <c:v>625</c:v>
                </c:pt>
                <c:pt idx="26">
                  <c:v>630</c:v>
                </c:pt>
                <c:pt idx="27">
                  <c:v>635</c:v>
                </c:pt>
                <c:pt idx="28">
                  <c:v>640</c:v>
                </c:pt>
                <c:pt idx="29">
                  <c:v>645</c:v>
                </c:pt>
                <c:pt idx="30">
                  <c:v>650</c:v>
                </c:pt>
                <c:pt idx="31">
                  <c:v>655</c:v>
                </c:pt>
                <c:pt idx="32">
                  <c:v>660</c:v>
                </c:pt>
                <c:pt idx="33">
                  <c:v>665</c:v>
                </c:pt>
                <c:pt idx="34">
                  <c:v>670</c:v>
                </c:pt>
                <c:pt idx="35">
                  <c:v>675</c:v>
                </c:pt>
                <c:pt idx="36">
                  <c:v>680</c:v>
                </c:pt>
                <c:pt idx="37">
                  <c:v>685</c:v>
                </c:pt>
                <c:pt idx="38">
                  <c:v>690</c:v>
                </c:pt>
                <c:pt idx="39">
                  <c:v>695</c:v>
                </c:pt>
                <c:pt idx="40">
                  <c:v>700</c:v>
                </c:pt>
                <c:pt idx="41">
                  <c:v>705</c:v>
                </c:pt>
                <c:pt idx="42">
                  <c:v>710</c:v>
                </c:pt>
                <c:pt idx="43">
                  <c:v>715</c:v>
                </c:pt>
                <c:pt idx="44">
                  <c:v>720</c:v>
                </c:pt>
                <c:pt idx="45">
                  <c:v>725</c:v>
                </c:pt>
                <c:pt idx="46">
                  <c:v>730</c:v>
                </c:pt>
                <c:pt idx="47">
                  <c:v>735</c:v>
                </c:pt>
                <c:pt idx="48">
                  <c:v>740</c:v>
                </c:pt>
                <c:pt idx="49">
                  <c:v>745</c:v>
                </c:pt>
                <c:pt idx="50">
                  <c:v>750</c:v>
                </c:pt>
                <c:pt idx="51">
                  <c:v>755</c:v>
                </c:pt>
                <c:pt idx="52">
                  <c:v>760</c:v>
                </c:pt>
                <c:pt idx="53">
                  <c:v>765</c:v>
                </c:pt>
                <c:pt idx="54">
                  <c:v>770</c:v>
                </c:pt>
                <c:pt idx="55">
                  <c:v>775</c:v>
                </c:pt>
                <c:pt idx="56">
                  <c:v>780</c:v>
                </c:pt>
                <c:pt idx="57">
                  <c:v>785</c:v>
                </c:pt>
                <c:pt idx="58">
                  <c:v>790</c:v>
                </c:pt>
                <c:pt idx="59">
                  <c:v>795</c:v>
                </c:pt>
                <c:pt idx="60">
                  <c:v>800</c:v>
                </c:pt>
                <c:pt idx="61">
                  <c:v>805</c:v>
                </c:pt>
                <c:pt idx="62">
                  <c:v>810</c:v>
                </c:pt>
                <c:pt idx="63">
                  <c:v>815</c:v>
                </c:pt>
                <c:pt idx="64">
                  <c:v>820</c:v>
                </c:pt>
                <c:pt idx="65">
                  <c:v>825</c:v>
                </c:pt>
                <c:pt idx="66">
                  <c:v>830</c:v>
                </c:pt>
                <c:pt idx="67">
                  <c:v>835</c:v>
                </c:pt>
                <c:pt idx="68">
                  <c:v>840</c:v>
                </c:pt>
                <c:pt idx="69">
                  <c:v>845</c:v>
                </c:pt>
                <c:pt idx="70">
                  <c:v>850</c:v>
                </c:pt>
                <c:pt idx="71">
                  <c:v>855</c:v>
                </c:pt>
                <c:pt idx="72">
                  <c:v>860</c:v>
                </c:pt>
                <c:pt idx="73">
                  <c:v>865</c:v>
                </c:pt>
                <c:pt idx="74">
                  <c:v>870</c:v>
                </c:pt>
                <c:pt idx="75">
                  <c:v>875</c:v>
                </c:pt>
                <c:pt idx="76">
                  <c:v>880</c:v>
                </c:pt>
                <c:pt idx="77">
                  <c:v>885</c:v>
                </c:pt>
                <c:pt idx="78">
                  <c:v>890</c:v>
                </c:pt>
                <c:pt idx="79">
                  <c:v>895</c:v>
                </c:pt>
                <c:pt idx="80">
                  <c:v>900</c:v>
                </c:pt>
                <c:pt idx="81">
                  <c:v>905</c:v>
                </c:pt>
                <c:pt idx="82">
                  <c:v>910</c:v>
                </c:pt>
                <c:pt idx="83">
                  <c:v>915</c:v>
                </c:pt>
                <c:pt idx="84">
                  <c:v>920</c:v>
                </c:pt>
                <c:pt idx="85">
                  <c:v>925</c:v>
                </c:pt>
                <c:pt idx="86">
                  <c:v>930</c:v>
                </c:pt>
                <c:pt idx="87">
                  <c:v>935</c:v>
                </c:pt>
                <c:pt idx="88">
                  <c:v>940</c:v>
                </c:pt>
                <c:pt idx="89">
                  <c:v>945</c:v>
                </c:pt>
                <c:pt idx="90">
                  <c:v>950</c:v>
                </c:pt>
                <c:pt idx="91">
                  <c:v>955</c:v>
                </c:pt>
                <c:pt idx="92">
                  <c:v>960</c:v>
                </c:pt>
                <c:pt idx="93">
                  <c:v>965</c:v>
                </c:pt>
                <c:pt idx="94">
                  <c:v>970</c:v>
                </c:pt>
                <c:pt idx="95">
                  <c:v>975</c:v>
                </c:pt>
                <c:pt idx="96">
                  <c:v>980</c:v>
                </c:pt>
                <c:pt idx="97">
                  <c:v>985</c:v>
                </c:pt>
                <c:pt idx="98">
                  <c:v>990</c:v>
                </c:pt>
                <c:pt idx="99">
                  <c:v>995</c:v>
                </c:pt>
                <c:pt idx="100">
                  <c:v>1000</c:v>
                </c:pt>
                <c:pt idx="101">
                  <c:v>1005</c:v>
                </c:pt>
                <c:pt idx="102">
                  <c:v>1010</c:v>
                </c:pt>
                <c:pt idx="103">
                  <c:v>1015</c:v>
                </c:pt>
                <c:pt idx="104">
                  <c:v>1020</c:v>
                </c:pt>
                <c:pt idx="105">
                  <c:v>1025</c:v>
                </c:pt>
                <c:pt idx="106">
                  <c:v>1030</c:v>
                </c:pt>
                <c:pt idx="107">
                  <c:v>1035</c:v>
                </c:pt>
                <c:pt idx="108">
                  <c:v>1040</c:v>
                </c:pt>
                <c:pt idx="109">
                  <c:v>1045</c:v>
                </c:pt>
                <c:pt idx="110">
                  <c:v>1050</c:v>
                </c:pt>
                <c:pt idx="111">
                  <c:v>1055</c:v>
                </c:pt>
                <c:pt idx="112">
                  <c:v>1060</c:v>
                </c:pt>
                <c:pt idx="113">
                  <c:v>1065</c:v>
                </c:pt>
                <c:pt idx="114">
                  <c:v>1070</c:v>
                </c:pt>
                <c:pt idx="115">
                  <c:v>1075</c:v>
                </c:pt>
                <c:pt idx="116">
                  <c:v>1080</c:v>
                </c:pt>
                <c:pt idx="117">
                  <c:v>1085</c:v>
                </c:pt>
                <c:pt idx="118">
                  <c:v>1090</c:v>
                </c:pt>
                <c:pt idx="119">
                  <c:v>1095</c:v>
                </c:pt>
                <c:pt idx="120">
                  <c:v>1100</c:v>
                </c:pt>
                <c:pt idx="121">
                  <c:v>1105</c:v>
                </c:pt>
                <c:pt idx="122">
                  <c:v>1110</c:v>
                </c:pt>
                <c:pt idx="123">
                  <c:v>1115</c:v>
                </c:pt>
                <c:pt idx="124">
                  <c:v>1120</c:v>
                </c:pt>
                <c:pt idx="125">
                  <c:v>1125</c:v>
                </c:pt>
                <c:pt idx="126">
                  <c:v>1130</c:v>
                </c:pt>
                <c:pt idx="127">
                  <c:v>1135</c:v>
                </c:pt>
                <c:pt idx="128">
                  <c:v>1140</c:v>
                </c:pt>
                <c:pt idx="129">
                  <c:v>1145</c:v>
                </c:pt>
                <c:pt idx="130">
                  <c:v>1150</c:v>
                </c:pt>
                <c:pt idx="131">
                  <c:v>1155</c:v>
                </c:pt>
                <c:pt idx="132">
                  <c:v>1160</c:v>
                </c:pt>
                <c:pt idx="133">
                  <c:v>1165</c:v>
                </c:pt>
                <c:pt idx="134">
                  <c:v>1170</c:v>
                </c:pt>
                <c:pt idx="135">
                  <c:v>1175</c:v>
                </c:pt>
                <c:pt idx="136">
                  <c:v>1180</c:v>
                </c:pt>
                <c:pt idx="137">
                  <c:v>1185</c:v>
                </c:pt>
                <c:pt idx="138">
                  <c:v>1190</c:v>
                </c:pt>
                <c:pt idx="139">
                  <c:v>1195</c:v>
                </c:pt>
                <c:pt idx="140">
                  <c:v>1200</c:v>
                </c:pt>
                <c:pt idx="141">
                  <c:v>1205</c:v>
                </c:pt>
                <c:pt idx="142">
                  <c:v>1210</c:v>
                </c:pt>
                <c:pt idx="143">
                  <c:v>1215</c:v>
                </c:pt>
                <c:pt idx="144">
                  <c:v>1220</c:v>
                </c:pt>
                <c:pt idx="145">
                  <c:v>1225</c:v>
                </c:pt>
                <c:pt idx="146">
                  <c:v>1230</c:v>
                </c:pt>
                <c:pt idx="147">
                  <c:v>1235</c:v>
                </c:pt>
                <c:pt idx="148">
                  <c:v>1240</c:v>
                </c:pt>
                <c:pt idx="149">
                  <c:v>1245</c:v>
                </c:pt>
                <c:pt idx="150">
                  <c:v>1250</c:v>
                </c:pt>
                <c:pt idx="151">
                  <c:v>1255</c:v>
                </c:pt>
                <c:pt idx="152">
                  <c:v>1260</c:v>
                </c:pt>
                <c:pt idx="153">
                  <c:v>1265</c:v>
                </c:pt>
                <c:pt idx="154">
                  <c:v>1270</c:v>
                </c:pt>
                <c:pt idx="155">
                  <c:v>1275</c:v>
                </c:pt>
                <c:pt idx="156">
                  <c:v>1280</c:v>
                </c:pt>
                <c:pt idx="157">
                  <c:v>1285</c:v>
                </c:pt>
                <c:pt idx="158">
                  <c:v>1290</c:v>
                </c:pt>
                <c:pt idx="159">
                  <c:v>1295</c:v>
                </c:pt>
                <c:pt idx="160">
                  <c:v>1300</c:v>
                </c:pt>
                <c:pt idx="161">
                  <c:v>1305</c:v>
                </c:pt>
                <c:pt idx="162">
                  <c:v>1310</c:v>
                </c:pt>
                <c:pt idx="163">
                  <c:v>1315</c:v>
                </c:pt>
                <c:pt idx="164">
                  <c:v>1320</c:v>
                </c:pt>
                <c:pt idx="165">
                  <c:v>1325</c:v>
                </c:pt>
                <c:pt idx="166">
                  <c:v>1330</c:v>
                </c:pt>
                <c:pt idx="167">
                  <c:v>1335</c:v>
                </c:pt>
                <c:pt idx="168">
                  <c:v>1340</c:v>
                </c:pt>
                <c:pt idx="169">
                  <c:v>1345</c:v>
                </c:pt>
                <c:pt idx="170">
                  <c:v>1350</c:v>
                </c:pt>
                <c:pt idx="171">
                  <c:v>1355</c:v>
                </c:pt>
                <c:pt idx="172">
                  <c:v>1360</c:v>
                </c:pt>
                <c:pt idx="173">
                  <c:v>1365</c:v>
                </c:pt>
                <c:pt idx="174">
                  <c:v>1370</c:v>
                </c:pt>
                <c:pt idx="175">
                  <c:v>1375</c:v>
                </c:pt>
                <c:pt idx="176">
                  <c:v>1380</c:v>
                </c:pt>
                <c:pt idx="177">
                  <c:v>1385</c:v>
                </c:pt>
                <c:pt idx="178">
                  <c:v>1390</c:v>
                </c:pt>
                <c:pt idx="179">
                  <c:v>1395</c:v>
                </c:pt>
                <c:pt idx="180">
                  <c:v>1400</c:v>
                </c:pt>
                <c:pt idx="181">
                  <c:v>1405</c:v>
                </c:pt>
                <c:pt idx="182">
                  <c:v>1410</c:v>
                </c:pt>
                <c:pt idx="183">
                  <c:v>1415</c:v>
                </c:pt>
                <c:pt idx="184">
                  <c:v>1420</c:v>
                </c:pt>
                <c:pt idx="185">
                  <c:v>1425</c:v>
                </c:pt>
                <c:pt idx="186">
                  <c:v>1430</c:v>
                </c:pt>
                <c:pt idx="187">
                  <c:v>1435</c:v>
                </c:pt>
                <c:pt idx="188">
                  <c:v>1440</c:v>
                </c:pt>
                <c:pt idx="189">
                  <c:v>1445</c:v>
                </c:pt>
                <c:pt idx="190">
                  <c:v>1450</c:v>
                </c:pt>
                <c:pt idx="191">
                  <c:v>1455</c:v>
                </c:pt>
                <c:pt idx="192">
                  <c:v>1460</c:v>
                </c:pt>
                <c:pt idx="193">
                  <c:v>1465</c:v>
                </c:pt>
                <c:pt idx="194">
                  <c:v>1470</c:v>
                </c:pt>
                <c:pt idx="195">
                  <c:v>1475</c:v>
                </c:pt>
                <c:pt idx="196">
                  <c:v>1480</c:v>
                </c:pt>
                <c:pt idx="197">
                  <c:v>1485</c:v>
                </c:pt>
                <c:pt idx="198">
                  <c:v>1490</c:v>
                </c:pt>
                <c:pt idx="199">
                  <c:v>1495</c:v>
                </c:pt>
                <c:pt idx="200">
                  <c:v>1500</c:v>
                </c:pt>
                <c:pt idx="201">
                  <c:v>1505</c:v>
                </c:pt>
                <c:pt idx="202">
                  <c:v>1510</c:v>
                </c:pt>
                <c:pt idx="203">
                  <c:v>1515</c:v>
                </c:pt>
                <c:pt idx="204">
                  <c:v>1520</c:v>
                </c:pt>
                <c:pt idx="205">
                  <c:v>1525</c:v>
                </c:pt>
                <c:pt idx="206">
                  <c:v>1530</c:v>
                </c:pt>
                <c:pt idx="207">
                  <c:v>1535</c:v>
                </c:pt>
                <c:pt idx="208">
                  <c:v>1540</c:v>
                </c:pt>
                <c:pt idx="209">
                  <c:v>1545</c:v>
                </c:pt>
                <c:pt idx="210">
                  <c:v>1550</c:v>
                </c:pt>
                <c:pt idx="211">
                  <c:v>1555</c:v>
                </c:pt>
                <c:pt idx="212">
                  <c:v>1560</c:v>
                </c:pt>
                <c:pt idx="213">
                  <c:v>1565</c:v>
                </c:pt>
                <c:pt idx="214">
                  <c:v>1570</c:v>
                </c:pt>
                <c:pt idx="215">
                  <c:v>1575</c:v>
                </c:pt>
                <c:pt idx="216">
                  <c:v>1580</c:v>
                </c:pt>
                <c:pt idx="217">
                  <c:v>1585</c:v>
                </c:pt>
                <c:pt idx="218">
                  <c:v>1590</c:v>
                </c:pt>
                <c:pt idx="219">
                  <c:v>1595</c:v>
                </c:pt>
                <c:pt idx="220">
                  <c:v>1600</c:v>
                </c:pt>
                <c:pt idx="221">
                  <c:v>1605</c:v>
                </c:pt>
                <c:pt idx="222">
                  <c:v>1610</c:v>
                </c:pt>
                <c:pt idx="223">
                  <c:v>1615</c:v>
                </c:pt>
                <c:pt idx="224">
                  <c:v>1620</c:v>
                </c:pt>
                <c:pt idx="225">
                  <c:v>1625</c:v>
                </c:pt>
                <c:pt idx="226">
                  <c:v>1630</c:v>
                </c:pt>
                <c:pt idx="227">
                  <c:v>1635</c:v>
                </c:pt>
                <c:pt idx="228">
                  <c:v>1640</c:v>
                </c:pt>
                <c:pt idx="229">
                  <c:v>1645</c:v>
                </c:pt>
                <c:pt idx="230">
                  <c:v>1650</c:v>
                </c:pt>
                <c:pt idx="231">
                  <c:v>1655</c:v>
                </c:pt>
                <c:pt idx="232">
                  <c:v>1660</c:v>
                </c:pt>
                <c:pt idx="233">
                  <c:v>1665</c:v>
                </c:pt>
                <c:pt idx="234">
                  <c:v>1670</c:v>
                </c:pt>
                <c:pt idx="235">
                  <c:v>1675</c:v>
                </c:pt>
                <c:pt idx="236">
                  <c:v>1680</c:v>
                </c:pt>
                <c:pt idx="237">
                  <c:v>1685</c:v>
                </c:pt>
                <c:pt idx="238">
                  <c:v>1690</c:v>
                </c:pt>
                <c:pt idx="239">
                  <c:v>1695</c:v>
                </c:pt>
                <c:pt idx="240">
                  <c:v>1700</c:v>
                </c:pt>
                <c:pt idx="241">
                  <c:v>1705</c:v>
                </c:pt>
                <c:pt idx="242">
                  <c:v>1710</c:v>
                </c:pt>
                <c:pt idx="243">
                  <c:v>1715</c:v>
                </c:pt>
                <c:pt idx="244">
                  <c:v>1720</c:v>
                </c:pt>
                <c:pt idx="245">
                  <c:v>1725</c:v>
                </c:pt>
                <c:pt idx="246">
                  <c:v>1730</c:v>
                </c:pt>
                <c:pt idx="247">
                  <c:v>1735</c:v>
                </c:pt>
                <c:pt idx="248">
                  <c:v>1740</c:v>
                </c:pt>
                <c:pt idx="249">
                  <c:v>1745</c:v>
                </c:pt>
                <c:pt idx="250">
                  <c:v>1750</c:v>
                </c:pt>
                <c:pt idx="251">
                  <c:v>1755</c:v>
                </c:pt>
                <c:pt idx="252">
                  <c:v>1760</c:v>
                </c:pt>
                <c:pt idx="253">
                  <c:v>1765</c:v>
                </c:pt>
                <c:pt idx="254">
                  <c:v>1770</c:v>
                </c:pt>
                <c:pt idx="255">
                  <c:v>1775</c:v>
                </c:pt>
                <c:pt idx="256">
                  <c:v>1780</c:v>
                </c:pt>
                <c:pt idx="257">
                  <c:v>1785</c:v>
                </c:pt>
                <c:pt idx="258">
                  <c:v>1790</c:v>
                </c:pt>
                <c:pt idx="259">
                  <c:v>1795</c:v>
                </c:pt>
                <c:pt idx="260">
                  <c:v>1800</c:v>
                </c:pt>
              </c:numCache>
            </c:numRef>
          </c:cat>
          <c:val>
            <c:numRef>
              <c:f>'Chart Data'!$D$2:$D$262</c:f>
              <c:numCache>
                <c:formatCode>General</c:formatCode>
                <c:ptCount val="2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1E-08</c:v>
                </c:pt>
                <c:pt idx="15">
                  <c:v>1.2E-07</c:v>
                </c:pt>
                <c:pt idx="16">
                  <c:v>1.08E-06</c:v>
                </c:pt>
                <c:pt idx="17">
                  <c:v>7.96E-06</c:v>
                </c:pt>
                <c:pt idx="18">
                  <c:v>4.926E-05</c:v>
                </c:pt>
                <c:pt idx="19">
                  <c:v>0.00025631</c:v>
                </c:pt>
                <c:pt idx="20">
                  <c:v>0.00112112</c:v>
                </c:pt>
                <c:pt idx="21">
                  <c:v>0.00412229</c:v>
                </c:pt>
                <c:pt idx="22">
                  <c:v>0.01274171</c:v>
                </c:pt>
                <c:pt idx="23">
                  <c:v>0.03310691</c:v>
                </c:pt>
                <c:pt idx="24">
                  <c:v>0.07231214</c:v>
                </c:pt>
                <c:pt idx="25">
                  <c:v>0.13277167</c:v>
                </c:pt>
                <c:pt idx="26">
                  <c:v>0.204928</c:v>
                </c:pt>
                <c:pt idx="27">
                  <c:v>0.26588805</c:v>
                </c:pt>
                <c:pt idx="28">
                  <c:v>0.29</c:v>
                </c:pt>
                <c:pt idx="29">
                  <c:v>0.26588805</c:v>
                </c:pt>
                <c:pt idx="30">
                  <c:v>0.204928</c:v>
                </c:pt>
                <c:pt idx="31">
                  <c:v>0.13277167</c:v>
                </c:pt>
                <c:pt idx="32">
                  <c:v>0.07231214</c:v>
                </c:pt>
                <c:pt idx="33">
                  <c:v>0.03310691</c:v>
                </c:pt>
                <c:pt idx="34">
                  <c:v>0.01274171</c:v>
                </c:pt>
                <c:pt idx="35">
                  <c:v>0.00412229</c:v>
                </c:pt>
                <c:pt idx="36">
                  <c:v>0.00112112</c:v>
                </c:pt>
                <c:pt idx="37">
                  <c:v>0.00025631</c:v>
                </c:pt>
                <c:pt idx="38">
                  <c:v>4.926E-05</c:v>
                </c:pt>
                <c:pt idx="39">
                  <c:v>7.96E-06</c:v>
                </c:pt>
                <c:pt idx="40">
                  <c:v>1.08E-06</c:v>
                </c:pt>
                <c:pt idx="41">
                  <c:v>1.2E-07</c:v>
                </c:pt>
                <c:pt idx="42">
                  <c:v>1E-08</c:v>
                </c:pt>
                <c:pt idx="43">
                  <c:v>0</c:v>
                </c:pt>
                <c:pt idx="44">
                  <c:v>0</c:v>
                </c:pt>
                <c:pt idx="45">
                  <c:v>0</c:v>
                </c:pt>
                <c:pt idx="46">
                  <c:v>0</c:v>
                </c:pt>
                <c:pt idx="47">
                  <c:v>0</c:v>
                </c:pt>
                <c:pt idx="48">
                  <c:v>0</c:v>
                </c:pt>
                <c:pt idx="49">
                  <c:v>0</c:v>
                </c:pt>
                <c:pt idx="50">
                  <c:v>0</c:v>
                </c:pt>
                <c:pt idx="51">
                  <c:v>1E-08</c:v>
                </c:pt>
                <c:pt idx="52">
                  <c:v>7E-08</c:v>
                </c:pt>
                <c:pt idx="53">
                  <c:v>3.8E-07</c:v>
                </c:pt>
                <c:pt idx="54">
                  <c:v>1.9E-06</c:v>
                </c:pt>
                <c:pt idx="55">
                  <c:v>8.64E-06</c:v>
                </c:pt>
                <c:pt idx="56">
                  <c:v>3.558E-05</c:v>
                </c:pt>
                <c:pt idx="57">
                  <c:v>0.00013298</c:v>
                </c:pt>
                <c:pt idx="58">
                  <c:v>0.00045075</c:v>
                </c:pt>
                <c:pt idx="59">
                  <c:v>0.0013857</c:v>
                </c:pt>
                <c:pt idx="60">
                  <c:v>0.0038636</c:v>
                </c:pt>
                <c:pt idx="61">
                  <c:v>0.00977016</c:v>
                </c:pt>
                <c:pt idx="62">
                  <c:v>0.02240784</c:v>
                </c:pt>
                <c:pt idx="63">
                  <c:v>0.04661082</c:v>
                </c:pt>
                <c:pt idx="64">
                  <c:v>0.08793503</c:v>
                </c:pt>
                <c:pt idx="65">
                  <c:v>0.15046155</c:v>
                </c:pt>
                <c:pt idx="66">
                  <c:v>0.23349501</c:v>
                </c:pt>
                <c:pt idx="67">
                  <c:v>0.32863825</c:v>
                </c:pt>
                <c:pt idx="68">
                  <c:v>0.41951456</c:v>
                </c:pt>
                <c:pt idx="69">
                  <c:v>0.48569585</c:v>
                </c:pt>
                <c:pt idx="70">
                  <c:v>0.51</c:v>
                </c:pt>
                <c:pt idx="71">
                  <c:v>0.48569585</c:v>
                </c:pt>
                <c:pt idx="72">
                  <c:v>0.41951456</c:v>
                </c:pt>
                <c:pt idx="73">
                  <c:v>0.32863825</c:v>
                </c:pt>
                <c:pt idx="74">
                  <c:v>0.23349501</c:v>
                </c:pt>
                <c:pt idx="75">
                  <c:v>0.15046155</c:v>
                </c:pt>
                <c:pt idx="76">
                  <c:v>0.08793503</c:v>
                </c:pt>
                <c:pt idx="77">
                  <c:v>0.04661082</c:v>
                </c:pt>
                <c:pt idx="78">
                  <c:v>0.02240784</c:v>
                </c:pt>
                <c:pt idx="79">
                  <c:v>0.00977016</c:v>
                </c:pt>
                <c:pt idx="80">
                  <c:v>0.0038636</c:v>
                </c:pt>
                <c:pt idx="81">
                  <c:v>0.0013857</c:v>
                </c:pt>
                <c:pt idx="82">
                  <c:v>0.00045075</c:v>
                </c:pt>
                <c:pt idx="83">
                  <c:v>0.00013298</c:v>
                </c:pt>
                <c:pt idx="84">
                  <c:v>3.558E-05</c:v>
                </c:pt>
                <c:pt idx="85">
                  <c:v>8.64E-06</c:v>
                </c:pt>
                <c:pt idx="86">
                  <c:v>1.9E-06</c:v>
                </c:pt>
                <c:pt idx="87">
                  <c:v>3.8E-07</c:v>
                </c:pt>
                <c:pt idx="88">
                  <c:v>7E-08</c:v>
                </c:pt>
                <c:pt idx="89">
                  <c:v>1E-08</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1E-08</c:v>
                </c:pt>
                <c:pt idx="108">
                  <c:v>9E-08</c:v>
                </c:pt>
                <c:pt idx="109">
                  <c:v>5.3E-07</c:v>
                </c:pt>
                <c:pt idx="110">
                  <c:v>2.98E-06</c:v>
                </c:pt>
                <c:pt idx="111">
                  <c:v>1.493E-05</c:v>
                </c:pt>
                <c:pt idx="112">
                  <c:v>6.692E-05</c:v>
                </c:pt>
                <c:pt idx="113">
                  <c:v>0.00026837</c:v>
                </c:pt>
                <c:pt idx="114">
                  <c:v>0.00096309</c:v>
                </c:pt>
                <c:pt idx="115">
                  <c:v>0.00309274</c:v>
                </c:pt>
                <c:pt idx="116">
                  <c:v>0.0088872</c:v>
                </c:pt>
                <c:pt idx="117">
                  <c:v>0.0228524</c:v>
                </c:pt>
                <c:pt idx="118">
                  <c:v>0.05258282</c:v>
                </c:pt>
                <c:pt idx="119">
                  <c:v>0.10826823</c:v>
                </c:pt>
                <c:pt idx="120">
                  <c:v>0.19948177</c:v>
                </c:pt>
                <c:pt idx="121">
                  <c:v>0.32888983</c:v>
                </c:pt>
                <c:pt idx="122">
                  <c:v>0.48522453</c:v>
                </c:pt>
                <c:pt idx="123">
                  <c:v>0.64058992</c:v>
                </c:pt>
                <c:pt idx="124">
                  <c:v>0.75676758</c:v>
                </c:pt>
                <c:pt idx="125">
                  <c:v>0.8</c:v>
                </c:pt>
                <c:pt idx="126">
                  <c:v>0.75676758</c:v>
                </c:pt>
                <c:pt idx="127">
                  <c:v>0.64058992</c:v>
                </c:pt>
                <c:pt idx="128">
                  <c:v>0.48522453</c:v>
                </c:pt>
                <c:pt idx="129">
                  <c:v>0.32888983</c:v>
                </c:pt>
                <c:pt idx="130">
                  <c:v>0.19948177</c:v>
                </c:pt>
                <c:pt idx="131">
                  <c:v>0.10826823</c:v>
                </c:pt>
                <c:pt idx="132">
                  <c:v>0.05258282</c:v>
                </c:pt>
                <c:pt idx="133">
                  <c:v>0.0228524</c:v>
                </c:pt>
                <c:pt idx="134">
                  <c:v>0.0088872</c:v>
                </c:pt>
                <c:pt idx="135">
                  <c:v>0.00309274</c:v>
                </c:pt>
                <c:pt idx="136">
                  <c:v>0.00096309</c:v>
                </c:pt>
                <c:pt idx="137">
                  <c:v>0.00026837</c:v>
                </c:pt>
                <c:pt idx="138">
                  <c:v>6.692E-05</c:v>
                </c:pt>
                <c:pt idx="139">
                  <c:v>1.493E-05</c:v>
                </c:pt>
                <c:pt idx="140">
                  <c:v>2.98E-06</c:v>
                </c:pt>
                <c:pt idx="141">
                  <c:v>5.3E-07</c:v>
                </c:pt>
                <c:pt idx="142">
                  <c:v>9E-08</c:v>
                </c:pt>
                <c:pt idx="143">
                  <c:v>1E-08</c:v>
                </c:pt>
                <c:pt idx="144">
                  <c:v>0</c:v>
                </c:pt>
                <c:pt idx="145">
                  <c:v>0</c:v>
                </c:pt>
                <c:pt idx="146">
                  <c:v>0</c:v>
                </c:pt>
                <c:pt idx="147">
                  <c:v>0</c:v>
                </c:pt>
                <c:pt idx="148">
                  <c:v>0</c:v>
                </c:pt>
                <c:pt idx="149">
                  <c:v>0</c:v>
                </c:pt>
                <c:pt idx="150">
                  <c:v>0</c:v>
                </c:pt>
                <c:pt idx="151">
                  <c:v>0</c:v>
                </c:pt>
                <c:pt idx="152">
                  <c:v>0</c:v>
                </c:pt>
                <c:pt idx="153">
                  <c:v>1E-08</c:v>
                </c:pt>
                <c:pt idx="154">
                  <c:v>3E-08</c:v>
                </c:pt>
                <c:pt idx="155">
                  <c:v>1.1E-07</c:v>
                </c:pt>
                <c:pt idx="156">
                  <c:v>4.3E-07</c:v>
                </c:pt>
                <c:pt idx="157">
                  <c:v>1.57E-06</c:v>
                </c:pt>
                <c:pt idx="158">
                  <c:v>5.29E-06</c:v>
                </c:pt>
                <c:pt idx="159">
                  <c:v>1.683E-05</c:v>
                </c:pt>
                <c:pt idx="160">
                  <c:v>5.024E-05</c:v>
                </c:pt>
                <c:pt idx="161">
                  <c:v>0.00014089</c:v>
                </c:pt>
                <c:pt idx="162">
                  <c:v>0.00037121</c:v>
                </c:pt>
                <c:pt idx="163">
                  <c:v>0.00091875</c:v>
                </c:pt>
                <c:pt idx="164">
                  <c:v>0.00213615</c:v>
                </c:pt>
                <c:pt idx="165">
                  <c:v>0.00466578</c:v>
                </c:pt>
                <c:pt idx="166">
                  <c:v>0.00957356</c:v>
                </c:pt>
                <c:pt idx="167">
                  <c:v>0.01845351</c:v>
                </c:pt>
                <c:pt idx="168">
                  <c:v>0.03341499</c:v>
                </c:pt>
                <c:pt idx="169">
                  <c:v>0.05684082</c:v>
                </c:pt>
                <c:pt idx="170">
                  <c:v>0.09083137</c:v>
                </c:pt>
                <c:pt idx="171">
                  <c:v>0.13635404</c:v>
                </c:pt>
                <c:pt idx="172">
                  <c:v>0.19229001</c:v>
                </c:pt>
                <c:pt idx="173">
                  <c:v>0.25474288</c:v>
                </c:pt>
                <c:pt idx="174">
                  <c:v>0.31703263</c:v>
                </c:pt>
                <c:pt idx="175">
                  <c:v>0.3706487</c:v>
                </c:pt>
                <c:pt idx="176">
                  <c:v>0.40707796</c:v>
                </c:pt>
                <c:pt idx="177">
                  <c:v>0.42</c:v>
                </c:pt>
                <c:pt idx="178">
                  <c:v>0.40707796</c:v>
                </c:pt>
                <c:pt idx="179">
                  <c:v>0.3706487</c:v>
                </c:pt>
                <c:pt idx="180">
                  <c:v>0.31703263</c:v>
                </c:pt>
                <c:pt idx="181">
                  <c:v>0.25474288</c:v>
                </c:pt>
                <c:pt idx="182">
                  <c:v>0.19229001</c:v>
                </c:pt>
                <c:pt idx="183">
                  <c:v>0.13635404</c:v>
                </c:pt>
                <c:pt idx="184">
                  <c:v>0.09083137</c:v>
                </c:pt>
                <c:pt idx="185">
                  <c:v>0.05684082</c:v>
                </c:pt>
                <c:pt idx="186">
                  <c:v>0.03341499</c:v>
                </c:pt>
                <c:pt idx="187">
                  <c:v>0.01845351</c:v>
                </c:pt>
                <c:pt idx="188">
                  <c:v>0.00957356</c:v>
                </c:pt>
                <c:pt idx="189">
                  <c:v>0.00466578</c:v>
                </c:pt>
                <c:pt idx="190">
                  <c:v>0.00213615</c:v>
                </c:pt>
                <c:pt idx="191">
                  <c:v>0.00091875</c:v>
                </c:pt>
                <c:pt idx="192">
                  <c:v>0.00037121</c:v>
                </c:pt>
                <c:pt idx="193">
                  <c:v>0.00014089</c:v>
                </c:pt>
                <c:pt idx="194">
                  <c:v>5.024E-05</c:v>
                </c:pt>
                <c:pt idx="195">
                  <c:v>1.683E-05</c:v>
                </c:pt>
                <c:pt idx="196">
                  <c:v>5.29E-06</c:v>
                </c:pt>
                <c:pt idx="197">
                  <c:v>1.57E-06</c:v>
                </c:pt>
                <c:pt idx="198">
                  <c:v>4.3E-07</c:v>
                </c:pt>
                <c:pt idx="199">
                  <c:v>1.1E-07</c:v>
                </c:pt>
                <c:pt idx="200">
                  <c:v>3E-08</c:v>
                </c:pt>
                <c:pt idx="201">
                  <c:v>1E-08</c:v>
                </c:pt>
                <c:pt idx="202">
                  <c:v>0</c:v>
                </c:pt>
                <c:pt idx="203">
                  <c:v>0</c:v>
                </c:pt>
                <c:pt idx="204">
                  <c:v>0</c:v>
                </c:pt>
                <c:pt idx="205">
                  <c:v>4E-08</c:v>
                </c:pt>
                <c:pt idx="206">
                  <c:v>3.6E-07</c:v>
                </c:pt>
                <c:pt idx="207">
                  <c:v>2.68E-06</c:v>
                </c:pt>
                <c:pt idx="208">
                  <c:v>1.705E-05</c:v>
                </c:pt>
                <c:pt idx="209">
                  <c:v>9.344E-05</c:v>
                </c:pt>
                <c:pt idx="210">
                  <c:v>0.00044167</c:v>
                </c:pt>
                <c:pt idx="211">
                  <c:v>0.00180061</c:v>
                </c:pt>
                <c:pt idx="212">
                  <c:v>0.00633141</c:v>
                </c:pt>
                <c:pt idx="213">
                  <c:v>0.01920155</c:v>
                </c:pt>
                <c:pt idx="214">
                  <c:v>0.05022582</c:v>
                </c:pt>
                <c:pt idx="215">
                  <c:v>0.11331129</c:v>
                </c:pt>
                <c:pt idx="216">
                  <c:v>0.22048271</c:v>
                </c:pt>
                <c:pt idx="217">
                  <c:v>0.37002506</c:v>
                </c:pt>
                <c:pt idx="218">
                  <c:v>0.535603</c:v>
                </c:pt>
                <c:pt idx="219">
                  <c:v>0.66866736</c:v>
                </c:pt>
                <c:pt idx="220">
                  <c:v>0.72</c:v>
                </c:pt>
                <c:pt idx="221">
                  <c:v>0.66866736</c:v>
                </c:pt>
                <c:pt idx="222">
                  <c:v>0.535603</c:v>
                </c:pt>
                <c:pt idx="223">
                  <c:v>0.37002506</c:v>
                </c:pt>
                <c:pt idx="224">
                  <c:v>0.22048271</c:v>
                </c:pt>
                <c:pt idx="225">
                  <c:v>0.11331129</c:v>
                </c:pt>
                <c:pt idx="226">
                  <c:v>0.05022582</c:v>
                </c:pt>
                <c:pt idx="227">
                  <c:v>0.01920155</c:v>
                </c:pt>
                <c:pt idx="228">
                  <c:v>0.00633141</c:v>
                </c:pt>
                <c:pt idx="229">
                  <c:v>0.00180061</c:v>
                </c:pt>
                <c:pt idx="230">
                  <c:v>0.00044167</c:v>
                </c:pt>
                <c:pt idx="231">
                  <c:v>9.344E-05</c:v>
                </c:pt>
                <c:pt idx="232">
                  <c:v>1.705E-05</c:v>
                </c:pt>
                <c:pt idx="233">
                  <c:v>2.68E-06</c:v>
                </c:pt>
                <c:pt idx="234">
                  <c:v>3.6E-07</c:v>
                </c:pt>
                <c:pt idx="235">
                  <c:v>4E-08</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numCache>
            </c:numRef>
          </c:val>
          <c:smooth val="0"/>
        </c:ser>
        <c:dLbls>
          <c:txPr>
            <ns1:bodyPr anchorCtr="1"/>
            <ns1:lstStyle/>
            <ns1:p>
              <ns1:pPr>
                <ns1:defRPr>
                  <ns1:latin typeface="Calibri"/>
                  <ns1:ea typeface="Calibri"/>
                  <ns1:cs typeface="Calibri"/>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9525">
            <ns1:solidFill>
              <ns1:srgbClr val="64748B"/>
            </ns1:solidFill>
          </ns1:ln>
        </c:spPr>
        <c:txPr>
          <ns1:bodyPr anchorCtr="1"/>
          <ns1:lstStyle/>
          <ns1:p>
            <ns1:pPr>
              <ns1:defRPr sz="1575">
                <ns1:solidFill>
                  <ns1:srgbClr val="1E293B"/>
                </ns1:solidFill>
                <ns1:latin typeface="Calibri"/>
                <ns1:ea typeface="Calibri"/>
                <ns1:cs typeface="Calibri"/>
              </ns1:defRPr>
            </ns1:pPr>
          </ns1:p>
        </c:txPr>
        <c:crossAx val="48672768"/>
        <c:lblOffset val="100"/>
        <c:tickLblSkip val="50"/>
        <c:tickMarkSkip val="50"/>
      </c:catAx>
      <c:valAx>
        <c:axId val="48672768"/>
        <c:scaling>
          <c:orientation val="minMax"/>
          <c:max val="1.15"/>
          <c:min val="0"/>
        </c:scaling>
        <c:delete val="1"/>
        <c:axPos val="l"/>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latin typeface="Calibri"/>
                <ns1:ea typeface="Calibri"/>
                <ns1:cs typeface="Calibri"/>
              </ns1:defRPr>
            </ns1:pPr>
          </ns1:p>
        </c:txPr>
        <c:crossAx val="48650112"/>
        <c:crossBetween val="between"/>
      </c:valAx>
      <c:spPr>
        <ns1:solidFill>
          <ns1:srgbClr val="FFFFFF"/>
        </ns1:solidFill>
      </c:spPr>
    </c:plotArea>
    <c:legend>
      <c:legendPos val="b"/>
      <c:overlay val="0"/>
      <c:txPr>
        <ns1:bodyPr anchorCtr="1"/>
        <ns1:lstStyle/>
        <ns1:p>
          <ns1:pPr>
            <ns1:defRPr sz="1575">
              <ns1:solidFill>
                <ns1:srgbClr val="1E293B"/>
              </ns1:solidFill>
              <ns1:latin typeface="Calibri"/>
              <ns1:ea typeface="Calibri"/>
              <ns1:cs typeface="Calibri"/>
            </ns1:defRPr>
          </ns1:pPr>
        </ns1:p>
      </c:txPr>
    </c:legend>
    <c:plotVisOnly val="1"/>
  </c:chart>
  <c:spPr>
    <ns1:solidFill>
      <ns1:srgbClr val="FFFFFF"/>
    </ns1:solidFill>
  </c:spPr>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Powder pattern</c:v>
          </c:tx>
          <c:spPr>
            <ns1:ln w="20955">
              <ns1:solidFill>
                <ns1:srgbClr val="028090"/>
              </ns1:solidFill>
            </ns1:ln>
          </c:spPr>
          <c:marker>
            <c:symbol val="none"/>
          </c:marker>
          <c:cat>
            <c:numRef>
              <c:f>'Chart Data'!$A$2:$A$702</c:f>
              <c:numCache>
                <c:formatCode>General</c:formatCode>
                <c:ptCount val="701"/>
                <c:pt idx="0">
                  <c:v>10</c:v>
                </c:pt>
                <c:pt idx="1">
                  <c:v>10.1</c:v>
                </c:pt>
                <c:pt idx="2">
                  <c:v>10.2</c:v>
                </c:pt>
                <c:pt idx="3">
                  <c:v>10.3</c:v>
                </c:pt>
                <c:pt idx="4">
                  <c:v>10.4</c:v>
                </c:pt>
                <c:pt idx="5">
                  <c:v>10.5</c:v>
                </c:pt>
                <c:pt idx="6">
                  <c:v>10.6</c:v>
                </c:pt>
                <c:pt idx="7">
                  <c:v>10.7</c:v>
                </c:pt>
                <c:pt idx="8">
                  <c:v>10.8</c:v>
                </c:pt>
                <c:pt idx="9">
                  <c:v>10.9</c:v>
                </c:pt>
                <c:pt idx="10">
                  <c:v>11</c:v>
                </c:pt>
                <c:pt idx="11">
                  <c:v>11.1</c:v>
                </c:pt>
                <c:pt idx="12">
                  <c:v>11.2</c:v>
                </c:pt>
                <c:pt idx="13">
                  <c:v>11.3</c:v>
                </c:pt>
                <c:pt idx="14">
                  <c:v>11.4</c:v>
                </c:pt>
                <c:pt idx="15">
                  <c:v>11.5</c:v>
                </c:pt>
                <c:pt idx="16">
                  <c:v>11.6</c:v>
                </c:pt>
                <c:pt idx="17">
                  <c:v>11.7</c:v>
                </c:pt>
                <c:pt idx="18">
                  <c:v>11.8</c:v>
                </c:pt>
                <c:pt idx="19">
                  <c:v>11.9</c:v>
                </c:pt>
                <c:pt idx="20">
                  <c:v>12</c:v>
                </c:pt>
                <c:pt idx="21">
                  <c:v>12.1</c:v>
                </c:pt>
                <c:pt idx="22">
                  <c:v>12.2</c:v>
                </c:pt>
                <c:pt idx="23">
                  <c:v>12.3</c:v>
                </c:pt>
                <c:pt idx="24">
                  <c:v>12.4</c:v>
                </c:pt>
                <c:pt idx="25">
                  <c:v>12.5</c:v>
                </c:pt>
                <c:pt idx="26">
                  <c:v>12.6</c:v>
                </c:pt>
                <c:pt idx="27">
                  <c:v>12.7</c:v>
                </c:pt>
                <c:pt idx="28">
                  <c:v>12.8</c:v>
                </c:pt>
                <c:pt idx="29">
                  <c:v>12.9</c:v>
                </c:pt>
                <c:pt idx="30">
                  <c:v>13</c:v>
                </c:pt>
                <c:pt idx="31">
                  <c:v>13.1</c:v>
                </c:pt>
                <c:pt idx="32">
                  <c:v>13.2</c:v>
                </c:pt>
                <c:pt idx="33">
                  <c:v>13.3</c:v>
                </c:pt>
                <c:pt idx="34">
                  <c:v>13.4</c:v>
                </c:pt>
                <c:pt idx="35">
                  <c:v>13.5</c:v>
                </c:pt>
                <c:pt idx="36">
                  <c:v>13.6</c:v>
                </c:pt>
                <c:pt idx="37">
                  <c:v>13.7</c:v>
                </c:pt>
                <c:pt idx="38">
                  <c:v>13.8</c:v>
                </c:pt>
                <c:pt idx="39">
                  <c:v>13.9</c:v>
                </c:pt>
                <c:pt idx="40">
                  <c:v>14</c:v>
                </c:pt>
                <c:pt idx="41">
                  <c:v>14.1</c:v>
                </c:pt>
                <c:pt idx="42">
                  <c:v>14.2</c:v>
                </c:pt>
                <c:pt idx="43">
                  <c:v>14.3</c:v>
                </c:pt>
                <c:pt idx="44">
                  <c:v>14.4</c:v>
                </c:pt>
                <c:pt idx="45">
                  <c:v>14.5</c:v>
                </c:pt>
                <c:pt idx="46">
                  <c:v>14.6</c:v>
                </c:pt>
                <c:pt idx="47">
                  <c:v>14.7</c:v>
                </c:pt>
                <c:pt idx="48">
                  <c:v>14.8</c:v>
                </c:pt>
                <c:pt idx="49">
                  <c:v>14.9</c:v>
                </c:pt>
                <c:pt idx="50">
                  <c:v>15</c:v>
                </c:pt>
                <c:pt idx="51">
                  <c:v>15.1</c:v>
                </c:pt>
                <c:pt idx="52">
                  <c:v>15.2</c:v>
                </c:pt>
                <c:pt idx="53">
                  <c:v>15.3</c:v>
                </c:pt>
                <c:pt idx="54">
                  <c:v>15.4</c:v>
                </c:pt>
                <c:pt idx="55">
                  <c:v>15.5</c:v>
                </c:pt>
                <c:pt idx="56">
                  <c:v>15.6</c:v>
                </c:pt>
                <c:pt idx="57">
                  <c:v>15.7</c:v>
                </c:pt>
                <c:pt idx="58">
                  <c:v>15.8</c:v>
                </c:pt>
                <c:pt idx="59">
                  <c:v>15.9</c:v>
                </c:pt>
                <c:pt idx="60">
                  <c:v>16</c:v>
                </c:pt>
                <c:pt idx="61">
                  <c:v>16.1</c:v>
                </c:pt>
                <c:pt idx="62">
                  <c:v>16.2</c:v>
                </c:pt>
                <c:pt idx="63">
                  <c:v>16.3</c:v>
                </c:pt>
                <c:pt idx="64">
                  <c:v>16.4</c:v>
                </c:pt>
                <c:pt idx="65">
                  <c:v>16.5</c:v>
                </c:pt>
                <c:pt idx="66">
                  <c:v>16.6</c:v>
                </c:pt>
                <c:pt idx="67">
                  <c:v>16.7</c:v>
                </c:pt>
                <c:pt idx="68">
                  <c:v>16.8</c:v>
                </c:pt>
                <c:pt idx="69">
                  <c:v>16.9</c:v>
                </c:pt>
                <c:pt idx="70">
                  <c:v>17</c:v>
                </c:pt>
                <c:pt idx="71">
                  <c:v>17.1</c:v>
                </c:pt>
                <c:pt idx="72">
                  <c:v>17.2</c:v>
                </c:pt>
                <c:pt idx="73">
                  <c:v>17.3</c:v>
                </c:pt>
                <c:pt idx="74">
                  <c:v>17.4</c:v>
                </c:pt>
                <c:pt idx="75">
                  <c:v>17.5</c:v>
                </c:pt>
                <c:pt idx="76">
                  <c:v>17.6</c:v>
                </c:pt>
                <c:pt idx="77">
                  <c:v>17.7</c:v>
                </c:pt>
                <c:pt idx="78">
                  <c:v>17.8</c:v>
                </c:pt>
                <c:pt idx="79">
                  <c:v>17.9</c:v>
                </c:pt>
                <c:pt idx="80">
                  <c:v>18</c:v>
                </c:pt>
                <c:pt idx="81">
                  <c:v>18.1</c:v>
                </c:pt>
                <c:pt idx="82">
                  <c:v>18.2</c:v>
                </c:pt>
                <c:pt idx="83">
                  <c:v>18.3</c:v>
                </c:pt>
                <c:pt idx="84">
                  <c:v>18.4</c:v>
                </c:pt>
                <c:pt idx="85">
                  <c:v>18.5</c:v>
                </c:pt>
                <c:pt idx="86">
                  <c:v>18.6</c:v>
                </c:pt>
                <c:pt idx="87">
                  <c:v>18.7</c:v>
                </c:pt>
                <c:pt idx="88">
                  <c:v>18.8</c:v>
                </c:pt>
                <c:pt idx="89">
                  <c:v>18.9</c:v>
                </c:pt>
                <c:pt idx="90">
                  <c:v>19</c:v>
                </c:pt>
                <c:pt idx="91">
                  <c:v>19.1</c:v>
                </c:pt>
                <c:pt idx="92">
                  <c:v>19.2</c:v>
                </c:pt>
                <c:pt idx="93">
                  <c:v>19.3</c:v>
                </c:pt>
                <c:pt idx="94">
                  <c:v>19.4</c:v>
                </c:pt>
                <c:pt idx="95">
                  <c:v>19.5</c:v>
                </c:pt>
                <c:pt idx="96">
                  <c:v>19.6</c:v>
                </c:pt>
                <c:pt idx="97">
                  <c:v>19.7</c:v>
                </c:pt>
                <c:pt idx="98">
                  <c:v>19.8</c:v>
                </c:pt>
                <c:pt idx="99">
                  <c:v>19.9</c:v>
                </c:pt>
                <c:pt idx="100">
                  <c:v>20</c:v>
                </c:pt>
                <c:pt idx="101">
                  <c:v>20.1</c:v>
                </c:pt>
                <c:pt idx="102">
                  <c:v>20.2</c:v>
                </c:pt>
                <c:pt idx="103">
                  <c:v>20.3</c:v>
                </c:pt>
                <c:pt idx="104">
                  <c:v>20.4</c:v>
                </c:pt>
                <c:pt idx="105">
                  <c:v>20.5</c:v>
                </c:pt>
                <c:pt idx="106">
                  <c:v>20.6</c:v>
                </c:pt>
                <c:pt idx="107">
                  <c:v>20.7</c:v>
                </c:pt>
                <c:pt idx="108">
                  <c:v>20.8</c:v>
                </c:pt>
                <c:pt idx="109">
                  <c:v>20.9</c:v>
                </c:pt>
                <c:pt idx="110">
                  <c:v>21</c:v>
                </c:pt>
                <c:pt idx="111">
                  <c:v>21.1</c:v>
                </c:pt>
                <c:pt idx="112">
                  <c:v>21.2</c:v>
                </c:pt>
                <c:pt idx="113">
                  <c:v>21.3</c:v>
                </c:pt>
                <c:pt idx="114">
                  <c:v>21.4</c:v>
                </c:pt>
                <c:pt idx="115">
                  <c:v>21.5</c:v>
                </c:pt>
                <c:pt idx="116">
                  <c:v>21.6</c:v>
                </c:pt>
                <c:pt idx="117">
                  <c:v>21.7</c:v>
                </c:pt>
                <c:pt idx="118">
                  <c:v>21.8</c:v>
                </c:pt>
                <c:pt idx="119">
                  <c:v>21.9</c:v>
                </c:pt>
                <c:pt idx="120">
                  <c:v>22</c:v>
                </c:pt>
                <c:pt idx="121">
                  <c:v>22.1</c:v>
                </c:pt>
                <c:pt idx="122">
                  <c:v>22.2</c:v>
                </c:pt>
                <c:pt idx="123">
                  <c:v>22.3</c:v>
                </c:pt>
                <c:pt idx="124">
                  <c:v>22.4</c:v>
                </c:pt>
                <c:pt idx="125">
                  <c:v>22.5</c:v>
                </c:pt>
                <c:pt idx="126">
                  <c:v>22.6</c:v>
                </c:pt>
                <c:pt idx="127">
                  <c:v>22.7</c:v>
                </c:pt>
                <c:pt idx="128">
                  <c:v>22.8</c:v>
                </c:pt>
                <c:pt idx="129">
                  <c:v>22.9</c:v>
                </c:pt>
                <c:pt idx="130">
                  <c:v>23</c:v>
                </c:pt>
                <c:pt idx="131">
                  <c:v>23.1</c:v>
                </c:pt>
                <c:pt idx="132">
                  <c:v>23.2</c:v>
                </c:pt>
                <c:pt idx="133">
                  <c:v>23.3</c:v>
                </c:pt>
                <c:pt idx="134">
                  <c:v>23.4</c:v>
                </c:pt>
                <c:pt idx="135">
                  <c:v>23.5</c:v>
                </c:pt>
                <c:pt idx="136">
                  <c:v>23.6</c:v>
                </c:pt>
                <c:pt idx="137">
                  <c:v>23.7</c:v>
                </c:pt>
                <c:pt idx="138">
                  <c:v>23.8</c:v>
                </c:pt>
                <c:pt idx="139">
                  <c:v>23.9</c:v>
                </c:pt>
                <c:pt idx="140">
                  <c:v>24</c:v>
                </c:pt>
                <c:pt idx="141">
                  <c:v>24.1</c:v>
                </c:pt>
                <c:pt idx="142">
                  <c:v>24.2</c:v>
                </c:pt>
                <c:pt idx="143">
                  <c:v>24.3</c:v>
                </c:pt>
                <c:pt idx="144">
                  <c:v>24.4</c:v>
                </c:pt>
                <c:pt idx="145">
                  <c:v>24.5</c:v>
                </c:pt>
                <c:pt idx="146">
                  <c:v>24.6</c:v>
                </c:pt>
                <c:pt idx="147">
                  <c:v>24.7</c:v>
                </c:pt>
                <c:pt idx="148">
                  <c:v>24.8</c:v>
                </c:pt>
                <c:pt idx="149">
                  <c:v>24.9</c:v>
                </c:pt>
                <c:pt idx="150">
                  <c:v>25</c:v>
                </c:pt>
                <c:pt idx="151">
                  <c:v>25.1</c:v>
                </c:pt>
                <c:pt idx="152">
                  <c:v>25.2</c:v>
                </c:pt>
                <c:pt idx="153">
                  <c:v>25.3</c:v>
                </c:pt>
                <c:pt idx="154">
                  <c:v>25.4</c:v>
                </c:pt>
                <c:pt idx="155">
                  <c:v>25.5</c:v>
                </c:pt>
                <c:pt idx="156">
                  <c:v>25.6</c:v>
                </c:pt>
                <c:pt idx="157">
                  <c:v>25.7</c:v>
                </c:pt>
                <c:pt idx="158">
                  <c:v>25.8</c:v>
                </c:pt>
                <c:pt idx="159">
                  <c:v>25.9</c:v>
                </c:pt>
                <c:pt idx="160">
                  <c:v>26</c:v>
                </c:pt>
                <c:pt idx="161">
                  <c:v>26.1</c:v>
                </c:pt>
                <c:pt idx="162">
                  <c:v>26.2</c:v>
                </c:pt>
                <c:pt idx="163">
                  <c:v>26.3</c:v>
                </c:pt>
                <c:pt idx="164">
                  <c:v>26.4</c:v>
                </c:pt>
                <c:pt idx="165">
                  <c:v>26.5</c:v>
                </c:pt>
                <c:pt idx="166">
                  <c:v>26.6</c:v>
                </c:pt>
                <c:pt idx="167">
                  <c:v>26.7</c:v>
                </c:pt>
                <c:pt idx="168">
                  <c:v>26.8</c:v>
                </c:pt>
                <c:pt idx="169">
                  <c:v>26.9</c:v>
                </c:pt>
                <c:pt idx="170">
                  <c:v>27</c:v>
                </c:pt>
                <c:pt idx="171">
                  <c:v>27.1</c:v>
                </c:pt>
                <c:pt idx="172">
                  <c:v>27.2</c:v>
                </c:pt>
                <c:pt idx="173">
                  <c:v>27.3</c:v>
                </c:pt>
                <c:pt idx="174">
                  <c:v>27.4</c:v>
                </c:pt>
                <c:pt idx="175">
                  <c:v>27.5</c:v>
                </c:pt>
                <c:pt idx="176">
                  <c:v>27.6</c:v>
                </c:pt>
                <c:pt idx="177">
                  <c:v>27.7</c:v>
                </c:pt>
                <c:pt idx="178">
                  <c:v>27.8</c:v>
                </c:pt>
                <c:pt idx="179">
                  <c:v>27.9</c:v>
                </c:pt>
                <c:pt idx="180">
                  <c:v>28</c:v>
                </c:pt>
                <c:pt idx="181">
                  <c:v>28.1</c:v>
                </c:pt>
                <c:pt idx="182">
                  <c:v>28.2</c:v>
                </c:pt>
                <c:pt idx="183">
                  <c:v>28.3</c:v>
                </c:pt>
                <c:pt idx="184">
                  <c:v>28.4</c:v>
                </c:pt>
                <c:pt idx="185">
                  <c:v>28.5</c:v>
                </c:pt>
                <c:pt idx="186">
                  <c:v>28.6</c:v>
                </c:pt>
                <c:pt idx="187">
                  <c:v>28.7</c:v>
                </c:pt>
                <c:pt idx="188">
                  <c:v>28.8</c:v>
                </c:pt>
                <c:pt idx="189">
                  <c:v>28.9</c:v>
                </c:pt>
                <c:pt idx="190">
                  <c:v>29</c:v>
                </c:pt>
                <c:pt idx="191">
                  <c:v>29.1</c:v>
                </c:pt>
                <c:pt idx="192">
                  <c:v>29.2</c:v>
                </c:pt>
                <c:pt idx="193">
                  <c:v>29.3</c:v>
                </c:pt>
                <c:pt idx="194">
                  <c:v>29.4</c:v>
                </c:pt>
                <c:pt idx="195">
                  <c:v>29.5</c:v>
                </c:pt>
                <c:pt idx="196">
                  <c:v>29.6</c:v>
                </c:pt>
                <c:pt idx="197">
                  <c:v>29.7</c:v>
                </c:pt>
                <c:pt idx="198">
                  <c:v>29.8</c:v>
                </c:pt>
                <c:pt idx="199">
                  <c:v>29.9</c:v>
                </c:pt>
                <c:pt idx="200">
                  <c:v>30</c:v>
                </c:pt>
                <c:pt idx="201">
                  <c:v>30.1</c:v>
                </c:pt>
                <c:pt idx="202">
                  <c:v>30.2</c:v>
                </c:pt>
                <c:pt idx="203">
                  <c:v>30.3</c:v>
                </c:pt>
                <c:pt idx="204">
                  <c:v>30.4</c:v>
                </c:pt>
                <c:pt idx="205">
                  <c:v>30.5</c:v>
                </c:pt>
                <c:pt idx="206">
                  <c:v>30.6</c:v>
                </c:pt>
                <c:pt idx="207">
                  <c:v>30.7</c:v>
                </c:pt>
                <c:pt idx="208">
                  <c:v>30.8</c:v>
                </c:pt>
                <c:pt idx="209">
                  <c:v>30.9</c:v>
                </c:pt>
                <c:pt idx="210">
                  <c:v>31</c:v>
                </c:pt>
                <c:pt idx="211">
                  <c:v>31.1</c:v>
                </c:pt>
                <c:pt idx="212">
                  <c:v>31.2</c:v>
                </c:pt>
                <c:pt idx="213">
                  <c:v>31.3</c:v>
                </c:pt>
                <c:pt idx="214">
                  <c:v>31.4</c:v>
                </c:pt>
                <c:pt idx="215">
                  <c:v>31.5</c:v>
                </c:pt>
                <c:pt idx="216">
                  <c:v>31.6</c:v>
                </c:pt>
                <c:pt idx="217">
                  <c:v>31.7</c:v>
                </c:pt>
                <c:pt idx="218">
                  <c:v>31.8</c:v>
                </c:pt>
                <c:pt idx="219">
                  <c:v>31.9</c:v>
                </c:pt>
                <c:pt idx="220">
                  <c:v>32</c:v>
                </c:pt>
                <c:pt idx="221">
                  <c:v>32.1</c:v>
                </c:pt>
                <c:pt idx="222">
                  <c:v>32.2</c:v>
                </c:pt>
                <c:pt idx="223">
                  <c:v>32.3</c:v>
                </c:pt>
                <c:pt idx="224">
                  <c:v>32.4</c:v>
                </c:pt>
                <c:pt idx="225">
                  <c:v>32.5</c:v>
                </c:pt>
                <c:pt idx="226">
                  <c:v>32.6</c:v>
                </c:pt>
                <c:pt idx="227">
                  <c:v>32.7</c:v>
                </c:pt>
                <c:pt idx="228">
                  <c:v>32.8</c:v>
                </c:pt>
                <c:pt idx="229">
                  <c:v>32.9</c:v>
                </c:pt>
                <c:pt idx="230">
                  <c:v>33</c:v>
                </c:pt>
                <c:pt idx="231">
                  <c:v>33.1</c:v>
                </c:pt>
                <c:pt idx="232">
                  <c:v>33.2</c:v>
                </c:pt>
                <c:pt idx="233">
                  <c:v>33.3</c:v>
                </c:pt>
                <c:pt idx="234">
                  <c:v>33.4</c:v>
                </c:pt>
                <c:pt idx="235">
                  <c:v>33.5</c:v>
                </c:pt>
                <c:pt idx="236">
                  <c:v>33.6</c:v>
                </c:pt>
                <c:pt idx="237">
                  <c:v>33.7</c:v>
                </c:pt>
                <c:pt idx="238">
                  <c:v>33.8</c:v>
                </c:pt>
                <c:pt idx="239">
                  <c:v>33.9</c:v>
                </c:pt>
                <c:pt idx="240">
                  <c:v>34</c:v>
                </c:pt>
                <c:pt idx="241">
                  <c:v>34.1</c:v>
                </c:pt>
                <c:pt idx="242">
                  <c:v>34.2</c:v>
                </c:pt>
                <c:pt idx="243">
                  <c:v>34.3</c:v>
                </c:pt>
                <c:pt idx="244">
                  <c:v>34.4</c:v>
                </c:pt>
                <c:pt idx="245">
                  <c:v>34.5</c:v>
                </c:pt>
                <c:pt idx="246">
                  <c:v>34.6</c:v>
                </c:pt>
                <c:pt idx="247">
                  <c:v>34.7</c:v>
                </c:pt>
                <c:pt idx="248">
                  <c:v>34.8</c:v>
                </c:pt>
                <c:pt idx="249">
                  <c:v>34.9</c:v>
                </c:pt>
                <c:pt idx="250">
                  <c:v>35</c:v>
                </c:pt>
                <c:pt idx="251">
                  <c:v>35.1</c:v>
                </c:pt>
                <c:pt idx="252">
                  <c:v>35.2</c:v>
                </c:pt>
                <c:pt idx="253">
                  <c:v>35.3</c:v>
                </c:pt>
                <c:pt idx="254">
                  <c:v>35.4</c:v>
                </c:pt>
                <c:pt idx="255">
                  <c:v>35.5</c:v>
                </c:pt>
                <c:pt idx="256">
                  <c:v>35.6</c:v>
                </c:pt>
                <c:pt idx="257">
                  <c:v>35.7</c:v>
                </c:pt>
                <c:pt idx="258">
                  <c:v>35.8</c:v>
                </c:pt>
                <c:pt idx="259">
                  <c:v>35.9</c:v>
                </c:pt>
                <c:pt idx="260">
                  <c:v>36</c:v>
                </c:pt>
                <c:pt idx="261">
                  <c:v>36.1</c:v>
                </c:pt>
                <c:pt idx="262">
                  <c:v>36.2</c:v>
                </c:pt>
                <c:pt idx="263">
                  <c:v>36.3</c:v>
                </c:pt>
                <c:pt idx="264">
                  <c:v>36.4</c:v>
                </c:pt>
                <c:pt idx="265">
                  <c:v>36.5</c:v>
                </c:pt>
                <c:pt idx="266">
                  <c:v>36.6</c:v>
                </c:pt>
                <c:pt idx="267">
                  <c:v>36.7</c:v>
                </c:pt>
                <c:pt idx="268">
                  <c:v>36.8</c:v>
                </c:pt>
                <c:pt idx="269">
                  <c:v>36.9</c:v>
                </c:pt>
                <c:pt idx="270">
                  <c:v>37</c:v>
                </c:pt>
                <c:pt idx="271">
                  <c:v>37.1</c:v>
                </c:pt>
                <c:pt idx="272">
                  <c:v>37.2</c:v>
                </c:pt>
                <c:pt idx="273">
                  <c:v>37.3</c:v>
                </c:pt>
                <c:pt idx="274">
                  <c:v>37.4</c:v>
                </c:pt>
                <c:pt idx="275">
                  <c:v>37.5</c:v>
                </c:pt>
                <c:pt idx="276">
                  <c:v>37.6</c:v>
                </c:pt>
                <c:pt idx="277">
                  <c:v>37.7</c:v>
                </c:pt>
                <c:pt idx="278">
                  <c:v>37.8</c:v>
                </c:pt>
                <c:pt idx="279">
                  <c:v>37.9</c:v>
                </c:pt>
                <c:pt idx="280">
                  <c:v>38</c:v>
                </c:pt>
                <c:pt idx="281">
                  <c:v>38.1</c:v>
                </c:pt>
                <c:pt idx="282">
                  <c:v>38.2</c:v>
                </c:pt>
                <c:pt idx="283">
                  <c:v>38.3</c:v>
                </c:pt>
                <c:pt idx="284">
                  <c:v>38.4</c:v>
                </c:pt>
                <c:pt idx="285">
                  <c:v>38.5</c:v>
                </c:pt>
                <c:pt idx="286">
                  <c:v>38.6</c:v>
                </c:pt>
                <c:pt idx="287">
                  <c:v>38.7</c:v>
                </c:pt>
                <c:pt idx="288">
                  <c:v>38.8</c:v>
                </c:pt>
                <c:pt idx="289">
                  <c:v>38.9</c:v>
                </c:pt>
                <c:pt idx="290">
                  <c:v>39</c:v>
                </c:pt>
                <c:pt idx="291">
                  <c:v>39.1</c:v>
                </c:pt>
                <c:pt idx="292">
                  <c:v>39.2</c:v>
                </c:pt>
                <c:pt idx="293">
                  <c:v>39.3</c:v>
                </c:pt>
                <c:pt idx="294">
                  <c:v>39.4</c:v>
                </c:pt>
                <c:pt idx="295">
                  <c:v>39.5</c:v>
                </c:pt>
                <c:pt idx="296">
                  <c:v>39.6</c:v>
                </c:pt>
                <c:pt idx="297">
                  <c:v>39.7</c:v>
                </c:pt>
                <c:pt idx="298">
                  <c:v>39.8</c:v>
                </c:pt>
                <c:pt idx="299">
                  <c:v>39.9</c:v>
                </c:pt>
                <c:pt idx="300">
                  <c:v>40</c:v>
                </c:pt>
                <c:pt idx="301">
                  <c:v>40.1</c:v>
                </c:pt>
                <c:pt idx="302">
                  <c:v>40.2</c:v>
                </c:pt>
                <c:pt idx="303">
                  <c:v>40.3</c:v>
                </c:pt>
                <c:pt idx="304">
                  <c:v>40.4</c:v>
                </c:pt>
                <c:pt idx="305">
                  <c:v>40.5</c:v>
                </c:pt>
                <c:pt idx="306">
                  <c:v>40.6</c:v>
                </c:pt>
                <c:pt idx="307">
                  <c:v>40.7</c:v>
                </c:pt>
                <c:pt idx="308">
                  <c:v>40.8</c:v>
                </c:pt>
                <c:pt idx="309">
                  <c:v>40.9</c:v>
                </c:pt>
                <c:pt idx="310">
                  <c:v>41</c:v>
                </c:pt>
                <c:pt idx="311">
                  <c:v>41.1</c:v>
                </c:pt>
                <c:pt idx="312">
                  <c:v>41.2</c:v>
                </c:pt>
                <c:pt idx="313">
                  <c:v>41.3</c:v>
                </c:pt>
                <c:pt idx="314">
                  <c:v>41.4</c:v>
                </c:pt>
                <c:pt idx="315">
                  <c:v>41.5</c:v>
                </c:pt>
                <c:pt idx="316">
                  <c:v>41.6</c:v>
                </c:pt>
                <c:pt idx="317">
                  <c:v>41.7</c:v>
                </c:pt>
                <c:pt idx="318">
                  <c:v>41.8</c:v>
                </c:pt>
                <c:pt idx="319">
                  <c:v>41.9</c:v>
                </c:pt>
                <c:pt idx="320">
                  <c:v>42</c:v>
                </c:pt>
                <c:pt idx="321">
                  <c:v>42.1</c:v>
                </c:pt>
                <c:pt idx="322">
                  <c:v>42.2</c:v>
                </c:pt>
                <c:pt idx="323">
                  <c:v>42.3</c:v>
                </c:pt>
                <c:pt idx="324">
                  <c:v>42.4</c:v>
                </c:pt>
                <c:pt idx="325">
                  <c:v>42.5</c:v>
                </c:pt>
                <c:pt idx="326">
                  <c:v>42.6</c:v>
                </c:pt>
                <c:pt idx="327">
                  <c:v>42.7</c:v>
                </c:pt>
                <c:pt idx="328">
                  <c:v>42.8</c:v>
                </c:pt>
                <c:pt idx="329">
                  <c:v>42.9</c:v>
                </c:pt>
                <c:pt idx="330">
                  <c:v>43</c:v>
                </c:pt>
                <c:pt idx="331">
                  <c:v>43.1</c:v>
                </c:pt>
                <c:pt idx="332">
                  <c:v>43.2</c:v>
                </c:pt>
                <c:pt idx="333">
                  <c:v>43.3</c:v>
                </c:pt>
                <c:pt idx="334">
                  <c:v>43.4</c:v>
                </c:pt>
                <c:pt idx="335">
                  <c:v>43.5</c:v>
                </c:pt>
                <c:pt idx="336">
                  <c:v>43.6</c:v>
                </c:pt>
                <c:pt idx="337">
                  <c:v>43.7</c:v>
                </c:pt>
                <c:pt idx="338">
                  <c:v>43.8</c:v>
                </c:pt>
                <c:pt idx="339">
                  <c:v>43.9</c:v>
                </c:pt>
                <c:pt idx="340">
                  <c:v>44</c:v>
                </c:pt>
                <c:pt idx="341">
                  <c:v>44.1</c:v>
                </c:pt>
                <c:pt idx="342">
                  <c:v>44.2</c:v>
                </c:pt>
                <c:pt idx="343">
                  <c:v>44.3</c:v>
                </c:pt>
                <c:pt idx="344">
                  <c:v>44.4</c:v>
                </c:pt>
                <c:pt idx="345">
                  <c:v>44.5</c:v>
                </c:pt>
                <c:pt idx="346">
                  <c:v>44.6</c:v>
                </c:pt>
                <c:pt idx="347">
                  <c:v>44.7</c:v>
                </c:pt>
                <c:pt idx="348">
                  <c:v>44.8</c:v>
                </c:pt>
                <c:pt idx="349">
                  <c:v>44.9</c:v>
                </c:pt>
                <c:pt idx="350">
                  <c:v>45</c:v>
                </c:pt>
                <c:pt idx="351">
                  <c:v>45.1</c:v>
                </c:pt>
                <c:pt idx="352">
                  <c:v>45.2</c:v>
                </c:pt>
                <c:pt idx="353">
                  <c:v>45.3</c:v>
                </c:pt>
                <c:pt idx="354">
                  <c:v>45.4</c:v>
                </c:pt>
                <c:pt idx="355">
                  <c:v>45.5</c:v>
                </c:pt>
                <c:pt idx="356">
                  <c:v>45.6</c:v>
                </c:pt>
                <c:pt idx="357">
                  <c:v>45.7</c:v>
                </c:pt>
                <c:pt idx="358">
                  <c:v>45.8</c:v>
                </c:pt>
                <c:pt idx="359">
                  <c:v>45.9</c:v>
                </c:pt>
                <c:pt idx="360">
                  <c:v>46</c:v>
                </c:pt>
                <c:pt idx="361">
                  <c:v>46.1</c:v>
                </c:pt>
                <c:pt idx="362">
                  <c:v>46.2</c:v>
                </c:pt>
                <c:pt idx="363">
                  <c:v>46.3</c:v>
                </c:pt>
                <c:pt idx="364">
                  <c:v>46.4</c:v>
                </c:pt>
                <c:pt idx="365">
                  <c:v>46.5</c:v>
                </c:pt>
                <c:pt idx="366">
                  <c:v>46.6</c:v>
                </c:pt>
                <c:pt idx="367">
                  <c:v>46.7</c:v>
                </c:pt>
                <c:pt idx="368">
                  <c:v>46.8</c:v>
                </c:pt>
                <c:pt idx="369">
                  <c:v>46.9</c:v>
                </c:pt>
                <c:pt idx="370">
                  <c:v>47</c:v>
                </c:pt>
                <c:pt idx="371">
                  <c:v>47.1</c:v>
                </c:pt>
                <c:pt idx="372">
                  <c:v>47.2</c:v>
                </c:pt>
                <c:pt idx="373">
                  <c:v>47.3</c:v>
                </c:pt>
                <c:pt idx="374">
                  <c:v>47.4</c:v>
                </c:pt>
                <c:pt idx="375">
                  <c:v>47.5</c:v>
                </c:pt>
                <c:pt idx="376">
                  <c:v>47.6</c:v>
                </c:pt>
                <c:pt idx="377">
                  <c:v>47.7</c:v>
                </c:pt>
                <c:pt idx="378">
                  <c:v>47.8</c:v>
                </c:pt>
                <c:pt idx="379">
                  <c:v>47.9</c:v>
                </c:pt>
                <c:pt idx="380">
                  <c:v>48</c:v>
                </c:pt>
                <c:pt idx="381">
                  <c:v>48.1</c:v>
                </c:pt>
                <c:pt idx="382">
                  <c:v>48.2</c:v>
                </c:pt>
                <c:pt idx="383">
                  <c:v>48.3</c:v>
                </c:pt>
                <c:pt idx="384">
                  <c:v>48.4</c:v>
                </c:pt>
                <c:pt idx="385">
                  <c:v>48.5</c:v>
                </c:pt>
                <c:pt idx="386">
                  <c:v>48.6</c:v>
                </c:pt>
                <c:pt idx="387">
                  <c:v>48.7</c:v>
                </c:pt>
                <c:pt idx="388">
                  <c:v>48.8</c:v>
                </c:pt>
                <c:pt idx="389">
                  <c:v>48.9</c:v>
                </c:pt>
                <c:pt idx="390">
                  <c:v>49</c:v>
                </c:pt>
                <c:pt idx="391">
                  <c:v>49.1</c:v>
                </c:pt>
                <c:pt idx="392">
                  <c:v>49.2</c:v>
                </c:pt>
                <c:pt idx="393">
                  <c:v>49.3</c:v>
                </c:pt>
                <c:pt idx="394">
                  <c:v>49.4</c:v>
                </c:pt>
                <c:pt idx="395">
                  <c:v>49.5</c:v>
                </c:pt>
                <c:pt idx="396">
                  <c:v>49.6</c:v>
                </c:pt>
                <c:pt idx="397">
                  <c:v>49.7</c:v>
                </c:pt>
                <c:pt idx="398">
                  <c:v>49.8</c:v>
                </c:pt>
                <c:pt idx="399">
                  <c:v>49.9</c:v>
                </c:pt>
                <c:pt idx="400">
                  <c:v>50</c:v>
                </c:pt>
                <c:pt idx="401">
                  <c:v>50.1</c:v>
                </c:pt>
                <c:pt idx="402">
                  <c:v>50.2</c:v>
                </c:pt>
                <c:pt idx="403">
                  <c:v>50.3</c:v>
                </c:pt>
                <c:pt idx="404">
                  <c:v>50.4</c:v>
                </c:pt>
                <c:pt idx="405">
                  <c:v>50.5</c:v>
                </c:pt>
                <c:pt idx="406">
                  <c:v>50.6</c:v>
                </c:pt>
                <c:pt idx="407">
                  <c:v>50.7</c:v>
                </c:pt>
                <c:pt idx="408">
                  <c:v>50.8</c:v>
                </c:pt>
                <c:pt idx="409">
                  <c:v>50.9</c:v>
                </c:pt>
                <c:pt idx="410">
                  <c:v>51</c:v>
                </c:pt>
                <c:pt idx="411">
                  <c:v>51.1</c:v>
                </c:pt>
                <c:pt idx="412">
                  <c:v>51.2</c:v>
                </c:pt>
                <c:pt idx="413">
                  <c:v>51.3</c:v>
                </c:pt>
                <c:pt idx="414">
                  <c:v>51.4</c:v>
                </c:pt>
                <c:pt idx="415">
                  <c:v>51.5</c:v>
                </c:pt>
                <c:pt idx="416">
                  <c:v>51.6</c:v>
                </c:pt>
                <c:pt idx="417">
                  <c:v>51.7</c:v>
                </c:pt>
                <c:pt idx="418">
                  <c:v>51.8</c:v>
                </c:pt>
                <c:pt idx="419">
                  <c:v>51.9</c:v>
                </c:pt>
                <c:pt idx="420">
                  <c:v>52</c:v>
                </c:pt>
                <c:pt idx="421">
                  <c:v>52.1</c:v>
                </c:pt>
                <c:pt idx="422">
                  <c:v>52.2</c:v>
                </c:pt>
                <c:pt idx="423">
                  <c:v>52.3</c:v>
                </c:pt>
                <c:pt idx="424">
                  <c:v>52.4</c:v>
                </c:pt>
                <c:pt idx="425">
                  <c:v>52.5</c:v>
                </c:pt>
                <c:pt idx="426">
                  <c:v>52.6</c:v>
                </c:pt>
                <c:pt idx="427">
                  <c:v>52.7</c:v>
                </c:pt>
                <c:pt idx="428">
                  <c:v>52.8</c:v>
                </c:pt>
                <c:pt idx="429">
                  <c:v>52.9</c:v>
                </c:pt>
                <c:pt idx="430">
                  <c:v>53</c:v>
                </c:pt>
                <c:pt idx="431">
                  <c:v>53.1</c:v>
                </c:pt>
                <c:pt idx="432">
                  <c:v>53.2</c:v>
                </c:pt>
                <c:pt idx="433">
                  <c:v>53.3</c:v>
                </c:pt>
                <c:pt idx="434">
                  <c:v>53.4</c:v>
                </c:pt>
                <c:pt idx="435">
                  <c:v>53.5</c:v>
                </c:pt>
                <c:pt idx="436">
                  <c:v>53.6</c:v>
                </c:pt>
                <c:pt idx="437">
                  <c:v>53.7</c:v>
                </c:pt>
                <c:pt idx="438">
                  <c:v>53.8</c:v>
                </c:pt>
                <c:pt idx="439">
                  <c:v>53.9</c:v>
                </c:pt>
                <c:pt idx="440">
                  <c:v>54</c:v>
                </c:pt>
                <c:pt idx="441">
                  <c:v>54.1</c:v>
                </c:pt>
                <c:pt idx="442">
                  <c:v>54.2</c:v>
                </c:pt>
                <c:pt idx="443">
                  <c:v>54.3</c:v>
                </c:pt>
                <c:pt idx="444">
                  <c:v>54.4</c:v>
                </c:pt>
                <c:pt idx="445">
                  <c:v>54.5</c:v>
                </c:pt>
                <c:pt idx="446">
                  <c:v>54.6</c:v>
                </c:pt>
                <c:pt idx="447">
                  <c:v>54.7</c:v>
                </c:pt>
                <c:pt idx="448">
                  <c:v>54.8</c:v>
                </c:pt>
                <c:pt idx="449">
                  <c:v>54.9</c:v>
                </c:pt>
                <c:pt idx="450">
                  <c:v>55</c:v>
                </c:pt>
                <c:pt idx="451">
                  <c:v>55.1</c:v>
                </c:pt>
                <c:pt idx="452">
                  <c:v>55.2</c:v>
                </c:pt>
                <c:pt idx="453">
                  <c:v>55.3</c:v>
                </c:pt>
                <c:pt idx="454">
                  <c:v>55.4</c:v>
                </c:pt>
                <c:pt idx="455">
                  <c:v>55.5</c:v>
                </c:pt>
                <c:pt idx="456">
                  <c:v>55.6</c:v>
                </c:pt>
                <c:pt idx="457">
                  <c:v>55.7</c:v>
                </c:pt>
                <c:pt idx="458">
                  <c:v>55.8</c:v>
                </c:pt>
                <c:pt idx="459">
                  <c:v>55.9</c:v>
                </c:pt>
                <c:pt idx="460">
                  <c:v>56</c:v>
                </c:pt>
                <c:pt idx="461">
                  <c:v>56.1</c:v>
                </c:pt>
                <c:pt idx="462">
                  <c:v>56.2</c:v>
                </c:pt>
                <c:pt idx="463">
                  <c:v>56.3</c:v>
                </c:pt>
                <c:pt idx="464">
                  <c:v>56.4</c:v>
                </c:pt>
                <c:pt idx="465">
                  <c:v>56.5</c:v>
                </c:pt>
                <c:pt idx="466">
                  <c:v>56.6</c:v>
                </c:pt>
                <c:pt idx="467">
                  <c:v>56.7</c:v>
                </c:pt>
                <c:pt idx="468">
                  <c:v>56.8</c:v>
                </c:pt>
                <c:pt idx="469">
                  <c:v>56.9</c:v>
                </c:pt>
                <c:pt idx="470">
                  <c:v>57</c:v>
                </c:pt>
                <c:pt idx="471">
                  <c:v>57.1</c:v>
                </c:pt>
                <c:pt idx="472">
                  <c:v>57.2</c:v>
                </c:pt>
                <c:pt idx="473">
                  <c:v>57.3</c:v>
                </c:pt>
                <c:pt idx="474">
                  <c:v>57.4</c:v>
                </c:pt>
                <c:pt idx="475">
                  <c:v>57.5</c:v>
                </c:pt>
                <c:pt idx="476">
                  <c:v>57.6</c:v>
                </c:pt>
                <c:pt idx="477">
                  <c:v>57.7</c:v>
                </c:pt>
                <c:pt idx="478">
                  <c:v>57.8</c:v>
                </c:pt>
                <c:pt idx="479">
                  <c:v>57.9</c:v>
                </c:pt>
                <c:pt idx="480">
                  <c:v>58</c:v>
                </c:pt>
                <c:pt idx="481">
                  <c:v>58.1</c:v>
                </c:pt>
                <c:pt idx="482">
                  <c:v>58.2</c:v>
                </c:pt>
                <c:pt idx="483">
                  <c:v>58.3</c:v>
                </c:pt>
                <c:pt idx="484">
                  <c:v>58.4</c:v>
                </c:pt>
                <c:pt idx="485">
                  <c:v>58.5</c:v>
                </c:pt>
                <c:pt idx="486">
                  <c:v>58.6</c:v>
                </c:pt>
                <c:pt idx="487">
                  <c:v>58.7</c:v>
                </c:pt>
                <c:pt idx="488">
                  <c:v>58.8</c:v>
                </c:pt>
                <c:pt idx="489">
                  <c:v>58.9</c:v>
                </c:pt>
                <c:pt idx="490">
                  <c:v>59</c:v>
                </c:pt>
                <c:pt idx="491">
                  <c:v>59.1</c:v>
                </c:pt>
                <c:pt idx="492">
                  <c:v>59.2</c:v>
                </c:pt>
                <c:pt idx="493">
                  <c:v>59.3</c:v>
                </c:pt>
                <c:pt idx="494">
                  <c:v>59.4</c:v>
                </c:pt>
                <c:pt idx="495">
                  <c:v>59.5</c:v>
                </c:pt>
                <c:pt idx="496">
                  <c:v>59.6</c:v>
                </c:pt>
                <c:pt idx="497">
                  <c:v>59.7</c:v>
                </c:pt>
                <c:pt idx="498">
                  <c:v>59.8</c:v>
                </c:pt>
                <c:pt idx="499">
                  <c:v>59.9</c:v>
                </c:pt>
                <c:pt idx="500">
                  <c:v>60</c:v>
                </c:pt>
                <c:pt idx="501">
                  <c:v>60.1</c:v>
                </c:pt>
                <c:pt idx="502">
                  <c:v>60.2</c:v>
                </c:pt>
                <c:pt idx="503">
                  <c:v>60.3</c:v>
                </c:pt>
                <c:pt idx="504">
                  <c:v>60.4</c:v>
                </c:pt>
                <c:pt idx="505">
                  <c:v>60.5</c:v>
                </c:pt>
                <c:pt idx="506">
                  <c:v>60.6</c:v>
                </c:pt>
                <c:pt idx="507">
                  <c:v>60.7</c:v>
                </c:pt>
                <c:pt idx="508">
                  <c:v>60.8</c:v>
                </c:pt>
                <c:pt idx="509">
                  <c:v>60.9</c:v>
                </c:pt>
                <c:pt idx="510">
                  <c:v>61</c:v>
                </c:pt>
                <c:pt idx="511">
                  <c:v>61.1</c:v>
                </c:pt>
                <c:pt idx="512">
                  <c:v>61.2</c:v>
                </c:pt>
                <c:pt idx="513">
                  <c:v>61.3</c:v>
                </c:pt>
                <c:pt idx="514">
                  <c:v>61.4</c:v>
                </c:pt>
                <c:pt idx="515">
                  <c:v>61.5</c:v>
                </c:pt>
                <c:pt idx="516">
                  <c:v>61.6</c:v>
                </c:pt>
                <c:pt idx="517">
                  <c:v>61.7</c:v>
                </c:pt>
                <c:pt idx="518">
                  <c:v>61.8</c:v>
                </c:pt>
                <c:pt idx="519">
                  <c:v>61.9</c:v>
                </c:pt>
                <c:pt idx="520">
                  <c:v>62</c:v>
                </c:pt>
                <c:pt idx="521">
                  <c:v>62.1</c:v>
                </c:pt>
                <c:pt idx="522">
                  <c:v>62.2</c:v>
                </c:pt>
                <c:pt idx="523">
                  <c:v>62.3</c:v>
                </c:pt>
                <c:pt idx="524">
                  <c:v>62.4</c:v>
                </c:pt>
                <c:pt idx="525">
                  <c:v>62.5</c:v>
                </c:pt>
                <c:pt idx="526">
                  <c:v>62.6</c:v>
                </c:pt>
                <c:pt idx="527">
                  <c:v>62.7</c:v>
                </c:pt>
                <c:pt idx="528">
                  <c:v>62.8</c:v>
                </c:pt>
                <c:pt idx="529">
                  <c:v>62.9</c:v>
                </c:pt>
                <c:pt idx="530">
                  <c:v>63</c:v>
                </c:pt>
                <c:pt idx="531">
                  <c:v>63.1</c:v>
                </c:pt>
                <c:pt idx="532">
                  <c:v>63.2</c:v>
                </c:pt>
                <c:pt idx="533">
                  <c:v>63.3</c:v>
                </c:pt>
                <c:pt idx="534">
                  <c:v>63.4</c:v>
                </c:pt>
                <c:pt idx="535">
                  <c:v>63.5</c:v>
                </c:pt>
                <c:pt idx="536">
                  <c:v>63.6</c:v>
                </c:pt>
                <c:pt idx="537">
                  <c:v>63.7</c:v>
                </c:pt>
                <c:pt idx="538">
                  <c:v>63.8</c:v>
                </c:pt>
                <c:pt idx="539">
                  <c:v>63.9</c:v>
                </c:pt>
                <c:pt idx="540">
                  <c:v>64</c:v>
                </c:pt>
                <c:pt idx="541">
                  <c:v>64.1</c:v>
                </c:pt>
                <c:pt idx="542">
                  <c:v>64.2</c:v>
                </c:pt>
                <c:pt idx="543">
                  <c:v>64.3</c:v>
                </c:pt>
                <c:pt idx="544">
                  <c:v>64.4</c:v>
                </c:pt>
                <c:pt idx="545">
                  <c:v>64.5</c:v>
                </c:pt>
                <c:pt idx="546">
                  <c:v>64.6</c:v>
                </c:pt>
                <c:pt idx="547">
                  <c:v>64.7</c:v>
                </c:pt>
                <c:pt idx="548">
                  <c:v>64.8</c:v>
                </c:pt>
                <c:pt idx="549">
                  <c:v>64.9</c:v>
                </c:pt>
                <c:pt idx="550">
                  <c:v>65</c:v>
                </c:pt>
                <c:pt idx="551">
                  <c:v>65.1</c:v>
                </c:pt>
                <c:pt idx="552">
                  <c:v>65.2</c:v>
                </c:pt>
                <c:pt idx="553">
                  <c:v>65.3</c:v>
                </c:pt>
                <c:pt idx="554">
                  <c:v>65.4</c:v>
                </c:pt>
                <c:pt idx="555">
                  <c:v>65.5</c:v>
                </c:pt>
                <c:pt idx="556">
                  <c:v>65.6</c:v>
                </c:pt>
                <c:pt idx="557">
                  <c:v>65.7</c:v>
                </c:pt>
                <c:pt idx="558">
                  <c:v>65.8</c:v>
                </c:pt>
                <c:pt idx="559">
                  <c:v>65.9</c:v>
                </c:pt>
                <c:pt idx="560">
                  <c:v>66</c:v>
                </c:pt>
                <c:pt idx="561">
                  <c:v>66.1</c:v>
                </c:pt>
                <c:pt idx="562">
                  <c:v>66.2</c:v>
                </c:pt>
                <c:pt idx="563">
                  <c:v>66.3</c:v>
                </c:pt>
                <c:pt idx="564">
                  <c:v>66.4</c:v>
                </c:pt>
                <c:pt idx="565">
                  <c:v>66.5</c:v>
                </c:pt>
                <c:pt idx="566">
                  <c:v>66.6</c:v>
                </c:pt>
                <c:pt idx="567">
                  <c:v>66.7</c:v>
                </c:pt>
                <c:pt idx="568">
                  <c:v>66.8</c:v>
                </c:pt>
                <c:pt idx="569">
                  <c:v>66.9</c:v>
                </c:pt>
                <c:pt idx="570">
                  <c:v>67</c:v>
                </c:pt>
                <c:pt idx="571">
                  <c:v>67.1</c:v>
                </c:pt>
                <c:pt idx="572">
                  <c:v>67.2</c:v>
                </c:pt>
                <c:pt idx="573">
                  <c:v>67.3</c:v>
                </c:pt>
                <c:pt idx="574">
                  <c:v>67.4</c:v>
                </c:pt>
                <c:pt idx="575">
                  <c:v>67.5</c:v>
                </c:pt>
                <c:pt idx="576">
                  <c:v>67.6</c:v>
                </c:pt>
                <c:pt idx="577">
                  <c:v>67.7</c:v>
                </c:pt>
                <c:pt idx="578">
                  <c:v>67.8</c:v>
                </c:pt>
                <c:pt idx="579">
                  <c:v>67.9</c:v>
                </c:pt>
                <c:pt idx="580">
                  <c:v>68</c:v>
                </c:pt>
                <c:pt idx="581">
                  <c:v>68.1</c:v>
                </c:pt>
                <c:pt idx="582">
                  <c:v>68.2</c:v>
                </c:pt>
                <c:pt idx="583">
                  <c:v>68.3</c:v>
                </c:pt>
                <c:pt idx="584">
                  <c:v>68.4</c:v>
                </c:pt>
                <c:pt idx="585">
                  <c:v>68.5</c:v>
                </c:pt>
                <c:pt idx="586">
                  <c:v>68.6</c:v>
                </c:pt>
                <c:pt idx="587">
                  <c:v>68.7</c:v>
                </c:pt>
                <c:pt idx="588">
                  <c:v>68.8</c:v>
                </c:pt>
                <c:pt idx="589">
                  <c:v>68.9</c:v>
                </c:pt>
                <c:pt idx="590">
                  <c:v>69</c:v>
                </c:pt>
                <c:pt idx="591">
                  <c:v>69.1</c:v>
                </c:pt>
                <c:pt idx="592">
                  <c:v>69.2</c:v>
                </c:pt>
                <c:pt idx="593">
                  <c:v>69.3</c:v>
                </c:pt>
                <c:pt idx="594">
                  <c:v>69.4</c:v>
                </c:pt>
                <c:pt idx="595">
                  <c:v>69.5</c:v>
                </c:pt>
                <c:pt idx="596">
                  <c:v>69.6</c:v>
                </c:pt>
                <c:pt idx="597">
                  <c:v>69.7</c:v>
                </c:pt>
                <c:pt idx="598">
                  <c:v>69.8</c:v>
                </c:pt>
                <c:pt idx="599">
                  <c:v>69.9</c:v>
                </c:pt>
                <c:pt idx="600">
                  <c:v>70</c:v>
                </c:pt>
                <c:pt idx="601">
                  <c:v>70.1</c:v>
                </c:pt>
                <c:pt idx="602">
                  <c:v>70.2</c:v>
                </c:pt>
                <c:pt idx="603">
                  <c:v>70.3</c:v>
                </c:pt>
                <c:pt idx="604">
                  <c:v>70.4</c:v>
                </c:pt>
                <c:pt idx="605">
                  <c:v>70.5</c:v>
                </c:pt>
                <c:pt idx="606">
                  <c:v>70.6</c:v>
                </c:pt>
                <c:pt idx="607">
                  <c:v>70.7</c:v>
                </c:pt>
                <c:pt idx="608">
                  <c:v>70.8</c:v>
                </c:pt>
                <c:pt idx="609">
                  <c:v>70.9</c:v>
                </c:pt>
                <c:pt idx="610">
                  <c:v>71</c:v>
                </c:pt>
                <c:pt idx="611">
                  <c:v>71.1</c:v>
                </c:pt>
                <c:pt idx="612">
                  <c:v>71.2</c:v>
                </c:pt>
                <c:pt idx="613">
                  <c:v>71.3</c:v>
                </c:pt>
                <c:pt idx="614">
                  <c:v>71.4</c:v>
                </c:pt>
                <c:pt idx="615">
                  <c:v>71.5</c:v>
                </c:pt>
                <c:pt idx="616">
                  <c:v>71.6</c:v>
                </c:pt>
                <c:pt idx="617">
                  <c:v>71.7</c:v>
                </c:pt>
                <c:pt idx="618">
                  <c:v>71.8</c:v>
                </c:pt>
                <c:pt idx="619">
                  <c:v>71.9</c:v>
                </c:pt>
                <c:pt idx="620">
                  <c:v>72</c:v>
                </c:pt>
                <c:pt idx="621">
                  <c:v>72.1</c:v>
                </c:pt>
                <c:pt idx="622">
                  <c:v>72.2</c:v>
                </c:pt>
                <c:pt idx="623">
                  <c:v>72.3</c:v>
                </c:pt>
                <c:pt idx="624">
                  <c:v>72.4</c:v>
                </c:pt>
                <c:pt idx="625">
                  <c:v>72.5</c:v>
                </c:pt>
                <c:pt idx="626">
                  <c:v>72.6</c:v>
                </c:pt>
                <c:pt idx="627">
                  <c:v>72.7</c:v>
                </c:pt>
                <c:pt idx="628">
                  <c:v>72.8</c:v>
                </c:pt>
                <c:pt idx="629">
                  <c:v>72.9</c:v>
                </c:pt>
                <c:pt idx="630">
                  <c:v>73</c:v>
                </c:pt>
                <c:pt idx="631">
                  <c:v>73.1</c:v>
                </c:pt>
                <c:pt idx="632">
                  <c:v>73.2</c:v>
                </c:pt>
                <c:pt idx="633">
                  <c:v>73.3</c:v>
                </c:pt>
                <c:pt idx="634">
                  <c:v>73.4</c:v>
                </c:pt>
                <c:pt idx="635">
                  <c:v>73.5</c:v>
                </c:pt>
                <c:pt idx="636">
                  <c:v>73.6</c:v>
                </c:pt>
                <c:pt idx="637">
                  <c:v>73.7</c:v>
                </c:pt>
                <c:pt idx="638">
                  <c:v>73.8</c:v>
                </c:pt>
                <c:pt idx="639">
                  <c:v>73.9</c:v>
                </c:pt>
                <c:pt idx="640">
                  <c:v>74</c:v>
                </c:pt>
                <c:pt idx="641">
                  <c:v>74.1</c:v>
                </c:pt>
                <c:pt idx="642">
                  <c:v>74.2</c:v>
                </c:pt>
                <c:pt idx="643">
                  <c:v>74.3</c:v>
                </c:pt>
                <c:pt idx="644">
                  <c:v>74.4</c:v>
                </c:pt>
                <c:pt idx="645">
                  <c:v>74.5</c:v>
                </c:pt>
                <c:pt idx="646">
                  <c:v>74.6</c:v>
                </c:pt>
                <c:pt idx="647">
                  <c:v>74.7</c:v>
                </c:pt>
                <c:pt idx="648">
                  <c:v>74.8</c:v>
                </c:pt>
                <c:pt idx="649">
                  <c:v>74.9</c:v>
                </c:pt>
                <c:pt idx="650">
                  <c:v>75</c:v>
                </c:pt>
                <c:pt idx="651">
                  <c:v>75.1</c:v>
                </c:pt>
                <c:pt idx="652">
                  <c:v>75.2</c:v>
                </c:pt>
                <c:pt idx="653">
                  <c:v>75.3</c:v>
                </c:pt>
                <c:pt idx="654">
                  <c:v>75.4</c:v>
                </c:pt>
                <c:pt idx="655">
                  <c:v>75.5</c:v>
                </c:pt>
                <c:pt idx="656">
                  <c:v>75.6</c:v>
                </c:pt>
                <c:pt idx="657">
                  <c:v>75.7</c:v>
                </c:pt>
                <c:pt idx="658">
                  <c:v>75.8</c:v>
                </c:pt>
                <c:pt idx="659">
                  <c:v>75.9</c:v>
                </c:pt>
                <c:pt idx="660">
                  <c:v>76</c:v>
                </c:pt>
                <c:pt idx="661">
                  <c:v>76.1</c:v>
                </c:pt>
                <c:pt idx="662">
                  <c:v>76.2</c:v>
                </c:pt>
                <c:pt idx="663">
                  <c:v>76.3</c:v>
                </c:pt>
                <c:pt idx="664">
                  <c:v>76.4</c:v>
                </c:pt>
                <c:pt idx="665">
                  <c:v>76.5</c:v>
                </c:pt>
                <c:pt idx="666">
                  <c:v>76.6</c:v>
                </c:pt>
                <c:pt idx="667">
                  <c:v>76.7</c:v>
                </c:pt>
                <c:pt idx="668">
                  <c:v>76.8</c:v>
                </c:pt>
                <c:pt idx="669">
                  <c:v>76.9</c:v>
                </c:pt>
                <c:pt idx="670">
                  <c:v>77</c:v>
                </c:pt>
                <c:pt idx="671">
                  <c:v>77.1</c:v>
                </c:pt>
                <c:pt idx="672">
                  <c:v>77.2</c:v>
                </c:pt>
                <c:pt idx="673">
                  <c:v>77.3</c:v>
                </c:pt>
                <c:pt idx="674">
                  <c:v>77.4</c:v>
                </c:pt>
                <c:pt idx="675">
                  <c:v>77.5</c:v>
                </c:pt>
                <c:pt idx="676">
                  <c:v>77.6</c:v>
                </c:pt>
                <c:pt idx="677">
                  <c:v>77.7</c:v>
                </c:pt>
                <c:pt idx="678">
                  <c:v>77.8</c:v>
                </c:pt>
                <c:pt idx="679">
                  <c:v>77.9</c:v>
                </c:pt>
                <c:pt idx="680">
                  <c:v>78</c:v>
                </c:pt>
                <c:pt idx="681">
                  <c:v>78.1</c:v>
                </c:pt>
                <c:pt idx="682">
                  <c:v>78.2</c:v>
                </c:pt>
                <c:pt idx="683">
                  <c:v>78.3</c:v>
                </c:pt>
                <c:pt idx="684">
                  <c:v>78.4</c:v>
                </c:pt>
                <c:pt idx="685">
                  <c:v>78.5</c:v>
                </c:pt>
                <c:pt idx="686">
                  <c:v>78.6</c:v>
                </c:pt>
                <c:pt idx="687">
                  <c:v>78.7</c:v>
                </c:pt>
                <c:pt idx="688">
                  <c:v>78.8</c:v>
                </c:pt>
                <c:pt idx="689">
                  <c:v>78.9</c:v>
                </c:pt>
                <c:pt idx="690">
                  <c:v>79</c:v>
                </c:pt>
                <c:pt idx="691">
                  <c:v>79.1</c:v>
                </c:pt>
                <c:pt idx="692">
                  <c:v>79.2</c:v>
                </c:pt>
                <c:pt idx="693">
                  <c:v>79.3</c:v>
                </c:pt>
                <c:pt idx="694">
                  <c:v>79.4</c:v>
                </c:pt>
                <c:pt idx="695">
                  <c:v>79.5</c:v>
                </c:pt>
                <c:pt idx="696">
                  <c:v>79.6</c:v>
                </c:pt>
                <c:pt idx="697">
                  <c:v>79.7</c:v>
                </c:pt>
                <c:pt idx="698">
                  <c:v>79.8</c:v>
                </c:pt>
                <c:pt idx="699">
                  <c:v>79.9</c:v>
                </c:pt>
                <c:pt idx="700">
                  <c:v>80</c:v>
                </c:pt>
              </c:numCache>
            </c:numRef>
          </c:cat>
          <c:val>
            <c:numRef>
              <c:f>'Chart Data'!$B$2:$B$702</c:f>
              <c:numCache>
                <c:formatCode>General</c:formatCode>
                <c:ptCount val="7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5E-08</c:v>
                </c:pt>
                <c:pt idx="71">
                  <c:v>9.3E-07</c:v>
                </c:pt>
                <c:pt idx="72">
                  <c:v>1.284E-05</c:v>
                </c:pt>
                <c:pt idx="73">
                  <c:v>0.00012999</c:v>
                </c:pt>
                <c:pt idx="74">
                  <c:v>0.00096648</c:v>
                </c:pt>
                <c:pt idx="75">
                  <c:v>0.00527741</c:v>
                </c:pt>
                <c:pt idx="76">
                  <c:v>0.0211645</c:v>
                </c:pt>
                <c:pt idx="77">
                  <c:v>0.06233805</c:v>
                </c:pt>
                <c:pt idx="78">
                  <c:v>0.13485188</c:v>
                </c:pt>
                <c:pt idx="79">
                  <c:v>0.21424922</c:v>
                </c:pt>
                <c:pt idx="80">
                  <c:v>0.25</c:v>
                </c:pt>
                <c:pt idx="81">
                  <c:v>0.21424922</c:v>
                </c:pt>
                <c:pt idx="82">
                  <c:v>0.13485188</c:v>
                </c:pt>
                <c:pt idx="83">
                  <c:v>0.06233805</c:v>
                </c:pt>
                <c:pt idx="84">
                  <c:v>0.0211645</c:v>
                </c:pt>
                <c:pt idx="85">
                  <c:v>0.00527741</c:v>
                </c:pt>
                <c:pt idx="86">
                  <c:v>0.00096648</c:v>
                </c:pt>
                <c:pt idx="87">
                  <c:v>0.00012999</c:v>
                </c:pt>
                <c:pt idx="88">
                  <c:v>1.284E-05</c:v>
                </c:pt>
                <c:pt idx="89">
                  <c:v>9.3E-07</c:v>
                </c:pt>
                <c:pt idx="90">
                  <c:v>5E-08</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1E-08</c:v>
                </c:pt>
                <c:pt idx="169">
                  <c:v>2.1E-07</c:v>
                </c:pt>
                <c:pt idx="170">
                  <c:v>2.91E-06</c:v>
                </c:pt>
                <c:pt idx="171">
                  <c:v>3.125E-05</c:v>
                </c:pt>
                <c:pt idx="172">
                  <c:v>0.00026166</c:v>
                </c:pt>
                <c:pt idx="173">
                  <c:v>0.00170624</c:v>
                </c:pt>
                <c:pt idx="174">
                  <c:v>0.00866502</c:v>
                </c:pt>
                <c:pt idx="175">
                  <c:v>0.03427081</c:v>
                </c:pt>
                <c:pt idx="176">
                  <c:v>0.10556152</c:v>
                </c:pt>
                <c:pt idx="177">
                  <c:v>0.25322892</c:v>
                </c:pt>
                <c:pt idx="178">
                  <c:v>0.47309391</c:v>
                </c:pt>
                <c:pt idx="179">
                  <c:v>0.68834758</c:v>
                </c:pt>
                <c:pt idx="180">
                  <c:v>0.78</c:v>
                </c:pt>
                <c:pt idx="181">
                  <c:v>0.68834758</c:v>
                </c:pt>
                <c:pt idx="182">
                  <c:v>0.47309391</c:v>
                </c:pt>
                <c:pt idx="183">
                  <c:v>0.25322892</c:v>
                </c:pt>
                <c:pt idx="184">
                  <c:v>0.10556152</c:v>
                </c:pt>
                <c:pt idx="185">
                  <c:v>0.03427081</c:v>
                </c:pt>
                <c:pt idx="186">
                  <c:v>0.00866502</c:v>
                </c:pt>
                <c:pt idx="187">
                  <c:v>0.00170624</c:v>
                </c:pt>
                <c:pt idx="188">
                  <c:v>0.00026166</c:v>
                </c:pt>
                <c:pt idx="189">
                  <c:v>3.125E-05</c:v>
                </c:pt>
                <c:pt idx="190">
                  <c:v>2.91E-06</c:v>
                </c:pt>
                <c:pt idx="191">
                  <c:v>2.1E-07</c:v>
                </c:pt>
                <c:pt idx="192">
                  <c:v>1E-08</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6E-08</c:v>
                </c:pt>
                <c:pt idx="232">
                  <c:v>1.57E-06</c:v>
                </c:pt>
                <c:pt idx="233">
                  <c:v>2.93E-05</c:v>
                </c:pt>
                <c:pt idx="234">
                  <c:v>0.00037121</c:v>
                </c:pt>
                <c:pt idx="235">
                  <c:v>0.00318178</c:v>
                </c:pt>
                <c:pt idx="236">
                  <c:v>0.01845351</c:v>
                </c:pt>
                <c:pt idx="237">
                  <c:v>0.07241708</c:v>
                </c:pt>
                <c:pt idx="238">
                  <c:v>0.19229001</c:v>
                </c:pt>
                <c:pt idx="239">
                  <c:v>0.34548258</c:v>
                </c:pt>
                <c:pt idx="240">
                  <c:v>0.42</c:v>
                </c:pt>
                <c:pt idx="241">
                  <c:v>0.34548258</c:v>
                </c:pt>
                <c:pt idx="242">
                  <c:v>0.19229001</c:v>
                </c:pt>
                <c:pt idx="243">
                  <c:v>0.07241708</c:v>
                </c:pt>
                <c:pt idx="244">
                  <c:v>0.01845351</c:v>
                </c:pt>
                <c:pt idx="245">
                  <c:v>0.00318178</c:v>
                </c:pt>
                <c:pt idx="246">
                  <c:v>0.00037121</c:v>
                </c:pt>
                <c:pt idx="247">
                  <c:v>2.93E-05</c:v>
                </c:pt>
                <c:pt idx="248">
                  <c:v>1.57E-06</c:v>
                </c:pt>
                <c:pt idx="249">
                  <c:v>6E-08</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2E-08</c:v>
                </c:pt>
                <c:pt idx="309">
                  <c:v>2.7E-07</c:v>
                </c:pt>
                <c:pt idx="310">
                  <c:v>3.73E-06</c:v>
                </c:pt>
                <c:pt idx="311">
                  <c:v>4.007E-05</c:v>
                </c:pt>
                <c:pt idx="312">
                  <c:v>0.00033546</c:v>
                </c:pt>
                <c:pt idx="313">
                  <c:v>0.00218749</c:v>
                </c:pt>
                <c:pt idx="314">
                  <c:v>0.011109</c:v>
                </c:pt>
                <c:pt idx="315">
                  <c:v>0.04393693</c:v>
                </c:pt>
                <c:pt idx="316">
                  <c:v>0.13533528</c:v>
                </c:pt>
                <c:pt idx="317">
                  <c:v>0.32465247</c:v>
                </c:pt>
                <c:pt idx="318">
                  <c:v>0.60653066</c:v>
                </c:pt>
                <c:pt idx="319">
                  <c:v>0.8824969</c:v>
                </c:pt>
                <c:pt idx="320">
                  <c:v>1</c:v>
                </c:pt>
                <c:pt idx="321">
                  <c:v>0.8824969</c:v>
                </c:pt>
                <c:pt idx="322">
                  <c:v>0.60653066</c:v>
                </c:pt>
                <c:pt idx="323">
                  <c:v>0.32465247</c:v>
                </c:pt>
                <c:pt idx="324">
                  <c:v>0.13533528</c:v>
                </c:pt>
                <c:pt idx="325">
                  <c:v>0.04393693</c:v>
                </c:pt>
                <c:pt idx="326">
                  <c:v>0.011109</c:v>
                </c:pt>
                <c:pt idx="327">
                  <c:v>0.00218749</c:v>
                </c:pt>
                <c:pt idx="328">
                  <c:v>0.00033546</c:v>
                </c:pt>
                <c:pt idx="329">
                  <c:v>4.007E-05</c:v>
                </c:pt>
                <c:pt idx="330">
                  <c:v>3.73E-06</c:v>
                </c:pt>
                <c:pt idx="331">
                  <c:v>2.7E-07</c:v>
                </c:pt>
                <c:pt idx="332">
                  <c:v>2E-08</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1E-08</c:v>
                </c:pt>
                <c:pt idx="418">
                  <c:v>1.7E-07</c:v>
                </c:pt>
                <c:pt idx="419">
                  <c:v>1.79E-06</c:v>
                </c:pt>
                <c:pt idx="420">
                  <c:v>1.566E-05</c:v>
                </c:pt>
                <c:pt idx="421">
                  <c:v>0.00011147</c:v>
                </c:pt>
                <c:pt idx="422">
                  <c:v>0.00064547</c:v>
                </c:pt>
                <c:pt idx="423">
                  <c:v>0.00303983</c:v>
                </c:pt>
                <c:pt idx="424">
                  <c:v>0.01164385</c:v>
                </c:pt>
                <c:pt idx="425">
                  <c:v>0.03627546</c:v>
                </c:pt>
                <c:pt idx="426">
                  <c:v>0.09191769</c:v>
                </c:pt>
                <c:pt idx="427">
                  <c:v>0.18943274</c:v>
                </c:pt>
                <c:pt idx="428">
                  <c:v>0.31752703</c:v>
                </c:pt>
                <c:pt idx="429">
                  <c:v>0.43288856</c:v>
                </c:pt>
                <c:pt idx="430">
                  <c:v>0.48</c:v>
                </c:pt>
                <c:pt idx="431">
                  <c:v>0.43288856</c:v>
                </c:pt>
                <c:pt idx="432">
                  <c:v>0.31752703</c:v>
                </c:pt>
                <c:pt idx="433">
                  <c:v>0.18943274</c:v>
                </c:pt>
                <c:pt idx="434">
                  <c:v>0.09191769</c:v>
                </c:pt>
                <c:pt idx="435">
                  <c:v>0.03627546</c:v>
                </c:pt>
                <c:pt idx="436">
                  <c:v>0.01164385</c:v>
                </c:pt>
                <c:pt idx="437">
                  <c:v>0.00303983</c:v>
                </c:pt>
                <c:pt idx="438">
                  <c:v>0.00064547</c:v>
                </c:pt>
                <c:pt idx="439">
                  <c:v>0.00011147</c:v>
                </c:pt>
                <c:pt idx="440">
                  <c:v>1.566E-05</c:v>
                </c:pt>
                <c:pt idx="441">
                  <c:v>1.79E-06</c:v>
                </c:pt>
                <c:pt idx="442">
                  <c:v>1.7E-07</c:v>
                </c:pt>
                <c:pt idx="443">
                  <c:v>1E-08</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1E-08</c:v>
                </c:pt>
                <c:pt idx="497">
                  <c:v>9E-08</c:v>
                </c:pt>
                <c:pt idx="498">
                  <c:v>7.5E-07</c:v>
                </c:pt>
                <c:pt idx="499">
                  <c:v>5.49E-06</c:v>
                </c:pt>
                <c:pt idx="500">
                  <c:v>3.397E-05</c:v>
                </c:pt>
                <c:pt idx="501">
                  <c:v>0.00017677</c:v>
                </c:pt>
                <c:pt idx="502">
                  <c:v>0.00077318</c:v>
                </c:pt>
                <c:pt idx="503">
                  <c:v>0.00284296</c:v>
                </c:pt>
                <c:pt idx="504">
                  <c:v>0.00878739</c:v>
                </c:pt>
                <c:pt idx="505">
                  <c:v>0.02283235</c:v>
                </c:pt>
                <c:pt idx="506">
                  <c:v>0.04987044</c:v>
                </c:pt>
                <c:pt idx="507">
                  <c:v>0.09156667</c:v>
                </c:pt>
                <c:pt idx="508">
                  <c:v>0.14132966</c:v>
                </c:pt>
                <c:pt idx="509">
                  <c:v>0.18337107</c:v>
                </c:pt>
                <c:pt idx="510">
                  <c:v>0.2</c:v>
                </c:pt>
                <c:pt idx="511">
                  <c:v>0.18337107</c:v>
                </c:pt>
                <c:pt idx="512">
                  <c:v>0.14132966</c:v>
                </c:pt>
                <c:pt idx="513">
                  <c:v>0.09156667</c:v>
                </c:pt>
                <c:pt idx="514">
                  <c:v>0.04987044</c:v>
                </c:pt>
                <c:pt idx="515">
                  <c:v>0.02283235</c:v>
                </c:pt>
                <c:pt idx="516">
                  <c:v>0.00878739</c:v>
                </c:pt>
                <c:pt idx="517">
                  <c:v>0.00284296</c:v>
                </c:pt>
                <c:pt idx="518">
                  <c:v>0.00077318</c:v>
                </c:pt>
                <c:pt idx="519">
                  <c:v>0.00017677</c:v>
                </c:pt>
                <c:pt idx="520">
                  <c:v>3.397E-05</c:v>
                </c:pt>
                <c:pt idx="521">
                  <c:v>5.49E-06</c:v>
                </c:pt>
                <c:pt idx="522">
                  <c:v>7.5E-07</c:v>
                </c:pt>
                <c:pt idx="523">
                  <c:v>9E-08</c:v>
                </c:pt>
                <c:pt idx="524">
                  <c:v>1E-08</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1E-08</c:v>
                </c:pt>
                <c:pt idx="569">
                  <c:v>9E-08</c:v>
                </c:pt>
                <c:pt idx="570">
                  <c:v>1.3E-06</c:v>
                </c:pt>
                <c:pt idx="571">
                  <c:v>1.402E-05</c:v>
                </c:pt>
                <c:pt idx="572">
                  <c:v>0.00011741</c:v>
                </c:pt>
                <c:pt idx="573">
                  <c:v>0.00076562</c:v>
                </c:pt>
                <c:pt idx="574">
                  <c:v>0.00388815</c:v>
                </c:pt>
                <c:pt idx="575">
                  <c:v>0.01537793</c:v>
                </c:pt>
                <c:pt idx="576">
                  <c:v>0.04736735</c:v>
                </c:pt>
                <c:pt idx="577">
                  <c:v>0.11362836</c:v>
                </c:pt>
                <c:pt idx="578">
                  <c:v>0.21228573</c:v>
                </c:pt>
                <c:pt idx="579">
                  <c:v>0.30887392</c:v>
                </c:pt>
                <c:pt idx="580">
                  <c:v>0.35</c:v>
                </c:pt>
                <c:pt idx="581">
                  <c:v>0.30887392</c:v>
                </c:pt>
                <c:pt idx="582">
                  <c:v>0.21228573</c:v>
                </c:pt>
                <c:pt idx="583">
                  <c:v>0.11362836</c:v>
                </c:pt>
                <c:pt idx="584">
                  <c:v>0.04736735</c:v>
                </c:pt>
                <c:pt idx="585">
                  <c:v>0.01537793</c:v>
                </c:pt>
                <c:pt idx="586">
                  <c:v>0.00388815</c:v>
                </c:pt>
                <c:pt idx="587">
                  <c:v>0.00076562</c:v>
                </c:pt>
                <c:pt idx="588">
                  <c:v>0.00011741</c:v>
                </c:pt>
                <c:pt idx="589">
                  <c:v>1.402E-05</c:v>
                </c:pt>
                <c:pt idx="590">
                  <c:v>1.3E-06</c:v>
                </c:pt>
                <c:pt idx="591">
                  <c:v>9E-08</c:v>
                </c:pt>
                <c:pt idx="592">
                  <c:v>1E-08</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1E-08</c:v>
                </c:pt>
                <c:pt idx="627">
                  <c:v>7E-08</c:v>
                </c:pt>
                <c:pt idx="628">
                  <c:v>6.3E-07</c:v>
                </c:pt>
                <c:pt idx="629">
                  <c:v>4.66E-06</c:v>
                </c:pt>
                <c:pt idx="630">
                  <c:v>2.888E-05</c:v>
                </c:pt>
                <c:pt idx="631">
                  <c:v>0.00015025</c:v>
                </c:pt>
                <c:pt idx="632">
                  <c:v>0.00065721</c:v>
                </c:pt>
                <c:pt idx="633">
                  <c:v>0.00241651</c:v>
                </c:pt>
                <c:pt idx="634">
                  <c:v>0.00746928</c:v>
                </c:pt>
                <c:pt idx="635">
                  <c:v>0.0194075</c:v>
                </c:pt>
                <c:pt idx="636">
                  <c:v>0.04238988</c:v>
                </c:pt>
                <c:pt idx="637">
                  <c:v>0.07783167</c:v>
                </c:pt>
                <c:pt idx="638">
                  <c:v>0.12013021</c:v>
                </c:pt>
                <c:pt idx="639">
                  <c:v>0.15586541</c:v>
                </c:pt>
                <c:pt idx="640">
                  <c:v>0.17</c:v>
                </c:pt>
                <c:pt idx="641">
                  <c:v>0.15586541</c:v>
                </c:pt>
                <c:pt idx="642">
                  <c:v>0.12013021</c:v>
                </c:pt>
                <c:pt idx="643">
                  <c:v>0.07783167</c:v>
                </c:pt>
                <c:pt idx="644">
                  <c:v>0.04238988</c:v>
                </c:pt>
                <c:pt idx="645">
                  <c:v>0.0194075</c:v>
                </c:pt>
                <c:pt idx="646">
                  <c:v>0.00746928</c:v>
                </c:pt>
                <c:pt idx="647">
                  <c:v>0.00241651</c:v>
                </c:pt>
                <c:pt idx="648">
                  <c:v>0.00065721</c:v>
                </c:pt>
                <c:pt idx="649">
                  <c:v>0.00015025</c:v>
                </c:pt>
                <c:pt idx="650">
                  <c:v>2.888E-05</c:v>
                </c:pt>
                <c:pt idx="651">
                  <c:v>4.66E-06</c:v>
                </c:pt>
                <c:pt idx="652">
                  <c:v>6.3E-07</c:v>
                </c:pt>
                <c:pt idx="653">
                  <c:v>7E-08</c:v>
                </c:pt>
                <c:pt idx="654">
                  <c:v>1E-08</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numCache>
            </c:numRef>
          </c:val>
          <c:smooth val="0"/>
        </c:ser>
        <c:dLbls>
          <c:txPr>
            <ns1:bodyPr anchorCtr="1"/>
            <ns1:lstStyle/>
            <ns1:p>
              <ns1:pPr>
                <ns1:defRPr>
                  <ns1:latin typeface="Calibri"/>
                  <ns1:ea typeface="Calibri"/>
                  <ns1:cs typeface="Calibri"/>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9525">
            <ns1:solidFill>
              <ns1:srgbClr val="64748B"/>
            </ns1:solidFill>
          </ns1:ln>
        </c:spPr>
        <c:txPr>
          <ns1:bodyPr anchorCtr="1"/>
          <ns1:lstStyle/>
          <ns1:p>
            <ns1:pPr>
              <ns1:defRPr sz="1575">
                <ns1:solidFill>
                  <ns1:srgbClr val="1E293B"/>
                </ns1:solidFill>
                <ns1:latin typeface="Calibri"/>
                <ns1:ea typeface="Calibri"/>
                <ns1:cs typeface="Calibri"/>
              </ns1:defRPr>
            </ns1:pPr>
          </ns1:p>
        </c:txPr>
        <c:crossAx val="48672768"/>
        <c:lblOffset val="100"/>
        <c:tickLblSkip val="100"/>
        <c:tickMarkSkip val="100"/>
      </c:catAx>
      <c:valAx>
        <c:axId val="48672768"/>
        <c:scaling>
          <c:orientation val="minMax"/>
          <c:max val="1.15"/>
          <c:min val="0"/>
        </c:scaling>
        <c:delete val="1"/>
        <c:axPos val="l"/>
        <c:numFmt formatCode="General"/>
        <c:majorTickMark val="none"/>
        <c:minorTickMark val="none"/>
        <c:spPr>
          <ns1:ln w="9525">
            <ns1:solidFill>
              <ns1:srgbClr val="D4D4D4"/>
            </ns1:solidFill>
            <ns1:prstDash val="solid"/>
          </ns1:ln>
        </c:spPr>
        <c:txPr>
          <ns1:bodyPr anchorCtr="1"/>
          <ns1:lstStyle/>
          <ns1:p>
            <ns1:pPr>
              <ns1:defRPr>
                <ns1:solidFill>
                  <ns1:srgbClr val="666666"/>
                </ns1:solidFill>
                <ns1:latin typeface="Calibri"/>
                <ns1:ea typeface="Calibri"/>
                <ns1:cs typeface="Calibri"/>
              </ns1:defRPr>
            </ns1:pPr>
          </ns1:p>
        </c:txPr>
        <c:crossAx val="48650112"/>
        <c:crossBetween val="between"/>
      </c:valAx>
      <c:spPr>
        <ns1:solidFill>
          <ns1:srgbClr val="FFFFFF"/>
        </ns1:solidFill>
      </c:spPr>
    </c:plotArea>
    <c:plotVisOnly val="1"/>
  </c:chart>
  <c:spPr>
    <ns1:solidFill>
      <ns1:srgbClr val="FFFFFF"/>
    </ns1: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Number of structures</c:v>
          </c:tx>
          <c:spPr>
            <a:solidFill xmlns:a="http://schemas.openxmlformats.org/drawingml/2006/main">
              <a:srgbClr val="028090"/>
            </a:solidFill>
          </c:spPr>
          <c:invertIfNegative val="0"/>
          <c:dPt>
            <c:idx val="0"/>
            <c:invertIfNegative val="0"/>
            <c:spPr>
              <a:solidFill xmlns:a="http://schemas.openxmlformats.org/drawingml/2006/main">
                <a:srgbClr val="94A3B8"/>
              </a:solidFill>
            </c:spPr>
          </c:dPt>
          <c:dPt>
            <c:idx val="1"/>
            <c:invertIfNegative val="0"/>
            <c:spPr>
              <a:solidFill xmlns:a="http://schemas.openxmlformats.org/drawingml/2006/main">
                <a:srgbClr val="028090"/>
              </a:solidFill>
            </c:spPr>
          </c:dPt>
          <c:dPt>
            <c:idx val="2"/>
            <c:invertIfNegative val="0"/>
            <c:spPr>
              <a:solidFill xmlns:a="http://schemas.openxmlformats.org/drawingml/2006/main">
                <a:srgbClr val="C56B30"/>
              </a:solidFill>
            </c:spPr>
          </c:dPt>
          <c:cat>
            <c:strRef>
              <c:f>'Chart Data'!$A$2:$A$4</c:f>
              <c:strCache>
                <c:ptCount val="3"/>
                <c:pt idx="0">
                  <c:v>Valid test
cases</c:v>
                </c:pt>
                <c:pt idx="1">
                  <c:v>Structure
matched</c:v>
                </c:pt>
                <c:pt idx="2">
                  <c:v>Refinement
completed</c:v>
                </c:pt>
              </c:strCache>
            </c:strRef>
          </c:cat>
          <c:val>
            <c:numRef>
              <c:f>'Chart Data'!$B$2:$B$4</c:f>
              <c:numCache>
                <c:formatCode>#,##0</c:formatCode>
                <c:ptCount val="3"/>
                <c:pt idx="0">
                  <c:v>8238</c:v>
                </c:pt>
                <c:pt idx="1">
                  <c:v>7946</c:v>
                </c:pt>
                <c:pt idx="2">
                  <c:v>7304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ln>
        </c:spPr>
        <c:txPr>
          <a:bodyPr xmlns:a="http://schemas.openxmlformats.org/drawingml/2006/main" anchorCtr="1"/>
          <a:lstStyle xmlns:a="http://schemas.openxmlformats.org/drawingml/2006/main"/>
          <a:p xmlns:a="http://schemas.openxmlformats.org/drawingml/2006/main">
            <a:pPr>
              <a:defRPr sz="1650">
                <a:solidFill>
                  <a:srgbClr val="1E293B"/>
                </a:solidFill>
                <a:latin typeface="Calibri"/>
                <a:ea typeface="Calibri"/>
                <a:cs typeface="Calibri"/>
              </a:defRPr>
            </a:pPr>
          </a:p>
        </c:txPr>
        <c:crossAx val="48672768"/>
      </c:catAx>
      <c:valAx>
        <c:axId val="48672768"/>
        <c:scaling>
          <c:orientation val="minMax"/>
          <c:max val="9000"/>
          <c:min val="0"/>
        </c:scaling>
        <c:delete val="0"/>
        <c:axPos val="l"/>
        <c:majorGridlines>
          <c:spPr>
            <a:ln xmlns:a="http://schemas.openxmlformats.org/drawingml/2006/main" w="9525">
              <a:solidFill>
                <a:srgbClr val="E2E8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Calibri"/>
                <a:ea typeface="Calibri"/>
                <a:cs typeface="Calibri"/>
              </a:defRPr>
            </a:pPr>
          </a:p>
        </c:txPr>
        <c:crossAx val="48650112"/>
        <c:crossBetween val="between"/>
        <c:majorUnit val="3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NMR: clues about a molecule’s structure">
            <a:extLst xmlns:a="http://schemas.openxmlformats.org/drawingml/2006/main">
              <a:ext uri="{FF2B5EF4-FFF2-40B4-BE49-F238E27FC236}">
                <a16:creationId xmlns:a16="http://schemas.microsoft.com/office/drawing/2014/main" id="{49133898-0FE1-4548-A125-011B2E40DB7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NMR: clues about a molecule’s structure</a:t>
            </a:r>
          </a:p>
        </p:txBody>
      </p:sp>
      <p:sp>
        <p:nvSpPr>
          <p:cNvPr id="2" name="Nuclear magnetic resonance measures signals from atomic nuclei.">
            <a:extLst xmlns:a="http://schemas.openxmlformats.org/drawingml/2006/main">
              <a:ext uri="{FF2B5EF4-FFF2-40B4-BE49-F238E27FC236}">
                <a16:creationId xmlns:a16="http://schemas.microsoft.com/office/drawing/2014/main" id="{39D6CA9C-A0F4-4D76-AA7D-DBF5885EDBC0}"/>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Nuclear magnetic resonance measures signals from atomic nuclei.</a:t>
            </a:r>
          </a:p>
        </p:txBody>
      </p:sp>
      <p:sp>
        <p:nvSpPr>
          <p:cNvPr id="3" name="Concept: Hebrew University NMR laboratory. Schematic spectrum, splitti">
            <a:extLst xmlns:a="http://schemas.openxmlformats.org/drawingml/2006/main">
              <a:ext uri="{FF2B5EF4-FFF2-40B4-BE49-F238E27FC236}">
                <a16:creationId xmlns:a16="http://schemas.microsoft.com/office/drawing/2014/main" id="{880280A9-B28F-4C90-997C-FC87C85A6F7F}"/>
              </a:ext>
            </a:extLst>
          </p:cNvPr>
          <p:cNvSpPr>
            <a:spLocks xmlns:a="http://schemas.openxmlformats.org/drawingml/2006/main" noGrp="1"/>
          </p:cNvSpPr>
          <p:nvPr/>
        </p:nvSpPr>
        <p:spPr>
          <a:xfrm xmlns:a="http://schemas.openxmlformats.org/drawingml/2006/main">
            <a:off x="609600" y="6496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ef212633d0234309"/>
              </a:rPr>
              <a:t>Measured ¹H NMR spectrum of ethanol in CDCl₃. Hebrew University NMR laboratory, Fig. 2.</a:t>
            </a:r>
          </a:p>
        </p:txBody>
      </p:sp>
      <p:sp>
        <p:nvSpPr>
          <p:cNvPr id="11" name="What produces the signal?">
            <a:extLst xmlns:a="http://schemas.openxmlformats.org/drawingml/2006/main">
              <a:ext uri="{FF2B5EF4-FFF2-40B4-BE49-F238E27FC236}">
                <a16:creationId xmlns:a16="http://schemas.microsoft.com/office/drawing/2014/main" id="{6173C796-0AAC-49DE-8633-5E47B1346C1D}"/>
              </a:ext>
            </a:extLst>
          </p:cNvPr>
          <p:cNvSpPr>
            <a:spLocks xmlns:a="http://schemas.openxmlformats.org/drawingml/2006/main" noGrp="1"/>
          </p:cNvSpPr>
          <p:nvPr/>
        </p:nvSpPr>
        <p:spPr>
          <a:xfrm xmlns:a="http://schemas.openxmlformats.org/drawingml/2006/main">
            <a:off x="7905750" y="1876425"/>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buNone/>
              <a:defRPr sz="2175" b="0">
                <a:solidFill>
                  <a:srgbClr val="028090"/>
                </a:solidFill>
                <a:latin typeface="Calibri"/>
                <a:ea typeface="Calibri"/>
                <a:cs typeface="Calibri"/>
              </a:defRPr>
            </a:lvl1pPr>
            <a:lvl2pPr>
              <a:buNone/>
              <a:defRPr sz="2175" b="0">
                <a:solidFill>
                  <a:srgbClr val="028090"/>
                </a:solidFill>
                <a:latin typeface="Calibri"/>
                <a:ea typeface="Calibri"/>
                <a:cs typeface="Calibri"/>
              </a:defRPr>
            </a:lvl2pPr>
            <a:lvl3pPr>
              <a:buNone/>
              <a:defRPr sz="2175" b="0">
                <a:solidFill>
                  <a:srgbClr val="028090"/>
                </a:solidFill>
                <a:latin typeface="Calibri"/>
                <a:ea typeface="Calibri"/>
                <a:cs typeface="Calibri"/>
              </a:defRPr>
            </a:lvl3pPr>
            <a:lvl4pPr>
              <a:buNone/>
              <a:defRPr sz="2175" b="0">
                <a:solidFill>
                  <a:srgbClr val="028090"/>
                </a:solidFill>
                <a:latin typeface="Calibri"/>
                <a:ea typeface="Calibri"/>
                <a:cs typeface="Calibri"/>
              </a:defRPr>
            </a:lvl4pPr>
            <a:lvl5pPr>
              <a:buNone/>
              <a:defRPr sz="2175" b="0">
                <a:solidFill>
                  <a:srgbClr val="028090"/>
                </a:solidFill>
                <a:latin typeface="Calibri"/>
                <a:ea typeface="Calibri"/>
                <a:cs typeface="Calibri"/>
              </a:defRPr>
            </a:lvl5pPr>
            <a:lvl6pPr>
              <a:buNone/>
              <a:defRPr sz="2175" b="0">
                <a:solidFill>
                  <a:srgbClr val="028090"/>
                </a:solidFill>
                <a:latin typeface="Calibri"/>
                <a:ea typeface="Calibri"/>
                <a:cs typeface="Calibri"/>
              </a:defRPr>
            </a:lvl6pPr>
            <a:lvl7pPr>
              <a:buNone/>
              <a:defRPr sz="2175" b="0">
                <a:solidFill>
                  <a:srgbClr val="028090"/>
                </a:solidFill>
                <a:latin typeface="Calibri"/>
                <a:ea typeface="Calibri"/>
                <a:cs typeface="Calibri"/>
              </a:defRPr>
            </a:lvl7pPr>
            <a:lvl8pPr>
              <a:buNone/>
              <a:defRPr sz="2175" b="0">
                <a:solidFill>
                  <a:srgbClr val="028090"/>
                </a:solidFill>
                <a:latin typeface="Calibri"/>
                <a:ea typeface="Calibri"/>
                <a:cs typeface="Calibri"/>
              </a:defRPr>
            </a:lvl8pPr>
            <a:lvl9pPr>
              <a:buNone/>
              <a:defRPr sz="2175" b="0">
                <a:solidFill>
                  <a:srgbClr val="028090"/>
                </a:solidFill>
                <a:latin typeface="Calibri"/>
                <a:ea typeface="Calibri"/>
                <a:cs typeface="Calibri"/>
              </a:defRPr>
            </a:lvl9pPr>
          </a:lstStyle>
          <a:p xmlns:a="http://schemas.openxmlformats.org/drawingml/2006/main">
            <a:pPr>
              <a:buNone/>
              <a:defRPr sz="2175" b="0">
                <a:solidFill>
                  <a:srgbClr val="028090"/>
                </a:solidFill>
                <a:latin typeface="Calibri"/>
                <a:ea typeface="Calibri"/>
                <a:cs typeface="Calibri"/>
              </a:defRPr>
            </a:pPr>
            <a:r>
              <a:rPr sz="2175" b="0">
                <a:solidFill>
                  <a:srgbClr val="028090"/>
                </a:solidFill>
                <a:latin typeface="Calibri"/>
                <a:ea typeface="Calibri"/>
                <a:cs typeface="Calibri"/>
              </a:rPr>
              <a:t>What produces the signal?</a:t>
            </a:r>
          </a:p>
        </p:txBody>
      </p:sp>
      <p:sp>
        <p:nvSpPr>
          <p:cNvPr id="12" name="In a strong magnetic field, radiofrequency pulses excite nuclei.">
            <a:extLst xmlns:a="http://schemas.openxmlformats.org/drawingml/2006/main">
              <a:ext uri="{FF2B5EF4-FFF2-40B4-BE49-F238E27FC236}">
                <a16:creationId xmlns:a16="http://schemas.microsoft.com/office/drawing/2014/main" id="{509A2553-0707-4B43-9980-F4BA8D05DACF}"/>
              </a:ext>
            </a:extLst>
          </p:cNvPr>
          <p:cNvSpPr>
            <a:spLocks xmlns:a="http://schemas.openxmlformats.org/drawingml/2006/main" noGrp="1"/>
          </p:cNvSpPr>
          <p:nvPr/>
        </p:nvSpPr>
        <p:spPr>
          <a:xfrm xmlns:a="http://schemas.openxmlformats.org/drawingml/2006/main">
            <a:off x="7905750" y="23812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In a strong magnetic field, radiofrequency pulses excite nuclei.</a:t>
            </a:r>
          </a:p>
        </p:txBody>
      </p:sp>
      <p:sp>
        <p:nvSpPr>
          <p:cNvPr id="13" name="What do the peaks tell us?">
            <a:extLst xmlns:a="http://schemas.openxmlformats.org/drawingml/2006/main">
              <a:ext uri="{FF2B5EF4-FFF2-40B4-BE49-F238E27FC236}">
                <a16:creationId xmlns:a16="http://schemas.microsoft.com/office/drawing/2014/main" id="{7CA347E5-0B1A-4911-ABCE-5B4668D5BD6D}"/>
              </a:ext>
            </a:extLst>
          </p:cNvPr>
          <p:cNvSpPr>
            <a:spLocks xmlns:a="http://schemas.openxmlformats.org/drawingml/2006/main" noGrp="1"/>
          </p:cNvSpPr>
          <p:nvPr/>
        </p:nvSpPr>
        <p:spPr>
          <a:xfrm xmlns:a="http://schemas.openxmlformats.org/drawingml/2006/main">
            <a:off x="7905750" y="352425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buNone/>
              <a:defRPr sz="2175" b="0">
                <a:solidFill>
                  <a:srgbClr val="028090"/>
                </a:solidFill>
                <a:latin typeface="Calibri"/>
                <a:ea typeface="Calibri"/>
                <a:cs typeface="Calibri"/>
              </a:defRPr>
            </a:lvl1pPr>
            <a:lvl2pPr>
              <a:buNone/>
              <a:defRPr sz="2175" b="0">
                <a:solidFill>
                  <a:srgbClr val="028090"/>
                </a:solidFill>
                <a:latin typeface="Calibri"/>
                <a:ea typeface="Calibri"/>
                <a:cs typeface="Calibri"/>
              </a:defRPr>
            </a:lvl2pPr>
            <a:lvl3pPr>
              <a:buNone/>
              <a:defRPr sz="2175" b="0">
                <a:solidFill>
                  <a:srgbClr val="028090"/>
                </a:solidFill>
                <a:latin typeface="Calibri"/>
                <a:ea typeface="Calibri"/>
                <a:cs typeface="Calibri"/>
              </a:defRPr>
            </a:lvl3pPr>
            <a:lvl4pPr>
              <a:buNone/>
              <a:defRPr sz="2175" b="0">
                <a:solidFill>
                  <a:srgbClr val="028090"/>
                </a:solidFill>
                <a:latin typeface="Calibri"/>
                <a:ea typeface="Calibri"/>
                <a:cs typeface="Calibri"/>
              </a:defRPr>
            </a:lvl4pPr>
            <a:lvl5pPr>
              <a:buNone/>
              <a:defRPr sz="2175" b="0">
                <a:solidFill>
                  <a:srgbClr val="028090"/>
                </a:solidFill>
                <a:latin typeface="Calibri"/>
                <a:ea typeface="Calibri"/>
                <a:cs typeface="Calibri"/>
              </a:defRPr>
            </a:lvl5pPr>
            <a:lvl6pPr>
              <a:buNone/>
              <a:defRPr sz="2175" b="0">
                <a:solidFill>
                  <a:srgbClr val="028090"/>
                </a:solidFill>
                <a:latin typeface="Calibri"/>
                <a:ea typeface="Calibri"/>
                <a:cs typeface="Calibri"/>
              </a:defRPr>
            </a:lvl6pPr>
            <a:lvl7pPr>
              <a:buNone/>
              <a:defRPr sz="2175" b="0">
                <a:solidFill>
                  <a:srgbClr val="028090"/>
                </a:solidFill>
                <a:latin typeface="Calibri"/>
                <a:ea typeface="Calibri"/>
                <a:cs typeface="Calibri"/>
              </a:defRPr>
            </a:lvl7pPr>
            <a:lvl8pPr>
              <a:buNone/>
              <a:defRPr sz="2175" b="0">
                <a:solidFill>
                  <a:srgbClr val="028090"/>
                </a:solidFill>
                <a:latin typeface="Calibri"/>
                <a:ea typeface="Calibri"/>
                <a:cs typeface="Calibri"/>
              </a:defRPr>
            </a:lvl8pPr>
            <a:lvl9pPr>
              <a:buNone/>
              <a:defRPr sz="2175" b="0">
                <a:solidFill>
                  <a:srgbClr val="028090"/>
                </a:solidFill>
                <a:latin typeface="Calibri"/>
                <a:ea typeface="Calibri"/>
                <a:cs typeface="Calibri"/>
              </a:defRPr>
            </a:lvl9pPr>
          </a:lstStyle>
          <a:p xmlns:a="http://schemas.openxmlformats.org/drawingml/2006/main">
            <a:pPr>
              <a:buNone/>
              <a:defRPr sz="2175" b="0">
                <a:solidFill>
                  <a:srgbClr val="028090"/>
                </a:solidFill>
                <a:latin typeface="Calibri"/>
                <a:ea typeface="Calibri"/>
                <a:cs typeface="Calibri"/>
              </a:defRPr>
            </a:pPr>
            <a:r>
              <a:rPr sz="2175" b="0">
                <a:solidFill>
                  <a:srgbClr val="028090"/>
                </a:solidFill>
                <a:latin typeface="Calibri"/>
                <a:ea typeface="Calibri"/>
                <a:cs typeface="Calibri"/>
              </a:rPr>
              <a:t>What do the peaks tell us?</a:t>
            </a:r>
          </a:p>
        </p:txBody>
      </p:sp>
      <p:sp>
        <p:nvSpPr>
          <p:cNvPr id="14" name="Position: chemical surroundings. Area in ¹H NMR: relative number of hy">
            <a:extLst xmlns:a="http://schemas.openxmlformats.org/drawingml/2006/main">
              <a:ext uri="{FF2B5EF4-FFF2-40B4-BE49-F238E27FC236}">
                <a16:creationId xmlns:a16="http://schemas.microsoft.com/office/drawing/2014/main" id="{4BC67AEB-7BD3-4D7B-B979-7BF4CD670CCF}"/>
              </a:ext>
            </a:extLst>
          </p:cNvPr>
          <p:cNvSpPr>
            <a:spLocks xmlns:a="http://schemas.openxmlformats.org/drawingml/2006/main" noGrp="1"/>
          </p:cNvSpPr>
          <p:nvPr/>
        </p:nvSpPr>
        <p:spPr>
          <a:xfrm xmlns:a="http://schemas.openxmlformats.org/drawingml/2006/main">
            <a:off x="7905750" y="4038600"/>
            <a:ext cx="3619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Position: chemical surroundings.</a:t>
            </a:r>
          </a:p>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Area in ¹H NMR: relative number of hydrogens.</a:t>
            </a:r>
          </a:p>
        </p:txBody>
      </p:sp>
      <p:sp>
        <p:nvSpPr>
          <p:cNvPr id="15" name="Goal: find a molecular structure that explains the spectrum.">
            <a:extLst xmlns:a="http://schemas.openxmlformats.org/drawingml/2006/main">
              <a:ext uri="{FF2B5EF4-FFF2-40B4-BE49-F238E27FC236}">
                <a16:creationId xmlns:a16="http://schemas.microsoft.com/office/drawing/2014/main" id="{5BA2424E-087A-4CC0-A4CB-85E2A74C1517}"/>
              </a:ext>
            </a:extLst>
          </p:cNvPr>
          <p:cNvSpPr>
            <a:spLocks xmlns:a="http://schemas.openxmlformats.org/drawingml/2006/main" noGrp="1"/>
          </p:cNvSpPr>
          <p:nvPr/>
        </p:nvSpPr>
        <p:spPr>
          <a:xfrm xmlns:a="http://schemas.openxmlformats.org/drawingml/2006/main">
            <a:off x="685800" y="59150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28090"/>
                </a:solidFill>
                <a:latin typeface="Calibri"/>
                <a:ea typeface="Calibri"/>
                <a:cs typeface="Calibri"/>
              </a:defRPr>
            </a:defPPr>
            <a:lvl1pPr>
              <a:buNone/>
              <a:defRPr sz="2100" b="0">
                <a:solidFill>
                  <a:srgbClr val="028090"/>
                </a:solidFill>
                <a:latin typeface="Calibri"/>
                <a:ea typeface="Calibri"/>
                <a:cs typeface="Calibri"/>
              </a:defRPr>
            </a:lvl1pPr>
            <a:lvl2pPr>
              <a:buNone/>
              <a:defRPr sz="2100" b="0">
                <a:solidFill>
                  <a:srgbClr val="028090"/>
                </a:solidFill>
                <a:latin typeface="Calibri"/>
                <a:ea typeface="Calibri"/>
                <a:cs typeface="Calibri"/>
              </a:defRPr>
            </a:lvl2pPr>
            <a:lvl3pPr>
              <a:buNone/>
              <a:defRPr sz="2100" b="0">
                <a:solidFill>
                  <a:srgbClr val="028090"/>
                </a:solidFill>
                <a:latin typeface="Calibri"/>
                <a:ea typeface="Calibri"/>
                <a:cs typeface="Calibri"/>
              </a:defRPr>
            </a:lvl3pPr>
            <a:lvl4pPr>
              <a:buNone/>
              <a:defRPr sz="2100" b="0">
                <a:solidFill>
                  <a:srgbClr val="028090"/>
                </a:solidFill>
                <a:latin typeface="Calibri"/>
                <a:ea typeface="Calibri"/>
                <a:cs typeface="Calibri"/>
              </a:defRPr>
            </a:lvl4pPr>
            <a:lvl5pPr>
              <a:buNone/>
              <a:defRPr sz="2100" b="0">
                <a:solidFill>
                  <a:srgbClr val="028090"/>
                </a:solidFill>
                <a:latin typeface="Calibri"/>
                <a:ea typeface="Calibri"/>
                <a:cs typeface="Calibri"/>
              </a:defRPr>
            </a:lvl5pPr>
            <a:lvl6pPr>
              <a:buNone/>
              <a:defRPr sz="2100" b="0">
                <a:solidFill>
                  <a:srgbClr val="028090"/>
                </a:solidFill>
                <a:latin typeface="Calibri"/>
                <a:ea typeface="Calibri"/>
                <a:cs typeface="Calibri"/>
              </a:defRPr>
            </a:lvl6pPr>
            <a:lvl7pPr>
              <a:buNone/>
              <a:defRPr sz="2100" b="0">
                <a:solidFill>
                  <a:srgbClr val="028090"/>
                </a:solidFill>
                <a:latin typeface="Calibri"/>
                <a:ea typeface="Calibri"/>
                <a:cs typeface="Calibri"/>
              </a:defRPr>
            </a:lvl7pPr>
            <a:lvl8pPr>
              <a:buNone/>
              <a:defRPr sz="2100" b="0">
                <a:solidFill>
                  <a:srgbClr val="028090"/>
                </a:solidFill>
                <a:latin typeface="Calibri"/>
                <a:ea typeface="Calibri"/>
                <a:cs typeface="Calibri"/>
              </a:defRPr>
            </a:lvl8pPr>
            <a:lvl9pPr>
              <a:buNone/>
              <a:defRPr sz="2100" b="0">
                <a:solidFill>
                  <a:srgbClr val="028090"/>
                </a:solidFill>
                <a:latin typeface="Calibri"/>
                <a:ea typeface="Calibri"/>
                <a:cs typeface="Calibri"/>
              </a:defRPr>
            </a:lvl9pPr>
          </a:lstStyle>
          <a:p xmlns:a="http://schemas.openxmlformats.org/drawingml/2006/main">
            <a:pPr>
              <a:buNone/>
              <a:defRPr sz="2100" b="0">
                <a:solidFill>
                  <a:srgbClr val="028090"/>
                </a:solidFill>
                <a:latin typeface="Calibri"/>
                <a:ea typeface="Calibri"/>
                <a:cs typeface="Calibri"/>
              </a:defRPr>
            </a:pPr>
            <a:r>
              <a:rPr sz="2100" b="0">
                <a:solidFill>
                  <a:srgbClr val="028090"/>
                </a:solidFill>
                <a:latin typeface="Calibri"/>
                <a:ea typeface="Calibri"/>
                <a:cs typeface="Calibri"/>
              </a:rPr>
              <a:t>Goal: find a molecular structure that explains the spectrum.</a:t>
            </a:r>
          </a:p>
        </p:txBody>
      </p:sp>
      <p:sp>
        <p:nvSpPr>
          <p:cNvPr id="16" name="1">
            <a:extLst xmlns:a="http://schemas.openxmlformats.org/drawingml/2006/main">
              <a:ext uri="{FF2B5EF4-FFF2-40B4-BE49-F238E27FC236}">
                <a16:creationId xmlns:a16="http://schemas.microsoft.com/office/drawing/2014/main" id="{96A69791-D52D-4A24-9A94-F63504E6E807}"/>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1</a:t>
            </a:r>
          </a:p>
        </p:txBody>
      </p:sp>
      <p:pic>
        <p:nvPicPr>
          <p:cNvPr id="18" name="">
            <a:extLst xmlns:a="http://schemas.openxmlformats.org/drawingml/2006/main">
              <a:ext uri="{FF2B5EF4-FFF2-40B4-BE49-F238E27FC236}">
                <a16:creationId xmlns:a16="http://schemas.microsoft.com/office/drawing/2014/main" id="{1D37CF37-076B-4333-ABF7-1A9432710A9E}"/>
              </a:ext>
            </a:extLst>
          </p:cNvPr>
          <p:cNvPicPr>
            <a:picLocks xmlns:a="http://schemas.openxmlformats.org/drawingml/2006/main" noChangeAspect="1"/>
          </p:cNvPicPr>
          <p:nvPr/>
        </p:nvPicPr>
        <p:blipFill>
          <a:blip xmlns:r="http://schemas.openxmlformats.org/officeDocument/2006/relationships" xmlns:a="http://schemas.openxmlformats.org/drawingml/2006/main" r:embed="R8a7ed29bbd8d4f12"/>
          <a:stretch xmlns:a="http://schemas.openxmlformats.org/drawingml/2006/main"/>
        </p:blipFill>
        <p:spPr>
          <a:xfrm xmlns:a="http://schemas.openxmlformats.org/drawingml/2006/main">
            <a:off x="966140" y="1714500"/>
            <a:ext cx="6335420" cy="4095750"/>
          </a:xfrm>
          <a:prstGeom xmlns:a="http://schemas.openxmlformats.org/drawingml/2006/main" prst="rect">
            <a:avLst/>
          </a:prstGeom>
        </p:spPr>
      </p:pic>
      <p:sp>
        <p:nvSpPr>
          <p:cNvPr id="19" name="Measured ethanol sample">
            <a:extLst xmlns:a="http://schemas.openxmlformats.org/drawingml/2006/main">
              <a:ext uri="{FF2B5EF4-FFF2-40B4-BE49-F238E27FC236}">
                <a16:creationId xmlns:a16="http://schemas.microsoft.com/office/drawing/2014/main" id="{00202A6E-4615-479C-B0B0-221A2ECCF5A0}"/>
              </a:ext>
            </a:extLst>
          </p:cNvPr>
          <p:cNvSpPr>
            <a:spLocks xmlns:a="http://schemas.openxmlformats.org/drawingml/2006/main" noGrp="1"/>
          </p:cNvSpPr>
          <p:nvPr/>
        </p:nvSpPr>
        <p:spPr>
          <a:xfrm xmlns:a="http://schemas.openxmlformats.org/drawingml/2006/main">
            <a:off x="914400" y="18097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E293B"/>
                </a:solidFill>
                <a:latin typeface="Calibri"/>
                <a:ea typeface="Calibri"/>
                <a:cs typeface="Calibri"/>
              </a:defRPr>
            </a:defPPr>
            <a:lvl1pPr>
              <a:defRPr sz="2175" b="0">
                <a:solidFill>
                  <a:srgbClr val="1E293B"/>
                </a:solidFill>
                <a:latin typeface="Calibri"/>
                <a:ea typeface="Calibri"/>
                <a:cs typeface="Calibri"/>
              </a:defRPr>
            </a:lvl1pPr>
            <a:lvl2pPr>
              <a:defRPr sz="2175" b="0">
                <a:solidFill>
                  <a:srgbClr val="1E293B"/>
                </a:solidFill>
                <a:latin typeface="Calibri"/>
                <a:ea typeface="Calibri"/>
                <a:cs typeface="Calibri"/>
              </a:defRPr>
            </a:lvl2pPr>
            <a:lvl3pPr>
              <a:defRPr sz="2175" b="0">
                <a:solidFill>
                  <a:srgbClr val="1E293B"/>
                </a:solidFill>
                <a:latin typeface="Calibri"/>
                <a:ea typeface="Calibri"/>
                <a:cs typeface="Calibri"/>
              </a:defRPr>
            </a:lvl3pPr>
            <a:lvl4pPr>
              <a:defRPr sz="2175" b="0">
                <a:solidFill>
                  <a:srgbClr val="1E293B"/>
                </a:solidFill>
                <a:latin typeface="Calibri"/>
                <a:ea typeface="Calibri"/>
                <a:cs typeface="Calibri"/>
              </a:defRPr>
            </a:lvl4pPr>
            <a:lvl5pPr>
              <a:defRPr sz="2175" b="0">
                <a:solidFill>
                  <a:srgbClr val="1E293B"/>
                </a:solidFill>
                <a:latin typeface="Calibri"/>
                <a:ea typeface="Calibri"/>
                <a:cs typeface="Calibri"/>
              </a:defRPr>
            </a:lvl5pPr>
            <a:lvl6pPr>
              <a:defRPr sz="2175" b="0">
                <a:solidFill>
                  <a:srgbClr val="1E293B"/>
                </a:solidFill>
                <a:latin typeface="Calibri"/>
                <a:ea typeface="Calibri"/>
                <a:cs typeface="Calibri"/>
              </a:defRPr>
            </a:lvl6pPr>
            <a:lvl7pPr>
              <a:defRPr sz="2175" b="0">
                <a:solidFill>
                  <a:srgbClr val="1E293B"/>
                </a:solidFill>
                <a:latin typeface="Calibri"/>
                <a:ea typeface="Calibri"/>
                <a:cs typeface="Calibri"/>
              </a:defRPr>
            </a:lvl7pPr>
            <a:lvl8pPr>
              <a:defRPr sz="2175" b="0">
                <a:solidFill>
                  <a:srgbClr val="1E293B"/>
                </a:solidFill>
                <a:latin typeface="Calibri"/>
                <a:ea typeface="Calibri"/>
                <a:cs typeface="Calibri"/>
              </a:defRPr>
            </a:lvl8pPr>
            <a:lvl9pPr>
              <a:defRPr sz="2175" b="0">
                <a:solidFill>
                  <a:srgbClr val="1E293B"/>
                </a:solidFill>
                <a:latin typeface="Calibri"/>
                <a:ea typeface="Calibri"/>
                <a:cs typeface="Calibri"/>
              </a:defRPr>
            </a:lvl9pPr>
          </a:lstStyle>
          <a:p xmlns:a="http://schemas.openxmlformats.org/drawingml/2006/main">
            <a:pPr>
              <a:defRPr sz="2175" b="0">
                <a:solidFill>
                  <a:srgbClr val="1E293B"/>
                </a:solidFill>
                <a:latin typeface="Calibri"/>
                <a:ea typeface="Calibri"/>
                <a:cs typeface="Calibri"/>
              </a:defRPr>
            </a:pPr>
            <a:r>
              <a:rPr sz="2175" b="0">
                <a:solidFill>
                  <a:srgbClr val="1E293B"/>
                </a:solidFill>
                <a:latin typeface="Calibri"/>
                <a:ea typeface="Calibri"/>
                <a:cs typeface="Calibri"/>
              </a:rPr>
              <a:t>Ethanol in CDCl₃</a:t>
            </a:r>
          </a:p>
        </p:txBody>
      </p:sp>
    </p:spTree>
    <p:extLst>
      <p:ext uri="{BB962C8B-B14F-4D97-AF65-F5344CB8AC3E}">
        <p14:creationId xmlns:p14="http://schemas.microsoft.com/office/powerpoint/2010/main" val="18757680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MR-Solver: proposing a molecular structure">
            <a:extLst xmlns:a="http://schemas.openxmlformats.org/drawingml/2006/main">
              <a:ext uri="{FF2B5EF4-FFF2-40B4-BE49-F238E27FC236}">
                <a16:creationId xmlns:a16="http://schemas.microsoft.com/office/drawing/2014/main" id="{30859E58-CF1E-45F4-9446-5CBB9B4C25AB}"/>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NMR-Solver: proposing a molecular structure</a:t>
            </a:r>
          </a:p>
        </p:txBody>
      </p:sp>
      <p:sp>
        <p:nvSpPr>
          <p:cNvPr id="2" name="Problem: which molecule explains the measured ¹H and ¹³C chemical shif">
            <a:extLst xmlns:a="http://schemas.openxmlformats.org/drawingml/2006/main">
              <a:ext uri="{FF2B5EF4-FFF2-40B4-BE49-F238E27FC236}">
                <a16:creationId xmlns:a16="http://schemas.microsoft.com/office/drawing/2014/main" id="{92006349-9A05-404E-92E6-426753F4D334}"/>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Problem: which molecule explains the measured ¹H and ¹³C chemical shifts?</a:t>
            </a:r>
          </a:p>
        </p:txBody>
      </p:sp>
      <p:sp>
        <p:nvSpPr>
          <p:cNvPr id="3" name="Jin et al. (2026), Fig. 2. CC BY 4.0">
            <a:extLst xmlns:a="http://schemas.openxmlformats.org/drawingml/2006/main">
              <a:ext uri="{FF2B5EF4-FFF2-40B4-BE49-F238E27FC236}">
                <a16:creationId xmlns:a16="http://schemas.microsoft.com/office/drawing/2014/main" id="{C182EDD6-3F96-453E-9ED3-AE91CD335336}"/>
              </a:ext>
            </a:extLst>
          </p:cNvPr>
          <p:cNvSpPr>
            <a:spLocks xmlns:a="http://schemas.openxmlformats.org/drawingml/2006/main" noGrp="1"/>
          </p:cNvSpPr>
          <p:nvPr/>
        </p:nvSpPr>
        <p:spPr>
          <a:xfrm xmlns:a="http://schemas.openxmlformats.org/drawingml/2006/main">
            <a:off x="609600" y="6496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30629e86895747f4"/>
              </a:rPr>
              <a:t>Jin et al. (2026), Fig. 2. CC BY 4.0</a:t>
            </a:r>
          </a:p>
        </p:txBody>
      </p:sp>
      <p:sp>
        <p:nvSpPr>
          <p:cNvPr id="4" name="1">
            <a:extLst xmlns:a="http://schemas.openxmlformats.org/drawingml/2006/main">
              <a:ext uri="{FF2B5EF4-FFF2-40B4-BE49-F238E27FC236}">
                <a16:creationId xmlns:a16="http://schemas.microsoft.com/office/drawing/2014/main" id="{30BB02D9-D0F8-471D-B753-A6448C70E531}"/>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2</a:t>
            </a:r>
          </a:p>
        </p:txBody>
      </p:sp>
      <p:pic>
        <p:nvPicPr>
          <p:cNvPr id="5" name="">
            <a:extLst xmlns:a="http://schemas.openxmlformats.org/drawingml/2006/main">
              <a:ext uri="{FF2B5EF4-FFF2-40B4-BE49-F238E27FC236}">
                <a16:creationId xmlns:a16="http://schemas.microsoft.com/office/drawing/2014/main" id="{BD2DB44E-7FD9-4DD9-B336-D1A298390E7F}"/>
              </a:ext>
            </a:extLst>
          </p:cNvPr>
          <p:cNvPicPr>
            <a:picLocks xmlns:a="http://schemas.openxmlformats.org/drawingml/2006/main" noChangeAspect="1"/>
          </p:cNvPicPr>
          <p:nvPr/>
        </p:nvPicPr>
        <p:blipFill>
          <a:blip xmlns:r="http://schemas.openxmlformats.org/officeDocument/2006/relationships" xmlns:a="http://schemas.openxmlformats.org/drawingml/2006/main" r:embed="R17bfe7667db84c3c"/>
          <a:stretch xmlns:a="http://schemas.openxmlformats.org/drawingml/2006/main"/>
        </p:blipFill>
        <p:spPr>
          <a:xfrm xmlns:a="http://schemas.openxmlformats.org/drawingml/2006/main">
            <a:off x="1094688" y="1762125"/>
            <a:ext cx="10002624" cy="3495675"/>
          </a:xfrm>
          <a:prstGeom xmlns:a="http://schemas.openxmlformats.org/drawingml/2006/main" prst="rect">
            <a:avLst/>
          </a:prstGeom>
        </p:spPr>
      </p:pic>
      <p:sp>
        <p:nvSpPr>
          <p:cNvPr id="6" name="1  Find starting candidates Search a database of predicted shifts.">
            <a:extLst xmlns:a="http://schemas.openxmlformats.org/drawingml/2006/main">
              <a:ext uri="{FF2B5EF4-FFF2-40B4-BE49-F238E27FC236}">
                <a16:creationId xmlns:a16="http://schemas.microsoft.com/office/drawing/2014/main" id="{70DA3828-0E60-4858-B35C-0F732DDD9092}"/>
              </a:ext>
            </a:extLst>
          </p:cNvPr>
          <p:cNvSpPr>
            <a:spLocks xmlns:a="http://schemas.openxmlformats.org/drawingml/2006/main" noGrp="1"/>
          </p:cNvSpPr>
          <p:nvPr/>
        </p:nvSpPr>
        <p:spPr>
          <a:xfrm xmlns:a="http://schemas.openxmlformats.org/drawingml/2006/main">
            <a:off x="628650" y="5476875"/>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28090"/>
                </a:solidFill>
                <a:latin typeface="Calibri"/>
                <a:ea typeface="Calibri"/>
                <a:cs typeface="Calibri"/>
              </a:defRPr>
            </a:defPPr>
            <a:lvl1pPr>
              <a:buNone/>
              <a:defRPr sz="1875" b="0">
                <a:solidFill>
                  <a:srgbClr val="028090"/>
                </a:solidFill>
                <a:latin typeface="Calibri"/>
                <a:ea typeface="Calibri"/>
                <a:cs typeface="Calibri"/>
              </a:defRPr>
            </a:lvl1pPr>
            <a:lvl2pPr>
              <a:buNone/>
              <a:defRPr sz="1875" b="0">
                <a:solidFill>
                  <a:srgbClr val="028090"/>
                </a:solidFill>
                <a:latin typeface="Calibri"/>
                <a:ea typeface="Calibri"/>
                <a:cs typeface="Calibri"/>
              </a:defRPr>
            </a:lvl2pPr>
            <a:lvl3pPr>
              <a:buNone/>
              <a:defRPr sz="1875" b="0">
                <a:solidFill>
                  <a:srgbClr val="028090"/>
                </a:solidFill>
                <a:latin typeface="Calibri"/>
                <a:ea typeface="Calibri"/>
                <a:cs typeface="Calibri"/>
              </a:defRPr>
            </a:lvl3pPr>
            <a:lvl4pPr>
              <a:buNone/>
              <a:defRPr sz="1875" b="0">
                <a:solidFill>
                  <a:srgbClr val="028090"/>
                </a:solidFill>
                <a:latin typeface="Calibri"/>
                <a:ea typeface="Calibri"/>
                <a:cs typeface="Calibri"/>
              </a:defRPr>
            </a:lvl4pPr>
            <a:lvl5pPr>
              <a:buNone/>
              <a:defRPr sz="1875" b="0">
                <a:solidFill>
                  <a:srgbClr val="028090"/>
                </a:solidFill>
                <a:latin typeface="Calibri"/>
                <a:ea typeface="Calibri"/>
                <a:cs typeface="Calibri"/>
              </a:defRPr>
            </a:lvl5pPr>
            <a:lvl6pPr>
              <a:buNone/>
              <a:defRPr sz="1875" b="0">
                <a:solidFill>
                  <a:srgbClr val="028090"/>
                </a:solidFill>
                <a:latin typeface="Calibri"/>
                <a:ea typeface="Calibri"/>
                <a:cs typeface="Calibri"/>
              </a:defRPr>
            </a:lvl6pPr>
            <a:lvl7pPr>
              <a:buNone/>
              <a:defRPr sz="1875" b="0">
                <a:solidFill>
                  <a:srgbClr val="028090"/>
                </a:solidFill>
                <a:latin typeface="Calibri"/>
                <a:ea typeface="Calibri"/>
                <a:cs typeface="Calibri"/>
              </a:defRPr>
            </a:lvl7pPr>
            <a:lvl8pPr>
              <a:buNone/>
              <a:defRPr sz="1875" b="0">
                <a:solidFill>
                  <a:srgbClr val="028090"/>
                </a:solidFill>
                <a:latin typeface="Calibri"/>
                <a:ea typeface="Calibri"/>
                <a:cs typeface="Calibri"/>
              </a:defRPr>
            </a:lvl8pPr>
            <a:lvl9pPr>
              <a:buNone/>
              <a:defRPr sz="1875" b="0">
                <a:solidFill>
                  <a:srgbClr val="028090"/>
                </a:solidFill>
                <a:latin typeface="Calibri"/>
                <a:ea typeface="Calibri"/>
                <a:cs typeface="Calibri"/>
              </a:defRPr>
            </a:lvl9pPr>
          </a:lstStyle>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1  Find starting candidates</a:t>
            </a:r>
          </a:p>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Search a database of predicted shifts.</a:t>
            </a:r>
          </a:p>
        </p:txBody>
      </p:sp>
      <p:sp>
        <p:nvSpPr>
          <p:cNvPr id="7" name="2  Try related molecules Recombine molecular fragments.">
            <a:extLst xmlns:a="http://schemas.openxmlformats.org/drawingml/2006/main">
              <a:ext uri="{FF2B5EF4-FFF2-40B4-BE49-F238E27FC236}">
                <a16:creationId xmlns:a16="http://schemas.microsoft.com/office/drawing/2014/main" id="{9B757FAF-FCA8-47DF-AF86-33BDB8EE4491}"/>
              </a:ext>
            </a:extLst>
          </p:cNvPr>
          <p:cNvSpPr>
            <a:spLocks xmlns:a="http://schemas.openxmlformats.org/drawingml/2006/main" noGrp="1"/>
          </p:cNvSpPr>
          <p:nvPr/>
        </p:nvSpPr>
        <p:spPr>
          <a:xfrm xmlns:a="http://schemas.openxmlformats.org/drawingml/2006/main">
            <a:off x="4333875" y="5476875"/>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28090"/>
                </a:solidFill>
                <a:latin typeface="Calibri"/>
                <a:ea typeface="Calibri"/>
                <a:cs typeface="Calibri"/>
              </a:defRPr>
            </a:defPPr>
            <a:lvl1pPr>
              <a:buNone/>
              <a:defRPr sz="1875" b="0">
                <a:solidFill>
                  <a:srgbClr val="028090"/>
                </a:solidFill>
                <a:latin typeface="Calibri"/>
                <a:ea typeface="Calibri"/>
                <a:cs typeface="Calibri"/>
              </a:defRPr>
            </a:lvl1pPr>
            <a:lvl2pPr>
              <a:buNone/>
              <a:defRPr sz="1875" b="0">
                <a:solidFill>
                  <a:srgbClr val="028090"/>
                </a:solidFill>
                <a:latin typeface="Calibri"/>
                <a:ea typeface="Calibri"/>
                <a:cs typeface="Calibri"/>
              </a:defRPr>
            </a:lvl2pPr>
            <a:lvl3pPr>
              <a:buNone/>
              <a:defRPr sz="1875" b="0">
                <a:solidFill>
                  <a:srgbClr val="028090"/>
                </a:solidFill>
                <a:latin typeface="Calibri"/>
                <a:ea typeface="Calibri"/>
                <a:cs typeface="Calibri"/>
              </a:defRPr>
            </a:lvl3pPr>
            <a:lvl4pPr>
              <a:buNone/>
              <a:defRPr sz="1875" b="0">
                <a:solidFill>
                  <a:srgbClr val="028090"/>
                </a:solidFill>
                <a:latin typeface="Calibri"/>
                <a:ea typeface="Calibri"/>
                <a:cs typeface="Calibri"/>
              </a:defRPr>
            </a:lvl4pPr>
            <a:lvl5pPr>
              <a:buNone/>
              <a:defRPr sz="1875" b="0">
                <a:solidFill>
                  <a:srgbClr val="028090"/>
                </a:solidFill>
                <a:latin typeface="Calibri"/>
                <a:ea typeface="Calibri"/>
                <a:cs typeface="Calibri"/>
              </a:defRPr>
            </a:lvl5pPr>
            <a:lvl6pPr>
              <a:buNone/>
              <a:defRPr sz="1875" b="0">
                <a:solidFill>
                  <a:srgbClr val="028090"/>
                </a:solidFill>
                <a:latin typeface="Calibri"/>
                <a:ea typeface="Calibri"/>
                <a:cs typeface="Calibri"/>
              </a:defRPr>
            </a:lvl6pPr>
            <a:lvl7pPr>
              <a:buNone/>
              <a:defRPr sz="1875" b="0">
                <a:solidFill>
                  <a:srgbClr val="028090"/>
                </a:solidFill>
                <a:latin typeface="Calibri"/>
                <a:ea typeface="Calibri"/>
                <a:cs typeface="Calibri"/>
              </a:defRPr>
            </a:lvl7pPr>
            <a:lvl8pPr>
              <a:buNone/>
              <a:defRPr sz="1875" b="0">
                <a:solidFill>
                  <a:srgbClr val="028090"/>
                </a:solidFill>
                <a:latin typeface="Calibri"/>
                <a:ea typeface="Calibri"/>
                <a:cs typeface="Calibri"/>
              </a:defRPr>
            </a:lvl8pPr>
            <a:lvl9pPr>
              <a:buNone/>
              <a:defRPr sz="1875" b="0">
                <a:solidFill>
                  <a:srgbClr val="028090"/>
                </a:solidFill>
                <a:latin typeface="Calibri"/>
                <a:ea typeface="Calibri"/>
                <a:cs typeface="Calibri"/>
              </a:defRPr>
            </a:lvl9pPr>
          </a:lstStyle>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2  Try related molecules</a:t>
            </a:r>
          </a:p>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Recombine molecular fragments.</a:t>
            </a:r>
          </a:p>
        </p:txBody>
      </p:sp>
      <p:sp>
        <p:nvSpPr>
          <p:cNvPr id="8" name="3  Compare and repeat A neural network predicts the shifts.">
            <a:extLst xmlns:a="http://schemas.openxmlformats.org/drawingml/2006/main">
              <a:ext uri="{FF2B5EF4-FFF2-40B4-BE49-F238E27FC236}">
                <a16:creationId xmlns:a16="http://schemas.microsoft.com/office/drawing/2014/main" id="{3AAEFA98-9D71-468B-982A-F2EE38506628}"/>
              </a:ext>
            </a:extLst>
          </p:cNvPr>
          <p:cNvSpPr>
            <a:spLocks xmlns:a="http://schemas.openxmlformats.org/drawingml/2006/main" noGrp="1"/>
          </p:cNvSpPr>
          <p:nvPr/>
        </p:nvSpPr>
        <p:spPr>
          <a:xfrm xmlns:a="http://schemas.openxmlformats.org/drawingml/2006/main">
            <a:off x="8039100" y="5476875"/>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28090"/>
                </a:solidFill>
                <a:latin typeface="Calibri"/>
                <a:ea typeface="Calibri"/>
                <a:cs typeface="Calibri"/>
              </a:defRPr>
            </a:defPPr>
            <a:lvl1pPr>
              <a:buNone/>
              <a:defRPr sz="1875" b="0">
                <a:solidFill>
                  <a:srgbClr val="028090"/>
                </a:solidFill>
                <a:latin typeface="Calibri"/>
                <a:ea typeface="Calibri"/>
                <a:cs typeface="Calibri"/>
              </a:defRPr>
            </a:lvl1pPr>
            <a:lvl2pPr>
              <a:buNone/>
              <a:defRPr sz="1875" b="0">
                <a:solidFill>
                  <a:srgbClr val="028090"/>
                </a:solidFill>
                <a:latin typeface="Calibri"/>
                <a:ea typeface="Calibri"/>
                <a:cs typeface="Calibri"/>
              </a:defRPr>
            </a:lvl2pPr>
            <a:lvl3pPr>
              <a:buNone/>
              <a:defRPr sz="1875" b="0">
                <a:solidFill>
                  <a:srgbClr val="028090"/>
                </a:solidFill>
                <a:latin typeface="Calibri"/>
                <a:ea typeface="Calibri"/>
                <a:cs typeface="Calibri"/>
              </a:defRPr>
            </a:lvl3pPr>
            <a:lvl4pPr>
              <a:buNone/>
              <a:defRPr sz="1875" b="0">
                <a:solidFill>
                  <a:srgbClr val="028090"/>
                </a:solidFill>
                <a:latin typeface="Calibri"/>
                <a:ea typeface="Calibri"/>
                <a:cs typeface="Calibri"/>
              </a:defRPr>
            </a:lvl4pPr>
            <a:lvl5pPr>
              <a:buNone/>
              <a:defRPr sz="1875" b="0">
                <a:solidFill>
                  <a:srgbClr val="028090"/>
                </a:solidFill>
                <a:latin typeface="Calibri"/>
                <a:ea typeface="Calibri"/>
                <a:cs typeface="Calibri"/>
              </a:defRPr>
            </a:lvl5pPr>
            <a:lvl6pPr>
              <a:buNone/>
              <a:defRPr sz="1875" b="0">
                <a:solidFill>
                  <a:srgbClr val="028090"/>
                </a:solidFill>
                <a:latin typeface="Calibri"/>
                <a:ea typeface="Calibri"/>
                <a:cs typeface="Calibri"/>
              </a:defRPr>
            </a:lvl6pPr>
            <a:lvl7pPr>
              <a:buNone/>
              <a:defRPr sz="1875" b="0">
                <a:solidFill>
                  <a:srgbClr val="028090"/>
                </a:solidFill>
                <a:latin typeface="Calibri"/>
                <a:ea typeface="Calibri"/>
                <a:cs typeface="Calibri"/>
              </a:defRPr>
            </a:lvl7pPr>
            <a:lvl8pPr>
              <a:buNone/>
              <a:defRPr sz="1875" b="0">
                <a:solidFill>
                  <a:srgbClr val="028090"/>
                </a:solidFill>
                <a:latin typeface="Calibri"/>
                <a:ea typeface="Calibri"/>
                <a:cs typeface="Calibri"/>
              </a:defRPr>
            </a:lvl8pPr>
            <a:lvl9pPr>
              <a:buNone/>
              <a:defRPr sz="1875" b="0">
                <a:solidFill>
                  <a:srgbClr val="028090"/>
                </a:solidFill>
                <a:latin typeface="Calibri"/>
                <a:ea typeface="Calibri"/>
                <a:cs typeface="Calibri"/>
              </a:defRPr>
            </a:lvl9pPr>
          </a:lstStyle>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3  Compare and repeat</a:t>
            </a:r>
          </a:p>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A neural network predicts the shifts.</a:t>
            </a:r>
          </a:p>
        </p:txBody>
      </p:sp>
    </p:spTree>
    <p:extLst>
      <p:ext uri="{BB962C8B-B14F-4D97-AF65-F5344CB8AC3E}">
        <p14:creationId xmlns:p14="http://schemas.microsoft.com/office/powerpoint/2010/main" val="18137547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NMR-Solver: useful predictions and a failure">
            <a:extLst xmlns:a="http://schemas.openxmlformats.org/drawingml/2006/main">
              <a:ext uri="{FF2B5EF4-FFF2-40B4-BE49-F238E27FC236}">
                <a16:creationId xmlns:a16="http://schemas.microsoft.com/office/drawing/2014/main" id="{0BBAB698-1904-4E67-91B0-599B046753D8}"/>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NMR-Solver: useful predictions and a failure</a:t>
            </a:r>
          </a:p>
        </p:txBody>
      </p:sp>
      <p:sp>
        <p:nvSpPr>
          <p:cNvPr id="2" name="Results include laboratory assignments and a documented wrong predicti">
            <a:extLst xmlns:a="http://schemas.openxmlformats.org/drawingml/2006/main">
              <a:ext uri="{FF2B5EF4-FFF2-40B4-BE49-F238E27FC236}">
                <a16:creationId xmlns:a16="http://schemas.microsoft.com/office/drawing/2014/main" id="{75EFC116-1D23-4613-B5D4-48FE870320EB}"/>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Results include laboratory assignments and a documented wrong prediction.</a:t>
            </a:r>
          </a:p>
        </p:txBody>
      </p:sp>
      <p:sp>
        <p:nvSpPr>
          <p:cNvPr id="3" name="Jin et al. (2026), extracts from Fig. 4a and 4f. CC BY 4.0">
            <a:extLst xmlns:a="http://schemas.openxmlformats.org/drawingml/2006/main">
              <a:ext uri="{FF2B5EF4-FFF2-40B4-BE49-F238E27FC236}">
                <a16:creationId xmlns:a16="http://schemas.microsoft.com/office/drawing/2014/main" id="{0BC8749D-6D67-411D-93E6-79563825580C}"/>
              </a:ext>
            </a:extLst>
          </p:cNvPr>
          <p:cNvSpPr>
            <a:spLocks xmlns:a="http://schemas.openxmlformats.org/drawingml/2006/main" noGrp="1"/>
          </p:cNvSpPr>
          <p:nvPr/>
        </p:nvSpPr>
        <p:spPr>
          <a:xfrm xmlns:a="http://schemas.openxmlformats.org/drawingml/2006/main">
            <a:off x="609600" y="6496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2739ded996f64b2a"/>
              </a:rPr>
              <a:t>Jin et al. (2026), extracts from Fig. 4a and 4f. CC BY 4.0</a:t>
            </a:r>
          </a:p>
        </p:txBody>
      </p:sp>
      <p:sp>
        <p:nvSpPr>
          <p:cNvPr id="4" name="2">
            <a:extLst xmlns:a="http://schemas.openxmlformats.org/drawingml/2006/main">
              <a:ext uri="{FF2B5EF4-FFF2-40B4-BE49-F238E27FC236}">
                <a16:creationId xmlns:a16="http://schemas.microsoft.com/office/drawing/2014/main" id="{2E5A54F6-5491-4EAD-BFDF-20E2FBB62A79}"/>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3</a:t>
            </a:r>
          </a:p>
        </p:txBody>
      </p:sp>
      <p:sp>
        <p:nvSpPr>
          <p:cNvPr id="5" name="A laboratory product">
            <a:extLst xmlns:a="http://schemas.openxmlformats.org/drawingml/2006/main">
              <a:ext uri="{FF2B5EF4-FFF2-40B4-BE49-F238E27FC236}">
                <a16:creationId xmlns:a16="http://schemas.microsoft.com/office/drawing/2014/main" id="{FA0AA9A3-8C45-4B76-8182-29EB02703D9C}"/>
              </a:ext>
            </a:extLst>
          </p:cNvPr>
          <p:cNvSpPr>
            <a:spLocks xmlns:a="http://schemas.openxmlformats.org/drawingml/2006/main" noGrp="1"/>
          </p:cNvSpPr>
          <p:nvPr/>
        </p:nvSpPr>
        <p:spPr>
          <a:xfrm xmlns:a="http://schemas.openxmlformats.org/drawingml/2006/main">
            <a:off x="685800" y="18383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28090"/>
                </a:solidFill>
                <a:latin typeface="Calibri"/>
                <a:ea typeface="Calibri"/>
                <a:cs typeface="Calibri"/>
              </a:defRPr>
            </a:defPPr>
            <a:lvl1pPr>
              <a:buNone/>
              <a:defRPr sz="2250" b="0">
                <a:solidFill>
                  <a:srgbClr val="028090"/>
                </a:solidFill>
                <a:latin typeface="Calibri"/>
                <a:ea typeface="Calibri"/>
                <a:cs typeface="Calibri"/>
              </a:defRPr>
            </a:lvl1pPr>
            <a:lvl2pPr>
              <a:buNone/>
              <a:defRPr sz="2250" b="0">
                <a:solidFill>
                  <a:srgbClr val="028090"/>
                </a:solidFill>
                <a:latin typeface="Calibri"/>
                <a:ea typeface="Calibri"/>
                <a:cs typeface="Calibri"/>
              </a:defRPr>
            </a:lvl2pPr>
            <a:lvl3pPr>
              <a:buNone/>
              <a:defRPr sz="2250" b="0">
                <a:solidFill>
                  <a:srgbClr val="028090"/>
                </a:solidFill>
                <a:latin typeface="Calibri"/>
                <a:ea typeface="Calibri"/>
                <a:cs typeface="Calibri"/>
              </a:defRPr>
            </a:lvl3pPr>
            <a:lvl4pPr>
              <a:buNone/>
              <a:defRPr sz="2250" b="0">
                <a:solidFill>
                  <a:srgbClr val="028090"/>
                </a:solidFill>
                <a:latin typeface="Calibri"/>
                <a:ea typeface="Calibri"/>
                <a:cs typeface="Calibri"/>
              </a:defRPr>
            </a:lvl4pPr>
            <a:lvl5pPr>
              <a:buNone/>
              <a:defRPr sz="2250" b="0">
                <a:solidFill>
                  <a:srgbClr val="028090"/>
                </a:solidFill>
                <a:latin typeface="Calibri"/>
                <a:ea typeface="Calibri"/>
                <a:cs typeface="Calibri"/>
              </a:defRPr>
            </a:lvl5pPr>
            <a:lvl6pPr>
              <a:buNone/>
              <a:defRPr sz="2250" b="0">
                <a:solidFill>
                  <a:srgbClr val="028090"/>
                </a:solidFill>
                <a:latin typeface="Calibri"/>
                <a:ea typeface="Calibri"/>
                <a:cs typeface="Calibri"/>
              </a:defRPr>
            </a:lvl6pPr>
            <a:lvl7pPr>
              <a:buNone/>
              <a:defRPr sz="2250" b="0">
                <a:solidFill>
                  <a:srgbClr val="028090"/>
                </a:solidFill>
                <a:latin typeface="Calibri"/>
                <a:ea typeface="Calibri"/>
                <a:cs typeface="Calibri"/>
              </a:defRPr>
            </a:lvl7pPr>
            <a:lvl8pPr>
              <a:buNone/>
              <a:defRPr sz="2250" b="0">
                <a:solidFill>
                  <a:srgbClr val="028090"/>
                </a:solidFill>
                <a:latin typeface="Calibri"/>
                <a:ea typeface="Calibri"/>
                <a:cs typeface="Calibri"/>
              </a:defRPr>
            </a:lvl8pPr>
            <a:lvl9pPr>
              <a:buNone/>
              <a:defRPr sz="2250" b="0">
                <a:solidFill>
                  <a:srgbClr val="028090"/>
                </a:solidFill>
                <a:latin typeface="Calibri"/>
                <a:ea typeface="Calibri"/>
                <a:cs typeface="Calibri"/>
              </a:defRPr>
            </a:lvl9pPr>
          </a:lstStyle>
          <a:p xmlns:a="http://schemas.openxmlformats.org/drawingml/2006/main">
            <a:pPr>
              <a:buNone/>
              <a:defRPr sz="2250" b="0">
                <a:solidFill>
                  <a:srgbClr val="028090"/>
                </a:solidFill>
                <a:latin typeface="Calibri"/>
                <a:ea typeface="Calibri"/>
                <a:cs typeface="Calibri"/>
              </a:defRPr>
            </a:pPr>
            <a:r>
              <a:rPr sz="2250" b="0">
                <a:solidFill>
                  <a:srgbClr val="028090"/>
                </a:solidFill>
                <a:latin typeface="Calibri"/>
                <a:ea typeface="Calibri"/>
                <a:cs typeface="Calibri"/>
              </a:rPr>
              <a:t>A laboratory product</a:t>
            </a:r>
          </a:p>
        </p:txBody>
      </p:sp>
      <p:pic>
        <p:nvPicPr>
          <p:cNvPr id="6" name="">
            <a:extLst xmlns:a="http://schemas.openxmlformats.org/drawingml/2006/main">
              <a:ext uri="{FF2B5EF4-FFF2-40B4-BE49-F238E27FC236}">
                <a16:creationId xmlns:a16="http://schemas.microsoft.com/office/drawing/2014/main" id="{45468CD3-E8AC-4696-AB5B-90CC9D69ABB0}"/>
              </a:ext>
            </a:extLst>
          </p:cNvPr>
          <p:cNvPicPr>
            <a:picLocks xmlns:a="http://schemas.openxmlformats.org/drawingml/2006/main" noChangeAspect="1"/>
          </p:cNvPicPr>
          <p:nvPr/>
        </p:nvPicPr>
        <p:blipFill>
          <a:blip xmlns:r="http://schemas.openxmlformats.org/officeDocument/2006/relationships" xmlns:a="http://schemas.openxmlformats.org/drawingml/2006/main" r:embed="Rc31ea515099741ad"/>
          <a:srcRect xmlns:a="http://schemas.openxmlformats.org/drawingml/2006/main" l="80000" t="4900" r="400" b="85200"/>
          <a:stretch xmlns:a="http://schemas.openxmlformats.org/drawingml/2006/main"/>
        </p:blipFill>
        <p:spPr>
          <a:xfrm xmlns:a="http://schemas.openxmlformats.org/drawingml/2006/main">
            <a:off x="1333500" y="2286000"/>
            <a:ext cx="3524250" cy="2133600"/>
          </a:xfrm>
          <a:prstGeom xmlns:a="http://schemas.openxmlformats.org/drawingml/2006/main" prst="rect">
            <a:avLst/>
          </a:prstGeom>
        </p:spPr>
      </p:pic>
      <p:sp>
        <p:nvSpPr>
          <p:cNvPr id="7" name="Additional 2D NMR and high-resolution mass spectrometry supported this">
            <a:extLst xmlns:a="http://schemas.openxmlformats.org/drawingml/2006/main">
              <a:ext uri="{FF2B5EF4-FFF2-40B4-BE49-F238E27FC236}">
                <a16:creationId xmlns:a16="http://schemas.microsoft.com/office/drawing/2014/main" id="{2AB6FFE0-B550-4574-8A67-9C9090A788DB}"/>
              </a:ext>
            </a:extLst>
          </p:cNvPr>
          <p:cNvSpPr>
            <a:spLocks xmlns:a="http://schemas.openxmlformats.org/drawingml/2006/main" noGrp="1"/>
          </p:cNvSpPr>
          <p:nvPr/>
        </p:nvSpPr>
        <p:spPr>
          <a:xfrm xmlns:a="http://schemas.openxmlformats.org/drawingml/2006/main">
            <a:off x="685800" y="46005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Additional 2D NMR and high-resolution mass spectrometry supported this assignment.</a:t>
            </a:r>
          </a:p>
        </p:txBody>
      </p:sp>
      <p:sp>
        <p:nvSpPr>
          <p:cNvPr id="8" name="A strained molecule">
            <a:extLst xmlns:a="http://schemas.openxmlformats.org/drawingml/2006/main">
              <a:ext uri="{FF2B5EF4-FFF2-40B4-BE49-F238E27FC236}">
                <a16:creationId xmlns:a16="http://schemas.microsoft.com/office/drawing/2014/main" id="{6F145779-FF3C-4BEF-878D-331CD67E72A2}"/>
              </a:ext>
            </a:extLst>
          </p:cNvPr>
          <p:cNvSpPr>
            <a:spLocks xmlns:a="http://schemas.openxmlformats.org/drawingml/2006/main" noGrp="1"/>
          </p:cNvSpPr>
          <p:nvPr/>
        </p:nvSpPr>
        <p:spPr>
          <a:xfrm xmlns:a="http://schemas.openxmlformats.org/drawingml/2006/main">
            <a:off x="6505575" y="1838325"/>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56B30"/>
                </a:solidFill>
                <a:latin typeface="Calibri"/>
                <a:ea typeface="Calibri"/>
                <a:cs typeface="Calibri"/>
              </a:defRPr>
            </a:defPPr>
            <a:lvl1pPr>
              <a:buNone/>
              <a:defRPr sz="2250" b="0">
                <a:solidFill>
                  <a:srgbClr val="C56B30"/>
                </a:solidFill>
                <a:latin typeface="Calibri"/>
                <a:ea typeface="Calibri"/>
                <a:cs typeface="Calibri"/>
              </a:defRPr>
            </a:lvl1pPr>
            <a:lvl2pPr>
              <a:buNone/>
              <a:defRPr sz="2250" b="0">
                <a:solidFill>
                  <a:srgbClr val="C56B30"/>
                </a:solidFill>
                <a:latin typeface="Calibri"/>
                <a:ea typeface="Calibri"/>
                <a:cs typeface="Calibri"/>
              </a:defRPr>
            </a:lvl2pPr>
            <a:lvl3pPr>
              <a:buNone/>
              <a:defRPr sz="2250" b="0">
                <a:solidFill>
                  <a:srgbClr val="C56B30"/>
                </a:solidFill>
                <a:latin typeface="Calibri"/>
                <a:ea typeface="Calibri"/>
                <a:cs typeface="Calibri"/>
              </a:defRPr>
            </a:lvl3pPr>
            <a:lvl4pPr>
              <a:buNone/>
              <a:defRPr sz="2250" b="0">
                <a:solidFill>
                  <a:srgbClr val="C56B30"/>
                </a:solidFill>
                <a:latin typeface="Calibri"/>
                <a:ea typeface="Calibri"/>
                <a:cs typeface="Calibri"/>
              </a:defRPr>
            </a:lvl4pPr>
            <a:lvl5pPr>
              <a:buNone/>
              <a:defRPr sz="2250" b="0">
                <a:solidFill>
                  <a:srgbClr val="C56B30"/>
                </a:solidFill>
                <a:latin typeface="Calibri"/>
                <a:ea typeface="Calibri"/>
                <a:cs typeface="Calibri"/>
              </a:defRPr>
            </a:lvl5pPr>
            <a:lvl6pPr>
              <a:buNone/>
              <a:defRPr sz="2250" b="0">
                <a:solidFill>
                  <a:srgbClr val="C56B30"/>
                </a:solidFill>
                <a:latin typeface="Calibri"/>
                <a:ea typeface="Calibri"/>
                <a:cs typeface="Calibri"/>
              </a:defRPr>
            </a:lvl6pPr>
            <a:lvl7pPr>
              <a:buNone/>
              <a:defRPr sz="2250" b="0">
                <a:solidFill>
                  <a:srgbClr val="C56B30"/>
                </a:solidFill>
                <a:latin typeface="Calibri"/>
                <a:ea typeface="Calibri"/>
                <a:cs typeface="Calibri"/>
              </a:defRPr>
            </a:lvl7pPr>
            <a:lvl8pPr>
              <a:buNone/>
              <a:defRPr sz="2250" b="0">
                <a:solidFill>
                  <a:srgbClr val="C56B30"/>
                </a:solidFill>
                <a:latin typeface="Calibri"/>
                <a:ea typeface="Calibri"/>
                <a:cs typeface="Calibri"/>
              </a:defRPr>
            </a:lvl8pPr>
            <a:lvl9pPr>
              <a:buNone/>
              <a:defRPr sz="2250" b="0">
                <a:solidFill>
                  <a:srgbClr val="C56B30"/>
                </a:solidFill>
                <a:latin typeface="Calibri"/>
                <a:ea typeface="Calibri"/>
                <a:cs typeface="Calibri"/>
              </a:defRPr>
            </a:lvl9pPr>
          </a:lstStyle>
          <a:p xmlns:a="http://schemas.openxmlformats.org/drawingml/2006/main">
            <a:pPr>
              <a:buNone/>
              <a:defRPr sz="2250" b="0">
                <a:solidFill>
                  <a:srgbClr val="C56B30"/>
                </a:solidFill>
                <a:latin typeface="Calibri"/>
                <a:ea typeface="Calibri"/>
                <a:cs typeface="Calibri"/>
              </a:defRPr>
            </a:pPr>
            <a:r>
              <a:rPr sz="2250" b="0">
                <a:solidFill>
                  <a:srgbClr val="C56B30"/>
                </a:solidFill>
                <a:latin typeface="Calibri"/>
                <a:ea typeface="Calibri"/>
                <a:cs typeface="Calibri"/>
              </a:rPr>
              <a:t>A strained molecule</a:t>
            </a:r>
          </a:p>
        </p:txBody>
      </p:sp>
      <p:pic>
        <p:nvPicPr>
          <p:cNvPr id="9" name="">
            <a:extLst xmlns:a="http://schemas.openxmlformats.org/drawingml/2006/main">
              <a:ext uri="{FF2B5EF4-FFF2-40B4-BE49-F238E27FC236}">
                <a16:creationId xmlns:a16="http://schemas.microsoft.com/office/drawing/2014/main" id="{FA4A0CCF-398F-486E-BC40-181C32A19B67}"/>
              </a:ext>
            </a:extLst>
          </p:cNvPr>
          <p:cNvPicPr>
            <a:picLocks xmlns:a="http://schemas.openxmlformats.org/drawingml/2006/main" noChangeAspect="1"/>
          </p:cNvPicPr>
          <p:nvPr/>
        </p:nvPicPr>
        <p:blipFill>
          <a:blip xmlns:r="http://schemas.openxmlformats.org/officeDocument/2006/relationships" xmlns:a="http://schemas.openxmlformats.org/drawingml/2006/main" r:embed="R7c011288869f4b5c"/>
          <a:srcRect xmlns:a="http://schemas.openxmlformats.org/drawingml/2006/main" l="59200" t="89500" r="300" b="0"/>
          <a:stretch xmlns:a="http://schemas.openxmlformats.org/drawingml/2006/main"/>
        </p:blipFill>
        <p:spPr>
          <a:xfrm xmlns:a="http://schemas.openxmlformats.org/drawingml/2006/main">
            <a:off x="6524625" y="2419350"/>
            <a:ext cx="5000625" cy="1905000"/>
          </a:xfrm>
          <a:prstGeom xmlns:a="http://schemas.openxmlformats.org/drawingml/2006/main" prst="rect">
            <a:avLst/>
          </a:prstGeom>
        </p:spPr>
      </p:pic>
      <p:sp>
        <p:nvSpPr>
          <p:cNvPr id="10" name="Actual product">
            <a:extLst xmlns:a="http://schemas.openxmlformats.org/drawingml/2006/main">
              <a:ext uri="{FF2B5EF4-FFF2-40B4-BE49-F238E27FC236}">
                <a16:creationId xmlns:a16="http://schemas.microsoft.com/office/drawing/2014/main" id="{463BBD86-5959-4378-BD82-2E7E2EB8A83E}"/>
              </a:ext>
            </a:extLst>
          </p:cNvPr>
          <p:cNvSpPr>
            <a:spLocks xmlns:a="http://schemas.openxmlformats.org/drawingml/2006/main" noGrp="1"/>
          </p:cNvSpPr>
          <p:nvPr/>
        </p:nvSpPr>
        <p:spPr>
          <a:xfrm xmlns:a="http://schemas.openxmlformats.org/drawingml/2006/main">
            <a:off x="6572250" y="43243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028090"/>
                </a:solidFill>
                <a:latin typeface="Calibri"/>
                <a:ea typeface="Calibri"/>
                <a:cs typeface="Calibri"/>
              </a:defRPr>
            </a:defPPr>
            <a:lvl1pPr>
              <a:buNone/>
              <a:defRPr sz="1650" b="0">
                <a:solidFill>
                  <a:srgbClr val="028090"/>
                </a:solidFill>
                <a:latin typeface="Calibri"/>
                <a:ea typeface="Calibri"/>
                <a:cs typeface="Calibri"/>
              </a:defRPr>
            </a:lvl1pPr>
            <a:lvl2pPr>
              <a:buNone/>
              <a:defRPr sz="1650" b="0">
                <a:solidFill>
                  <a:srgbClr val="028090"/>
                </a:solidFill>
                <a:latin typeface="Calibri"/>
                <a:ea typeface="Calibri"/>
                <a:cs typeface="Calibri"/>
              </a:defRPr>
            </a:lvl2pPr>
            <a:lvl3pPr>
              <a:buNone/>
              <a:defRPr sz="1650" b="0">
                <a:solidFill>
                  <a:srgbClr val="028090"/>
                </a:solidFill>
                <a:latin typeface="Calibri"/>
                <a:ea typeface="Calibri"/>
                <a:cs typeface="Calibri"/>
              </a:defRPr>
            </a:lvl3pPr>
            <a:lvl4pPr>
              <a:buNone/>
              <a:defRPr sz="1650" b="0">
                <a:solidFill>
                  <a:srgbClr val="028090"/>
                </a:solidFill>
                <a:latin typeface="Calibri"/>
                <a:ea typeface="Calibri"/>
                <a:cs typeface="Calibri"/>
              </a:defRPr>
            </a:lvl4pPr>
            <a:lvl5pPr>
              <a:buNone/>
              <a:defRPr sz="1650" b="0">
                <a:solidFill>
                  <a:srgbClr val="028090"/>
                </a:solidFill>
                <a:latin typeface="Calibri"/>
                <a:ea typeface="Calibri"/>
                <a:cs typeface="Calibri"/>
              </a:defRPr>
            </a:lvl5pPr>
            <a:lvl6pPr>
              <a:buNone/>
              <a:defRPr sz="1650" b="0">
                <a:solidFill>
                  <a:srgbClr val="028090"/>
                </a:solidFill>
                <a:latin typeface="Calibri"/>
                <a:ea typeface="Calibri"/>
                <a:cs typeface="Calibri"/>
              </a:defRPr>
            </a:lvl6pPr>
            <a:lvl7pPr>
              <a:buNone/>
              <a:defRPr sz="1650" b="0">
                <a:solidFill>
                  <a:srgbClr val="028090"/>
                </a:solidFill>
                <a:latin typeface="Calibri"/>
                <a:ea typeface="Calibri"/>
                <a:cs typeface="Calibri"/>
              </a:defRPr>
            </a:lvl7pPr>
            <a:lvl8pPr>
              <a:buNone/>
              <a:defRPr sz="1650" b="0">
                <a:solidFill>
                  <a:srgbClr val="028090"/>
                </a:solidFill>
                <a:latin typeface="Calibri"/>
                <a:ea typeface="Calibri"/>
                <a:cs typeface="Calibri"/>
              </a:defRPr>
            </a:lvl8pPr>
            <a:lvl9pPr>
              <a:buNone/>
              <a:defRPr sz="1650" b="0">
                <a:solidFill>
                  <a:srgbClr val="028090"/>
                </a:solidFill>
                <a:latin typeface="Calibri"/>
                <a:ea typeface="Calibri"/>
                <a:cs typeface="Calibri"/>
              </a:defRPr>
            </a:lvl9pPr>
          </a:lstStyle>
          <a:p xmlns:a="http://schemas.openxmlformats.org/drawingml/2006/main">
            <a:pPr>
              <a:buNone/>
              <a:defRPr sz="1650" b="0">
                <a:solidFill>
                  <a:srgbClr val="028090"/>
                </a:solidFill>
                <a:latin typeface="Calibri"/>
                <a:ea typeface="Calibri"/>
                <a:cs typeface="Calibri"/>
              </a:defRPr>
            </a:pPr>
            <a:r>
              <a:rPr sz="1650" b="0">
                <a:solidFill>
                  <a:srgbClr val="028090"/>
                </a:solidFill>
                <a:latin typeface="Calibri"/>
                <a:ea typeface="Calibri"/>
                <a:cs typeface="Calibri"/>
              </a:rPr>
              <a:t>Actual product</a:t>
            </a:r>
          </a:p>
        </p:txBody>
      </p:sp>
      <p:sp>
        <p:nvSpPr>
          <p:cNvPr id="11" name="Model prediction">
            <a:extLst xmlns:a="http://schemas.openxmlformats.org/drawingml/2006/main">
              <a:ext uri="{FF2B5EF4-FFF2-40B4-BE49-F238E27FC236}">
                <a16:creationId xmlns:a16="http://schemas.microsoft.com/office/drawing/2014/main" id="{29A2C86D-9D7A-4F7C-9670-C085AF000F77}"/>
              </a:ext>
            </a:extLst>
          </p:cNvPr>
          <p:cNvSpPr>
            <a:spLocks xmlns:a="http://schemas.openxmlformats.org/drawingml/2006/main" noGrp="1"/>
          </p:cNvSpPr>
          <p:nvPr/>
        </p:nvSpPr>
        <p:spPr>
          <a:xfrm xmlns:a="http://schemas.openxmlformats.org/drawingml/2006/main">
            <a:off x="9429750" y="43243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56B30"/>
                </a:solidFill>
                <a:latin typeface="Calibri"/>
                <a:ea typeface="Calibri"/>
                <a:cs typeface="Calibri"/>
              </a:defRPr>
            </a:defPPr>
            <a:lvl1pPr>
              <a:buNone/>
              <a:defRPr sz="1650" b="0">
                <a:solidFill>
                  <a:srgbClr val="C56B30"/>
                </a:solidFill>
                <a:latin typeface="Calibri"/>
                <a:ea typeface="Calibri"/>
                <a:cs typeface="Calibri"/>
              </a:defRPr>
            </a:lvl1pPr>
            <a:lvl2pPr>
              <a:buNone/>
              <a:defRPr sz="1650" b="0">
                <a:solidFill>
                  <a:srgbClr val="C56B30"/>
                </a:solidFill>
                <a:latin typeface="Calibri"/>
                <a:ea typeface="Calibri"/>
                <a:cs typeface="Calibri"/>
              </a:defRPr>
            </a:lvl2pPr>
            <a:lvl3pPr>
              <a:buNone/>
              <a:defRPr sz="1650" b="0">
                <a:solidFill>
                  <a:srgbClr val="C56B30"/>
                </a:solidFill>
                <a:latin typeface="Calibri"/>
                <a:ea typeface="Calibri"/>
                <a:cs typeface="Calibri"/>
              </a:defRPr>
            </a:lvl3pPr>
            <a:lvl4pPr>
              <a:buNone/>
              <a:defRPr sz="1650" b="0">
                <a:solidFill>
                  <a:srgbClr val="C56B30"/>
                </a:solidFill>
                <a:latin typeface="Calibri"/>
                <a:ea typeface="Calibri"/>
                <a:cs typeface="Calibri"/>
              </a:defRPr>
            </a:lvl4pPr>
            <a:lvl5pPr>
              <a:buNone/>
              <a:defRPr sz="1650" b="0">
                <a:solidFill>
                  <a:srgbClr val="C56B30"/>
                </a:solidFill>
                <a:latin typeface="Calibri"/>
                <a:ea typeface="Calibri"/>
                <a:cs typeface="Calibri"/>
              </a:defRPr>
            </a:lvl5pPr>
            <a:lvl6pPr>
              <a:buNone/>
              <a:defRPr sz="1650" b="0">
                <a:solidFill>
                  <a:srgbClr val="C56B30"/>
                </a:solidFill>
                <a:latin typeface="Calibri"/>
                <a:ea typeface="Calibri"/>
                <a:cs typeface="Calibri"/>
              </a:defRPr>
            </a:lvl6pPr>
            <a:lvl7pPr>
              <a:buNone/>
              <a:defRPr sz="1650" b="0">
                <a:solidFill>
                  <a:srgbClr val="C56B30"/>
                </a:solidFill>
                <a:latin typeface="Calibri"/>
                <a:ea typeface="Calibri"/>
                <a:cs typeface="Calibri"/>
              </a:defRPr>
            </a:lvl7pPr>
            <a:lvl8pPr>
              <a:buNone/>
              <a:defRPr sz="1650" b="0">
                <a:solidFill>
                  <a:srgbClr val="C56B30"/>
                </a:solidFill>
                <a:latin typeface="Calibri"/>
                <a:ea typeface="Calibri"/>
                <a:cs typeface="Calibri"/>
              </a:defRPr>
            </a:lvl8pPr>
            <a:lvl9pPr>
              <a:buNone/>
              <a:defRPr sz="1650" b="0">
                <a:solidFill>
                  <a:srgbClr val="C56B30"/>
                </a:solidFill>
                <a:latin typeface="Calibri"/>
                <a:ea typeface="Calibri"/>
                <a:cs typeface="Calibri"/>
              </a:defRPr>
            </a:lvl9pPr>
          </a:lstStyle>
          <a:p xmlns:a="http://schemas.openxmlformats.org/drawingml/2006/main">
            <a:pPr>
              <a:buNone/>
              <a:defRPr sz="1650" b="0">
                <a:solidFill>
                  <a:srgbClr val="C56B30"/>
                </a:solidFill>
                <a:latin typeface="Calibri"/>
                <a:ea typeface="Calibri"/>
                <a:cs typeface="Calibri"/>
              </a:defRPr>
            </a:pPr>
            <a:r>
              <a:rPr sz="1650" b="0">
                <a:solidFill>
                  <a:srgbClr val="C56B30"/>
                </a:solidFill>
                <a:latin typeface="Calibri"/>
                <a:ea typeface="Calibri"/>
                <a:cs typeface="Calibri"/>
              </a:rPr>
              <a:t>Model prediction</a:t>
            </a:r>
          </a:p>
        </p:txBody>
      </p:sp>
      <p:sp>
        <p:nvSpPr>
          <p:cNvPr id="12" name="Inaccurate predicted shifts made the wrong structure look more convinc">
            <a:extLst xmlns:a="http://schemas.openxmlformats.org/drawingml/2006/main">
              <a:ext uri="{FF2B5EF4-FFF2-40B4-BE49-F238E27FC236}">
                <a16:creationId xmlns:a16="http://schemas.microsoft.com/office/drawing/2014/main" id="{A8FC5913-6966-4747-BFF0-CC464A39C36A}"/>
              </a:ext>
            </a:extLst>
          </p:cNvPr>
          <p:cNvSpPr>
            <a:spLocks xmlns:a="http://schemas.openxmlformats.org/drawingml/2006/main" noGrp="1"/>
          </p:cNvSpPr>
          <p:nvPr/>
        </p:nvSpPr>
        <p:spPr>
          <a:xfrm xmlns:a="http://schemas.openxmlformats.org/drawingml/2006/main">
            <a:off x="6505575" y="460057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Inaccurate predicted shifts made the wrong structure look more convincing.</a:t>
            </a:r>
          </a:p>
        </p:txBody>
      </p:sp>
      <p:sp>
        <p:nvSpPr>
          <p:cNvPr id="13" name="What extra evidence would you request before accepting a proposed stru">
            <a:extLst xmlns:a="http://schemas.openxmlformats.org/drawingml/2006/main">
              <a:ext uri="{FF2B5EF4-FFF2-40B4-BE49-F238E27FC236}">
                <a16:creationId xmlns:a16="http://schemas.microsoft.com/office/drawing/2014/main" id="{456C63EA-8715-4357-9678-10A5A45B23DC}"/>
              </a:ext>
            </a:extLst>
          </p:cNvPr>
          <p:cNvSpPr>
            <a:spLocks xmlns:a="http://schemas.openxmlformats.org/drawingml/2006/main" noGrp="1"/>
          </p:cNvSpPr>
          <p:nvPr/>
        </p:nvSpPr>
        <p:spPr>
          <a:xfrm xmlns:a="http://schemas.openxmlformats.org/drawingml/2006/main">
            <a:off x="685800" y="5800725"/>
            <a:ext cx="1081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28090"/>
                </a:solidFill>
                <a:latin typeface="Calibri"/>
                <a:ea typeface="Calibri"/>
                <a:cs typeface="Calibri"/>
              </a:defRPr>
            </a:defPPr>
            <a:lvl1pPr>
              <a:buNone/>
              <a:defRPr sz="2025" b="0">
                <a:solidFill>
                  <a:srgbClr val="028090"/>
                </a:solidFill>
                <a:latin typeface="Calibri"/>
                <a:ea typeface="Calibri"/>
                <a:cs typeface="Calibri"/>
              </a:defRPr>
            </a:lvl1pPr>
            <a:lvl2pPr>
              <a:buNone/>
              <a:defRPr sz="2025" b="0">
                <a:solidFill>
                  <a:srgbClr val="028090"/>
                </a:solidFill>
                <a:latin typeface="Calibri"/>
                <a:ea typeface="Calibri"/>
                <a:cs typeface="Calibri"/>
              </a:defRPr>
            </a:lvl2pPr>
            <a:lvl3pPr>
              <a:buNone/>
              <a:defRPr sz="2025" b="0">
                <a:solidFill>
                  <a:srgbClr val="028090"/>
                </a:solidFill>
                <a:latin typeface="Calibri"/>
                <a:ea typeface="Calibri"/>
                <a:cs typeface="Calibri"/>
              </a:defRPr>
            </a:lvl3pPr>
            <a:lvl4pPr>
              <a:buNone/>
              <a:defRPr sz="2025" b="0">
                <a:solidFill>
                  <a:srgbClr val="028090"/>
                </a:solidFill>
                <a:latin typeface="Calibri"/>
                <a:ea typeface="Calibri"/>
                <a:cs typeface="Calibri"/>
              </a:defRPr>
            </a:lvl4pPr>
            <a:lvl5pPr>
              <a:buNone/>
              <a:defRPr sz="2025" b="0">
                <a:solidFill>
                  <a:srgbClr val="028090"/>
                </a:solidFill>
                <a:latin typeface="Calibri"/>
                <a:ea typeface="Calibri"/>
                <a:cs typeface="Calibri"/>
              </a:defRPr>
            </a:lvl5pPr>
            <a:lvl6pPr>
              <a:buNone/>
              <a:defRPr sz="2025" b="0">
                <a:solidFill>
                  <a:srgbClr val="028090"/>
                </a:solidFill>
                <a:latin typeface="Calibri"/>
                <a:ea typeface="Calibri"/>
                <a:cs typeface="Calibri"/>
              </a:defRPr>
            </a:lvl6pPr>
            <a:lvl7pPr>
              <a:buNone/>
              <a:defRPr sz="2025" b="0">
                <a:solidFill>
                  <a:srgbClr val="028090"/>
                </a:solidFill>
                <a:latin typeface="Calibri"/>
                <a:ea typeface="Calibri"/>
                <a:cs typeface="Calibri"/>
              </a:defRPr>
            </a:lvl7pPr>
            <a:lvl8pPr>
              <a:buNone/>
              <a:defRPr sz="2025" b="0">
                <a:solidFill>
                  <a:srgbClr val="028090"/>
                </a:solidFill>
                <a:latin typeface="Calibri"/>
                <a:ea typeface="Calibri"/>
                <a:cs typeface="Calibri"/>
              </a:defRPr>
            </a:lvl8pPr>
            <a:lvl9pPr>
              <a:buNone/>
              <a:defRPr sz="2025" b="0">
                <a:solidFill>
                  <a:srgbClr val="028090"/>
                </a:solidFill>
                <a:latin typeface="Calibri"/>
                <a:ea typeface="Calibri"/>
                <a:cs typeface="Calibri"/>
              </a:defRPr>
            </a:lvl9pPr>
          </a:lstStyle>
          <a:p xmlns:a="http://schemas.openxmlformats.org/drawingml/2006/main">
            <a:pPr>
              <a:buNone/>
              <a:defRPr sz="2025" b="0">
                <a:solidFill>
                  <a:srgbClr val="028090"/>
                </a:solidFill>
                <a:latin typeface="Calibri"/>
                <a:ea typeface="Calibri"/>
                <a:cs typeface="Calibri"/>
              </a:defRPr>
            </a:pPr>
            <a:r>
              <a:rPr sz="2025" b="0">
                <a:solidFill>
                  <a:srgbClr val="028090"/>
                </a:solidFill>
                <a:latin typeface="Calibri"/>
                <a:ea typeface="Calibri"/>
                <a:cs typeface="Calibri"/>
              </a:rPr>
              <a:t>What extra evidence would you request before accepting a proposed structure?</a:t>
            </a:r>
          </a:p>
        </p:txBody>
      </p:sp>
    </p:spTree>
    <p:extLst>
      <p:ext uri="{BB962C8B-B14F-4D97-AF65-F5344CB8AC3E}">
        <p14:creationId xmlns:p14="http://schemas.microsoft.com/office/powerpoint/2010/main" val="3818321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aman: a fingerprint of molecular vibrations">
            <a:extLst xmlns:a="http://schemas.openxmlformats.org/drawingml/2006/main">
              <a:ext uri="{FF2B5EF4-FFF2-40B4-BE49-F238E27FC236}">
                <a16:creationId xmlns:a16="http://schemas.microsoft.com/office/drawing/2014/main" id="{3B5C4AFD-7069-4C17-8AF5-5DA0BE603A9E}"/>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Raman: a fingerprint of molecular vibrations</a:t>
            </a:r>
          </a:p>
        </p:txBody>
      </p:sp>
      <p:sp>
        <p:nvSpPr>
          <p:cNvPr id="2" name="A small fraction of scattered laser light changes energy.">
            <a:extLst xmlns:a="http://schemas.openxmlformats.org/drawingml/2006/main">
              <a:ext uri="{FF2B5EF4-FFF2-40B4-BE49-F238E27FC236}">
                <a16:creationId xmlns:a16="http://schemas.microsoft.com/office/drawing/2014/main" id="{DC2AF589-2E52-468C-A295-E49DAD2CB7FB}"/>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A small fraction of scattered laser light changes energy.</a:t>
            </a:r>
          </a:p>
        </p:txBody>
      </p:sp>
      <p:sp>
        <p:nvSpPr>
          <p:cNvPr id="3" name="Concept: Renishaw, What is Raman scattering? Schematic spectra of hypo">
            <a:extLst xmlns:a="http://schemas.openxmlformats.org/drawingml/2006/main">
              <a:ext uri="{FF2B5EF4-FFF2-40B4-BE49-F238E27FC236}">
                <a16:creationId xmlns:a16="http://schemas.microsoft.com/office/drawing/2014/main" id="{387B64A7-BD4E-442B-953C-08A25DC229DB}"/>
              </a:ext>
            </a:extLst>
          </p:cNvPr>
          <p:cNvSpPr>
            <a:spLocks xmlns:a="http://schemas.openxmlformats.org/drawingml/2006/main" noGrp="1"/>
          </p:cNvSpPr>
          <p:nvPr/>
        </p:nvSpPr>
        <p:spPr>
          <a:xfrm xmlns:a="http://schemas.openxmlformats.org/drawingml/2006/main">
            <a:off x="609600" y="6496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63a54a860fc948ac"/>
              </a:rPr>
              <a:t>Concept: Renishaw, What is Raman scattering? Schematic spectra of hypothetical compounds.</a:t>
            </a:r>
          </a:p>
        </p:txBody>
      </p:sp>
      <p:sp>
        <p:nvSpPr>
          <p:cNvPr id="4" name="Similar compounds can share many peaks">
            <a:extLst xmlns:a="http://schemas.openxmlformats.org/drawingml/2006/main">
              <a:ext uri="{FF2B5EF4-FFF2-40B4-BE49-F238E27FC236}">
                <a16:creationId xmlns:a16="http://schemas.microsoft.com/office/drawing/2014/main" id="{A8E93FA1-55C0-4038-BBEB-444454B7AAF9}"/>
              </a:ext>
            </a:extLst>
          </p:cNvPr>
          <p:cNvSpPr>
            <a:spLocks xmlns:a="http://schemas.openxmlformats.org/drawingml/2006/main" noGrp="1"/>
          </p:cNvSpPr>
          <p:nvPr/>
        </p:nvSpPr>
        <p:spPr>
          <a:xfrm xmlns:a="http://schemas.openxmlformats.org/drawingml/2006/main">
            <a:off x="723900" y="1905000"/>
            <a:ext cx="652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buNone/>
              <a:defRPr sz="2175" b="0">
                <a:solidFill>
                  <a:srgbClr val="028090"/>
                </a:solidFill>
                <a:latin typeface="Calibri"/>
                <a:ea typeface="Calibri"/>
                <a:cs typeface="Calibri"/>
              </a:defRPr>
            </a:lvl1pPr>
            <a:lvl2pPr>
              <a:buNone/>
              <a:defRPr sz="2175" b="0">
                <a:solidFill>
                  <a:srgbClr val="028090"/>
                </a:solidFill>
                <a:latin typeface="Calibri"/>
                <a:ea typeface="Calibri"/>
                <a:cs typeface="Calibri"/>
              </a:defRPr>
            </a:lvl2pPr>
            <a:lvl3pPr>
              <a:buNone/>
              <a:defRPr sz="2175" b="0">
                <a:solidFill>
                  <a:srgbClr val="028090"/>
                </a:solidFill>
                <a:latin typeface="Calibri"/>
                <a:ea typeface="Calibri"/>
                <a:cs typeface="Calibri"/>
              </a:defRPr>
            </a:lvl3pPr>
            <a:lvl4pPr>
              <a:buNone/>
              <a:defRPr sz="2175" b="0">
                <a:solidFill>
                  <a:srgbClr val="028090"/>
                </a:solidFill>
                <a:latin typeface="Calibri"/>
                <a:ea typeface="Calibri"/>
                <a:cs typeface="Calibri"/>
              </a:defRPr>
            </a:lvl4pPr>
            <a:lvl5pPr>
              <a:buNone/>
              <a:defRPr sz="2175" b="0">
                <a:solidFill>
                  <a:srgbClr val="028090"/>
                </a:solidFill>
                <a:latin typeface="Calibri"/>
                <a:ea typeface="Calibri"/>
                <a:cs typeface="Calibri"/>
              </a:defRPr>
            </a:lvl5pPr>
            <a:lvl6pPr>
              <a:buNone/>
              <a:defRPr sz="2175" b="0">
                <a:solidFill>
                  <a:srgbClr val="028090"/>
                </a:solidFill>
                <a:latin typeface="Calibri"/>
                <a:ea typeface="Calibri"/>
                <a:cs typeface="Calibri"/>
              </a:defRPr>
            </a:lvl6pPr>
            <a:lvl7pPr>
              <a:buNone/>
              <a:defRPr sz="2175" b="0">
                <a:solidFill>
                  <a:srgbClr val="028090"/>
                </a:solidFill>
                <a:latin typeface="Calibri"/>
                <a:ea typeface="Calibri"/>
                <a:cs typeface="Calibri"/>
              </a:defRPr>
            </a:lvl7pPr>
            <a:lvl8pPr>
              <a:buNone/>
              <a:defRPr sz="2175" b="0">
                <a:solidFill>
                  <a:srgbClr val="028090"/>
                </a:solidFill>
                <a:latin typeface="Calibri"/>
                <a:ea typeface="Calibri"/>
                <a:cs typeface="Calibri"/>
              </a:defRPr>
            </a:lvl8pPr>
            <a:lvl9pPr>
              <a:buNone/>
              <a:defRPr sz="2175" b="0">
                <a:solidFill>
                  <a:srgbClr val="028090"/>
                </a:solidFill>
                <a:latin typeface="Calibri"/>
                <a:ea typeface="Calibri"/>
                <a:cs typeface="Calibri"/>
              </a:defRPr>
            </a:lvl9pPr>
          </a:lstStyle>
          <a:p xmlns:a="http://schemas.openxmlformats.org/drawingml/2006/main">
            <a:pPr>
              <a:buNone/>
              <a:defRPr sz="2175" b="0">
                <a:solidFill>
                  <a:srgbClr val="028090"/>
                </a:solidFill>
                <a:latin typeface="Calibri"/>
                <a:ea typeface="Calibri"/>
                <a:cs typeface="Calibri"/>
              </a:defRPr>
            </a:pPr>
            <a:r>
              <a:rPr sz="2175" b="0">
                <a:solidFill>
                  <a:srgbClr val="028090"/>
                </a:solidFill>
                <a:latin typeface="Calibri"/>
                <a:ea typeface="Calibri"/>
                <a:cs typeface="Calibri"/>
              </a:rPr>
              <a:t>Similar compounds can share many peaks</a:t>
            </a:r>
          </a:p>
        </p:txBody>
      </p:sp>
      <p:graphicFrame>
        <p:nvGraphicFramePr>
          <p:cNvPr id="5" name="Chart">
            <a:extLst xmlns:a="http://schemas.openxmlformats.org/drawingml/2006/main">
              <a:ext uri="{FF2B5EF4-FFF2-40B4-BE49-F238E27FC236}">
                <a16:creationId xmlns:a16="http://schemas.microsoft.com/office/drawing/2014/main" id="{CB293C87-E8DB-432C-97BF-41914D38DB96}"/>
              </a:ext>
            </a:extLst>
          </p:cNvPr>
          <p:cNvGraphicFramePr/>
          <p:nvPr/>
        </p:nvGraphicFramePr>
        <p:xfrm>
          <a:off xmlns:a="http://schemas.openxmlformats.org/drawingml/2006/main" x="609600" y="2476500"/>
          <a:ext xmlns:a="http://schemas.openxmlformats.org/drawingml/2006/main" cx="6800850" cy="2905125"/>
        </p:xfrm>
        <a:graphic xmlns:a="http://schemas.openxmlformats.org/drawingml/2006/main">
          <a:graphicData uri="http://schemas.openxmlformats.org/drawingml/2006/chart">
            <c:chart xmlns:r="http://schemas.openxmlformats.org/officeDocument/2006/relationships" xmlns:c="http://schemas.openxmlformats.org/drawingml/2006/chart" r:id="Rbd193a87e1b4431b"/>
          </a:graphicData>
        </a:graphic>
      </p:graphicFrame>
      <p:sp>
        <p:nvSpPr>
          <p:cNvPr id="6" name="Signal intensity (arbitrary units)">
            <a:extLst xmlns:a="http://schemas.openxmlformats.org/drawingml/2006/main">
              <a:ext uri="{FF2B5EF4-FFF2-40B4-BE49-F238E27FC236}">
                <a16:creationId xmlns:a16="http://schemas.microsoft.com/office/drawing/2014/main" id="{A2CD16D7-9A48-4687-944A-B63AA7E5A73D}"/>
              </a:ext>
            </a:extLst>
          </p:cNvPr>
          <p:cNvSpPr>
            <a:spLocks xmlns:a="http://schemas.openxmlformats.org/drawingml/2006/main" noGrp="1"/>
          </p:cNvSpPr>
          <p:nvPr/>
        </p:nvSpPr>
        <p:spPr>
          <a:xfrm xmlns:a="http://schemas.openxmlformats.org/drawingml/2006/main">
            <a:off x="752475" y="23717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8B"/>
                </a:solidFill>
                <a:latin typeface="Calibri"/>
                <a:ea typeface="Calibri"/>
                <a:cs typeface="Calibri"/>
              </a:defRPr>
            </a:defPPr>
            <a:lvl1pPr>
              <a:buNone/>
              <a:defRPr sz="1350" b="0">
                <a:solidFill>
                  <a:srgbClr val="64748B"/>
                </a:solidFill>
                <a:latin typeface="Calibri"/>
                <a:ea typeface="Calibri"/>
                <a:cs typeface="Calibri"/>
              </a:defRPr>
            </a:lvl1pPr>
            <a:lvl2pPr>
              <a:buNone/>
              <a:defRPr sz="1350" b="0">
                <a:solidFill>
                  <a:srgbClr val="64748B"/>
                </a:solidFill>
                <a:latin typeface="Calibri"/>
                <a:ea typeface="Calibri"/>
                <a:cs typeface="Calibri"/>
              </a:defRPr>
            </a:lvl2pPr>
            <a:lvl3pPr>
              <a:buNone/>
              <a:defRPr sz="1350" b="0">
                <a:solidFill>
                  <a:srgbClr val="64748B"/>
                </a:solidFill>
                <a:latin typeface="Calibri"/>
                <a:ea typeface="Calibri"/>
                <a:cs typeface="Calibri"/>
              </a:defRPr>
            </a:lvl3pPr>
            <a:lvl4pPr>
              <a:buNone/>
              <a:defRPr sz="1350" b="0">
                <a:solidFill>
                  <a:srgbClr val="64748B"/>
                </a:solidFill>
                <a:latin typeface="Calibri"/>
                <a:ea typeface="Calibri"/>
                <a:cs typeface="Calibri"/>
              </a:defRPr>
            </a:lvl4pPr>
            <a:lvl5pPr>
              <a:buNone/>
              <a:defRPr sz="1350" b="0">
                <a:solidFill>
                  <a:srgbClr val="64748B"/>
                </a:solidFill>
                <a:latin typeface="Calibri"/>
                <a:ea typeface="Calibri"/>
                <a:cs typeface="Calibri"/>
              </a:defRPr>
            </a:lvl5pPr>
            <a:lvl6pPr>
              <a:buNone/>
              <a:defRPr sz="1350" b="0">
                <a:solidFill>
                  <a:srgbClr val="64748B"/>
                </a:solidFill>
                <a:latin typeface="Calibri"/>
                <a:ea typeface="Calibri"/>
                <a:cs typeface="Calibri"/>
              </a:defRPr>
            </a:lvl6pPr>
            <a:lvl7pPr>
              <a:buNone/>
              <a:defRPr sz="1350" b="0">
                <a:solidFill>
                  <a:srgbClr val="64748B"/>
                </a:solidFill>
                <a:latin typeface="Calibri"/>
                <a:ea typeface="Calibri"/>
                <a:cs typeface="Calibri"/>
              </a:defRPr>
            </a:lvl7pPr>
            <a:lvl8pPr>
              <a:buNone/>
              <a:defRPr sz="1350" b="0">
                <a:solidFill>
                  <a:srgbClr val="64748B"/>
                </a:solidFill>
                <a:latin typeface="Calibri"/>
                <a:ea typeface="Calibri"/>
                <a:cs typeface="Calibri"/>
              </a:defRPr>
            </a:lvl8pPr>
            <a:lvl9pPr>
              <a:buNone/>
              <a:defRPr sz="1350" b="0">
                <a:solidFill>
                  <a:srgbClr val="64748B"/>
                </a:solidFill>
                <a:latin typeface="Calibri"/>
                <a:ea typeface="Calibri"/>
                <a:cs typeface="Calibri"/>
              </a:defRPr>
            </a:lvl9pPr>
          </a:lstStyle>
          <a:p xmlns:a="http://schemas.openxmlformats.org/drawingml/2006/main">
            <a:pPr>
              <a:buNone/>
              <a:defRPr sz="1350" b="0">
                <a:solidFill>
                  <a:srgbClr val="64748B"/>
                </a:solidFill>
                <a:latin typeface="Calibri"/>
                <a:ea typeface="Calibri"/>
                <a:cs typeface="Calibri"/>
              </a:defRPr>
            </a:pPr>
            <a:r>
              <a:rPr sz="1350" b="0">
                <a:solidFill>
                  <a:srgbClr val="64748B"/>
                </a:solidFill>
                <a:latin typeface="Calibri"/>
                <a:ea typeface="Calibri"/>
                <a:cs typeface="Calibri"/>
              </a:rPr>
              <a:t>Signal intensity (arbitrary units)</a:t>
            </a:r>
          </a:p>
        </p:txBody>
      </p:sp>
      <p:sp>
        <p:nvSpPr>
          <p:cNvPr id="7" name="Raman shift (cm⁻¹)">
            <a:extLst xmlns:a="http://schemas.openxmlformats.org/drawingml/2006/main">
              <a:ext uri="{FF2B5EF4-FFF2-40B4-BE49-F238E27FC236}">
                <a16:creationId xmlns:a16="http://schemas.microsoft.com/office/drawing/2014/main" id="{6FC51F5C-D855-4F87-A682-1F1B2DF2532D}"/>
              </a:ext>
            </a:extLst>
          </p:cNvPr>
          <p:cNvSpPr>
            <a:spLocks xmlns:a="http://schemas.openxmlformats.org/drawingml/2006/main" noGrp="1"/>
          </p:cNvSpPr>
          <p:nvPr/>
        </p:nvSpPr>
        <p:spPr>
          <a:xfrm xmlns:a="http://schemas.openxmlformats.org/drawingml/2006/main">
            <a:off x="1857375" y="54197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E293B"/>
                </a:solidFill>
                <a:latin typeface="Calibri"/>
                <a:ea typeface="Calibri"/>
                <a:cs typeface="Calibri"/>
              </a:defRPr>
            </a:defPPr>
            <a:lvl1pPr>
              <a:buNone/>
              <a:defRPr sz="1650" b="0">
                <a:solidFill>
                  <a:srgbClr val="1E293B"/>
                </a:solidFill>
                <a:latin typeface="Calibri"/>
                <a:ea typeface="Calibri"/>
                <a:cs typeface="Calibri"/>
              </a:defRPr>
            </a:lvl1pPr>
            <a:lvl2pPr>
              <a:buNone/>
              <a:defRPr sz="1650" b="0">
                <a:solidFill>
                  <a:srgbClr val="1E293B"/>
                </a:solidFill>
                <a:latin typeface="Calibri"/>
                <a:ea typeface="Calibri"/>
                <a:cs typeface="Calibri"/>
              </a:defRPr>
            </a:lvl2pPr>
            <a:lvl3pPr>
              <a:buNone/>
              <a:defRPr sz="1650" b="0">
                <a:solidFill>
                  <a:srgbClr val="1E293B"/>
                </a:solidFill>
                <a:latin typeface="Calibri"/>
                <a:ea typeface="Calibri"/>
                <a:cs typeface="Calibri"/>
              </a:defRPr>
            </a:lvl3pPr>
            <a:lvl4pPr>
              <a:buNone/>
              <a:defRPr sz="1650" b="0">
                <a:solidFill>
                  <a:srgbClr val="1E293B"/>
                </a:solidFill>
                <a:latin typeface="Calibri"/>
                <a:ea typeface="Calibri"/>
                <a:cs typeface="Calibri"/>
              </a:defRPr>
            </a:lvl4pPr>
            <a:lvl5pPr>
              <a:buNone/>
              <a:defRPr sz="1650" b="0">
                <a:solidFill>
                  <a:srgbClr val="1E293B"/>
                </a:solidFill>
                <a:latin typeface="Calibri"/>
                <a:ea typeface="Calibri"/>
                <a:cs typeface="Calibri"/>
              </a:defRPr>
            </a:lvl5pPr>
            <a:lvl6pPr>
              <a:buNone/>
              <a:defRPr sz="1650" b="0">
                <a:solidFill>
                  <a:srgbClr val="1E293B"/>
                </a:solidFill>
                <a:latin typeface="Calibri"/>
                <a:ea typeface="Calibri"/>
                <a:cs typeface="Calibri"/>
              </a:defRPr>
            </a:lvl6pPr>
            <a:lvl7pPr>
              <a:buNone/>
              <a:defRPr sz="1650" b="0">
                <a:solidFill>
                  <a:srgbClr val="1E293B"/>
                </a:solidFill>
                <a:latin typeface="Calibri"/>
                <a:ea typeface="Calibri"/>
                <a:cs typeface="Calibri"/>
              </a:defRPr>
            </a:lvl7pPr>
            <a:lvl8pPr>
              <a:buNone/>
              <a:defRPr sz="1650" b="0">
                <a:solidFill>
                  <a:srgbClr val="1E293B"/>
                </a:solidFill>
                <a:latin typeface="Calibri"/>
                <a:ea typeface="Calibri"/>
                <a:cs typeface="Calibri"/>
              </a:defRPr>
            </a:lvl8pPr>
            <a:lvl9pPr>
              <a:buNone/>
              <a:defRPr sz="1650" b="0">
                <a:solidFill>
                  <a:srgbClr val="1E293B"/>
                </a:solidFill>
                <a:latin typeface="Calibri"/>
                <a:ea typeface="Calibri"/>
                <a:cs typeface="Calibri"/>
              </a:defRPr>
            </a:lvl9pPr>
          </a:lstStyle>
          <a:p xmlns:a="http://schemas.openxmlformats.org/drawingml/2006/main">
            <a:pPr>
              <a:buNone/>
              <a:defRPr sz="1650" b="0">
                <a:solidFill>
                  <a:srgbClr val="1E293B"/>
                </a:solidFill>
                <a:latin typeface="Calibri"/>
                <a:ea typeface="Calibri"/>
                <a:cs typeface="Calibri"/>
              </a:defRPr>
            </a:pPr>
            <a:r>
              <a:rPr sz="1650" b="0">
                <a:solidFill>
                  <a:srgbClr val="1E293B"/>
                </a:solidFill>
                <a:latin typeface="Calibri"/>
                <a:ea typeface="Calibri"/>
                <a:cs typeface="Calibri"/>
              </a:rPr>
              <a:t>Raman shift (cm⁻¹)</a:t>
            </a:r>
          </a:p>
        </p:txBody>
      </p:sp>
      <p:sp>
        <p:nvSpPr>
          <p:cNvPr id="8" name="What produces the signal?">
            <a:extLst xmlns:a="http://schemas.openxmlformats.org/drawingml/2006/main">
              <a:ext uri="{FF2B5EF4-FFF2-40B4-BE49-F238E27FC236}">
                <a16:creationId xmlns:a16="http://schemas.microsoft.com/office/drawing/2014/main" id="{E19319C3-F092-443A-8CD5-4B6CCB3E419C}"/>
              </a:ext>
            </a:extLst>
          </p:cNvPr>
          <p:cNvSpPr>
            <a:spLocks xmlns:a="http://schemas.openxmlformats.org/drawingml/2006/main" noGrp="1"/>
          </p:cNvSpPr>
          <p:nvPr/>
        </p:nvSpPr>
        <p:spPr>
          <a:xfrm xmlns:a="http://schemas.openxmlformats.org/drawingml/2006/main">
            <a:off x="7905750" y="1876425"/>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buNone/>
              <a:defRPr sz="2175" b="0">
                <a:solidFill>
                  <a:srgbClr val="028090"/>
                </a:solidFill>
                <a:latin typeface="Calibri"/>
                <a:ea typeface="Calibri"/>
                <a:cs typeface="Calibri"/>
              </a:defRPr>
            </a:lvl1pPr>
            <a:lvl2pPr>
              <a:buNone/>
              <a:defRPr sz="2175" b="0">
                <a:solidFill>
                  <a:srgbClr val="028090"/>
                </a:solidFill>
                <a:latin typeface="Calibri"/>
                <a:ea typeface="Calibri"/>
                <a:cs typeface="Calibri"/>
              </a:defRPr>
            </a:lvl2pPr>
            <a:lvl3pPr>
              <a:buNone/>
              <a:defRPr sz="2175" b="0">
                <a:solidFill>
                  <a:srgbClr val="028090"/>
                </a:solidFill>
                <a:latin typeface="Calibri"/>
                <a:ea typeface="Calibri"/>
                <a:cs typeface="Calibri"/>
              </a:defRPr>
            </a:lvl3pPr>
            <a:lvl4pPr>
              <a:buNone/>
              <a:defRPr sz="2175" b="0">
                <a:solidFill>
                  <a:srgbClr val="028090"/>
                </a:solidFill>
                <a:latin typeface="Calibri"/>
                <a:ea typeface="Calibri"/>
                <a:cs typeface="Calibri"/>
              </a:defRPr>
            </a:lvl4pPr>
            <a:lvl5pPr>
              <a:buNone/>
              <a:defRPr sz="2175" b="0">
                <a:solidFill>
                  <a:srgbClr val="028090"/>
                </a:solidFill>
                <a:latin typeface="Calibri"/>
                <a:ea typeface="Calibri"/>
                <a:cs typeface="Calibri"/>
              </a:defRPr>
            </a:lvl5pPr>
            <a:lvl6pPr>
              <a:buNone/>
              <a:defRPr sz="2175" b="0">
                <a:solidFill>
                  <a:srgbClr val="028090"/>
                </a:solidFill>
                <a:latin typeface="Calibri"/>
                <a:ea typeface="Calibri"/>
                <a:cs typeface="Calibri"/>
              </a:defRPr>
            </a:lvl6pPr>
            <a:lvl7pPr>
              <a:buNone/>
              <a:defRPr sz="2175" b="0">
                <a:solidFill>
                  <a:srgbClr val="028090"/>
                </a:solidFill>
                <a:latin typeface="Calibri"/>
                <a:ea typeface="Calibri"/>
                <a:cs typeface="Calibri"/>
              </a:defRPr>
            </a:lvl7pPr>
            <a:lvl8pPr>
              <a:buNone/>
              <a:defRPr sz="2175" b="0">
                <a:solidFill>
                  <a:srgbClr val="028090"/>
                </a:solidFill>
                <a:latin typeface="Calibri"/>
                <a:ea typeface="Calibri"/>
                <a:cs typeface="Calibri"/>
              </a:defRPr>
            </a:lvl8pPr>
            <a:lvl9pPr>
              <a:buNone/>
              <a:defRPr sz="2175" b="0">
                <a:solidFill>
                  <a:srgbClr val="028090"/>
                </a:solidFill>
                <a:latin typeface="Calibri"/>
                <a:ea typeface="Calibri"/>
                <a:cs typeface="Calibri"/>
              </a:defRPr>
            </a:lvl9pPr>
          </a:lstStyle>
          <a:p xmlns:a="http://schemas.openxmlformats.org/drawingml/2006/main">
            <a:pPr>
              <a:buNone/>
              <a:defRPr sz="2175" b="0">
                <a:solidFill>
                  <a:srgbClr val="028090"/>
                </a:solidFill>
                <a:latin typeface="Calibri"/>
                <a:ea typeface="Calibri"/>
                <a:cs typeface="Calibri"/>
              </a:defRPr>
            </a:pPr>
            <a:r>
              <a:rPr sz="2175" b="0">
                <a:solidFill>
                  <a:srgbClr val="028090"/>
                </a:solidFill>
                <a:latin typeface="Calibri"/>
                <a:ea typeface="Calibri"/>
                <a:cs typeface="Calibri"/>
              </a:rPr>
              <a:t>What produces the signal?</a:t>
            </a:r>
          </a:p>
        </p:txBody>
      </p:sp>
      <p:sp>
        <p:nvSpPr>
          <p:cNvPr id="9" name="Laser light exchanges energy with molecular vibrations.">
            <a:extLst xmlns:a="http://schemas.openxmlformats.org/drawingml/2006/main">
              <a:ext uri="{FF2B5EF4-FFF2-40B4-BE49-F238E27FC236}">
                <a16:creationId xmlns:a16="http://schemas.microsoft.com/office/drawing/2014/main" id="{FC82E44C-066B-4B29-8F36-8EA3D7F75F4F}"/>
              </a:ext>
            </a:extLst>
          </p:cNvPr>
          <p:cNvSpPr>
            <a:spLocks xmlns:a="http://schemas.openxmlformats.org/drawingml/2006/main" noGrp="1"/>
          </p:cNvSpPr>
          <p:nvPr/>
        </p:nvSpPr>
        <p:spPr>
          <a:xfrm xmlns:a="http://schemas.openxmlformats.org/drawingml/2006/main">
            <a:off x="7905750" y="23812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Laser light exchanges energy with molecular vibrations.</a:t>
            </a:r>
          </a:p>
        </p:txBody>
      </p:sp>
      <p:sp>
        <p:nvSpPr>
          <p:cNvPr id="10" name="What do the peaks tell us?">
            <a:extLst xmlns:a="http://schemas.openxmlformats.org/drawingml/2006/main">
              <a:ext uri="{FF2B5EF4-FFF2-40B4-BE49-F238E27FC236}">
                <a16:creationId xmlns:a16="http://schemas.microsoft.com/office/drawing/2014/main" id="{9CF6838E-14CA-44A8-91F5-62FF49980A6B}"/>
              </a:ext>
            </a:extLst>
          </p:cNvPr>
          <p:cNvSpPr>
            <a:spLocks xmlns:a="http://schemas.openxmlformats.org/drawingml/2006/main" noGrp="1"/>
          </p:cNvSpPr>
          <p:nvPr/>
        </p:nvSpPr>
        <p:spPr>
          <a:xfrm xmlns:a="http://schemas.openxmlformats.org/drawingml/2006/main">
            <a:off x="7905750" y="352425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buNone/>
              <a:defRPr sz="2175" b="0">
                <a:solidFill>
                  <a:srgbClr val="028090"/>
                </a:solidFill>
                <a:latin typeface="Calibri"/>
                <a:ea typeface="Calibri"/>
                <a:cs typeface="Calibri"/>
              </a:defRPr>
            </a:lvl1pPr>
            <a:lvl2pPr>
              <a:buNone/>
              <a:defRPr sz="2175" b="0">
                <a:solidFill>
                  <a:srgbClr val="028090"/>
                </a:solidFill>
                <a:latin typeface="Calibri"/>
                <a:ea typeface="Calibri"/>
                <a:cs typeface="Calibri"/>
              </a:defRPr>
            </a:lvl2pPr>
            <a:lvl3pPr>
              <a:buNone/>
              <a:defRPr sz="2175" b="0">
                <a:solidFill>
                  <a:srgbClr val="028090"/>
                </a:solidFill>
                <a:latin typeface="Calibri"/>
                <a:ea typeface="Calibri"/>
                <a:cs typeface="Calibri"/>
              </a:defRPr>
            </a:lvl3pPr>
            <a:lvl4pPr>
              <a:buNone/>
              <a:defRPr sz="2175" b="0">
                <a:solidFill>
                  <a:srgbClr val="028090"/>
                </a:solidFill>
                <a:latin typeface="Calibri"/>
                <a:ea typeface="Calibri"/>
                <a:cs typeface="Calibri"/>
              </a:defRPr>
            </a:lvl4pPr>
            <a:lvl5pPr>
              <a:buNone/>
              <a:defRPr sz="2175" b="0">
                <a:solidFill>
                  <a:srgbClr val="028090"/>
                </a:solidFill>
                <a:latin typeface="Calibri"/>
                <a:ea typeface="Calibri"/>
                <a:cs typeface="Calibri"/>
              </a:defRPr>
            </a:lvl5pPr>
            <a:lvl6pPr>
              <a:buNone/>
              <a:defRPr sz="2175" b="0">
                <a:solidFill>
                  <a:srgbClr val="028090"/>
                </a:solidFill>
                <a:latin typeface="Calibri"/>
                <a:ea typeface="Calibri"/>
                <a:cs typeface="Calibri"/>
              </a:defRPr>
            </a:lvl6pPr>
            <a:lvl7pPr>
              <a:buNone/>
              <a:defRPr sz="2175" b="0">
                <a:solidFill>
                  <a:srgbClr val="028090"/>
                </a:solidFill>
                <a:latin typeface="Calibri"/>
                <a:ea typeface="Calibri"/>
                <a:cs typeface="Calibri"/>
              </a:defRPr>
            </a:lvl7pPr>
            <a:lvl8pPr>
              <a:buNone/>
              <a:defRPr sz="2175" b="0">
                <a:solidFill>
                  <a:srgbClr val="028090"/>
                </a:solidFill>
                <a:latin typeface="Calibri"/>
                <a:ea typeface="Calibri"/>
                <a:cs typeface="Calibri"/>
              </a:defRPr>
            </a:lvl8pPr>
            <a:lvl9pPr>
              <a:buNone/>
              <a:defRPr sz="2175" b="0">
                <a:solidFill>
                  <a:srgbClr val="028090"/>
                </a:solidFill>
                <a:latin typeface="Calibri"/>
                <a:ea typeface="Calibri"/>
                <a:cs typeface="Calibri"/>
              </a:defRPr>
            </a:lvl9pPr>
          </a:lstStyle>
          <a:p xmlns:a="http://schemas.openxmlformats.org/drawingml/2006/main">
            <a:pPr>
              <a:buNone/>
              <a:defRPr sz="2175" b="0">
                <a:solidFill>
                  <a:srgbClr val="028090"/>
                </a:solidFill>
                <a:latin typeface="Calibri"/>
                <a:ea typeface="Calibri"/>
                <a:cs typeface="Calibri"/>
              </a:defRPr>
            </a:pPr>
            <a:r>
              <a:rPr sz="2175" b="0">
                <a:solidFill>
                  <a:srgbClr val="028090"/>
                </a:solidFill>
                <a:latin typeface="Calibri"/>
                <a:ea typeface="Calibri"/>
                <a:cs typeface="Calibri"/>
              </a:rPr>
              <a:t>What do the peaks tell us?</a:t>
            </a:r>
          </a:p>
        </p:txBody>
      </p:sp>
      <p:sp>
        <p:nvSpPr>
          <p:cNvPr id="11" name="Peak positions reflect vibrations. The overall pattern helps distingui">
            <a:extLst xmlns:a="http://schemas.openxmlformats.org/drawingml/2006/main">
              <a:ext uri="{FF2B5EF4-FFF2-40B4-BE49-F238E27FC236}">
                <a16:creationId xmlns:a16="http://schemas.microsoft.com/office/drawing/2014/main" id="{2028FF51-E32C-4B89-94E4-5FCF4E0A5BCF}"/>
              </a:ext>
            </a:extLst>
          </p:cNvPr>
          <p:cNvSpPr>
            <a:spLocks xmlns:a="http://schemas.openxmlformats.org/drawingml/2006/main" noGrp="1"/>
          </p:cNvSpPr>
          <p:nvPr/>
        </p:nvSpPr>
        <p:spPr>
          <a:xfrm xmlns:a="http://schemas.openxmlformats.org/drawingml/2006/main">
            <a:off x="7905750" y="4038600"/>
            <a:ext cx="3619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Peak positions reflect vibrations.</a:t>
            </a:r>
          </a:p>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The overall pattern helps distinguish compounds.</a:t>
            </a:r>
          </a:p>
        </p:txBody>
      </p:sp>
      <p:sp>
        <p:nvSpPr>
          <p:cNvPr id="12" name="Goal here: identify which known compound best matches a measured spect">
            <a:extLst xmlns:a="http://schemas.openxmlformats.org/drawingml/2006/main">
              <a:ext uri="{FF2B5EF4-FFF2-40B4-BE49-F238E27FC236}">
                <a16:creationId xmlns:a16="http://schemas.microsoft.com/office/drawing/2014/main" id="{CA4A42E3-0A54-4516-B349-76FCB1BA9A3A}"/>
              </a:ext>
            </a:extLst>
          </p:cNvPr>
          <p:cNvSpPr>
            <a:spLocks xmlns:a="http://schemas.openxmlformats.org/drawingml/2006/main" noGrp="1"/>
          </p:cNvSpPr>
          <p:nvPr/>
        </p:nvSpPr>
        <p:spPr>
          <a:xfrm xmlns:a="http://schemas.openxmlformats.org/drawingml/2006/main">
            <a:off x="685800" y="59150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28090"/>
                </a:solidFill>
                <a:latin typeface="Calibri"/>
                <a:ea typeface="Calibri"/>
                <a:cs typeface="Calibri"/>
              </a:defRPr>
            </a:defPPr>
            <a:lvl1pPr>
              <a:buNone/>
              <a:defRPr sz="2100" b="0">
                <a:solidFill>
                  <a:srgbClr val="028090"/>
                </a:solidFill>
                <a:latin typeface="Calibri"/>
                <a:ea typeface="Calibri"/>
                <a:cs typeface="Calibri"/>
              </a:defRPr>
            </a:lvl1pPr>
            <a:lvl2pPr>
              <a:buNone/>
              <a:defRPr sz="2100" b="0">
                <a:solidFill>
                  <a:srgbClr val="028090"/>
                </a:solidFill>
                <a:latin typeface="Calibri"/>
                <a:ea typeface="Calibri"/>
                <a:cs typeface="Calibri"/>
              </a:defRPr>
            </a:lvl2pPr>
            <a:lvl3pPr>
              <a:buNone/>
              <a:defRPr sz="2100" b="0">
                <a:solidFill>
                  <a:srgbClr val="028090"/>
                </a:solidFill>
                <a:latin typeface="Calibri"/>
                <a:ea typeface="Calibri"/>
                <a:cs typeface="Calibri"/>
              </a:defRPr>
            </a:lvl3pPr>
            <a:lvl4pPr>
              <a:buNone/>
              <a:defRPr sz="2100" b="0">
                <a:solidFill>
                  <a:srgbClr val="028090"/>
                </a:solidFill>
                <a:latin typeface="Calibri"/>
                <a:ea typeface="Calibri"/>
                <a:cs typeface="Calibri"/>
              </a:defRPr>
            </a:lvl4pPr>
            <a:lvl5pPr>
              <a:buNone/>
              <a:defRPr sz="2100" b="0">
                <a:solidFill>
                  <a:srgbClr val="028090"/>
                </a:solidFill>
                <a:latin typeface="Calibri"/>
                <a:ea typeface="Calibri"/>
                <a:cs typeface="Calibri"/>
              </a:defRPr>
            </a:lvl5pPr>
            <a:lvl6pPr>
              <a:buNone/>
              <a:defRPr sz="2100" b="0">
                <a:solidFill>
                  <a:srgbClr val="028090"/>
                </a:solidFill>
                <a:latin typeface="Calibri"/>
                <a:ea typeface="Calibri"/>
                <a:cs typeface="Calibri"/>
              </a:defRPr>
            </a:lvl6pPr>
            <a:lvl7pPr>
              <a:buNone/>
              <a:defRPr sz="2100" b="0">
                <a:solidFill>
                  <a:srgbClr val="028090"/>
                </a:solidFill>
                <a:latin typeface="Calibri"/>
                <a:ea typeface="Calibri"/>
                <a:cs typeface="Calibri"/>
              </a:defRPr>
            </a:lvl7pPr>
            <a:lvl8pPr>
              <a:buNone/>
              <a:defRPr sz="2100" b="0">
                <a:solidFill>
                  <a:srgbClr val="028090"/>
                </a:solidFill>
                <a:latin typeface="Calibri"/>
                <a:ea typeface="Calibri"/>
                <a:cs typeface="Calibri"/>
              </a:defRPr>
            </a:lvl8pPr>
            <a:lvl9pPr>
              <a:buNone/>
              <a:defRPr sz="2100" b="0">
                <a:solidFill>
                  <a:srgbClr val="028090"/>
                </a:solidFill>
                <a:latin typeface="Calibri"/>
                <a:ea typeface="Calibri"/>
                <a:cs typeface="Calibri"/>
              </a:defRPr>
            </a:lvl9pPr>
          </a:lstStyle>
          <a:p xmlns:a="http://schemas.openxmlformats.org/drawingml/2006/main">
            <a:pPr>
              <a:buNone/>
              <a:defRPr sz="2100" b="0">
                <a:solidFill>
                  <a:srgbClr val="028090"/>
                </a:solidFill>
                <a:latin typeface="Calibri"/>
                <a:ea typeface="Calibri"/>
                <a:cs typeface="Calibri"/>
              </a:defRPr>
            </a:pPr>
            <a:r>
              <a:rPr sz="2100" b="0">
                <a:solidFill>
                  <a:srgbClr val="028090"/>
                </a:solidFill>
                <a:latin typeface="Calibri"/>
                <a:ea typeface="Calibri"/>
                <a:cs typeface="Calibri"/>
              </a:rPr>
              <a:t>Goal here: identify microorganisms from single-cell Raman fingerprints.</a:t>
            </a:r>
          </a:p>
        </p:txBody>
      </p:sp>
      <p:sp>
        <p:nvSpPr>
          <p:cNvPr id="13" name="4">
            <a:extLst xmlns:a="http://schemas.openxmlformats.org/drawingml/2006/main">
              <a:ext uri="{FF2B5EF4-FFF2-40B4-BE49-F238E27FC236}">
                <a16:creationId xmlns:a16="http://schemas.microsoft.com/office/drawing/2014/main" id="{C0CB9975-2981-4715-962A-E28B43AC0DB6}"/>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4</a:t>
            </a:r>
          </a:p>
        </p:txBody>
      </p:sp>
    </p:spTree>
    <p:extLst>
      <p:ext uri="{BB962C8B-B14F-4D97-AF65-F5344CB8AC3E}">
        <p14:creationId xmlns:p14="http://schemas.microsoft.com/office/powerpoint/2010/main" val="1720313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aman: identifying microorganisms directly">
            <a:extLst xmlns:a="http://schemas.openxmlformats.org/drawingml/2006/main">
              <a:ext uri="{FF2B5EF4-FFF2-40B4-BE49-F238E27FC236}">
                <a16:creationId xmlns:a16="http://schemas.microsoft.com/office/drawing/2014/main" id="{2AE2924D-C8EE-432C-A12B-F1CA08E0921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1E293B"/>
                </a:solidFill>
                <a:latin typeface="Cambria"/>
                <a:ea typeface="Cambria"/>
                <a:cs typeface="Cambria"/>
              </a:defRPr>
            </a:defPPr>
            <a:lvl1pPr>
              <a:defRPr sz="3150" b="0">
                <a:solidFill>
                  <a:srgbClr val="1E293B"/>
                </a:solidFill>
                <a:latin typeface="Cambria"/>
                <a:ea typeface="Cambria"/>
                <a:cs typeface="Cambria"/>
              </a:defRPr>
            </a:lvl1pPr>
            <a:lvl2pPr>
              <a:defRPr sz="3150" b="0">
                <a:solidFill>
                  <a:srgbClr val="1E293B"/>
                </a:solidFill>
                <a:latin typeface="Cambria"/>
                <a:ea typeface="Cambria"/>
                <a:cs typeface="Cambria"/>
              </a:defRPr>
            </a:lvl2pPr>
            <a:lvl3pPr>
              <a:defRPr sz="3150" b="0">
                <a:solidFill>
                  <a:srgbClr val="1E293B"/>
                </a:solidFill>
                <a:latin typeface="Cambria"/>
                <a:ea typeface="Cambria"/>
                <a:cs typeface="Cambria"/>
              </a:defRPr>
            </a:lvl3pPr>
            <a:lvl4pPr>
              <a:defRPr sz="3150" b="0">
                <a:solidFill>
                  <a:srgbClr val="1E293B"/>
                </a:solidFill>
                <a:latin typeface="Cambria"/>
                <a:ea typeface="Cambria"/>
                <a:cs typeface="Cambria"/>
              </a:defRPr>
            </a:lvl4pPr>
            <a:lvl5pPr>
              <a:defRPr sz="3150" b="0">
                <a:solidFill>
                  <a:srgbClr val="1E293B"/>
                </a:solidFill>
                <a:latin typeface="Cambria"/>
                <a:ea typeface="Cambria"/>
                <a:cs typeface="Cambria"/>
              </a:defRPr>
            </a:lvl5pPr>
            <a:lvl6pPr>
              <a:defRPr sz="3150" b="0">
                <a:solidFill>
                  <a:srgbClr val="1E293B"/>
                </a:solidFill>
                <a:latin typeface="Cambria"/>
                <a:ea typeface="Cambria"/>
                <a:cs typeface="Cambria"/>
              </a:defRPr>
            </a:lvl6pPr>
            <a:lvl7pPr>
              <a:defRPr sz="3150" b="0">
                <a:solidFill>
                  <a:srgbClr val="1E293B"/>
                </a:solidFill>
                <a:latin typeface="Cambria"/>
                <a:ea typeface="Cambria"/>
                <a:cs typeface="Cambria"/>
              </a:defRPr>
            </a:lvl7pPr>
            <a:lvl8pPr>
              <a:defRPr sz="3150" b="0">
                <a:solidFill>
                  <a:srgbClr val="1E293B"/>
                </a:solidFill>
                <a:latin typeface="Cambria"/>
                <a:ea typeface="Cambria"/>
                <a:cs typeface="Cambria"/>
              </a:defRPr>
            </a:lvl8pPr>
            <a:lvl9pPr>
              <a:defRPr sz="3150" b="0">
                <a:solidFill>
                  <a:srgbClr val="1E293B"/>
                </a:solidFill>
                <a:latin typeface="Cambria"/>
                <a:ea typeface="Cambria"/>
                <a:cs typeface="Cambria"/>
              </a:defRPr>
            </a:lvl9pPr>
          </a:lstStyle>
          <a:p xmlns:a="http://schemas.openxmlformats.org/drawingml/2006/main">
            <a:pPr>
              <a:defRPr sz="3150" b="0">
                <a:solidFill>
                  <a:srgbClr val="1E293B"/>
                </a:solidFill>
                <a:latin typeface="Cambria"/>
                <a:ea typeface="Cambria"/>
                <a:cs typeface="Cambria"/>
              </a:defRPr>
            </a:pPr>
            <a:r>
              <a:rPr sz="3150" b="0">
                <a:solidFill>
                  <a:srgbClr val="1E293B"/>
                </a:solidFill>
                <a:latin typeface="Cambria"/>
                <a:ea typeface="Cambria"/>
                <a:cs typeface="Cambria"/>
              </a:rPr>
              <a:t>Raman: identifying microorganisms directly</a:t>
            </a:r>
          </a:p>
        </p:txBody>
      </p:sp>
      <p:sp>
        <p:nvSpPr>
          <p:cNvPr id="2" name="Question: which microorganism is present in the sample?">
            <a:extLst xmlns:a="http://schemas.openxmlformats.org/drawingml/2006/main">
              <a:ext uri="{FF2B5EF4-FFF2-40B4-BE49-F238E27FC236}">
                <a16:creationId xmlns:a16="http://schemas.microsoft.com/office/drawing/2014/main" id="{6D96C389-5B94-45CC-8FC7-714D278EFBF5}"/>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E293B"/>
                </a:solidFill>
                <a:latin typeface="Calibri"/>
                <a:ea typeface="Calibri"/>
                <a:cs typeface="Calibri"/>
              </a:defRPr>
            </a:defPPr>
            <a:lvl1pPr>
              <a:defRPr sz="2025" b="0">
                <a:solidFill>
                  <a:srgbClr val="1E293B"/>
                </a:solidFill>
                <a:latin typeface="Calibri"/>
                <a:ea typeface="Calibri"/>
                <a:cs typeface="Calibri"/>
              </a:defRPr>
            </a:lvl1pPr>
            <a:lvl2pPr>
              <a:defRPr sz="2025" b="0">
                <a:solidFill>
                  <a:srgbClr val="1E293B"/>
                </a:solidFill>
                <a:latin typeface="Calibri"/>
                <a:ea typeface="Calibri"/>
                <a:cs typeface="Calibri"/>
              </a:defRPr>
            </a:lvl2pPr>
            <a:lvl3pPr>
              <a:defRPr sz="2025" b="0">
                <a:solidFill>
                  <a:srgbClr val="1E293B"/>
                </a:solidFill>
                <a:latin typeface="Calibri"/>
                <a:ea typeface="Calibri"/>
                <a:cs typeface="Calibri"/>
              </a:defRPr>
            </a:lvl3pPr>
            <a:lvl4pPr>
              <a:defRPr sz="2025" b="0">
                <a:solidFill>
                  <a:srgbClr val="1E293B"/>
                </a:solidFill>
                <a:latin typeface="Calibri"/>
                <a:ea typeface="Calibri"/>
                <a:cs typeface="Calibri"/>
              </a:defRPr>
            </a:lvl4pPr>
            <a:lvl5pPr>
              <a:defRPr sz="2025" b="0">
                <a:solidFill>
                  <a:srgbClr val="1E293B"/>
                </a:solidFill>
                <a:latin typeface="Calibri"/>
                <a:ea typeface="Calibri"/>
                <a:cs typeface="Calibri"/>
              </a:defRPr>
            </a:lvl5pPr>
            <a:lvl6pPr>
              <a:defRPr sz="2025" b="0">
                <a:solidFill>
                  <a:srgbClr val="1E293B"/>
                </a:solidFill>
                <a:latin typeface="Calibri"/>
                <a:ea typeface="Calibri"/>
                <a:cs typeface="Calibri"/>
              </a:defRPr>
            </a:lvl6pPr>
            <a:lvl7pPr>
              <a:defRPr sz="2025" b="0">
                <a:solidFill>
                  <a:srgbClr val="1E293B"/>
                </a:solidFill>
                <a:latin typeface="Calibri"/>
                <a:ea typeface="Calibri"/>
                <a:cs typeface="Calibri"/>
              </a:defRPr>
            </a:lvl7pPr>
            <a:lvl8pPr>
              <a:defRPr sz="2025" b="0">
                <a:solidFill>
                  <a:srgbClr val="1E293B"/>
                </a:solidFill>
                <a:latin typeface="Calibri"/>
                <a:ea typeface="Calibri"/>
                <a:cs typeface="Calibri"/>
              </a:defRPr>
            </a:lvl8pPr>
            <a:lvl9pPr>
              <a:defRPr sz="2025" b="0">
                <a:solidFill>
                  <a:srgbClr val="1E293B"/>
                </a:solidFill>
                <a:latin typeface="Calibri"/>
                <a:ea typeface="Calibri"/>
                <a:cs typeface="Calibri"/>
              </a:defRPr>
            </a:lvl9pPr>
          </a:lstStyle>
          <a:p xmlns:a="http://schemas.openxmlformats.org/drawingml/2006/main">
            <a:pPr>
              <a:defRPr sz="2025" b="0">
                <a:solidFill>
                  <a:srgbClr val="1E293B"/>
                </a:solidFill>
                <a:latin typeface="Calibri"/>
                <a:ea typeface="Calibri"/>
                <a:cs typeface="Calibri"/>
              </a:defRPr>
            </a:pPr>
            <a:r>
              <a:rPr sz="2025" b="0">
                <a:solidFill>
                  <a:srgbClr val="1E293B"/>
                </a:solidFill>
                <a:latin typeface="Calibri"/>
                <a:ea typeface="Calibri"/>
                <a:cs typeface="Calibri"/>
              </a:rPr>
              <a:t>Question: which microorganism is present in the sample?</a:t>
            </a:r>
          </a:p>
        </p:txBody>
      </p:sp>
      <p:sp>
        <p:nvSpPr>
          <p:cNvPr id="3" name="Li et al., Nature Communications 17, 283 (2026), Fig. 1b, cropped. CC ">
            <a:extLst xmlns:a="http://schemas.openxmlformats.org/drawingml/2006/main">
              <a:ext uri="{FF2B5EF4-FFF2-40B4-BE49-F238E27FC236}">
                <a16:creationId xmlns:a16="http://schemas.microsoft.com/office/drawing/2014/main" id="{82418FFC-13C7-400C-8D6D-AB2C371DF4DD}"/>
              </a:ext>
            </a:extLst>
          </p:cNvPr>
          <p:cNvSpPr>
            <a:spLocks xmlns:a="http://schemas.openxmlformats.org/drawingml/2006/main" noGrp="1"/>
          </p:cNvSpPr>
          <p:nvPr/>
        </p:nvSpPr>
        <p:spPr>
          <a:xfrm xmlns:a="http://schemas.openxmlformats.org/drawingml/2006/main">
            <a:off x="609600" y="6496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c2f49c183429400a"/>
              </a:rPr>
              <a:t>Li et al., Nature Communications 17, 283 (2026), Fig. 1b, cropped. CC BY 4.0</a:t>
            </a:r>
          </a:p>
        </p:txBody>
      </p:sp>
      <p:sp>
        <p:nvSpPr>
          <p:cNvPr id="4" name="5">
            <a:extLst xmlns:a="http://schemas.openxmlformats.org/drawingml/2006/main">
              <a:ext uri="{FF2B5EF4-FFF2-40B4-BE49-F238E27FC236}">
                <a16:creationId xmlns:a16="http://schemas.microsoft.com/office/drawing/2014/main" id="{59627468-9A8A-412C-9DF0-E114C0B1A133}"/>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rPr>
              <a:t>5</a:t>
            </a:r>
          </a:p>
        </p:txBody>
      </p:sp>
      <p:pic>
        <p:nvPicPr>
          <p:cNvPr id="5" name="">
            <a:extLst xmlns:a="http://schemas.openxmlformats.org/drawingml/2006/main">
              <a:ext uri="{FF2B5EF4-FFF2-40B4-BE49-F238E27FC236}">
                <a16:creationId xmlns:a16="http://schemas.microsoft.com/office/drawing/2014/main" id="{BC53612B-54E8-4077-8240-D30BE968F654}"/>
              </a:ext>
            </a:extLst>
          </p:cNvPr>
          <p:cNvPicPr>
            <a:picLocks xmlns:a="http://schemas.openxmlformats.org/drawingml/2006/main" noChangeAspect="1"/>
          </p:cNvPicPr>
          <p:nvPr/>
        </p:nvPicPr>
        <p:blipFill>
          <a:blip xmlns:r="http://schemas.openxmlformats.org/officeDocument/2006/relationships" xmlns:a="http://schemas.openxmlformats.org/drawingml/2006/main" r:embed="Ra10cf504fda94b62"/>
          <a:srcRect xmlns:a="http://schemas.openxmlformats.org/drawingml/2006/main" l="8000" t="33700" r="0" b="33800"/>
          <a:stretch xmlns:a="http://schemas.openxmlformats.org/drawingml/2006/main"/>
        </p:blipFill>
        <p:spPr>
          <a:xfrm xmlns:a="http://schemas.openxmlformats.org/drawingml/2006/main">
            <a:off x="609600" y="1743075"/>
            <a:ext cx="10972800" cy="2771775"/>
          </a:xfrm>
          <a:prstGeom xmlns:a="http://schemas.openxmlformats.org/drawingml/2006/main" prst="rect">
            <a:avLst/>
          </a:prstGeom>
        </p:spPr>
      </p:pic>
      <p:sp>
        <p:nvSpPr>
          <p:cNvPr id="6" name="1  Enrich the sample&#10;Collect microbial cells.">
            <a:extLst xmlns:a="http://schemas.openxmlformats.org/drawingml/2006/main">
              <a:ext uri="{FF2B5EF4-FFF2-40B4-BE49-F238E27FC236}">
                <a16:creationId xmlns:a16="http://schemas.microsoft.com/office/drawing/2014/main" id="{03F5E900-41F2-4F88-9BD4-46462F473FCC}"/>
              </a:ext>
            </a:extLst>
          </p:cNvPr>
          <p:cNvSpPr>
            <a:spLocks xmlns:a="http://schemas.openxmlformats.org/drawingml/2006/main" noGrp="1"/>
          </p:cNvSpPr>
          <p:nvPr/>
        </p:nvSpPr>
        <p:spPr>
          <a:xfrm xmlns:a="http://schemas.openxmlformats.org/drawingml/2006/main">
            <a:off x="628650" y="4857750"/>
            <a:ext cx="3362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028090"/>
                </a:solidFill>
                <a:latin typeface="Calibri"/>
                <a:ea typeface="Calibri"/>
                <a:cs typeface="Calibri"/>
              </a:defRPr>
            </a:defPPr>
            <a:lvl1pPr>
              <a:defRPr sz="1875" b="0">
                <a:solidFill>
                  <a:srgbClr val="028090"/>
                </a:solidFill>
                <a:latin typeface="Calibri"/>
                <a:ea typeface="Calibri"/>
                <a:cs typeface="Calibri"/>
              </a:defRPr>
            </a:lvl1pPr>
            <a:lvl2pPr>
              <a:defRPr sz="1875" b="0">
                <a:solidFill>
                  <a:srgbClr val="028090"/>
                </a:solidFill>
                <a:latin typeface="Calibri"/>
                <a:ea typeface="Calibri"/>
                <a:cs typeface="Calibri"/>
              </a:defRPr>
            </a:lvl2pPr>
            <a:lvl3pPr>
              <a:defRPr sz="1875" b="0">
                <a:solidFill>
                  <a:srgbClr val="028090"/>
                </a:solidFill>
                <a:latin typeface="Calibri"/>
                <a:ea typeface="Calibri"/>
                <a:cs typeface="Calibri"/>
              </a:defRPr>
            </a:lvl3pPr>
            <a:lvl4pPr>
              <a:defRPr sz="1875" b="0">
                <a:solidFill>
                  <a:srgbClr val="028090"/>
                </a:solidFill>
                <a:latin typeface="Calibri"/>
                <a:ea typeface="Calibri"/>
                <a:cs typeface="Calibri"/>
              </a:defRPr>
            </a:lvl4pPr>
            <a:lvl5pPr>
              <a:defRPr sz="1875" b="0">
                <a:solidFill>
                  <a:srgbClr val="028090"/>
                </a:solidFill>
                <a:latin typeface="Calibri"/>
                <a:ea typeface="Calibri"/>
                <a:cs typeface="Calibri"/>
              </a:defRPr>
            </a:lvl5pPr>
            <a:lvl6pPr>
              <a:defRPr sz="1875" b="0">
                <a:solidFill>
                  <a:srgbClr val="028090"/>
                </a:solidFill>
                <a:latin typeface="Calibri"/>
                <a:ea typeface="Calibri"/>
                <a:cs typeface="Calibri"/>
              </a:defRPr>
            </a:lvl6pPr>
            <a:lvl7pPr>
              <a:defRPr sz="1875" b="0">
                <a:solidFill>
                  <a:srgbClr val="028090"/>
                </a:solidFill>
                <a:latin typeface="Calibri"/>
                <a:ea typeface="Calibri"/>
                <a:cs typeface="Calibri"/>
              </a:defRPr>
            </a:lvl7pPr>
            <a:lvl8pPr>
              <a:defRPr sz="1875" b="0">
                <a:solidFill>
                  <a:srgbClr val="028090"/>
                </a:solidFill>
                <a:latin typeface="Calibri"/>
                <a:ea typeface="Calibri"/>
                <a:cs typeface="Calibri"/>
              </a:defRPr>
            </a:lvl8pPr>
            <a:lvl9pPr>
              <a:defRPr sz="1875" b="0">
                <a:solidFill>
                  <a:srgbClr val="028090"/>
                </a:solidFill>
                <a:latin typeface="Calibri"/>
                <a:ea typeface="Calibri"/>
                <a:cs typeface="Calibri"/>
              </a:defRPr>
            </a:lvl9pPr>
          </a:lstStyle>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1  Enrich the sample</a:t>
            </a:r>
          </a:p>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Collect microbial cells.</a:t>
            </a:r>
          </a:p>
        </p:txBody>
      </p:sp>
      <p:sp>
        <p:nvSpPr>
          <p:cNvPr id="7" name="2  Learn spectral patterns&#10;A CNN learns from known species.">
            <a:extLst xmlns:a="http://schemas.openxmlformats.org/drawingml/2006/main">
              <a:ext uri="{FF2B5EF4-FFF2-40B4-BE49-F238E27FC236}">
                <a16:creationId xmlns:a16="http://schemas.microsoft.com/office/drawing/2014/main" id="{43D62016-9255-42A0-B4A0-02BD6CB29936}"/>
              </a:ext>
            </a:extLst>
          </p:cNvPr>
          <p:cNvSpPr>
            <a:spLocks xmlns:a="http://schemas.openxmlformats.org/drawingml/2006/main" noGrp="1"/>
          </p:cNvSpPr>
          <p:nvPr/>
        </p:nvSpPr>
        <p:spPr>
          <a:xfrm xmlns:a="http://schemas.openxmlformats.org/drawingml/2006/main">
            <a:off x="4333875" y="4857750"/>
            <a:ext cx="3362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028090"/>
                </a:solidFill>
                <a:latin typeface="Calibri"/>
                <a:ea typeface="Calibri"/>
                <a:cs typeface="Calibri"/>
              </a:defRPr>
            </a:defPPr>
            <a:lvl1pPr>
              <a:defRPr sz="1875" b="0">
                <a:solidFill>
                  <a:srgbClr val="028090"/>
                </a:solidFill>
                <a:latin typeface="Calibri"/>
                <a:ea typeface="Calibri"/>
                <a:cs typeface="Calibri"/>
              </a:defRPr>
            </a:lvl1pPr>
            <a:lvl2pPr>
              <a:defRPr sz="1875" b="0">
                <a:solidFill>
                  <a:srgbClr val="028090"/>
                </a:solidFill>
                <a:latin typeface="Calibri"/>
                <a:ea typeface="Calibri"/>
                <a:cs typeface="Calibri"/>
              </a:defRPr>
            </a:lvl2pPr>
            <a:lvl3pPr>
              <a:defRPr sz="1875" b="0">
                <a:solidFill>
                  <a:srgbClr val="028090"/>
                </a:solidFill>
                <a:latin typeface="Calibri"/>
                <a:ea typeface="Calibri"/>
                <a:cs typeface="Calibri"/>
              </a:defRPr>
            </a:lvl3pPr>
            <a:lvl4pPr>
              <a:defRPr sz="1875" b="0">
                <a:solidFill>
                  <a:srgbClr val="028090"/>
                </a:solidFill>
                <a:latin typeface="Calibri"/>
                <a:ea typeface="Calibri"/>
                <a:cs typeface="Calibri"/>
              </a:defRPr>
            </a:lvl4pPr>
            <a:lvl5pPr>
              <a:defRPr sz="1875" b="0">
                <a:solidFill>
                  <a:srgbClr val="028090"/>
                </a:solidFill>
                <a:latin typeface="Calibri"/>
                <a:ea typeface="Calibri"/>
                <a:cs typeface="Calibri"/>
              </a:defRPr>
            </a:lvl5pPr>
            <a:lvl6pPr>
              <a:defRPr sz="1875" b="0">
                <a:solidFill>
                  <a:srgbClr val="028090"/>
                </a:solidFill>
                <a:latin typeface="Calibri"/>
                <a:ea typeface="Calibri"/>
                <a:cs typeface="Calibri"/>
              </a:defRPr>
            </a:lvl6pPr>
            <a:lvl7pPr>
              <a:defRPr sz="1875" b="0">
                <a:solidFill>
                  <a:srgbClr val="028090"/>
                </a:solidFill>
                <a:latin typeface="Calibri"/>
                <a:ea typeface="Calibri"/>
                <a:cs typeface="Calibri"/>
              </a:defRPr>
            </a:lvl7pPr>
            <a:lvl8pPr>
              <a:defRPr sz="1875" b="0">
                <a:solidFill>
                  <a:srgbClr val="028090"/>
                </a:solidFill>
                <a:latin typeface="Calibri"/>
                <a:ea typeface="Calibri"/>
                <a:cs typeface="Calibri"/>
              </a:defRPr>
            </a:lvl8pPr>
            <a:lvl9pPr>
              <a:defRPr sz="1875" b="0">
                <a:solidFill>
                  <a:srgbClr val="028090"/>
                </a:solidFill>
                <a:latin typeface="Calibri"/>
                <a:ea typeface="Calibri"/>
                <a:cs typeface="Calibri"/>
              </a:defRPr>
            </a:lvl9pPr>
          </a:lstStyle>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2  Learn spectral patterns</a:t>
            </a:r>
          </a:p>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A CNN learns from known species.</a:t>
            </a:r>
          </a:p>
        </p:txBody>
      </p:sp>
      <p:sp>
        <p:nvSpPr>
          <p:cNvPr id="8" name="3  Combine cell predictions&#10;Several cells contribute to each result.">
            <a:extLst xmlns:a="http://schemas.openxmlformats.org/drawingml/2006/main">
              <a:ext uri="{FF2B5EF4-FFF2-40B4-BE49-F238E27FC236}">
                <a16:creationId xmlns:a16="http://schemas.microsoft.com/office/drawing/2014/main" id="{28CC3253-5F55-4F8E-BD69-9D68324EE47A}"/>
              </a:ext>
            </a:extLst>
          </p:cNvPr>
          <p:cNvSpPr>
            <a:spLocks xmlns:a="http://schemas.openxmlformats.org/drawingml/2006/main" noGrp="1"/>
          </p:cNvSpPr>
          <p:nvPr/>
        </p:nvSpPr>
        <p:spPr>
          <a:xfrm xmlns:a="http://schemas.openxmlformats.org/drawingml/2006/main">
            <a:off x="8039100" y="4857750"/>
            <a:ext cx="352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028090"/>
                </a:solidFill>
                <a:latin typeface="Calibri"/>
                <a:ea typeface="Calibri"/>
                <a:cs typeface="Calibri"/>
              </a:defRPr>
            </a:defPPr>
            <a:lvl1pPr>
              <a:defRPr sz="1875" b="0">
                <a:solidFill>
                  <a:srgbClr val="028090"/>
                </a:solidFill>
                <a:latin typeface="Calibri"/>
                <a:ea typeface="Calibri"/>
                <a:cs typeface="Calibri"/>
              </a:defRPr>
            </a:lvl1pPr>
            <a:lvl2pPr>
              <a:defRPr sz="1875" b="0">
                <a:solidFill>
                  <a:srgbClr val="028090"/>
                </a:solidFill>
                <a:latin typeface="Calibri"/>
                <a:ea typeface="Calibri"/>
                <a:cs typeface="Calibri"/>
              </a:defRPr>
            </a:lvl2pPr>
            <a:lvl3pPr>
              <a:defRPr sz="1875" b="0">
                <a:solidFill>
                  <a:srgbClr val="028090"/>
                </a:solidFill>
                <a:latin typeface="Calibri"/>
                <a:ea typeface="Calibri"/>
                <a:cs typeface="Calibri"/>
              </a:defRPr>
            </a:lvl3pPr>
            <a:lvl4pPr>
              <a:defRPr sz="1875" b="0">
                <a:solidFill>
                  <a:srgbClr val="028090"/>
                </a:solidFill>
                <a:latin typeface="Calibri"/>
                <a:ea typeface="Calibri"/>
                <a:cs typeface="Calibri"/>
              </a:defRPr>
            </a:lvl4pPr>
            <a:lvl5pPr>
              <a:defRPr sz="1875" b="0">
                <a:solidFill>
                  <a:srgbClr val="028090"/>
                </a:solidFill>
                <a:latin typeface="Calibri"/>
                <a:ea typeface="Calibri"/>
                <a:cs typeface="Calibri"/>
              </a:defRPr>
            </a:lvl5pPr>
            <a:lvl6pPr>
              <a:defRPr sz="1875" b="0">
                <a:solidFill>
                  <a:srgbClr val="028090"/>
                </a:solidFill>
                <a:latin typeface="Calibri"/>
                <a:ea typeface="Calibri"/>
                <a:cs typeface="Calibri"/>
              </a:defRPr>
            </a:lvl6pPr>
            <a:lvl7pPr>
              <a:defRPr sz="1875" b="0">
                <a:solidFill>
                  <a:srgbClr val="028090"/>
                </a:solidFill>
                <a:latin typeface="Calibri"/>
                <a:ea typeface="Calibri"/>
                <a:cs typeface="Calibri"/>
              </a:defRPr>
            </a:lvl7pPr>
            <a:lvl8pPr>
              <a:defRPr sz="1875" b="0">
                <a:solidFill>
                  <a:srgbClr val="028090"/>
                </a:solidFill>
                <a:latin typeface="Calibri"/>
                <a:ea typeface="Calibri"/>
                <a:cs typeface="Calibri"/>
              </a:defRPr>
            </a:lvl8pPr>
            <a:lvl9pPr>
              <a:defRPr sz="1875" b="0">
                <a:solidFill>
                  <a:srgbClr val="028090"/>
                </a:solidFill>
                <a:latin typeface="Calibri"/>
                <a:ea typeface="Calibri"/>
                <a:cs typeface="Calibri"/>
              </a:defRPr>
            </a:lvl9pPr>
          </a:lstStyle>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3  Combine cell predictions</a:t>
            </a:r>
          </a:p>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Several cells contribute to each result.</a:t>
            </a:r>
          </a:p>
        </p:txBody>
      </p:sp>
    </p:spTree>
    <p:extLst>
      <p:ext uri="{BB962C8B-B14F-4D97-AF65-F5344CB8AC3E}">
        <p14:creationId xmlns:p14="http://schemas.microsoft.com/office/powerpoint/2010/main" val="11756222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aman: performance depends on the evaluation">
            <a:extLst xmlns:a="http://schemas.openxmlformats.org/drawingml/2006/main">
              <a:ext uri="{FF2B5EF4-FFF2-40B4-BE49-F238E27FC236}">
                <a16:creationId xmlns:a16="http://schemas.microsoft.com/office/drawing/2014/main" id="{79AB149E-1FAA-4E5D-85AA-E00B80DF7E8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0">
                <a:solidFill>
                  <a:srgbClr val="1E293B"/>
                </a:solidFill>
                <a:latin typeface="Cambria"/>
                <a:ea typeface="Cambria"/>
                <a:cs typeface="Cambria"/>
              </a:defRPr>
            </a:defPPr>
            <a:lvl1pPr>
              <a:defRPr sz="3150" b="0">
                <a:solidFill>
                  <a:srgbClr val="1E293B"/>
                </a:solidFill>
                <a:latin typeface="Cambria"/>
                <a:ea typeface="Cambria"/>
                <a:cs typeface="Cambria"/>
              </a:defRPr>
            </a:lvl1pPr>
            <a:lvl2pPr>
              <a:defRPr sz="3150" b="0">
                <a:solidFill>
                  <a:srgbClr val="1E293B"/>
                </a:solidFill>
                <a:latin typeface="Cambria"/>
                <a:ea typeface="Cambria"/>
                <a:cs typeface="Cambria"/>
              </a:defRPr>
            </a:lvl2pPr>
            <a:lvl3pPr>
              <a:defRPr sz="3150" b="0">
                <a:solidFill>
                  <a:srgbClr val="1E293B"/>
                </a:solidFill>
                <a:latin typeface="Cambria"/>
                <a:ea typeface="Cambria"/>
                <a:cs typeface="Cambria"/>
              </a:defRPr>
            </a:lvl3pPr>
            <a:lvl4pPr>
              <a:defRPr sz="3150" b="0">
                <a:solidFill>
                  <a:srgbClr val="1E293B"/>
                </a:solidFill>
                <a:latin typeface="Cambria"/>
                <a:ea typeface="Cambria"/>
                <a:cs typeface="Cambria"/>
              </a:defRPr>
            </a:lvl4pPr>
            <a:lvl5pPr>
              <a:defRPr sz="3150" b="0">
                <a:solidFill>
                  <a:srgbClr val="1E293B"/>
                </a:solidFill>
                <a:latin typeface="Cambria"/>
                <a:ea typeface="Cambria"/>
                <a:cs typeface="Cambria"/>
              </a:defRPr>
            </a:lvl5pPr>
            <a:lvl6pPr>
              <a:defRPr sz="3150" b="0">
                <a:solidFill>
                  <a:srgbClr val="1E293B"/>
                </a:solidFill>
                <a:latin typeface="Cambria"/>
                <a:ea typeface="Cambria"/>
                <a:cs typeface="Cambria"/>
              </a:defRPr>
            </a:lvl6pPr>
            <a:lvl7pPr>
              <a:defRPr sz="3150" b="0">
                <a:solidFill>
                  <a:srgbClr val="1E293B"/>
                </a:solidFill>
                <a:latin typeface="Cambria"/>
                <a:ea typeface="Cambria"/>
                <a:cs typeface="Cambria"/>
              </a:defRPr>
            </a:lvl7pPr>
            <a:lvl8pPr>
              <a:defRPr sz="3150" b="0">
                <a:solidFill>
                  <a:srgbClr val="1E293B"/>
                </a:solidFill>
                <a:latin typeface="Cambria"/>
                <a:ea typeface="Cambria"/>
                <a:cs typeface="Cambria"/>
              </a:defRPr>
            </a:lvl8pPr>
            <a:lvl9pPr>
              <a:defRPr sz="3150" b="0">
                <a:solidFill>
                  <a:srgbClr val="1E293B"/>
                </a:solidFill>
                <a:latin typeface="Cambria"/>
                <a:ea typeface="Cambria"/>
                <a:cs typeface="Cambria"/>
              </a:defRPr>
            </a:lvl9pPr>
          </a:lstStyle>
          <a:p xmlns:a="http://schemas.openxmlformats.org/drawingml/2006/main">
            <a:pPr>
              <a:defRPr sz="3150" b="0">
                <a:solidFill>
                  <a:srgbClr val="1E293B"/>
                </a:solidFill>
                <a:latin typeface="Cambria"/>
                <a:ea typeface="Cambria"/>
                <a:cs typeface="Cambria"/>
              </a:defRPr>
            </a:pPr>
            <a:r>
              <a:rPr sz="3150" b="0">
                <a:solidFill>
                  <a:srgbClr val="1E293B"/>
                </a:solidFill>
                <a:latin typeface="Cambria"/>
                <a:ea typeface="Cambria"/>
                <a:cs typeface="Cambria"/>
              </a:rPr>
              <a:t>Raman: performance depends on the evaluation</a:t>
            </a:r>
          </a:p>
        </p:txBody>
      </p:sp>
      <p:sp>
        <p:nvSpPr>
          <p:cNvPr id="2" name="Isolate validation and clinical agreement answer different questions.">
            <a:extLst xmlns:a="http://schemas.openxmlformats.org/drawingml/2006/main">
              <a:ext uri="{FF2B5EF4-FFF2-40B4-BE49-F238E27FC236}">
                <a16:creationId xmlns:a16="http://schemas.microsoft.com/office/drawing/2014/main" id="{00A0B59C-672C-42FA-A053-717A8E48FB57}"/>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E293B"/>
                </a:solidFill>
                <a:latin typeface="Calibri"/>
                <a:ea typeface="Calibri"/>
                <a:cs typeface="Calibri"/>
              </a:defRPr>
            </a:defPPr>
            <a:lvl1pPr>
              <a:defRPr sz="2025" b="0">
                <a:solidFill>
                  <a:srgbClr val="1E293B"/>
                </a:solidFill>
                <a:latin typeface="Calibri"/>
                <a:ea typeface="Calibri"/>
                <a:cs typeface="Calibri"/>
              </a:defRPr>
            </a:lvl1pPr>
            <a:lvl2pPr>
              <a:defRPr sz="2025" b="0">
                <a:solidFill>
                  <a:srgbClr val="1E293B"/>
                </a:solidFill>
                <a:latin typeface="Calibri"/>
                <a:ea typeface="Calibri"/>
                <a:cs typeface="Calibri"/>
              </a:defRPr>
            </a:lvl2pPr>
            <a:lvl3pPr>
              <a:defRPr sz="2025" b="0">
                <a:solidFill>
                  <a:srgbClr val="1E293B"/>
                </a:solidFill>
                <a:latin typeface="Calibri"/>
                <a:ea typeface="Calibri"/>
                <a:cs typeface="Calibri"/>
              </a:defRPr>
            </a:lvl3pPr>
            <a:lvl4pPr>
              <a:defRPr sz="2025" b="0">
                <a:solidFill>
                  <a:srgbClr val="1E293B"/>
                </a:solidFill>
                <a:latin typeface="Calibri"/>
                <a:ea typeface="Calibri"/>
                <a:cs typeface="Calibri"/>
              </a:defRPr>
            </a:lvl4pPr>
            <a:lvl5pPr>
              <a:defRPr sz="2025" b="0">
                <a:solidFill>
                  <a:srgbClr val="1E293B"/>
                </a:solidFill>
                <a:latin typeface="Calibri"/>
                <a:ea typeface="Calibri"/>
                <a:cs typeface="Calibri"/>
              </a:defRPr>
            </a:lvl5pPr>
            <a:lvl6pPr>
              <a:defRPr sz="2025" b="0">
                <a:solidFill>
                  <a:srgbClr val="1E293B"/>
                </a:solidFill>
                <a:latin typeface="Calibri"/>
                <a:ea typeface="Calibri"/>
                <a:cs typeface="Calibri"/>
              </a:defRPr>
            </a:lvl6pPr>
            <a:lvl7pPr>
              <a:defRPr sz="2025" b="0">
                <a:solidFill>
                  <a:srgbClr val="1E293B"/>
                </a:solidFill>
                <a:latin typeface="Calibri"/>
                <a:ea typeface="Calibri"/>
                <a:cs typeface="Calibri"/>
              </a:defRPr>
            </a:lvl7pPr>
            <a:lvl8pPr>
              <a:defRPr sz="2025" b="0">
                <a:solidFill>
                  <a:srgbClr val="1E293B"/>
                </a:solidFill>
                <a:latin typeface="Calibri"/>
                <a:ea typeface="Calibri"/>
                <a:cs typeface="Calibri"/>
              </a:defRPr>
            </a:lvl8pPr>
            <a:lvl9pPr>
              <a:defRPr sz="2025" b="0">
                <a:solidFill>
                  <a:srgbClr val="1E293B"/>
                </a:solidFill>
                <a:latin typeface="Calibri"/>
                <a:ea typeface="Calibri"/>
                <a:cs typeface="Calibri"/>
              </a:defRPr>
            </a:lvl9pPr>
          </a:lstStyle>
          <a:p xmlns:a="http://schemas.openxmlformats.org/drawingml/2006/main">
            <a:pPr>
              <a:defRPr sz="2025" b="0">
                <a:solidFill>
                  <a:srgbClr val="1E293B"/>
                </a:solidFill>
                <a:latin typeface="Calibri"/>
                <a:ea typeface="Calibri"/>
                <a:cs typeface="Calibri"/>
              </a:defRPr>
            </a:pPr>
            <a:r>
              <a:rPr sz="2025" b="0">
                <a:solidFill>
                  <a:srgbClr val="1E293B"/>
                </a:solidFill>
                <a:latin typeface="Calibri"/>
                <a:ea typeface="Calibri"/>
                <a:cs typeface="Calibri"/>
              </a:rPr>
              <a:t>Isolate validation and clinical agreement answer different questions.</a:t>
            </a:r>
          </a:p>
        </p:txBody>
      </p:sp>
      <p:sp>
        <p:nvSpPr>
          <p:cNvPr id="3" name="Li et al., Nature Communications 17, 283 (2026), Fig. 8e, cropped. CC ">
            <a:extLst xmlns:a="http://schemas.openxmlformats.org/drawingml/2006/main">
              <a:ext uri="{FF2B5EF4-FFF2-40B4-BE49-F238E27FC236}">
                <a16:creationId xmlns:a16="http://schemas.microsoft.com/office/drawing/2014/main" id="{D86876E5-4331-4A31-9896-998951C5CD4F}"/>
              </a:ext>
            </a:extLst>
          </p:cNvPr>
          <p:cNvSpPr>
            <a:spLocks xmlns:a="http://schemas.openxmlformats.org/drawingml/2006/main" noGrp="1"/>
          </p:cNvSpPr>
          <p:nvPr/>
        </p:nvSpPr>
        <p:spPr>
          <a:xfrm xmlns:a="http://schemas.openxmlformats.org/drawingml/2006/main">
            <a:off x="609600" y="6496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6c53794c66714f1f"/>
              </a:rPr>
              <a:t>Li et al., Nature Communications 17, 283 (2026), Fig. 8e, cropped. CC BY 4.0</a:t>
            </a:r>
          </a:p>
        </p:txBody>
      </p:sp>
      <p:sp>
        <p:nvSpPr>
          <p:cNvPr id="4" name="6">
            <a:extLst xmlns:a="http://schemas.openxmlformats.org/drawingml/2006/main">
              <a:ext uri="{FF2B5EF4-FFF2-40B4-BE49-F238E27FC236}">
                <a16:creationId xmlns:a16="http://schemas.microsoft.com/office/drawing/2014/main" id="{4DC9FF6C-E8C4-4E03-88DA-D8FF68D8AFEF}"/>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rPr>
              <a:t>6</a:t>
            </a:r>
          </a:p>
        </p:txBody>
      </p:sp>
      <p:sp>
        <p:nvSpPr>
          <p:cNvPr id="5" name="95.1%">
            <a:extLst xmlns:a="http://schemas.openxmlformats.org/drawingml/2006/main">
              <a:ext uri="{FF2B5EF4-FFF2-40B4-BE49-F238E27FC236}">
                <a16:creationId xmlns:a16="http://schemas.microsoft.com/office/drawing/2014/main" id="{87C32BCD-61AD-4CD7-9803-34380007A19C}"/>
              </a:ext>
            </a:extLst>
          </p:cNvPr>
          <p:cNvSpPr>
            <a:spLocks xmlns:a="http://schemas.openxmlformats.org/drawingml/2006/main" noGrp="1"/>
          </p:cNvSpPr>
          <p:nvPr/>
        </p:nvSpPr>
        <p:spPr>
          <a:xfrm xmlns:a="http://schemas.openxmlformats.org/drawingml/2006/main">
            <a:off x="685800" y="1828800"/>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0">
                <a:solidFill>
                  <a:srgbClr val="028090"/>
                </a:solidFill>
                <a:latin typeface="Calibri"/>
                <a:ea typeface="Calibri"/>
                <a:cs typeface="Calibri"/>
              </a:defRPr>
            </a:defPPr>
            <a:lvl1pPr>
              <a:defRPr sz="4650" b="0">
                <a:solidFill>
                  <a:srgbClr val="028090"/>
                </a:solidFill>
                <a:latin typeface="Calibri"/>
                <a:ea typeface="Calibri"/>
                <a:cs typeface="Calibri"/>
              </a:defRPr>
            </a:lvl1pPr>
            <a:lvl2pPr>
              <a:defRPr sz="4650" b="0">
                <a:solidFill>
                  <a:srgbClr val="028090"/>
                </a:solidFill>
                <a:latin typeface="Calibri"/>
                <a:ea typeface="Calibri"/>
                <a:cs typeface="Calibri"/>
              </a:defRPr>
            </a:lvl2pPr>
            <a:lvl3pPr>
              <a:defRPr sz="4650" b="0">
                <a:solidFill>
                  <a:srgbClr val="028090"/>
                </a:solidFill>
                <a:latin typeface="Calibri"/>
                <a:ea typeface="Calibri"/>
                <a:cs typeface="Calibri"/>
              </a:defRPr>
            </a:lvl3pPr>
            <a:lvl4pPr>
              <a:defRPr sz="4650" b="0">
                <a:solidFill>
                  <a:srgbClr val="028090"/>
                </a:solidFill>
                <a:latin typeface="Calibri"/>
                <a:ea typeface="Calibri"/>
                <a:cs typeface="Calibri"/>
              </a:defRPr>
            </a:lvl4pPr>
            <a:lvl5pPr>
              <a:defRPr sz="4650" b="0">
                <a:solidFill>
                  <a:srgbClr val="028090"/>
                </a:solidFill>
                <a:latin typeface="Calibri"/>
                <a:ea typeface="Calibri"/>
                <a:cs typeface="Calibri"/>
              </a:defRPr>
            </a:lvl5pPr>
            <a:lvl6pPr>
              <a:defRPr sz="4650" b="0">
                <a:solidFill>
                  <a:srgbClr val="028090"/>
                </a:solidFill>
                <a:latin typeface="Calibri"/>
                <a:ea typeface="Calibri"/>
                <a:cs typeface="Calibri"/>
              </a:defRPr>
            </a:lvl6pPr>
            <a:lvl7pPr>
              <a:defRPr sz="4650" b="0">
                <a:solidFill>
                  <a:srgbClr val="028090"/>
                </a:solidFill>
                <a:latin typeface="Calibri"/>
                <a:ea typeface="Calibri"/>
                <a:cs typeface="Calibri"/>
              </a:defRPr>
            </a:lvl7pPr>
            <a:lvl8pPr>
              <a:defRPr sz="4650" b="0">
                <a:solidFill>
                  <a:srgbClr val="028090"/>
                </a:solidFill>
                <a:latin typeface="Calibri"/>
                <a:ea typeface="Calibri"/>
                <a:cs typeface="Calibri"/>
              </a:defRPr>
            </a:lvl8pPr>
            <a:lvl9pPr>
              <a:defRPr sz="4650" b="0">
                <a:solidFill>
                  <a:srgbClr val="028090"/>
                </a:solidFill>
                <a:latin typeface="Calibri"/>
                <a:ea typeface="Calibri"/>
                <a:cs typeface="Calibri"/>
              </a:defRPr>
            </a:lvl9pPr>
          </a:lstStyle>
          <a:p xmlns:a="http://schemas.openxmlformats.org/drawingml/2006/main">
            <a:pPr>
              <a:defRPr sz="4650" b="0">
                <a:solidFill>
                  <a:srgbClr val="028090"/>
                </a:solidFill>
                <a:latin typeface="Calibri"/>
                <a:ea typeface="Calibri"/>
                <a:cs typeface="Calibri"/>
              </a:defRPr>
            </a:pPr>
            <a:r>
              <a:rPr sz="4650" b="0">
                <a:solidFill>
                  <a:srgbClr val="028090"/>
                </a:solidFill>
                <a:latin typeface="Calibri"/>
                <a:ea typeface="Calibri"/>
                <a:cs typeface="Calibri"/>
              </a:rPr>
              <a:t>95.1%</a:t>
            </a:r>
          </a:p>
        </p:txBody>
      </p:sp>
      <p:sp>
        <p:nvSpPr>
          <p:cNvPr id="6" name="Accuracy across 342 clinical isolates">
            <a:extLst xmlns:a="http://schemas.openxmlformats.org/drawingml/2006/main">
              <a:ext uri="{FF2B5EF4-FFF2-40B4-BE49-F238E27FC236}">
                <a16:creationId xmlns:a16="http://schemas.microsoft.com/office/drawing/2014/main" id="{2B52C1CD-0E1F-4EE0-B24B-8224EE2A7C04}"/>
              </a:ext>
            </a:extLst>
          </p:cNvPr>
          <p:cNvSpPr>
            <a:spLocks xmlns:a="http://schemas.openxmlformats.org/drawingml/2006/main" noGrp="1"/>
          </p:cNvSpPr>
          <p:nvPr/>
        </p:nvSpPr>
        <p:spPr>
          <a:xfrm xmlns:a="http://schemas.openxmlformats.org/drawingml/2006/main">
            <a:off x="685800" y="263842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E293B"/>
                </a:solidFill>
                <a:latin typeface="Calibri"/>
                <a:ea typeface="Calibri"/>
                <a:cs typeface="Calibri"/>
              </a:defRPr>
            </a:defPPr>
            <a:lvl1pPr>
              <a:defRPr sz="2025" b="0">
                <a:solidFill>
                  <a:srgbClr val="1E293B"/>
                </a:solidFill>
                <a:latin typeface="Calibri"/>
                <a:ea typeface="Calibri"/>
                <a:cs typeface="Calibri"/>
              </a:defRPr>
            </a:lvl1pPr>
            <a:lvl2pPr>
              <a:defRPr sz="2025" b="0">
                <a:solidFill>
                  <a:srgbClr val="1E293B"/>
                </a:solidFill>
                <a:latin typeface="Calibri"/>
                <a:ea typeface="Calibri"/>
                <a:cs typeface="Calibri"/>
              </a:defRPr>
            </a:lvl2pPr>
            <a:lvl3pPr>
              <a:defRPr sz="2025" b="0">
                <a:solidFill>
                  <a:srgbClr val="1E293B"/>
                </a:solidFill>
                <a:latin typeface="Calibri"/>
                <a:ea typeface="Calibri"/>
                <a:cs typeface="Calibri"/>
              </a:defRPr>
            </a:lvl3pPr>
            <a:lvl4pPr>
              <a:defRPr sz="2025" b="0">
                <a:solidFill>
                  <a:srgbClr val="1E293B"/>
                </a:solidFill>
                <a:latin typeface="Calibri"/>
                <a:ea typeface="Calibri"/>
                <a:cs typeface="Calibri"/>
              </a:defRPr>
            </a:lvl4pPr>
            <a:lvl5pPr>
              <a:defRPr sz="2025" b="0">
                <a:solidFill>
                  <a:srgbClr val="1E293B"/>
                </a:solidFill>
                <a:latin typeface="Calibri"/>
                <a:ea typeface="Calibri"/>
                <a:cs typeface="Calibri"/>
              </a:defRPr>
            </a:lvl5pPr>
            <a:lvl6pPr>
              <a:defRPr sz="2025" b="0">
                <a:solidFill>
                  <a:srgbClr val="1E293B"/>
                </a:solidFill>
                <a:latin typeface="Calibri"/>
                <a:ea typeface="Calibri"/>
                <a:cs typeface="Calibri"/>
              </a:defRPr>
            </a:lvl6pPr>
            <a:lvl7pPr>
              <a:defRPr sz="2025" b="0">
                <a:solidFill>
                  <a:srgbClr val="1E293B"/>
                </a:solidFill>
                <a:latin typeface="Calibri"/>
                <a:ea typeface="Calibri"/>
                <a:cs typeface="Calibri"/>
              </a:defRPr>
            </a:lvl7pPr>
            <a:lvl8pPr>
              <a:defRPr sz="2025" b="0">
                <a:solidFill>
                  <a:srgbClr val="1E293B"/>
                </a:solidFill>
                <a:latin typeface="Calibri"/>
                <a:ea typeface="Calibri"/>
                <a:cs typeface="Calibri"/>
              </a:defRPr>
            </a:lvl8pPr>
            <a:lvl9pPr>
              <a:defRPr sz="2025" b="0">
                <a:solidFill>
                  <a:srgbClr val="1E293B"/>
                </a:solidFill>
                <a:latin typeface="Calibri"/>
                <a:ea typeface="Calibri"/>
                <a:cs typeface="Calibri"/>
              </a:defRPr>
            </a:lvl9pPr>
          </a:lstStyle>
          <a:p xmlns:a="http://schemas.openxmlformats.org/drawingml/2006/main">
            <a:pPr>
              <a:defRPr sz="2025" b="0">
                <a:solidFill>
                  <a:srgbClr val="1E293B"/>
                </a:solidFill>
                <a:latin typeface="Calibri"/>
                <a:ea typeface="Calibri"/>
                <a:cs typeface="Calibri"/>
              </a:defRPr>
            </a:pPr>
            <a:r>
              <a:rPr sz="2025" b="0">
                <a:solidFill>
                  <a:srgbClr val="1E293B"/>
                </a:solidFill>
                <a:latin typeface="Calibri"/>
                <a:ea typeface="Calibri"/>
                <a:cs typeface="Calibri"/>
              </a:rPr>
              <a:t>Accuracy across 342 clinical isolates</a:t>
            </a:r>
          </a:p>
        </p:txBody>
      </p:sp>
      <p:sp>
        <p:nvSpPr>
          <p:cNvPr id="7" name="Validation keeps each isolate’s spectra together.">
            <a:extLst xmlns:a="http://schemas.openxmlformats.org/drawingml/2006/main">
              <a:ext uri="{FF2B5EF4-FFF2-40B4-BE49-F238E27FC236}">
                <a16:creationId xmlns:a16="http://schemas.microsoft.com/office/drawing/2014/main" id="{227959BA-3CF4-40BF-A7D5-BC1FAB453692}"/>
              </a:ext>
            </a:extLst>
          </p:cNvPr>
          <p:cNvSpPr>
            <a:spLocks xmlns:a="http://schemas.openxmlformats.org/drawingml/2006/main" noGrp="1"/>
          </p:cNvSpPr>
          <p:nvPr/>
        </p:nvSpPr>
        <p:spPr>
          <a:xfrm xmlns:a="http://schemas.openxmlformats.org/drawingml/2006/main">
            <a:off x="685800" y="30956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E293B"/>
                </a:solidFill>
                <a:latin typeface="Calibri"/>
                <a:ea typeface="Calibri"/>
                <a:cs typeface="Calibri"/>
              </a:defRPr>
            </a:defPPr>
            <a:lvl1pPr>
              <a:defRPr sz="1875" b="0">
                <a:solidFill>
                  <a:srgbClr val="1E293B"/>
                </a:solidFill>
                <a:latin typeface="Calibri"/>
                <a:ea typeface="Calibri"/>
                <a:cs typeface="Calibri"/>
              </a:defRPr>
            </a:lvl1pPr>
            <a:lvl2pPr>
              <a:defRPr sz="1875" b="0">
                <a:solidFill>
                  <a:srgbClr val="1E293B"/>
                </a:solidFill>
                <a:latin typeface="Calibri"/>
                <a:ea typeface="Calibri"/>
                <a:cs typeface="Calibri"/>
              </a:defRPr>
            </a:lvl2pPr>
            <a:lvl3pPr>
              <a:defRPr sz="1875" b="0">
                <a:solidFill>
                  <a:srgbClr val="1E293B"/>
                </a:solidFill>
                <a:latin typeface="Calibri"/>
                <a:ea typeface="Calibri"/>
                <a:cs typeface="Calibri"/>
              </a:defRPr>
            </a:lvl3pPr>
            <a:lvl4pPr>
              <a:defRPr sz="1875" b="0">
                <a:solidFill>
                  <a:srgbClr val="1E293B"/>
                </a:solidFill>
                <a:latin typeface="Calibri"/>
                <a:ea typeface="Calibri"/>
                <a:cs typeface="Calibri"/>
              </a:defRPr>
            </a:lvl4pPr>
            <a:lvl5pPr>
              <a:defRPr sz="1875" b="0">
                <a:solidFill>
                  <a:srgbClr val="1E293B"/>
                </a:solidFill>
                <a:latin typeface="Calibri"/>
                <a:ea typeface="Calibri"/>
                <a:cs typeface="Calibri"/>
              </a:defRPr>
            </a:lvl5pPr>
            <a:lvl6pPr>
              <a:defRPr sz="1875" b="0">
                <a:solidFill>
                  <a:srgbClr val="1E293B"/>
                </a:solidFill>
                <a:latin typeface="Calibri"/>
                <a:ea typeface="Calibri"/>
                <a:cs typeface="Calibri"/>
              </a:defRPr>
            </a:lvl6pPr>
            <a:lvl7pPr>
              <a:defRPr sz="1875" b="0">
                <a:solidFill>
                  <a:srgbClr val="1E293B"/>
                </a:solidFill>
                <a:latin typeface="Calibri"/>
                <a:ea typeface="Calibri"/>
                <a:cs typeface="Calibri"/>
              </a:defRPr>
            </a:lvl7pPr>
            <a:lvl8pPr>
              <a:defRPr sz="1875" b="0">
                <a:solidFill>
                  <a:srgbClr val="1E293B"/>
                </a:solidFill>
                <a:latin typeface="Calibri"/>
                <a:ea typeface="Calibri"/>
                <a:cs typeface="Calibri"/>
              </a:defRPr>
            </a:lvl8pPr>
            <a:lvl9pPr>
              <a:defRPr sz="1875" b="0">
                <a:solidFill>
                  <a:srgbClr val="1E293B"/>
                </a:solidFill>
                <a:latin typeface="Calibri"/>
                <a:ea typeface="Calibri"/>
                <a:cs typeface="Calibri"/>
              </a:defRPr>
            </a:lvl9pPr>
          </a:lstStyle>
          <a:p xmlns:a="http://schemas.openxmlformats.org/drawingml/2006/main">
            <a:pPr>
              <a:defRPr sz="1875" b="0">
                <a:solidFill>
                  <a:srgbClr val="1E293B"/>
                </a:solidFill>
                <a:latin typeface="Calibri"/>
                <a:ea typeface="Calibri"/>
                <a:cs typeface="Calibri"/>
              </a:defRPr>
            </a:pPr>
            <a:r>
              <a:rPr sz="1875" b="0">
                <a:solidFill>
                  <a:srgbClr val="1E293B"/>
                </a:solidFill>
                <a:latin typeface="Calibri"/>
                <a:ea typeface="Calibri"/>
                <a:cs typeface="Calibri"/>
              </a:rPr>
              <a:t>Validation keeps each isolate’s spectra together.</a:t>
            </a:r>
          </a:p>
        </p:txBody>
      </p:sp>
      <p:sp>
        <p:nvSpPr>
          <p:cNvPr id="8" name="82.5%">
            <a:extLst xmlns:a="http://schemas.openxmlformats.org/drawingml/2006/main">
              <a:ext uri="{FF2B5EF4-FFF2-40B4-BE49-F238E27FC236}">
                <a16:creationId xmlns:a16="http://schemas.microsoft.com/office/drawing/2014/main" id="{F4FD6EBC-F87A-47FF-9E75-C9A0CC3F6C17}"/>
              </a:ext>
            </a:extLst>
          </p:cNvPr>
          <p:cNvSpPr>
            <a:spLocks xmlns:a="http://schemas.openxmlformats.org/drawingml/2006/main" noGrp="1"/>
          </p:cNvSpPr>
          <p:nvPr/>
        </p:nvSpPr>
        <p:spPr>
          <a:xfrm xmlns:a="http://schemas.openxmlformats.org/drawingml/2006/main">
            <a:off x="685800" y="3924300"/>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0">
                <a:solidFill>
                  <a:srgbClr val="C56B30"/>
                </a:solidFill>
                <a:latin typeface="Calibri"/>
                <a:ea typeface="Calibri"/>
                <a:cs typeface="Calibri"/>
              </a:defRPr>
            </a:defPPr>
            <a:lvl1pPr>
              <a:defRPr sz="4650" b="0">
                <a:solidFill>
                  <a:srgbClr val="C56B30"/>
                </a:solidFill>
                <a:latin typeface="Calibri"/>
                <a:ea typeface="Calibri"/>
                <a:cs typeface="Calibri"/>
              </a:defRPr>
            </a:lvl1pPr>
            <a:lvl2pPr>
              <a:defRPr sz="4650" b="0">
                <a:solidFill>
                  <a:srgbClr val="C56B30"/>
                </a:solidFill>
                <a:latin typeface="Calibri"/>
                <a:ea typeface="Calibri"/>
                <a:cs typeface="Calibri"/>
              </a:defRPr>
            </a:lvl2pPr>
            <a:lvl3pPr>
              <a:defRPr sz="4650" b="0">
                <a:solidFill>
                  <a:srgbClr val="C56B30"/>
                </a:solidFill>
                <a:latin typeface="Calibri"/>
                <a:ea typeface="Calibri"/>
                <a:cs typeface="Calibri"/>
              </a:defRPr>
            </a:lvl3pPr>
            <a:lvl4pPr>
              <a:defRPr sz="4650" b="0">
                <a:solidFill>
                  <a:srgbClr val="C56B30"/>
                </a:solidFill>
                <a:latin typeface="Calibri"/>
                <a:ea typeface="Calibri"/>
                <a:cs typeface="Calibri"/>
              </a:defRPr>
            </a:lvl4pPr>
            <a:lvl5pPr>
              <a:defRPr sz="4650" b="0">
                <a:solidFill>
                  <a:srgbClr val="C56B30"/>
                </a:solidFill>
                <a:latin typeface="Calibri"/>
                <a:ea typeface="Calibri"/>
                <a:cs typeface="Calibri"/>
              </a:defRPr>
            </a:lvl5pPr>
            <a:lvl6pPr>
              <a:defRPr sz="4650" b="0">
                <a:solidFill>
                  <a:srgbClr val="C56B30"/>
                </a:solidFill>
                <a:latin typeface="Calibri"/>
                <a:ea typeface="Calibri"/>
                <a:cs typeface="Calibri"/>
              </a:defRPr>
            </a:lvl6pPr>
            <a:lvl7pPr>
              <a:defRPr sz="4650" b="0">
                <a:solidFill>
                  <a:srgbClr val="C56B30"/>
                </a:solidFill>
                <a:latin typeface="Calibri"/>
                <a:ea typeface="Calibri"/>
                <a:cs typeface="Calibri"/>
              </a:defRPr>
            </a:lvl7pPr>
            <a:lvl8pPr>
              <a:defRPr sz="4650" b="0">
                <a:solidFill>
                  <a:srgbClr val="C56B30"/>
                </a:solidFill>
                <a:latin typeface="Calibri"/>
                <a:ea typeface="Calibri"/>
                <a:cs typeface="Calibri"/>
              </a:defRPr>
            </a:lvl8pPr>
            <a:lvl9pPr>
              <a:defRPr sz="4650" b="0">
                <a:solidFill>
                  <a:srgbClr val="C56B30"/>
                </a:solidFill>
                <a:latin typeface="Calibri"/>
                <a:ea typeface="Calibri"/>
                <a:cs typeface="Calibri"/>
              </a:defRPr>
            </a:lvl9pPr>
          </a:lstStyle>
          <a:p xmlns:a="http://schemas.openxmlformats.org/drawingml/2006/main">
            <a:pPr>
              <a:defRPr sz="4650" b="0">
                <a:solidFill>
                  <a:srgbClr val="C56B30"/>
                </a:solidFill>
                <a:latin typeface="Calibri"/>
                <a:ea typeface="Calibri"/>
                <a:cs typeface="Calibri"/>
              </a:defRPr>
            </a:pPr>
            <a:r>
              <a:rPr sz="4650" b="0">
                <a:solidFill>
                  <a:srgbClr val="C56B30"/>
                </a:solidFill>
                <a:latin typeface="Calibri"/>
                <a:ea typeface="Calibri"/>
                <a:cs typeface="Calibri"/>
              </a:rPr>
              <a:t>82.5%</a:t>
            </a:r>
          </a:p>
        </p:txBody>
      </p:sp>
      <p:sp>
        <p:nvSpPr>
          <p:cNvPr id="9" name="99 of 120 selected positive samples agreed&#10;with culture and MALDI-TOF ">
            <a:extLst xmlns:a="http://schemas.openxmlformats.org/drawingml/2006/main">
              <a:ext uri="{FF2B5EF4-FFF2-40B4-BE49-F238E27FC236}">
                <a16:creationId xmlns:a16="http://schemas.microsoft.com/office/drawing/2014/main" id="{0AC4CF9E-09CB-4191-8C3C-D05AD6A56D7B}"/>
              </a:ext>
            </a:extLst>
          </p:cNvPr>
          <p:cNvSpPr>
            <a:spLocks xmlns:a="http://schemas.openxmlformats.org/drawingml/2006/main" noGrp="1"/>
          </p:cNvSpPr>
          <p:nvPr/>
        </p:nvSpPr>
        <p:spPr>
          <a:xfrm xmlns:a="http://schemas.openxmlformats.org/drawingml/2006/main">
            <a:off x="685800" y="4733925"/>
            <a:ext cx="581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E293B"/>
                </a:solidFill>
                <a:latin typeface="Calibri"/>
                <a:ea typeface="Calibri"/>
                <a:cs typeface="Calibri"/>
              </a:defRPr>
            </a:defPPr>
            <a:lvl1pPr>
              <a:defRPr sz="1875" b="0">
                <a:solidFill>
                  <a:srgbClr val="1E293B"/>
                </a:solidFill>
                <a:latin typeface="Calibri"/>
                <a:ea typeface="Calibri"/>
                <a:cs typeface="Calibri"/>
              </a:defRPr>
            </a:lvl1pPr>
            <a:lvl2pPr>
              <a:defRPr sz="1875" b="0">
                <a:solidFill>
                  <a:srgbClr val="1E293B"/>
                </a:solidFill>
                <a:latin typeface="Calibri"/>
                <a:ea typeface="Calibri"/>
                <a:cs typeface="Calibri"/>
              </a:defRPr>
            </a:lvl2pPr>
            <a:lvl3pPr>
              <a:defRPr sz="1875" b="0">
                <a:solidFill>
                  <a:srgbClr val="1E293B"/>
                </a:solidFill>
                <a:latin typeface="Calibri"/>
                <a:ea typeface="Calibri"/>
                <a:cs typeface="Calibri"/>
              </a:defRPr>
            </a:lvl3pPr>
            <a:lvl4pPr>
              <a:defRPr sz="1875" b="0">
                <a:solidFill>
                  <a:srgbClr val="1E293B"/>
                </a:solidFill>
                <a:latin typeface="Calibri"/>
                <a:ea typeface="Calibri"/>
                <a:cs typeface="Calibri"/>
              </a:defRPr>
            </a:lvl4pPr>
            <a:lvl5pPr>
              <a:defRPr sz="1875" b="0">
                <a:solidFill>
                  <a:srgbClr val="1E293B"/>
                </a:solidFill>
                <a:latin typeface="Calibri"/>
                <a:ea typeface="Calibri"/>
                <a:cs typeface="Calibri"/>
              </a:defRPr>
            </a:lvl5pPr>
            <a:lvl6pPr>
              <a:defRPr sz="1875" b="0">
                <a:solidFill>
                  <a:srgbClr val="1E293B"/>
                </a:solidFill>
                <a:latin typeface="Calibri"/>
                <a:ea typeface="Calibri"/>
                <a:cs typeface="Calibri"/>
              </a:defRPr>
            </a:lvl6pPr>
            <a:lvl7pPr>
              <a:defRPr sz="1875" b="0">
                <a:solidFill>
                  <a:srgbClr val="1E293B"/>
                </a:solidFill>
                <a:latin typeface="Calibri"/>
                <a:ea typeface="Calibri"/>
                <a:cs typeface="Calibri"/>
              </a:defRPr>
            </a:lvl7pPr>
            <a:lvl8pPr>
              <a:defRPr sz="1875" b="0">
                <a:solidFill>
                  <a:srgbClr val="1E293B"/>
                </a:solidFill>
                <a:latin typeface="Calibri"/>
                <a:ea typeface="Calibri"/>
                <a:cs typeface="Calibri"/>
              </a:defRPr>
            </a:lvl8pPr>
            <a:lvl9pPr>
              <a:defRPr sz="1875" b="0">
                <a:solidFill>
                  <a:srgbClr val="1E293B"/>
                </a:solidFill>
                <a:latin typeface="Calibri"/>
                <a:ea typeface="Calibri"/>
                <a:cs typeface="Calibri"/>
              </a:defRPr>
            </a:lvl9pPr>
          </a:lstStyle>
          <a:p xmlns:a="http://schemas.openxmlformats.org/drawingml/2006/main">
            <a:pPr>
              <a:defRPr sz="1875" b="0">
                <a:solidFill>
                  <a:srgbClr val="1E293B"/>
                </a:solidFill>
                <a:latin typeface="Calibri"/>
                <a:ea typeface="Calibri"/>
                <a:cs typeface="Calibri"/>
              </a:defRPr>
            </a:pPr>
            <a:r>
              <a:rPr sz="1875" b="0">
                <a:solidFill>
                  <a:srgbClr val="1E293B"/>
                </a:solidFill>
                <a:latin typeface="Calibri"/>
                <a:ea typeface="Calibri"/>
                <a:cs typeface="Calibri"/>
              </a:rPr>
              <a:t>99 of 120 selected positive samples agreed</a:t>
            </a:r>
          </a:p>
          <a:p xmlns:a="http://schemas.openxmlformats.org/drawingml/2006/main">
            <a:pPr>
              <a:defRPr sz="1875" b="0">
                <a:solidFill>
                  <a:srgbClr val="1E293B"/>
                </a:solidFill>
                <a:latin typeface="Calibri"/>
                <a:ea typeface="Calibri"/>
                <a:cs typeface="Calibri"/>
              </a:defRPr>
            </a:pPr>
            <a:r>
              <a:rPr sz="1875" b="0">
                <a:solidFill>
                  <a:srgbClr val="1E293B"/>
                </a:solidFill>
                <a:latin typeface="Calibri"/>
                <a:ea typeface="Calibri"/>
                <a:cs typeface="Calibri"/>
              </a:rPr>
              <a:t>with culture and MALDI-TOF identification.</a:t>
            </a:r>
          </a:p>
        </p:txBody>
      </p:sp>
      <p:sp>
        <p:nvSpPr>
          <p:cNvPr id="10" name="Some species perform poorly">
            <a:extLst xmlns:a="http://schemas.openxmlformats.org/drawingml/2006/main">
              <a:ext uri="{FF2B5EF4-FFF2-40B4-BE49-F238E27FC236}">
                <a16:creationId xmlns:a16="http://schemas.microsoft.com/office/drawing/2014/main" id="{596D2BBB-8DF0-41E8-AA7D-D4ABE3B1F1B8}"/>
              </a:ext>
            </a:extLst>
          </p:cNvPr>
          <p:cNvSpPr>
            <a:spLocks xmlns:a="http://schemas.openxmlformats.org/drawingml/2006/main" noGrp="1"/>
          </p:cNvSpPr>
          <p:nvPr/>
        </p:nvSpPr>
        <p:spPr>
          <a:xfrm xmlns:a="http://schemas.openxmlformats.org/drawingml/2006/main">
            <a:off x="7239000" y="18288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56B30"/>
                </a:solidFill>
                <a:latin typeface="Calibri"/>
                <a:ea typeface="Calibri"/>
                <a:cs typeface="Calibri"/>
              </a:defRPr>
            </a:defPPr>
            <a:lvl1pPr>
              <a:defRPr sz="2175" b="0">
                <a:solidFill>
                  <a:srgbClr val="C56B30"/>
                </a:solidFill>
                <a:latin typeface="Calibri"/>
                <a:ea typeface="Calibri"/>
                <a:cs typeface="Calibri"/>
              </a:defRPr>
            </a:lvl1pPr>
            <a:lvl2pPr>
              <a:defRPr sz="2175" b="0">
                <a:solidFill>
                  <a:srgbClr val="C56B30"/>
                </a:solidFill>
                <a:latin typeface="Calibri"/>
                <a:ea typeface="Calibri"/>
                <a:cs typeface="Calibri"/>
              </a:defRPr>
            </a:lvl2pPr>
            <a:lvl3pPr>
              <a:defRPr sz="2175" b="0">
                <a:solidFill>
                  <a:srgbClr val="C56B30"/>
                </a:solidFill>
                <a:latin typeface="Calibri"/>
                <a:ea typeface="Calibri"/>
                <a:cs typeface="Calibri"/>
              </a:defRPr>
            </a:lvl3pPr>
            <a:lvl4pPr>
              <a:defRPr sz="2175" b="0">
                <a:solidFill>
                  <a:srgbClr val="C56B30"/>
                </a:solidFill>
                <a:latin typeface="Calibri"/>
                <a:ea typeface="Calibri"/>
                <a:cs typeface="Calibri"/>
              </a:defRPr>
            </a:lvl4pPr>
            <a:lvl5pPr>
              <a:defRPr sz="2175" b="0">
                <a:solidFill>
                  <a:srgbClr val="C56B30"/>
                </a:solidFill>
                <a:latin typeface="Calibri"/>
                <a:ea typeface="Calibri"/>
                <a:cs typeface="Calibri"/>
              </a:defRPr>
            </a:lvl5pPr>
            <a:lvl6pPr>
              <a:defRPr sz="2175" b="0">
                <a:solidFill>
                  <a:srgbClr val="C56B30"/>
                </a:solidFill>
                <a:latin typeface="Calibri"/>
                <a:ea typeface="Calibri"/>
                <a:cs typeface="Calibri"/>
              </a:defRPr>
            </a:lvl6pPr>
            <a:lvl7pPr>
              <a:defRPr sz="2175" b="0">
                <a:solidFill>
                  <a:srgbClr val="C56B30"/>
                </a:solidFill>
                <a:latin typeface="Calibri"/>
                <a:ea typeface="Calibri"/>
                <a:cs typeface="Calibri"/>
              </a:defRPr>
            </a:lvl7pPr>
            <a:lvl8pPr>
              <a:defRPr sz="2175" b="0">
                <a:solidFill>
                  <a:srgbClr val="C56B30"/>
                </a:solidFill>
                <a:latin typeface="Calibri"/>
                <a:ea typeface="Calibri"/>
                <a:cs typeface="Calibri"/>
              </a:defRPr>
            </a:lvl8pPr>
            <a:lvl9pPr>
              <a:defRPr sz="2175" b="0">
                <a:solidFill>
                  <a:srgbClr val="C56B30"/>
                </a:solidFill>
                <a:latin typeface="Calibri"/>
                <a:ea typeface="Calibri"/>
                <a:cs typeface="Calibri"/>
              </a:defRPr>
            </a:lvl9pPr>
          </a:lstStyle>
          <a:p xmlns:a="http://schemas.openxmlformats.org/drawingml/2006/main">
            <a:pPr>
              <a:defRPr sz="2175" b="0">
                <a:solidFill>
                  <a:srgbClr val="C56B30"/>
                </a:solidFill>
                <a:latin typeface="Calibri"/>
                <a:ea typeface="Calibri"/>
                <a:cs typeface="Calibri"/>
              </a:defRPr>
            </a:pPr>
            <a:r>
              <a:rPr sz="2175" b="0">
                <a:solidFill>
                  <a:srgbClr val="C56B30"/>
                </a:solidFill>
                <a:latin typeface="Calibri"/>
                <a:ea typeface="Calibri"/>
                <a:cs typeface="Calibri"/>
              </a:rPr>
              <a:t>Some species perform poorly</a:t>
            </a:r>
          </a:p>
        </p:txBody>
      </p:sp>
      <p:pic>
        <p:nvPicPr>
          <p:cNvPr id="11" name="">
            <a:extLst xmlns:a="http://schemas.openxmlformats.org/drawingml/2006/main">
              <a:ext uri="{FF2B5EF4-FFF2-40B4-BE49-F238E27FC236}">
                <a16:creationId xmlns:a16="http://schemas.microsoft.com/office/drawing/2014/main" id="{D2A2013E-66B7-4AE5-AA7F-5DA5B1CDDD4A}"/>
              </a:ext>
            </a:extLst>
          </p:cNvPr>
          <p:cNvPicPr>
            <a:picLocks xmlns:a="http://schemas.openxmlformats.org/drawingml/2006/main" noChangeAspect="1"/>
          </p:cNvPicPr>
          <p:nvPr/>
        </p:nvPicPr>
        <p:blipFill>
          <a:blip xmlns:r="http://schemas.openxmlformats.org/officeDocument/2006/relationships" xmlns:a="http://schemas.openxmlformats.org/drawingml/2006/main" r:embed="R92c1508e7e9b49e2"/>
          <a:srcRect xmlns:a="http://schemas.openxmlformats.org/drawingml/2006/main" l="78200" t="49500" r="0" b="0"/>
          <a:stretch xmlns:a="http://schemas.openxmlformats.org/drawingml/2006/main"/>
        </p:blipFill>
        <p:spPr>
          <a:xfrm xmlns:a="http://schemas.openxmlformats.org/drawingml/2006/main">
            <a:off x="8210550" y="2333625"/>
            <a:ext cx="2247900" cy="3333750"/>
          </a:xfrm>
          <a:prstGeom xmlns:a="http://schemas.openxmlformats.org/drawingml/2006/main" prst="rect">
            <a:avLst/>
          </a:prstGeom>
        </p:spPr>
      </p:pic>
      <p:sp>
        <p:nvSpPr>
          <p:cNvPr id="12" name="Selected known species, mostly urine samples. Broader validation remai">
            <a:extLst xmlns:a="http://schemas.openxmlformats.org/drawingml/2006/main">
              <a:ext uri="{FF2B5EF4-FFF2-40B4-BE49-F238E27FC236}">
                <a16:creationId xmlns:a16="http://schemas.microsoft.com/office/drawing/2014/main" id="{767DC53F-2642-450A-8DA0-BE6B7DC94DBF}"/>
              </a:ext>
            </a:extLst>
          </p:cNvPr>
          <p:cNvSpPr>
            <a:spLocks xmlns:a="http://schemas.openxmlformats.org/drawingml/2006/main" noGrp="1"/>
          </p:cNvSpPr>
          <p:nvPr/>
        </p:nvSpPr>
        <p:spPr>
          <a:xfrm xmlns:a="http://schemas.openxmlformats.org/drawingml/2006/main">
            <a:off x="685800" y="59150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028090"/>
                </a:solidFill>
                <a:latin typeface="Calibri"/>
                <a:ea typeface="Calibri"/>
                <a:cs typeface="Calibri"/>
              </a:defRPr>
            </a:defPPr>
            <a:lvl1pPr>
              <a:defRPr sz="1875" b="0">
                <a:solidFill>
                  <a:srgbClr val="028090"/>
                </a:solidFill>
                <a:latin typeface="Calibri"/>
                <a:ea typeface="Calibri"/>
                <a:cs typeface="Calibri"/>
              </a:defRPr>
            </a:lvl1pPr>
            <a:lvl2pPr>
              <a:defRPr sz="1875" b="0">
                <a:solidFill>
                  <a:srgbClr val="028090"/>
                </a:solidFill>
                <a:latin typeface="Calibri"/>
                <a:ea typeface="Calibri"/>
                <a:cs typeface="Calibri"/>
              </a:defRPr>
            </a:lvl2pPr>
            <a:lvl3pPr>
              <a:defRPr sz="1875" b="0">
                <a:solidFill>
                  <a:srgbClr val="028090"/>
                </a:solidFill>
                <a:latin typeface="Calibri"/>
                <a:ea typeface="Calibri"/>
                <a:cs typeface="Calibri"/>
              </a:defRPr>
            </a:lvl3pPr>
            <a:lvl4pPr>
              <a:defRPr sz="1875" b="0">
                <a:solidFill>
                  <a:srgbClr val="028090"/>
                </a:solidFill>
                <a:latin typeface="Calibri"/>
                <a:ea typeface="Calibri"/>
                <a:cs typeface="Calibri"/>
              </a:defRPr>
            </a:lvl4pPr>
            <a:lvl5pPr>
              <a:defRPr sz="1875" b="0">
                <a:solidFill>
                  <a:srgbClr val="028090"/>
                </a:solidFill>
                <a:latin typeface="Calibri"/>
                <a:ea typeface="Calibri"/>
                <a:cs typeface="Calibri"/>
              </a:defRPr>
            </a:lvl5pPr>
            <a:lvl6pPr>
              <a:defRPr sz="1875" b="0">
                <a:solidFill>
                  <a:srgbClr val="028090"/>
                </a:solidFill>
                <a:latin typeface="Calibri"/>
                <a:ea typeface="Calibri"/>
                <a:cs typeface="Calibri"/>
              </a:defRPr>
            </a:lvl6pPr>
            <a:lvl7pPr>
              <a:defRPr sz="1875" b="0">
                <a:solidFill>
                  <a:srgbClr val="028090"/>
                </a:solidFill>
                <a:latin typeface="Calibri"/>
                <a:ea typeface="Calibri"/>
                <a:cs typeface="Calibri"/>
              </a:defRPr>
            </a:lvl7pPr>
            <a:lvl8pPr>
              <a:defRPr sz="1875" b="0">
                <a:solidFill>
                  <a:srgbClr val="028090"/>
                </a:solidFill>
                <a:latin typeface="Calibri"/>
                <a:ea typeface="Calibri"/>
                <a:cs typeface="Calibri"/>
              </a:defRPr>
            </a:lvl8pPr>
            <a:lvl9pPr>
              <a:defRPr sz="1875" b="0">
                <a:solidFill>
                  <a:srgbClr val="028090"/>
                </a:solidFill>
                <a:latin typeface="Calibri"/>
                <a:ea typeface="Calibri"/>
                <a:cs typeface="Calibri"/>
              </a:defRPr>
            </a:lvl9pPr>
          </a:lstStyle>
          <a:p xmlns:a="http://schemas.openxmlformats.org/drawingml/2006/main">
            <a:pPr>
              <a:defRPr sz="1875" b="0">
                <a:solidFill>
                  <a:srgbClr val="028090"/>
                </a:solidFill>
                <a:latin typeface="Calibri"/>
                <a:ea typeface="Calibri"/>
                <a:cs typeface="Calibri"/>
              </a:defRPr>
            </a:pPr>
            <a:r>
              <a:rPr sz="1875" b="0">
                <a:solidFill>
                  <a:srgbClr val="028090"/>
                </a:solidFill>
                <a:latin typeface="Calibri"/>
                <a:ea typeface="Calibri"/>
                <a:cs typeface="Calibri"/>
              </a:rPr>
              <a:t>Selected known species, mostly urine samples. Broader validation remains necessary.</a:t>
            </a:r>
          </a:p>
        </p:txBody>
      </p:sp>
    </p:spTree>
    <p:extLst>
      <p:ext uri="{BB962C8B-B14F-4D97-AF65-F5344CB8AC3E}">
        <p14:creationId xmlns:p14="http://schemas.microsoft.com/office/powerpoint/2010/main" val="590465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owder diffraction: clues about atomic positions">
            <a:extLst xmlns:a="http://schemas.openxmlformats.org/drawingml/2006/main">
              <a:ext uri="{FF2B5EF4-FFF2-40B4-BE49-F238E27FC236}">
                <a16:creationId xmlns:a16="http://schemas.microsoft.com/office/drawing/2014/main" id="{4FEA513F-D357-4094-96B8-0F89C0565B0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defRPr sz="3150" b="0">
                <a:solidFill>
                  <a:srgbClr val="1E293B"/>
                </a:solidFill>
                <a:latin typeface="Cambria"/>
                <a:ea typeface="Cambria"/>
                <a:cs typeface="Cambria"/>
              </a:defRPr>
            </a:lvl1pPr>
            <a:lvl2pPr>
              <a:defRPr sz="3150" b="0">
                <a:solidFill>
                  <a:srgbClr val="1E293B"/>
                </a:solidFill>
                <a:latin typeface="Cambria"/>
                <a:ea typeface="Cambria"/>
                <a:cs typeface="Cambria"/>
              </a:defRPr>
            </a:lvl2pPr>
            <a:lvl3pPr>
              <a:defRPr sz="3150" b="0">
                <a:solidFill>
                  <a:srgbClr val="1E293B"/>
                </a:solidFill>
                <a:latin typeface="Cambria"/>
                <a:ea typeface="Cambria"/>
                <a:cs typeface="Cambria"/>
              </a:defRPr>
            </a:lvl3pPr>
            <a:lvl4pPr>
              <a:defRPr sz="3150" b="0">
                <a:solidFill>
                  <a:srgbClr val="1E293B"/>
                </a:solidFill>
                <a:latin typeface="Cambria"/>
                <a:ea typeface="Cambria"/>
                <a:cs typeface="Cambria"/>
              </a:defRPr>
            </a:lvl4pPr>
            <a:lvl5pPr>
              <a:defRPr sz="3150" b="0">
                <a:solidFill>
                  <a:srgbClr val="1E293B"/>
                </a:solidFill>
                <a:latin typeface="Cambria"/>
                <a:ea typeface="Cambria"/>
                <a:cs typeface="Cambria"/>
              </a:defRPr>
            </a:lvl5pPr>
            <a:lvl6pPr>
              <a:defRPr sz="3150" b="0">
                <a:solidFill>
                  <a:srgbClr val="1E293B"/>
                </a:solidFill>
                <a:latin typeface="Cambria"/>
                <a:ea typeface="Cambria"/>
                <a:cs typeface="Cambria"/>
              </a:defRPr>
            </a:lvl6pPr>
            <a:lvl7pPr>
              <a:defRPr sz="3150" b="0">
                <a:solidFill>
                  <a:srgbClr val="1E293B"/>
                </a:solidFill>
                <a:latin typeface="Cambria"/>
                <a:ea typeface="Cambria"/>
                <a:cs typeface="Cambria"/>
              </a:defRPr>
            </a:lvl7pPr>
            <a:lvl8pPr>
              <a:defRPr sz="3150" b="0">
                <a:solidFill>
                  <a:srgbClr val="1E293B"/>
                </a:solidFill>
                <a:latin typeface="Cambria"/>
                <a:ea typeface="Cambria"/>
                <a:cs typeface="Cambria"/>
              </a:defRPr>
            </a:lvl8pPr>
            <a:lvl9pPr>
              <a:defRPr sz="3150" b="0">
                <a:solidFill>
                  <a:srgbClr val="1E293B"/>
                </a:solidFill>
                <a:latin typeface="Cambria"/>
                <a:ea typeface="Cambria"/>
                <a:cs typeface="Cambria"/>
              </a:defRPr>
            </a:lvl9pPr>
          </a:lstStyle>
          <a:p xmlns:a="http://schemas.openxmlformats.org/drawingml/2006/main">
            <a:pPr>
              <a:defRPr sz="3150" b="0">
                <a:solidFill>
                  <a:srgbClr val="1E293B"/>
                </a:solidFill>
                <a:latin typeface="Cambria"/>
                <a:ea typeface="Cambria"/>
                <a:cs typeface="Cambria"/>
              </a:defRPr>
            </a:pPr>
            <a:r>
              <a:rPr sz="3150" b="0">
                <a:solidFill>
                  <a:srgbClr val="1E293B"/>
                </a:solidFill>
                <a:latin typeface="Cambria"/>
                <a:ea typeface="Cambria"/>
                <a:cs typeface="Cambria"/>
              </a:rPr>
              <a:t>Powder diffraction: clues about atomic positions</a:t>
            </a:r>
          </a:p>
        </p:txBody>
      </p:sp>
      <p:sp>
        <p:nvSpPr>
          <p:cNvPr id="2" name="A powder contains many tiny crystals in different orientations.">
            <a:extLst xmlns:a="http://schemas.openxmlformats.org/drawingml/2006/main">
              <a:ext uri="{FF2B5EF4-FFF2-40B4-BE49-F238E27FC236}">
                <a16:creationId xmlns:a16="http://schemas.microsoft.com/office/drawing/2014/main" id="{B6750EC6-7E2A-4F6B-BA5A-B1367956B4F1}"/>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defRPr sz="2025" b="0">
                <a:solidFill>
                  <a:srgbClr val="1E293B"/>
                </a:solidFill>
                <a:latin typeface="Calibri"/>
                <a:ea typeface="Calibri"/>
                <a:cs typeface="Calibri"/>
              </a:defRPr>
            </a:lvl1pPr>
            <a:lvl2pPr>
              <a:defRPr sz="2025" b="0">
                <a:solidFill>
                  <a:srgbClr val="1E293B"/>
                </a:solidFill>
                <a:latin typeface="Calibri"/>
                <a:ea typeface="Calibri"/>
                <a:cs typeface="Calibri"/>
              </a:defRPr>
            </a:lvl2pPr>
            <a:lvl3pPr>
              <a:defRPr sz="2025" b="0">
                <a:solidFill>
                  <a:srgbClr val="1E293B"/>
                </a:solidFill>
                <a:latin typeface="Calibri"/>
                <a:ea typeface="Calibri"/>
                <a:cs typeface="Calibri"/>
              </a:defRPr>
            </a:lvl3pPr>
            <a:lvl4pPr>
              <a:defRPr sz="2025" b="0">
                <a:solidFill>
                  <a:srgbClr val="1E293B"/>
                </a:solidFill>
                <a:latin typeface="Calibri"/>
                <a:ea typeface="Calibri"/>
                <a:cs typeface="Calibri"/>
              </a:defRPr>
            </a:lvl4pPr>
            <a:lvl5pPr>
              <a:defRPr sz="2025" b="0">
                <a:solidFill>
                  <a:srgbClr val="1E293B"/>
                </a:solidFill>
                <a:latin typeface="Calibri"/>
                <a:ea typeface="Calibri"/>
                <a:cs typeface="Calibri"/>
              </a:defRPr>
            </a:lvl5pPr>
            <a:lvl6pPr>
              <a:defRPr sz="2025" b="0">
                <a:solidFill>
                  <a:srgbClr val="1E293B"/>
                </a:solidFill>
                <a:latin typeface="Calibri"/>
                <a:ea typeface="Calibri"/>
                <a:cs typeface="Calibri"/>
              </a:defRPr>
            </a:lvl6pPr>
            <a:lvl7pPr>
              <a:defRPr sz="2025" b="0">
                <a:solidFill>
                  <a:srgbClr val="1E293B"/>
                </a:solidFill>
                <a:latin typeface="Calibri"/>
                <a:ea typeface="Calibri"/>
                <a:cs typeface="Calibri"/>
              </a:defRPr>
            </a:lvl7pPr>
            <a:lvl8pPr>
              <a:defRPr sz="2025" b="0">
                <a:solidFill>
                  <a:srgbClr val="1E293B"/>
                </a:solidFill>
                <a:latin typeface="Calibri"/>
                <a:ea typeface="Calibri"/>
                <a:cs typeface="Calibri"/>
              </a:defRPr>
            </a:lvl8pPr>
            <a:lvl9pPr>
              <a:defRPr sz="2025" b="0">
                <a:solidFill>
                  <a:srgbClr val="1E293B"/>
                </a:solidFill>
                <a:latin typeface="Calibri"/>
                <a:ea typeface="Calibri"/>
                <a:cs typeface="Calibri"/>
              </a:defRPr>
            </a:lvl9pPr>
          </a:lstStyle>
          <a:p xmlns:a="http://schemas.openxmlformats.org/drawingml/2006/main">
            <a:pPr>
              <a:defRPr sz="2025" b="0">
                <a:solidFill>
                  <a:srgbClr val="1E293B"/>
                </a:solidFill>
                <a:latin typeface="Calibri"/>
                <a:ea typeface="Calibri"/>
                <a:cs typeface="Calibri"/>
              </a:defRPr>
            </a:pPr>
            <a:r>
              <a:rPr sz="2025" b="0">
                <a:solidFill>
                  <a:srgbClr val="1E293B"/>
                </a:solidFill>
                <a:latin typeface="Calibri"/>
                <a:ea typeface="Calibri"/>
                <a:cs typeface="Calibri"/>
              </a:rPr>
              <a:t>A powder contains many tiny crystals in different orientations.</a:t>
            </a:r>
          </a:p>
        </p:txBody>
      </p:sp>
      <p:sp>
        <p:nvSpPr>
          <p:cNvPr id="3" name="Concept: IUCr teaching pamphlet, An introduction to X-ray diffraction.">
            <a:extLst xmlns:a="http://schemas.openxmlformats.org/drawingml/2006/main">
              <a:ext uri="{FF2B5EF4-FFF2-40B4-BE49-F238E27FC236}">
                <a16:creationId xmlns:a16="http://schemas.microsoft.com/office/drawing/2014/main" id="{55CEB8ED-3670-4971-8D97-8E945299C84B}"/>
              </a:ext>
            </a:extLst>
          </p:cNvPr>
          <p:cNvSpPr>
            <a:spLocks xmlns:a="http://schemas.openxmlformats.org/drawingml/2006/main" noGrp="1"/>
          </p:cNvSpPr>
          <p:nvPr/>
        </p:nvSpPr>
        <p:spPr>
          <a:xfrm xmlns:a="http://schemas.openxmlformats.org/drawingml/2006/main">
            <a:off x="609600" y="6496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5781d5fe47864aef"/>
              </a:rPr>
              <a:t>Concept: IUCr teaching pamphlet, An introduction to X-ray diffraction. Schematic pattern.</a:t>
            </a:r>
          </a:p>
        </p:txBody>
      </p:sp>
      <p:sp>
        <p:nvSpPr>
          <p:cNvPr id="4" name="Intensity at different scattering angles">
            <a:extLst xmlns:a="http://schemas.openxmlformats.org/drawingml/2006/main">
              <a:ext uri="{FF2B5EF4-FFF2-40B4-BE49-F238E27FC236}">
                <a16:creationId xmlns:a16="http://schemas.microsoft.com/office/drawing/2014/main" id="{40CBDF6E-8CAC-4170-86D2-9181F69C944D}"/>
              </a:ext>
            </a:extLst>
          </p:cNvPr>
          <p:cNvSpPr>
            <a:spLocks xmlns:a="http://schemas.openxmlformats.org/drawingml/2006/main" noGrp="1"/>
          </p:cNvSpPr>
          <p:nvPr/>
        </p:nvSpPr>
        <p:spPr>
          <a:xfrm xmlns:a="http://schemas.openxmlformats.org/drawingml/2006/main">
            <a:off x="723900" y="1905000"/>
            <a:ext cx="652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defRPr sz="2175" b="0">
                <a:solidFill>
                  <a:srgbClr val="028090"/>
                </a:solidFill>
                <a:latin typeface="Calibri"/>
                <a:ea typeface="Calibri"/>
                <a:cs typeface="Calibri"/>
              </a:defRPr>
            </a:lvl1pPr>
            <a:lvl2pPr>
              <a:defRPr sz="2175" b="0">
                <a:solidFill>
                  <a:srgbClr val="028090"/>
                </a:solidFill>
                <a:latin typeface="Calibri"/>
                <a:ea typeface="Calibri"/>
                <a:cs typeface="Calibri"/>
              </a:defRPr>
            </a:lvl2pPr>
            <a:lvl3pPr>
              <a:defRPr sz="2175" b="0">
                <a:solidFill>
                  <a:srgbClr val="028090"/>
                </a:solidFill>
                <a:latin typeface="Calibri"/>
                <a:ea typeface="Calibri"/>
                <a:cs typeface="Calibri"/>
              </a:defRPr>
            </a:lvl3pPr>
            <a:lvl4pPr>
              <a:defRPr sz="2175" b="0">
                <a:solidFill>
                  <a:srgbClr val="028090"/>
                </a:solidFill>
                <a:latin typeface="Calibri"/>
                <a:ea typeface="Calibri"/>
                <a:cs typeface="Calibri"/>
              </a:defRPr>
            </a:lvl4pPr>
            <a:lvl5pPr>
              <a:defRPr sz="2175" b="0">
                <a:solidFill>
                  <a:srgbClr val="028090"/>
                </a:solidFill>
                <a:latin typeface="Calibri"/>
                <a:ea typeface="Calibri"/>
                <a:cs typeface="Calibri"/>
              </a:defRPr>
            </a:lvl5pPr>
            <a:lvl6pPr>
              <a:defRPr sz="2175" b="0">
                <a:solidFill>
                  <a:srgbClr val="028090"/>
                </a:solidFill>
                <a:latin typeface="Calibri"/>
                <a:ea typeface="Calibri"/>
                <a:cs typeface="Calibri"/>
              </a:defRPr>
            </a:lvl6pPr>
            <a:lvl7pPr>
              <a:defRPr sz="2175" b="0">
                <a:solidFill>
                  <a:srgbClr val="028090"/>
                </a:solidFill>
                <a:latin typeface="Calibri"/>
                <a:ea typeface="Calibri"/>
                <a:cs typeface="Calibri"/>
              </a:defRPr>
            </a:lvl7pPr>
            <a:lvl8pPr>
              <a:defRPr sz="2175" b="0">
                <a:solidFill>
                  <a:srgbClr val="028090"/>
                </a:solidFill>
                <a:latin typeface="Calibri"/>
                <a:ea typeface="Calibri"/>
                <a:cs typeface="Calibri"/>
              </a:defRPr>
            </a:lvl8pPr>
            <a:lvl9pPr>
              <a:defRPr sz="2175" b="0">
                <a:solidFill>
                  <a:srgbClr val="028090"/>
                </a:solidFill>
                <a:latin typeface="Calibri"/>
                <a:ea typeface="Calibri"/>
                <a:cs typeface="Calibri"/>
              </a:defRPr>
            </a:lvl9pPr>
          </a:lstStyle>
          <a:p xmlns:a="http://schemas.openxmlformats.org/drawingml/2006/main">
            <a:pPr>
              <a:defRPr sz="2175" b="0">
                <a:solidFill>
                  <a:srgbClr val="028090"/>
                </a:solidFill>
                <a:latin typeface="Calibri"/>
                <a:ea typeface="Calibri"/>
                <a:cs typeface="Calibri"/>
              </a:defRPr>
            </a:pPr>
            <a:r>
              <a:rPr sz="2175" b="0">
                <a:solidFill>
                  <a:srgbClr val="028090"/>
                </a:solidFill>
                <a:latin typeface="Calibri"/>
                <a:ea typeface="Calibri"/>
                <a:cs typeface="Calibri"/>
              </a:rPr>
              <a:t>Intensity at different scattering angles</a:t>
            </a:r>
          </a:p>
        </p:txBody>
      </p:sp>
      <p:graphicFrame>
        <p:nvGraphicFramePr>
          <p:cNvPr id="5" name="Chart">
            <a:extLst xmlns:a="http://schemas.openxmlformats.org/drawingml/2006/main">
              <a:ext uri="{FF2B5EF4-FFF2-40B4-BE49-F238E27FC236}">
                <a16:creationId xmlns:a16="http://schemas.microsoft.com/office/drawing/2014/main" id="{F3B2110B-5EDF-4790-8A07-2F21FD43C5CE}"/>
              </a:ext>
            </a:extLst>
          </p:cNvPr>
          <p:cNvGraphicFramePr/>
          <p:nvPr/>
        </p:nvGraphicFramePr>
        <p:xfrm>
          <a:off xmlns:a="http://schemas.openxmlformats.org/drawingml/2006/main" x="609600" y="2476500"/>
          <a:ext xmlns:a="http://schemas.openxmlformats.org/drawingml/2006/main" cx="6800850" cy="2905125"/>
        </p:xfrm>
        <a:graphic xmlns:a="http://schemas.openxmlformats.org/drawingml/2006/main">
          <a:graphicData uri="http://schemas.openxmlformats.org/drawingml/2006/chart">
            <c:chart xmlns:r="http://schemas.openxmlformats.org/officeDocument/2006/relationships" xmlns:c="http://schemas.openxmlformats.org/drawingml/2006/chart" r:id="Rd66f7c775d0c4404"/>
          </a:graphicData>
        </a:graphic>
      </p:graphicFrame>
      <p:sp>
        <p:nvSpPr>
          <p:cNvPr id="6" name="Signal intensity (arbitrary units)">
            <a:extLst xmlns:a="http://schemas.openxmlformats.org/drawingml/2006/main">
              <a:ext uri="{FF2B5EF4-FFF2-40B4-BE49-F238E27FC236}">
                <a16:creationId xmlns:a16="http://schemas.microsoft.com/office/drawing/2014/main" id="{E7C9B2BA-3B7A-40E5-A514-396C3FA69131}"/>
              </a:ext>
            </a:extLst>
          </p:cNvPr>
          <p:cNvSpPr>
            <a:spLocks xmlns:a="http://schemas.openxmlformats.org/drawingml/2006/main" noGrp="1"/>
          </p:cNvSpPr>
          <p:nvPr/>
        </p:nvSpPr>
        <p:spPr>
          <a:xfrm xmlns:a="http://schemas.openxmlformats.org/drawingml/2006/main">
            <a:off x="752475" y="23717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4748B"/>
                </a:solidFill>
                <a:latin typeface="Calibri"/>
                <a:ea typeface="Calibri"/>
                <a:cs typeface="Calibri"/>
              </a:defRPr>
            </a:defPPr>
            <a:lvl1pPr>
              <a:defRPr sz="1350" b="0">
                <a:solidFill>
                  <a:srgbClr val="64748B"/>
                </a:solidFill>
                <a:latin typeface="Calibri"/>
                <a:ea typeface="Calibri"/>
                <a:cs typeface="Calibri"/>
              </a:defRPr>
            </a:lvl1pPr>
            <a:lvl2pPr>
              <a:defRPr sz="1350" b="0">
                <a:solidFill>
                  <a:srgbClr val="64748B"/>
                </a:solidFill>
                <a:latin typeface="Calibri"/>
                <a:ea typeface="Calibri"/>
                <a:cs typeface="Calibri"/>
              </a:defRPr>
            </a:lvl2pPr>
            <a:lvl3pPr>
              <a:defRPr sz="1350" b="0">
                <a:solidFill>
                  <a:srgbClr val="64748B"/>
                </a:solidFill>
                <a:latin typeface="Calibri"/>
                <a:ea typeface="Calibri"/>
                <a:cs typeface="Calibri"/>
              </a:defRPr>
            </a:lvl3pPr>
            <a:lvl4pPr>
              <a:defRPr sz="1350" b="0">
                <a:solidFill>
                  <a:srgbClr val="64748B"/>
                </a:solidFill>
                <a:latin typeface="Calibri"/>
                <a:ea typeface="Calibri"/>
                <a:cs typeface="Calibri"/>
              </a:defRPr>
            </a:lvl4pPr>
            <a:lvl5pPr>
              <a:defRPr sz="1350" b="0">
                <a:solidFill>
                  <a:srgbClr val="64748B"/>
                </a:solidFill>
                <a:latin typeface="Calibri"/>
                <a:ea typeface="Calibri"/>
                <a:cs typeface="Calibri"/>
              </a:defRPr>
            </a:lvl5pPr>
            <a:lvl6pPr>
              <a:defRPr sz="1350" b="0">
                <a:solidFill>
                  <a:srgbClr val="64748B"/>
                </a:solidFill>
                <a:latin typeface="Calibri"/>
                <a:ea typeface="Calibri"/>
                <a:cs typeface="Calibri"/>
              </a:defRPr>
            </a:lvl6pPr>
            <a:lvl7pPr>
              <a:defRPr sz="1350" b="0">
                <a:solidFill>
                  <a:srgbClr val="64748B"/>
                </a:solidFill>
                <a:latin typeface="Calibri"/>
                <a:ea typeface="Calibri"/>
                <a:cs typeface="Calibri"/>
              </a:defRPr>
            </a:lvl7pPr>
            <a:lvl8pPr>
              <a:defRPr sz="1350" b="0">
                <a:solidFill>
                  <a:srgbClr val="64748B"/>
                </a:solidFill>
                <a:latin typeface="Calibri"/>
                <a:ea typeface="Calibri"/>
                <a:cs typeface="Calibri"/>
              </a:defRPr>
            </a:lvl8pPr>
            <a:lvl9pPr>
              <a:defRPr sz="1350" b="0">
                <a:solidFill>
                  <a:srgbClr val="64748B"/>
                </a:solidFill>
                <a:latin typeface="Calibri"/>
                <a:ea typeface="Calibri"/>
                <a:cs typeface="Calibri"/>
              </a:defRPr>
            </a:lvl9pPr>
          </a:lstStyle>
          <a:p xmlns:a="http://schemas.openxmlformats.org/drawingml/2006/main">
            <a:pPr>
              <a:defRPr sz="1350" b="0">
                <a:solidFill>
                  <a:srgbClr val="64748B"/>
                </a:solidFill>
                <a:latin typeface="Calibri"/>
                <a:ea typeface="Calibri"/>
                <a:cs typeface="Calibri"/>
              </a:defRPr>
            </a:pPr>
            <a:r>
              <a:rPr sz="1350" b="0">
                <a:solidFill>
                  <a:srgbClr val="64748B"/>
                </a:solidFill>
                <a:latin typeface="Calibri"/>
                <a:ea typeface="Calibri"/>
                <a:cs typeface="Calibri"/>
              </a:rPr>
              <a:t>Signal intensity (arbitrary units)</a:t>
            </a:r>
          </a:p>
        </p:txBody>
      </p:sp>
      <p:sp>
        <p:nvSpPr>
          <p:cNvPr id="7" name="Scattering angle 2θ (degrees)">
            <a:extLst xmlns:a="http://schemas.openxmlformats.org/drawingml/2006/main">
              <a:ext uri="{FF2B5EF4-FFF2-40B4-BE49-F238E27FC236}">
                <a16:creationId xmlns:a16="http://schemas.microsoft.com/office/drawing/2014/main" id="{2E5AC54F-325D-4016-A8A5-53340463A83A}"/>
              </a:ext>
            </a:extLst>
          </p:cNvPr>
          <p:cNvSpPr>
            <a:spLocks xmlns:a="http://schemas.openxmlformats.org/drawingml/2006/main" noGrp="1"/>
          </p:cNvSpPr>
          <p:nvPr/>
        </p:nvSpPr>
        <p:spPr>
          <a:xfrm xmlns:a="http://schemas.openxmlformats.org/drawingml/2006/main">
            <a:off x="1857375" y="54197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E293B"/>
                </a:solidFill>
                <a:latin typeface="Calibri"/>
                <a:ea typeface="Calibri"/>
                <a:cs typeface="Calibri"/>
              </a:defRPr>
            </a:defPPr>
            <a:lvl1pPr>
              <a:defRPr sz="1650" b="0">
                <a:solidFill>
                  <a:srgbClr val="1E293B"/>
                </a:solidFill>
                <a:latin typeface="Calibri"/>
                <a:ea typeface="Calibri"/>
                <a:cs typeface="Calibri"/>
              </a:defRPr>
            </a:lvl1pPr>
            <a:lvl2pPr>
              <a:defRPr sz="1650" b="0">
                <a:solidFill>
                  <a:srgbClr val="1E293B"/>
                </a:solidFill>
                <a:latin typeface="Calibri"/>
                <a:ea typeface="Calibri"/>
                <a:cs typeface="Calibri"/>
              </a:defRPr>
            </a:lvl2pPr>
            <a:lvl3pPr>
              <a:defRPr sz="1650" b="0">
                <a:solidFill>
                  <a:srgbClr val="1E293B"/>
                </a:solidFill>
                <a:latin typeface="Calibri"/>
                <a:ea typeface="Calibri"/>
                <a:cs typeface="Calibri"/>
              </a:defRPr>
            </a:lvl3pPr>
            <a:lvl4pPr>
              <a:defRPr sz="1650" b="0">
                <a:solidFill>
                  <a:srgbClr val="1E293B"/>
                </a:solidFill>
                <a:latin typeface="Calibri"/>
                <a:ea typeface="Calibri"/>
                <a:cs typeface="Calibri"/>
              </a:defRPr>
            </a:lvl4pPr>
            <a:lvl5pPr>
              <a:defRPr sz="1650" b="0">
                <a:solidFill>
                  <a:srgbClr val="1E293B"/>
                </a:solidFill>
                <a:latin typeface="Calibri"/>
                <a:ea typeface="Calibri"/>
                <a:cs typeface="Calibri"/>
              </a:defRPr>
            </a:lvl5pPr>
            <a:lvl6pPr>
              <a:defRPr sz="1650" b="0">
                <a:solidFill>
                  <a:srgbClr val="1E293B"/>
                </a:solidFill>
                <a:latin typeface="Calibri"/>
                <a:ea typeface="Calibri"/>
                <a:cs typeface="Calibri"/>
              </a:defRPr>
            </a:lvl6pPr>
            <a:lvl7pPr>
              <a:defRPr sz="1650" b="0">
                <a:solidFill>
                  <a:srgbClr val="1E293B"/>
                </a:solidFill>
                <a:latin typeface="Calibri"/>
                <a:ea typeface="Calibri"/>
                <a:cs typeface="Calibri"/>
              </a:defRPr>
            </a:lvl7pPr>
            <a:lvl8pPr>
              <a:defRPr sz="1650" b="0">
                <a:solidFill>
                  <a:srgbClr val="1E293B"/>
                </a:solidFill>
                <a:latin typeface="Calibri"/>
                <a:ea typeface="Calibri"/>
                <a:cs typeface="Calibri"/>
              </a:defRPr>
            </a:lvl8pPr>
            <a:lvl9pPr>
              <a:defRPr sz="1650" b="0">
                <a:solidFill>
                  <a:srgbClr val="1E293B"/>
                </a:solidFill>
                <a:latin typeface="Calibri"/>
                <a:ea typeface="Calibri"/>
                <a:cs typeface="Calibri"/>
              </a:defRPr>
            </a:lvl9pPr>
          </a:lstStyle>
          <a:p xmlns:a="http://schemas.openxmlformats.org/drawingml/2006/main">
            <a:pPr>
              <a:defRPr sz="1650" b="0">
                <a:solidFill>
                  <a:srgbClr val="1E293B"/>
                </a:solidFill>
                <a:latin typeface="Calibri"/>
                <a:ea typeface="Calibri"/>
                <a:cs typeface="Calibri"/>
              </a:defRPr>
            </a:pPr>
            <a:r>
              <a:rPr sz="1650" b="0">
                <a:solidFill>
                  <a:srgbClr val="1E293B"/>
                </a:solidFill>
                <a:latin typeface="Calibri"/>
                <a:ea typeface="Calibri"/>
                <a:cs typeface="Calibri"/>
              </a:rPr>
              <a:t>Scattering angle 2θ (degrees)</a:t>
            </a:r>
          </a:p>
        </p:txBody>
      </p:sp>
      <p:sp>
        <p:nvSpPr>
          <p:cNvPr id="8" name="What produces the pattern?">
            <a:extLst xmlns:a="http://schemas.openxmlformats.org/drawingml/2006/main">
              <a:ext uri="{FF2B5EF4-FFF2-40B4-BE49-F238E27FC236}">
                <a16:creationId xmlns:a16="http://schemas.microsoft.com/office/drawing/2014/main" id="{2E7DDE53-0DF5-4B5F-BFC0-884445F7597C}"/>
              </a:ext>
            </a:extLst>
          </p:cNvPr>
          <p:cNvSpPr>
            <a:spLocks xmlns:a="http://schemas.openxmlformats.org/drawingml/2006/main" noGrp="1"/>
          </p:cNvSpPr>
          <p:nvPr/>
        </p:nvSpPr>
        <p:spPr>
          <a:xfrm xmlns:a="http://schemas.openxmlformats.org/drawingml/2006/main">
            <a:off x="7905750" y="1876425"/>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defRPr sz="2175" b="0">
                <a:solidFill>
                  <a:srgbClr val="028090"/>
                </a:solidFill>
                <a:latin typeface="Calibri"/>
                <a:ea typeface="Calibri"/>
                <a:cs typeface="Calibri"/>
              </a:defRPr>
            </a:lvl1pPr>
            <a:lvl2pPr>
              <a:defRPr sz="2175" b="0">
                <a:solidFill>
                  <a:srgbClr val="028090"/>
                </a:solidFill>
                <a:latin typeface="Calibri"/>
                <a:ea typeface="Calibri"/>
                <a:cs typeface="Calibri"/>
              </a:defRPr>
            </a:lvl2pPr>
            <a:lvl3pPr>
              <a:defRPr sz="2175" b="0">
                <a:solidFill>
                  <a:srgbClr val="028090"/>
                </a:solidFill>
                <a:latin typeface="Calibri"/>
                <a:ea typeface="Calibri"/>
                <a:cs typeface="Calibri"/>
              </a:defRPr>
            </a:lvl3pPr>
            <a:lvl4pPr>
              <a:defRPr sz="2175" b="0">
                <a:solidFill>
                  <a:srgbClr val="028090"/>
                </a:solidFill>
                <a:latin typeface="Calibri"/>
                <a:ea typeface="Calibri"/>
                <a:cs typeface="Calibri"/>
              </a:defRPr>
            </a:lvl4pPr>
            <a:lvl5pPr>
              <a:defRPr sz="2175" b="0">
                <a:solidFill>
                  <a:srgbClr val="028090"/>
                </a:solidFill>
                <a:latin typeface="Calibri"/>
                <a:ea typeface="Calibri"/>
                <a:cs typeface="Calibri"/>
              </a:defRPr>
            </a:lvl5pPr>
            <a:lvl6pPr>
              <a:defRPr sz="2175" b="0">
                <a:solidFill>
                  <a:srgbClr val="028090"/>
                </a:solidFill>
                <a:latin typeface="Calibri"/>
                <a:ea typeface="Calibri"/>
                <a:cs typeface="Calibri"/>
              </a:defRPr>
            </a:lvl6pPr>
            <a:lvl7pPr>
              <a:defRPr sz="2175" b="0">
                <a:solidFill>
                  <a:srgbClr val="028090"/>
                </a:solidFill>
                <a:latin typeface="Calibri"/>
                <a:ea typeface="Calibri"/>
                <a:cs typeface="Calibri"/>
              </a:defRPr>
            </a:lvl7pPr>
            <a:lvl8pPr>
              <a:defRPr sz="2175" b="0">
                <a:solidFill>
                  <a:srgbClr val="028090"/>
                </a:solidFill>
                <a:latin typeface="Calibri"/>
                <a:ea typeface="Calibri"/>
                <a:cs typeface="Calibri"/>
              </a:defRPr>
            </a:lvl8pPr>
            <a:lvl9pPr>
              <a:defRPr sz="2175" b="0">
                <a:solidFill>
                  <a:srgbClr val="028090"/>
                </a:solidFill>
                <a:latin typeface="Calibri"/>
                <a:ea typeface="Calibri"/>
                <a:cs typeface="Calibri"/>
              </a:defRPr>
            </a:lvl9pPr>
          </a:lstStyle>
          <a:p xmlns:a="http://schemas.openxmlformats.org/drawingml/2006/main">
            <a:pPr>
              <a:defRPr sz="2175" b="0">
                <a:solidFill>
                  <a:srgbClr val="028090"/>
                </a:solidFill>
                <a:latin typeface="Calibri"/>
                <a:ea typeface="Calibri"/>
                <a:cs typeface="Calibri"/>
              </a:defRPr>
            </a:pPr>
            <a:r>
              <a:rPr sz="2175" b="0">
                <a:solidFill>
                  <a:srgbClr val="028090"/>
                </a:solidFill>
                <a:latin typeface="Calibri"/>
                <a:ea typeface="Calibri"/>
                <a:cs typeface="Calibri"/>
              </a:rPr>
              <a:t>What produces the pattern?</a:t>
            </a:r>
          </a:p>
        </p:txBody>
      </p:sp>
      <p:sp>
        <p:nvSpPr>
          <p:cNvPr id="9" name="Atoms scatter X-rays. Waves reinforce each other at certain angles.">
            <a:extLst xmlns:a="http://schemas.openxmlformats.org/drawingml/2006/main">
              <a:ext uri="{FF2B5EF4-FFF2-40B4-BE49-F238E27FC236}">
                <a16:creationId xmlns:a16="http://schemas.microsoft.com/office/drawing/2014/main" id="{97A404CF-37F8-4D7A-B3DA-E30A53FCFEEA}"/>
              </a:ext>
            </a:extLst>
          </p:cNvPr>
          <p:cNvSpPr>
            <a:spLocks xmlns:a="http://schemas.openxmlformats.org/drawingml/2006/main" noGrp="1"/>
          </p:cNvSpPr>
          <p:nvPr/>
        </p:nvSpPr>
        <p:spPr>
          <a:xfrm xmlns:a="http://schemas.openxmlformats.org/drawingml/2006/main">
            <a:off x="7905750" y="23812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defRPr sz="1950" b="0">
                <a:solidFill>
                  <a:srgbClr val="1E293B"/>
                </a:solidFill>
                <a:latin typeface="Calibri"/>
                <a:ea typeface="Calibri"/>
                <a:cs typeface="Calibri"/>
              </a:defRPr>
            </a:lvl1pPr>
            <a:lvl2pPr>
              <a:defRPr sz="1950" b="0">
                <a:solidFill>
                  <a:srgbClr val="1E293B"/>
                </a:solidFill>
                <a:latin typeface="Calibri"/>
                <a:ea typeface="Calibri"/>
                <a:cs typeface="Calibri"/>
              </a:defRPr>
            </a:lvl2pPr>
            <a:lvl3pPr>
              <a:defRPr sz="1950" b="0">
                <a:solidFill>
                  <a:srgbClr val="1E293B"/>
                </a:solidFill>
                <a:latin typeface="Calibri"/>
                <a:ea typeface="Calibri"/>
                <a:cs typeface="Calibri"/>
              </a:defRPr>
            </a:lvl3pPr>
            <a:lvl4pPr>
              <a:defRPr sz="1950" b="0">
                <a:solidFill>
                  <a:srgbClr val="1E293B"/>
                </a:solidFill>
                <a:latin typeface="Calibri"/>
                <a:ea typeface="Calibri"/>
                <a:cs typeface="Calibri"/>
              </a:defRPr>
            </a:lvl4pPr>
            <a:lvl5pPr>
              <a:defRPr sz="1950" b="0">
                <a:solidFill>
                  <a:srgbClr val="1E293B"/>
                </a:solidFill>
                <a:latin typeface="Calibri"/>
                <a:ea typeface="Calibri"/>
                <a:cs typeface="Calibri"/>
              </a:defRPr>
            </a:lvl5pPr>
            <a:lvl6pPr>
              <a:defRPr sz="1950" b="0">
                <a:solidFill>
                  <a:srgbClr val="1E293B"/>
                </a:solidFill>
                <a:latin typeface="Calibri"/>
                <a:ea typeface="Calibri"/>
                <a:cs typeface="Calibri"/>
              </a:defRPr>
            </a:lvl6pPr>
            <a:lvl7pPr>
              <a:defRPr sz="1950" b="0">
                <a:solidFill>
                  <a:srgbClr val="1E293B"/>
                </a:solidFill>
                <a:latin typeface="Calibri"/>
                <a:ea typeface="Calibri"/>
                <a:cs typeface="Calibri"/>
              </a:defRPr>
            </a:lvl7pPr>
            <a:lvl8pPr>
              <a:defRPr sz="1950" b="0">
                <a:solidFill>
                  <a:srgbClr val="1E293B"/>
                </a:solidFill>
                <a:latin typeface="Calibri"/>
                <a:ea typeface="Calibri"/>
                <a:cs typeface="Calibri"/>
              </a:defRPr>
            </a:lvl8pPr>
            <a:lvl9pPr>
              <a:defRPr sz="1950" b="0">
                <a:solidFill>
                  <a:srgbClr val="1E293B"/>
                </a:solidFill>
                <a:latin typeface="Calibri"/>
                <a:ea typeface="Calibri"/>
                <a:cs typeface="Calibri"/>
              </a:defRPr>
            </a:lvl9pPr>
          </a:lstStyle>
          <a:p xmlns:a="http://schemas.openxmlformats.org/drawingml/2006/main">
            <a:pPr>
              <a:defRPr sz="1950" b="0">
                <a:solidFill>
                  <a:srgbClr val="1E293B"/>
                </a:solidFill>
                <a:latin typeface="Calibri"/>
                <a:ea typeface="Calibri"/>
                <a:cs typeface="Calibri"/>
              </a:defRPr>
            </a:pPr>
            <a:r>
              <a:rPr sz="1950" b="0">
                <a:solidFill>
                  <a:srgbClr val="1E293B"/>
                </a:solidFill>
                <a:latin typeface="Calibri"/>
                <a:ea typeface="Calibri"/>
                <a:cs typeface="Calibri"/>
              </a:rPr>
              <a:t>Atoms scatter X-rays. Waves reinforce each other at certain angles.</a:t>
            </a:r>
          </a:p>
        </p:txBody>
      </p:sp>
      <p:sp>
        <p:nvSpPr>
          <p:cNvPr id="10" name="What do the peaks tell us?">
            <a:extLst xmlns:a="http://schemas.openxmlformats.org/drawingml/2006/main">
              <a:ext uri="{FF2B5EF4-FFF2-40B4-BE49-F238E27FC236}">
                <a16:creationId xmlns:a16="http://schemas.microsoft.com/office/drawing/2014/main" id="{158D387E-F720-4159-8A21-FB634AC39EEB}"/>
              </a:ext>
            </a:extLst>
          </p:cNvPr>
          <p:cNvSpPr>
            <a:spLocks xmlns:a="http://schemas.openxmlformats.org/drawingml/2006/main" noGrp="1"/>
          </p:cNvSpPr>
          <p:nvPr/>
        </p:nvSpPr>
        <p:spPr>
          <a:xfrm xmlns:a="http://schemas.openxmlformats.org/drawingml/2006/main">
            <a:off x="7905750" y="352425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28090"/>
                </a:solidFill>
                <a:latin typeface="Calibri"/>
                <a:ea typeface="Calibri"/>
                <a:cs typeface="Calibri"/>
              </a:defRPr>
            </a:defPPr>
            <a:lvl1pPr>
              <a:defRPr sz="2175" b="0">
                <a:solidFill>
                  <a:srgbClr val="028090"/>
                </a:solidFill>
                <a:latin typeface="Calibri"/>
                <a:ea typeface="Calibri"/>
                <a:cs typeface="Calibri"/>
              </a:defRPr>
            </a:lvl1pPr>
            <a:lvl2pPr>
              <a:defRPr sz="2175" b="0">
                <a:solidFill>
                  <a:srgbClr val="028090"/>
                </a:solidFill>
                <a:latin typeface="Calibri"/>
                <a:ea typeface="Calibri"/>
                <a:cs typeface="Calibri"/>
              </a:defRPr>
            </a:lvl2pPr>
            <a:lvl3pPr>
              <a:defRPr sz="2175" b="0">
                <a:solidFill>
                  <a:srgbClr val="028090"/>
                </a:solidFill>
                <a:latin typeface="Calibri"/>
                <a:ea typeface="Calibri"/>
                <a:cs typeface="Calibri"/>
              </a:defRPr>
            </a:lvl3pPr>
            <a:lvl4pPr>
              <a:defRPr sz="2175" b="0">
                <a:solidFill>
                  <a:srgbClr val="028090"/>
                </a:solidFill>
                <a:latin typeface="Calibri"/>
                <a:ea typeface="Calibri"/>
                <a:cs typeface="Calibri"/>
              </a:defRPr>
            </a:lvl4pPr>
            <a:lvl5pPr>
              <a:defRPr sz="2175" b="0">
                <a:solidFill>
                  <a:srgbClr val="028090"/>
                </a:solidFill>
                <a:latin typeface="Calibri"/>
                <a:ea typeface="Calibri"/>
                <a:cs typeface="Calibri"/>
              </a:defRPr>
            </a:lvl5pPr>
            <a:lvl6pPr>
              <a:defRPr sz="2175" b="0">
                <a:solidFill>
                  <a:srgbClr val="028090"/>
                </a:solidFill>
                <a:latin typeface="Calibri"/>
                <a:ea typeface="Calibri"/>
                <a:cs typeface="Calibri"/>
              </a:defRPr>
            </a:lvl6pPr>
            <a:lvl7pPr>
              <a:defRPr sz="2175" b="0">
                <a:solidFill>
                  <a:srgbClr val="028090"/>
                </a:solidFill>
                <a:latin typeface="Calibri"/>
                <a:ea typeface="Calibri"/>
                <a:cs typeface="Calibri"/>
              </a:defRPr>
            </a:lvl7pPr>
            <a:lvl8pPr>
              <a:defRPr sz="2175" b="0">
                <a:solidFill>
                  <a:srgbClr val="028090"/>
                </a:solidFill>
                <a:latin typeface="Calibri"/>
                <a:ea typeface="Calibri"/>
                <a:cs typeface="Calibri"/>
              </a:defRPr>
            </a:lvl8pPr>
            <a:lvl9pPr>
              <a:defRPr sz="2175" b="0">
                <a:solidFill>
                  <a:srgbClr val="028090"/>
                </a:solidFill>
                <a:latin typeface="Calibri"/>
                <a:ea typeface="Calibri"/>
                <a:cs typeface="Calibri"/>
              </a:defRPr>
            </a:lvl9pPr>
          </a:lstStyle>
          <a:p xmlns:a="http://schemas.openxmlformats.org/drawingml/2006/main">
            <a:pPr>
              <a:defRPr sz="2175" b="0">
                <a:solidFill>
                  <a:srgbClr val="028090"/>
                </a:solidFill>
                <a:latin typeface="Calibri"/>
                <a:ea typeface="Calibri"/>
                <a:cs typeface="Calibri"/>
              </a:defRPr>
            </a:pPr>
            <a:r>
              <a:rPr sz="2175" b="0">
                <a:solidFill>
                  <a:srgbClr val="028090"/>
                </a:solidFill>
                <a:latin typeface="Calibri"/>
                <a:ea typeface="Calibri"/>
                <a:cs typeface="Calibri"/>
              </a:rPr>
              <a:t>What do the peaks tell us?</a:t>
            </a:r>
          </a:p>
        </p:txBody>
      </p:sp>
      <p:sp>
        <p:nvSpPr>
          <p:cNvPr id="11" name="Positions reflect repeating spacings. Intensities depend on the atoms ">
            <a:extLst xmlns:a="http://schemas.openxmlformats.org/drawingml/2006/main">
              <a:ext uri="{FF2B5EF4-FFF2-40B4-BE49-F238E27FC236}">
                <a16:creationId xmlns:a16="http://schemas.microsoft.com/office/drawing/2014/main" id="{DA14B725-9BB7-48CC-BB5D-020450077659}"/>
              </a:ext>
            </a:extLst>
          </p:cNvPr>
          <p:cNvSpPr>
            <a:spLocks xmlns:a="http://schemas.openxmlformats.org/drawingml/2006/main" noGrp="1"/>
          </p:cNvSpPr>
          <p:nvPr/>
        </p:nvSpPr>
        <p:spPr>
          <a:xfrm xmlns:a="http://schemas.openxmlformats.org/drawingml/2006/main">
            <a:off x="7905750" y="4038600"/>
            <a:ext cx="3619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defRPr sz="1950" b="0">
                <a:solidFill>
                  <a:srgbClr val="1E293B"/>
                </a:solidFill>
                <a:latin typeface="Calibri"/>
                <a:ea typeface="Calibri"/>
                <a:cs typeface="Calibri"/>
              </a:defRPr>
            </a:lvl1pPr>
            <a:lvl2pPr>
              <a:defRPr sz="1950" b="0">
                <a:solidFill>
                  <a:srgbClr val="1E293B"/>
                </a:solidFill>
                <a:latin typeface="Calibri"/>
                <a:ea typeface="Calibri"/>
                <a:cs typeface="Calibri"/>
              </a:defRPr>
            </a:lvl2pPr>
            <a:lvl3pPr>
              <a:defRPr sz="1950" b="0">
                <a:solidFill>
                  <a:srgbClr val="1E293B"/>
                </a:solidFill>
                <a:latin typeface="Calibri"/>
                <a:ea typeface="Calibri"/>
                <a:cs typeface="Calibri"/>
              </a:defRPr>
            </a:lvl3pPr>
            <a:lvl4pPr>
              <a:defRPr sz="1950" b="0">
                <a:solidFill>
                  <a:srgbClr val="1E293B"/>
                </a:solidFill>
                <a:latin typeface="Calibri"/>
                <a:ea typeface="Calibri"/>
                <a:cs typeface="Calibri"/>
              </a:defRPr>
            </a:lvl4pPr>
            <a:lvl5pPr>
              <a:defRPr sz="1950" b="0">
                <a:solidFill>
                  <a:srgbClr val="1E293B"/>
                </a:solidFill>
                <a:latin typeface="Calibri"/>
                <a:ea typeface="Calibri"/>
                <a:cs typeface="Calibri"/>
              </a:defRPr>
            </a:lvl5pPr>
            <a:lvl6pPr>
              <a:defRPr sz="1950" b="0">
                <a:solidFill>
                  <a:srgbClr val="1E293B"/>
                </a:solidFill>
                <a:latin typeface="Calibri"/>
                <a:ea typeface="Calibri"/>
                <a:cs typeface="Calibri"/>
              </a:defRPr>
            </a:lvl6pPr>
            <a:lvl7pPr>
              <a:defRPr sz="1950" b="0">
                <a:solidFill>
                  <a:srgbClr val="1E293B"/>
                </a:solidFill>
                <a:latin typeface="Calibri"/>
                <a:ea typeface="Calibri"/>
                <a:cs typeface="Calibri"/>
              </a:defRPr>
            </a:lvl7pPr>
            <a:lvl8pPr>
              <a:defRPr sz="1950" b="0">
                <a:solidFill>
                  <a:srgbClr val="1E293B"/>
                </a:solidFill>
                <a:latin typeface="Calibri"/>
                <a:ea typeface="Calibri"/>
                <a:cs typeface="Calibri"/>
              </a:defRPr>
            </a:lvl8pPr>
            <a:lvl9pPr>
              <a:defRPr sz="1950" b="0">
                <a:solidFill>
                  <a:srgbClr val="1E293B"/>
                </a:solidFill>
                <a:latin typeface="Calibri"/>
                <a:ea typeface="Calibri"/>
                <a:cs typeface="Calibri"/>
              </a:defRPr>
            </a:lvl9pPr>
          </a:lstStyle>
          <a:p xmlns:a="http://schemas.openxmlformats.org/drawingml/2006/main">
            <a:pPr>
              <a:defRPr sz="1950" b="0">
                <a:solidFill>
                  <a:srgbClr val="1E293B"/>
                </a:solidFill>
                <a:latin typeface="Calibri"/>
                <a:ea typeface="Calibri"/>
                <a:cs typeface="Calibri"/>
              </a:defRPr>
            </a:pPr>
            <a:r>
              <a:rPr sz="1950" b="0">
                <a:solidFill>
                  <a:srgbClr val="1E293B"/>
                </a:solidFill>
                <a:latin typeface="Calibri"/>
                <a:ea typeface="Calibri"/>
                <a:cs typeface="Calibri"/>
              </a:rPr>
              <a:t>Positions reflect repeating spacings.</a:t>
            </a:r>
          </a:p>
          <a:p xmlns:a="http://schemas.openxmlformats.org/drawingml/2006/main">
            <a:pPr>
              <a:defRPr sz="1950" b="0">
                <a:solidFill>
                  <a:srgbClr val="1E293B"/>
                </a:solidFill>
                <a:latin typeface="Calibri"/>
                <a:ea typeface="Calibri"/>
                <a:cs typeface="Calibri"/>
              </a:defRPr>
            </a:pPr>
            <a:r>
              <a:rPr sz="1950" b="0">
                <a:solidFill>
                  <a:srgbClr val="1E293B"/>
                </a:solidFill>
                <a:latin typeface="Calibri"/>
                <a:ea typeface="Calibri"/>
                <a:cs typeface="Calibri"/>
              </a:rPr>
              <a:t>Intensities depend on the atoms and their positions.</a:t>
            </a:r>
          </a:p>
        </p:txBody>
      </p:sp>
      <p:sp>
        <p:nvSpPr>
          <p:cNvPr id="12" name="Goal here: use the pattern and formula to infer an atomic arrangement.">
            <a:extLst xmlns:a="http://schemas.openxmlformats.org/drawingml/2006/main">
              <a:ext uri="{FF2B5EF4-FFF2-40B4-BE49-F238E27FC236}">
                <a16:creationId xmlns:a16="http://schemas.microsoft.com/office/drawing/2014/main" id="{06C7B57F-8CEF-451E-A31D-A112652DB3E4}"/>
              </a:ext>
            </a:extLst>
          </p:cNvPr>
          <p:cNvSpPr>
            <a:spLocks xmlns:a="http://schemas.openxmlformats.org/drawingml/2006/main" noGrp="1"/>
          </p:cNvSpPr>
          <p:nvPr/>
        </p:nvSpPr>
        <p:spPr>
          <a:xfrm xmlns:a="http://schemas.openxmlformats.org/drawingml/2006/main">
            <a:off x="685800" y="59150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28090"/>
                </a:solidFill>
                <a:latin typeface="Calibri"/>
                <a:ea typeface="Calibri"/>
                <a:cs typeface="Calibri"/>
              </a:defRPr>
            </a:defPPr>
            <a:lvl1pPr>
              <a:defRPr sz="2100" b="0">
                <a:solidFill>
                  <a:srgbClr val="028090"/>
                </a:solidFill>
                <a:latin typeface="Calibri"/>
                <a:ea typeface="Calibri"/>
                <a:cs typeface="Calibri"/>
              </a:defRPr>
            </a:lvl1pPr>
            <a:lvl2pPr>
              <a:defRPr sz="2100" b="0">
                <a:solidFill>
                  <a:srgbClr val="028090"/>
                </a:solidFill>
                <a:latin typeface="Calibri"/>
                <a:ea typeface="Calibri"/>
                <a:cs typeface="Calibri"/>
              </a:defRPr>
            </a:lvl2pPr>
            <a:lvl3pPr>
              <a:defRPr sz="2100" b="0">
                <a:solidFill>
                  <a:srgbClr val="028090"/>
                </a:solidFill>
                <a:latin typeface="Calibri"/>
                <a:ea typeface="Calibri"/>
                <a:cs typeface="Calibri"/>
              </a:defRPr>
            </a:lvl3pPr>
            <a:lvl4pPr>
              <a:defRPr sz="2100" b="0">
                <a:solidFill>
                  <a:srgbClr val="028090"/>
                </a:solidFill>
                <a:latin typeface="Calibri"/>
                <a:ea typeface="Calibri"/>
                <a:cs typeface="Calibri"/>
              </a:defRPr>
            </a:lvl4pPr>
            <a:lvl5pPr>
              <a:defRPr sz="2100" b="0">
                <a:solidFill>
                  <a:srgbClr val="028090"/>
                </a:solidFill>
                <a:latin typeface="Calibri"/>
                <a:ea typeface="Calibri"/>
                <a:cs typeface="Calibri"/>
              </a:defRPr>
            </a:lvl5pPr>
            <a:lvl6pPr>
              <a:defRPr sz="2100" b="0">
                <a:solidFill>
                  <a:srgbClr val="028090"/>
                </a:solidFill>
                <a:latin typeface="Calibri"/>
                <a:ea typeface="Calibri"/>
                <a:cs typeface="Calibri"/>
              </a:defRPr>
            </a:lvl6pPr>
            <a:lvl7pPr>
              <a:defRPr sz="2100" b="0">
                <a:solidFill>
                  <a:srgbClr val="028090"/>
                </a:solidFill>
                <a:latin typeface="Calibri"/>
                <a:ea typeface="Calibri"/>
                <a:cs typeface="Calibri"/>
              </a:defRPr>
            </a:lvl7pPr>
            <a:lvl8pPr>
              <a:defRPr sz="2100" b="0">
                <a:solidFill>
                  <a:srgbClr val="028090"/>
                </a:solidFill>
                <a:latin typeface="Calibri"/>
                <a:ea typeface="Calibri"/>
                <a:cs typeface="Calibri"/>
              </a:defRPr>
            </a:lvl8pPr>
            <a:lvl9pPr>
              <a:defRPr sz="2100" b="0">
                <a:solidFill>
                  <a:srgbClr val="028090"/>
                </a:solidFill>
                <a:latin typeface="Calibri"/>
                <a:ea typeface="Calibri"/>
                <a:cs typeface="Calibri"/>
              </a:defRPr>
            </a:lvl9pPr>
          </a:lstStyle>
          <a:p xmlns:a="http://schemas.openxmlformats.org/drawingml/2006/main">
            <a:pPr>
              <a:defRPr sz="2100" b="0">
                <a:solidFill>
                  <a:srgbClr val="028090"/>
                </a:solidFill>
                <a:latin typeface="Calibri"/>
                <a:ea typeface="Calibri"/>
                <a:cs typeface="Calibri"/>
              </a:defRPr>
            </a:pPr>
            <a:r>
              <a:rPr sz="2100" b="0">
                <a:solidFill>
                  <a:srgbClr val="028090"/>
                </a:solidFill>
                <a:latin typeface="Calibri"/>
                <a:ea typeface="Calibri"/>
                <a:cs typeface="Calibri"/>
              </a:rPr>
              <a:t>Goal here: use the pattern and formula to infer an atomic arrangement.</a:t>
            </a:r>
          </a:p>
        </p:txBody>
      </p:sp>
      <p:sp>
        <p:nvSpPr>
          <p:cNvPr id="13" name="7">
            <a:extLst xmlns:a="http://schemas.openxmlformats.org/drawingml/2006/main">
              <a:ext uri="{FF2B5EF4-FFF2-40B4-BE49-F238E27FC236}">
                <a16:creationId xmlns:a16="http://schemas.microsoft.com/office/drawing/2014/main" id="{DCCEA7D3-BE57-4BA4-96F7-E56297AA4A14}"/>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defRPr sz="1125" b="0">
                <a:solidFill>
                  <a:srgbClr val="64748B"/>
                </a:solidFill>
                <a:latin typeface="Calibri"/>
                <a:ea typeface="Calibri"/>
                <a:cs typeface="Calibri"/>
              </a:defRPr>
            </a:lvl1pPr>
            <a:lvl2pPr>
              <a:defRPr sz="1125" b="0">
                <a:solidFill>
                  <a:srgbClr val="64748B"/>
                </a:solidFill>
                <a:latin typeface="Calibri"/>
                <a:ea typeface="Calibri"/>
                <a:cs typeface="Calibri"/>
              </a:defRPr>
            </a:lvl2pPr>
            <a:lvl3pPr>
              <a:defRPr sz="1125" b="0">
                <a:solidFill>
                  <a:srgbClr val="64748B"/>
                </a:solidFill>
                <a:latin typeface="Calibri"/>
                <a:ea typeface="Calibri"/>
                <a:cs typeface="Calibri"/>
              </a:defRPr>
            </a:lvl3pPr>
            <a:lvl4pPr>
              <a:defRPr sz="1125" b="0">
                <a:solidFill>
                  <a:srgbClr val="64748B"/>
                </a:solidFill>
                <a:latin typeface="Calibri"/>
                <a:ea typeface="Calibri"/>
                <a:cs typeface="Calibri"/>
              </a:defRPr>
            </a:lvl4pPr>
            <a:lvl5pPr>
              <a:defRPr sz="1125" b="0">
                <a:solidFill>
                  <a:srgbClr val="64748B"/>
                </a:solidFill>
                <a:latin typeface="Calibri"/>
                <a:ea typeface="Calibri"/>
                <a:cs typeface="Calibri"/>
              </a:defRPr>
            </a:lvl5pPr>
            <a:lvl6pPr>
              <a:defRPr sz="1125" b="0">
                <a:solidFill>
                  <a:srgbClr val="64748B"/>
                </a:solidFill>
                <a:latin typeface="Calibri"/>
                <a:ea typeface="Calibri"/>
                <a:cs typeface="Calibri"/>
              </a:defRPr>
            </a:lvl6pPr>
            <a:lvl7pPr>
              <a:defRPr sz="1125" b="0">
                <a:solidFill>
                  <a:srgbClr val="64748B"/>
                </a:solidFill>
                <a:latin typeface="Calibri"/>
                <a:ea typeface="Calibri"/>
                <a:cs typeface="Calibri"/>
              </a:defRPr>
            </a:lvl7pPr>
            <a:lvl8pPr>
              <a:defRPr sz="1125" b="0">
                <a:solidFill>
                  <a:srgbClr val="64748B"/>
                </a:solidFill>
                <a:latin typeface="Calibri"/>
                <a:ea typeface="Calibri"/>
                <a:cs typeface="Calibri"/>
              </a:defRPr>
            </a:lvl8pPr>
            <a:lvl9pPr>
              <a:defRPr sz="1125" b="0">
                <a:solidFill>
                  <a:srgbClr val="64748B"/>
                </a:solidFill>
                <a:latin typeface="Calibri"/>
                <a:ea typeface="Calibri"/>
                <a:cs typeface="Calibri"/>
              </a:defRPr>
            </a:lvl9pPr>
          </a:lstStyle>
          <a:p xmlns:a="http://schemas.openxmlformats.org/drawingml/2006/main">
            <a:pPr>
              <a:defRPr sz="1125" b="0">
                <a:solidFill>
                  <a:srgbClr val="64748B"/>
                </a:solidFill>
                <a:latin typeface="Calibri"/>
                <a:ea typeface="Calibri"/>
                <a:cs typeface="Calibri"/>
              </a:defRPr>
            </a:pPr>
            <a:r>
              <a:rPr sz="1125" b="0">
                <a:solidFill>
                  <a:srgbClr val="64748B"/>
                </a:solidFill>
                <a:latin typeface="Calibri"/>
                <a:ea typeface="Calibri"/>
                <a:cs typeface="Calibri"/>
              </a:rPr>
              <a:t>7</a:t>
            </a:r>
          </a:p>
        </p:txBody>
      </p:sp>
    </p:spTree>
    <p:extLst>
      <p:ext uri="{BB962C8B-B14F-4D97-AF65-F5344CB8AC3E}">
        <p14:creationId xmlns:p14="http://schemas.microsoft.com/office/powerpoint/2010/main" val="18429628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XRDGen: atomic arrangements from a powder">
            <a:extLst xmlns:a="http://schemas.openxmlformats.org/drawingml/2006/main">
              <a:ext uri="{FF2B5EF4-FFF2-40B4-BE49-F238E27FC236}">
                <a16:creationId xmlns:a16="http://schemas.microsoft.com/office/drawing/2014/main" id="{134CEB45-2220-4F54-91E2-066892DDF688}"/>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PXRDGen: atomic arrangements from a powder</a:t>
            </a:r>
          </a:p>
        </p:txBody>
      </p:sp>
      <p:sp>
        <p:nvSpPr>
          <p:cNvPr id="2" name="Problem: overlapping diffraction peaks make crystal structures difficu">
            <a:extLst xmlns:a="http://schemas.openxmlformats.org/drawingml/2006/main">
              <a:ext uri="{FF2B5EF4-FFF2-40B4-BE49-F238E27FC236}">
                <a16:creationId xmlns:a16="http://schemas.microsoft.com/office/drawing/2014/main" id="{685231D1-CE3F-4147-BB4A-902901FE357E}"/>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Problem: overlapping diffraction peaks make crystal structures difficult to solve.</a:t>
            </a:r>
          </a:p>
        </p:txBody>
      </p:sp>
      <p:sp>
        <p:nvSpPr>
          <p:cNvPr id="3" name="Li et al. (2025), Fig. 1 reproduced unchanged. CC BY-NC-ND 4.0">
            <a:extLst xmlns:a="http://schemas.openxmlformats.org/drawingml/2006/main">
              <a:ext uri="{FF2B5EF4-FFF2-40B4-BE49-F238E27FC236}">
                <a16:creationId xmlns:a16="http://schemas.microsoft.com/office/drawing/2014/main" id="{CCDF0B5D-A96E-40C0-AF34-58D9871921AD}"/>
              </a:ext>
            </a:extLst>
          </p:cNvPr>
          <p:cNvSpPr>
            <a:spLocks xmlns:a="http://schemas.openxmlformats.org/drawingml/2006/main" noGrp="1"/>
          </p:cNvSpPr>
          <p:nvPr/>
        </p:nvSpPr>
        <p:spPr>
          <a:xfrm xmlns:a="http://schemas.openxmlformats.org/drawingml/2006/main">
            <a:off x="609600" y="6496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4e757befea1c4fd6"/>
              </a:rPr>
              <a:t>Li et al. (2025), Fig. 1 reproduced unchanged. CC BY-NC-ND 4.0</a:t>
            </a:r>
          </a:p>
        </p:txBody>
      </p:sp>
      <p:sp>
        <p:nvSpPr>
          <p:cNvPr id="4" name="5">
            <a:extLst xmlns:a="http://schemas.openxmlformats.org/drawingml/2006/main">
              <a:ext uri="{FF2B5EF4-FFF2-40B4-BE49-F238E27FC236}">
                <a16:creationId xmlns:a16="http://schemas.microsoft.com/office/drawing/2014/main" id="{D37966C2-E6A4-45E2-9486-9996CEDA7E71}"/>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8</a:t>
            </a:r>
          </a:p>
        </p:txBody>
      </p:sp>
      <p:pic>
        <p:nvPicPr>
          <p:cNvPr id="5" name="">
            <a:extLst xmlns:a="http://schemas.openxmlformats.org/drawingml/2006/main">
              <a:ext uri="{FF2B5EF4-FFF2-40B4-BE49-F238E27FC236}">
                <a16:creationId xmlns:a16="http://schemas.microsoft.com/office/drawing/2014/main" id="{79D05752-41C9-4878-BB51-505748E9814F}"/>
              </a:ext>
            </a:extLst>
          </p:cNvPr>
          <p:cNvPicPr>
            <a:picLocks xmlns:a="http://schemas.openxmlformats.org/drawingml/2006/main" noChangeAspect="1"/>
          </p:cNvPicPr>
          <p:nvPr/>
        </p:nvPicPr>
        <p:blipFill>
          <a:blip xmlns:r="http://schemas.openxmlformats.org/officeDocument/2006/relationships" xmlns:a="http://schemas.openxmlformats.org/drawingml/2006/main" r:embed="R2f79c0ad52a64f8b"/>
          <a:stretch xmlns:a="http://schemas.openxmlformats.org/drawingml/2006/main"/>
        </p:blipFill>
        <p:spPr>
          <a:xfrm xmlns:a="http://schemas.openxmlformats.org/drawingml/2006/main">
            <a:off x="609600" y="1689155"/>
            <a:ext cx="6924675" cy="4641739"/>
          </a:xfrm>
          <a:prstGeom xmlns:a="http://schemas.openxmlformats.org/drawingml/2006/main" prst="rect">
            <a:avLst/>
          </a:prstGeom>
        </p:spPr>
      </p:pic>
      <p:sp>
        <p:nvSpPr>
          <p:cNvPr id="6" name="Read the pattern">
            <a:extLst xmlns:a="http://schemas.openxmlformats.org/drawingml/2006/main">
              <a:ext uri="{FF2B5EF4-FFF2-40B4-BE49-F238E27FC236}">
                <a16:creationId xmlns:a16="http://schemas.microsoft.com/office/drawing/2014/main" id="{05F0C474-0F22-4080-8197-EEB02B5E3B0B}"/>
              </a:ext>
            </a:extLst>
          </p:cNvPr>
          <p:cNvSpPr>
            <a:spLocks xmlns:a="http://schemas.openxmlformats.org/drawingml/2006/main" noGrp="1"/>
          </p:cNvSpPr>
          <p:nvPr/>
        </p:nvSpPr>
        <p:spPr>
          <a:xfrm xmlns:a="http://schemas.openxmlformats.org/drawingml/2006/main">
            <a:off x="7972425" y="1809750"/>
            <a:ext cx="3562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28090"/>
                </a:solidFill>
                <a:latin typeface="Calibri"/>
                <a:ea typeface="Calibri"/>
                <a:cs typeface="Calibri"/>
              </a:defRPr>
            </a:defPPr>
            <a:lvl1pPr>
              <a:buNone/>
              <a:defRPr sz="2250" b="0">
                <a:solidFill>
                  <a:srgbClr val="028090"/>
                </a:solidFill>
                <a:latin typeface="Calibri"/>
                <a:ea typeface="Calibri"/>
                <a:cs typeface="Calibri"/>
              </a:defRPr>
            </a:lvl1pPr>
            <a:lvl2pPr>
              <a:buNone/>
              <a:defRPr sz="2250" b="0">
                <a:solidFill>
                  <a:srgbClr val="028090"/>
                </a:solidFill>
                <a:latin typeface="Calibri"/>
                <a:ea typeface="Calibri"/>
                <a:cs typeface="Calibri"/>
              </a:defRPr>
            </a:lvl2pPr>
            <a:lvl3pPr>
              <a:buNone/>
              <a:defRPr sz="2250" b="0">
                <a:solidFill>
                  <a:srgbClr val="028090"/>
                </a:solidFill>
                <a:latin typeface="Calibri"/>
                <a:ea typeface="Calibri"/>
                <a:cs typeface="Calibri"/>
              </a:defRPr>
            </a:lvl3pPr>
            <a:lvl4pPr>
              <a:buNone/>
              <a:defRPr sz="2250" b="0">
                <a:solidFill>
                  <a:srgbClr val="028090"/>
                </a:solidFill>
                <a:latin typeface="Calibri"/>
                <a:ea typeface="Calibri"/>
                <a:cs typeface="Calibri"/>
              </a:defRPr>
            </a:lvl4pPr>
            <a:lvl5pPr>
              <a:buNone/>
              <a:defRPr sz="2250" b="0">
                <a:solidFill>
                  <a:srgbClr val="028090"/>
                </a:solidFill>
                <a:latin typeface="Calibri"/>
                <a:ea typeface="Calibri"/>
                <a:cs typeface="Calibri"/>
              </a:defRPr>
            </a:lvl5pPr>
            <a:lvl6pPr>
              <a:buNone/>
              <a:defRPr sz="2250" b="0">
                <a:solidFill>
                  <a:srgbClr val="028090"/>
                </a:solidFill>
                <a:latin typeface="Calibri"/>
                <a:ea typeface="Calibri"/>
                <a:cs typeface="Calibri"/>
              </a:defRPr>
            </a:lvl6pPr>
            <a:lvl7pPr>
              <a:buNone/>
              <a:defRPr sz="2250" b="0">
                <a:solidFill>
                  <a:srgbClr val="028090"/>
                </a:solidFill>
                <a:latin typeface="Calibri"/>
                <a:ea typeface="Calibri"/>
                <a:cs typeface="Calibri"/>
              </a:defRPr>
            </a:lvl7pPr>
            <a:lvl8pPr>
              <a:buNone/>
              <a:defRPr sz="2250" b="0">
                <a:solidFill>
                  <a:srgbClr val="028090"/>
                </a:solidFill>
                <a:latin typeface="Calibri"/>
                <a:ea typeface="Calibri"/>
                <a:cs typeface="Calibri"/>
              </a:defRPr>
            </a:lvl8pPr>
            <a:lvl9pPr>
              <a:buNone/>
              <a:defRPr sz="2250" b="0">
                <a:solidFill>
                  <a:srgbClr val="028090"/>
                </a:solidFill>
                <a:latin typeface="Calibri"/>
                <a:ea typeface="Calibri"/>
                <a:cs typeface="Calibri"/>
              </a:defRPr>
            </a:lvl9pPr>
          </a:lstStyle>
          <a:p xmlns:a="http://schemas.openxmlformats.org/drawingml/2006/main">
            <a:pPr>
              <a:buNone/>
              <a:defRPr sz="2250" b="0">
                <a:solidFill>
                  <a:srgbClr val="028090"/>
                </a:solidFill>
                <a:latin typeface="Calibri"/>
                <a:ea typeface="Calibri"/>
                <a:cs typeface="Calibri"/>
              </a:defRPr>
            </a:pPr>
            <a:r>
              <a:rPr sz="2250" b="0">
                <a:solidFill>
                  <a:srgbClr val="028090"/>
                </a:solidFill>
                <a:latin typeface="Calibri"/>
                <a:ea typeface="Calibri"/>
                <a:cs typeface="Calibri"/>
              </a:rPr>
              <a:t>Read the pattern</a:t>
            </a:r>
          </a:p>
        </p:txBody>
      </p:sp>
      <p:sp>
        <p:nvSpPr>
          <p:cNvPr id="7" name="A neural network extracts information from the diffraction peaks.">
            <a:extLst xmlns:a="http://schemas.openxmlformats.org/drawingml/2006/main">
              <a:ext uri="{FF2B5EF4-FFF2-40B4-BE49-F238E27FC236}">
                <a16:creationId xmlns:a16="http://schemas.microsoft.com/office/drawing/2014/main" id="{10068FC4-FF15-4F91-947C-FC8B8EF45C95}"/>
              </a:ext>
            </a:extLst>
          </p:cNvPr>
          <p:cNvSpPr>
            <a:spLocks xmlns:a="http://schemas.openxmlformats.org/drawingml/2006/main" noGrp="1"/>
          </p:cNvSpPr>
          <p:nvPr/>
        </p:nvSpPr>
        <p:spPr>
          <a:xfrm xmlns:a="http://schemas.openxmlformats.org/drawingml/2006/main">
            <a:off x="7972425" y="2286000"/>
            <a:ext cx="35623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A neural network extracts information from the diffraction peaks.</a:t>
            </a:r>
          </a:p>
        </p:txBody>
      </p:sp>
      <p:sp>
        <p:nvSpPr>
          <p:cNvPr id="8" name="Propose atomic arrangements">
            <a:extLst xmlns:a="http://schemas.openxmlformats.org/drawingml/2006/main">
              <a:ext uri="{FF2B5EF4-FFF2-40B4-BE49-F238E27FC236}">
                <a16:creationId xmlns:a16="http://schemas.microsoft.com/office/drawing/2014/main" id="{C7442A66-3620-47EE-9A12-DBFCE613AAD6}"/>
              </a:ext>
            </a:extLst>
          </p:cNvPr>
          <p:cNvSpPr>
            <a:spLocks xmlns:a="http://schemas.openxmlformats.org/drawingml/2006/main" noGrp="1"/>
          </p:cNvSpPr>
          <p:nvPr/>
        </p:nvSpPr>
        <p:spPr>
          <a:xfrm xmlns:a="http://schemas.openxmlformats.org/drawingml/2006/main">
            <a:off x="7972425" y="3390900"/>
            <a:ext cx="3562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28090"/>
                </a:solidFill>
                <a:latin typeface="Calibri"/>
                <a:ea typeface="Calibri"/>
                <a:cs typeface="Calibri"/>
              </a:defRPr>
            </a:defPPr>
            <a:lvl1pPr>
              <a:buNone/>
              <a:defRPr sz="2250" b="0">
                <a:solidFill>
                  <a:srgbClr val="028090"/>
                </a:solidFill>
                <a:latin typeface="Calibri"/>
                <a:ea typeface="Calibri"/>
                <a:cs typeface="Calibri"/>
              </a:defRPr>
            </a:lvl1pPr>
            <a:lvl2pPr>
              <a:buNone/>
              <a:defRPr sz="2250" b="0">
                <a:solidFill>
                  <a:srgbClr val="028090"/>
                </a:solidFill>
                <a:latin typeface="Calibri"/>
                <a:ea typeface="Calibri"/>
                <a:cs typeface="Calibri"/>
              </a:defRPr>
            </a:lvl2pPr>
            <a:lvl3pPr>
              <a:buNone/>
              <a:defRPr sz="2250" b="0">
                <a:solidFill>
                  <a:srgbClr val="028090"/>
                </a:solidFill>
                <a:latin typeface="Calibri"/>
                <a:ea typeface="Calibri"/>
                <a:cs typeface="Calibri"/>
              </a:defRPr>
            </a:lvl3pPr>
            <a:lvl4pPr>
              <a:buNone/>
              <a:defRPr sz="2250" b="0">
                <a:solidFill>
                  <a:srgbClr val="028090"/>
                </a:solidFill>
                <a:latin typeface="Calibri"/>
                <a:ea typeface="Calibri"/>
                <a:cs typeface="Calibri"/>
              </a:defRPr>
            </a:lvl4pPr>
            <a:lvl5pPr>
              <a:buNone/>
              <a:defRPr sz="2250" b="0">
                <a:solidFill>
                  <a:srgbClr val="028090"/>
                </a:solidFill>
                <a:latin typeface="Calibri"/>
                <a:ea typeface="Calibri"/>
                <a:cs typeface="Calibri"/>
              </a:defRPr>
            </a:lvl5pPr>
            <a:lvl6pPr>
              <a:buNone/>
              <a:defRPr sz="2250" b="0">
                <a:solidFill>
                  <a:srgbClr val="028090"/>
                </a:solidFill>
                <a:latin typeface="Calibri"/>
                <a:ea typeface="Calibri"/>
                <a:cs typeface="Calibri"/>
              </a:defRPr>
            </a:lvl6pPr>
            <a:lvl7pPr>
              <a:buNone/>
              <a:defRPr sz="2250" b="0">
                <a:solidFill>
                  <a:srgbClr val="028090"/>
                </a:solidFill>
                <a:latin typeface="Calibri"/>
                <a:ea typeface="Calibri"/>
                <a:cs typeface="Calibri"/>
              </a:defRPr>
            </a:lvl7pPr>
            <a:lvl8pPr>
              <a:buNone/>
              <a:defRPr sz="2250" b="0">
                <a:solidFill>
                  <a:srgbClr val="028090"/>
                </a:solidFill>
                <a:latin typeface="Calibri"/>
                <a:ea typeface="Calibri"/>
                <a:cs typeface="Calibri"/>
              </a:defRPr>
            </a:lvl8pPr>
            <a:lvl9pPr>
              <a:buNone/>
              <a:defRPr sz="2250" b="0">
                <a:solidFill>
                  <a:srgbClr val="028090"/>
                </a:solidFill>
                <a:latin typeface="Calibri"/>
                <a:ea typeface="Calibri"/>
                <a:cs typeface="Calibri"/>
              </a:defRPr>
            </a:lvl9pPr>
          </a:lstStyle>
          <a:p xmlns:a="http://schemas.openxmlformats.org/drawingml/2006/main">
            <a:pPr>
              <a:buNone/>
              <a:defRPr sz="2250" b="0">
                <a:solidFill>
                  <a:srgbClr val="028090"/>
                </a:solidFill>
                <a:latin typeface="Calibri"/>
                <a:ea typeface="Calibri"/>
                <a:cs typeface="Calibri"/>
              </a:defRPr>
            </a:pPr>
            <a:r>
              <a:rPr sz="2250" b="0">
                <a:solidFill>
                  <a:srgbClr val="028090"/>
                </a:solidFill>
                <a:latin typeface="Calibri"/>
                <a:ea typeface="Calibri"/>
                <a:cs typeface="Calibri"/>
              </a:rPr>
              <a:t>Propose atomic arrangements</a:t>
            </a:r>
          </a:p>
        </p:txBody>
      </p:sp>
      <p:sp>
        <p:nvSpPr>
          <p:cNvPr id="9" name="A generative model uses the pattern and chemical formula.">
            <a:extLst xmlns:a="http://schemas.openxmlformats.org/drawingml/2006/main">
              <a:ext uri="{FF2B5EF4-FFF2-40B4-BE49-F238E27FC236}">
                <a16:creationId xmlns:a16="http://schemas.microsoft.com/office/drawing/2014/main" id="{A453BE46-4B1B-4B8A-B813-E3CA38FDAF47}"/>
              </a:ext>
            </a:extLst>
          </p:cNvPr>
          <p:cNvSpPr>
            <a:spLocks xmlns:a="http://schemas.openxmlformats.org/drawingml/2006/main" noGrp="1"/>
          </p:cNvSpPr>
          <p:nvPr/>
        </p:nvSpPr>
        <p:spPr>
          <a:xfrm xmlns:a="http://schemas.openxmlformats.org/drawingml/2006/main">
            <a:off x="7972425" y="4181475"/>
            <a:ext cx="3562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A generative model uses the pattern and chemical formula.</a:t>
            </a:r>
          </a:p>
        </p:txBody>
      </p:sp>
      <p:sp>
        <p:nvSpPr>
          <p:cNvPr id="10" name="Refine against the data">
            <a:extLst xmlns:a="http://schemas.openxmlformats.org/drawingml/2006/main">
              <a:ext uri="{FF2B5EF4-FFF2-40B4-BE49-F238E27FC236}">
                <a16:creationId xmlns:a16="http://schemas.microsoft.com/office/drawing/2014/main" id="{340C7810-B5D6-4465-97FB-FB7BEAB499EC}"/>
              </a:ext>
            </a:extLst>
          </p:cNvPr>
          <p:cNvSpPr>
            <a:spLocks xmlns:a="http://schemas.openxmlformats.org/drawingml/2006/main" noGrp="1"/>
          </p:cNvSpPr>
          <p:nvPr/>
        </p:nvSpPr>
        <p:spPr>
          <a:xfrm xmlns:a="http://schemas.openxmlformats.org/drawingml/2006/main">
            <a:off x="7972425" y="5229225"/>
            <a:ext cx="356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28090"/>
                </a:solidFill>
                <a:latin typeface="Calibri"/>
                <a:ea typeface="Calibri"/>
                <a:cs typeface="Calibri"/>
              </a:defRPr>
            </a:defPPr>
            <a:lvl1pPr>
              <a:buNone/>
              <a:defRPr sz="2250" b="0">
                <a:solidFill>
                  <a:srgbClr val="028090"/>
                </a:solidFill>
                <a:latin typeface="Calibri"/>
                <a:ea typeface="Calibri"/>
                <a:cs typeface="Calibri"/>
              </a:defRPr>
            </a:lvl1pPr>
            <a:lvl2pPr>
              <a:buNone/>
              <a:defRPr sz="2250" b="0">
                <a:solidFill>
                  <a:srgbClr val="028090"/>
                </a:solidFill>
                <a:latin typeface="Calibri"/>
                <a:ea typeface="Calibri"/>
                <a:cs typeface="Calibri"/>
              </a:defRPr>
            </a:lvl2pPr>
            <a:lvl3pPr>
              <a:buNone/>
              <a:defRPr sz="2250" b="0">
                <a:solidFill>
                  <a:srgbClr val="028090"/>
                </a:solidFill>
                <a:latin typeface="Calibri"/>
                <a:ea typeface="Calibri"/>
                <a:cs typeface="Calibri"/>
              </a:defRPr>
            </a:lvl3pPr>
            <a:lvl4pPr>
              <a:buNone/>
              <a:defRPr sz="2250" b="0">
                <a:solidFill>
                  <a:srgbClr val="028090"/>
                </a:solidFill>
                <a:latin typeface="Calibri"/>
                <a:ea typeface="Calibri"/>
                <a:cs typeface="Calibri"/>
              </a:defRPr>
            </a:lvl4pPr>
            <a:lvl5pPr>
              <a:buNone/>
              <a:defRPr sz="2250" b="0">
                <a:solidFill>
                  <a:srgbClr val="028090"/>
                </a:solidFill>
                <a:latin typeface="Calibri"/>
                <a:ea typeface="Calibri"/>
                <a:cs typeface="Calibri"/>
              </a:defRPr>
            </a:lvl5pPr>
            <a:lvl6pPr>
              <a:buNone/>
              <a:defRPr sz="2250" b="0">
                <a:solidFill>
                  <a:srgbClr val="028090"/>
                </a:solidFill>
                <a:latin typeface="Calibri"/>
                <a:ea typeface="Calibri"/>
                <a:cs typeface="Calibri"/>
              </a:defRPr>
            </a:lvl6pPr>
            <a:lvl7pPr>
              <a:buNone/>
              <a:defRPr sz="2250" b="0">
                <a:solidFill>
                  <a:srgbClr val="028090"/>
                </a:solidFill>
                <a:latin typeface="Calibri"/>
                <a:ea typeface="Calibri"/>
                <a:cs typeface="Calibri"/>
              </a:defRPr>
            </a:lvl7pPr>
            <a:lvl8pPr>
              <a:buNone/>
              <a:defRPr sz="2250" b="0">
                <a:solidFill>
                  <a:srgbClr val="028090"/>
                </a:solidFill>
                <a:latin typeface="Calibri"/>
                <a:ea typeface="Calibri"/>
                <a:cs typeface="Calibri"/>
              </a:defRPr>
            </a:lvl8pPr>
            <a:lvl9pPr>
              <a:buNone/>
              <a:defRPr sz="2250" b="0">
                <a:solidFill>
                  <a:srgbClr val="028090"/>
                </a:solidFill>
                <a:latin typeface="Calibri"/>
                <a:ea typeface="Calibri"/>
                <a:cs typeface="Calibri"/>
              </a:defRPr>
            </a:lvl9pPr>
          </a:lstStyle>
          <a:p xmlns:a="http://schemas.openxmlformats.org/drawingml/2006/main">
            <a:pPr>
              <a:buNone/>
              <a:defRPr sz="2250" b="0">
                <a:solidFill>
                  <a:srgbClr val="028090"/>
                </a:solidFill>
                <a:latin typeface="Calibri"/>
                <a:ea typeface="Calibri"/>
                <a:cs typeface="Calibri"/>
              </a:defRPr>
            </a:pPr>
            <a:r>
              <a:rPr sz="2250" b="0">
                <a:solidFill>
                  <a:srgbClr val="028090"/>
                </a:solidFill>
                <a:latin typeface="Calibri"/>
                <a:ea typeface="Calibri"/>
                <a:cs typeface="Calibri"/>
              </a:rPr>
              <a:t>Refine against the data</a:t>
            </a:r>
          </a:p>
        </p:txBody>
      </p:sp>
      <p:sp>
        <p:nvSpPr>
          <p:cNvPr id="11" name="Rietveld refinement adjusts the structure to improve the fit.">
            <a:extLst xmlns:a="http://schemas.openxmlformats.org/drawingml/2006/main">
              <a:ext uri="{FF2B5EF4-FFF2-40B4-BE49-F238E27FC236}">
                <a16:creationId xmlns:a16="http://schemas.microsoft.com/office/drawing/2014/main" id="{B9495D3A-9086-4AE8-8056-D1B559D81D06}"/>
              </a:ext>
            </a:extLst>
          </p:cNvPr>
          <p:cNvSpPr>
            <a:spLocks xmlns:a="http://schemas.openxmlformats.org/drawingml/2006/main" noGrp="1"/>
          </p:cNvSpPr>
          <p:nvPr/>
        </p:nvSpPr>
        <p:spPr>
          <a:xfrm xmlns:a="http://schemas.openxmlformats.org/drawingml/2006/main">
            <a:off x="7972425" y="5695950"/>
            <a:ext cx="35623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Rietveld refinement adjusts the structure to improve the fit.</a:t>
            </a:r>
          </a:p>
        </p:txBody>
      </p:sp>
    </p:spTree>
    <p:extLst>
      <p:ext uri="{BB962C8B-B14F-4D97-AF65-F5344CB8AC3E}">
        <p14:creationId xmlns:p14="http://schemas.microsoft.com/office/powerpoint/2010/main" val="7227142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XRDGen: a strong benchmark with limits">
            <a:extLst xmlns:a="http://schemas.openxmlformats.org/drawingml/2006/main">
              <a:ext uri="{FF2B5EF4-FFF2-40B4-BE49-F238E27FC236}">
                <a16:creationId xmlns:a16="http://schemas.microsoft.com/office/drawing/2014/main" id="{75CA7D92-BFDA-47A6-987F-FD67597E95E3}"/>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1E293B"/>
                </a:solidFill>
                <a:latin typeface="Cambria"/>
                <a:ea typeface="Cambria"/>
                <a:cs typeface="Cambria"/>
              </a:defRPr>
            </a:defPPr>
            <a:lvl1pPr>
              <a:buNone/>
              <a:defRPr sz="3150" b="0">
                <a:solidFill>
                  <a:srgbClr val="1E293B"/>
                </a:solidFill>
                <a:latin typeface="Cambria"/>
                <a:ea typeface="Cambria"/>
                <a:cs typeface="Cambria"/>
              </a:defRPr>
            </a:lvl1pPr>
            <a:lvl2pPr>
              <a:buNone/>
              <a:defRPr sz="3150" b="0">
                <a:solidFill>
                  <a:srgbClr val="1E293B"/>
                </a:solidFill>
                <a:latin typeface="Cambria"/>
                <a:ea typeface="Cambria"/>
                <a:cs typeface="Cambria"/>
              </a:defRPr>
            </a:lvl2pPr>
            <a:lvl3pPr>
              <a:buNone/>
              <a:defRPr sz="3150" b="0">
                <a:solidFill>
                  <a:srgbClr val="1E293B"/>
                </a:solidFill>
                <a:latin typeface="Cambria"/>
                <a:ea typeface="Cambria"/>
                <a:cs typeface="Cambria"/>
              </a:defRPr>
            </a:lvl3pPr>
            <a:lvl4pPr>
              <a:buNone/>
              <a:defRPr sz="3150" b="0">
                <a:solidFill>
                  <a:srgbClr val="1E293B"/>
                </a:solidFill>
                <a:latin typeface="Cambria"/>
                <a:ea typeface="Cambria"/>
                <a:cs typeface="Cambria"/>
              </a:defRPr>
            </a:lvl4pPr>
            <a:lvl5pPr>
              <a:buNone/>
              <a:defRPr sz="3150" b="0">
                <a:solidFill>
                  <a:srgbClr val="1E293B"/>
                </a:solidFill>
                <a:latin typeface="Cambria"/>
                <a:ea typeface="Cambria"/>
                <a:cs typeface="Cambria"/>
              </a:defRPr>
            </a:lvl5pPr>
            <a:lvl6pPr>
              <a:buNone/>
              <a:defRPr sz="3150" b="0">
                <a:solidFill>
                  <a:srgbClr val="1E293B"/>
                </a:solidFill>
                <a:latin typeface="Cambria"/>
                <a:ea typeface="Cambria"/>
                <a:cs typeface="Cambria"/>
              </a:defRPr>
            </a:lvl6pPr>
            <a:lvl7pPr>
              <a:buNone/>
              <a:defRPr sz="3150" b="0">
                <a:solidFill>
                  <a:srgbClr val="1E293B"/>
                </a:solidFill>
                <a:latin typeface="Cambria"/>
                <a:ea typeface="Cambria"/>
                <a:cs typeface="Cambria"/>
              </a:defRPr>
            </a:lvl7pPr>
            <a:lvl8pPr>
              <a:buNone/>
              <a:defRPr sz="3150" b="0">
                <a:solidFill>
                  <a:srgbClr val="1E293B"/>
                </a:solidFill>
                <a:latin typeface="Cambria"/>
                <a:ea typeface="Cambria"/>
                <a:cs typeface="Cambria"/>
              </a:defRPr>
            </a:lvl8pPr>
            <a:lvl9pPr>
              <a:buNone/>
              <a:defRPr sz="3150" b="0">
                <a:solidFill>
                  <a:srgbClr val="1E293B"/>
                </a:solidFill>
                <a:latin typeface="Cambria"/>
                <a:ea typeface="Cambria"/>
                <a:cs typeface="Cambria"/>
              </a:defRPr>
            </a:lvl9pPr>
          </a:lstStyle>
          <a:p xmlns:a="http://schemas.openxmlformats.org/drawingml/2006/main">
            <a:pPr>
              <a:buNone/>
              <a:defRPr sz="3150" b="0">
                <a:solidFill>
                  <a:srgbClr val="1E293B"/>
                </a:solidFill>
                <a:latin typeface="Cambria"/>
                <a:ea typeface="Cambria"/>
                <a:cs typeface="Cambria"/>
              </a:defRPr>
            </a:pPr>
            <a:r>
              <a:rPr sz="3150" b="0">
                <a:solidFill>
                  <a:srgbClr val="1E293B"/>
                </a:solidFill>
                <a:latin typeface="Cambria"/>
                <a:ea typeface="Cambria"/>
                <a:cs typeface="Cambria"/>
              </a:rPr>
              <a:t>PXRDGen: a strong benchmark with limits</a:t>
            </a:r>
          </a:p>
        </p:txBody>
      </p:sp>
      <p:sp>
        <p:nvSpPr>
          <p:cNvPr id="2" name="MP-20 benchmark with simulated diffraction patterns">
            <a:extLst xmlns:a="http://schemas.openxmlformats.org/drawingml/2006/main">
              <a:ext uri="{FF2B5EF4-FFF2-40B4-BE49-F238E27FC236}">
                <a16:creationId xmlns:a16="http://schemas.microsoft.com/office/drawing/2014/main" id="{0234FDDA-E2D1-4915-A75E-A3DCEE584128}"/>
              </a:ext>
            </a:extLst>
          </p:cNvPr>
          <p:cNvSpPr>
            <a:spLocks xmlns:a="http://schemas.openxmlformats.org/drawingml/2006/main" noGrp="1"/>
          </p:cNvSpPr>
          <p:nvPr/>
        </p:nvSpPr>
        <p:spPr>
          <a:xfrm xmlns:a="http://schemas.openxmlformats.org/drawingml/2006/main">
            <a:off x="628650" y="1095375"/>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E293B"/>
                </a:solidFill>
                <a:latin typeface="Calibri"/>
                <a:ea typeface="Calibri"/>
                <a:cs typeface="Calibri"/>
              </a:defRPr>
            </a:defPPr>
            <a:lvl1pPr>
              <a:buNone/>
              <a:defRPr sz="2025" b="0">
                <a:solidFill>
                  <a:srgbClr val="1E293B"/>
                </a:solidFill>
                <a:latin typeface="Calibri"/>
                <a:ea typeface="Calibri"/>
                <a:cs typeface="Calibri"/>
              </a:defRPr>
            </a:lvl1pPr>
            <a:lvl2pPr>
              <a:buNone/>
              <a:defRPr sz="2025" b="0">
                <a:solidFill>
                  <a:srgbClr val="1E293B"/>
                </a:solidFill>
                <a:latin typeface="Calibri"/>
                <a:ea typeface="Calibri"/>
                <a:cs typeface="Calibri"/>
              </a:defRPr>
            </a:lvl2pPr>
            <a:lvl3pPr>
              <a:buNone/>
              <a:defRPr sz="2025" b="0">
                <a:solidFill>
                  <a:srgbClr val="1E293B"/>
                </a:solidFill>
                <a:latin typeface="Calibri"/>
                <a:ea typeface="Calibri"/>
                <a:cs typeface="Calibri"/>
              </a:defRPr>
            </a:lvl3pPr>
            <a:lvl4pPr>
              <a:buNone/>
              <a:defRPr sz="2025" b="0">
                <a:solidFill>
                  <a:srgbClr val="1E293B"/>
                </a:solidFill>
                <a:latin typeface="Calibri"/>
                <a:ea typeface="Calibri"/>
                <a:cs typeface="Calibri"/>
              </a:defRPr>
            </a:lvl4pPr>
            <a:lvl5pPr>
              <a:buNone/>
              <a:defRPr sz="2025" b="0">
                <a:solidFill>
                  <a:srgbClr val="1E293B"/>
                </a:solidFill>
                <a:latin typeface="Calibri"/>
                <a:ea typeface="Calibri"/>
                <a:cs typeface="Calibri"/>
              </a:defRPr>
            </a:lvl5pPr>
            <a:lvl6pPr>
              <a:buNone/>
              <a:defRPr sz="2025" b="0">
                <a:solidFill>
                  <a:srgbClr val="1E293B"/>
                </a:solidFill>
                <a:latin typeface="Calibri"/>
                <a:ea typeface="Calibri"/>
                <a:cs typeface="Calibri"/>
              </a:defRPr>
            </a:lvl6pPr>
            <a:lvl7pPr>
              <a:buNone/>
              <a:defRPr sz="2025" b="0">
                <a:solidFill>
                  <a:srgbClr val="1E293B"/>
                </a:solidFill>
                <a:latin typeface="Calibri"/>
                <a:ea typeface="Calibri"/>
                <a:cs typeface="Calibri"/>
              </a:defRPr>
            </a:lvl7pPr>
            <a:lvl8pPr>
              <a:buNone/>
              <a:defRPr sz="2025" b="0">
                <a:solidFill>
                  <a:srgbClr val="1E293B"/>
                </a:solidFill>
                <a:latin typeface="Calibri"/>
                <a:ea typeface="Calibri"/>
                <a:cs typeface="Calibri"/>
              </a:defRPr>
            </a:lvl8pPr>
            <a:lvl9pPr>
              <a:buNone/>
              <a:defRPr sz="2025" b="0">
                <a:solidFill>
                  <a:srgbClr val="1E293B"/>
                </a:solidFill>
                <a:latin typeface="Calibri"/>
                <a:ea typeface="Calibri"/>
                <a:cs typeface="Calibri"/>
              </a:defRPr>
            </a:lvl9pPr>
          </a:lstStyle>
          <a:p xmlns:a="http://schemas.openxmlformats.org/drawingml/2006/main">
            <a:pPr>
              <a:buNone/>
              <a:defRPr sz="2025" b="0">
                <a:solidFill>
                  <a:srgbClr val="1E293B"/>
                </a:solidFill>
                <a:latin typeface="Calibri"/>
                <a:ea typeface="Calibri"/>
                <a:cs typeface="Calibri"/>
              </a:defRPr>
            </a:pPr>
            <a:r>
              <a:rPr sz="2025" b="0">
                <a:solidFill>
                  <a:srgbClr val="1E293B"/>
                </a:solidFill>
                <a:latin typeface="Calibri"/>
                <a:ea typeface="Calibri"/>
                <a:cs typeface="Calibri"/>
              </a:rPr>
              <a:t>MP-20 benchmark with simulated diffraction patterns</a:t>
            </a:r>
          </a:p>
        </p:txBody>
      </p:sp>
      <p:sp>
        <p:nvSpPr>
          <p:cNvPr id="3" name="Li et al. (2025), results underlying Fig. 5. Counts redrawn from the t">
            <a:extLst xmlns:a="http://schemas.openxmlformats.org/drawingml/2006/main">
              <a:ext uri="{FF2B5EF4-FFF2-40B4-BE49-F238E27FC236}">
                <a16:creationId xmlns:a16="http://schemas.microsoft.com/office/drawing/2014/main" id="{CEDF9EF4-4572-4C9E-9EC7-041942054AF8}"/>
              </a:ext>
            </a:extLst>
          </p:cNvPr>
          <p:cNvSpPr>
            <a:spLocks xmlns:a="http://schemas.openxmlformats.org/drawingml/2006/main" noGrp="1"/>
          </p:cNvSpPr>
          <p:nvPr/>
        </p:nvSpPr>
        <p:spPr>
          <a:xfrm xmlns:a="http://schemas.openxmlformats.org/drawingml/2006/main">
            <a:off x="609600" y="64960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hlinkClick xmlns:r="http://schemas.openxmlformats.org/officeDocument/2006/relationships" r:id="R4adf92de5c914c9d"/>
              </a:rPr>
              <a:t>Li et al. (2025), results underlying Fig. 5. Counts redrawn from the text.</a:t>
            </a:r>
          </a:p>
        </p:txBody>
      </p:sp>
      <p:sp>
        <p:nvSpPr>
          <p:cNvPr id="4" name="6">
            <a:extLst xmlns:a="http://schemas.openxmlformats.org/drawingml/2006/main">
              <a:ext uri="{FF2B5EF4-FFF2-40B4-BE49-F238E27FC236}">
                <a16:creationId xmlns:a16="http://schemas.microsoft.com/office/drawing/2014/main" id="{30AC4E2D-C659-4198-83C5-D903767E750C}"/>
              </a:ext>
            </a:extLst>
          </p:cNvPr>
          <p:cNvSpPr>
            <a:spLocks xmlns:a="http://schemas.openxmlformats.org/drawingml/2006/main" noGrp="1"/>
          </p:cNvSpPr>
          <p:nvPr/>
        </p:nvSpPr>
        <p:spPr>
          <a:xfrm xmlns:a="http://schemas.openxmlformats.org/drawingml/2006/main">
            <a:off x="11334750" y="6496050"/>
            <a:ext cx="238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4748B"/>
                </a:solidFill>
                <a:latin typeface="Calibri"/>
                <a:ea typeface="Calibri"/>
                <a:cs typeface="Calibri"/>
              </a:defRPr>
            </a:defPPr>
            <a:lvl1pPr>
              <a:buNone/>
              <a:defRPr sz="1125" b="0">
                <a:solidFill>
                  <a:srgbClr val="64748B"/>
                </a:solidFill>
                <a:latin typeface="Calibri"/>
                <a:ea typeface="Calibri"/>
                <a:cs typeface="Calibri"/>
              </a:defRPr>
            </a:lvl1pPr>
            <a:lvl2pPr>
              <a:buNone/>
              <a:defRPr sz="1125" b="0">
                <a:solidFill>
                  <a:srgbClr val="64748B"/>
                </a:solidFill>
                <a:latin typeface="Calibri"/>
                <a:ea typeface="Calibri"/>
                <a:cs typeface="Calibri"/>
              </a:defRPr>
            </a:lvl2pPr>
            <a:lvl3pPr>
              <a:buNone/>
              <a:defRPr sz="1125" b="0">
                <a:solidFill>
                  <a:srgbClr val="64748B"/>
                </a:solidFill>
                <a:latin typeface="Calibri"/>
                <a:ea typeface="Calibri"/>
                <a:cs typeface="Calibri"/>
              </a:defRPr>
            </a:lvl3pPr>
            <a:lvl4pPr>
              <a:buNone/>
              <a:defRPr sz="1125" b="0">
                <a:solidFill>
                  <a:srgbClr val="64748B"/>
                </a:solidFill>
                <a:latin typeface="Calibri"/>
                <a:ea typeface="Calibri"/>
                <a:cs typeface="Calibri"/>
              </a:defRPr>
            </a:lvl4pPr>
            <a:lvl5pPr>
              <a:buNone/>
              <a:defRPr sz="1125" b="0">
                <a:solidFill>
                  <a:srgbClr val="64748B"/>
                </a:solidFill>
                <a:latin typeface="Calibri"/>
                <a:ea typeface="Calibri"/>
                <a:cs typeface="Calibri"/>
              </a:defRPr>
            </a:lvl5pPr>
            <a:lvl6pPr>
              <a:buNone/>
              <a:defRPr sz="1125" b="0">
                <a:solidFill>
                  <a:srgbClr val="64748B"/>
                </a:solidFill>
                <a:latin typeface="Calibri"/>
                <a:ea typeface="Calibri"/>
                <a:cs typeface="Calibri"/>
              </a:defRPr>
            </a:lvl6pPr>
            <a:lvl7pPr>
              <a:buNone/>
              <a:defRPr sz="1125" b="0">
                <a:solidFill>
                  <a:srgbClr val="64748B"/>
                </a:solidFill>
                <a:latin typeface="Calibri"/>
                <a:ea typeface="Calibri"/>
                <a:cs typeface="Calibri"/>
              </a:defRPr>
            </a:lvl7pPr>
            <a:lvl8pPr>
              <a:buNone/>
              <a:defRPr sz="1125" b="0">
                <a:solidFill>
                  <a:srgbClr val="64748B"/>
                </a:solidFill>
                <a:latin typeface="Calibri"/>
                <a:ea typeface="Calibri"/>
                <a:cs typeface="Calibri"/>
              </a:defRPr>
            </a:lvl8pPr>
            <a:lvl9pPr>
              <a:buNone/>
              <a:defRPr sz="1125" b="0">
                <a:solidFill>
                  <a:srgbClr val="64748B"/>
                </a:solidFill>
                <a:latin typeface="Calibri"/>
                <a:ea typeface="Calibri"/>
                <a:cs typeface="Calibri"/>
              </a:defRPr>
            </a:lvl9pPr>
          </a:lstStyle>
          <a:p xmlns:a="http://schemas.openxmlformats.org/drawingml/2006/main">
            <a:pPr>
              <a:buNone/>
              <a:defRPr sz="1125" b="0">
                <a:solidFill>
                  <a:srgbClr val="64748B"/>
                </a:solidFill>
                <a:latin typeface="Calibri"/>
                <a:ea typeface="Calibri"/>
                <a:cs typeface="Calibri"/>
              </a:defRPr>
            </a:pPr>
            <a:r>
              <a:rPr sz="1125" b="0">
                <a:solidFill>
                  <a:srgbClr val="64748B"/>
                </a:solidFill>
                <a:latin typeface="Calibri"/>
                <a:ea typeface="Calibri"/>
                <a:cs typeface="Calibri"/>
              </a:rPr>
              <a:t>9</a:t>
            </a:r>
          </a:p>
        </p:txBody>
      </p:sp>
      <p:graphicFrame>
        <p:nvGraphicFramePr>
          <p:cNvPr id="5" name="Chart">
            <a:extLst xmlns:a="http://schemas.openxmlformats.org/drawingml/2006/main">
              <a:ext uri="{FF2B5EF4-FFF2-40B4-BE49-F238E27FC236}">
                <a16:creationId xmlns:a16="http://schemas.microsoft.com/office/drawing/2014/main" id="{0E063243-3F3E-49E4-B0D4-5DE09CFE6668}"/>
              </a:ext>
            </a:extLst>
          </p:cNvPr>
          <p:cNvGraphicFramePr/>
          <p:nvPr/>
        </p:nvGraphicFramePr>
        <p:xfrm>
          <a:off xmlns:a="http://schemas.openxmlformats.org/drawingml/2006/main" x="609600" y="2057400"/>
          <a:ext xmlns:a="http://schemas.openxmlformats.org/drawingml/2006/main" cx="6286500" cy="3638550"/>
        </p:xfrm>
        <a:graphic xmlns:a="http://schemas.openxmlformats.org/drawingml/2006/main">
          <a:graphicData uri="http://schemas.openxmlformats.org/drawingml/2006/chart">
            <c:chart xmlns:r="http://schemas.openxmlformats.org/officeDocument/2006/relationships" xmlns:c="http://schemas.openxmlformats.org/drawingml/2006/chart" r:id="R36ff79e1c8cc433a"/>
          </a:graphicData>
        </a:graphic>
      </p:graphicFrame>
      <p:sp>
        <p:nvSpPr>
          <p:cNvPr id="6" name="Benchmark conditions">
            <a:extLst xmlns:a="http://schemas.openxmlformats.org/drawingml/2006/main">
              <a:ext uri="{FF2B5EF4-FFF2-40B4-BE49-F238E27FC236}">
                <a16:creationId xmlns:a16="http://schemas.microsoft.com/office/drawing/2014/main" id="{28E72F9A-8840-4AE7-845B-2913BAE4C230}"/>
              </a:ext>
            </a:extLst>
          </p:cNvPr>
          <p:cNvSpPr>
            <a:spLocks xmlns:a="http://schemas.openxmlformats.org/drawingml/2006/main" noGrp="1"/>
          </p:cNvSpPr>
          <p:nvPr/>
        </p:nvSpPr>
        <p:spPr>
          <a:xfrm xmlns:a="http://schemas.openxmlformats.org/drawingml/2006/main">
            <a:off x="7600950" y="1943100"/>
            <a:ext cx="395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028090"/>
                </a:solidFill>
                <a:latin typeface="Calibri"/>
                <a:ea typeface="Calibri"/>
                <a:cs typeface="Calibri"/>
              </a:defRPr>
            </a:defPPr>
            <a:lvl1pPr>
              <a:buNone/>
              <a:defRPr sz="2250" b="0">
                <a:solidFill>
                  <a:srgbClr val="028090"/>
                </a:solidFill>
                <a:latin typeface="Calibri"/>
                <a:ea typeface="Calibri"/>
                <a:cs typeface="Calibri"/>
              </a:defRPr>
            </a:lvl1pPr>
            <a:lvl2pPr>
              <a:buNone/>
              <a:defRPr sz="2250" b="0">
                <a:solidFill>
                  <a:srgbClr val="028090"/>
                </a:solidFill>
                <a:latin typeface="Calibri"/>
                <a:ea typeface="Calibri"/>
                <a:cs typeface="Calibri"/>
              </a:defRPr>
            </a:lvl2pPr>
            <a:lvl3pPr>
              <a:buNone/>
              <a:defRPr sz="2250" b="0">
                <a:solidFill>
                  <a:srgbClr val="028090"/>
                </a:solidFill>
                <a:latin typeface="Calibri"/>
                <a:ea typeface="Calibri"/>
                <a:cs typeface="Calibri"/>
              </a:defRPr>
            </a:lvl3pPr>
            <a:lvl4pPr>
              <a:buNone/>
              <a:defRPr sz="2250" b="0">
                <a:solidFill>
                  <a:srgbClr val="028090"/>
                </a:solidFill>
                <a:latin typeface="Calibri"/>
                <a:ea typeface="Calibri"/>
                <a:cs typeface="Calibri"/>
              </a:defRPr>
            </a:lvl4pPr>
            <a:lvl5pPr>
              <a:buNone/>
              <a:defRPr sz="2250" b="0">
                <a:solidFill>
                  <a:srgbClr val="028090"/>
                </a:solidFill>
                <a:latin typeface="Calibri"/>
                <a:ea typeface="Calibri"/>
                <a:cs typeface="Calibri"/>
              </a:defRPr>
            </a:lvl5pPr>
            <a:lvl6pPr>
              <a:buNone/>
              <a:defRPr sz="2250" b="0">
                <a:solidFill>
                  <a:srgbClr val="028090"/>
                </a:solidFill>
                <a:latin typeface="Calibri"/>
                <a:ea typeface="Calibri"/>
                <a:cs typeface="Calibri"/>
              </a:defRPr>
            </a:lvl6pPr>
            <a:lvl7pPr>
              <a:buNone/>
              <a:defRPr sz="2250" b="0">
                <a:solidFill>
                  <a:srgbClr val="028090"/>
                </a:solidFill>
                <a:latin typeface="Calibri"/>
                <a:ea typeface="Calibri"/>
                <a:cs typeface="Calibri"/>
              </a:defRPr>
            </a:lvl7pPr>
            <a:lvl8pPr>
              <a:buNone/>
              <a:defRPr sz="2250" b="0">
                <a:solidFill>
                  <a:srgbClr val="028090"/>
                </a:solidFill>
                <a:latin typeface="Calibri"/>
                <a:ea typeface="Calibri"/>
                <a:cs typeface="Calibri"/>
              </a:defRPr>
            </a:lvl8pPr>
            <a:lvl9pPr>
              <a:buNone/>
              <a:defRPr sz="2250" b="0">
                <a:solidFill>
                  <a:srgbClr val="028090"/>
                </a:solidFill>
                <a:latin typeface="Calibri"/>
                <a:ea typeface="Calibri"/>
                <a:cs typeface="Calibri"/>
              </a:defRPr>
            </a:lvl9pPr>
          </a:lstStyle>
          <a:p xmlns:a="http://schemas.openxmlformats.org/drawingml/2006/main">
            <a:pPr>
              <a:buNone/>
              <a:defRPr sz="2250" b="0">
                <a:solidFill>
                  <a:srgbClr val="028090"/>
                </a:solidFill>
                <a:latin typeface="Calibri"/>
                <a:ea typeface="Calibri"/>
                <a:cs typeface="Calibri"/>
              </a:defRPr>
            </a:pPr>
            <a:r>
              <a:rPr sz="2250" b="0">
                <a:solidFill>
                  <a:srgbClr val="028090"/>
                </a:solidFill>
                <a:latin typeface="Calibri"/>
                <a:ea typeface="Calibri"/>
                <a:cs typeface="Calibri"/>
              </a:rPr>
              <a:t>Benchmark conditions</a:t>
            </a:r>
          </a:p>
        </p:txBody>
      </p:sp>
      <p:sp>
        <p:nvSpPr>
          <p:cNvPr id="7" name="Known unit-cell parameters. 20 candidate structures per case.">
            <a:extLst xmlns:a="http://schemas.openxmlformats.org/drawingml/2006/main">
              <a:ext uri="{FF2B5EF4-FFF2-40B4-BE49-F238E27FC236}">
                <a16:creationId xmlns:a16="http://schemas.microsoft.com/office/drawing/2014/main" id="{8540BC32-2ED1-480A-8A23-8C7C044E1FB8}"/>
              </a:ext>
            </a:extLst>
          </p:cNvPr>
          <p:cNvSpPr>
            <a:spLocks xmlns:a="http://schemas.openxmlformats.org/drawingml/2006/main" noGrp="1"/>
          </p:cNvSpPr>
          <p:nvPr/>
        </p:nvSpPr>
        <p:spPr>
          <a:xfrm xmlns:a="http://schemas.openxmlformats.org/drawingml/2006/main">
            <a:off x="7600950" y="2476500"/>
            <a:ext cx="3952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Known unit-cell parameters.</a:t>
            </a:r>
          </a:p>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20 candidate structures per case.</a:t>
            </a:r>
          </a:p>
        </p:txBody>
      </p:sp>
      <p:sp>
        <p:nvSpPr>
          <p:cNvPr id="8" name="Scope">
            <a:extLst xmlns:a="http://schemas.openxmlformats.org/drawingml/2006/main">
              <a:ext uri="{FF2B5EF4-FFF2-40B4-BE49-F238E27FC236}">
                <a16:creationId xmlns:a16="http://schemas.microsoft.com/office/drawing/2014/main" id="{B0A3BE6B-0135-48E8-B842-D3422660925A}"/>
              </a:ext>
            </a:extLst>
          </p:cNvPr>
          <p:cNvSpPr>
            <a:spLocks xmlns:a="http://schemas.openxmlformats.org/drawingml/2006/main" noGrp="1"/>
          </p:cNvSpPr>
          <p:nvPr/>
        </p:nvSpPr>
        <p:spPr>
          <a:xfrm xmlns:a="http://schemas.openxmlformats.org/drawingml/2006/main">
            <a:off x="7600950" y="3676650"/>
            <a:ext cx="3952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56B30"/>
                </a:solidFill>
                <a:latin typeface="Calibri"/>
                <a:ea typeface="Calibri"/>
                <a:cs typeface="Calibri"/>
              </a:defRPr>
            </a:defPPr>
            <a:lvl1pPr>
              <a:buNone/>
              <a:defRPr sz="2250" b="0">
                <a:solidFill>
                  <a:srgbClr val="C56B30"/>
                </a:solidFill>
                <a:latin typeface="Calibri"/>
                <a:ea typeface="Calibri"/>
                <a:cs typeface="Calibri"/>
              </a:defRPr>
            </a:lvl1pPr>
            <a:lvl2pPr>
              <a:buNone/>
              <a:defRPr sz="2250" b="0">
                <a:solidFill>
                  <a:srgbClr val="C56B30"/>
                </a:solidFill>
                <a:latin typeface="Calibri"/>
                <a:ea typeface="Calibri"/>
                <a:cs typeface="Calibri"/>
              </a:defRPr>
            </a:lvl2pPr>
            <a:lvl3pPr>
              <a:buNone/>
              <a:defRPr sz="2250" b="0">
                <a:solidFill>
                  <a:srgbClr val="C56B30"/>
                </a:solidFill>
                <a:latin typeface="Calibri"/>
                <a:ea typeface="Calibri"/>
                <a:cs typeface="Calibri"/>
              </a:defRPr>
            </a:lvl3pPr>
            <a:lvl4pPr>
              <a:buNone/>
              <a:defRPr sz="2250" b="0">
                <a:solidFill>
                  <a:srgbClr val="C56B30"/>
                </a:solidFill>
                <a:latin typeface="Calibri"/>
                <a:ea typeface="Calibri"/>
                <a:cs typeface="Calibri"/>
              </a:defRPr>
            </a:lvl4pPr>
            <a:lvl5pPr>
              <a:buNone/>
              <a:defRPr sz="2250" b="0">
                <a:solidFill>
                  <a:srgbClr val="C56B30"/>
                </a:solidFill>
                <a:latin typeface="Calibri"/>
                <a:ea typeface="Calibri"/>
                <a:cs typeface="Calibri"/>
              </a:defRPr>
            </a:lvl5pPr>
            <a:lvl6pPr>
              <a:buNone/>
              <a:defRPr sz="2250" b="0">
                <a:solidFill>
                  <a:srgbClr val="C56B30"/>
                </a:solidFill>
                <a:latin typeface="Calibri"/>
                <a:ea typeface="Calibri"/>
                <a:cs typeface="Calibri"/>
              </a:defRPr>
            </a:lvl6pPr>
            <a:lvl7pPr>
              <a:buNone/>
              <a:defRPr sz="2250" b="0">
                <a:solidFill>
                  <a:srgbClr val="C56B30"/>
                </a:solidFill>
                <a:latin typeface="Calibri"/>
                <a:ea typeface="Calibri"/>
                <a:cs typeface="Calibri"/>
              </a:defRPr>
            </a:lvl7pPr>
            <a:lvl8pPr>
              <a:buNone/>
              <a:defRPr sz="2250" b="0">
                <a:solidFill>
                  <a:srgbClr val="C56B30"/>
                </a:solidFill>
                <a:latin typeface="Calibri"/>
                <a:ea typeface="Calibri"/>
                <a:cs typeface="Calibri"/>
              </a:defRPr>
            </a:lvl8pPr>
            <a:lvl9pPr>
              <a:buNone/>
              <a:defRPr sz="2250" b="0">
                <a:solidFill>
                  <a:srgbClr val="C56B30"/>
                </a:solidFill>
                <a:latin typeface="Calibri"/>
                <a:ea typeface="Calibri"/>
                <a:cs typeface="Calibri"/>
              </a:defRPr>
            </a:lvl9pPr>
          </a:lstStyle>
          <a:p xmlns:a="http://schemas.openxmlformats.org/drawingml/2006/main">
            <a:pPr>
              <a:buNone/>
              <a:defRPr sz="2250" b="0">
                <a:solidFill>
                  <a:srgbClr val="C56B30"/>
                </a:solidFill>
                <a:latin typeface="Calibri"/>
                <a:ea typeface="Calibri"/>
                <a:cs typeface="Calibri"/>
              </a:defRPr>
            </a:pPr>
            <a:r>
              <a:rPr sz="2250" b="0">
                <a:solidFill>
                  <a:srgbClr val="C56B30"/>
                </a:solidFill>
                <a:latin typeface="Calibri"/>
                <a:ea typeface="Calibri"/>
                <a:cs typeface="Calibri"/>
              </a:rPr>
              <a:t>Scope</a:t>
            </a:r>
          </a:p>
        </p:txBody>
      </p:sp>
      <p:sp>
        <p:nvSpPr>
          <p:cNvPr id="9" name="The training benchmark contains inorganic crystals with at most 20 ato">
            <a:extLst xmlns:a="http://schemas.openxmlformats.org/drawingml/2006/main">
              <a:ext uri="{FF2B5EF4-FFF2-40B4-BE49-F238E27FC236}">
                <a16:creationId xmlns:a16="http://schemas.microsoft.com/office/drawing/2014/main" id="{ED003A6B-3E6B-4FA8-87AD-A3818AFFC0E1}"/>
              </a:ext>
            </a:extLst>
          </p:cNvPr>
          <p:cNvSpPr>
            <a:spLocks xmlns:a="http://schemas.openxmlformats.org/drawingml/2006/main" noGrp="1"/>
          </p:cNvSpPr>
          <p:nvPr/>
        </p:nvSpPr>
        <p:spPr>
          <a:xfrm xmlns:a="http://schemas.openxmlformats.org/drawingml/2006/main">
            <a:off x="7600950" y="4171950"/>
            <a:ext cx="3952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The training benchmark contains inorganic crystals with at most 20 atoms per primitive cell.</a:t>
            </a:r>
          </a:p>
        </p:txBody>
      </p:sp>
      <p:sp>
        <p:nvSpPr>
          <p:cNvPr id="10" name="Complex oxides and organic crystals need further development.">
            <a:extLst xmlns:a="http://schemas.openxmlformats.org/drawingml/2006/main">
              <a:ext uri="{FF2B5EF4-FFF2-40B4-BE49-F238E27FC236}">
                <a16:creationId xmlns:a16="http://schemas.microsoft.com/office/drawing/2014/main" id="{E615775A-4151-48FF-8117-962ED857351A}"/>
              </a:ext>
            </a:extLst>
          </p:cNvPr>
          <p:cNvSpPr>
            <a:spLocks xmlns:a="http://schemas.openxmlformats.org/drawingml/2006/main" noGrp="1"/>
          </p:cNvSpPr>
          <p:nvPr/>
        </p:nvSpPr>
        <p:spPr>
          <a:xfrm xmlns:a="http://schemas.openxmlformats.org/drawingml/2006/main">
            <a:off x="7600950" y="5353050"/>
            <a:ext cx="3952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E293B"/>
                </a:solidFill>
                <a:latin typeface="Calibri"/>
                <a:ea typeface="Calibri"/>
                <a:cs typeface="Calibri"/>
              </a:defRPr>
            </a:defPPr>
            <a:lvl1pPr>
              <a:buNone/>
              <a:defRPr sz="1950" b="0">
                <a:solidFill>
                  <a:srgbClr val="1E293B"/>
                </a:solidFill>
                <a:latin typeface="Calibri"/>
                <a:ea typeface="Calibri"/>
                <a:cs typeface="Calibri"/>
              </a:defRPr>
            </a:lvl1pPr>
            <a:lvl2pPr>
              <a:buNone/>
              <a:defRPr sz="1950" b="0">
                <a:solidFill>
                  <a:srgbClr val="1E293B"/>
                </a:solidFill>
                <a:latin typeface="Calibri"/>
                <a:ea typeface="Calibri"/>
                <a:cs typeface="Calibri"/>
              </a:defRPr>
            </a:lvl2pPr>
            <a:lvl3pPr>
              <a:buNone/>
              <a:defRPr sz="1950" b="0">
                <a:solidFill>
                  <a:srgbClr val="1E293B"/>
                </a:solidFill>
                <a:latin typeface="Calibri"/>
                <a:ea typeface="Calibri"/>
                <a:cs typeface="Calibri"/>
              </a:defRPr>
            </a:lvl3pPr>
            <a:lvl4pPr>
              <a:buNone/>
              <a:defRPr sz="1950" b="0">
                <a:solidFill>
                  <a:srgbClr val="1E293B"/>
                </a:solidFill>
                <a:latin typeface="Calibri"/>
                <a:ea typeface="Calibri"/>
                <a:cs typeface="Calibri"/>
              </a:defRPr>
            </a:lvl4pPr>
            <a:lvl5pPr>
              <a:buNone/>
              <a:defRPr sz="1950" b="0">
                <a:solidFill>
                  <a:srgbClr val="1E293B"/>
                </a:solidFill>
                <a:latin typeface="Calibri"/>
                <a:ea typeface="Calibri"/>
                <a:cs typeface="Calibri"/>
              </a:defRPr>
            </a:lvl5pPr>
            <a:lvl6pPr>
              <a:buNone/>
              <a:defRPr sz="1950" b="0">
                <a:solidFill>
                  <a:srgbClr val="1E293B"/>
                </a:solidFill>
                <a:latin typeface="Calibri"/>
                <a:ea typeface="Calibri"/>
                <a:cs typeface="Calibri"/>
              </a:defRPr>
            </a:lvl6pPr>
            <a:lvl7pPr>
              <a:buNone/>
              <a:defRPr sz="1950" b="0">
                <a:solidFill>
                  <a:srgbClr val="1E293B"/>
                </a:solidFill>
                <a:latin typeface="Calibri"/>
                <a:ea typeface="Calibri"/>
                <a:cs typeface="Calibri"/>
              </a:defRPr>
            </a:lvl7pPr>
            <a:lvl8pPr>
              <a:buNone/>
              <a:defRPr sz="1950" b="0">
                <a:solidFill>
                  <a:srgbClr val="1E293B"/>
                </a:solidFill>
                <a:latin typeface="Calibri"/>
                <a:ea typeface="Calibri"/>
                <a:cs typeface="Calibri"/>
              </a:defRPr>
            </a:lvl8pPr>
            <a:lvl9pPr>
              <a:buNone/>
              <a:defRPr sz="1950" b="0">
                <a:solidFill>
                  <a:srgbClr val="1E293B"/>
                </a:solidFill>
                <a:latin typeface="Calibri"/>
                <a:ea typeface="Calibri"/>
                <a:cs typeface="Calibri"/>
              </a:defRPr>
            </a:lvl9pPr>
          </a:lstStyle>
          <a:p xmlns:a="http://schemas.openxmlformats.org/drawingml/2006/main">
            <a:pPr>
              <a:buNone/>
              <a:defRPr sz="1950" b="0">
                <a:solidFill>
                  <a:srgbClr val="1E293B"/>
                </a:solidFill>
                <a:latin typeface="Calibri"/>
                <a:ea typeface="Calibri"/>
                <a:cs typeface="Calibri"/>
              </a:defRPr>
            </a:pPr>
            <a:r>
              <a:rPr sz="1950" b="0">
                <a:solidFill>
                  <a:srgbClr val="1E293B"/>
                </a:solidFill>
                <a:latin typeface="Calibri"/>
                <a:ea typeface="Calibri"/>
                <a:cs typeface="Calibri"/>
              </a:rPr>
              <a:t>Complex oxides and organic crystals need further development.</a:t>
            </a:r>
          </a:p>
        </p:txBody>
      </p:sp>
      <p:sp>
        <p:nvSpPr>
          <p:cNvPr id="11" name="A close diffraction fit still needs chemical assessment.">
            <a:extLst xmlns:a="http://schemas.openxmlformats.org/drawingml/2006/main">
              <a:ext uri="{FF2B5EF4-FFF2-40B4-BE49-F238E27FC236}">
                <a16:creationId xmlns:a16="http://schemas.microsoft.com/office/drawing/2014/main" id="{6F068585-E513-43FB-BF89-FA145FBCE409}"/>
              </a:ext>
            </a:extLst>
          </p:cNvPr>
          <p:cNvSpPr>
            <a:spLocks xmlns:a="http://schemas.openxmlformats.org/drawingml/2006/main" noGrp="1"/>
          </p:cNvSpPr>
          <p:nvPr/>
        </p:nvSpPr>
        <p:spPr>
          <a:xfrm xmlns:a="http://schemas.openxmlformats.org/drawingml/2006/main">
            <a:off x="685800" y="5953125"/>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28090"/>
                </a:solidFill>
                <a:latin typeface="Calibri"/>
                <a:ea typeface="Calibri"/>
                <a:cs typeface="Calibri"/>
              </a:defRPr>
            </a:defPPr>
            <a:lvl1pPr>
              <a:buNone/>
              <a:defRPr sz="1875" b="0">
                <a:solidFill>
                  <a:srgbClr val="028090"/>
                </a:solidFill>
                <a:latin typeface="Calibri"/>
                <a:ea typeface="Calibri"/>
                <a:cs typeface="Calibri"/>
              </a:defRPr>
            </a:lvl1pPr>
            <a:lvl2pPr>
              <a:buNone/>
              <a:defRPr sz="1875" b="0">
                <a:solidFill>
                  <a:srgbClr val="028090"/>
                </a:solidFill>
                <a:latin typeface="Calibri"/>
                <a:ea typeface="Calibri"/>
                <a:cs typeface="Calibri"/>
              </a:defRPr>
            </a:lvl2pPr>
            <a:lvl3pPr>
              <a:buNone/>
              <a:defRPr sz="1875" b="0">
                <a:solidFill>
                  <a:srgbClr val="028090"/>
                </a:solidFill>
                <a:latin typeface="Calibri"/>
                <a:ea typeface="Calibri"/>
                <a:cs typeface="Calibri"/>
              </a:defRPr>
            </a:lvl3pPr>
            <a:lvl4pPr>
              <a:buNone/>
              <a:defRPr sz="1875" b="0">
                <a:solidFill>
                  <a:srgbClr val="028090"/>
                </a:solidFill>
                <a:latin typeface="Calibri"/>
                <a:ea typeface="Calibri"/>
                <a:cs typeface="Calibri"/>
              </a:defRPr>
            </a:lvl4pPr>
            <a:lvl5pPr>
              <a:buNone/>
              <a:defRPr sz="1875" b="0">
                <a:solidFill>
                  <a:srgbClr val="028090"/>
                </a:solidFill>
                <a:latin typeface="Calibri"/>
                <a:ea typeface="Calibri"/>
                <a:cs typeface="Calibri"/>
              </a:defRPr>
            </a:lvl5pPr>
            <a:lvl6pPr>
              <a:buNone/>
              <a:defRPr sz="1875" b="0">
                <a:solidFill>
                  <a:srgbClr val="028090"/>
                </a:solidFill>
                <a:latin typeface="Calibri"/>
                <a:ea typeface="Calibri"/>
                <a:cs typeface="Calibri"/>
              </a:defRPr>
            </a:lvl6pPr>
            <a:lvl7pPr>
              <a:buNone/>
              <a:defRPr sz="1875" b="0">
                <a:solidFill>
                  <a:srgbClr val="028090"/>
                </a:solidFill>
                <a:latin typeface="Calibri"/>
                <a:ea typeface="Calibri"/>
                <a:cs typeface="Calibri"/>
              </a:defRPr>
            </a:lvl7pPr>
            <a:lvl8pPr>
              <a:buNone/>
              <a:defRPr sz="1875" b="0">
                <a:solidFill>
                  <a:srgbClr val="028090"/>
                </a:solidFill>
                <a:latin typeface="Calibri"/>
                <a:ea typeface="Calibri"/>
                <a:cs typeface="Calibri"/>
              </a:defRPr>
            </a:lvl8pPr>
            <a:lvl9pPr>
              <a:buNone/>
              <a:defRPr sz="1875" b="0">
                <a:solidFill>
                  <a:srgbClr val="028090"/>
                </a:solidFill>
                <a:latin typeface="Calibri"/>
                <a:ea typeface="Calibri"/>
                <a:cs typeface="Calibri"/>
              </a:defRPr>
            </a:lvl9pPr>
          </a:lstStyle>
          <a:p xmlns:a="http://schemas.openxmlformats.org/drawingml/2006/main">
            <a:pPr>
              <a:buNone/>
              <a:defRPr sz="1875" b="0">
                <a:solidFill>
                  <a:srgbClr val="028090"/>
                </a:solidFill>
                <a:latin typeface="Calibri"/>
                <a:ea typeface="Calibri"/>
                <a:cs typeface="Calibri"/>
              </a:defRPr>
            </a:pPr>
            <a:r>
              <a:rPr sz="1875" b="0">
                <a:solidFill>
                  <a:srgbClr val="028090"/>
                </a:solidFill>
                <a:latin typeface="Calibri"/>
                <a:ea typeface="Calibri"/>
                <a:cs typeface="Calibri"/>
              </a:rPr>
              <a:t>A close diffraction fit still needs chemical assessment.</a:t>
            </a:r>
          </a:p>
        </p:txBody>
      </p:sp>
    </p:spTree>
    <p:extLst>
      <p:ext uri="{BB962C8B-B14F-4D97-AF65-F5344CB8AC3E}">
        <p14:creationId xmlns:p14="http://schemas.microsoft.com/office/powerpoint/2010/main" val="225440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2026-10-22T11:13:16.4180000Z</dcterms:created>
  <dcterms:modified xsi:type="dcterms:W3CDTF">2026-10-22T11:13:16.4180000Z</dcterms:modified>
</coreProperties>
</file>