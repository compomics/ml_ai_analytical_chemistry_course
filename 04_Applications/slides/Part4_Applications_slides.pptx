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E293B"/>
                </a:solidFill>
                <a:latin typeface="Arial"/>
              </a:rPr>
              <a:t>Predicted vs measured retention</a:t>
            </a:r>
          </a:p>
        </c:rich>
      </c:tx>
      <c:layout/>
      <c:overlay val="0"/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predicted</c:v>
                </c:pt>
              </c:strCache>
            </c:strRef>
          </c:tx>
          <c:spPr>
            <a:solidFill>
              <a:srgbClr val="028090"/>
            </a:solidFill>
            <a:ln>
              <a:noFill/>
            </a:ln>
            <a:effectLst/>
          </c:spPr>
          <c:marker>
            <c:symbol val="circle"/>
            <c:size val="6"/>
            <c:spPr>
              <a:solidFill>
                <a:srgbClr val="028090"/>
              </a:solidFill>
              <a:ln w="9525" cap="flat">
                <a:solidFill>
                  <a:srgbClr val="028090"/>
                </a:solidFill>
                <a:prstDash val="solid"/>
                <a:round/>
              </a:ln>
              <a:effectLst/>
            </c:spPr>
          </c:marker>
          <c:xVal>
            <c:numRef>
              <c:f>Sheet1!$A$2:$A$11</c:f>
              <c:numCache>
                <c:formatCode>General</c:formatCode>
                <c:ptCount val="10"/>
                <c:pt idx="0">
                  <c:v>2</c:v>
                </c:pt>
                <c:pt idx="1">
                  <c:v>4</c:v>
                </c:pt>
                <c:pt idx="2">
                  <c:v>6</c:v>
                </c:pt>
                <c:pt idx="3">
                  <c:v>8</c:v>
                </c:pt>
                <c:pt idx="4">
                  <c:v>10</c:v>
                </c:pt>
                <c:pt idx="5">
                  <c:v>12</c:v>
                </c:pt>
                <c:pt idx="6">
                  <c:v>14</c:v>
                </c:pt>
                <c:pt idx="7">
                  <c:v>16</c:v>
                </c:pt>
                <c:pt idx="8">
                  <c:v>18</c:v>
                </c:pt>
                <c:pt idx="9">
                  <c:v>20</c:v>
                </c:pt>
              </c:numCache>
            </c:numRef>
          </c:xVal>
          <c:yVal>
            <c:numRef>
              <c:f>Sheet1!$B$2:$B$11</c:f>
              <c:numCache>
                <c:formatCode>General</c:formatCode>
                <c:ptCount val="10"/>
                <c:pt idx="0">
                  <c:v>2.4</c:v>
                </c:pt>
                <c:pt idx="1">
                  <c:v>3.7</c:v>
                </c:pt>
                <c:pt idx="2">
                  <c:v>6.5</c:v>
                </c:pt>
                <c:pt idx="3">
                  <c:v>7.6</c:v>
                </c:pt>
                <c:pt idx="4">
                  <c:v>10.3</c:v>
                </c:pt>
                <c:pt idx="5">
                  <c:v>11.6</c:v>
                </c:pt>
                <c:pt idx="6">
                  <c:v>14.5</c:v>
                </c:pt>
                <c:pt idx="7">
                  <c:v>15.4</c:v>
                </c:pt>
                <c:pt idx="8">
                  <c:v>18.3</c:v>
                </c:pt>
                <c:pt idx="9">
                  <c:v>19.6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y = x</c:v>
                </c:pt>
              </c:strCache>
            </c:strRef>
          </c:tx>
          <c:spPr>
            <a:solidFill>
              <a:srgbClr val="028090"/>
            </a:solidFill>
            <a:ln>
              <a:noFill/>
            </a:ln>
            <a:effectLst/>
          </c:spPr>
          <c:marker>
            <c:symbol val="circle"/>
            <c:size val="6"/>
            <c:spPr>
              <a:solidFill>
                <a:srgbClr val="028090"/>
              </a:solidFill>
              <a:ln w="9525" cap="flat">
                <a:solidFill>
                  <a:srgbClr val="028090"/>
                </a:solidFill>
                <a:prstDash val="solid"/>
                <a:round/>
              </a:ln>
              <a:effectLst/>
            </c:spPr>
          </c:marker>
          <c:xVal>
            <c:numRef>
              <c:f>Sheet1!$A$2:$A$11</c:f>
              <c:numCache>
                <c:formatCode>General</c:formatCode>
                <c:ptCount val="10"/>
                <c:pt idx="0">
                  <c:v>2</c:v>
                </c:pt>
                <c:pt idx="1">
                  <c:v>4</c:v>
                </c:pt>
                <c:pt idx="2">
                  <c:v>6</c:v>
                </c:pt>
                <c:pt idx="3">
                  <c:v>8</c:v>
                </c:pt>
                <c:pt idx="4">
                  <c:v>10</c:v>
                </c:pt>
                <c:pt idx="5">
                  <c:v>12</c:v>
                </c:pt>
                <c:pt idx="6">
                  <c:v>14</c:v>
                </c:pt>
                <c:pt idx="7">
                  <c:v>16</c:v>
                </c:pt>
                <c:pt idx="8">
                  <c:v>18</c:v>
                </c:pt>
                <c:pt idx="9">
                  <c:v>20</c:v>
                </c:pt>
              </c:numCache>
            </c:numRef>
          </c:xVal>
          <c:yVal>
            <c:numRef>
              <c:f>Sheet1!$C$2:$C$11</c:f>
              <c:numCache>
                <c:formatCode>General</c:formatCode>
                <c:ptCount val="10"/>
                <c:pt idx="0">
                  <c:v>2</c:v>
                </c:pt>
                <c:pt idx="1">
                  <c:v>4</c:v>
                </c:pt>
                <c:pt idx="2">
                  <c:v>6</c:v>
                </c:pt>
                <c:pt idx="3">
                  <c:v>8</c:v>
                </c:pt>
                <c:pt idx="4">
                  <c:v>10</c:v>
                </c:pt>
                <c:pt idx="5">
                  <c:v>12</c:v>
                </c:pt>
                <c:pt idx="6">
                  <c:v>14</c:v>
                </c:pt>
                <c:pt idx="7">
                  <c:v>16</c:v>
                </c:pt>
                <c:pt idx="8">
                  <c:v>18</c:v>
                </c:pt>
                <c:pt idx="9">
                  <c:v>20</c:v>
                </c:pt>
              </c:numCache>
            </c:numRef>
          </c:y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D9D9D9"/>
              </a:solidFill>
              <a:prstDash val="solid"/>
              <a:round/>
            </a:ln>
          </c:spPr>
        </c:majorGridlines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val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2A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-1280160"/>
            <a:ext cx="3840480" cy="3840480"/>
          </a:xfrm>
          <a:prstGeom prst="ellipse">
            <a:avLst/>
          </a:prstGeom>
          <a:solidFill>
            <a:srgbClr val="028090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955280" y="2834640"/>
            <a:ext cx="2743200" cy="2743200"/>
          </a:xfrm>
          <a:prstGeom prst="ellipse">
            <a:avLst/>
          </a:prstGeom>
          <a:solidFill>
            <a:srgbClr val="02C39A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AND AI FOR ANALYTICAL CHEMISTRY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7680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 4: Applications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analytical chemistry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3383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9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 Sciences analytiques  -  4 h lectures + 1 h tutorial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PART COVERS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Roadmap for Part 4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8229600" cy="1188720"/>
          </a:xfrm>
          <a:prstGeom prst="roundRect">
            <a:avLst>
              <a:gd name="adj" fmla="val 6154"/>
            </a:avLst>
          </a:prstGeom>
          <a:solidFill>
            <a:srgbClr val="F0F7F7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92024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17320" y="1755648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417320" y="2121408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Retention, fragmentation, identification and rescoring, and CCS in ion mobility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57200" y="2971800"/>
            <a:ext cx="8229600" cy="1188720"/>
          </a:xfrm>
          <a:prstGeom prst="roundRect">
            <a:avLst>
              <a:gd name="adj" fmla="val 6154"/>
            </a:avLst>
          </a:prstGeom>
          <a:solidFill>
            <a:srgbClr val="F0F7F7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13232" y="333756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713232" y="3337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417320" y="3172968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survey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417320" y="3538728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priori optimisation of targeted and untargeted MS, ML for NMR, current developments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859536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2A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2926080"/>
            <a:ext cx="3657600" cy="3657600"/>
          </a:xfrm>
          <a:prstGeom prst="ellipse">
            <a:avLst/>
          </a:prstGeom>
          <a:solidFill>
            <a:srgbClr val="028090">
              <a:alpha val="2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680960" y="-1188720"/>
            <a:ext cx="3108960" cy="3108960"/>
          </a:xfrm>
          <a:prstGeom prst="ellipse">
            <a:avLst/>
          </a:prstGeom>
          <a:solidFill>
            <a:srgbClr val="02C39A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01168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Worked examples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77240" y="29718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Retention, fragmentation, identification, ion mobility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ML touches the LC-MS pipeline</a:t>
            </a:r>
            <a:endParaRPr lang="en-US" sz="2600" dirty="0"/>
          </a:p>
        </p:txBody>
      </p:sp>
      <p:pic>
        <p:nvPicPr>
          <p:cNvPr id="4" name="Image 0" descr="/sessions/compassionate-determined-keller/mnt/cours_IA_Chimie/ML_AI_Analytical_Chemistry_Course/04_Applications/slides/resources/lcms_ml_touchpoints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7200" y="1554480"/>
            <a:ext cx="8229600" cy="2057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38404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model families from Part 1 reappear across the pipeline; the predictors below fit together into one identification workflow.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859536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Chromatographic retention prediction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42062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model learns retention from structure and conditions, then predicts it for new compounds.
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use: 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candidate identifications; a candidate whose predicted retention is far from the observed value is unlikely.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 it on the predicted-vs-measured diagonal, and split by molecule (Part 3).</a:t>
            </a:r>
            <a:endParaRPr lang="en-US" sz="13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846320" y="1371600"/>
          <a:ext cx="3840480" cy="2788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4297680"/>
            <a:ext cx="8229600" cy="457200"/>
          </a:xfrm>
          <a:prstGeom prst="roundRect">
            <a:avLst>
              <a:gd name="adj" fmla="val 12000"/>
            </a:avLst>
          </a:prstGeom>
          <a:solidFill>
            <a:srgbClr val="EAF6F6"/>
          </a:solidFill>
          <a:ln/>
        </p:spPr>
      </p:sp>
      <p:sp>
        <p:nvSpPr>
          <p:cNvPr id="7" name="Text 4"/>
          <p:cNvSpPr/>
          <p:nvPr/>
        </p:nvSpPr>
        <p:spPr>
          <a:xfrm>
            <a:off x="621792" y="4297680"/>
            <a:ext cx="79004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DeepLC predicts peptide retention (incl. modified peptides); small-molecule descriptor models play the same filtering role.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59536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Fragmentation prediction in MS</a:t>
            </a:r>
            <a:endParaRPr lang="en-US" sz="2600" dirty="0"/>
          </a:p>
        </p:txBody>
      </p:sp>
      <p:pic>
        <p:nvPicPr>
          <p:cNvPr id="4" name="Image 0" descr="/sessions/compassionate-determined-keller/mnt/cours_IA_Chimie/ML_AI_Analytical_Chemistry_Course/04_Applications/slides/resources/mirror_spectrum_match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54880" y="1371600"/>
            <a:ext cx="3931920" cy="2560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463040"/>
            <a:ext cx="41148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a peptide or molecule, a model predicts the fragment ions and their intensities, i.e. the expected MS/MS spectrum.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Comparing predicted with observed gives a similarity score that strengthens identification.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457200" y="4297680"/>
            <a:ext cx="8229600" cy="457200"/>
          </a:xfrm>
          <a:prstGeom prst="roundRect">
            <a:avLst>
              <a:gd name="adj" fmla="val 12000"/>
            </a:avLst>
          </a:prstGeom>
          <a:solidFill>
            <a:srgbClr val="EAF6F6"/>
          </a:solidFill>
          <a:ln/>
        </p:spPr>
      </p:sp>
      <p:sp>
        <p:nvSpPr>
          <p:cNvPr id="7" name="Text 4"/>
          <p:cNvSpPr/>
          <p:nvPr/>
        </p:nvSpPr>
        <p:spPr>
          <a:xfrm>
            <a:off x="621792" y="4297680"/>
            <a:ext cx="79004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MS2PIP and Prosit predict fragment-ion intensities; the mirror plot shows the match feeding identification scoring.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59536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Identification and rescoring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8229600" cy="2011680"/>
          </a:xfrm>
          <a:prstGeom prst="roundRect">
            <a:avLst>
              <a:gd name="adj" fmla="val 3636"/>
            </a:avLst>
          </a:prstGeom>
          <a:solidFill>
            <a:srgbClr val="F0F7F7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828800"/>
            <a:ext cx="7680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spectra into confident identifications is itself an ML problem.
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retention and predicted fragmentation become </a:t>
            </a:r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that re-rank candidate matches (rescoring),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raising the number of confident identifications at a fixed error rate.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3931920"/>
            <a:ext cx="8229600" cy="457200"/>
          </a:xfrm>
          <a:prstGeom prst="roundRect">
            <a:avLst>
              <a:gd name="adj" fmla="val 12000"/>
            </a:avLst>
          </a:prstGeom>
          <a:solidFill>
            <a:srgbClr val="EAF6F6"/>
          </a:solidFill>
          <a:ln/>
        </p:spPr>
      </p:sp>
      <p:sp>
        <p:nvSpPr>
          <p:cNvPr id="7" name="Text 5"/>
          <p:cNvSpPr/>
          <p:nvPr/>
        </p:nvSpPr>
        <p:spPr>
          <a:xfrm>
            <a:off x="621792" y="3931920"/>
            <a:ext cx="79004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Percolator and pipelines such as MS2Rescore combine search scores with predicted RT and fragmentation, controlling the FDR.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59536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Collisional cross section in ion mobility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8229600" cy="2011680"/>
          </a:xfrm>
          <a:prstGeom prst="roundRect">
            <a:avLst>
              <a:gd name="adj" fmla="val 3636"/>
            </a:avLst>
          </a:prstGeom>
          <a:solidFill>
            <a:srgbClr val="F0F7F7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828800"/>
            <a:ext cx="7680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ion's collisional cross section (CCS) reflects its size and shape.
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CCS from structure adds an orthogonal property: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candidate must now match in mass, retention, and CCS, which sharpens untargeted identification.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3931920"/>
            <a:ext cx="8229600" cy="457200"/>
          </a:xfrm>
          <a:prstGeom prst="roundRect">
            <a:avLst>
              <a:gd name="adj" fmla="val 12000"/>
            </a:avLst>
          </a:prstGeom>
          <a:solidFill>
            <a:srgbClr val="EAF6F6"/>
          </a:solidFill>
          <a:ln/>
        </p:spPr>
      </p:sp>
      <p:sp>
        <p:nvSpPr>
          <p:cNvPr id="7" name="Text 5"/>
          <p:cNvSpPr/>
          <p:nvPr/>
        </p:nvSpPr>
        <p:spPr>
          <a:xfrm>
            <a:off x="621792" y="3931920"/>
            <a:ext cx="79004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candidate whose predicted CCS disagrees with the measured ion-mobility value is rejected.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59536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2A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2926080"/>
            <a:ext cx="3657600" cy="3657600"/>
          </a:xfrm>
          <a:prstGeom prst="ellipse">
            <a:avLst/>
          </a:prstGeom>
          <a:solidFill>
            <a:srgbClr val="028090">
              <a:alpha val="2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680960" y="-1188720"/>
            <a:ext cx="3108960" cy="3108960"/>
          </a:xfrm>
          <a:prstGeom prst="ellipse">
            <a:avLst/>
          </a:prstGeom>
          <a:solidFill>
            <a:srgbClr val="02C39A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01168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Short survey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77240" y="29718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experiments, NMR, and what is next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priori optimisation of MS analysis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8229600" cy="2011680"/>
          </a:xfrm>
          <a:prstGeom prst="roundRect">
            <a:avLst>
              <a:gd name="adj" fmla="val 3636"/>
            </a:avLst>
          </a:prstGeom>
          <a:solidFill>
            <a:srgbClr val="F0F7F7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828800"/>
            <a:ext cx="7680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can plan the experiment before acquisition.
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Targeted: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which peptides or transitions are observable and well-behaved, and target the best ones. </a:t>
            </a:r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Untargeted: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acquisition and prioritise informative precursors.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3931920"/>
            <a:ext cx="8229600" cy="457200"/>
          </a:xfrm>
          <a:prstGeom prst="roundRect">
            <a:avLst>
              <a:gd name="adj" fmla="val 12000"/>
            </a:avLst>
          </a:prstGeom>
          <a:solidFill>
            <a:srgbClr val="EAF6F6"/>
          </a:solidFill>
          <a:ln/>
        </p:spPr>
      </p:sp>
      <p:sp>
        <p:nvSpPr>
          <p:cNvPr id="7" name="Text 5"/>
          <p:cNvSpPr/>
          <p:nvPr/>
        </p:nvSpPr>
        <p:spPr>
          <a:xfrm>
            <a:off x="621792" y="3931920"/>
            <a:ext cx="79004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peptide detectability and best transitions lets a targeted method be designed in silico, saving instrument time.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59536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Machine learning for NMR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8229600" cy="2011680"/>
          </a:xfrm>
          <a:prstGeom prst="roundRect">
            <a:avLst>
              <a:gd name="adj" fmla="val 3636"/>
            </a:avLst>
          </a:prstGeom>
          <a:solidFill>
            <a:srgbClr val="F0F7F7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828800"/>
            <a:ext cx="7680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NMR is a rich, structured signal well suited to learning.
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assist with </a:t>
            </a:r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peak picking, spectral prediction from structure, compound classification, and reaction or mixture monitoring,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using the same workflow and the same evaluation caution as the MS examples.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3931920"/>
            <a:ext cx="8229600" cy="457200"/>
          </a:xfrm>
          <a:prstGeom prst="roundRect">
            <a:avLst>
              <a:gd name="adj" fmla="val 12000"/>
            </a:avLst>
          </a:prstGeom>
          <a:solidFill>
            <a:srgbClr val="EAF6F6"/>
          </a:solidFill>
          <a:ln/>
        </p:spPr>
      </p:sp>
      <p:sp>
        <p:nvSpPr>
          <p:cNvPr id="7" name="Text 5"/>
          <p:cNvSpPr/>
          <p:nvPr/>
        </p:nvSpPr>
        <p:spPr>
          <a:xfrm>
            <a:off x="621792" y="3931920"/>
            <a:ext cx="79004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recent review surveys ML across NMR, from resonance assignment to quantitative analysis (Prog. NMR Spectrosc., 2025).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59536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Current developments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4023360" cy="2651760"/>
          </a:xfrm>
          <a:prstGeom prst="roundRect">
            <a:avLst>
              <a:gd name="adj" fmla="val 2759"/>
            </a:avLst>
          </a:prstGeom>
          <a:solidFill>
            <a:srgbClr val="F0F7F7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62763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models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2057400"/>
            <a:ext cx="35204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models pretrained on very large spectral or molecular corpora, then adapted to specific tasks with less labelled data.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663440" y="1463040"/>
            <a:ext cx="4023360" cy="2651760"/>
          </a:xfrm>
          <a:prstGeom prst="roundRect">
            <a:avLst>
              <a:gd name="adj" fmla="val 2759"/>
            </a:avLst>
          </a:prstGeom>
          <a:solidFill>
            <a:srgbClr val="EAF6F6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92040" y="162763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identification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937760" y="2057400"/>
            <a:ext cx="35204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Combining predicted retention, fragmentation and CCS into a single identification framework rather than separate filters.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57200" y="4251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Refresh this slide each year; the field moves quickly.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859536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E2A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2743200"/>
            <a:ext cx="3474720" cy="3474720"/>
          </a:xfrm>
          <a:prstGeom prst="ellipse">
            <a:avLst/>
          </a:prstGeom>
          <a:solidFill>
            <a:srgbClr val="028090">
              <a:alpha val="2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640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371600"/>
            <a:ext cx="75895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assists across the whole LC-MS pipeline, reusing the Part 1 model families.</a:t>
            </a:r>
            <a:endParaRPr lang="en-US" sz="14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retention, fragmentation and CCS are orthogonal constraints on identification.</a:t>
            </a:r>
            <a:endParaRPr lang="en-US" sz="14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Rescoring turns these predictions into more confident identifications at fixed FDR.</a:t>
            </a:r>
            <a:endParaRPr lang="en-US" sz="14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NMR and a priori experiment design are active, growing areas.</a:t>
            </a:r>
            <a:endParaRPr lang="en-US" sz="14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every applied model with the Part 3 cautions (leakage, grouping).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Part 4 - Applications</dc:title>
  <dc:subject>PptxGenJS Presentation</dc:subject>
  <dc:creator>Lennart Martens</dc:creator>
  <cp:lastModifiedBy>Lennart Martens</cp:lastModifiedBy>
  <cp:revision>1</cp:revision>
  <dcterms:created xsi:type="dcterms:W3CDTF">2026-06-30T11:04:01Z</dcterms:created>
  <dcterms:modified xsi:type="dcterms:W3CDTF">2026-06-30T11:04:01Z</dcterms:modified>
</cp:coreProperties>
</file>