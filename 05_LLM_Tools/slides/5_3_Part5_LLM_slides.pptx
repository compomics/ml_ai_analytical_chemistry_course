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7d11efefa94ca6" /><Relationship Type="http://schemas.openxmlformats.org/officeDocument/2006/relationships/extended-properties" Target="/docProps/app.xml" Id="Reefe7de829074e31" /><Relationship Type="http://schemas.openxmlformats.org/officeDocument/2006/relationships/officeDocument" Target="/ppt/presentation.xml" Id="R5a25ed5f9bd24d86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9cd50c665a1d43b2"/>
  </p:sldMasterIdLst>
  <p:notesMasterIdLst>
    <p:notesMasterId r:id="R39dafe07aecb484b"/>
  </p:notesMasterIdLst>
  <p:sldIdLst>
    <p:sldId id="256" r:id="Raa3e34572e76434e"/>
    <p:sldId id="257" r:id="R36fd5935becf433f"/>
    <p:sldId id="258" r:id="R5d57a6ad6a414e92"/>
    <p:sldId id="259" r:id="R0aadc6af79c74ace"/>
    <p:sldId id="260" r:id="R387f5506e47241e2"/>
    <p:sldId id="261" r:id="R0a01a5b2000a4f0b"/>
    <p:sldId id="262" r:id="R59b5559cb1e5498f"/>
    <p:sldId id="263" r:id="R8c80f62570bc4a5f"/>
    <p:sldId id="264" r:id="Ra98d6316ed1c454b"/>
    <p:sldId id="265" r:id="R1e811b728eaa439d"/>
    <p:sldId id="266" r:id="Rfb5894823ec74394"/>
    <p:sldId id="267" r:id="Rf99116f5b91c47b1"/>
    <p:sldId id="268" r:id="R38f1684f93d24702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07dfdf52b0404a" /><Relationship Type="http://schemas.openxmlformats.org/officeDocument/2006/relationships/slideMaster" Target="/ppt/slideMasters/slideMaster1.xml" Id="R9cd50c665a1d43b2" /><Relationship Type="http://schemas.openxmlformats.org/officeDocument/2006/relationships/notesMaster" Target="/ppt/notesMasters/notesMaster1.xml" Id="R39dafe07aecb484b" /><Relationship Type="http://schemas.openxmlformats.org/officeDocument/2006/relationships/presProps" Target="/ppt/presProps.xml" Id="Rad7a122f4f934269" /><Relationship Type="http://schemas.openxmlformats.org/officeDocument/2006/relationships/viewProps" Target="/ppt/viewProps.xml" Id="R295993b57cfc49da" /><Relationship Type="http://schemas.openxmlformats.org/officeDocument/2006/relationships/tableStyles" Target="/ppt/tableStyles.xml" Id="Rb3d97c8c113e4666" /><Relationship Type="http://schemas.openxmlformats.org/officeDocument/2006/relationships/slide" Target="/ppt/slides/slide1.xml" Id="Raa3e34572e76434e" /><Relationship Type="http://schemas.openxmlformats.org/officeDocument/2006/relationships/slide" Target="/ppt/slides/slide2.xml" Id="R36fd5935becf433f" /><Relationship Type="http://schemas.openxmlformats.org/officeDocument/2006/relationships/slide" Target="/ppt/slides/slide3.xml" Id="R5d57a6ad6a414e92" /><Relationship Type="http://schemas.openxmlformats.org/officeDocument/2006/relationships/slide" Target="/ppt/slides/slide4.xml" Id="R0aadc6af79c74ace" /><Relationship Type="http://schemas.openxmlformats.org/officeDocument/2006/relationships/slide" Target="/ppt/slides/slide5.xml" Id="R387f5506e47241e2" /><Relationship Type="http://schemas.openxmlformats.org/officeDocument/2006/relationships/slide" Target="/ppt/slides/slide6.xml" Id="R0a01a5b2000a4f0b" /><Relationship Type="http://schemas.openxmlformats.org/officeDocument/2006/relationships/slide" Target="/ppt/slides/slide7.xml" Id="R59b5559cb1e5498f" /><Relationship Type="http://schemas.openxmlformats.org/officeDocument/2006/relationships/slide" Target="/ppt/slides/slide8.xml" Id="R8c80f62570bc4a5f" /><Relationship Type="http://schemas.openxmlformats.org/officeDocument/2006/relationships/slide" Target="/ppt/slides/slide9.xml" Id="Ra98d6316ed1c454b" /><Relationship Type="http://schemas.openxmlformats.org/officeDocument/2006/relationships/slide" Target="/ppt/slides/slide10.xml" Id="R1e811b728eaa439d" /><Relationship Type="http://schemas.openxmlformats.org/officeDocument/2006/relationships/slide" Target="/ppt/slides/slide11.xml" Id="Rfb5894823ec74394" /><Relationship Type="http://schemas.openxmlformats.org/officeDocument/2006/relationships/slide" Target="/ppt/slides/slide12.xml" Id="Rf99116f5b91c47b1" /><Relationship Type="http://schemas.openxmlformats.org/officeDocument/2006/relationships/slide" Target="/ppt/slides/slide13.xml" Id="R38f1684f93d247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07f4eab07d41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55bcfa3ee440d9" /><Relationship Type="http://schemas.openxmlformats.org/officeDocument/2006/relationships/notesMaster" Target="/ppt/notesMasters/notesMaster1.xml" Id="Rdecb925e532f4c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787176e8494818" /><Relationship Type="http://schemas.openxmlformats.org/officeDocument/2006/relationships/notesMaster" Target="/ppt/notesMasters/notesMaster1.xml" Id="Ra594b3fd41f24b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75c526422a4087" /><Relationship Type="http://schemas.openxmlformats.org/officeDocument/2006/relationships/notesMaster" Target="/ppt/notesMasters/notesMaster1.xml" Id="Rf7c1ce607b6443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0d9eaf7c92405c" /><Relationship Type="http://schemas.openxmlformats.org/officeDocument/2006/relationships/notesMaster" Target="/ppt/notesMasters/notesMaster1.xml" Id="R8b6d51f98eda48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43679db02843c4" /><Relationship Type="http://schemas.openxmlformats.org/officeDocument/2006/relationships/notesMaster" Target="/ppt/notesMasters/notesMaster1.xml" Id="R08a83e8824ed45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d176b10d7b4193" /><Relationship Type="http://schemas.openxmlformats.org/officeDocument/2006/relationships/notesMaster" Target="/ppt/notesMasters/notesMaster1.xml" Id="R41b14199d20a43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6d907e9d324036" /><Relationship Type="http://schemas.openxmlformats.org/officeDocument/2006/relationships/notesMaster" Target="/ppt/notesMasters/notesMaster1.xml" Id="R3b6cd825e0244b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9fe76261064f3d" /><Relationship Type="http://schemas.openxmlformats.org/officeDocument/2006/relationships/notesMaster" Target="/ppt/notesMasters/notesMaster1.xml" Id="R01e33a712def42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954130aec84566" /><Relationship Type="http://schemas.openxmlformats.org/officeDocument/2006/relationships/notesMaster" Target="/ppt/notesMasters/notesMaster1.xml" Id="R4db856b292ff46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a5b86ef9cb4fdd" /><Relationship Type="http://schemas.openxmlformats.org/officeDocument/2006/relationships/notesMaster" Target="/ppt/notesMasters/notesMaster1.xml" Id="R1c6ccf5247724a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0596d741664699" /><Relationship Type="http://schemas.openxmlformats.org/officeDocument/2006/relationships/notesMaster" Target="/ppt/notesMasters/notesMaster1.xml" Id="R4e70c37abf1542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815643426b46f0" /><Relationship Type="http://schemas.openxmlformats.org/officeDocument/2006/relationships/notesMaster" Target="/ppt/notesMasters/notesMaster1.xml" Id="R9b03625bb03b44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99840ff7b04d13" /><Relationship Type="http://schemas.openxmlformats.org/officeDocument/2006/relationships/notesMaster" Target="/ppt/notesMasters/notesMaster1.xml" Id="R90539b534e324533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d80588e304af4" /></Relationships>
</file>

<file path=ppt/slideLayouts/slideLayout1.xml><?xml version="1.0" encoding="utf-8"?>
<p:sldLayout xmlns:a="http://schemas.openxmlformats.org/drawingml/2006/main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8296e9b94348b0" /><Relationship Type="http://schemas.openxmlformats.org/officeDocument/2006/relationships/slideLayout" Target="/ppt/slideLayouts/slideLayout1.xml" Id="R671018446b5a4a67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671018446b5a4a67"/>
  </p:sldLayoutIdLst>
  <p:hf sldNum="0" hdr="0" ftr="0" dt="0"/>
  <p:txStyles>
    <p:titleStyle>
      <a:lvl1pPr algn="ctr" defTabSz="914400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457200" indent="-457200" algn="l" defTabSz="914400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lt"/>
          <a:cs typeface="+mn-lt"/>
        </a:defRPr>
      </a:lvl1pPr>
      <a:lvl2pPr marL="990600" indent="-381000" algn="l" defTabSz="914400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lt"/>
          <a:cs typeface="+mn-lt"/>
        </a:defRPr>
      </a:lvl2pPr>
      <a:lvl3pPr marL="1524000" indent="-3048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3pPr>
      <a:lvl4pPr marL="2133600" indent="-304800" algn="l" defTabSz="914400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lt"/>
          <a:cs typeface="+mn-lt"/>
        </a:defRPr>
      </a:lvl4pPr>
      <a:lvl5pPr marL="2743200" indent="-304800" algn="l" defTabSz="914400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lt"/>
          <a:cs typeface="+mn-lt"/>
        </a:defRPr>
      </a:lvl5pPr>
      <a:lvl6pPr marL="3352800" indent="-304800" algn="l" defTabSz="914400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400" indent="-304800" algn="l" defTabSz="914400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2000" indent="-304800" algn="l" defTabSz="914400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600" indent="-304800" algn="l" defTabSz="914400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600" algn="l" defTabSz="9144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200" algn="l" defTabSz="9144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800" algn="l" defTabSz="9144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400" algn="l" defTabSz="9144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8000" algn="l" defTabSz="9144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600" algn="l" defTabSz="9144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200" algn="l" defTabSz="9144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800" algn="l" defTabSz="914400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Office Theme">
  <a:themeElements>
    <a:clrScheme name="CompOmics">
      <a:dk1>
        <a:srgbClr val="1B2944"/>
      </a:dk1>
      <a:lt1>
        <a:sysClr val="window" lastClr="FFFFFF"/>
      </a:lt1>
      <a:dk2>
        <a:srgbClr val="1B2944"/>
      </a:dk2>
      <a:lt2>
        <a:srgbClr val="FFFFFF"/>
      </a:lt2>
      <a:accent1>
        <a:srgbClr val="417ECE"/>
      </a:accent1>
      <a:accent2>
        <a:srgbClr val="C96461"/>
      </a:accent2>
      <a:accent3>
        <a:srgbClr val="59AD5D"/>
      </a:accent3>
      <a:accent4>
        <a:srgbClr val="DDAE56"/>
      </a:accent4>
      <a:accent5>
        <a:srgbClr val="53C7C5"/>
      </a:accent5>
      <a:accent6>
        <a:srgbClr val="9976B7"/>
      </a:accent6>
      <a:hlink>
        <a:srgbClr val="5DB7B1"/>
      </a:hlink>
      <a:folHlink>
        <a:srgbClr val="5DB7B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.potx" id="{6B1FDA5D-2F38-494C-9F84-B858B0FF0533}" vid="{89C44F79-ADE1-466F-BE54-FC048700DF5C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b46ca0fda4bd9" /><Relationship Type="http://schemas.openxmlformats.org/officeDocument/2006/relationships/notesSlide" Target="/ppt/notesSlides/notesSlide1.xml" Id="Re1bd41a68a4145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8a63a58dd4e28" /><Relationship Type="http://schemas.openxmlformats.org/officeDocument/2006/relationships/notesSlide" Target="/ppt/notesSlides/notesSlide2.xml" Id="Ra20ef66e2ad343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953da5c5d421d" /><Relationship Type="http://schemas.openxmlformats.org/officeDocument/2006/relationships/notesSlide" Target="/ppt/notesSlides/notesSlide3.xml" Id="R48bb7a854e694b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561e0a4d54b13" /><Relationship Type="http://schemas.openxmlformats.org/officeDocument/2006/relationships/notesSlide" Target="/ppt/notesSlides/notesSlide4.xml" Id="Rf9fa4fa5fafd43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596e4e8ec444a" /><Relationship Type="http://schemas.openxmlformats.org/officeDocument/2006/relationships/image" Target="/ppt/media/image.png" Id="Rcd79e54ee77143ed" /><Relationship Type="http://schemas.openxmlformats.org/officeDocument/2006/relationships/image" Target="/ppt/media/image.svg" Id="Rdc659c20406b44ae" /><Relationship Type="http://schemas.openxmlformats.org/officeDocument/2006/relationships/notesSlide" Target="/ppt/notesSlides/notesSlide5.xml" Id="Rf38e744761eb44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51013d2b14101" /><Relationship Type="http://schemas.openxmlformats.org/officeDocument/2006/relationships/image" Target="/ppt/media/image2.png" Id="R19f584542a864bb5" /><Relationship Type="http://schemas.openxmlformats.org/officeDocument/2006/relationships/image" Target="/ppt/media/image2.svg" Id="R9ebc6f743ebc4781" /><Relationship Type="http://schemas.openxmlformats.org/officeDocument/2006/relationships/notesSlide" Target="/ppt/notesSlides/notesSlide6.xml" Id="Re9f51bd4598b4c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a0d39e24c4477" /><Relationship Type="http://schemas.openxmlformats.org/officeDocument/2006/relationships/notesSlide" Target="/ppt/notesSlides/notesSlide7.xml" Id="R93690fa033e345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45696b8714bd5" /><Relationship Type="http://schemas.openxmlformats.org/officeDocument/2006/relationships/notesSlide" Target="/ppt/notesSlides/notesSlide8.xml" Id="Rf9c5d995f0e04f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2051c0c8f4a9f" /><Relationship Type="http://schemas.openxmlformats.org/officeDocument/2006/relationships/notesSlide" Target="/ppt/notesSlides/notesSlide9.xml" Id="R386c27510d0a4a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a10e451f64e72" /><Relationship Type="http://schemas.openxmlformats.org/officeDocument/2006/relationships/notesSlide" Target="/ppt/notesSlides/notesSlide10.xml" Id="R6f9f497b7b2145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02c6c2b5f498d" /><Relationship Type="http://schemas.openxmlformats.org/officeDocument/2006/relationships/notesSlide" Target="/ppt/notesSlides/notesSlide11.xml" Id="R76fd45af91e644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f139691404048" /><Relationship Type="http://schemas.openxmlformats.org/officeDocument/2006/relationships/notesSlide" Target="/ppt/notesSlides/notesSlide12.xml" Id="R7a606d881a934b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35822d31849e8" /><Relationship Type="http://schemas.openxmlformats.org/officeDocument/2006/relationships/notesSlide" Target="/ppt/notesSlides/notesSlide13.xml" Id="Rb592a72925ed48ce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Text 2">
            <a:extLst>
              <a:ext uri="{FF2B5EF4-FFF2-40B4-BE49-F238E27FC236}">
                <ns2:creationId id="{EB2B551A-0766-4A47-A38E-23AF90AB0AD4}"/>
              </a:ext>
            </a:extLst>
          </p:cNvPr>
          <p:cNvSpPr>
            <a:spLocks noGrp="1"/>
          </p:cNvSpPr>
          <p:nvPr/>
        </p:nvSpPr>
        <p:spPr>
          <a:xfrm>
            <a:off x="433705" y="1651000"/>
            <a:ext cx="113157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500" b="0" spc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MACHINE LEARNING AND AI FOR ANALYTICAL CHEMISTRY</a:t>
            </a:r>
            <a:endParaRPr sz="1600"/>
          </a:p>
        </p:txBody>
      </p:sp>
      <p:sp>
        <p:nvSpPr>
          <p:cNvPr id="5" name="Text 3">
            <a:extLst>
              <a:ext uri="{FF2B5EF4-FFF2-40B4-BE49-F238E27FC236}">
                <ns2:creationId id="{FFBA8A3A-26FB-4E86-950F-FD51DE2688D9}"/>
              </a:ext>
            </a:extLst>
          </p:cNvPr>
          <p:cNvSpPr>
            <a:spLocks noGrp="1"/>
          </p:cNvSpPr>
          <p:nvPr/>
        </p:nvSpPr>
        <p:spPr>
          <a:xfrm>
            <a:off x="433705" y="2349500"/>
            <a:ext cx="1131570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36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36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36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36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36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36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36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36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36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36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36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36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Part 5: LLMs as</a:t>
            </a:r>
            <a:endParaRPr sz="4800"/>
          </a:p>
          <a:p>
            <a:pPr marL="0" indent="0" algn="l">
              <a:buNone/>
              <a:defRPr sz="36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36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adaptive research tools</a:t>
            </a:r>
            <a:endParaRPr sz="4800"/>
          </a:p>
        </p:txBody>
      </p:sp>
      <p:sp>
        <p:nvSpPr>
          <p:cNvPr id="6" name="Text 4">
            <a:extLst>
              <a:ext uri="{FF2B5EF4-FFF2-40B4-BE49-F238E27FC236}">
                <ns2:creationId id="{49941FCD-FE33-480E-BB9B-A0A640767D6B}"/>
              </a:ext>
            </a:extLst>
          </p:cNvPr>
          <p:cNvSpPr>
            <a:spLocks noGrp="1"/>
          </p:cNvSpPr>
          <p:nvPr/>
        </p:nvSpPr>
        <p:spPr>
          <a:xfrm>
            <a:off x="433705" y="4127500"/>
            <a:ext cx="113157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M2 Sciences analytiques  -  3 h tutorial</a:t>
            </a:r>
            <a:endParaRPr sz="1867"/>
          </a:p>
        </p:txBody>
      </p:sp>
      <p:sp>
        <p:nvSpPr>
          <p:cNvPr id="7" name="Slide number">
            <a:extLst>
              <a:ext uri="{FF2B5EF4-FFF2-40B4-BE49-F238E27FC236}">
                <ns2:creationId id="{F04D0053-6829-4A27-8E35-F6BB79179C24}"/>
              </a:ext>
            </a:extLst>
          </p:cNvPr>
          <p:cNvSpPr>
            <a:spLocks noGrp="1"/>
          </p:cNvSpPr>
          <p:nvPr/>
        </p:nvSpPr>
        <p:spPr>
          <a:xfrm>
            <a:off x="10684955" y="6459728"/>
            <a:ext cx="1073468" cy="2617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pPr>
            <a:r>
              <a: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</p:spTree>
    <p:extLst>
      <p:ext uri="{BB962C8B-B14F-4D97-AF65-F5344CB8AC3E}">
        <ns3:creationId val="1580458602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Text 1">
            <a:extLst>
              <a:ext uri="{FF2B5EF4-FFF2-40B4-BE49-F238E27FC236}">
                <ns2:creationId id="{CB14985F-4A3A-420A-B760-7188B609D6D8}"/>
              </a:ext>
            </a:extLst>
          </p:cNvPr>
          <p:cNvSpPr>
            <a:spLocks noGrp="1"/>
          </p:cNvSpPr>
          <p:nvPr/>
        </p:nvSpPr>
        <p:spPr>
          <a:xfrm>
            <a:off x="433705" y="365125"/>
            <a:ext cx="113157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Roadmap for Part 5</a:t>
            </a:r>
            <a:endParaRPr sz="3467"/>
          </a:p>
        </p:txBody>
      </p:sp>
      <p:sp>
        <p:nvSpPr>
          <p:cNvPr id="6" name="Text 4">
            <a:extLst>
              <a:ext uri="{FF2B5EF4-FFF2-40B4-BE49-F238E27FC236}">
                <ns2:creationId id="{5041B168-0FDF-41FB-B394-7BA5FB0597D6}"/>
              </a:ext>
            </a:extLst>
          </p:cNvPr>
          <p:cNvSpPr>
            <a:spLocks noGrp="1"/>
          </p:cNvSpPr>
          <p:nvPr/>
        </p:nvSpPr>
        <p:spPr>
          <a:xfrm>
            <a:off x="433705" y="1841500"/>
            <a:ext cx="4445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pPr>
            <a:r>
              <a: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rPr>
              <a:t>1</a:t>
            </a:r>
            <a:endParaRPr sz="2400"/>
          </a:p>
        </p:txBody>
      </p:sp>
      <p:sp>
        <p:nvSpPr>
          <p:cNvPr id="7" name="Text 5">
            <a:extLst>
              <a:ext uri="{FF2B5EF4-FFF2-40B4-BE49-F238E27FC236}">
                <ns2:creationId id="{C7E2E0C6-711B-49C5-80FB-A5E249833CB6}"/>
              </a:ext>
            </a:extLst>
          </p:cNvPr>
          <p:cNvSpPr>
            <a:spLocks noGrp="1"/>
          </p:cNvSpPr>
          <p:nvPr/>
        </p:nvSpPr>
        <p:spPr>
          <a:xfrm>
            <a:off x="1016000" y="1841500"/>
            <a:ext cx="107315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Principles and good practice</a:t>
            </a:r>
            <a:endParaRPr sz="2267"/>
          </a:p>
        </p:txBody>
      </p:sp>
      <p:sp>
        <p:nvSpPr>
          <p:cNvPr id="8" name="Text 6">
            <a:extLst>
              <a:ext uri="{FF2B5EF4-FFF2-40B4-BE49-F238E27FC236}">
                <ns2:creationId id="{FDE8869A-0226-4AC4-9578-14207764004C}"/>
              </a:ext>
            </a:extLst>
          </p:cNvPr>
          <p:cNvSpPr>
            <a:spLocks noGrp="1"/>
          </p:cNvSpPr>
          <p:nvPr/>
        </p:nvSpPr>
        <p:spPr>
          <a:xfrm>
            <a:off x="1016000" y="2514600"/>
            <a:ext cx="107315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What an LLM is, strengths and weaknesses, hallucination and verification, prompt hygiene, the fraud-policy boundary</a:t>
            </a:r>
            <a:endParaRPr sz="1600"/>
          </a:p>
        </p:txBody>
      </p:sp>
      <p:sp>
        <p:nvSpPr>
          <p:cNvPr id="11" name="Text 9">
            <a:extLst>
              <a:ext uri="{FF2B5EF4-FFF2-40B4-BE49-F238E27FC236}">
                <ns2:creationId id="{A6CA7747-1416-4CFE-97AD-CEEA3752FB61}"/>
              </a:ext>
            </a:extLst>
          </p:cNvPr>
          <p:cNvSpPr>
            <a:spLocks noGrp="1"/>
          </p:cNvSpPr>
          <p:nvPr/>
        </p:nvSpPr>
        <p:spPr>
          <a:xfrm>
            <a:off x="433705" y="3937000"/>
            <a:ext cx="4445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pPr>
            <a:r>
              <a:rPr sz="22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rPr>
              <a:t>2</a:t>
            </a:r>
            <a:endParaRPr sz="2400"/>
          </a:p>
        </p:txBody>
      </p:sp>
      <p:sp>
        <p:nvSpPr>
          <p:cNvPr id="12" name="Text 10">
            <a:extLst>
              <a:ext uri="{FF2B5EF4-FFF2-40B4-BE49-F238E27FC236}">
                <ns2:creationId id="{9EC57DDF-E767-480C-91BE-2C2EFD54B820}"/>
              </a:ext>
            </a:extLst>
          </p:cNvPr>
          <p:cNvSpPr>
            <a:spLocks noGrp="1"/>
          </p:cNvSpPr>
          <p:nvPr/>
        </p:nvSpPr>
        <p:spPr>
          <a:xfrm>
            <a:off x="1016000" y="3937000"/>
            <a:ext cx="107315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21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Using LLMs for the work</a:t>
            </a:r>
            <a:endParaRPr sz="2267"/>
          </a:p>
        </p:txBody>
      </p:sp>
      <p:sp>
        <p:nvSpPr>
          <p:cNvPr id="13" name="Text 11">
            <a:extLst>
              <a:ext uri="{FF2B5EF4-FFF2-40B4-BE49-F238E27FC236}">
                <ns2:creationId id="{F0F0F623-9948-400F-A45A-917CA87E6ADA}"/>
              </a:ext>
            </a:extLst>
          </p:cNvPr>
          <p:cNvSpPr>
            <a:spLocks noGrp="1"/>
          </p:cNvSpPr>
          <p:nvPr/>
        </p:nvSpPr>
        <p:spPr>
          <a:xfrm>
            <a:off x="1016000" y="4610100"/>
            <a:ext cx="107315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Code generation, literature exploration, document automation, and the assessed project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ns2:creationId id="{F6B1015B-7A4C-47E9-A246-4F81AF25E827}"/>
              </a:ext>
            </a:extLst>
          </p:cNvPr>
          <p:cNvSpPr>
            <a:spLocks noGrp="1"/>
          </p:cNvSpPr>
          <p:nvPr/>
        </p:nvSpPr>
        <p:spPr>
          <a:xfrm>
            <a:off x="10684955" y="6459728"/>
            <a:ext cx="1073468" cy="261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r">
              <a:buNone/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pPr>
            <a:r>
              <a: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rPr>
              <a:t>2</a:t>
            </a:r>
            <a:endParaRPr sz="1200"/>
          </a:p>
        </p:txBody>
      </p:sp>
    </p:spTree>
    <p:extLst>
      <p:ext uri="{BB962C8B-B14F-4D97-AF65-F5344CB8AC3E}">
        <ns3:creationId val="363518447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Text 2">
            <a:extLst>
              <a:ext uri="{FF2B5EF4-FFF2-40B4-BE49-F238E27FC236}">
                <ns2:creationId id="{75A6F08F-6A9A-484A-8792-BBB20AA3E2D5}"/>
              </a:ext>
            </a:extLst>
          </p:cNvPr>
          <p:cNvSpPr>
            <a:spLocks noGrp="1"/>
          </p:cNvSpPr>
          <p:nvPr/>
        </p:nvSpPr>
        <p:spPr>
          <a:xfrm>
            <a:off x="433705" y="2286000"/>
            <a:ext cx="113157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Principles and good practice</a:t>
            </a:r>
            <a:endParaRPr sz="4267"/>
          </a:p>
        </p:txBody>
      </p:sp>
      <p:sp>
        <p:nvSpPr>
          <p:cNvPr id="5" name="Text 3">
            <a:extLst>
              <a:ext uri="{FF2B5EF4-FFF2-40B4-BE49-F238E27FC236}">
                <ns2:creationId id="{809FB515-E0B6-46AD-8614-0224DFFCCE40}"/>
              </a:ext>
            </a:extLst>
          </p:cNvPr>
          <p:cNvSpPr>
            <a:spLocks noGrp="1"/>
          </p:cNvSpPr>
          <p:nvPr/>
        </p:nvSpPr>
        <p:spPr>
          <a:xfrm>
            <a:off x="433705" y="3238500"/>
            <a:ext cx="113157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Fluent, useful, and sometimes confidently wrong</a:t>
            </a:r>
            <a:endParaRPr sz="2000"/>
          </a:p>
        </p:txBody>
      </p:sp>
      <p:sp>
        <p:nvSpPr>
          <p:cNvPr id="6" name="Slide number">
            <a:extLst>
              <a:ext uri="{FF2B5EF4-FFF2-40B4-BE49-F238E27FC236}">
                <ns2:creationId id="{A72CAC61-D232-40F2-B2C9-C05E41490340}"/>
              </a:ext>
            </a:extLst>
          </p:cNvPr>
          <p:cNvSpPr>
            <a:spLocks noGrp="1"/>
          </p:cNvSpPr>
          <p:nvPr/>
        </p:nvSpPr>
        <p:spPr>
          <a:xfrm>
            <a:off x="10684955" y="6459728"/>
            <a:ext cx="1073468" cy="2617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pPr>
            <a:r>
              <a: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</p:spTree>
    <p:extLst>
      <p:ext uri="{BB962C8B-B14F-4D97-AF65-F5344CB8AC3E}">
        <ns3:creationId val="794832585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Text 1">
            <a:extLst>
              <a:ext uri="{FF2B5EF4-FFF2-40B4-BE49-F238E27FC236}">
                <ns2:creationId id="{787E48D5-23A6-43BF-A511-4B604311748F}"/>
              </a:ext>
            </a:extLst>
          </p:cNvPr>
          <p:cNvSpPr>
            <a:spLocks noGrp="1"/>
          </p:cNvSpPr>
          <p:nvPr/>
        </p:nvSpPr>
        <p:spPr>
          <a:xfrm>
            <a:off x="433705" y="365125"/>
            <a:ext cx="113157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Strengths and weaknesses</a:t>
            </a:r>
            <a:endParaRPr sz="3467"/>
          </a:p>
        </p:txBody>
      </p:sp>
      <p:sp>
        <p:nvSpPr>
          <p:cNvPr id="5" name="Text 3">
            <a:extLst>
              <a:ext uri="{FF2B5EF4-FFF2-40B4-BE49-F238E27FC236}">
                <ns2:creationId id="{03ED8626-00B5-4F64-8FE0-5F013536AA3F}"/>
              </a:ext>
            </a:extLst>
          </p:cNvPr>
          <p:cNvSpPr>
            <a:spLocks noGrp="1"/>
          </p:cNvSpPr>
          <p:nvPr/>
        </p:nvSpPr>
        <p:spPr>
          <a:xfrm>
            <a:off x="433705" y="1714500"/>
            <a:ext cx="53975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pPr>
            <a:r>
              <a: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rPr>
              <a:t>Good at</a:t>
            </a:r>
            <a:endParaRPr sz="2000"/>
          </a:p>
        </p:txBody>
      </p:sp>
      <p:sp>
        <p:nvSpPr>
          <p:cNvPr id="6" name="Text 4">
            <a:extLst>
              <a:ext uri="{FF2B5EF4-FFF2-40B4-BE49-F238E27FC236}">
                <ns2:creationId id="{7C4156C1-5F48-45CD-ABA8-FF9BD3408920}"/>
              </a:ext>
            </a:extLst>
          </p:cNvPr>
          <p:cNvSpPr>
            <a:spLocks noGrp="1"/>
          </p:cNvSpPr>
          <p:nvPr/>
        </p:nvSpPr>
        <p:spPr>
          <a:xfrm>
            <a:off x="433705" y="2476500"/>
            <a:ext cx="5397500" cy="289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457200" indent="-457200" algn="l">
              <a:spcAft>
                <a:spcPts val="533"/>
              </a:spcAft>
              <a:buSzPct val="100000"/>
              <a:buChar char="•"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drafting and rewriting text</a:t>
            </a:r>
            <a:endParaRPr sz="1667"/>
          </a:p>
          <a:p>
            <a:pPr marL="457200" indent="-457200" algn="l">
              <a:spcAft>
                <a:spcPts val="533"/>
              </a:spcAft>
              <a:buSzPct val="100000"/>
              <a:buChar char="•"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explaining concepts</a:t>
            </a:r>
            <a:endParaRPr sz="1667"/>
          </a:p>
          <a:p>
            <a:pPr marL="457200" indent="-457200" algn="l">
              <a:spcAft>
                <a:spcPts val="533"/>
              </a:spcAft>
              <a:buSzPct val="100000"/>
              <a:buChar char="•"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generating and debugging code</a:t>
            </a:r>
            <a:endParaRPr sz="1667"/>
          </a:p>
          <a:p>
            <a:pPr marL="457200" indent="-457200" algn="l">
              <a:spcAft>
                <a:spcPts val="533"/>
              </a:spcAft>
              <a:buSzPct val="100000"/>
              <a:buChar char="•"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translating between formats</a:t>
            </a:r>
            <a:endParaRPr sz="1667"/>
          </a:p>
          <a:p>
            <a:pPr marL="457200" indent="-457200" algn="l">
              <a:spcAft>
                <a:spcPts val="533"/>
              </a:spcAft>
              <a:buSzPct val="100000"/>
              <a:buChar char="•"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getting oriented quickly</a:t>
            </a:r>
            <a:endParaRPr sz="1667"/>
          </a:p>
        </p:txBody>
      </p:sp>
      <p:sp>
        <p:nvSpPr>
          <p:cNvPr id="8" name="Text 6">
            <a:extLst>
              <a:ext uri="{FF2B5EF4-FFF2-40B4-BE49-F238E27FC236}">
                <ns2:creationId id="{F4B17F3F-3B0A-417F-9EC7-3843B03B723E}"/>
              </a:ext>
            </a:extLst>
          </p:cNvPr>
          <p:cNvSpPr>
            <a:spLocks noGrp="1"/>
          </p:cNvSpPr>
          <p:nvPr/>
        </p:nvSpPr>
        <p:spPr>
          <a:xfrm>
            <a:off x="6350000" y="1714500"/>
            <a:ext cx="53975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pPr>
            <a:r>
              <a: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rPr>
              <a:t>Weak at</a:t>
            </a:r>
            <a:endParaRPr sz="2000"/>
          </a:p>
        </p:txBody>
      </p:sp>
      <p:sp>
        <p:nvSpPr>
          <p:cNvPr id="9" name="Text 7">
            <a:extLst>
              <a:ext uri="{FF2B5EF4-FFF2-40B4-BE49-F238E27FC236}">
                <ns2:creationId id="{CD80C6DA-90C5-4C7A-80EB-0F144532DC00}"/>
              </a:ext>
            </a:extLst>
          </p:cNvPr>
          <p:cNvSpPr>
            <a:spLocks noGrp="1"/>
          </p:cNvSpPr>
          <p:nvPr/>
        </p:nvSpPr>
        <p:spPr>
          <a:xfrm>
            <a:off x="6350000" y="2476500"/>
            <a:ext cx="5397500" cy="289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457200" indent="-457200" algn="l">
              <a:spcAft>
                <a:spcPts val="533"/>
              </a:spcAft>
              <a:buSzPct val="100000"/>
              <a:buChar char="•"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inventing facts and references</a:t>
            </a:r>
            <a:endParaRPr sz="1667"/>
          </a:p>
          <a:p>
            <a:pPr marL="457200" indent="-457200" algn="l">
              <a:spcAft>
                <a:spcPts val="533"/>
              </a:spcAft>
              <a:buSzPct val="100000"/>
              <a:buChar char="•"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sensitivity to how it is asked</a:t>
            </a:r>
            <a:endParaRPr sz="1667"/>
          </a:p>
          <a:p>
            <a:pPr marL="457200" indent="-457200" algn="l">
              <a:spcAft>
                <a:spcPts val="533"/>
              </a:spcAft>
              <a:buSzPct val="100000"/>
              <a:buChar char="•"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being subtly wrong, but fluent</a:t>
            </a:r>
            <a:endParaRPr sz="1667"/>
          </a:p>
          <a:p>
            <a:pPr marL="457200" indent="-457200" algn="l">
              <a:spcAft>
                <a:spcPts val="533"/>
              </a:spcAft>
              <a:buSzPct val="100000"/>
              <a:buChar char="•"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knowledge cutoff and gaps</a:t>
            </a:r>
            <a:endParaRPr sz="1667"/>
          </a:p>
        </p:txBody>
      </p:sp>
      <p:sp>
        <p:nvSpPr>
          <p:cNvPr id="11" name="Text 9">
            <a:extLst>
              <a:ext uri="{FF2B5EF4-FFF2-40B4-BE49-F238E27FC236}">
                <ns2:creationId id="{CD859ED4-2657-42AD-8E9D-D248CBC2CCAB}"/>
              </a:ext>
            </a:extLst>
          </p:cNvPr>
          <p:cNvSpPr>
            <a:spLocks noGrp="1"/>
          </p:cNvSpPr>
          <p:nvPr/>
        </p:nvSpPr>
        <p:spPr>
          <a:xfrm>
            <a:off x="433705" y="5588000"/>
            <a:ext cx="113157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Example:  </a:t>
            </a:r>
            <a:r>
              <a: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asked for a method's reference, an LLM may return a perfect-looking citation with a DOI that does not exist.</a:t>
            </a:r>
            <a:endParaRPr sz="1467"/>
          </a:p>
        </p:txBody>
      </p:sp>
      <p:sp>
        <p:nvSpPr>
          <p:cNvPr id="12" name="Text 10">
            <a:extLst>
              <a:ext uri="{FF2B5EF4-FFF2-40B4-BE49-F238E27FC236}">
                <ns2:creationId id="{0CE681DB-47C4-49C5-AB37-B4BFB0622325}"/>
              </a:ext>
            </a:extLst>
          </p:cNvPr>
          <p:cNvSpPr>
            <a:spLocks noGrp="1"/>
          </p:cNvSpPr>
          <p:nvPr/>
        </p:nvSpPr>
        <p:spPr>
          <a:xfrm>
            <a:off x="10684955" y="6459728"/>
            <a:ext cx="1073468" cy="261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r">
              <a:buNone/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pPr>
            <a:r>
              <a: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rPr>
              <a:t>4</a:t>
            </a:r>
            <a:endParaRPr sz="1200"/>
          </a:p>
        </p:txBody>
      </p:sp>
    </p:spTree>
    <p:extLst>
      <p:ext uri="{BB962C8B-B14F-4D97-AF65-F5344CB8AC3E}">
        <ns3:creationId val="1329677546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Text 1">
            <a:extLst>
              <a:ext uri="{FF2B5EF4-FFF2-40B4-BE49-F238E27FC236}">
                <ns2:creationId id="{6BE3269F-5258-4336-BAA4-327FA032073A}"/>
              </a:ext>
            </a:extLst>
          </p:cNvPr>
          <p:cNvSpPr>
            <a:spLocks noGrp="1"/>
          </p:cNvSpPr>
          <p:nvPr/>
        </p:nvSpPr>
        <p:spPr>
          <a:xfrm>
            <a:off x="433705" y="365125"/>
            <a:ext cx="113157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Hallucination and verification</a:t>
            </a:r>
            <a:endParaRPr sz="3467"/>
          </a:p>
        </p:txBody>
      </p:sp>
      <p:pic>
        <p:nvPicPr>
          <p:cNvPr id="4" name="Image 0">
            <a:extLst>
              <a:ext uri="{FF2B5EF4-FFF2-40B4-BE49-F238E27FC236}">
                <ns2:creationId id="{2CAA91DD-A63F-4706-BF5E-3E564B352CD5}"/>
              </a:ext>
            </a:extLst>
          </p:cNvPr>
          <p:cNvPicPr>
            <a:picLocks noChangeAspect="1"/>
          </p:cNvPicPr>
          <p:nvPr/>
        </p:nvPicPr>
        <p:blipFill>
          <a:blip r:embed="Rcd79e54ee77143ed">
            <a:extLst>
              <a:ext uri="{96DAC541-7B7A-43D3-8B79-37D633B846F1}">
                <ns4:svgBlip r:embed="Rdc659c20406b44ae"/>
              </a:ext>
            </a:extLst>
          </a:blip>
          <a:stretch>
            <a:fillRect l="0" t="0" r="0" b="0"/>
          </a:stretch>
        </p:blipFill>
        <p:spPr>
          <a:xfrm>
            <a:off x="6032500" y="1587500"/>
            <a:ext cx="5715000" cy="372719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ns2:creationId id="{220034A2-18F0-4A6F-95A7-B1BDB21D99AC}"/>
              </a:ext>
            </a:extLst>
          </p:cNvPr>
          <p:cNvSpPr>
            <a:spLocks noGrp="1"/>
          </p:cNvSpPr>
          <p:nvPr/>
        </p:nvSpPr>
        <p:spPr>
          <a:xfrm>
            <a:off x="433705" y="1778000"/>
            <a:ext cx="5270500" cy="349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The model has no notion of truth; it produces what is likely.</a:t>
            </a:r>
            <a:endParaRPr sz="1733"/>
          </a:p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/>
            </a:r>
            <a:endParaRPr sz="1733"/>
          </a:p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So every output that matters is verified independently: </a:t>
            </a:r>
            <a:r>
              <a:rPr sz="1800" b="0">
                <a:solidFill>
                  <a:srgbClr val="417ECE"/>
                </a:solidFill>
                <a:latin typeface="Open Sans"/>
                <a:ea typeface="Open Sans"/>
                <a:cs typeface="Open Sans"/>
              </a:rPr>
              <a:t>run the code, check the reference exists, confirm the number against the data.</a:t>
            </a:r>
            <a:endParaRPr sz="1733"/>
          </a:p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/>
            </a:r>
            <a:endParaRPr sz="1733"/>
          </a:p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The draft is the model's; the verification is yours.</a:t>
            </a:r>
            <a:endParaRPr sz="1733"/>
          </a:p>
        </p:txBody>
      </p:sp>
      <p:sp>
        <p:nvSpPr>
          <p:cNvPr id="7" name="Text 4">
            <a:extLst>
              <a:ext uri="{FF2B5EF4-FFF2-40B4-BE49-F238E27FC236}">
                <ns2:creationId id="{46F92E61-0566-4C4C-95D0-2623975DA4D0}"/>
              </a:ext>
            </a:extLst>
          </p:cNvPr>
          <p:cNvSpPr>
            <a:spLocks noGrp="1"/>
          </p:cNvSpPr>
          <p:nvPr/>
        </p:nvSpPr>
        <p:spPr>
          <a:xfrm>
            <a:off x="433705" y="5651500"/>
            <a:ext cx="113157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Example:  </a:t>
            </a:r>
            <a:r>
              <a: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an LLM writes a peptide-mass function; you test it on a peptide whose mass you know before trusting it.</a:t>
            </a:r>
            <a:endParaRPr sz="1467"/>
          </a:p>
        </p:txBody>
      </p:sp>
      <p:sp>
        <p:nvSpPr>
          <p:cNvPr id="8" name="Text 5">
            <a:extLst>
              <a:ext uri="{FF2B5EF4-FFF2-40B4-BE49-F238E27FC236}">
                <ns2:creationId id="{34FAB091-86C2-48DB-82D2-2AB5E86581BF}"/>
              </a:ext>
            </a:extLst>
          </p:cNvPr>
          <p:cNvSpPr>
            <a:spLocks noGrp="1"/>
          </p:cNvSpPr>
          <p:nvPr/>
        </p:nvSpPr>
        <p:spPr>
          <a:xfrm>
            <a:off x="10684955" y="6459728"/>
            <a:ext cx="1073468" cy="261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r">
              <a:buNone/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pPr>
            <a:r>
              <a: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rPr>
              <a:t>5</a:t>
            </a:r>
            <a:endParaRPr sz="1200"/>
          </a:p>
        </p:txBody>
      </p:sp>
    </p:spTree>
    <p:extLst>
      <p:ext uri="{BB962C8B-B14F-4D97-AF65-F5344CB8AC3E}">
        <ns5:creationId val="518169853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Text 1">
            <a:extLst>
              <a:ext uri="{FF2B5EF4-FFF2-40B4-BE49-F238E27FC236}">
                <ns2:creationId id="{38077235-7072-4D4E-9D00-28946B329BB1}"/>
              </a:ext>
            </a:extLst>
          </p:cNvPr>
          <p:cNvSpPr>
            <a:spLocks noGrp="1"/>
          </p:cNvSpPr>
          <p:nvPr/>
        </p:nvSpPr>
        <p:spPr>
          <a:xfrm>
            <a:off x="433705" y="365125"/>
            <a:ext cx="113157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Prompt hygiene</a:t>
            </a:r>
            <a:endParaRPr sz="3467"/>
          </a:p>
        </p:txBody>
      </p:sp>
      <p:pic>
        <p:nvPicPr>
          <p:cNvPr id="4" name="Image 0">
            <a:extLst>
              <a:ext uri="{FF2B5EF4-FFF2-40B4-BE49-F238E27FC236}">
                <ns2:creationId id="{02CA7B9A-979F-4DF6-A870-C04458DF2B19}"/>
              </a:ext>
            </a:extLst>
          </p:cNvPr>
          <p:cNvPicPr>
            <a:picLocks noChangeAspect="1"/>
          </p:cNvPicPr>
          <p:nvPr/>
        </p:nvPicPr>
        <p:blipFill>
          <a:blip r:embed="R19f584542a864bb5">
            <a:extLst>
              <a:ext uri="{96DAC541-7B7A-43D3-8B79-37D633B846F1}">
                <ns4:svgBlip r:embed="R9ebc6f743ebc4781"/>
              </a:ext>
            </a:extLst>
          </a:blip>
          <a:stretch>
            <a:fillRect l="0" t="0" r="0" b="0"/>
          </a:stretch>
        </p:blipFill>
        <p:spPr>
          <a:xfrm>
            <a:off x="6032500" y="1587500"/>
            <a:ext cx="5715000" cy="3354451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ns2:creationId id="{CA06FC65-BF58-47B5-866F-2CC7407C3CAD}"/>
              </a:ext>
            </a:extLst>
          </p:cNvPr>
          <p:cNvSpPr>
            <a:spLocks noGrp="1"/>
          </p:cNvSpPr>
          <p:nvPr/>
        </p:nvSpPr>
        <p:spPr>
          <a:xfrm>
            <a:off x="433705" y="1778000"/>
            <a:ext cx="5270500" cy="349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The quality of the answer depends on the prompt.</a:t>
            </a:r>
            <a:endParaRPr sz="1733"/>
          </a:p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/>
            </a:r>
            <a:endParaRPr sz="1733"/>
          </a:p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Give context, state the goal precisely, supply an example, specify the format and length, and ask for steps when useful. Iterating on the prompt is normal.</a:t>
            </a:r>
            <a:endParaRPr sz="1733"/>
          </a:p>
        </p:txBody>
      </p:sp>
      <p:sp>
        <p:nvSpPr>
          <p:cNvPr id="7" name="Text 4">
            <a:extLst>
              <a:ext uri="{FF2B5EF4-FFF2-40B4-BE49-F238E27FC236}">
                <ns2:creationId id="{55F3AC6A-C2FA-4777-A7AE-4BA13AB6693A}"/>
              </a:ext>
            </a:extLst>
          </p:cNvPr>
          <p:cNvSpPr>
            <a:spLocks noGrp="1"/>
          </p:cNvSpPr>
          <p:nvPr/>
        </p:nvSpPr>
        <p:spPr>
          <a:xfrm>
            <a:off x="433705" y="5651500"/>
            <a:ext cx="113157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Example:  </a:t>
            </a:r>
            <a:r>
              <a:rPr sz="15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"read this CSV of m/z and intensity, find peaks above 5% of the base peak, return a DataFrame sorted by intensity" works; "analyse my data" does not.</a:t>
            </a:r>
            <a:endParaRPr sz="1467"/>
          </a:p>
        </p:txBody>
      </p:sp>
      <p:sp>
        <p:nvSpPr>
          <p:cNvPr id="8" name="Text 5">
            <a:extLst>
              <a:ext uri="{FF2B5EF4-FFF2-40B4-BE49-F238E27FC236}">
                <ns2:creationId id="{94DECAFF-15B4-4E84-A19D-1B7948EDD206}"/>
              </a:ext>
            </a:extLst>
          </p:cNvPr>
          <p:cNvSpPr>
            <a:spLocks noGrp="1"/>
          </p:cNvSpPr>
          <p:nvPr/>
        </p:nvSpPr>
        <p:spPr>
          <a:xfrm>
            <a:off x="10684955" y="6459728"/>
            <a:ext cx="1073468" cy="261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r">
              <a:buNone/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pPr>
            <a:r>
              <a: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rPr>
              <a:t>6</a:t>
            </a:r>
            <a:endParaRPr sz="1200"/>
          </a:p>
        </p:txBody>
      </p:sp>
    </p:spTree>
    <p:extLst>
      <p:ext uri="{BB962C8B-B14F-4D97-AF65-F5344CB8AC3E}">
        <ns5:creationId val="1481489427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Text 1">
            <a:extLst>
              <a:ext uri="{FF2B5EF4-FFF2-40B4-BE49-F238E27FC236}">
                <ns2:creationId id="{F2432333-2EA9-4031-B683-A0F236758B05}"/>
              </a:ext>
            </a:extLst>
          </p:cNvPr>
          <p:cNvSpPr>
            <a:spLocks noGrp="1"/>
          </p:cNvSpPr>
          <p:nvPr/>
        </p:nvSpPr>
        <p:spPr>
          <a:xfrm>
            <a:off x="433705" y="365125"/>
            <a:ext cx="113157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The fraud-policy boundary</a:t>
            </a:r>
            <a:endParaRPr sz="3467"/>
          </a:p>
        </p:txBody>
      </p:sp>
      <p:sp>
        <p:nvSpPr>
          <p:cNvPr id="5" name="Text 3">
            <a:extLst>
              <a:ext uri="{FF2B5EF4-FFF2-40B4-BE49-F238E27FC236}">
                <ns2:creationId id="{831C8C8F-36AB-47CC-A7E6-076CC836F9BB}"/>
              </a:ext>
            </a:extLst>
          </p:cNvPr>
          <p:cNvSpPr>
            <a:spLocks noGrp="1"/>
          </p:cNvSpPr>
          <p:nvPr/>
        </p:nvSpPr>
        <p:spPr>
          <a:xfrm>
            <a:off x="433705" y="1714500"/>
            <a:ext cx="53975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defRPr>
            </a:pPr>
            <a:r>
              <a:rPr sz="2100" b="0">
                <a:solidFill>
                  <a:srgbClr val="417ECE"/>
                </a:solidFill>
                <a:latin typeface="Aptos SemiBold"/>
                <a:ea typeface="Aptos SemiBold"/>
                <a:cs typeface="Aptos SemiBold"/>
              </a:rPr>
              <a:t>Required and assessed</a:t>
            </a:r>
            <a:endParaRPr sz="2000"/>
          </a:p>
        </p:txBody>
      </p:sp>
      <p:sp>
        <p:nvSpPr>
          <p:cNvPr id="6" name="Text 4">
            <a:extLst>
              <a:ext uri="{FF2B5EF4-FFF2-40B4-BE49-F238E27FC236}">
                <ns2:creationId id="{BC2377F0-A1E3-41B5-9B0A-AC6466256F01}"/>
              </a:ext>
            </a:extLst>
          </p:cNvPr>
          <p:cNvSpPr>
            <a:spLocks noGrp="1"/>
          </p:cNvSpPr>
          <p:nvPr/>
        </p:nvSpPr>
        <p:spPr>
          <a:xfrm>
            <a:off x="433705" y="2476500"/>
            <a:ext cx="5397500" cy="289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In the project: use LLMs, and document them. An appendix of your key prompts and how you verified each output is part of the deliverable.</a:t>
            </a:r>
            <a:endParaRPr sz="1667"/>
          </a:p>
        </p:txBody>
      </p:sp>
      <p:sp>
        <p:nvSpPr>
          <p:cNvPr id="8" name="Text 6">
            <a:extLst>
              <a:ext uri="{FF2B5EF4-FFF2-40B4-BE49-F238E27FC236}">
                <ns2:creationId id="{5E998B01-1143-4ED5-B03F-962900B96D28}"/>
              </a:ext>
            </a:extLst>
          </p:cNvPr>
          <p:cNvSpPr>
            <a:spLocks noGrp="1"/>
          </p:cNvSpPr>
          <p:nvPr/>
        </p:nvSpPr>
        <p:spPr>
          <a:xfrm>
            <a:off x="6350000" y="1714500"/>
            <a:ext cx="53975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96461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2100" b="0">
                <a:solidFill>
                  <a:srgbClr val="C96461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2100" b="0">
                <a:solidFill>
                  <a:srgbClr val="C96461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2100" b="0">
                <a:solidFill>
                  <a:srgbClr val="C96461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2100" b="0">
                <a:solidFill>
                  <a:srgbClr val="C96461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2100" b="0">
                <a:solidFill>
                  <a:srgbClr val="C96461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2100" b="0">
                <a:solidFill>
                  <a:srgbClr val="C96461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2100" b="0">
                <a:solidFill>
                  <a:srgbClr val="C96461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2100" b="0">
                <a:solidFill>
                  <a:srgbClr val="C96461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2100" b="0">
                <a:solidFill>
                  <a:srgbClr val="C96461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2100" b="0">
                <a:solidFill>
                  <a:srgbClr val="C96461"/>
                </a:solidFill>
                <a:latin typeface="Aptos SemiBold"/>
                <a:ea typeface="Aptos SemiBold"/>
                <a:cs typeface="Aptos SemiBold"/>
              </a:defRPr>
            </a:pPr>
            <a:r>
              <a:rPr sz="2100" b="0">
                <a:solidFill>
                  <a:srgbClr val="C96461"/>
                </a:solidFill>
                <a:latin typeface="Aptos SemiBold"/>
                <a:ea typeface="Aptos SemiBold"/>
                <a:cs typeface="Aptos SemiBold"/>
              </a:rPr>
              <a:t>Prohibited</a:t>
            </a:r>
            <a:endParaRPr sz="2000"/>
          </a:p>
        </p:txBody>
      </p:sp>
      <p:sp>
        <p:nvSpPr>
          <p:cNvPr id="9" name="Text 7">
            <a:extLst>
              <a:ext uri="{FF2B5EF4-FFF2-40B4-BE49-F238E27FC236}">
                <ns2:creationId id="{1F2863D6-AAD6-46B2-9522-9AF557FC9E92}"/>
              </a:ext>
            </a:extLst>
          </p:cNvPr>
          <p:cNvSpPr>
            <a:spLocks noGrp="1"/>
          </p:cNvSpPr>
          <p:nvPr/>
        </p:nvSpPr>
        <p:spPr>
          <a:xfrm>
            <a:off x="6350000" y="2476500"/>
            <a:ext cx="5397500" cy="289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In the terminal written exam: no generative AI, no connected devices, per the programme regulations. Unauthorised use is a fraud offence.</a:t>
            </a:r>
            <a:endParaRPr sz="1667"/>
          </a:p>
        </p:txBody>
      </p:sp>
      <p:sp>
        <p:nvSpPr>
          <p:cNvPr id="10" name="Text 8">
            <a:extLst>
              <a:ext uri="{FF2B5EF4-FFF2-40B4-BE49-F238E27FC236}">
                <ns2:creationId id="{1580A23C-8E57-4257-8A99-F4146130BF04}"/>
              </a:ext>
            </a:extLst>
          </p:cNvPr>
          <p:cNvSpPr>
            <a:spLocks noGrp="1"/>
          </p:cNvSpPr>
          <p:nvPr/>
        </p:nvSpPr>
        <p:spPr>
          <a:xfrm>
            <a:off x="433705" y="5588000"/>
            <a:ext cx="113157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600" b="0" i="1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The rule is deliberately asymmetric: documented use where it is the skill, none where it is the test.</a:t>
            </a:r>
            <a:endParaRPr sz="1533"/>
          </a:p>
        </p:txBody>
      </p:sp>
      <p:sp>
        <p:nvSpPr>
          <p:cNvPr id="11" name="Text 9">
            <a:extLst>
              <a:ext uri="{FF2B5EF4-FFF2-40B4-BE49-F238E27FC236}">
                <ns2:creationId id="{0699792D-591B-4EAE-B0C9-5977D4A0457A}"/>
              </a:ext>
            </a:extLst>
          </p:cNvPr>
          <p:cNvSpPr>
            <a:spLocks noGrp="1"/>
          </p:cNvSpPr>
          <p:nvPr/>
        </p:nvSpPr>
        <p:spPr>
          <a:xfrm>
            <a:off x="10684955" y="6459728"/>
            <a:ext cx="1073468" cy="261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r">
              <a:buNone/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pPr>
            <a:r>
              <a: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rPr>
              <a:t>7</a:t>
            </a:r>
            <a:endParaRPr sz="1200"/>
          </a:p>
        </p:txBody>
      </p:sp>
    </p:spTree>
    <p:extLst>
      <p:ext uri="{BB962C8B-B14F-4D97-AF65-F5344CB8AC3E}">
        <ns3:creationId val="759836119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Text 2">
            <a:extLst>
              <a:ext uri="{FF2B5EF4-FFF2-40B4-BE49-F238E27FC236}">
                <ns2:creationId id="{060B3EB5-5998-4EE4-8E0B-96E0FFCF21ED}"/>
              </a:ext>
            </a:extLst>
          </p:cNvPr>
          <p:cNvSpPr>
            <a:spLocks noGrp="1"/>
          </p:cNvSpPr>
          <p:nvPr/>
        </p:nvSpPr>
        <p:spPr>
          <a:xfrm>
            <a:off x="433705" y="2286000"/>
            <a:ext cx="113157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32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Using LLMs for the work</a:t>
            </a:r>
            <a:endParaRPr sz="4267"/>
          </a:p>
        </p:txBody>
      </p:sp>
      <p:sp>
        <p:nvSpPr>
          <p:cNvPr id="5" name="Text 3">
            <a:extLst>
              <a:ext uri="{FF2B5EF4-FFF2-40B4-BE49-F238E27FC236}">
                <ns2:creationId id="{C96B019A-181D-4644-A7C9-A902A0ACA8DF}"/>
              </a:ext>
            </a:extLst>
          </p:cNvPr>
          <p:cNvSpPr>
            <a:spLocks noGrp="1"/>
          </p:cNvSpPr>
          <p:nvPr/>
        </p:nvSpPr>
        <p:spPr>
          <a:xfrm>
            <a:off x="433705" y="3238500"/>
            <a:ext cx="113157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Code, literature, documents, and the project</a:t>
            </a:r>
            <a:endParaRPr sz="2000"/>
          </a:p>
        </p:txBody>
      </p:sp>
      <p:sp>
        <p:nvSpPr>
          <p:cNvPr id="6" name="Slide number">
            <a:extLst>
              <a:ext uri="{FF2B5EF4-FFF2-40B4-BE49-F238E27FC236}">
                <ns2:creationId id="{09A6657F-D1BC-477E-B431-6B6CED41743F}"/>
              </a:ext>
            </a:extLst>
          </p:cNvPr>
          <p:cNvSpPr>
            <a:spLocks noGrp="1"/>
          </p:cNvSpPr>
          <p:nvPr/>
        </p:nvSpPr>
        <p:spPr>
          <a:xfrm>
            <a:off x="10684955" y="6459728"/>
            <a:ext cx="1073468" cy="2617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pPr>
            <a:r>
              <a: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</p:spTree>
    <p:extLst>
      <p:ext uri="{BB962C8B-B14F-4D97-AF65-F5344CB8AC3E}">
        <ns3:creationId val="1233747832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Text 1">
            <a:extLst>
              <a:ext uri="{FF2B5EF4-FFF2-40B4-BE49-F238E27FC236}">
                <ns2:creationId id="{1CCA9740-8E5B-4F7F-960D-AAD959C04A24}"/>
              </a:ext>
            </a:extLst>
          </p:cNvPr>
          <p:cNvSpPr>
            <a:spLocks noGrp="1"/>
          </p:cNvSpPr>
          <p:nvPr/>
        </p:nvSpPr>
        <p:spPr>
          <a:xfrm>
            <a:off x="433705" y="365125"/>
            <a:ext cx="113157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Code generation</a:t>
            </a:r>
            <a:endParaRPr sz="3467"/>
          </a:p>
        </p:txBody>
      </p:sp>
      <p:sp>
        <p:nvSpPr>
          <p:cNvPr id="5" name="Text 3">
            <a:extLst>
              <a:ext uri="{FF2B5EF4-FFF2-40B4-BE49-F238E27FC236}">
                <ns2:creationId id="{EF44B359-F9CB-498F-BF63-096A70318AE5}"/>
              </a:ext>
            </a:extLst>
          </p:cNvPr>
          <p:cNvSpPr>
            <a:spLocks noGrp="1"/>
          </p:cNvSpPr>
          <p:nvPr/>
        </p:nvSpPr>
        <p:spPr>
          <a:xfrm>
            <a:off x="433705" y="1841500"/>
            <a:ext cx="11315700" cy="311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2000" b="0">
                <a:solidFill>
                  <a:srgbClr val="417ECE"/>
                </a:solidFill>
                <a:latin typeface="Open Sans"/>
                <a:ea typeface="Open Sans"/>
                <a:cs typeface="Open Sans"/>
              </a:rPr>
              <a:t>The most reliable scientific use: generate code you then run and test.</a:t>
            </a:r>
            <a:endParaRPr sz="1867"/>
          </a:p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/>
            </a:r>
            <a:endParaRPr sz="1867"/>
          </a:p>
          <a:p>
            <a:pPr marL="0" indent="0" algn="l">
              <a:buNone/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Scripts for data processing, analysis and visualisation, sometimes whole small apps. Always: describe precisely, get code, run it, test on a known case, iterate.</a:t>
            </a:r>
            <a:endParaRPr sz="1867"/>
          </a:p>
        </p:txBody>
      </p:sp>
      <p:sp>
        <p:nvSpPr>
          <p:cNvPr id="7" name="Text 5">
            <a:extLst>
              <a:ext uri="{FF2B5EF4-FFF2-40B4-BE49-F238E27FC236}">
                <ns2:creationId id="{0E144E69-5171-4493-BB5F-D81A13300623}"/>
              </a:ext>
            </a:extLst>
          </p:cNvPr>
          <p:cNvSpPr>
            <a:spLocks noGrp="1"/>
          </p:cNvSpPr>
          <p:nvPr/>
        </p:nvSpPr>
        <p:spPr>
          <a:xfrm>
            <a:off x="433705" y="5334000"/>
            <a:ext cx="113157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Example:  </a:t>
            </a:r>
            <a:r>
              <a: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a cell that loads a chromatogram, baseline-corrects, detects peaks and plots them, checked against a manual count on one file first.</a:t>
            </a:r>
            <a:endParaRPr sz="1467"/>
          </a:p>
        </p:txBody>
      </p:sp>
      <p:sp>
        <p:nvSpPr>
          <p:cNvPr id="8" name="Text 6">
            <a:extLst>
              <a:ext uri="{FF2B5EF4-FFF2-40B4-BE49-F238E27FC236}">
                <ns2:creationId id="{664B4FB6-57E1-4171-8AEA-AED79913922F}"/>
              </a:ext>
            </a:extLst>
          </p:cNvPr>
          <p:cNvSpPr>
            <a:spLocks noGrp="1"/>
          </p:cNvSpPr>
          <p:nvPr/>
        </p:nvSpPr>
        <p:spPr>
          <a:xfrm>
            <a:off x="10684955" y="6459728"/>
            <a:ext cx="1073468" cy="261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r">
              <a:buNone/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pPr>
            <a:r>
              <a: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rPr>
              <a:t>9</a:t>
            </a:r>
            <a:endParaRPr sz="1200"/>
          </a:p>
        </p:txBody>
      </p:sp>
    </p:spTree>
    <p:extLst>
      <p:ext uri="{BB962C8B-B14F-4D97-AF65-F5344CB8AC3E}">
        <ns3:creationId val="2075081277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Text 1">
            <a:extLst>
              <a:ext uri="{FF2B5EF4-FFF2-40B4-BE49-F238E27FC236}">
                <ns2:creationId id="{0FA20EAA-ECD4-458B-8BF5-98DDE087FA31}"/>
              </a:ext>
            </a:extLst>
          </p:cNvPr>
          <p:cNvSpPr>
            <a:spLocks noGrp="1"/>
          </p:cNvSpPr>
          <p:nvPr/>
        </p:nvSpPr>
        <p:spPr>
          <a:xfrm>
            <a:off x="433705" y="365125"/>
            <a:ext cx="113157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Literature and knowledge exploration</a:t>
            </a:r>
            <a:endParaRPr sz="3467"/>
          </a:p>
        </p:txBody>
      </p:sp>
      <p:sp>
        <p:nvSpPr>
          <p:cNvPr id="5" name="Text 3">
            <a:extLst>
              <a:ext uri="{FF2B5EF4-FFF2-40B4-BE49-F238E27FC236}">
                <ns2:creationId id="{68662715-1E6E-45EC-AE1D-2D842BDC868A}"/>
              </a:ext>
            </a:extLst>
          </p:cNvPr>
          <p:cNvSpPr>
            <a:spLocks noGrp="1"/>
          </p:cNvSpPr>
          <p:nvPr/>
        </p:nvSpPr>
        <p:spPr>
          <a:xfrm>
            <a:off x="433705" y="1841500"/>
            <a:ext cx="11315700" cy="311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Useful to get oriented, summarise a concept, or suggest search terms.</a:t>
            </a:r>
            <a:endParaRPr sz="1867"/>
          </a:p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/>
            </a:r>
            <a:endParaRPr sz="1867"/>
          </a:p>
          <a:p>
            <a:pPr marL="0" indent="0" algn="l">
              <a:buNone/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2000" b="0">
                <a:solidFill>
                  <a:srgbClr val="C96461"/>
                </a:solidFill>
                <a:latin typeface="Open Sans"/>
                <a:ea typeface="Open Sans"/>
                <a:cs typeface="Open Sans"/>
              </a:rPr>
              <a:t>Not a citation source:</a:t>
            </a:r>
            <a:r>
              <a: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  every reference must be confirmed in a real database before you use it.</a:t>
            </a:r>
            <a:endParaRPr sz="1867"/>
          </a:p>
        </p:txBody>
      </p:sp>
      <p:sp>
        <p:nvSpPr>
          <p:cNvPr id="7" name="Text 5">
            <a:extLst>
              <a:ext uri="{FF2B5EF4-FFF2-40B4-BE49-F238E27FC236}">
                <ns2:creationId id="{D4BACD42-BC3F-4746-866F-0AB77C88366B}"/>
              </a:ext>
            </a:extLst>
          </p:cNvPr>
          <p:cNvSpPr>
            <a:spLocks noGrp="1"/>
          </p:cNvSpPr>
          <p:nvPr/>
        </p:nvSpPr>
        <p:spPr>
          <a:xfrm>
            <a:off x="433705" y="5334000"/>
            <a:ext cx="113157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Example:  </a:t>
            </a:r>
            <a:r>
              <a: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use an LLM to explain DDA vs DIA and suggest reviews, then find and read those reviews in PubMed rather than citing the model.</a:t>
            </a:r>
            <a:endParaRPr sz="1467"/>
          </a:p>
        </p:txBody>
      </p:sp>
      <p:sp>
        <p:nvSpPr>
          <p:cNvPr id="8" name="Text 6">
            <a:extLst>
              <a:ext uri="{FF2B5EF4-FFF2-40B4-BE49-F238E27FC236}">
                <ns2:creationId id="{61BA9750-A83A-4FDB-94C3-762709AAB53E}"/>
              </a:ext>
            </a:extLst>
          </p:cNvPr>
          <p:cNvSpPr>
            <a:spLocks noGrp="1"/>
          </p:cNvSpPr>
          <p:nvPr/>
        </p:nvSpPr>
        <p:spPr>
          <a:xfrm>
            <a:off x="10684955" y="6459728"/>
            <a:ext cx="1073468" cy="261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r">
              <a:buNone/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pPr>
            <a:r>
              <a: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rPr>
              <a:t>10</a:t>
            </a:r>
            <a:endParaRPr sz="1200"/>
          </a:p>
        </p:txBody>
      </p:sp>
    </p:spTree>
    <p:extLst>
      <p:ext uri="{BB962C8B-B14F-4D97-AF65-F5344CB8AC3E}">
        <ns3:creationId val="536725339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Text 1">
            <a:extLst>
              <a:ext uri="{FF2B5EF4-FFF2-40B4-BE49-F238E27FC236}">
                <ns2:creationId id="{28A1F540-5BB7-4065-A495-0BED367AAE5B}"/>
              </a:ext>
            </a:extLst>
          </p:cNvPr>
          <p:cNvSpPr>
            <a:spLocks noGrp="1"/>
          </p:cNvSpPr>
          <p:nvPr/>
        </p:nvSpPr>
        <p:spPr>
          <a:xfrm>
            <a:off x="433705" y="365125"/>
            <a:ext cx="113157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Improving and automating documents</a:t>
            </a:r>
            <a:endParaRPr sz="3467"/>
          </a:p>
        </p:txBody>
      </p:sp>
      <p:sp>
        <p:nvSpPr>
          <p:cNvPr id="5" name="Text 3">
            <a:extLst>
              <a:ext uri="{FF2B5EF4-FFF2-40B4-BE49-F238E27FC236}">
                <ns2:creationId id="{77AA4CE4-DBB5-4B71-B51D-B5F82F9AF5F1}"/>
              </a:ext>
            </a:extLst>
          </p:cNvPr>
          <p:cNvSpPr>
            <a:spLocks noGrp="1"/>
          </p:cNvSpPr>
          <p:nvPr/>
        </p:nvSpPr>
        <p:spPr>
          <a:xfrm>
            <a:off x="433705" y="1841500"/>
            <a:ext cx="11315700" cy="311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LLMs help draft, restructure and tidy reports, method sections, captions and repetitive text.</a:t>
            </a:r>
            <a:endParaRPr sz="1867"/>
          </a:p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/>
            </a:r>
            <a:endParaRPr sz="1867"/>
          </a:p>
          <a:p>
            <a:pPr marL="0" indent="0" algn="l">
              <a:buNone/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2000" b="0">
                <a:solidFill>
                  <a:srgbClr val="417ECE"/>
                </a:solidFill>
                <a:latin typeface="Open Sans"/>
                <a:ea typeface="Open Sans"/>
                <a:cs typeface="Open Sans"/>
              </a:rPr>
              <a:t>The author stays responsible</a:t>
            </a:r>
            <a:r>
              <a: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 for all content, including every claim and number.</a:t>
            </a:r>
            <a:endParaRPr sz="1867"/>
          </a:p>
        </p:txBody>
      </p:sp>
      <p:sp>
        <p:nvSpPr>
          <p:cNvPr id="7" name="Text 5">
            <a:extLst>
              <a:ext uri="{FF2B5EF4-FFF2-40B4-BE49-F238E27FC236}">
                <ns2:creationId id="{3FF15A8D-0C0D-4BFA-A339-968B45749864}"/>
              </a:ext>
            </a:extLst>
          </p:cNvPr>
          <p:cNvSpPr>
            <a:spLocks noGrp="1"/>
          </p:cNvSpPr>
          <p:nvPr/>
        </p:nvSpPr>
        <p:spPr>
          <a:xfrm>
            <a:off x="433705" y="5334000"/>
            <a:ext cx="113157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Example:  </a:t>
            </a:r>
            <a:r>
              <a: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draft a methods section from bullet points, then check every instrument setting and value against the actual experiment.</a:t>
            </a:r>
            <a:endParaRPr sz="1467"/>
          </a:p>
        </p:txBody>
      </p:sp>
      <p:sp>
        <p:nvSpPr>
          <p:cNvPr id="8" name="Text 6">
            <a:extLst>
              <a:ext uri="{FF2B5EF4-FFF2-40B4-BE49-F238E27FC236}">
                <ns2:creationId id="{8C902DDC-1306-4A23-A825-BE12FBFB3964}"/>
              </a:ext>
            </a:extLst>
          </p:cNvPr>
          <p:cNvSpPr>
            <a:spLocks noGrp="1"/>
          </p:cNvSpPr>
          <p:nvPr/>
        </p:nvSpPr>
        <p:spPr>
          <a:xfrm>
            <a:off x="10684955" y="6459728"/>
            <a:ext cx="1073468" cy="261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r">
              <a:buNone/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pPr>
            <a:r>
              <a: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rPr>
              <a:t>11</a:t>
            </a:r>
            <a:endParaRPr sz="1200"/>
          </a:p>
        </p:txBody>
      </p:sp>
    </p:spTree>
    <p:extLst>
      <p:ext uri="{BB962C8B-B14F-4D97-AF65-F5344CB8AC3E}">
        <ns3:creationId val="869106862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Text 1">
            <a:extLst>
              <a:ext uri="{FF2B5EF4-FFF2-40B4-BE49-F238E27FC236}">
                <ns2:creationId id="{64C122CE-7AE1-4F8F-8238-86055533C9BC}"/>
              </a:ext>
            </a:extLst>
          </p:cNvPr>
          <p:cNvSpPr>
            <a:spLocks noGrp="1"/>
          </p:cNvSpPr>
          <p:nvPr/>
        </p:nvSpPr>
        <p:spPr>
          <a:xfrm>
            <a:off x="433705" y="365125"/>
            <a:ext cx="113157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The assessed project</a:t>
            </a:r>
            <a:endParaRPr sz="3467"/>
          </a:p>
        </p:txBody>
      </p:sp>
      <p:sp>
        <p:nvSpPr>
          <p:cNvPr id="5" name="Text 3">
            <a:extLst>
              <a:ext uri="{FF2B5EF4-FFF2-40B4-BE49-F238E27FC236}">
                <ns2:creationId id="{EEBC9680-9158-4F3B-9726-1A3A36BAC7A6}"/>
              </a:ext>
            </a:extLst>
          </p:cNvPr>
          <p:cNvSpPr>
            <a:spLocks noGrp="1"/>
          </p:cNvSpPr>
          <p:nvPr/>
        </p:nvSpPr>
        <p:spPr>
          <a:xfrm>
            <a:off x="433705" y="1841500"/>
            <a:ext cx="11315700" cy="311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2000" b="0">
                <a:solidFill>
                  <a:srgbClr val="417ECE"/>
                </a:solidFill>
                <a:latin typeface="Open Sans"/>
                <a:ea typeface="Open Sans"/>
                <a:cs typeface="Open Sans"/>
              </a:rPr>
              <a:t>Introduced and started here.</a:t>
            </a:r>
            <a:endParaRPr sz="1867"/>
          </a:p>
          <a:p>
            <a:pPr marL="0" indent="0" algn="l">
              <a:buNone/>
              <a:def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/>
            </a:r>
            <a:endParaRPr sz="1867"/>
          </a:p>
          <a:p>
            <a:pPr marL="0" indent="0" algn="l">
              <a:buNone/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Produce a documented Colab notebook (data processing, analysis, visualisation) plus a short report, with an appendix recording your key prompts and how you verified each output. Options, structure and the rubric are in the assessment folder.</a:t>
            </a:r>
            <a:endParaRPr sz="1867"/>
          </a:p>
        </p:txBody>
      </p:sp>
      <p:sp>
        <p:nvSpPr>
          <p:cNvPr id="7" name="Text 5">
            <a:extLst>
              <a:ext uri="{FF2B5EF4-FFF2-40B4-BE49-F238E27FC236}">
                <ns2:creationId id="{4A398322-55AF-4F5C-9003-8EFBE7031CA7}"/>
              </a:ext>
            </a:extLst>
          </p:cNvPr>
          <p:cNvSpPr>
            <a:spLocks noGrp="1"/>
          </p:cNvSpPr>
          <p:nvPr/>
        </p:nvSpPr>
        <p:spPr>
          <a:xfrm>
            <a:off x="433705" y="5334000"/>
            <a:ext cx="113157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l">
              <a:buNone/>
              <a:def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Example:  </a:t>
            </a:r>
            <a:r>
              <a:rPr sz="16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the LLM-use appendix is both the good-practice habit from this part and the integrity safeguard for the assessment.</a:t>
            </a:r>
            <a:endParaRPr sz="1467"/>
          </a:p>
        </p:txBody>
      </p:sp>
      <p:sp>
        <p:nvSpPr>
          <p:cNvPr id="8" name="Text 6">
            <a:extLst>
              <a:ext uri="{FF2B5EF4-FFF2-40B4-BE49-F238E27FC236}">
                <ns2:creationId id="{728B1403-7520-4E12-8A0F-FC2E57C289EA}"/>
              </a:ext>
            </a:extLst>
          </p:cNvPr>
          <p:cNvSpPr>
            <a:spLocks noGrp="1"/>
          </p:cNvSpPr>
          <p:nvPr/>
        </p:nvSpPr>
        <p:spPr>
          <a:xfrm>
            <a:off x="10684955" y="6459728"/>
            <a:ext cx="1073468" cy="261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 algn="r">
              <a:buNone/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pPr>
            <a:r>
              <a: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rPr>
              <a:t>12</a:t>
            </a:r>
            <a:endParaRPr sz="1200"/>
          </a:p>
        </p:txBody>
      </p:sp>
    </p:spTree>
    <p:extLst>
      <p:ext uri="{BB962C8B-B14F-4D97-AF65-F5344CB8AC3E}">
        <ns3:creationId val="1716694419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Text 1">
            <a:extLst>
              <a:ext uri="{FF2B5EF4-FFF2-40B4-BE49-F238E27FC236}">
                <ns2:creationId id="{2408F0BB-80D3-44A8-9F78-74AAAB7F5228}"/>
              </a:ext>
            </a:extLst>
          </p:cNvPr>
          <p:cNvSpPr>
            <a:spLocks noGrp="1"/>
          </p:cNvSpPr>
          <p:nvPr/>
        </p:nvSpPr>
        <p:spPr>
          <a:xfrm>
            <a:off x="433705" y="365125"/>
            <a:ext cx="113157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defPPr>
            <a:lvl1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1pPr>
            <a:lvl2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2pPr>
            <a:lvl3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3pPr>
            <a:lvl4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4pPr>
            <a:lvl5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5pPr>
            <a:lvl6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6pPr>
            <a:lvl7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7pPr>
            <a:lvl8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8pPr>
            <a:lvl9pPr algn="l"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lvl9pPr>
          </a:lstStyle>
          <a:p>
            <a:pPr marL="0" indent="0" algn="l">
              <a:buNone/>
              <a:defRPr sz="3000" b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defRPr>
            </a:pPr>
            <a:r>
              <a:rPr sz="3000" b="0" spc="0">
                <a:solidFill>
                  <a:srgbClr val="1B2944"/>
                </a:solidFill>
                <a:latin typeface="Aptos SemiBold"/>
                <a:ea typeface="Aptos SemiBold"/>
                <a:cs typeface="Aptos SemiBold"/>
              </a:rPr>
              <a:t>Key takeaways</a:t>
            </a:r>
            <a:endParaRPr sz="1733"/>
          </a:p>
        </p:txBody>
      </p:sp>
      <p:sp>
        <p:nvSpPr>
          <p:cNvPr id="4" name="Text 2">
            <a:extLst>
              <a:ext uri="{FF2B5EF4-FFF2-40B4-BE49-F238E27FC236}">
                <ns2:creationId id="{27E53584-3C43-4A07-B996-26D48E125B06}"/>
              </a:ext>
            </a:extLst>
          </p:cNvPr>
          <p:cNvSpPr>
            <a:spLocks noGrp="1"/>
          </p:cNvSpPr>
          <p:nvPr/>
        </p:nvSpPr>
        <p:spPr>
          <a:xfrm>
            <a:off x="433705" y="1841500"/>
            <a:ext cx="11315700" cy="431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457200" indent="-457200" algn="l">
              <a:spcAft>
                <a:spcPts val="1467"/>
              </a:spcAft>
              <a:buSzPct val="100000"/>
              <a:buChar char="•"/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An LLM predicts plausible text; it has no built-in notion of truth.</a:t>
            </a:r>
            <a:endParaRPr sz="2000"/>
          </a:p>
          <a:p>
            <a:pPr marL="457200" indent="-457200" algn="l">
              <a:spcAft>
                <a:spcPts val="1467"/>
              </a:spcAft>
              <a:buSzPct val="100000"/>
              <a:buChar char="•"/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Verify everything that matters: run code, confirm references, check numbers.</a:t>
            </a:r>
            <a:endParaRPr sz="2000"/>
          </a:p>
          <a:p>
            <a:pPr marL="457200" indent="-457200" algn="l">
              <a:spcAft>
                <a:spcPts val="1467"/>
              </a:spcAft>
              <a:buSzPct val="100000"/>
              <a:buChar char="•"/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Good prompts give context, goal, example, format; iterate.</a:t>
            </a:r>
            <a:endParaRPr sz="2000"/>
          </a:p>
          <a:p>
            <a:pPr marL="457200" indent="-457200" algn="l">
              <a:spcAft>
                <a:spcPts val="1467"/>
              </a:spcAft>
              <a:buSzPct val="100000"/>
              <a:buChar char="•"/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Strongest scientific use is code you then run and test.</a:t>
            </a:r>
            <a:endParaRPr sz="2000"/>
          </a:p>
          <a:p>
            <a:pPr marL="457200" indent="-457200" algn="l">
              <a:spcAft>
                <a:spcPts val="1467"/>
              </a:spcAft>
              <a:buSzPct val="100000"/>
              <a:buChar char="•"/>
              <a:def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defRPr>
            </a:pPr>
            <a:r>
              <a:rPr sz="2000" b="0">
                <a:solidFill>
                  <a:srgbClr val="1B2944"/>
                </a:solidFill>
                <a:latin typeface="Open Sans"/>
                <a:ea typeface="Open Sans"/>
                <a:cs typeface="Open Sans"/>
              </a:rPr>
              <a:t>Required and documented in the project; prohibited in the exam.</a:t>
            </a:r>
            <a:endParaRPr sz="2000"/>
          </a:p>
        </p:txBody>
      </p:sp>
      <p:sp>
        <p:nvSpPr>
          <p:cNvPr id="5" name="Slide number">
            <a:extLst>
              <a:ext uri="{FF2B5EF4-FFF2-40B4-BE49-F238E27FC236}">
                <ns2:creationId id="{4068AB29-5B30-45B6-BF53-486843F8516A}"/>
              </a:ext>
            </a:extLst>
          </p:cNvPr>
          <p:cNvSpPr>
            <a:spLocks noGrp="1"/>
          </p:cNvSpPr>
          <p:nvPr/>
        </p:nvSpPr>
        <p:spPr>
          <a:xfrm>
            <a:off x="10684955" y="6459728"/>
            <a:ext cx="1073468" cy="2617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algn="r">
              <a:def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defRPr>
            </a:pPr>
            <a:r>
              <a:rPr sz="1051" b="0">
                <a:solidFill>
                  <a:srgbClr val="7A7C83"/>
                </a:solidFill>
                <a:latin typeface="Open Sans"/>
                <a:ea typeface="Open Sans"/>
                <a:cs typeface="Open Sans"/>
              </a:rPr>
              <a:t>13</a:t>
            </a:r>
          </a:p>
        </p:txBody>
      </p:sp>
    </p:spTree>
    <p:extLst>
      <p:ext uri="{BB962C8B-B14F-4D97-AF65-F5344CB8AC3E}">
        <ns3:creationId val="265100980"/>
      </p:ext>
    </p:extLst>
  </p:cSld>
</p:sld>
</file>

<file path=ppt/theme/theme1.xml><?xml version="1.0" encoding="utf-8"?>
<a:theme xmlns:a="http://schemas.openxmlformats.org/drawingml/2006/main" name="1_Office Theme">
  <a:themeElements>
    <a:clrScheme name="CompOmics">
      <a:dk1>
        <a:srgbClr val="1B2944"/>
      </a:dk1>
      <a:lt1>
        <a:sysClr val="window" lastClr="FFFFFF"/>
      </a:lt1>
      <a:dk2>
        <a:srgbClr val="1B2944"/>
      </a:dk2>
      <a:lt2>
        <a:srgbClr val="FFFFFF"/>
      </a:lt2>
      <a:accent1>
        <a:srgbClr val="417ECE"/>
      </a:accent1>
      <a:accent2>
        <a:srgbClr val="C96461"/>
      </a:accent2>
      <a:accent3>
        <a:srgbClr val="59AD5D"/>
      </a:accent3>
      <a:accent4>
        <a:srgbClr val="DDAE56"/>
      </a:accent4>
      <a:accent5>
        <a:srgbClr val="53C7C5"/>
      </a:accent5>
      <a:accent6>
        <a:srgbClr val="9976B7"/>
      </a:accent6>
      <a:hlink>
        <a:srgbClr val="5DB7B1"/>
      </a:hlink>
      <a:folHlink>
        <a:srgbClr val="5DB7B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.potx" id="{6B1FDA5D-2F38-494C-9F84-B858B0FF0533}" vid="{89C44F79-ADE1-466F-BE54-FC048700DF5C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2026-10-24T08:15:43.6380000Z</dcterms:created>
  <dcterms:modified xsi:type="dcterms:W3CDTF">2026-10-24T08:15:43.6380000Z</dcterms:modified>
</coreProperties>
</file>