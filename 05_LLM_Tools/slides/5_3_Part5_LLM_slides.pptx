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8" r:id="rId2"/>
    <p:sldId id="259" r:id="rId3"/>
    <p:sldId id="260" r:id="rId4"/>
    <p:sldId id="261" r:id="rId5"/>
    <p:sldId id="263" r:id="rId6"/>
    <p:sldId id="264" r:id="rId7"/>
    <p:sldId id="265" r:id="rId8"/>
    <p:sldId id="266" r:id="rId9"/>
    <p:sldId id="268" r:id="rId10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126" y="10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bin Bouwmeester" userId="1dbfebabfc25a55a" providerId="LiveId" clId="{75D63595-F797-482E-A4A0-2F4889B74D4F}"/>
    <pc:docChg chg="undo custSel addSld delSld modSld">
      <pc:chgData name="Robbin Bouwmeester" userId="1dbfebabfc25a55a" providerId="LiveId" clId="{75D63595-F797-482E-A4A0-2F4889B74D4F}" dt="2026-10-25T08:17:27.471" v="8" actId="47"/>
      <pc:docMkLst>
        <pc:docMk/>
      </pc:docMkLst>
      <pc:sldChg chg="add del">
        <pc:chgData name="Robbin Bouwmeester" userId="1dbfebabfc25a55a" providerId="LiveId" clId="{75D63595-F797-482E-A4A0-2F4889B74D4F}" dt="2026-10-25T08:17:26.696" v="7" actId="47"/>
        <pc:sldMkLst>
          <pc:docMk/>
          <pc:sldMk cId="1580458602" sldId="256"/>
        </pc:sldMkLst>
      </pc:sldChg>
      <pc:sldChg chg="add del">
        <pc:chgData name="Robbin Bouwmeester" userId="1dbfebabfc25a55a" providerId="LiveId" clId="{75D63595-F797-482E-A4A0-2F4889B74D4F}" dt="2026-10-25T08:17:27.471" v="8" actId="47"/>
        <pc:sldMkLst>
          <pc:docMk/>
          <pc:sldMk cId="363518447" sldId="257"/>
        </pc:sldMkLst>
      </pc:sldChg>
      <pc:sldChg chg="del">
        <pc:chgData name="Robbin Bouwmeester" userId="1dbfebabfc25a55a" providerId="LiveId" clId="{75D63595-F797-482E-A4A0-2F4889B74D4F}" dt="2026-10-25T08:16:50.965" v="4" actId="47"/>
        <pc:sldMkLst>
          <pc:docMk/>
          <pc:sldMk cId="759836119" sldId="262"/>
        </pc:sldMkLst>
      </pc:sldChg>
      <pc:sldChg chg="del">
        <pc:chgData name="Robbin Bouwmeester" userId="1dbfebabfc25a55a" providerId="LiveId" clId="{75D63595-F797-482E-A4A0-2F4889B74D4F}" dt="2026-10-25T08:17:08.400" v="5" actId="47"/>
        <pc:sldMkLst>
          <pc:docMk/>
          <pc:sldMk cId="1716694419" sldId="267"/>
        </pc:sldMkLst>
      </pc:sldChg>
      <pc:sldChg chg="modSp mod">
        <pc:chgData name="Robbin Bouwmeester" userId="1dbfebabfc25a55a" providerId="LiveId" clId="{75D63595-F797-482E-A4A0-2F4889B74D4F}" dt="2026-10-25T08:17:19.375" v="6" actId="6549"/>
        <pc:sldMkLst>
          <pc:docMk/>
          <pc:sldMk cId="265100980" sldId="268"/>
        </pc:sldMkLst>
        <pc:spChg chg="mod">
          <ac:chgData name="Robbin Bouwmeester" userId="1dbfebabfc25a55a" providerId="LiveId" clId="{75D63595-F797-482E-A4A0-2F4889B74D4F}" dt="2026-10-25T08:17:19.375" v="6" actId="6549"/>
          <ac:spMkLst>
            <pc:docMk/>
            <pc:sldMk cId="265100980" sldId="268"/>
            <ac:spMk id="4" creationId="{27E53584-3C43-4A07-B996-26D48E125B0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457200" indent="-457200" algn="l" defTabSz="914400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+mn-lt"/>
          <a:ea typeface="+mn-lt"/>
          <a:cs typeface="+mn-lt"/>
        </a:defRPr>
      </a:lvl1pPr>
      <a:lvl2pPr marL="990600" indent="-381000" algn="l" defTabSz="914400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+mn-lt"/>
          <a:ea typeface="+mn-lt"/>
          <a:cs typeface="+mn-lt"/>
        </a:defRPr>
      </a:lvl2pPr>
      <a:lvl3pPr marL="1524000" indent="-3048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3pPr>
      <a:lvl4pPr marL="2133600" indent="-304800" algn="l" defTabSz="914400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+mn-lt"/>
          <a:ea typeface="+mn-lt"/>
          <a:cs typeface="+mn-lt"/>
        </a:defRPr>
      </a:lvl4pPr>
      <a:lvl5pPr marL="2743200" indent="-304800" algn="l" defTabSz="914400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+mn-lt"/>
          <a:ea typeface="+mn-lt"/>
          <a:cs typeface="+mn-lt"/>
        </a:defRPr>
      </a:lvl5pPr>
      <a:lvl6pPr marL="3352800" indent="-304800" algn="l" defTabSz="914400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6pPr>
      <a:lvl7pPr marL="3962400" indent="-304800" algn="l" defTabSz="914400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7pPr>
      <a:lvl8pPr marL="4572000" indent="-304800" algn="l" defTabSz="914400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8pPr>
      <a:lvl9pPr marL="5181600" indent="-304800" algn="l" defTabSz="914400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marL="60960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21920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82880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4pPr>
      <a:lvl5pPr marL="243840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5pPr>
      <a:lvl6pPr marL="304800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6pPr>
      <a:lvl7pPr marL="365760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7pPr>
      <a:lvl8pPr marL="426720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8pPr>
      <a:lvl9pPr marL="487680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75A6F08F-6A9A-484A-8792-BBB20AA3E2D5}"/>
              </a:ext>
            </a:extLst>
          </p:cNvPr>
          <p:cNvSpPr>
            <a:spLocks noGrp="1"/>
          </p:cNvSpPr>
          <p:nvPr/>
        </p:nvSpPr>
        <p:spPr>
          <a:xfrm>
            <a:off x="433705" y="2286000"/>
            <a:ext cx="113157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Principles and good practice</a:t>
            </a:r>
            <a:endParaRPr sz="4267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09FB515-E0B6-46AD-8614-0224DFFCCE40}"/>
              </a:ext>
            </a:extLst>
          </p:cNvPr>
          <p:cNvSpPr>
            <a:spLocks noGrp="1"/>
          </p:cNvSpPr>
          <p:nvPr/>
        </p:nvSpPr>
        <p:spPr>
          <a:xfrm>
            <a:off x="433705" y="3238500"/>
            <a:ext cx="113157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Fluent, useful, and sometimes confidently wrong</a:t>
            </a:r>
            <a:endParaRPr sz="200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A72CAC61-D232-40F2-B2C9-C05E41490340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94832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787E48D5-23A6-43BF-A511-4B604311748F}"/>
              </a:ext>
            </a:extLst>
          </p:cNvPr>
          <p:cNvSpPr>
            <a:spLocks noGrp="1"/>
          </p:cNvSpPr>
          <p:nvPr/>
        </p:nvSpPr>
        <p:spPr>
          <a:xfrm>
            <a:off x="433705" y="365125"/>
            <a:ext cx="113157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Strengths and weaknesses</a:t>
            </a:r>
            <a:endParaRPr sz="3467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ED8626-00B5-4F64-8FE0-5F013536AA3F}"/>
              </a:ext>
            </a:extLst>
          </p:cNvPr>
          <p:cNvSpPr>
            <a:spLocks noGrp="1"/>
          </p:cNvSpPr>
          <p:nvPr/>
        </p:nvSpPr>
        <p:spPr>
          <a:xfrm>
            <a:off x="433705" y="1714500"/>
            <a:ext cx="53975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pPr>
            <a:r>
              <a: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rPr>
              <a:t>Good at</a:t>
            </a:r>
            <a:endParaRPr sz="20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C4156C1-5F48-45CD-ABA8-FF9BD3408920}"/>
              </a:ext>
            </a:extLst>
          </p:cNvPr>
          <p:cNvSpPr>
            <a:spLocks noGrp="1"/>
          </p:cNvSpPr>
          <p:nvPr/>
        </p:nvSpPr>
        <p:spPr>
          <a:xfrm>
            <a:off x="433705" y="2476500"/>
            <a:ext cx="5397500" cy="289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drafting and rewriting text</a:t>
            </a:r>
            <a:endParaRPr sz="1667"/>
          </a:p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explaining concepts</a:t>
            </a:r>
            <a:endParaRPr sz="1667"/>
          </a:p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generating and debugging code</a:t>
            </a:r>
            <a:endParaRPr sz="1667"/>
          </a:p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translating between formats</a:t>
            </a:r>
            <a:endParaRPr sz="1667"/>
          </a:p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getting oriented quickly</a:t>
            </a:r>
            <a:endParaRPr sz="1667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4B17F3F-3B0A-417F-9EC7-3843B03B723E}"/>
              </a:ext>
            </a:extLst>
          </p:cNvPr>
          <p:cNvSpPr>
            <a:spLocks noGrp="1"/>
          </p:cNvSpPr>
          <p:nvPr/>
        </p:nvSpPr>
        <p:spPr>
          <a:xfrm>
            <a:off x="6350000" y="1714500"/>
            <a:ext cx="53975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pPr>
            <a:r>
              <a: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rPr>
              <a:t>Weak at</a:t>
            </a:r>
            <a:endParaRPr sz="20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D80C6DA-90C5-4C7A-80EB-0F144532DC00}"/>
              </a:ext>
            </a:extLst>
          </p:cNvPr>
          <p:cNvSpPr>
            <a:spLocks noGrp="1"/>
          </p:cNvSpPr>
          <p:nvPr/>
        </p:nvSpPr>
        <p:spPr>
          <a:xfrm>
            <a:off x="6350000" y="2476500"/>
            <a:ext cx="5397500" cy="289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inventing facts and references</a:t>
            </a:r>
            <a:endParaRPr sz="1667"/>
          </a:p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sensitivity to how it is asked</a:t>
            </a:r>
            <a:endParaRPr sz="1667"/>
          </a:p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being subtly wrong, but fluent</a:t>
            </a:r>
            <a:endParaRPr sz="1667"/>
          </a:p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knowledge cutoff and gaps</a:t>
            </a:r>
            <a:endParaRPr sz="1667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D859ED4-2657-42AD-8E9D-D248CBC2CCAB}"/>
              </a:ext>
            </a:extLst>
          </p:cNvPr>
          <p:cNvSpPr>
            <a:spLocks noGrp="1"/>
          </p:cNvSpPr>
          <p:nvPr/>
        </p:nvSpPr>
        <p:spPr>
          <a:xfrm>
            <a:off x="433705" y="5588000"/>
            <a:ext cx="113157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Example:  asked for a method's reference, an LLM may return a perfect-looking citation with a DOI that does not exist.</a:t>
            </a:r>
            <a:endParaRPr sz="1467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CE681DB-47C4-49C5-AB37-B4BFB0622325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r">
              <a:buNone/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4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329677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BE3269F-5258-4336-BAA4-327FA032073A}"/>
              </a:ext>
            </a:extLst>
          </p:cNvPr>
          <p:cNvSpPr>
            <a:spLocks noGrp="1"/>
          </p:cNvSpPr>
          <p:nvPr/>
        </p:nvSpPr>
        <p:spPr>
          <a:xfrm>
            <a:off x="433705" y="365125"/>
            <a:ext cx="113157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Hallucination and verification</a:t>
            </a:r>
            <a:endParaRPr sz="3467"/>
          </a:p>
        </p:txBody>
      </p:sp>
      <p:pic>
        <p:nvPicPr>
          <p:cNvPr id="4" name="Image 0">
            <a:extLst>
              <a:ext uri="{FF2B5EF4-FFF2-40B4-BE49-F238E27FC236}">
                <a16:creationId xmlns:a16="http://schemas.microsoft.com/office/drawing/2014/main" id="{2CAA91DD-A63F-4706-BF5E-3E564B352C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32500" y="1587500"/>
            <a:ext cx="5715000" cy="3727196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20034A2-18F0-4A6F-95A7-B1BDB21D99AC}"/>
              </a:ext>
            </a:extLst>
          </p:cNvPr>
          <p:cNvSpPr>
            <a:spLocks noGrp="1"/>
          </p:cNvSpPr>
          <p:nvPr/>
        </p:nvSpPr>
        <p:spPr>
          <a:xfrm>
            <a:off x="433705" y="1778000"/>
            <a:ext cx="5270500" cy="349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The model has no notion of truth; it produces what is likely.</a:t>
            </a:r>
            <a:endParaRPr sz="1733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endParaRPr sz="1733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So every output that matters is verified independently: </a:t>
            </a:r>
            <a:r>
              <a:rPr sz="1800" b="0">
                <a:solidFill>
                  <a:srgbClr val="417ECE"/>
                </a:solidFill>
                <a:latin typeface="Open Sans"/>
                <a:ea typeface="Open Sans"/>
                <a:cs typeface="Open Sans"/>
              </a:rPr>
              <a:t>run the code, check the reference exists, confirm the number against the data.</a:t>
            </a:r>
            <a:endParaRPr sz="1733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endParaRPr sz="1733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The draft is the model's; the verification is yours.</a:t>
            </a:r>
            <a:endParaRPr sz="1733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6F92E61-0566-4C4C-95D0-2623975DA4D0}"/>
              </a:ext>
            </a:extLst>
          </p:cNvPr>
          <p:cNvSpPr>
            <a:spLocks noGrp="1"/>
          </p:cNvSpPr>
          <p:nvPr/>
        </p:nvSpPr>
        <p:spPr>
          <a:xfrm>
            <a:off x="433705" y="5651500"/>
            <a:ext cx="113157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Example:  an LLM writes a peptide-mass function; you test it on a peptide whose mass you know before trusting it.</a:t>
            </a:r>
            <a:endParaRPr sz="1467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4FAB091-86C2-48DB-82D2-2AB5E86581BF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r">
              <a:buNone/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5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5181698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8077235-7072-4D4E-9D00-28946B329BB1}"/>
              </a:ext>
            </a:extLst>
          </p:cNvPr>
          <p:cNvSpPr>
            <a:spLocks noGrp="1"/>
          </p:cNvSpPr>
          <p:nvPr/>
        </p:nvSpPr>
        <p:spPr>
          <a:xfrm>
            <a:off x="433705" y="365125"/>
            <a:ext cx="113157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Prompt hygiene</a:t>
            </a:r>
            <a:endParaRPr sz="3467"/>
          </a:p>
        </p:txBody>
      </p:sp>
      <p:pic>
        <p:nvPicPr>
          <p:cNvPr id="4" name="Image 0">
            <a:extLst>
              <a:ext uri="{FF2B5EF4-FFF2-40B4-BE49-F238E27FC236}">
                <a16:creationId xmlns:a16="http://schemas.microsoft.com/office/drawing/2014/main" id="{02CA7B9A-979F-4DF6-A870-C04458DF2B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32500" y="1587500"/>
            <a:ext cx="5715000" cy="3354451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CA06FC65-BF58-47B5-866F-2CC7407C3CAD}"/>
              </a:ext>
            </a:extLst>
          </p:cNvPr>
          <p:cNvSpPr>
            <a:spLocks noGrp="1"/>
          </p:cNvSpPr>
          <p:nvPr/>
        </p:nvSpPr>
        <p:spPr>
          <a:xfrm>
            <a:off x="433705" y="1778000"/>
            <a:ext cx="5270500" cy="349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The quality of the answer depends on the prompt.</a:t>
            </a:r>
            <a:endParaRPr sz="1733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endParaRPr sz="1733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Give context, state the goal precisely, supply an example, specify the format and length, and ask for steps when useful. Iterating on the prompt is normal.</a:t>
            </a:r>
            <a:endParaRPr sz="1733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55F3AC6A-C2FA-4777-A7AE-4BA13AB6693A}"/>
              </a:ext>
            </a:extLst>
          </p:cNvPr>
          <p:cNvSpPr>
            <a:spLocks noGrp="1"/>
          </p:cNvSpPr>
          <p:nvPr/>
        </p:nvSpPr>
        <p:spPr>
          <a:xfrm>
            <a:off x="433705" y="5651500"/>
            <a:ext cx="113157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Example:  "read this CSV of m/z and intensity, find peaks above 5% of the base peak, return a DataFrame sorted by intensity" works; "analyse my data" does not.</a:t>
            </a:r>
            <a:endParaRPr sz="1467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4DECAFF-15B4-4E84-A19D-1B7948EDD206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r">
              <a:buNone/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6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481489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060B3EB5-5998-4EE4-8E0B-96E0FFCF21ED}"/>
              </a:ext>
            </a:extLst>
          </p:cNvPr>
          <p:cNvSpPr>
            <a:spLocks noGrp="1"/>
          </p:cNvSpPr>
          <p:nvPr/>
        </p:nvSpPr>
        <p:spPr>
          <a:xfrm>
            <a:off x="433705" y="2286000"/>
            <a:ext cx="113157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Using LLMs for the work</a:t>
            </a:r>
            <a:endParaRPr sz="4267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96B019A-181D-4644-A7C9-A902A0ACA8DF}"/>
              </a:ext>
            </a:extLst>
          </p:cNvPr>
          <p:cNvSpPr>
            <a:spLocks noGrp="1"/>
          </p:cNvSpPr>
          <p:nvPr/>
        </p:nvSpPr>
        <p:spPr>
          <a:xfrm>
            <a:off x="433705" y="3238500"/>
            <a:ext cx="113157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Code, literature, documents, and the project</a:t>
            </a:r>
            <a:endParaRPr sz="200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9A6657F-D1BC-477E-B431-6B6CED41743F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233747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CCA9740-8E5B-4F7F-960D-AAD959C04A24}"/>
              </a:ext>
            </a:extLst>
          </p:cNvPr>
          <p:cNvSpPr>
            <a:spLocks noGrp="1"/>
          </p:cNvSpPr>
          <p:nvPr/>
        </p:nvSpPr>
        <p:spPr>
          <a:xfrm>
            <a:off x="433705" y="365125"/>
            <a:ext cx="113157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Code generation</a:t>
            </a:r>
            <a:endParaRPr sz="3467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F44B359-F9CB-498F-BF63-096A70318AE5}"/>
              </a:ext>
            </a:extLst>
          </p:cNvPr>
          <p:cNvSpPr>
            <a:spLocks noGrp="1"/>
          </p:cNvSpPr>
          <p:nvPr/>
        </p:nvSpPr>
        <p:spPr>
          <a:xfrm>
            <a:off x="433705" y="1841500"/>
            <a:ext cx="11315700" cy="311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>
                <a:solidFill>
                  <a:srgbClr val="417ECE"/>
                </a:solidFill>
                <a:latin typeface="Open Sans"/>
                <a:ea typeface="Open Sans"/>
                <a:cs typeface="Open Sans"/>
              </a:rPr>
              <a:t>The most reliable scientific use: generate code you then run and test.</a:t>
            </a:r>
            <a:endParaRPr sz="1867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endParaRPr sz="1867"/>
          </a:p>
          <a:p>
            <a:pPr marL="0" indent="0" algn="l">
              <a:buNone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Scripts for data processing, analysis and visualisation, sometimes whole small apps. Always: describe precisely, get code, run it, test on a known case, iterate.</a:t>
            </a:r>
            <a:endParaRPr sz="1867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E144E69-5171-4493-BB5F-D81A13300623}"/>
              </a:ext>
            </a:extLst>
          </p:cNvPr>
          <p:cNvSpPr>
            <a:spLocks noGrp="1"/>
          </p:cNvSpPr>
          <p:nvPr/>
        </p:nvSpPr>
        <p:spPr>
          <a:xfrm>
            <a:off x="433705" y="5334000"/>
            <a:ext cx="11315700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Example:  a cell that loads a chromatogram, baseline-corrects, detects peaks and plots them, checked against a manual count on one file first.</a:t>
            </a:r>
            <a:endParaRPr sz="1467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64B4FB6-57E1-4171-8AEA-AED79913922F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r">
              <a:buNone/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9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2075081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FA20EAA-ECD4-458B-8BF5-98DDE087FA31}"/>
              </a:ext>
            </a:extLst>
          </p:cNvPr>
          <p:cNvSpPr>
            <a:spLocks noGrp="1"/>
          </p:cNvSpPr>
          <p:nvPr/>
        </p:nvSpPr>
        <p:spPr>
          <a:xfrm>
            <a:off x="433705" y="365125"/>
            <a:ext cx="113157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Literature and knowledge exploration</a:t>
            </a:r>
            <a:endParaRPr sz="3467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8662715-1E6E-45EC-AE1D-2D842BDC868A}"/>
              </a:ext>
            </a:extLst>
          </p:cNvPr>
          <p:cNvSpPr>
            <a:spLocks noGrp="1"/>
          </p:cNvSpPr>
          <p:nvPr/>
        </p:nvSpPr>
        <p:spPr>
          <a:xfrm>
            <a:off x="433705" y="1841500"/>
            <a:ext cx="11315700" cy="311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Useful to get oriented, summarise a concept, or suggest search terms.</a:t>
            </a:r>
            <a:endParaRPr sz="1867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endParaRPr sz="1867"/>
          </a:p>
          <a:p>
            <a:pPr marL="0" indent="0" algn="l">
              <a:buNone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>
                <a:solidFill>
                  <a:srgbClr val="C96461"/>
                </a:solidFill>
                <a:latin typeface="Open Sans"/>
                <a:ea typeface="Open Sans"/>
                <a:cs typeface="Open Sans"/>
              </a:rPr>
              <a:t>Not a citation source:</a:t>
            </a:r>
            <a:r>
              <a: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  every reference must be confirmed in a real database before you use it.</a:t>
            </a:r>
            <a:endParaRPr sz="1867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4BACD42-BC3F-4746-866F-0AB77C88366B}"/>
              </a:ext>
            </a:extLst>
          </p:cNvPr>
          <p:cNvSpPr>
            <a:spLocks noGrp="1"/>
          </p:cNvSpPr>
          <p:nvPr/>
        </p:nvSpPr>
        <p:spPr>
          <a:xfrm>
            <a:off x="433705" y="5334000"/>
            <a:ext cx="11315700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Example:  use an LLM to explain DDA vs DIA and suggest reviews, then find and read those reviews in PubMed rather than citing the model.</a:t>
            </a:r>
            <a:endParaRPr sz="1467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1BA9750-A83A-4FDB-94C3-762709AAB53E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r">
              <a:buNone/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10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536725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8A1F540-5BB7-4065-A495-0BED367AAE5B}"/>
              </a:ext>
            </a:extLst>
          </p:cNvPr>
          <p:cNvSpPr>
            <a:spLocks noGrp="1"/>
          </p:cNvSpPr>
          <p:nvPr/>
        </p:nvSpPr>
        <p:spPr>
          <a:xfrm>
            <a:off x="433705" y="365125"/>
            <a:ext cx="113157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Improving and automating documents</a:t>
            </a:r>
            <a:endParaRPr sz="3467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7AA4CE4-DBB5-4B71-B51D-B5F82F9AF5F1}"/>
              </a:ext>
            </a:extLst>
          </p:cNvPr>
          <p:cNvSpPr>
            <a:spLocks noGrp="1"/>
          </p:cNvSpPr>
          <p:nvPr/>
        </p:nvSpPr>
        <p:spPr>
          <a:xfrm>
            <a:off x="433705" y="1841500"/>
            <a:ext cx="11315700" cy="311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LLMs help draft, restructure and tidy reports, method sections, captions and repetitive text.</a:t>
            </a:r>
            <a:endParaRPr sz="1867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endParaRPr sz="1867"/>
          </a:p>
          <a:p>
            <a:pPr marL="0" indent="0" algn="l">
              <a:buNone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>
                <a:solidFill>
                  <a:srgbClr val="417ECE"/>
                </a:solidFill>
                <a:latin typeface="Open Sans"/>
                <a:ea typeface="Open Sans"/>
                <a:cs typeface="Open Sans"/>
              </a:rPr>
              <a:t>The author stays responsible</a:t>
            </a:r>
            <a:r>
              <a: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 for all content, including every claim and number.</a:t>
            </a:r>
            <a:endParaRPr sz="1867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FF15A8D-0C0D-4BFA-A339-968B45749864}"/>
              </a:ext>
            </a:extLst>
          </p:cNvPr>
          <p:cNvSpPr>
            <a:spLocks noGrp="1"/>
          </p:cNvSpPr>
          <p:nvPr/>
        </p:nvSpPr>
        <p:spPr>
          <a:xfrm>
            <a:off x="433705" y="5334000"/>
            <a:ext cx="11315700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Example:  draft a methods section from bullet points, then check every instrument setting and value against the actual experiment.</a:t>
            </a:r>
            <a:endParaRPr sz="1467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C902DDC-1306-4A23-A825-BE12FBFB3964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r">
              <a:buNone/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11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869106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408F0BB-80D3-44A8-9F78-74AAAB7F5228}"/>
              </a:ext>
            </a:extLst>
          </p:cNvPr>
          <p:cNvSpPr>
            <a:spLocks noGrp="1"/>
          </p:cNvSpPr>
          <p:nvPr/>
        </p:nvSpPr>
        <p:spPr>
          <a:xfrm>
            <a:off x="433705" y="365125"/>
            <a:ext cx="113157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sz="3000" b="0" spc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Key takeaways</a:t>
            </a:r>
            <a:endParaRPr sz="1733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7E53584-3C43-4A07-B996-26D48E125B06}"/>
              </a:ext>
            </a:extLst>
          </p:cNvPr>
          <p:cNvSpPr>
            <a:spLocks noGrp="1"/>
          </p:cNvSpPr>
          <p:nvPr/>
        </p:nvSpPr>
        <p:spPr>
          <a:xfrm>
            <a:off x="433705" y="1841500"/>
            <a:ext cx="11315700" cy="431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457200" indent="-457200" algn="l">
              <a:spcAft>
                <a:spcPts val="1467"/>
              </a:spcAft>
              <a:buSzPct val="100000"/>
              <a:buChar char="•"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An LLM predicts plausible text; it has no built-in notion of truth.</a:t>
            </a:r>
            <a:endParaRPr sz="2000" dirty="0"/>
          </a:p>
          <a:p>
            <a:pPr marL="457200" indent="-457200" algn="l">
              <a:spcAft>
                <a:spcPts val="1467"/>
              </a:spcAft>
              <a:buSzPct val="100000"/>
              <a:buChar char="•"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Verify everything that matters: run code, confirm references, check numbers.</a:t>
            </a:r>
            <a:endParaRPr sz="2000" dirty="0"/>
          </a:p>
          <a:p>
            <a:pPr marL="457200" indent="-457200" algn="l">
              <a:spcAft>
                <a:spcPts val="1467"/>
              </a:spcAft>
              <a:buSzPct val="100000"/>
              <a:buChar char="•"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Good prompts give context, goal, example, format; iterate.</a:t>
            </a:r>
            <a:endParaRPr sz="2000" dirty="0"/>
          </a:p>
          <a:p>
            <a:pPr marL="457200" indent="-457200" algn="l">
              <a:spcAft>
                <a:spcPts val="1467"/>
              </a:spcAft>
              <a:buSzPct val="100000"/>
              <a:buChar char="•"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Strongest scientific use is code you then run and test.</a:t>
            </a:r>
            <a:endParaRPr sz="2000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068AB29-5B30-45B6-BF53-486843F8516A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6510098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ompOmics">
      <a:dk1>
        <a:srgbClr val="1B2944"/>
      </a:dk1>
      <a:lt1>
        <a:sysClr val="window" lastClr="FFFFFF"/>
      </a:lt1>
      <a:dk2>
        <a:srgbClr val="1B2944"/>
      </a:dk2>
      <a:lt2>
        <a:srgbClr val="FFFFFF"/>
      </a:lt2>
      <a:accent1>
        <a:srgbClr val="417ECE"/>
      </a:accent1>
      <a:accent2>
        <a:srgbClr val="C96461"/>
      </a:accent2>
      <a:accent3>
        <a:srgbClr val="59AD5D"/>
      </a:accent3>
      <a:accent4>
        <a:srgbClr val="DDAE56"/>
      </a:accent4>
      <a:accent5>
        <a:srgbClr val="53C7C5"/>
      </a:accent5>
      <a:accent6>
        <a:srgbClr val="9976B7"/>
      </a:accent6>
      <a:hlink>
        <a:srgbClr val="5DB7B1"/>
      </a:hlink>
      <a:folHlink>
        <a:srgbClr val="5DB7B1"/>
      </a:folHlink>
    </a:clrScheme>
    <a:fontScheme name="Open Sans">
      <a:majorFont>
        <a:latin typeface="Open Sans SemiBold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plate.potx" id="{6B1FDA5D-2F38-494C-9F84-B858B0FF0533}" vid="{89C44F79-ADE1-466F-BE54-FC048700DF5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522</Words>
  <Application>Microsoft Office PowerPoint</Application>
  <DocSecurity>0</DocSecurity>
  <PresentationFormat>Widescreen</PresentationFormat>
  <Paragraphs>67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 SemiBold</vt:lpstr>
      <vt:lpstr>Arial</vt:lpstr>
      <vt:lpstr>Calibri</vt:lpstr>
      <vt:lpstr>Open Sans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Robbin Bouwmeester</cp:lastModifiedBy>
  <cp:revision>1</cp:revision>
  <dcterms:created xsi:type="dcterms:W3CDTF">2026-10-24T08:15:43Z</dcterms:created>
  <dcterms:modified xsi:type="dcterms:W3CDTF">2026-10-25T08:17:36Z</dcterms:modified>
</cp:coreProperties>
</file>