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
  </p:notesMasterIdLst>
  <p:handoutMasterIdLst>
    <p:handoutMasterId r:id="rId12"/>
  </p:handoutMasterIdLst>
  <p:sldIdLst>
    <p:sldId id="311" r:id="rId2"/>
    <p:sldId id="300" r:id="rId3"/>
    <p:sldId id="308" r:id="rId4"/>
    <p:sldId id="312" r:id="rId5"/>
    <p:sldId id="313" r:id="rId6"/>
    <p:sldId id="415" r:id="rId7"/>
    <p:sldId id="260" r:id="rId8"/>
    <p:sldId id="413" r:id="rId9"/>
    <p:sldId id="414" r:id="rId10"/>
  </p:sldIdLst>
  <p:sldSz cx="12192000" cy="6858000"/>
  <p:notesSz cx="6858000" cy="9144000"/>
  <p:embeddedFontLst>
    <p:embeddedFont>
      <p:font typeface="Aptos SemiBold" panose="020B0004020202020204" pitchFamily="34" charset="0"/>
      <p:bold r:id="rId13"/>
      <p:boldItalic r:id="rId14"/>
    </p:embeddedFont>
    <p:embeddedFont>
      <p:font typeface="Cascadia Code" panose="020B0609020000020004" pitchFamily="49" charset="0"/>
      <p:regular r:id="rId15"/>
      <p:bold r:id="rId16"/>
      <p:italic r:id="rId17"/>
      <p:boldItalic r:id="rId18"/>
    </p:embeddedFont>
    <p:embeddedFont>
      <p:font typeface="Open Sans" panose="020B0606030504020204" pitchFamily="34" charset="0"/>
      <p:regular r:id="rId19"/>
      <p:bold r:id="rId20"/>
      <p:italic r:id="rId21"/>
      <p:boldItalic r:id="rId22"/>
    </p:embeddedFont>
    <p:embeddedFont>
      <p:font typeface="Open Sans SemiBold" panose="020B0706030804020204" pitchFamily="34" charset="0"/>
      <p:bold r:id="rId23"/>
      <p:boldItalic r:id="rId24"/>
    </p:embeddedFont>
    <p:embeddedFont>
      <p:font typeface="UGent Panno Text" panose="02000506040000040003" pitchFamily="2" charset="0"/>
      <p:regular r:id="rId25"/>
    </p:embeddedFont>
  </p:embeddedFontLst>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15:guide id="1" orient="horz" pos="2886"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59A14F"/>
    <a:srgbClr val="EDC948"/>
    <a:srgbClr val="E15759"/>
    <a:srgbClr val="FFFFFF"/>
    <a:srgbClr val="417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52890" autoAdjust="0"/>
  </p:normalViewPr>
  <p:slideViewPr>
    <p:cSldViewPr snapToGrid="0" showGuides="1">
      <p:cViewPr varScale="1">
        <p:scale>
          <a:sx n="96" d="100"/>
          <a:sy n="96" d="100"/>
        </p:scale>
        <p:origin x="1968" y="56"/>
      </p:cViewPr>
      <p:guideLst>
        <p:guide orient="horz" pos="2160"/>
        <p:guide pos="3863"/>
      </p:guideLst>
    </p:cSldViewPr>
  </p:slideViewPr>
  <p:notesTextViewPr>
    <p:cViewPr>
      <p:scale>
        <a:sx n="1" d="1"/>
        <a:sy n="1" d="1"/>
      </p:scale>
      <p:origin x="0" y="0"/>
    </p:cViewPr>
  </p:notesTextViewPr>
  <p:sorterViewPr>
    <p:cViewPr>
      <p:scale>
        <a:sx n="90" d="100"/>
        <a:sy n="90" d="100"/>
      </p:scale>
      <p:origin x="0" y="-10221"/>
    </p:cViewPr>
  </p:sorterViewPr>
  <p:notesViewPr>
    <p:cSldViewPr snapToGrid="0" showGuides="1">
      <p:cViewPr varScale="1">
        <p:scale>
          <a:sx n="66" d="100"/>
          <a:sy n="66" d="100"/>
        </p:scale>
        <p:origin x="0" y="0"/>
      </p:cViewPr>
      <p:guideLst>
        <p:guide orient="horz" pos="2886"/>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in Bouwmeester" userId="1dbfebabfc25a55a" providerId="LiveId" clId="{75D63595-F797-482E-A4A0-2F4889B74D4F}"/>
    <pc:docChg chg="delSld">
      <pc:chgData name="Robbin Bouwmeester" userId="1dbfebabfc25a55a" providerId="LiveId" clId="{75D63595-F797-482E-A4A0-2F4889B74D4F}" dt="2026-10-18T08:06:40.594" v="11" actId="47"/>
      <pc:docMkLst>
        <pc:docMk/>
      </pc:docMkLst>
      <pc:sldChg chg="del">
        <pc:chgData name="Robbin Bouwmeester" userId="1dbfebabfc25a55a" providerId="LiveId" clId="{75D63595-F797-482E-A4A0-2F4889B74D4F}" dt="2026-10-18T08:06:40.594" v="11" actId="47"/>
        <pc:sldMkLst>
          <pc:docMk/>
          <pc:sldMk cId="2348918196" sldId="256"/>
        </pc:sldMkLst>
      </pc:sldChg>
      <pc:sldChg chg="del">
        <pc:chgData name="Robbin Bouwmeester" userId="1dbfebabfc25a55a" providerId="LiveId" clId="{75D63595-F797-482E-A4A0-2F4889B74D4F}" dt="2026-10-18T08:06:22.650" v="7" actId="47"/>
        <pc:sldMkLst>
          <pc:docMk/>
          <pc:sldMk cId="2035087381" sldId="265"/>
        </pc:sldMkLst>
      </pc:sldChg>
      <pc:sldChg chg="del">
        <pc:chgData name="Robbin Bouwmeester" userId="1dbfebabfc25a55a" providerId="LiveId" clId="{75D63595-F797-482E-A4A0-2F4889B74D4F}" dt="2026-10-18T08:06:21.430" v="6" actId="47"/>
        <pc:sldMkLst>
          <pc:docMk/>
          <pc:sldMk cId="3466755696" sldId="269"/>
        </pc:sldMkLst>
      </pc:sldChg>
      <pc:sldChg chg="del">
        <pc:chgData name="Robbin Bouwmeester" userId="1dbfebabfc25a55a" providerId="LiveId" clId="{75D63595-F797-482E-A4A0-2F4889B74D4F}" dt="2026-10-18T08:06:16.615" v="1" actId="47"/>
        <pc:sldMkLst>
          <pc:docMk/>
          <pc:sldMk cId="1871587085" sldId="280"/>
        </pc:sldMkLst>
      </pc:sldChg>
      <pc:sldChg chg="del">
        <pc:chgData name="Robbin Bouwmeester" userId="1dbfebabfc25a55a" providerId="LiveId" clId="{75D63595-F797-482E-A4A0-2F4889B74D4F}" dt="2026-10-18T08:06:17.135" v="2" actId="47"/>
        <pc:sldMkLst>
          <pc:docMk/>
          <pc:sldMk cId="1591429257" sldId="281"/>
        </pc:sldMkLst>
      </pc:sldChg>
      <pc:sldChg chg="del">
        <pc:chgData name="Robbin Bouwmeester" userId="1dbfebabfc25a55a" providerId="LiveId" clId="{75D63595-F797-482E-A4A0-2F4889B74D4F}" dt="2026-10-18T08:06:20.014" v="5" actId="47"/>
        <pc:sldMkLst>
          <pc:docMk/>
          <pc:sldMk cId="770255423" sldId="287"/>
        </pc:sldMkLst>
      </pc:sldChg>
      <pc:sldChg chg="del">
        <pc:chgData name="Robbin Bouwmeester" userId="1dbfebabfc25a55a" providerId="LiveId" clId="{75D63595-F797-482E-A4A0-2F4889B74D4F}" dt="2026-10-18T08:06:26.224" v="9" actId="47"/>
        <pc:sldMkLst>
          <pc:docMk/>
          <pc:sldMk cId="3265430206" sldId="289"/>
        </pc:sldMkLst>
      </pc:sldChg>
      <pc:sldChg chg="del">
        <pc:chgData name="Robbin Bouwmeester" userId="1dbfebabfc25a55a" providerId="LiveId" clId="{75D63595-F797-482E-A4A0-2F4889B74D4F}" dt="2026-10-18T08:06:24.334" v="8" actId="47"/>
        <pc:sldMkLst>
          <pc:docMk/>
          <pc:sldMk cId="1595530223" sldId="290"/>
        </pc:sldMkLst>
      </pc:sldChg>
      <pc:sldChg chg="del">
        <pc:chgData name="Robbin Bouwmeester" userId="1dbfebabfc25a55a" providerId="LiveId" clId="{75D63595-F797-482E-A4A0-2F4889B74D4F}" dt="2026-10-18T08:06:27.267" v="10" actId="47"/>
        <pc:sldMkLst>
          <pc:docMk/>
          <pc:sldMk cId="1500680438" sldId="292"/>
        </pc:sldMkLst>
      </pc:sldChg>
      <pc:sldChg chg="del">
        <pc:chgData name="Robbin Bouwmeester" userId="1dbfebabfc25a55a" providerId="LiveId" clId="{75D63595-F797-482E-A4A0-2F4889B74D4F}" dt="2026-10-18T08:06:17.718" v="3" actId="47"/>
        <pc:sldMkLst>
          <pc:docMk/>
          <pc:sldMk cId="1884904250" sldId="303"/>
        </pc:sldMkLst>
      </pc:sldChg>
      <pc:sldChg chg="del">
        <pc:chgData name="Robbin Bouwmeester" userId="1dbfebabfc25a55a" providerId="LiveId" clId="{75D63595-F797-482E-A4A0-2F4889B74D4F}" dt="2026-10-18T08:06:18.778" v="4" actId="47"/>
        <pc:sldMkLst>
          <pc:docMk/>
          <pc:sldMk cId="1534716773" sldId="305"/>
        </pc:sldMkLst>
      </pc:sldChg>
      <pc:sldChg chg="del">
        <pc:chgData name="Robbin Bouwmeester" userId="1dbfebabfc25a55a" providerId="LiveId" clId="{75D63595-F797-482E-A4A0-2F4889B74D4F}" dt="2026-10-18T08:06:13.236" v="0" actId="47"/>
        <pc:sldMkLst>
          <pc:docMk/>
          <pc:sldMk cId="1284689095" sldId="4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88EE1B-8E02-22BC-27D6-4A79C40AC6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998A83-ED40-9555-5C00-CB48C0FAD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58BD91-980D-431E-84C7-4DE0DA81F003}" type="datetimeFigureOut">
              <a:rPr lang="en-US" smtClean="0"/>
              <a:t>10/18/2026</a:t>
            </a:fld>
            <a:endParaRPr lang="en-US"/>
          </a:p>
        </p:txBody>
      </p:sp>
      <p:sp>
        <p:nvSpPr>
          <p:cNvPr id="4" name="Footer Placeholder 3">
            <a:extLst>
              <a:ext uri="{FF2B5EF4-FFF2-40B4-BE49-F238E27FC236}">
                <a16:creationId xmlns:a16="http://schemas.microsoft.com/office/drawing/2014/main" id="{87A9C8C3-E4FB-88E4-2A18-2B8A75A7FE5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B543907-5418-E741-8CA6-D9DFEBE4A9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556B35-55D9-41D4-AF58-00310A1198CE}" type="slidenum">
              <a:rPr lang="en-US" smtClean="0"/>
              <a:t>‹#›</a:t>
            </a:fld>
            <a:endParaRPr lang="en-US"/>
          </a:p>
        </p:txBody>
      </p:sp>
    </p:spTree>
    <p:extLst>
      <p:ext uri="{BB962C8B-B14F-4D97-AF65-F5344CB8AC3E}">
        <p14:creationId xmlns:p14="http://schemas.microsoft.com/office/powerpoint/2010/main" val="425655844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1364C-957D-4A3E-AAEB-3C68A911999D}"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3C013A-CD70-4544-8384-B19ED78503EB}" type="slidenum">
              <a:rPr lang="en-US" smtClean="0"/>
              <a:t>‹#›</a:t>
            </a:fld>
            <a:endParaRPr lang="en-US"/>
          </a:p>
        </p:txBody>
      </p:sp>
    </p:spTree>
    <p:extLst>
      <p:ext uri="{BB962C8B-B14F-4D97-AF65-F5344CB8AC3E}">
        <p14:creationId xmlns:p14="http://schemas.microsoft.com/office/powerpoint/2010/main" val="319334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Recognizing patterns is much easier when one already understands the underlying “language” of the data. In anatomy, knowing the Latin language makes it easier to memorize the structure terminology, as the terms are now interpretable. The same general principle applies in machine learning: models perform better when they first learn the structure and conventions of the data domain before tackling a specific downstream prediction task.</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1</a:t>
            </a:fld>
            <a:endParaRPr lang="en-US"/>
          </a:p>
        </p:txBody>
      </p:sp>
    </p:spTree>
    <p:extLst>
      <p:ext uri="{BB962C8B-B14F-4D97-AF65-F5344CB8AC3E}">
        <p14:creationId xmlns:p14="http://schemas.microsoft.com/office/powerpoint/2010/main" val="419693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Foundation models </a:t>
            </a:r>
            <a:r>
              <a:rPr lang="en-GB" dirty="0"/>
              <a:t>are typically trained on very large amounts of data using a general learning objective rather than a narrowly defined task. One common strategy is to hide part of the input and ask the model to predict the missing token, word, or nucleotide. Because the supervision comes from the data itself (i.e., it is </a:t>
            </a:r>
            <a:r>
              <a:rPr lang="en-GB" b="1" dirty="0"/>
              <a:t>self-supervised</a:t>
            </a:r>
            <a:r>
              <a:rPr lang="en-GB" b="0" dirty="0"/>
              <a:t>)</a:t>
            </a:r>
            <a:r>
              <a:rPr lang="en-GB" dirty="0"/>
              <a:t>, this approach usually does not require exact manual labels and can exploit the large </a:t>
            </a:r>
            <a:r>
              <a:rPr lang="en-GB" dirty="0" err="1"/>
              <a:t>unlabeled</a:t>
            </a:r>
            <a:r>
              <a:rPr lang="en-GB" dirty="0"/>
              <a:t> datasets that are common in biology and medicine.</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2</a:t>
            </a:fld>
            <a:endParaRPr lang="en-US"/>
          </a:p>
        </p:txBody>
      </p:sp>
    </p:spTree>
    <p:extLst>
      <p:ext uri="{BB962C8B-B14F-4D97-AF65-F5344CB8AC3E}">
        <p14:creationId xmlns:p14="http://schemas.microsoft.com/office/powerpoint/2010/main" val="1964809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key idea behind foundation models is that one broadly trained model can later be adapted to many different downstream tasks. In the </a:t>
            </a:r>
            <a:r>
              <a:rPr lang="en-GB" b="1" dirty="0"/>
              <a:t>pretraining</a:t>
            </a:r>
            <a:r>
              <a:rPr lang="en-GB" dirty="0"/>
              <a:t> phase, the model learns general patterns and structure from a large corpus. In the </a:t>
            </a:r>
            <a:r>
              <a:rPr lang="en-GB" b="1" dirty="0"/>
              <a:t>fine-tuning</a:t>
            </a:r>
            <a:r>
              <a:rPr lang="en-GB" dirty="0"/>
              <a:t> phase, that pretrained knowledge is reused and specialized for a particular prediction problem.</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3</a:t>
            </a:fld>
            <a:endParaRPr lang="en-US"/>
          </a:p>
        </p:txBody>
      </p:sp>
    </p:spTree>
    <p:extLst>
      <p:ext uri="{BB962C8B-B14F-4D97-AF65-F5344CB8AC3E}">
        <p14:creationId xmlns:p14="http://schemas.microsoft.com/office/powerpoint/2010/main" val="3195310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Once a foundation model has learned the general “language” of a data type, it can be reused for several more specific tasks with much less task-specific training data. Instead of training a separate model from scratch for each application, the pretrained model acts as a strong starting point that already captures useful domain structure. This is especially attractive in biomedicine, where </a:t>
            </a:r>
            <a:r>
              <a:rPr lang="en-GB" dirty="0" err="1"/>
              <a:t>labeled</a:t>
            </a:r>
            <a:r>
              <a:rPr lang="en-GB" dirty="0"/>
              <a:t> datasets are often limited or expensive to obtain.</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4</a:t>
            </a:fld>
            <a:endParaRPr lang="en-US"/>
          </a:p>
        </p:txBody>
      </p:sp>
    </p:spTree>
    <p:extLst>
      <p:ext uri="{BB962C8B-B14F-4D97-AF65-F5344CB8AC3E}">
        <p14:creationId xmlns:p14="http://schemas.microsoft.com/office/powerpoint/2010/main" val="1321738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foundation model does not always need to be trained on domain-specific data from the start. In some cases, a very general model trained on a broad and diverse dataset can still provide useful representations that transfer well to a much more specialized task. The skin-lesion example illustrates this idea: a model pretrained on generic natural images can still serve as a useful starting point for medical image classification after task-specific fine-tuning.</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5</a:t>
            </a:fld>
            <a:endParaRPr lang="en-US"/>
          </a:p>
        </p:txBody>
      </p:sp>
    </p:spTree>
    <p:extLst>
      <p:ext uri="{BB962C8B-B14F-4D97-AF65-F5344CB8AC3E}">
        <p14:creationId xmlns:p14="http://schemas.microsoft.com/office/powerpoint/2010/main" val="2270945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Foundation models can also be trained directly within a specific domain when sufficiently large </a:t>
            </a:r>
            <a:r>
              <a:rPr lang="en-GB" dirty="0" err="1"/>
              <a:t>unlabeled</a:t>
            </a:r>
            <a:r>
              <a:rPr lang="en-GB" dirty="0"/>
              <a:t> datasets are available. In that case, pretraining can capture more domain-relevant structure than a generic model would. The transcriptomics example illustrates how large-scale pretraining on single-cell data can later support a much more specific biological prediction task with comparatively limited </a:t>
            </a:r>
            <a:r>
              <a:rPr lang="en-GB" dirty="0" err="1"/>
              <a:t>labeled</a:t>
            </a:r>
            <a:r>
              <a:rPr lang="en-GB" dirty="0"/>
              <a:t> examples. </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6</a:t>
            </a:fld>
            <a:endParaRPr lang="en-US"/>
          </a:p>
        </p:txBody>
      </p:sp>
    </p:spTree>
    <p:extLst>
      <p:ext uri="{BB962C8B-B14F-4D97-AF65-F5344CB8AC3E}">
        <p14:creationId xmlns:p14="http://schemas.microsoft.com/office/powerpoint/2010/main" val="537252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seen in the lecture on recurrent neural networks, before a model can learn from amino-acid sequences, those symbols must first be converted into numbers. This can be done through </a:t>
            </a:r>
            <a:r>
              <a:rPr lang="en-GB" b="1" dirty="0"/>
              <a:t>manual feature engineering</a:t>
            </a:r>
            <a:r>
              <a:rPr lang="en-GB" dirty="0"/>
              <a:t>, </a:t>
            </a:r>
            <a:r>
              <a:rPr lang="en-GB" b="1" dirty="0"/>
              <a:t>one-hot encoding</a:t>
            </a:r>
            <a:r>
              <a:rPr lang="en-GB" dirty="0"/>
              <a:t>, or </a:t>
            </a:r>
            <a:r>
              <a:rPr lang="en-GB" b="1" dirty="0"/>
              <a:t>learned embeddings</a:t>
            </a:r>
            <a:r>
              <a:rPr lang="en-GB" dirty="0"/>
              <a:t>. These encodings differ in how much prior biological knowledge they inject and in how flexibly they allow the model to learn useful similarities between residues.</a:t>
            </a:r>
          </a:p>
        </p:txBody>
      </p:sp>
      <p:sp>
        <p:nvSpPr>
          <p:cNvPr id="4" name="Slide Number Placeholder 3"/>
          <p:cNvSpPr>
            <a:spLocks noGrp="1"/>
          </p:cNvSpPr>
          <p:nvPr>
            <p:ph type="sldNum" sz="quarter" idx="5"/>
          </p:nvPr>
        </p:nvSpPr>
        <p:spPr/>
        <p:txBody>
          <a:bodyPr/>
          <a:lstStyle/>
          <a:p>
            <a:fld id="{953C013A-CD70-4544-8384-B19ED78503EB}" type="slidenum">
              <a:rPr lang="en-US" smtClean="0"/>
              <a:t>7</a:t>
            </a:fld>
            <a:endParaRPr lang="en-US"/>
          </a:p>
        </p:txBody>
      </p:sp>
    </p:spTree>
    <p:extLst>
      <p:ext uri="{BB962C8B-B14F-4D97-AF65-F5344CB8AC3E}">
        <p14:creationId xmlns:p14="http://schemas.microsoft.com/office/powerpoint/2010/main" val="484205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Pretraining and fine-tuning are related but distinct stages. </a:t>
            </a:r>
            <a:r>
              <a:rPr lang="en-GB" b="1" dirty="0"/>
              <a:t>Pretraining</a:t>
            </a:r>
            <a:r>
              <a:rPr lang="en-GB" dirty="0"/>
              <a:t> aims to learn the general structure or “language” of the data, often from a large and only weakly </a:t>
            </a:r>
            <a:r>
              <a:rPr lang="en-GB" dirty="0" err="1"/>
              <a:t>labeled</a:t>
            </a:r>
            <a:r>
              <a:rPr lang="en-GB" dirty="0"/>
              <a:t> or </a:t>
            </a:r>
            <a:r>
              <a:rPr lang="en-GB" dirty="0" err="1"/>
              <a:t>unlabeled</a:t>
            </a:r>
            <a:r>
              <a:rPr lang="en-GB" dirty="0"/>
              <a:t> dataset. </a:t>
            </a:r>
            <a:r>
              <a:rPr lang="en-GB" b="1" dirty="0"/>
              <a:t>Fine-tuning</a:t>
            </a:r>
            <a:r>
              <a:rPr lang="en-GB" dirty="0"/>
              <a:t> then uses that learned representation to solve a specific downstream task with a smaller, more targeted </a:t>
            </a:r>
            <a:r>
              <a:rPr lang="en-GB" dirty="0" err="1"/>
              <a:t>labeled</a:t>
            </a:r>
            <a:r>
              <a:rPr lang="en-GB" dirty="0"/>
              <a:t> dataset. This distinction is central to understanding what makes foundation models different from task-specific models trained from scratch.</a:t>
            </a:r>
          </a:p>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8</a:t>
            </a:fld>
            <a:endParaRPr lang="en-US"/>
          </a:p>
        </p:txBody>
      </p:sp>
    </p:spTree>
    <p:extLst>
      <p:ext uri="{BB962C8B-B14F-4D97-AF65-F5344CB8AC3E}">
        <p14:creationId xmlns:p14="http://schemas.microsoft.com/office/powerpoint/2010/main" val="3246016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53C013A-CD70-4544-8384-B19ED78503EB}" type="slidenum">
              <a:rPr lang="en-US" smtClean="0"/>
              <a:t>9</a:t>
            </a:fld>
            <a:endParaRPr lang="en-US"/>
          </a:p>
        </p:txBody>
      </p:sp>
    </p:spTree>
    <p:extLst>
      <p:ext uri="{BB962C8B-B14F-4D97-AF65-F5344CB8AC3E}">
        <p14:creationId xmlns:p14="http://schemas.microsoft.com/office/powerpoint/2010/main" val="180575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1D86-6751-25A3-035F-788E6079F5B5}"/>
              </a:ext>
            </a:extLst>
          </p:cNvPr>
          <p:cNvSpPr>
            <a:spLocks noGrp="1"/>
          </p:cNvSpPr>
          <p:nvPr>
            <p:ph type="ctrTitle"/>
          </p:nvPr>
        </p:nvSpPr>
        <p:spPr>
          <a:xfrm>
            <a:off x="445476" y="406400"/>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C36DFF0C-2793-CF74-39AD-128524A11BED}"/>
              </a:ext>
            </a:extLst>
          </p:cNvPr>
          <p:cNvSpPr>
            <a:spLocks noGrp="1"/>
          </p:cNvSpPr>
          <p:nvPr>
            <p:ph type="subTitle" idx="1"/>
          </p:nvPr>
        </p:nvSpPr>
        <p:spPr>
          <a:xfrm>
            <a:off x="445476" y="3094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Tree>
    <p:extLst>
      <p:ext uri="{BB962C8B-B14F-4D97-AF65-F5344CB8AC3E}">
        <p14:creationId xmlns:p14="http://schemas.microsoft.com/office/powerpoint/2010/main" val="46594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D792-7D3D-83C5-606E-EE2B07A316E5}"/>
              </a:ext>
            </a:extLst>
          </p:cNvPr>
          <p:cNvSpPr>
            <a:spLocks noGrp="1"/>
          </p:cNvSpPr>
          <p:nvPr>
            <p:ph type="title"/>
          </p:nvPr>
        </p:nvSpPr>
        <p:spPr/>
        <p:txBody>
          <a:bodyPr vert="horz" lIns="0" tIns="0" rIns="0" bIns="0" rtlCol="0" anchor="t">
            <a:noAutofit/>
          </a:bodyPr>
          <a:lstStyle>
            <a:lvl1pPr>
              <a:defRPr lang="en-BE"/>
            </a:lvl1pPr>
          </a:lstStyle>
          <a:p>
            <a:pPr lvl="0"/>
            <a:r>
              <a:rPr lang="en-GB"/>
              <a:t>Click to edit Master title style</a:t>
            </a:r>
            <a:endParaRPr lang="en-BE"/>
          </a:p>
        </p:txBody>
      </p:sp>
      <p:sp>
        <p:nvSpPr>
          <p:cNvPr id="3" name="Content Placeholder 2">
            <a:extLst>
              <a:ext uri="{FF2B5EF4-FFF2-40B4-BE49-F238E27FC236}">
                <a16:creationId xmlns:a16="http://schemas.microsoft.com/office/drawing/2014/main" id="{BE8BEEF3-E6B4-333F-98A9-C13B32EDD254}"/>
              </a:ext>
            </a:extLst>
          </p:cNvPr>
          <p:cNvSpPr>
            <a:spLocks noGrp="1"/>
          </p:cNvSpPr>
          <p:nvPr>
            <p:ph idx="1"/>
          </p:nvPr>
        </p:nvSpPr>
        <p:spPr/>
        <p:txBody>
          <a:bodyPr/>
          <a:lstStyle>
            <a:lvl1pPr>
              <a:defRPr lang="en-GB"/>
            </a:lvl1pPr>
            <a:lvl2pPr>
              <a:defRPr lang="en-GB"/>
            </a:lvl2pPr>
            <a:lvl3pPr>
              <a:defRPr lang="en-GB"/>
            </a:lvl3pPr>
            <a:lvl4pPr>
              <a:defRPr lang="en-GB"/>
            </a:lvl4pPr>
            <a:lvl5pPr>
              <a:defRPr lang="en-BE"/>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Footer Placeholder 4">
            <a:extLst>
              <a:ext uri="{FF2B5EF4-FFF2-40B4-BE49-F238E27FC236}">
                <a16:creationId xmlns:a16="http://schemas.microsoft.com/office/drawing/2014/main" id="{D49552F3-5810-93F0-E468-78FD4AFC14F2}"/>
              </a:ext>
            </a:extLst>
          </p:cNvPr>
          <p:cNvSpPr>
            <a:spLocks noGrp="1"/>
          </p:cNvSpPr>
          <p:nvPr>
            <p:ph type="ftr" sz="quarter" idx="11"/>
          </p:nvPr>
        </p:nvSpPr>
        <p:spPr/>
        <p:txBody>
          <a:bodyPr vert="horz" lIns="0" tIns="0" rIns="0" bIns="0" rtlCol="0" anchor="ctr"/>
          <a:lstStyle>
            <a:lvl1pPr>
              <a:defRPr lang="en-US"/>
            </a:lvl1pPr>
          </a:lstStyle>
          <a:p>
            <a:endParaRPr lang="en-US"/>
          </a:p>
        </p:txBody>
      </p:sp>
      <p:sp>
        <p:nvSpPr>
          <p:cNvPr id="6" name="Slide Number Placeholder 5">
            <a:extLst>
              <a:ext uri="{FF2B5EF4-FFF2-40B4-BE49-F238E27FC236}">
                <a16:creationId xmlns:a16="http://schemas.microsoft.com/office/drawing/2014/main" id="{14F9C0B1-D794-36E8-AB68-2ACF514DDCD6}"/>
              </a:ext>
            </a:extLst>
          </p:cNvPr>
          <p:cNvSpPr>
            <a:spLocks noGrp="1"/>
          </p:cNvSpPr>
          <p:nvPr>
            <p:ph type="sldNum" sz="quarter" idx="12"/>
          </p:nvPr>
        </p:nvSpPr>
        <p:spPr/>
        <p:txBody>
          <a:bodyPr/>
          <a:lstStyle>
            <a:lvl1pPr>
              <a:defRPr lang="en-BE" smtClean="0"/>
            </a:lvl1pPr>
          </a:lstStyle>
          <a:p>
            <a:fld id="{94B3E216-A3C5-4E41-AE94-D003E76F1D3A}" type="slidenum">
              <a:rPr lang="en-US" smtClean="0"/>
              <a:pPr/>
              <a:t>‹#›</a:t>
            </a:fld>
            <a:endParaRPr lang="en-US"/>
          </a:p>
        </p:txBody>
      </p:sp>
    </p:spTree>
    <p:extLst>
      <p:ext uri="{BB962C8B-B14F-4D97-AF65-F5344CB8AC3E}">
        <p14:creationId xmlns:p14="http://schemas.microsoft.com/office/powerpoint/2010/main" val="38742563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9DC3-8AAE-DEDC-EB49-92CAD4E4038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BA40AA02-1CBC-FFE6-61AD-45B18821D0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8201DE-6807-8F50-7C1D-6A9824254BAC}"/>
              </a:ext>
            </a:extLst>
          </p:cNvPr>
          <p:cNvSpPr>
            <a:spLocks noGrp="1"/>
          </p:cNvSpPr>
          <p:nvPr>
            <p:ph type="dt" sz="half" idx="10"/>
          </p:nvPr>
        </p:nvSpPr>
        <p:spPr>
          <a:xfrm>
            <a:off x="433633" y="6459767"/>
            <a:ext cx="3147767" cy="261708"/>
          </a:xfrm>
          <a:prstGeom prst="rect">
            <a:avLst/>
          </a:prstGeom>
        </p:spPr>
        <p:txBody>
          <a:bodyPr/>
          <a:lstStyle/>
          <a:p>
            <a:fld id="{858A6A01-87E6-49E3-BB95-1C1D84F4E29B}" type="datetime8">
              <a:rPr lang="en-BE" smtClean="0"/>
              <a:t>10/18/2026 10:05</a:t>
            </a:fld>
            <a:endParaRPr lang="en-BE"/>
          </a:p>
        </p:txBody>
      </p:sp>
      <p:sp>
        <p:nvSpPr>
          <p:cNvPr id="5" name="Footer Placeholder 4">
            <a:extLst>
              <a:ext uri="{FF2B5EF4-FFF2-40B4-BE49-F238E27FC236}">
                <a16:creationId xmlns:a16="http://schemas.microsoft.com/office/drawing/2014/main" id="{E7F08137-91F7-C16D-6848-DAF48904F5D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48073F0-040C-7AB4-0FBC-12E7740D353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064854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5A02-220B-237D-9FE4-311584315A3B}"/>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93C927E6-BA8E-AB88-7421-757A268D9073}"/>
              </a:ext>
            </a:extLst>
          </p:cNvPr>
          <p:cNvSpPr>
            <a:spLocks noGrp="1"/>
          </p:cNvSpPr>
          <p:nvPr>
            <p:ph sz="half" idx="1"/>
          </p:nvPr>
        </p:nvSpPr>
        <p:spPr>
          <a:xfrm>
            <a:off x="433633" y="1253765"/>
            <a:ext cx="5586167" cy="50716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C92954B8-E4C9-4219-7811-8A1A1E0D647F}"/>
              </a:ext>
            </a:extLst>
          </p:cNvPr>
          <p:cNvSpPr>
            <a:spLocks noGrp="1"/>
          </p:cNvSpPr>
          <p:nvPr>
            <p:ph sz="half" idx="2"/>
          </p:nvPr>
        </p:nvSpPr>
        <p:spPr>
          <a:xfrm>
            <a:off x="6172199" y="1253764"/>
            <a:ext cx="5586167" cy="50716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D28B685C-61CC-0404-2995-D328F279993B}"/>
              </a:ext>
            </a:extLst>
          </p:cNvPr>
          <p:cNvSpPr>
            <a:spLocks noGrp="1"/>
          </p:cNvSpPr>
          <p:nvPr>
            <p:ph type="dt" sz="half" idx="10"/>
          </p:nvPr>
        </p:nvSpPr>
        <p:spPr>
          <a:xfrm>
            <a:off x="433633" y="6459767"/>
            <a:ext cx="3147767" cy="261708"/>
          </a:xfrm>
          <a:prstGeom prst="rect">
            <a:avLst/>
          </a:prstGeom>
        </p:spPr>
        <p:txBody>
          <a:bodyPr/>
          <a:lstStyle/>
          <a:p>
            <a:fld id="{00FE062E-D11C-40F2-AC56-F7BFB1C87B09}" type="datetime8">
              <a:rPr lang="en-BE" smtClean="0"/>
              <a:t>10/18/2026 10:05</a:t>
            </a:fld>
            <a:endParaRPr lang="en-BE"/>
          </a:p>
        </p:txBody>
      </p:sp>
      <p:sp>
        <p:nvSpPr>
          <p:cNvPr id="6" name="Footer Placeholder 5">
            <a:extLst>
              <a:ext uri="{FF2B5EF4-FFF2-40B4-BE49-F238E27FC236}">
                <a16:creationId xmlns:a16="http://schemas.microsoft.com/office/drawing/2014/main" id="{282CBF2C-7DC6-6CDB-599F-4D2531B7EFD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8FDAF82-8FCB-417A-9568-F2F4F799F4DE}"/>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65810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CE99-BFE2-D0D6-CF3C-997712D01BF9}"/>
              </a:ext>
            </a:extLst>
          </p:cNvPr>
          <p:cNvSpPr>
            <a:spLocks noGrp="1"/>
          </p:cNvSpPr>
          <p:nvPr>
            <p:ph type="title"/>
          </p:nvPr>
        </p:nvSpPr>
        <p:spPr>
          <a:xfrm>
            <a:off x="839788" y="365125"/>
            <a:ext cx="10515600" cy="1325563"/>
          </a:xfrm>
        </p:spPr>
        <p:txBody>
          <a:bodyPr anchor="t"/>
          <a:lstStyle/>
          <a:p>
            <a:r>
              <a:rPr lang="en-GB"/>
              <a:t>Click to edit Master title style</a:t>
            </a:r>
            <a:endParaRPr lang="en-BE"/>
          </a:p>
        </p:txBody>
      </p:sp>
      <p:sp>
        <p:nvSpPr>
          <p:cNvPr id="3" name="Text Placeholder 2">
            <a:extLst>
              <a:ext uri="{FF2B5EF4-FFF2-40B4-BE49-F238E27FC236}">
                <a16:creationId xmlns:a16="http://schemas.microsoft.com/office/drawing/2014/main" id="{4C3DC899-0E87-4F3F-F936-290D33103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FEB3DB-2664-F917-CC97-C5B24E74C7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B4911868-5A70-0FE7-1E9D-68B932AE69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3FF1200-9003-F769-B17C-F8F3C04DB00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358DB5A2-AB44-8908-3FA7-91F34DAE9D2D}"/>
              </a:ext>
            </a:extLst>
          </p:cNvPr>
          <p:cNvSpPr>
            <a:spLocks noGrp="1"/>
          </p:cNvSpPr>
          <p:nvPr>
            <p:ph type="dt" sz="half" idx="10"/>
          </p:nvPr>
        </p:nvSpPr>
        <p:spPr>
          <a:xfrm>
            <a:off x="433633" y="6459767"/>
            <a:ext cx="3147767" cy="261708"/>
          </a:xfrm>
          <a:prstGeom prst="rect">
            <a:avLst/>
          </a:prstGeom>
        </p:spPr>
        <p:txBody>
          <a:bodyPr/>
          <a:lstStyle/>
          <a:p>
            <a:fld id="{591105BC-8387-468C-BB78-9993150C77E8}" type="datetime8">
              <a:rPr lang="en-BE" smtClean="0"/>
              <a:t>10/18/2026 10:05</a:t>
            </a:fld>
            <a:endParaRPr lang="en-BE"/>
          </a:p>
        </p:txBody>
      </p:sp>
      <p:sp>
        <p:nvSpPr>
          <p:cNvPr id="8" name="Footer Placeholder 7">
            <a:extLst>
              <a:ext uri="{FF2B5EF4-FFF2-40B4-BE49-F238E27FC236}">
                <a16:creationId xmlns:a16="http://schemas.microsoft.com/office/drawing/2014/main" id="{2C28D419-E8D9-CCD0-BC41-E27C3A63828E}"/>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6ECCCADE-35D4-F930-CD8D-095A3FD8E91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4238486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34C0-9FB6-1B1D-7010-75A1C0C308FB}"/>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E16E80C2-3008-6421-7948-4B8A47EE77C9}"/>
              </a:ext>
            </a:extLst>
          </p:cNvPr>
          <p:cNvSpPr>
            <a:spLocks noGrp="1"/>
          </p:cNvSpPr>
          <p:nvPr>
            <p:ph type="dt" sz="half" idx="10"/>
          </p:nvPr>
        </p:nvSpPr>
        <p:spPr>
          <a:xfrm>
            <a:off x="433633" y="6459767"/>
            <a:ext cx="3147767" cy="261708"/>
          </a:xfrm>
          <a:prstGeom prst="rect">
            <a:avLst/>
          </a:prstGeom>
        </p:spPr>
        <p:txBody>
          <a:bodyPr/>
          <a:lstStyle/>
          <a:p>
            <a:fld id="{DC970503-348D-4AD8-B0F8-FDFDAECC1101}" type="datetime8">
              <a:rPr lang="en-BE" smtClean="0"/>
              <a:t>10/18/2026 10:05</a:t>
            </a:fld>
            <a:endParaRPr lang="en-BE"/>
          </a:p>
        </p:txBody>
      </p:sp>
      <p:sp>
        <p:nvSpPr>
          <p:cNvPr id="4" name="Footer Placeholder 3">
            <a:extLst>
              <a:ext uri="{FF2B5EF4-FFF2-40B4-BE49-F238E27FC236}">
                <a16:creationId xmlns:a16="http://schemas.microsoft.com/office/drawing/2014/main" id="{D19244BD-79F0-BDCF-7553-6F8AFC2CD80D}"/>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6D591E2-2A4F-E3FB-8C9D-1B1A0288CBBA}"/>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505817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1A13D-2595-50CE-AC9F-F4BFCC2B2932}"/>
              </a:ext>
            </a:extLst>
          </p:cNvPr>
          <p:cNvSpPr>
            <a:spLocks noGrp="1"/>
          </p:cNvSpPr>
          <p:nvPr>
            <p:ph type="dt" sz="half" idx="10"/>
          </p:nvPr>
        </p:nvSpPr>
        <p:spPr>
          <a:xfrm>
            <a:off x="433633" y="6459767"/>
            <a:ext cx="3147767" cy="261708"/>
          </a:xfrm>
          <a:prstGeom prst="rect">
            <a:avLst/>
          </a:prstGeom>
        </p:spPr>
        <p:txBody>
          <a:bodyPr/>
          <a:lstStyle/>
          <a:p>
            <a:fld id="{639A8ADD-3D3E-4211-B3DA-099B5EF48C8A}" type="datetime8">
              <a:rPr lang="en-BE" smtClean="0"/>
              <a:t>10/18/2026 10:05</a:t>
            </a:fld>
            <a:endParaRPr lang="en-BE"/>
          </a:p>
        </p:txBody>
      </p:sp>
      <p:sp>
        <p:nvSpPr>
          <p:cNvPr id="3" name="Footer Placeholder 2">
            <a:extLst>
              <a:ext uri="{FF2B5EF4-FFF2-40B4-BE49-F238E27FC236}">
                <a16:creationId xmlns:a16="http://schemas.microsoft.com/office/drawing/2014/main" id="{9B8B9CF6-FC22-FD6C-4EA2-D6275E678ABE}"/>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959B6BB4-2803-7AD3-3AF5-341799AD2DD1}"/>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440939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239E-4E74-98A7-CEBB-C260A3AF4F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06537D8C-0D6B-653A-8124-5AB48D636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EDF03FBA-5D49-1949-9A18-D4BE75F28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478A04-333D-D106-6228-7FE9A0078287}"/>
              </a:ext>
            </a:extLst>
          </p:cNvPr>
          <p:cNvSpPr>
            <a:spLocks noGrp="1"/>
          </p:cNvSpPr>
          <p:nvPr>
            <p:ph type="dt" sz="half" idx="10"/>
          </p:nvPr>
        </p:nvSpPr>
        <p:spPr>
          <a:xfrm>
            <a:off x="433633" y="6459767"/>
            <a:ext cx="3147767" cy="261708"/>
          </a:xfrm>
          <a:prstGeom prst="rect">
            <a:avLst/>
          </a:prstGeom>
        </p:spPr>
        <p:txBody>
          <a:bodyPr/>
          <a:lstStyle/>
          <a:p>
            <a:fld id="{60C02A96-A3E3-4B47-8922-B223B53966F5}" type="datetime8">
              <a:rPr lang="en-BE" smtClean="0"/>
              <a:t>10/18/2026 10:05</a:t>
            </a:fld>
            <a:endParaRPr lang="en-BE"/>
          </a:p>
        </p:txBody>
      </p:sp>
      <p:sp>
        <p:nvSpPr>
          <p:cNvPr id="6" name="Footer Placeholder 5">
            <a:extLst>
              <a:ext uri="{FF2B5EF4-FFF2-40B4-BE49-F238E27FC236}">
                <a16:creationId xmlns:a16="http://schemas.microsoft.com/office/drawing/2014/main" id="{1EA43E89-05D8-2567-C96D-E29C27A729B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163B97D3-2B7D-A37C-9B19-A57DE8EE2AE5}"/>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3879138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B9AA-1A3F-3172-C9EB-F2A54AB88B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BB4BD0E5-B450-8C62-44E6-26F791BBB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BE"/>
          </a:p>
        </p:txBody>
      </p:sp>
      <p:sp>
        <p:nvSpPr>
          <p:cNvPr id="4" name="Text Placeholder 3">
            <a:extLst>
              <a:ext uri="{FF2B5EF4-FFF2-40B4-BE49-F238E27FC236}">
                <a16:creationId xmlns:a16="http://schemas.microsoft.com/office/drawing/2014/main" id="{3EE99DC3-DB93-78D2-BF5E-A068C38B9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E20E9F-FBB8-46D9-CF71-30472851C116}"/>
              </a:ext>
            </a:extLst>
          </p:cNvPr>
          <p:cNvSpPr>
            <a:spLocks noGrp="1"/>
          </p:cNvSpPr>
          <p:nvPr>
            <p:ph type="dt" sz="half" idx="10"/>
          </p:nvPr>
        </p:nvSpPr>
        <p:spPr>
          <a:xfrm>
            <a:off x="433633" y="6459767"/>
            <a:ext cx="3147767" cy="261708"/>
          </a:xfrm>
          <a:prstGeom prst="rect">
            <a:avLst/>
          </a:prstGeom>
        </p:spPr>
        <p:txBody>
          <a:bodyPr/>
          <a:lstStyle/>
          <a:p>
            <a:fld id="{2798CD17-957B-4F15-80AA-6FA3D7FBF0A7}" type="datetime8">
              <a:rPr lang="en-BE" smtClean="0"/>
              <a:t>10/18/2026 10:05</a:t>
            </a:fld>
            <a:endParaRPr lang="en-BE"/>
          </a:p>
        </p:txBody>
      </p:sp>
      <p:sp>
        <p:nvSpPr>
          <p:cNvPr id="6" name="Footer Placeholder 5">
            <a:extLst>
              <a:ext uri="{FF2B5EF4-FFF2-40B4-BE49-F238E27FC236}">
                <a16:creationId xmlns:a16="http://schemas.microsoft.com/office/drawing/2014/main" id="{A225BC26-F783-F721-E9E5-33FFCF66C90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540B8E3-98A5-2761-9D49-F0B67C33B10D}"/>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37359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4E1E-063B-AA21-912A-F83B72036528}"/>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54D790A-2FB7-C21C-DAC0-C803D405C1F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8AB05FD-34AF-3E35-8E94-C1712F94A67C}"/>
              </a:ext>
            </a:extLst>
          </p:cNvPr>
          <p:cNvSpPr>
            <a:spLocks noGrp="1"/>
          </p:cNvSpPr>
          <p:nvPr>
            <p:ph type="dt" sz="half" idx="10"/>
          </p:nvPr>
        </p:nvSpPr>
        <p:spPr>
          <a:xfrm>
            <a:off x="433633" y="6459767"/>
            <a:ext cx="3147767" cy="261708"/>
          </a:xfrm>
          <a:prstGeom prst="rect">
            <a:avLst/>
          </a:prstGeom>
        </p:spPr>
        <p:txBody>
          <a:bodyPr/>
          <a:lstStyle/>
          <a:p>
            <a:fld id="{18296E6A-B81C-42D4-B054-2E03431A5F8F}" type="datetime8">
              <a:rPr lang="en-BE" smtClean="0"/>
              <a:t>10/18/2026 10:05</a:t>
            </a:fld>
            <a:endParaRPr lang="en-BE"/>
          </a:p>
        </p:txBody>
      </p:sp>
      <p:sp>
        <p:nvSpPr>
          <p:cNvPr id="5" name="Footer Placeholder 4">
            <a:extLst>
              <a:ext uri="{FF2B5EF4-FFF2-40B4-BE49-F238E27FC236}">
                <a16:creationId xmlns:a16="http://schemas.microsoft.com/office/drawing/2014/main" id="{2877C186-A6B0-2478-EAEE-BD1E9840B0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E113B3B-9579-E887-FA90-DE28987E5A53}"/>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2837954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020E95-7106-9B01-984D-25E5931682F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7D19EB7B-37B5-0E28-DFA5-89543600AC1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683CE053-5459-F91F-5969-D9B1B088B1B4}"/>
              </a:ext>
            </a:extLst>
          </p:cNvPr>
          <p:cNvSpPr>
            <a:spLocks noGrp="1"/>
          </p:cNvSpPr>
          <p:nvPr>
            <p:ph type="dt" sz="half" idx="10"/>
          </p:nvPr>
        </p:nvSpPr>
        <p:spPr>
          <a:xfrm>
            <a:off x="433633" y="6459767"/>
            <a:ext cx="3147767" cy="261708"/>
          </a:xfrm>
          <a:prstGeom prst="rect">
            <a:avLst/>
          </a:prstGeom>
        </p:spPr>
        <p:txBody>
          <a:bodyPr/>
          <a:lstStyle/>
          <a:p>
            <a:fld id="{E7202CB3-5427-4BA6-99B6-A5EA4F4F0019}" type="datetime8">
              <a:rPr lang="en-BE" smtClean="0"/>
              <a:t>10/18/2026 10:05</a:t>
            </a:fld>
            <a:endParaRPr lang="en-BE"/>
          </a:p>
        </p:txBody>
      </p:sp>
      <p:sp>
        <p:nvSpPr>
          <p:cNvPr id="5" name="Footer Placeholder 4">
            <a:extLst>
              <a:ext uri="{FF2B5EF4-FFF2-40B4-BE49-F238E27FC236}">
                <a16:creationId xmlns:a16="http://schemas.microsoft.com/office/drawing/2014/main" id="{16DE4691-D5D8-3528-889E-CB34E4306F8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2727E4E-9593-1FBC-3FF8-D6FA9E0327D6}"/>
              </a:ext>
            </a:extLst>
          </p:cNvPr>
          <p:cNvSpPr>
            <a:spLocks noGrp="1"/>
          </p:cNvSpPr>
          <p:nvPr>
            <p:ph type="sldNum" sz="quarter" idx="12"/>
          </p:nvPr>
        </p:nvSpPr>
        <p:spPr/>
        <p:txBody>
          <a:bodyPr/>
          <a:lstStyle/>
          <a:p>
            <a:fld id="{94B3E216-A3C5-4E41-AE94-D003E76F1D3A}" type="slidenum">
              <a:rPr lang="en-BE" smtClean="0"/>
              <a:t>‹#›</a:t>
            </a:fld>
            <a:endParaRPr lang="en-BE"/>
          </a:p>
        </p:txBody>
      </p:sp>
    </p:spTree>
    <p:extLst>
      <p:ext uri="{BB962C8B-B14F-4D97-AF65-F5344CB8AC3E}">
        <p14:creationId xmlns:p14="http://schemas.microsoft.com/office/powerpoint/2010/main" val="1046800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CD792-7D3D-83C5-606E-EE2B07A316E5}"/>
              </a:ext>
            </a:extLst>
          </p:cNvPr>
          <p:cNvSpPr>
            <a:spLocks noGrp="1"/>
          </p:cNvSpPr>
          <p:nvPr>
            <p:ph type="title"/>
          </p:nvPr>
        </p:nvSpPr>
        <p:spPr/>
        <p:txBody>
          <a:bodyPr vert="horz" lIns="0" tIns="0" rIns="0" bIns="0" rtlCol="0" anchor="t">
            <a:noAutofit/>
          </a:bodyPr>
          <a:lstStyle>
            <a:lvl1pPr>
              <a:defRPr lang="en-BE"/>
            </a:lvl1pPr>
          </a:lstStyle>
          <a:p>
            <a:pPr lvl="0"/>
            <a:r>
              <a:rPr lang="en-GB"/>
              <a:t>Click to edit Master title style</a:t>
            </a:r>
            <a:endParaRPr lang="en-BE"/>
          </a:p>
        </p:txBody>
      </p:sp>
      <p:sp>
        <p:nvSpPr>
          <p:cNvPr id="3" name="Content Placeholder 2">
            <a:extLst>
              <a:ext uri="{FF2B5EF4-FFF2-40B4-BE49-F238E27FC236}">
                <a16:creationId xmlns:a16="http://schemas.microsoft.com/office/drawing/2014/main" id="{BE8BEEF3-E6B4-333F-98A9-C13B32EDD254}"/>
              </a:ext>
            </a:extLst>
          </p:cNvPr>
          <p:cNvSpPr>
            <a:spLocks noGrp="1"/>
          </p:cNvSpPr>
          <p:nvPr>
            <p:ph idx="1"/>
          </p:nvPr>
        </p:nvSpPr>
        <p:spPr>
          <a:xfrm>
            <a:off x="407990" y="1944914"/>
            <a:ext cx="5455782" cy="4389898"/>
          </a:xfrm>
        </p:spPr>
        <p:txBody>
          <a:bodyPr/>
          <a:lstStyle>
            <a:lvl1pPr>
              <a:defRPr lang="en-GB"/>
            </a:lvl1pPr>
            <a:lvl2pPr>
              <a:defRPr lang="en-GB"/>
            </a:lvl2pPr>
            <a:lvl3pPr>
              <a:defRPr lang="en-GB"/>
            </a:lvl3pPr>
            <a:lvl4pPr>
              <a:defRPr lang="en-GB"/>
            </a:lvl4pPr>
            <a:lvl5pPr>
              <a:defRPr lang="en-BE"/>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5" name="Footer Placeholder 4">
            <a:extLst>
              <a:ext uri="{FF2B5EF4-FFF2-40B4-BE49-F238E27FC236}">
                <a16:creationId xmlns:a16="http://schemas.microsoft.com/office/drawing/2014/main" id="{D49552F3-5810-93F0-E468-78FD4AFC14F2}"/>
              </a:ext>
            </a:extLst>
          </p:cNvPr>
          <p:cNvSpPr>
            <a:spLocks noGrp="1"/>
          </p:cNvSpPr>
          <p:nvPr>
            <p:ph type="ftr" sz="quarter" idx="11"/>
          </p:nvPr>
        </p:nvSpPr>
        <p:spPr/>
        <p:txBody>
          <a:bodyPr vert="horz" lIns="0" tIns="0" rIns="0" bIns="0" rtlCol="0" anchor="ctr"/>
          <a:lstStyle>
            <a:lvl1pPr>
              <a:defRPr lang="en-US"/>
            </a:lvl1pPr>
          </a:lstStyle>
          <a:p>
            <a:endParaRPr lang="en-US"/>
          </a:p>
        </p:txBody>
      </p:sp>
      <p:sp>
        <p:nvSpPr>
          <p:cNvPr id="6" name="Slide Number Placeholder 5">
            <a:extLst>
              <a:ext uri="{FF2B5EF4-FFF2-40B4-BE49-F238E27FC236}">
                <a16:creationId xmlns:a16="http://schemas.microsoft.com/office/drawing/2014/main" id="{14F9C0B1-D794-36E8-AB68-2ACF514DDCD6}"/>
              </a:ext>
            </a:extLst>
          </p:cNvPr>
          <p:cNvSpPr>
            <a:spLocks noGrp="1"/>
          </p:cNvSpPr>
          <p:nvPr>
            <p:ph type="sldNum" sz="quarter" idx="12"/>
          </p:nvPr>
        </p:nvSpPr>
        <p:spPr/>
        <p:txBody>
          <a:bodyPr/>
          <a:lstStyle>
            <a:lvl1pPr>
              <a:defRPr lang="en-BE" smtClean="0"/>
            </a:lvl1pPr>
          </a:lstStyle>
          <a:p>
            <a:fld id="{94B3E216-A3C5-4E41-AE94-D003E76F1D3A}" type="slidenum">
              <a:rPr lang="en-US" smtClean="0"/>
              <a:pPr/>
              <a:t>‹#›</a:t>
            </a:fld>
            <a:endParaRPr lang="en-US"/>
          </a:p>
        </p:txBody>
      </p:sp>
      <p:sp>
        <p:nvSpPr>
          <p:cNvPr id="4" name="Content Placeholder 2">
            <a:extLst>
              <a:ext uri="{FF2B5EF4-FFF2-40B4-BE49-F238E27FC236}">
                <a16:creationId xmlns:a16="http://schemas.microsoft.com/office/drawing/2014/main" id="{BE3AEF0D-3DA2-B521-F79F-4AD4ACDDDBA5}"/>
              </a:ext>
            </a:extLst>
          </p:cNvPr>
          <p:cNvSpPr>
            <a:spLocks noGrp="1"/>
          </p:cNvSpPr>
          <p:nvPr>
            <p:ph idx="13"/>
          </p:nvPr>
        </p:nvSpPr>
        <p:spPr>
          <a:xfrm>
            <a:off x="6293306" y="1944914"/>
            <a:ext cx="5455782" cy="4389898"/>
          </a:xfrm>
        </p:spPr>
        <p:txBody>
          <a:bodyPr/>
          <a:lstStyle>
            <a:lvl1pPr>
              <a:defRPr lang="en-GB"/>
            </a:lvl1pPr>
            <a:lvl2pPr>
              <a:defRPr lang="en-GB"/>
            </a:lvl2pPr>
            <a:lvl3pPr>
              <a:defRPr lang="en-GB"/>
            </a:lvl3pPr>
            <a:lvl4pPr>
              <a:defRPr lang="en-GB"/>
            </a:lvl4pPr>
            <a:lvl5pPr>
              <a:defRPr lang="en-BE"/>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7" name="Content Placeholder 2">
            <a:extLst>
              <a:ext uri="{FF2B5EF4-FFF2-40B4-BE49-F238E27FC236}">
                <a16:creationId xmlns:a16="http://schemas.microsoft.com/office/drawing/2014/main" id="{23F31954-261C-F891-663F-1ED4DA1ADB2A}"/>
              </a:ext>
            </a:extLst>
          </p:cNvPr>
          <p:cNvSpPr>
            <a:spLocks noGrp="1"/>
          </p:cNvSpPr>
          <p:nvPr>
            <p:ph idx="14"/>
          </p:nvPr>
        </p:nvSpPr>
        <p:spPr>
          <a:xfrm>
            <a:off x="407988" y="1306286"/>
            <a:ext cx="5455782" cy="341085"/>
          </a:xfrm>
        </p:spPr>
        <p:txBody>
          <a:bodyPr/>
          <a:lstStyle>
            <a:lvl1pPr algn="ctr">
              <a:buNone/>
              <a:defRPr lang="en-GB"/>
            </a:lvl1pPr>
            <a:lvl2pPr>
              <a:defRPr lang="en-GB"/>
            </a:lvl2pPr>
            <a:lvl3pPr>
              <a:defRPr lang="en-GB"/>
            </a:lvl3pPr>
            <a:lvl4pPr>
              <a:defRPr lang="en-GB"/>
            </a:lvl4pPr>
            <a:lvl5pPr>
              <a:defRPr lang="en-BE"/>
            </a:lvl5pPr>
          </a:lstStyle>
          <a:p>
            <a:pPr lvl="0"/>
            <a:endParaRPr lang="en-BE" dirty="0"/>
          </a:p>
        </p:txBody>
      </p:sp>
      <p:sp>
        <p:nvSpPr>
          <p:cNvPr id="8" name="Content Placeholder 2">
            <a:extLst>
              <a:ext uri="{FF2B5EF4-FFF2-40B4-BE49-F238E27FC236}">
                <a16:creationId xmlns:a16="http://schemas.microsoft.com/office/drawing/2014/main" id="{565521F8-0F96-9233-538C-782069049C83}"/>
              </a:ext>
            </a:extLst>
          </p:cNvPr>
          <p:cNvSpPr>
            <a:spLocks noGrp="1"/>
          </p:cNvSpPr>
          <p:nvPr>
            <p:ph idx="15"/>
          </p:nvPr>
        </p:nvSpPr>
        <p:spPr>
          <a:xfrm>
            <a:off x="6293306" y="1306286"/>
            <a:ext cx="5455782" cy="341085"/>
          </a:xfrm>
        </p:spPr>
        <p:txBody>
          <a:bodyPr/>
          <a:lstStyle>
            <a:lvl1pPr algn="ctr">
              <a:buNone/>
              <a:defRPr lang="en-GB"/>
            </a:lvl1pPr>
            <a:lvl2pPr>
              <a:defRPr lang="en-GB"/>
            </a:lvl2pPr>
            <a:lvl3pPr>
              <a:defRPr lang="en-GB"/>
            </a:lvl3pPr>
            <a:lvl4pPr>
              <a:defRPr lang="en-GB"/>
            </a:lvl4pPr>
            <a:lvl5pPr>
              <a:defRPr lang="en-BE"/>
            </a:lvl5pPr>
          </a:lstStyle>
          <a:p>
            <a:pPr lvl="0"/>
            <a:endParaRPr lang="en-BE" dirty="0"/>
          </a:p>
        </p:txBody>
      </p:sp>
    </p:spTree>
    <p:extLst>
      <p:ext uri="{BB962C8B-B14F-4D97-AF65-F5344CB8AC3E}">
        <p14:creationId xmlns:p14="http://schemas.microsoft.com/office/powerpoint/2010/main" val="33600657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B2D071-8136-59B1-D0A6-46F0A037C97D}"/>
              </a:ext>
            </a:extLst>
          </p:cNvPr>
          <p:cNvSpPr>
            <a:spLocks noGrp="1"/>
          </p:cNvSpPr>
          <p:nvPr>
            <p:ph type="title"/>
          </p:nvPr>
        </p:nvSpPr>
        <p:spPr>
          <a:xfrm>
            <a:off x="433633" y="365125"/>
            <a:ext cx="11324734" cy="418128"/>
          </a:xfrm>
          <a:prstGeom prst="rect">
            <a:avLst/>
          </a:prstGeom>
        </p:spPr>
        <p:txBody>
          <a:bodyPr vert="horz" lIns="0" tIns="0" rIns="0" bIns="0" rtlCol="0" anchor="t">
            <a:sp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124FF3CE-AB41-3DBA-F1EE-46716E1D2C02}"/>
              </a:ext>
            </a:extLst>
          </p:cNvPr>
          <p:cNvSpPr>
            <a:spLocks noGrp="1"/>
          </p:cNvSpPr>
          <p:nvPr>
            <p:ph type="body" idx="1"/>
          </p:nvPr>
        </p:nvSpPr>
        <p:spPr>
          <a:xfrm>
            <a:off x="433633" y="1225485"/>
            <a:ext cx="11324734" cy="510932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Footer Placeholder 4">
            <a:extLst>
              <a:ext uri="{FF2B5EF4-FFF2-40B4-BE49-F238E27FC236}">
                <a16:creationId xmlns:a16="http://schemas.microsoft.com/office/drawing/2014/main" id="{3DF3ED21-04A5-C9AD-0745-6D1BF969C464}"/>
              </a:ext>
            </a:extLst>
          </p:cNvPr>
          <p:cNvSpPr>
            <a:spLocks noGrp="1"/>
          </p:cNvSpPr>
          <p:nvPr>
            <p:ph type="ftr" sz="quarter" idx="3"/>
          </p:nvPr>
        </p:nvSpPr>
        <p:spPr>
          <a:xfrm>
            <a:off x="433633" y="6459767"/>
            <a:ext cx="10138411" cy="261708"/>
          </a:xfrm>
          <a:prstGeom prst="rect">
            <a:avLst/>
          </a:prstGeom>
        </p:spPr>
        <p:txBody>
          <a:bodyPr vert="horz" lIns="0" tIns="0" rIns="0" bIns="0" rtlCol="0" anchor="ctr"/>
          <a:lstStyle>
            <a:lvl1pPr algn="l">
              <a:defRPr sz="1050">
                <a:solidFill>
                  <a:schemeClr val="tx1">
                    <a:tint val="82000"/>
                  </a:schemeClr>
                </a:solidFill>
                <a:latin typeface="+mj-lt"/>
              </a:defRPr>
            </a:lvl1pPr>
          </a:lstStyle>
          <a:p>
            <a:endParaRPr lang="en-BE"/>
          </a:p>
        </p:txBody>
      </p:sp>
      <p:sp>
        <p:nvSpPr>
          <p:cNvPr id="6" name="Slide Number Placeholder 5">
            <a:extLst>
              <a:ext uri="{FF2B5EF4-FFF2-40B4-BE49-F238E27FC236}">
                <a16:creationId xmlns:a16="http://schemas.microsoft.com/office/drawing/2014/main" id="{EEE7EA51-DEF7-1B95-07B8-026BDF39496F}"/>
              </a:ext>
            </a:extLst>
          </p:cNvPr>
          <p:cNvSpPr>
            <a:spLocks noGrp="1"/>
          </p:cNvSpPr>
          <p:nvPr>
            <p:ph type="sldNum" sz="quarter" idx="4"/>
          </p:nvPr>
        </p:nvSpPr>
        <p:spPr>
          <a:xfrm>
            <a:off x="10684933" y="6459767"/>
            <a:ext cx="1073434" cy="261708"/>
          </a:xfrm>
          <a:prstGeom prst="rect">
            <a:avLst/>
          </a:prstGeom>
        </p:spPr>
        <p:txBody>
          <a:bodyPr vert="horz" lIns="0" tIns="0" rIns="0" bIns="0" rtlCol="0" anchor="ctr"/>
          <a:lstStyle>
            <a:lvl1pPr algn="r">
              <a:defRPr sz="1050">
                <a:solidFill>
                  <a:schemeClr val="tx1">
                    <a:tint val="82000"/>
                  </a:schemeClr>
                </a:solidFill>
                <a:latin typeface="+mj-lt"/>
              </a:defRPr>
            </a:lvl1pPr>
          </a:lstStyle>
          <a:p>
            <a:fld id="{94B3E216-A3C5-4E41-AE94-D003E76F1D3A}" type="slidenum">
              <a:rPr lang="en-BE" smtClean="0"/>
              <a:pPr/>
              <a:t>‹#›</a:t>
            </a:fld>
            <a:endParaRPr lang="en-BE"/>
          </a:p>
        </p:txBody>
      </p:sp>
    </p:spTree>
    <p:extLst>
      <p:ext uri="{BB962C8B-B14F-4D97-AF65-F5344CB8AC3E}">
        <p14:creationId xmlns:p14="http://schemas.microsoft.com/office/powerpoint/2010/main" val="24717835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000" kern="1200">
          <a:solidFill>
            <a:schemeClr val="tx1"/>
          </a:solidFill>
          <a:latin typeface="Aptos Semi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doi.org/10.1038/nature21056" TargetMode="Externa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doi.org/10.1038/s41586-023-06139-9"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BE33E-36C3-5249-5BC5-06BBBA5C493D}"/>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879F84DC-0EC2-F740-E95F-22B0C821AB6B}"/>
              </a:ext>
            </a:extLst>
          </p:cNvPr>
          <p:cNvPicPr>
            <a:picLocks noChangeAspect="1"/>
          </p:cNvPicPr>
          <p:nvPr>
            <p:custDataLst>
              <p:tags r:id="rId1"/>
            </p:custDataLst>
          </p:nvPr>
        </p:nvPicPr>
        <p:blipFill>
          <a:blip r:embed="rId4"/>
          <a:stretch>
            <a:fillRect/>
          </a:stretch>
        </p:blipFill>
        <p:spPr>
          <a:xfrm>
            <a:off x="838200" y="1847242"/>
            <a:ext cx="10515618" cy="4352552"/>
          </a:xfrm>
          <a:prstGeom prst="rect">
            <a:avLst/>
          </a:prstGeom>
        </p:spPr>
      </p:pic>
      <p:sp>
        <p:nvSpPr>
          <p:cNvPr id="2" name="Title 1">
            <a:extLst>
              <a:ext uri="{FF2B5EF4-FFF2-40B4-BE49-F238E27FC236}">
                <a16:creationId xmlns:a16="http://schemas.microsoft.com/office/drawing/2014/main" id="{77E99897-7D3C-38C7-8198-15248F96D70C}"/>
              </a:ext>
            </a:extLst>
          </p:cNvPr>
          <p:cNvSpPr>
            <a:spLocks noGrp="1"/>
          </p:cNvSpPr>
          <p:nvPr>
            <p:ph type="title"/>
          </p:nvPr>
        </p:nvSpPr>
        <p:spPr/>
        <p:txBody>
          <a:bodyPr/>
          <a:lstStyle/>
          <a:p>
            <a:r>
              <a:rPr lang="en-US" noProof="0" dirty="0"/>
              <a:t>It is easier to learn patterns if you know the language</a:t>
            </a:r>
          </a:p>
        </p:txBody>
      </p:sp>
      <p:sp>
        <p:nvSpPr>
          <p:cNvPr id="4" name="Slide Number Placeholder 3">
            <a:extLst>
              <a:ext uri="{FF2B5EF4-FFF2-40B4-BE49-F238E27FC236}">
                <a16:creationId xmlns:a16="http://schemas.microsoft.com/office/drawing/2014/main" id="{C29EA471-AF75-46A7-0C17-3EF639222F03}"/>
              </a:ext>
            </a:extLst>
          </p:cNvPr>
          <p:cNvSpPr>
            <a:spLocks noGrp="1"/>
          </p:cNvSpPr>
          <p:nvPr>
            <p:ph type="sldNum" sz="quarter" idx="12"/>
          </p:nvPr>
        </p:nvSpPr>
        <p:spPr/>
        <p:txBody>
          <a:bodyPr/>
          <a:lstStyle/>
          <a:p>
            <a:fld id="{B1E3F558-74D7-4DE7-865B-0F3399673619}" type="slidenum">
              <a:rPr lang="en-US" noProof="0" smtClean="0"/>
              <a:pPr/>
              <a:t>1</a:t>
            </a:fld>
            <a:endParaRPr lang="en-US" noProof="0" dirty="0"/>
          </a:p>
        </p:txBody>
      </p:sp>
      <p:sp>
        <p:nvSpPr>
          <p:cNvPr id="10" name="TextBox 9">
            <a:extLst>
              <a:ext uri="{FF2B5EF4-FFF2-40B4-BE49-F238E27FC236}">
                <a16:creationId xmlns:a16="http://schemas.microsoft.com/office/drawing/2014/main" id="{AA569789-EB69-EB59-F034-78164B8F748C}"/>
              </a:ext>
            </a:extLst>
          </p:cNvPr>
          <p:cNvSpPr txBox="1"/>
          <p:nvPr/>
        </p:nvSpPr>
        <p:spPr>
          <a:xfrm>
            <a:off x="7140573" y="2533650"/>
            <a:ext cx="2520000" cy="369332"/>
          </a:xfrm>
          <a:prstGeom prst="rect">
            <a:avLst/>
          </a:prstGeom>
          <a:noFill/>
        </p:spPr>
        <p:txBody>
          <a:bodyPr wrap="square" rtlCol="0">
            <a:spAutoFit/>
          </a:bodyPr>
          <a:lstStyle/>
          <a:p>
            <a:r>
              <a:rPr lang="en-US" noProof="0" dirty="0" err="1"/>
              <a:t>sella</a:t>
            </a:r>
            <a:r>
              <a:rPr lang="en-US" noProof="0" dirty="0"/>
              <a:t> turcica</a:t>
            </a:r>
          </a:p>
        </p:txBody>
      </p:sp>
      <p:sp>
        <p:nvSpPr>
          <p:cNvPr id="11" name="TextBox 10">
            <a:extLst>
              <a:ext uri="{FF2B5EF4-FFF2-40B4-BE49-F238E27FC236}">
                <a16:creationId xmlns:a16="http://schemas.microsoft.com/office/drawing/2014/main" id="{9BD2D8EF-BD4E-3B98-F3B5-2606F0E5EC47}"/>
              </a:ext>
            </a:extLst>
          </p:cNvPr>
          <p:cNvSpPr txBox="1"/>
          <p:nvPr/>
        </p:nvSpPr>
        <p:spPr>
          <a:xfrm>
            <a:off x="7140573" y="3202053"/>
            <a:ext cx="2520000" cy="369332"/>
          </a:xfrm>
          <a:prstGeom prst="rect">
            <a:avLst/>
          </a:prstGeom>
          <a:noFill/>
        </p:spPr>
        <p:txBody>
          <a:bodyPr wrap="square" rtlCol="0">
            <a:spAutoFit/>
          </a:bodyPr>
          <a:lstStyle/>
          <a:p>
            <a:r>
              <a:rPr lang="en-US" noProof="0" dirty="0"/>
              <a:t>foramen </a:t>
            </a:r>
            <a:r>
              <a:rPr lang="en-US" noProof="0" dirty="0" err="1"/>
              <a:t>ovale</a:t>
            </a:r>
            <a:endParaRPr lang="en-US" noProof="0" dirty="0"/>
          </a:p>
        </p:txBody>
      </p:sp>
      <p:sp>
        <p:nvSpPr>
          <p:cNvPr id="12" name="TextBox 11">
            <a:extLst>
              <a:ext uri="{FF2B5EF4-FFF2-40B4-BE49-F238E27FC236}">
                <a16:creationId xmlns:a16="http://schemas.microsoft.com/office/drawing/2014/main" id="{A26A1AE9-ABF1-80E8-7FD0-D60A7AAC5AB1}"/>
              </a:ext>
            </a:extLst>
          </p:cNvPr>
          <p:cNvSpPr txBox="1"/>
          <p:nvPr/>
        </p:nvSpPr>
        <p:spPr>
          <a:xfrm>
            <a:off x="7140573" y="3851406"/>
            <a:ext cx="2520000" cy="369332"/>
          </a:xfrm>
          <a:prstGeom prst="rect">
            <a:avLst/>
          </a:prstGeom>
          <a:noFill/>
        </p:spPr>
        <p:txBody>
          <a:bodyPr wrap="square" rtlCol="0">
            <a:spAutoFit/>
          </a:bodyPr>
          <a:lstStyle/>
          <a:p>
            <a:r>
              <a:rPr lang="en-US" noProof="0" dirty="0"/>
              <a:t>foramen spinosum</a:t>
            </a:r>
          </a:p>
        </p:txBody>
      </p:sp>
      <p:sp>
        <p:nvSpPr>
          <p:cNvPr id="13" name="TextBox 12">
            <a:extLst>
              <a:ext uri="{FF2B5EF4-FFF2-40B4-BE49-F238E27FC236}">
                <a16:creationId xmlns:a16="http://schemas.microsoft.com/office/drawing/2014/main" id="{E5CB9904-4B24-C571-914D-70FBD5C8E4ED}"/>
              </a:ext>
            </a:extLst>
          </p:cNvPr>
          <p:cNvSpPr txBox="1"/>
          <p:nvPr/>
        </p:nvSpPr>
        <p:spPr>
          <a:xfrm>
            <a:off x="7140573" y="4538859"/>
            <a:ext cx="2520000" cy="369332"/>
          </a:xfrm>
          <a:prstGeom prst="rect">
            <a:avLst/>
          </a:prstGeom>
          <a:noFill/>
        </p:spPr>
        <p:txBody>
          <a:bodyPr wrap="square" rtlCol="0">
            <a:spAutoFit/>
          </a:bodyPr>
          <a:lstStyle/>
          <a:p>
            <a:r>
              <a:rPr lang="en-US" noProof="0" dirty="0"/>
              <a:t>foramen jugularis</a:t>
            </a:r>
          </a:p>
        </p:txBody>
      </p:sp>
      <p:sp>
        <p:nvSpPr>
          <p:cNvPr id="14" name="TextBox 13">
            <a:extLst>
              <a:ext uri="{FF2B5EF4-FFF2-40B4-BE49-F238E27FC236}">
                <a16:creationId xmlns:a16="http://schemas.microsoft.com/office/drawing/2014/main" id="{6971735A-194D-227D-2E75-5DEA1EFF144A}"/>
              </a:ext>
            </a:extLst>
          </p:cNvPr>
          <p:cNvSpPr txBox="1"/>
          <p:nvPr/>
        </p:nvSpPr>
        <p:spPr>
          <a:xfrm>
            <a:off x="7140573" y="5184661"/>
            <a:ext cx="2520000" cy="369332"/>
          </a:xfrm>
          <a:prstGeom prst="rect">
            <a:avLst/>
          </a:prstGeom>
          <a:noFill/>
        </p:spPr>
        <p:txBody>
          <a:bodyPr wrap="square" rtlCol="0">
            <a:spAutoFit/>
          </a:bodyPr>
          <a:lstStyle/>
          <a:p>
            <a:r>
              <a:rPr lang="en-US" noProof="0" dirty="0"/>
              <a:t>foramen magnum</a:t>
            </a:r>
          </a:p>
        </p:txBody>
      </p:sp>
      <p:sp>
        <p:nvSpPr>
          <p:cNvPr id="17" name="TextBox 16">
            <a:extLst>
              <a:ext uri="{FF2B5EF4-FFF2-40B4-BE49-F238E27FC236}">
                <a16:creationId xmlns:a16="http://schemas.microsoft.com/office/drawing/2014/main" id="{17FF070C-39D1-98F6-76B3-8228EB8724FB}"/>
              </a:ext>
            </a:extLst>
          </p:cNvPr>
          <p:cNvSpPr txBox="1"/>
          <p:nvPr/>
        </p:nvSpPr>
        <p:spPr>
          <a:xfrm>
            <a:off x="7140575" y="2762692"/>
            <a:ext cx="2520000" cy="369332"/>
          </a:xfrm>
          <a:prstGeom prst="rect">
            <a:avLst/>
          </a:prstGeom>
          <a:noFill/>
        </p:spPr>
        <p:txBody>
          <a:bodyPr wrap="square" rtlCol="0">
            <a:spAutoFit/>
          </a:bodyPr>
          <a:lstStyle/>
          <a:p>
            <a:r>
              <a:rPr lang="en-US" i="1" noProof="0" dirty="0"/>
              <a:t>Turkish saddle</a:t>
            </a:r>
          </a:p>
        </p:txBody>
      </p:sp>
      <p:sp>
        <p:nvSpPr>
          <p:cNvPr id="18" name="TextBox 17">
            <a:extLst>
              <a:ext uri="{FF2B5EF4-FFF2-40B4-BE49-F238E27FC236}">
                <a16:creationId xmlns:a16="http://schemas.microsoft.com/office/drawing/2014/main" id="{A648EC7D-E32A-5664-8FA4-992EF2753058}"/>
              </a:ext>
            </a:extLst>
          </p:cNvPr>
          <p:cNvSpPr txBox="1"/>
          <p:nvPr/>
        </p:nvSpPr>
        <p:spPr>
          <a:xfrm>
            <a:off x="7140575" y="3431095"/>
            <a:ext cx="2520000" cy="369332"/>
          </a:xfrm>
          <a:prstGeom prst="rect">
            <a:avLst/>
          </a:prstGeom>
          <a:noFill/>
        </p:spPr>
        <p:txBody>
          <a:bodyPr wrap="square" rtlCol="0">
            <a:spAutoFit/>
          </a:bodyPr>
          <a:lstStyle/>
          <a:p>
            <a:r>
              <a:rPr lang="en-US" i="1" noProof="0" dirty="0"/>
              <a:t>oval hole</a:t>
            </a:r>
          </a:p>
        </p:txBody>
      </p:sp>
      <p:sp>
        <p:nvSpPr>
          <p:cNvPr id="19" name="TextBox 18">
            <a:extLst>
              <a:ext uri="{FF2B5EF4-FFF2-40B4-BE49-F238E27FC236}">
                <a16:creationId xmlns:a16="http://schemas.microsoft.com/office/drawing/2014/main" id="{2181B1FB-0F34-A0FE-8A58-34921D4FF37E}"/>
              </a:ext>
            </a:extLst>
          </p:cNvPr>
          <p:cNvSpPr txBox="1"/>
          <p:nvPr/>
        </p:nvSpPr>
        <p:spPr>
          <a:xfrm>
            <a:off x="7140575" y="4080448"/>
            <a:ext cx="2520000" cy="369332"/>
          </a:xfrm>
          <a:prstGeom prst="rect">
            <a:avLst/>
          </a:prstGeom>
          <a:noFill/>
        </p:spPr>
        <p:txBody>
          <a:bodyPr wrap="square" rtlCol="0">
            <a:spAutoFit/>
          </a:bodyPr>
          <a:lstStyle/>
          <a:p>
            <a:r>
              <a:rPr lang="en-US" i="1" noProof="0" dirty="0"/>
              <a:t>spiny hole</a:t>
            </a:r>
          </a:p>
        </p:txBody>
      </p:sp>
      <p:sp>
        <p:nvSpPr>
          <p:cNvPr id="20" name="TextBox 19">
            <a:extLst>
              <a:ext uri="{FF2B5EF4-FFF2-40B4-BE49-F238E27FC236}">
                <a16:creationId xmlns:a16="http://schemas.microsoft.com/office/drawing/2014/main" id="{486058BE-0333-7495-BC7C-EB1D33BAFF92}"/>
              </a:ext>
            </a:extLst>
          </p:cNvPr>
          <p:cNvSpPr txBox="1"/>
          <p:nvPr/>
        </p:nvSpPr>
        <p:spPr>
          <a:xfrm>
            <a:off x="7140575" y="4767901"/>
            <a:ext cx="2520000" cy="369332"/>
          </a:xfrm>
          <a:prstGeom prst="rect">
            <a:avLst/>
          </a:prstGeom>
          <a:noFill/>
        </p:spPr>
        <p:txBody>
          <a:bodyPr wrap="square" rtlCol="0">
            <a:spAutoFit/>
          </a:bodyPr>
          <a:lstStyle/>
          <a:p>
            <a:r>
              <a:rPr lang="en-US" i="1" noProof="0" dirty="0"/>
              <a:t>neck hole</a:t>
            </a:r>
          </a:p>
        </p:txBody>
      </p:sp>
      <p:sp>
        <p:nvSpPr>
          <p:cNvPr id="21" name="TextBox 20">
            <a:extLst>
              <a:ext uri="{FF2B5EF4-FFF2-40B4-BE49-F238E27FC236}">
                <a16:creationId xmlns:a16="http://schemas.microsoft.com/office/drawing/2014/main" id="{0E84E93F-8219-C9E9-0D02-6137CDA90B00}"/>
              </a:ext>
            </a:extLst>
          </p:cNvPr>
          <p:cNvSpPr txBox="1"/>
          <p:nvPr/>
        </p:nvSpPr>
        <p:spPr>
          <a:xfrm>
            <a:off x="7140575" y="5413703"/>
            <a:ext cx="2520000" cy="369332"/>
          </a:xfrm>
          <a:prstGeom prst="rect">
            <a:avLst/>
          </a:prstGeom>
          <a:noFill/>
        </p:spPr>
        <p:txBody>
          <a:bodyPr wrap="square" rtlCol="0">
            <a:spAutoFit/>
          </a:bodyPr>
          <a:lstStyle/>
          <a:p>
            <a:r>
              <a:rPr lang="en-US" i="1" noProof="0" dirty="0"/>
              <a:t>big hole</a:t>
            </a:r>
          </a:p>
        </p:txBody>
      </p:sp>
    </p:spTree>
    <p:extLst>
      <p:ext uri="{BB962C8B-B14F-4D97-AF65-F5344CB8AC3E}">
        <p14:creationId xmlns:p14="http://schemas.microsoft.com/office/powerpoint/2010/main" val="237312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7" grpId="0"/>
      <p:bldP spid="18" grpId="0"/>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AC483-4F13-4A27-6CED-51C99362A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3FEB0-8FEC-CAAA-6A27-BC5C5B57EE9F}"/>
              </a:ext>
            </a:extLst>
          </p:cNvPr>
          <p:cNvSpPr>
            <a:spLocks noGrp="1"/>
          </p:cNvSpPr>
          <p:nvPr>
            <p:ph type="title"/>
          </p:nvPr>
        </p:nvSpPr>
        <p:spPr/>
        <p:txBody>
          <a:bodyPr/>
          <a:lstStyle/>
          <a:p>
            <a:r>
              <a:rPr lang="en-US" noProof="0" dirty="0"/>
              <a:t>Foundation models can learn general sequence ‘language’ from a large corpus of text</a:t>
            </a:r>
          </a:p>
        </p:txBody>
      </p:sp>
      <p:sp>
        <p:nvSpPr>
          <p:cNvPr id="4" name="Slide Number Placeholder 3">
            <a:extLst>
              <a:ext uri="{FF2B5EF4-FFF2-40B4-BE49-F238E27FC236}">
                <a16:creationId xmlns:a16="http://schemas.microsoft.com/office/drawing/2014/main" id="{AC73C353-2A09-B87D-3B2E-4B4052F1E06D}"/>
              </a:ext>
            </a:extLst>
          </p:cNvPr>
          <p:cNvSpPr>
            <a:spLocks noGrp="1"/>
          </p:cNvSpPr>
          <p:nvPr>
            <p:ph type="sldNum" sz="quarter" idx="12"/>
          </p:nvPr>
        </p:nvSpPr>
        <p:spPr/>
        <p:txBody>
          <a:bodyPr/>
          <a:lstStyle/>
          <a:p>
            <a:fld id="{B1E3F558-74D7-4DE7-865B-0F3399673619}" type="slidenum">
              <a:rPr lang="en-US" noProof="0" smtClean="0"/>
              <a:pPr/>
              <a:t>2</a:t>
            </a:fld>
            <a:endParaRPr lang="en-US" noProof="0" dirty="0"/>
          </a:p>
        </p:txBody>
      </p:sp>
      <p:sp>
        <p:nvSpPr>
          <p:cNvPr id="5" name="TextBox 4">
            <a:extLst>
              <a:ext uri="{FF2B5EF4-FFF2-40B4-BE49-F238E27FC236}">
                <a16:creationId xmlns:a16="http://schemas.microsoft.com/office/drawing/2014/main" id="{EF96CE11-02F9-C44B-BEE9-A4214F4AD827}"/>
              </a:ext>
            </a:extLst>
          </p:cNvPr>
          <p:cNvSpPr txBox="1"/>
          <p:nvPr/>
        </p:nvSpPr>
        <p:spPr>
          <a:xfrm>
            <a:off x="856738" y="2620774"/>
            <a:ext cx="4401064" cy="461665"/>
          </a:xfrm>
          <a:prstGeom prst="rect">
            <a:avLst/>
          </a:prstGeom>
          <a:noFill/>
        </p:spPr>
        <p:txBody>
          <a:bodyPr wrap="square" rtlCol="0">
            <a:spAutoFit/>
          </a:bodyPr>
          <a:lstStyle/>
          <a:p>
            <a:r>
              <a:rPr lang="en-US" sz="2400" noProof="0" dirty="0"/>
              <a:t>A sentence ________ words.</a:t>
            </a:r>
          </a:p>
        </p:txBody>
      </p:sp>
      <p:sp>
        <p:nvSpPr>
          <p:cNvPr id="3" name="TextBox 2">
            <a:extLst>
              <a:ext uri="{FF2B5EF4-FFF2-40B4-BE49-F238E27FC236}">
                <a16:creationId xmlns:a16="http://schemas.microsoft.com/office/drawing/2014/main" id="{F4EC838A-CC4E-0238-196B-3ABB292105CF}"/>
              </a:ext>
            </a:extLst>
          </p:cNvPr>
          <p:cNvSpPr txBox="1"/>
          <p:nvPr/>
        </p:nvSpPr>
        <p:spPr>
          <a:xfrm>
            <a:off x="838200" y="1782567"/>
            <a:ext cx="5244791" cy="646331"/>
          </a:xfrm>
          <a:prstGeom prst="rect">
            <a:avLst/>
          </a:prstGeom>
          <a:noFill/>
        </p:spPr>
        <p:txBody>
          <a:bodyPr wrap="square" rtlCol="0">
            <a:spAutoFit/>
          </a:bodyPr>
          <a:lstStyle/>
          <a:p>
            <a:r>
              <a:rPr lang="en-US" noProof="0" dirty="0">
                <a:solidFill>
                  <a:schemeClr val="accent1"/>
                </a:solidFill>
                <a:latin typeface="+mj-lt"/>
              </a:rPr>
              <a:t>Learn the language from a general task</a:t>
            </a:r>
          </a:p>
          <a:p>
            <a:r>
              <a:rPr lang="en-US" noProof="0" dirty="0">
                <a:solidFill>
                  <a:schemeClr val="accent1"/>
                </a:solidFill>
              </a:rPr>
              <a:t>Predict the missing word</a:t>
            </a:r>
          </a:p>
        </p:txBody>
      </p:sp>
      <p:sp>
        <p:nvSpPr>
          <p:cNvPr id="19" name="TextBox 18">
            <a:extLst>
              <a:ext uri="{FF2B5EF4-FFF2-40B4-BE49-F238E27FC236}">
                <a16:creationId xmlns:a16="http://schemas.microsoft.com/office/drawing/2014/main" id="{378DDA20-39C2-BA6C-3E2D-82943D4E4A95}"/>
              </a:ext>
            </a:extLst>
          </p:cNvPr>
          <p:cNvSpPr txBox="1"/>
          <p:nvPr/>
        </p:nvSpPr>
        <p:spPr>
          <a:xfrm>
            <a:off x="856738" y="3862804"/>
            <a:ext cx="4401064" cy="461665"/>
          </a:xfrm>
          <a:prstGeom prst="rect">
            <a:avLst/>
          </a:prstGeom>
          <a:noFill/>
        </p:spPr>
        <p:txBody>
          <a:bodyPr wrap="square" rtlCol="0">
            <a:spAutoFit/>
          </a:bodyPr>
          <a:lstStyle/>
          <a:p>
            <a:r>
              <a:rPr lang="en-US" sz="2400" noProof="0" dirty="0"/>
              <a:t>A sentence     </a:t>
            </a:r>
            <a:r>
              <a:rPr lang="en-US" sz="2400" noProof="0" dirty="0">
                <a:solidFill>
                  <a:schemeClr val="accent2"/>
                </a:solidFill>
              </a:rPr>
              <a:t>eats</a:t>
            </a:r>
            <a:r>
              <a:rPr lang="en-US" sz="2400" noProof="0" dirty="0"/>
              <a:t>    words.</a:t>
            </a:r>
          </a:p>
        </p:txBody>
      </p:sp>
      <p:sp>
        <p:nvSpPr>
          <p:cNvPr id="20" name="TextBox 19">
            <a:extLst>
              <a:ext uri="{FF2B5EF4-FFF2-40B4-BE49-F238E27FC236}">
                <a16:creationId xmlns:a16="http://schemas.microsoft.com/office/drawing/2014/main" id="{BD3F3F43-1DD6-CC04-E40E-1C3031AC0762}"/>
              </a:ext>
            </a:extLst>
          </p:cNvPr>
          <p:cNvSpPr txBox="1"/>
          <p:nvPr/>
        </p:nvSpPr>
        <p:spPr>
          <a:xfrm>
            <a:off x="856738" y="4647634"/>
            <a:ext cx="4401064" cy="461665"/>
          </a:xfrm>
          <a:prstGeom prst="rect">
            <a:avLst/>
          </a:prstGeom>
          <a:noFill/>
        </p:spPr>
        <p:txBody>
          <a:bodyPr wrap="square" rtlCol="0">
            <a:spAutoFit/>
          </a:bodyPr>
          <a:lstStyle/>
          <a:p>
            <a:r>
              <a:rPr lang="en-US" sz="2400" noProof="0" dirty="0"/>
              <a:t>A sentence </a:t>
            </a:r>
            <a:r>
              <a:rPr lang="en-US" sz="2400" noProof="0" dirty="0">
                <a:solidFill>
                  <a:schemeClr val="accent3"/>
                </a:solidFill>
              </a:rPr>
              <a:t>contains</a:t>
            </a:r>
            <a:r>
              <a:rPr lang="en-US" sz="2400" noProof="0" dirty="0"/>
              <a:t> words.</a:t>
            </a:r>
          </a:p>
        </p:txBody>
      </p:sp>
      <p:cxnSp>
        <p:nvCxnSpPr>
          <p:cNvPr id="22" name="Straight Arrow Connector 21">
            <a:extLst>
              <a:ext uri="{FF2B5EF4-FFF2-40B4-BE49-F238E27FC236}">
                <a16:creationId xmlns:a16="http://schemas.microsoft.com/office/drawing/2014/main" id="{F481CD5B-F4C9-BA23-64FB-900E35E09592}"/>
              </a:ext>
            </a:extLst>
          </p:cNvPr>
          <p:cNvCxnSpPr>
            <a:cxnSpLocks/>
          </p:cNvCxnSpPr>
          <p:nvPr/>
        </p:nvCxnSpPr>
        <p:spPr>
          <a:xfrm>
            <a:off x="3057270" y="3332564"/>
            <a:ext cx="0" cy="365428"/>
          </a:xfrm>
          <a:prstGeom prst="straightConnector1">
            <a:avLst/>
          </a:prstGeom>
          <a:ln w="381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5" name="Graphic 24" descr="Close with solid fill">
            <a:extLst>
              <a:ext uri="{FF2B5EF4-FFF2-40B4-BE49-F238E27FC236}">
                <a16:creationId xmlns:a16="http://schemas.microsoft.com/office/drawing/2014/main" id="{9E165B63-A740-0228-3759-933891D139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154" y="3862804"/>
            <a:ext cx="273635" cy="273635"/>
          </a:xfrm>
          <a:prstGeom prst="rect">
            <a:avLst/>
          </a:prstGeom>
        </p:spPr>
      </p:pic>
      <p:pic>
        <p:nvPicPr>
          <p:cNvPr id="26" name="Graphic 25" descr="Tick with solid fill">
            <a:extLst>
              <a:ext uri="{FF2B5EF4-FFF2-40B4-BE49-F238E27FC236}">
                <a16:creationId xmlns:a16="http://schemas.microsoft.com/office/drawing/2014/main" id="{7735F04D-EEFF-8DB4-E390-274477FD68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18154" y="4612391"/>
            <a:ext cx="273635" cy="273635"/>
          </a:xfrm>
          <a:prstGeom prst="rect">
            <a:avLst/>
          </a:prstGeom>
        </p:spPr>
      </p:pic>
      <p:grpSp>
        <p:nvGrpSpPr>
          <p:cNvPr id="33" name="Group 32">
            <a:extLst>
              <a:ext uri="{FF2B5EF4-FFF2-40B4-BE49-F238E27FC236}">
                <a16:creationId xmlns:a16="http://schemas.microsoft.com/office/drawing/2014/main" id="{24682F0F-8C0D-AB53-F69D-03E9DF1B7986}"/>
              </a:ext>
            </a:extLst>
          </p:cNvPr>
          <p:cNvGrpSpPr/>
          <p:nvPr/>
        </p:nvGrpSpPr>
        <p:grpSpPr>
          <a:xfrm>
            <a:off x="6765073" y="2059566"/>
            <a:ext cx="4570189" cy="3172843"/>
            <a:chOff x="6765073" y="2059566"/>
            <a:chExt cx="4570189" cy="3172843"/>
          </a:xfrm>
        </p:grpSpPr>
        <p:sp>
          <p:nvSpPr>
            <p:cNvPr id="10" name="TextBox 9">
              <a:extLst>
                <a:ext uri="{FF2B5EF4-FFF2-40B4-BE49-F238E27FC236}">
                  <a16:creationId xmlns:a16="http://schemas.microsoft.com/office/drawing/2014/main" id="{1B2AF685-B85E-9CCD-E6EC-3ABAC2671B11}"/>
                </a:ext>
              </a:extLst>
            </p:cNvPr>
            <p:cNvSpPr txBox="1"/>
            <p:nvPr/>
          </p:nvSpPr>
          <p:spPr>
            <a:xfrm>
              <a:off x="6934201" y="2620774"/>
              <a:ext cx="4016298" cy="584775"/>
            </a:xfrm>
            <a:prstGeom prst="rect">
              <a:avLst/>
            </a:prstGeom>
            <a:noFill/>
          </p:spPr>
          <p:txBody>
            <a:bodyPr wrap="square">
              <a:spAutoFit/>
            </a:bodyPr>
            <a:lstStyle/>
            <a:p>
              <a:r>
                <a:rPr lang="en-US" sz="3200" noProof="0" dirty="0">
                  <a:latin typeface="Cascadia Code" panose="020B0609020000020004" pitchFamily="49" charset="0"/>
                  <a:cs typeface="Cascadia Code" panose="020B0609020000020004" pitchFamily="49" charset="0"/>
                </a:rPr>
                <a:t>ATACG___GCTAGTCC</a:t>
              </a:r>
              <a:endParaRPr lang="en-US" sz="2400" noProof="0" dirty="0">
                <a:latin typeface="Cascadia Code" panose="020B0609020000020004" pitchFamily="49" charset="0"/>
                <a:cs typeface="Cascadia Code" panose="020B0609020000020004" pitchFamily="49" charset="0"/>
              </a:endParaRPr>
            </a:p>
          </p:txBody>
        </p:sp>
        <p:sp>
          <p:nvSpPr>
            <p:cNvPr id="17" name="TextBox 16">
              <a:extLst>
                <a:ext uri="{FF2B5EF4-FFF2-40B4-BE49-F238E27FC236}">
                  <a16:creationId xmlns:a16="http://schemas.microsoft.com/office/drawing/2014/main" id="{88965978-6E37-DB59-B5EB-B7CBCCBB9122}"/>
                </a:ext>
              </a:extLst>
            </p:cNvPr>
            <p:cNvSpPr txBox="1"/>
            <p:nvPr/>
          </p:nvSpPr>
          <p:spPr>
            <a:xfrm>
              <a:off x="6765073" y="2059566"/>
              <a:ext cx="4185426" cy="369332"/>
            </a:xfrm>
            <a:prstGeom prst="rect">
              <a:avLst/>
            </a:prstGeom>
            <a:noFill/>
          </p:spPr>
          <p:txBody>
            <a:bodyPr wrap="square">
              <a:spAutoFit/>
            </a:bodyPr>
            <a:lstStyle/>
            <a:p>
              <a:pPr marL="177800"/>
              <a:r>
                <a:rPr lang="en-US" noProof="0" dirty="0">
                  <a:solidFill>
                    <a:schemeClr val="accent1"/>
                  </a:solidFill>
                </a:rPr>
                <a:t>Predict the missing nucleotides</a:t>
              </a:r>
            </a:p>
          </p:txBody>
        </p:sp>
        <p:sp>
          <p:nvSpPr>
            <p:cNvPr id="27" name="TextBox 26">
              <a:extLst>
                <a:ext uri="{FF2B5EF4-FFF2-40B4-BE49-F238E27FC236}">
                  <a16:creationId xmlns:a16="http://schemas.microsoft.com/office/drawing/2014/main" id="{2763DDAE-3508-6DA5-81D6-FAD0779AF4C6}"/>
                </a:ext>
              </a:extLst>
            </p:cNvPr>
            <p:cNvSpPr txBox="1"/>
            <p:nvPr/>
          </p:nvSpPr>
          <p:spPr>
            <a:xfrm>
              <a:off x="6934198" y="3862804"/>
              <a:ext cx="4401064" cy="584775"/>
            </a:xfrm>
            <a:prstGeom prst="rect">
              <a:avLst/>
            </a:prstGeom>
            <a:noFill/>
          </p:spPr>
          <p:txBody>
            <a:bodyPr wrap="square" rtlCol="0">
              <a:spAutoFit/>
            </a:bodyPr>
            <a:lstStyle/>
            <a:p>
              <a:r>
                <a:rPr lang="en-US" sz="3200" noProof="0" dirty="0">
                  <a:latin typeface="Cascadia Code" panose="020B0609020000020004" pitchFamily="49" charset="0"/>
                  <a:cs typeface="Cascadia Code" panose="020B0609020000020004" pitchFamily="49" charset="0"/>
                </a:rPr>
                <a:t>ATACG</a:t>
              </a:r>
              <a:r>
                <a:rPr lang="en-US" sz="3200" noProof="0" dirty="0">
                  <a:solidFill>
                    <a:schemeClr val="accent2"/>
                  </a:solidFill>
                  <a:latin typeface="Cascadia Code" panose="020B0609020000020004" pitchFamily="49" charset="0"/>
                  <a:cs typeface="Cascadia Code" panose="020B0609020000020004" pitchFamily="49" charset="0"/>
                </a:rPr>
                <a:t>CCG</a:t>
              </a:r>
              <a:r>
                <a:rPr lang="en-US" sz="3200" noProof="0" dirty="0">
                  <a:latin typeface="Cascadia Code" panose="020B0609020000020004" pitchFamily="49" charset="0"/>
                  <a:cs typeface="Cascadia Code" panose="020B0609020000020004" pitchFamily="49" charset="0"/>
                </a:rPr>
                <a:t>GCTAGTCC</a:t>
              </a:r>
              <a:endParaRPr lang="en-US" sz="2400" noProof="0" dirty="0">
                <a:latin typeface="Cascadia Code" panose="020B0609020000020004" pitchFamily="49" charset="0"/>
                <a:cs typeface="Cascadia Code" panose="020B0609020000020004" pitchFamily="49" charset="0"/>
              </a:endParaRPr>
            </a:p>
          </p:txBody>
        </p:sp>
        <p:sp>
          <p:nvSpPr>
            <p:cNvPr id="28" name="TextBox 27">
              <a:extLst>
                <a:ext uri="{FF2B5EF4-FFF2-40B4-BE49-F238E27FC236}">
                  <a16:creationId xmlns:a16="http://schemas.microsoft.com/office/drawing/2014/main" id="{C4125624-9307-061F-FEE7-0BFB3E8D7926}"/>
                </a:ext>
              </a:extLst>
            </p:cNvPr>
            <p:cNvSpPr txBox="1"/>
            <p:nvPr/>
          </p:nvSpPr>
          <p:spPr>
            <a:xfrm>
              <a:off x="6934198" y="4647634"/>
              <a:ext cx="4401064" cy="584775"/>
            </a:xfrm>
            <a:prstGeom prst="rect">
              <a:avLst/>
            </a:prstGeom>
            <a:noFill/>
          </p:spPr>
          <p:txBody>
            <a:bodyPr wrap="square" rtlCol="0">
              <a:spAutoFit/>
            </a:bodyPr>
            <a:lstStyle/>
            <a:p>
              <a:r>
                <a:rPr lang="en-US" sz="3200" noProof="0" dirty="0">
                  <a:latin typeface="Cascadia Code" panose="020B0609020000020004" pitchFamily="49" charset="0"/>
                  <a:cs typeface="Cascadia Code" panose="020B0609020000020004" pitchFamily="49" charset="0"/>
                </a:rPr>
                <a:t>ATACG</a:t>
              </a:r>
              <a:r>
                <a:rPr lang="en-US" sz="3200" noProof="0" dirty="0">
                  <a:solidFill>
                    <a:schemeClr val="accent3"/>
                  </a:solidFill>
                  <a:latin typeface="Cascadia Code" panose="020B0609020000020004" pitchFamily="49" charset="0"/>
                  <a:cs typeface="Cascadia Code" panose="020B0609020000020004" pitchFamily="49" charset="0"/>
                </a:rPr>
                <a:t>TTA</a:t>
              </a:r>
              <a:r>
                <a:rPr lang="en-US" sz="3200" noProof="0" dirty="0">
                  <a:latin typeface="Cascadia Code" panose="020B0609020000020004" pitchFamily="49" charset="0"/>
                  <a:cs typeface="Cascadia Code" panose="020B0609020000020004" pitchFamily="49" charset="0"/>
                </a:rPr>
                <a:t>GCTAGTCC</a:t>
              </a:r>
              <a:endParaRPr lang="en-US" sz="2400" noProof="0" dirty="0">
                <a:latin typeface="Cascadia Code" panose="020B0609020000020004" pitchFamily="49" charset="0"/>
                <a:cs typeface="Cascadia Code" panose="020B0609020000020004" pitchFamily="49" charset="0"/>
              </a:endParaRPr>
            </a:p>
          </p:txBody>
        </p:sp>
        <p:cxnSp>
          <p:nvCxnSpPr>
            <p:cNvPr id="29" name="Straight Arrow Connector 28">
              <a:extLst>
                <a:ext uri="{FF2B5EF4-FFF2-40B4-BE49-F238E27FC236}">
                  <a16:creationId xmlns:a16="http://schemas.microsoft.com/office/drawing/2014/main" id="{5CAFC4D3-3C43-048D-2BA6-78B1D16C6894}"/>
                </a:ext>
              </a:extLst>
            </p:cNvPr>
            <p:cNvCxnSpPr>
              <a:cxnSpLocks/>
            </p:cNvCxnSpPr>
            <p:nvPr/>
          </p:nvCxnSpPr>
          <p:spPr>
            <a:xfrm>
              <a:off x="9134730" y="3332564"/>
              <a:ext cx="0" cy="365428"/>
            </a:xfrm>
            <a:prstGeom prst="straightConnector1">
              <a:avLst/>
            </a:prstGeom>
            <a:ln w="381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Close with solid fill">
              <a:extLst>
                <a:ext uri="{FF2B5EF4-FFF2-40B4-BE49-F238E27FC236}">
                  <a16:creationId xmlns:a16="http://schemas.microsoft.com/office/drawing/2014/main" id="{13F07E75-84CC-1358-B5C4-D656F3087D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95614" y="3862804"/>
              <a:ext cx="273635" cy="273635"/>
            </a:xfrm>
            <a:prstGeom prst="rect">
              <a:avLst/>
            </a:prstGeom>
          </p:spPr>
        </p:pic>
        <p:pic>
          <p:nvPicPr>
            <p:cNvPr id="31" name="Graphic 30" descr="Tick with solid fill">
              <a:extLst>
                <a:ext uri="{FF2B5EF4-FFF2-40B4-BE49-F238E27FC236}">
                  <a16:creationId xmlns:a16="http://schemas.microsoft.com/office/drawing/2014/main" id="{203B3AC9-0C40-29CF-0D41-888E3649E1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895614" y="4612391"/>
              <a:ext cx="273635" cy="273635"/>
            </a:xfrm>
            <a:prstGeom prst="rect">
              <a:avLst/>
            </a:prstGeom>
          </p:spPr>
        </p:pic>
      </p:grpSp>
      <p:sp>
        <p:nvSpPr>
          <p:cNvPr id="32" name="TextBox 31">
            <a:extLst>
              <a:ext uri="{FF2B5EF4-FFF2-40B4-BE49-F238E27FC236}">
                <a16:creationId xmlns:a16="http://schemas.microsoft.com/office/drawing/2014/main" id="{EDA77215-6982-EA87-7DAE-997780207807}"/>
              </a:ext>
            </a:extLst>
          </p:cNvPr>
          <p:cNvSpPr txBox="1"/>
          <p:nvPr/>
        </p:nvSpPr>
        <p:spPr>
          <a:xfrm>
            <a:off x="2933700" y="5510352"/>
            <a:ext cx="6324600" cy="830997"/>
          </a:xfrm>
          <a:prstGeom prst="rect">
            <a:avLst/>
          </a:prstGeom>
          <a:noFill/>
        </p:spPr>
        <p:txBody>
          <a:bodyPr wrap="square" rtlCol="0">
            <a:spAutoFit/>
          </a:bodyPr>
          <a:lstStyle/>
          <a:p>
            <a:pPr algn="ctr"/>
            <a:r>
              <a:rPr lang="en-US" sz="2400" noProof="0" dirty="0">
                <a:solidFill>
                  <a:schemeClr val="accent3">
                    <a:lumMod val="75000"/>
                  </a:schemeClr>
                </a:solidFill>
                <a:latin typeface="+mj-lt"/>
              </a:rPr>
              <a:t>No exact labels required</a:t>
            </a:r>
          </a:p>
          <a:p>
            <a:pPr algn="ctr"/>
            <a:r>
              <a:rPr lang="en-US" sz="2400" noProof="0" dirty="0">
                <a:solidFill>
                  <a:schemeClr val="accent3">
                    <a:lumMod val="75000"/>
                  </a:schemeClr>
                </a:solidFill>
                <a:latin typeface="+mj-lt"/>
              </a:rPr>
              <a:t>Usually, a lot of data available</a:t>
            </a:r>
          </a:p>
        </p:txBody>
      </p:sp>
    </p:spTree>
    <p:extLst>
      <p:ext uri="{BB962C8B-B14F-4D97-AF65-F5344CB8AC3E}">
        <p14:creationId xmlns:p14="http://schemas.microsoft.com/office/powerpoint/2010/main" val="42914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99B66-98CD-59CF-62D7-D8C870EFD9B5}"/>
            </a:ext>
          </a:extLst>
        </p:cNvPr>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8F2DA372-2A8B-288F-F564-3B6E6268C056}"/>
              </a:ext>
            </a:extLst>
          </p:cNvPr>
          <p:cNvSpPr/>
          <p:nvPr/>
        </p:nvSpPr>
        <p:spPr>
          <a:xfrm>
            <a:off x="837893" y="1821277"/>
            <a:ext cx="10516213" cy="1391163"/>
          </a:xfrm>
          <a:prstGeom prst="roundRect">
            <a:avLst>
              <a:gd name="adj" fmla="val 10894"/>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2"/>
              </a:solidFill>
            </a:endParaRPr>
          </a:p>
        </p:txBody>
      </p:sp>
      <p:sp>
        <p:nvSpPr>
          <p:cNvPr id="2" name="Title 1">
            <a:extLst>
              <a:ext uri="{FF2B5EF4-FFF2-40B4-BE49-F238E27FC236}">
                <a16:creationId xmlns:a16="http://schemas.microsoft.com/office/drawing/2014/main" id="{456718B2-9ED6-3B8F-0D25-0EF5904EBE24}"/>
              </a:ext>
            </a:extLst>
          </p:cNvPr>
          <p:cNvSpPr>
            <a:spLocks noGrp="1"/>
          </p:cNvSpPr>
          <p:nvPr>
            <p:ph type="title"/>
          </p:nvPr>
        </p:nvSpPr>
        <p:spPr/>
        <p:txBody>
          <a:bodyPr/>
          <a:lstStyle/>
          <a:p>
            <a:r>
              <a:rPr lang="en-US" noProof="0" dirty="0"/>
              <a:t>Pretraining &amp; fine-tuning turns one model into many predictors</a:t>
            </a:r>
          </a:p>
        </p:txBody>
      </p:sp>
      <p:sp>
        <p:nvSpPr>
          <p:cNvPr id="4" name="Slide Number Placeholder 3">
            <a:extLst>
              <a:ext uri="{FF2B5EF4-FFF2-40B4-BE49-F238E27FC236}">
                <a16:creationId xmlns:a16="http://schemas.microsoft.com/office/drawing/2014/main" id="{A952489E-52EA-3DCC-D9B7-A84DB30BC349}"/>
              </a:ext>
            </a:extLst>
          </p:cNvPr>
          <p:cNvSpPr>
            <a:spLocks noGrp="1"/>
          </p:cNvSpPr>
          <p:nvPr>
            <p:ph type="sldNum" sz="quarter" idx="12"/>
          </p:nvPr>
        </p:nvSpPr>
        <p:spPr/>
        <p:txBody>
          <a:bodyPr/>
          <a:lstStyle/>
          <a:p>
            <a:fld id="{B1E3F558-74D7-4DE7-865B-0F3399673619}" type="slidenum">
              <a:rPr lang="en-US" noProof="0" smtClean="0"/>
              <a:pPr/>
              <a:t>3</a:t>
            </a:fld>
            <a:endParaRPr lang="en-US" noProof="0" dirty="0"/>
          </a:p>
        </p:txBody>
      </p:sp>
      <p:sp>
        <p:nvSpPr>
          <p:cNvPr id="79" name="TextBox 78">
            <a:extLst>
              <a:ext uri="{FF2B5EF4-FFF2-40B4-BE49-F238E27FC236}">
                <a16:creationId xmlns:a16="http://schemas.microsoft.com/office/drawing/2014/main" id="{4021CA39-BBDE-B48A-A145-FB51D0985CA3}"/>
              </a:ext>
            </a:extLst>
          </p:cNvPr>
          <p:cNvSpPr txBox="1"/>
          <p:nvPr/>
        </p:nvSpPr>
        <p:spPr>
          <a:xfrm>
            <a:off x="837894" y="1914239"/>
            <a:ext cx="5261163" cy="307777"/>
          </a:xfrm>
          <a:prstGeom prst="rect">
            <a:avLst/>
          </a:prstGeom>
          <a:noFill/>
        </p:spPr>
        <p:txBody>
          <a:bodyPr wrap="square" rtlCol="0">
            <a:spAutoFit/>
          </a:bodyPr>
          <a:lstStyle/>
          <a:p>
            <a:r>
              <a:rPr lang="en-US" sz="1400" noProof="0" dirty="0">
                <a:solidFill>
                  <a:schemeClr val="accent1">
                    <a:lumMod val="50000"/>
                  </a:schemeClr>
                </a:solidFill>
                <a:latin typeface="+mj-lt"/>
              </a:rPr>
              <a:t>Step 1: Foundation model learns the language</a:t>
            </a:r>
          </a:p>
        </p:txBody>
      </p:sp>
      <p:sp>
        <p:nvSpPr>
          <p:cNvPr id="8" name="TextBox 7">
            <a:extLst>
              <a:ext uri="{FF2B5EF4-FFF2-40B4-BE49-F238E27FC236}">
                <a16:creationId xmlns:a16="http://schemas.microsoft.com/office/drawing/2014/main" id="{46698C69-289E-A267-0663-DA73C041B05C}"/>
              </a:ext>
            </a:extLst>
          </p:cNvPr>
          <p:cNvSpPr txBox="1"/>
          <p:nvPr/>
        </p:nvSpPr>
        <p:spPr>
          <a:xfrm>
            <a:off x="880474" y="2496675"/>
            <a:ext cx="2360793" cy="369332"/>
          </a:xfrm>
          <a:prstGeom prst="rect">
            <a:avLst/>
          </a:prstGeom>
          <a:noFill/>
        </p:spPr>
        <p:txBody>
          <a:bodyPr wrap="square">
            <a:spAutoFit/>
          </a:bodyPr>
          <a:lstStyle/>
          <a:p>
            <a:r>
              <a:rPr lang="en-US" sz="1800" noProof="0" dirty="0">
                <a:latin typeface="Cascadia Code" panose="020B0609020000020004" pitchFamily="49" charset="0"/>
                <a:cs typeface="Cascadia Code" panose="020B0609020000020004" pitchFamily="49" charset="0"/>
              </a:rPr>
              <a:t>ATACG___GCTAGTCC</a:t>
            </a:r>
          </a:p>
        </p:txBody>
      </p:sp>
      <p:sp>
        <p:nvSpPr>
          <p:cNvPr id="37" name="Rectangle: Rounded Corners 36">
            <a:extLst>
              <a:ext uri="{FF2B5EF4-FFF2-40B4-BE49-F238E27FC236}">
                <a16:creationId xmlns:a16="http://schemas.microsoft.com/office/drawing/2014/main" id="{D502A4DB-D53A-6E39-8D77-44CE3B8D906E}"/>
              </a:ext>
            </a:extLst>
          </p:cNvPr>
          <p:cNvSpPr/>
          <p:nvPr/>
        </p:nvSpPr>
        <p:spPr>
          <a:xfrm>
            <a:off x="6232143" y="2325389"/>
            <a:ext cx="1735200" cy="711904"/>
          </a:xfrm>
          <a:prstGeom prst="roundRect">
            <a:avLst>
              <a:gd name="adj" fmla="val 10894"/>
            </a:avLst>
          </a:prstGeom>
          <a:gradFill flip="none" rotWithShape="1">
            <a:gsLst>
              <a:gs pos="0">
                <a:schemeClr val="accent1">
                  <a:lumMod val="57000"/>
                </a:schemeClr>
              </a:gs>
              <a:gs pos="100000">
                <a:schemeClr val="accent1">
                  <a:lumMod val="5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prstClr val="white"/>
                </a:solidFill>
                <a:latin typeface="UGent Panno Text"/>
              </a:rPr>
              <a:t>nucleotide prediction</a:t>
            </a:r>
          </a:p>
        </p:txBody>
      </p:sp>
      <p:cxnSp>
        <p:nvCxnSpPr>
          <p:cNvPr id="52" name="Straight Arrow Connector 51">
            <a:extLst>
              <a:ext uri="{FF2B5EF4-FFF2-40B4-BE49-F238E27FC236}">
                <a16:creationId xmlns:a16="http://schemas.microsoft.com/office/drawing/2014/main" id="{02A2182F-1CD3-F69F-E0FD-BDABDB5B3415}"/>
              </a:ext>
            </a:extLst>
          </p:cNvPr>
          <p:cNvCxnSpPr>
            <a:cxnSpLocks/>
          </p:cNvCxnSpPr>
          <p:nvPr/>
        </p:nvCxnSpPr>
        <p:spPr>
          <a:xfrm>
            <a:off x="3434705" y="2681341"/>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6875E25-A354-0658-DBFB-B59C4D8188A5}"/>
              </a:ext>
            </a:extLst>
          </p:cNvPr>
          <p:cNvCxnSpPr>
            <a:cxnSpLocks/>
          </p:cNvCxnSpPr>
          <p:nvPr/>
        </p:nvCxnSpPr>
        <p:spPr>
          <a:xfrm>
            <a:off x="5797247" y="2681341"/>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DA028386-BA35-7169-BB83-22AD90F53E02}"/>
              </a:ext>
            </a:extLst>
          </p:cNvPr>
          <p:cNvSpPr/>
          <p:nvPr/>
        </p:nvSpPr>
        <p:spPr>
          <a:xfrm>
            <a:off x="3869601" y="2325389"/>
            <a:ext cx="1734208" cy="711904"/>
          </a:xfrm>
          <a:prstGeom prst="roundRect">
            <a:avLst>
              <a:gd name="adj" fmla="val 10894"/>
            </a:avLst>
          </a:prstGeom>
          <a:gradFill flip="none" rotWithShape="1">
            <a:gsLst>
              <a:gs pos="0">
                <a:schemeClr val="accent2">
                  <a:lumMod val="38000"/>
                </a:schemeClr>
              </a:gs>
              <a:gs pos="100000">
                <a:schemeClr val="accent1">
                  <a:lumMod val="64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prstClr val="white"/>
                </a:solidFill>
                <a:latin typeface="UGent Panno Text"/>
              </a:rPr>
              <a:t>foundation model</a:t>
            </a:r>
          </a:p>
        </p:txBody>
      </p:sp>
      <p:grpSp>
        <p:nvGrpSpPr>
          <p:cNvPr id="44" name="Group 43">
            <a:extLst>
              <a:ext uri="{FF2B5EF4-FFF2-40B4-BE49-F238E27FC236}">
                <a16:creationId xmlns:a16="http://schemas.microsoft.com/office/drawing/2014/main" id="{05C48743-7526-25A0-F304-9FC0787EDD17}"/>
              </a:ext>
            </a:extLst>
          </p:cNvPr>
          <p:cNvGrpSpPr/>
          <p:nvPr/>
        </p:nvGrpSpPr>
        <p:grpSpPr>
          <a:xfrm>
            <a:off x="8595678" y="2272019"/>
            <a:ext cx="2525121" cy="818645"/>
            <a:chOff x="9171568" y="2185633"/>
            <a:chExt cx="2525121" cy="818645"/>
          </a:xfrm>
        </p:grpSpPr>
        <p:sp>
          <p:nvSpPr>
            <p:cNvPr id="38" name="TextBox 37">
              <a:extLst>
                <a:ext uri="{FF2B5EF4-FFF2-40B4-BE49-F238E27FC236}">
                  <a16:creationId xmlns:a16="http://schemas.microsoft.com/office/drawing/2014/main" id="{EDF795FF-C967-6B41-EC5D-3AE17771E8DA}"/>
                </a:ext>
              </a:extLst>
            </p:cNvPr>
            <p:cNvSpPr txBox="1"/>
            <p:nvPr/>
          </p:nvSpPr>
          <p:spPr>
            <a:xfrm>
              <a:off x="9171569" y="2271200"/>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ATACG</a:t>
              </a:r>
              <a:r>
                <a:rPr lang="en-US" noProof="0" dirty="0">
                  <a:solidFill>
                    <a:schemeClr val="accent2"/>
                  </a:solidFill>
                  <a:latin typeface="Cascadia Code" panose="020B0609020000020004" pitchFamily="49" charset="0"/>
                  <a:cs typeface="Cascadia Code" panose="020B0609020000020004" pitchFamily="49" charset="0"/>
                </a:rPr>
                <a:t>CCG</a:t>
              </a:r>
              <a:r>
                <a:rPr lang="en-US" noProof="0" dirty="0">
                  <a:latin typeface="Cascadia Code" panose="020B0609020000020004" pitchFamily="49" charset="0"/>
                  <a:cs typeface="Cascadia Code" panose="020B0609020000020004" pitchFamily="49" charset="0"/>
                </a:rPr>
                <a:t>GCTAGTCC</a:t>
              </a:r>
              <a:endParaRPr lang="en-US" sz="1400" noProof="0" dirty="0">
                <a:latin typeface="Cascadia Code" panose="020B0609020000020004" pitchFamily="49" charset="0"/>
                <a:cs typeface="Cascadia Code" panose="020B0609020000020004" pitchFamily="49" charset="0"/>
              </a:endParaRPr>
            </a:p>
          </p:txBody>
        </p:sp>
        <p:pic>
          <p:nvPicPr>
            <p:cNvPr id="40" name="Graphic 39" descr="Close with solid fill">
              <a:extLst>
                <a:ext uri="{FF2B5EF4-FFF2-40B4-BE49-F238E27FC236}">
                  <a16:creationId xmlns:a16="http://schemas.microsoft.com/office/drawing/2014/main" id="{15869823-783E-593B-9A01-F1CDE26C6A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054" y="2185633"/>
              <a:ext cx="273635" cy="273635"/>
            </a:xfrm>
            <a:prstGeom prst="rect">
              <a:avLst/>
            </a:prstGeom>
          </p:spPr>
        </p:pic>
        <p:pic>
          <p:nvPicPr>
            <p:cNvPr id="42" name="Graphic 41" descr="Tick with solid fill">
              <a:extLst>
                <a:ext uri="{FF2B5EF4-FFF2-40B4-BE49-F238E27FC236}">
                  <a16:creationId xmlns:a16="http://schemas.microsoft.com/office/drawing/2014/main" id="{D8F41470-8050-B868-C19A-8DE96B3CA4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23054" y="2554341"/>
              <a:ext cx="273635" cy="273635"/>
            </a:xfrm>
            <a:prstGeom prst="rect">
              <a:avLst/>
            </a:prstGeom>
          </p:spPr>
        </p:pic>
        <p:sp>
          <p:nvSpPr>
            <p:cNvPr id="43" name="TextBox 42">
              <a:extLst>
                <a:ext uri="{FF2B5EF4-FFF2-40B4-BE49-F238E27FC236}">
                  <a16:creationId xmlns:a16="http://schemas.microsoft.com/office/drawing/2014/main" id="{6EF00571-7F86-A4CB-ABFE-328F7D9F9EA9}"/>
                </a:ext>
              </a:extLst>
            </p:cNvPr>
            <p:cNvSpPr txBox="1"/>
            <p:nvPr/>
          </p:nvSpPr>
          <p:spPr>
            <a:xfrm>
              <a:off x="9171568" y="2634946"/>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ATACG</a:t>
              </a:r>
              <a:r>
                <a:rPr lang="en-US" noProof="0" dirty="0">
                  <a:solidFill>
                    <a:schemeClr val="accent3"/>
                  </a:solidFill>
                  <a:latin typeface="Cascadia Code" panose="020B0609020000020004" pitchFamily="49" charset="0"/>
                  <a:cs typeface="Cascadia Code" panose="020B0609020000020004" pitchFamily="49" charset="0"/>
                </a:rPr>
                <a:t>TTA</a:t>
              </a:r>
              <a:r>
                <a:rPr lang="en-US" noProof="0" dirty="0">
                  <a:latin typeface="Cascadia Code" panose="020B0609020000020004" pitchFamily="49" charset="0"/>
                  <a:cs typeface="Cascadia Code" panose="020B0609020000020004" pitchFamily="49" charset="0"/>
                </a:rPr>
                <a:t>GCTAGTCC</a:t>
              </a:r>
              <a:endParaRPr lang="en-US" sz="1400" noProof="0" dirty="0">
                <a:latin typeface="Cascadia Code" panose="020B0609020000020004" pitchFamily="49" charset="0"/>
                <a:cs typeface="Cascadia Code" panose="020B0609020000020004" pitchFamily="49" charset="0"/>
              </a:endParaRPr>
            </a:p>
          </p:txBody>
        </p:sp>
      </p:grpSp>
      <p:cxnSp>
        <p:nvCxnSpPr>
          <p:cNvPr id="45" name="Straight Arrow Connector 44">
            <a:extLst>
              <a:ext uri="{FF2B5EF4-FFF2-40B4-BE49-F238E27FC236}">
                <a16:creationId xmlns:a16="http://schemas.microsoft.com/office/drawing/2014/main" id="{0EA9891C-E30A-DA66-C270-3A60FE4ADA6A}"/>
              </a:ext>
            </a:extLst>
          </p:cNvPr>
          <p:cNvCxnSpPr>
            <a:cxnSpLocks/>
          </p:cNvCxnSpPr>
          <p:nvPr/>
        </p:nvCxnSpPr>
        <p:spPr>
          <a:xfrm>
            <a:off x="8160781" y="2681341"/>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6593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4521-3105-5863-2764-51C65B930BE0}"/>
            </a:ext>
          </a:extLst>
        </p:cNvPr>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411635C4-66EC-9095-80C7-CBBA59940929}"/>
              </a:ext>
            </a:extLst>
          </p:cNvPr>
          <p:cNvSpPr/>
          <p:nvPr/>
        </p:nvSpPr>
        <p:spPr>
          <a:xfrm>
            <a:off x="837278" y="3410139"/>
            <a:ext cx="10516213" cy="2879014"/>
          </a:xfrm>
          <a:prstGeom prst="roundRect">
            <a:avLst>
              <a:gd name="adj" fmla="val 4939"/>
            </a:avLst>
          </a:prstGeom>
          <a:no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2"/>
              </a:solidFill>
            </a:endParaRPr>
          </a:p>
        </p:txBody>
      </p:sp>
      <p:sp>
        <p:nvSpPr>
          <p:cNvPr id="2" name="Title 1">
            <a:extLst>
              <a:ext uri="{FF2B5EF4-FFF2-40B4-BE49-F238E27FC236}">
                <a16:creationId xmlns:a16="http://schemas.microsoft.com/office/drawing/2014/main" id="{E169BE14-0070-435A-67AA-E503A1DEAF12}"/>
              </a:ext>
            </a:extLst>
          </p:cNvPr>
          <p:cNvSpPr>
            <a:spLocks noGrp="1"/>
          </p:cNvSpPr>
          <p:nvPr>
            <p:ph type="title"/>
          </p:nvPr>
        </p:nvSpPr>
        <p:spPr/>
        <p:txBody>
          <a:bodyPr/>
          <a:lstStyle/>
          <a:p>
            <a:r>
              <a:rPr lang="en-US" noProof="0" dirty="0"/>
              <a:t>Pretraining &amp; fine-tuning turns one model into many predictors</a:t>
            </a:r>
          </a:p>
        </p:txBody>
      </p:sp>
      <p:sp>
        <p:nvSpPr>
          <p:cNvPr id="4" name="Slide Number Placeholder 3">
            <a:extLst>
              <a:ext uri="{FF2B5EF4-FFF2-40B4-BE49-F238E27FC236}">
                <a16:creationId xmlns:a16="http://schemas.microsoft.com/office/drawing/2014/main" id="{22794100-960C-4C66-2E62-ABEBEA666DBA}"/>
              </a:ext>
            </a:extLst>
          </p:cNvPr>
          <p:cNvSpPr>
            <a:spLocks noGrp="1"/>
          </p:cNvSpPr>
          <p:nvPr>
            <p:ph type="sldNum" sz="quarter" idx="12"/>
          </p:nvPr>
        </p:nvSpPr>
        <p:spPr/>
        <p:txBody>
          <a:bodyPr/>
          <a:lstStyle/>
          <a:p>
            <a:fld id="{B1E3F558-74D7-4DE7-865B-0F3399673619}" type="slidenum">
              <a:rPr lang="en-US" noProof="0" smtClean="0"/>
              <a:pPr/>
              <a:t>4</a:t>
            </a:fld>
            <a:endParaRPr lang="en-US" noProof="0" dirty="0"/>
          </a:p>
        </p:txBody>
      </p:sp>
      <p:sp>
        <p:nvSpPr>
          <p:cNvPr id="79" name="TextBox 78">
            <a:extLst>
              <a:ext uri="{FF2B5EF4-FFF2-40B4-BE49-F238E27FC236}">
                <a16:creationId xmlns:a16="http://schemas.microsoft.com/office/drawing/2014/main" id="{DBA821A6-8F5E-8E03-5367-56C65918DEC5}"/>
              </a:ext>
            </a:extLst>
          </p:cNvPr>
          <p:cNvSpPr txBox="1"/>
          <p:nvPr/>
        </p:nvSpPr>
        <p:spPr>
          <a:xfrm>
            <a:off x="837894" y="1914239"/>
            <a:ext cx="5261163" cy="307777"/>
          </a:xfrm>
          <a:prstGeom prst="rect">
            <a:avLst/>
          </a:prstGeom>
          <a:noFill/>
        </p:spPr>
        <p:txBody>
          <a:bodyPr wrap="square" rtlCol="0">
            <a:spAutoFit/>
          </a:bodyPr>
          <a:lstStyle/>
          <a:p>
            <a:r>
              <a:rPr lang="en-US" sz="1400" noProof="0" dirty="0">
                <a:solidFill>
                  <a:schemeClr val="accent1">
                    <a:lumMod val="50000"/>
                  </a:schemeClr>
                </a:solidFill>
                <a:latin typeface="+mj-lt"/>
              </a:rPr>
              <a:t>Step 1: Foundation model learns the language</a:t>
            </a:r>
          </a:p>
        </p:txBody>
      </p:sp>
      <p:sp>
        <p:nvSpPr>
          <p:cNvPr id="8" name="TextBox 7">
            <a:extLst>
              <a:ext uri="{FF2B5EF4-FFF2-40B4-BE49-F238E27FC236}">
                <a16:creationId xmlns:a16="http://schemas.microsoft.com/office/drawing/2014/main" id="{065296F0-C83C-7CB2-F108-DBF0E3019A6A}"/>
              </a:ext>
            </a:extLst>
          </p:cNvPr>
          <p:cNvSpPr txBox="1"/>
          <p:nvPr/>
        </p:nvSpPr>
        <p:spPr>
          <a:xfrm>
            <a:off x="880474" y="2496675"/>
            <a:ext cx="2360793" cy="369332"/>
          </a:xfrm>
          <a:prstGeom prst="rect">
            <a:avLst/>
          </a:prstGeom>
          <a:noFill/>
        </p:spPr>
        <p:txBody>
          <a:bodyPr wrap="square">
            <a:spAutoFit/>
          </a:bodyPr>
          <a:lstStyle/>
          <a:p>
            <a:r>
              <a:rPr lang="en-US" sz="1800" noProof="0" dirty="0">
                <a:latin typeface="Cascadia Code" panose="020B0609020000020004" pitchFamily="49" charset="0"/>
                <a:cs typeface="Cascadia Code" panose="020B0609020000020004" pitchFamily="49" charset="0"/>
              </a:rPr>
              <a:t>ATACG___GCTAGTCC</a:t>
            </a:r>
          </a:p>
        </p:txBody>
      </p:sp>
      <p:sp>
        <p:nvSpPr>
          <p:cNvPr id="37" name="Rectangle: Rounded Corners 36">
            <a:extLst>
              <a:ext uri="{FF2B5EF4-FFF2-40B4-BE49-F238E27FC236}">
                <a16:creationId xmlns:a16="http://schemas.microsoft.com/office/drawing/2014/main" id="{AD1F9C66-0D16-AFAD-0527-AB388F8EB9CC}"/>
              </a:ext>
            </a:extLst>
          </p:cNvPr>
          <p:cNvSpPr/>
          <p:nvPr/>
        </p:nvSpPr>
        <p:spPr>
          <a:xfrm>
            <a:off x="6232143" y="2325389"/>
            <a:ext cx="1735200" cy="711904"/>
          </a:xfrm>
          <a:prstGeom prst="roundRect">
            <a:avLst>
              <a:gd name="adj" fmla="val 10894"/>
            </a:avLst>
          </a:prstGeom>
          <a:gradFill flip="none" rotWithShape="1">
            <a:gsLst>
              <a:gs pos="0">
                <a:schemeClr val="accent1">
                  <a:lumMod val="57000"/>
                </a:schemeClr>
              </a:gs>
              <a:gs pos="100000">
                <a:schemeClr val="accent1">
                  <a:lumMod val="5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prstClr val="white"/>
                </a:solidFill>
                <a:latin typeface="UGent Panno Text"/>
              </a:rPr>
              <a:t>nucleotide prediction</a:t>
            </a:r>
          </a:p>
        </p:txBody>
      </p:sp>
      <p:cxnSp>
        <p:nvCxnSpPr>
          <p:cNvPr id="52" name="Straight Arrow Connector 51">
            <a:extLst>
              <a:ext uri="{FF2B5EF4-FFF2-40B4-BE49-F238E27FC236}">
                <a16:creationId xmlns:a16="http://schemas.microsoft.com/office/drawing/2014/main" id="{BA8A8647-AC7F-10B9-4FBF-98BA404464DD}"/>
              </a:ext>
            </a:extLst>
          </p:cNvPr>
          <p:cNvCxnSpPr>
            <a:cxnSpLocks/>
          </p:cNvCxnSpPr>
          <p:nvPr/>
        </p:nvCxnSpPr>
        <p:spPr>
          <a:xfrm>
            <a:off x="3434705" y="2681341"/>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476B7AE-7BFA-4695-9571-2E834A0779B5}"/>
              </a:ext>
            </a:extLst>
          </p:cNvPr>
          <p:cNvCxnSpPr>
            <a:cxnSpLocks/>
          </p:cNvCxnSpPr>
          <p:nvPr/>
        </p:nvCxnSpPr>
        <p:spPr>
          <a:xfrm>
            <a:off x="5797247" y="2681341"/>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3F4EDF54-EEB5-8F32-BA9F-921D7EA9CF59}"/>
              </a:ext>
            </a:extLst>
          </p:cNvPr>
          <p:cNvGrpSpPr/>
          <p:nvPr/>
        </p:nvGrpSpPr>
        <p:grpSpPr>
          <a:xfrm>
            <a:off x="8595678" y="2272019"/>
            <a:ext cx="2525121" cy="818645"/>
            <a:chOff x="9171568" y="2185633"/>
            <a:chExt cx="2525121" cy="818645"/>
          </a:xfrm>
        </p:grpSpPr>
        <p:sp>
          <p:nvSpPr>
            <p:cNvPr id="38" name="TextBox 37">
              <a:extLst>
                <a:ext uri="{FF2B5EF4-FFF2-40B4-BE49-F238E27FC236}">
                  <a16:creationId xmlns:a16="http://schemas.microsoft.com/office/drawing/2014/main" id="{96062BEC-B670-03D4-0C92-50718934B8F3}"/>
                </a:ext>
              </a:extLst>
            </p:cNvPr>
            <p:cNvSpPr txBox="1"/>
            <p:nvPr/>
          </p:nvSpPr>
          <p:spPr>
            <a:xfrm>
              <a:off x="9171569" y="2271200"/>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ATACG</a:t>
              </a:r>
              <a:r>
                <a:rPr lang="en-US" noProof="0" dirty="0">
                  <a:solidFill>
                    <a:schemeClr val="accent2"/>
                  </a:solidFill>
                  <a:latin typeface="Cascadia Code" panose="020B0609020000020004" pitchFamily="49" charset="0"/>
                  <a:cs typeface="Cascadia Code" panose="020B0609020000020004" pitchFamily="49" charset="0"/>
                </a:rPr>
                <a:t>CCG</a:t>
              </a:r>
              <a:r>
                <a:rPr lang="en-US" noProof="0" dirty="0">
                  <a:latin typeface="Cascadia Code" panose="020B0609020000020004" pitchFamily="49" charset="0"/>
                  <a:cs typeface="Cascadia Code" panose="020B0609020000020004" pitchFamily="49" charset="0"/>
                </a:rPr>
                <a:t>GCTAGTCC</a:t>
              </a:r>
              <a:endParaRPr lang="en-US" sz="1400" noProof="0" dirty="0">
                <a:latin typeface="Cascadia Code" panose="020B0609020000020004" pitchFamily="49" charset="0"/>
                <a:cs typeface="Cascadia Code" panose="020B0609020000020004" pitchFamily="49" charset="0"/>
              </a:endParaRPr>
            </a:p>
          </p:txBody>
        </p:sp>
        <p:pic>
          <p:nvPicPr>
            <p:cNvPr id="40" name="Graphic 39" descr="Close with solid fill">
              <a:extLst>
                <a:ext uri="{FF2B5EF4-FFF2-40B4-BE49-F238E27FC236}">
                  <a16:creationId xmlns:a16="http://schemas.microsoft.com/office/drawing/2014/main" id="{E0419281-F755-04F8-FEE2-D5AAC94B8E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054" y="2185633"/>
              <a:ext cx="273635" cy="273635"/>
            </a:xfrm>
            <a:prstGeom prst="rect">
              <a:avLst/>
            </a:prstGeom>
          </p:spPr>
        </p:pic>
        <p:pic>
          <p:nvPicPr>
            <p:cNvPr id="42" name="Graphic 41" descr="Tick with solid fill">
              <a:extLst>
                <a:ext uri="{FF2B5EF4-FFF2-40B4-BE49-F238E27FC236}">
                  <a16:creationId xmlns:a16="http://schemas.microsoft.com/office/drawing/2014/main" id="{86AD8FB0-7CB5-CB39-C942-363D982738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23054" y="2554341"/>
              <a:ext cx="273635" cy="273635"/>
            </a:xfrm>
            <a:prstGeom prst="rect">
              <a:avLst/>
            </a:prstGeom>
          </p:spPr>
        </p:pic>
        <p:sp>
          <p:nvSpPr>
            <p:cNvPr id="43" name="TextBox 42">
              <a:extLst>
                <a:ext uri="{FF2B5EF4-FFF2-40B4-BE49-F238E27FC236}">
                  <a16:creationId xmlns:a16="http://schemas.microsoft.com/office/drawing/2014/main" id="{FBFF9A66-B4F6-B4BF-0F47-209CCC2BBD89}"/>
                </a:ext>
              </a:extLst>
            </p:cNvPr>
            <p:cNvSpPr txBox="1"/>
            <p:nvPr/>
          </p:nvSpPr>
          <p:spPr>
            <a:xfrm>
              <a:off x="9171568" y="2634946"/>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ATACG</a:t>
              </a:r>
              <a:r>
                <a:rPr lang="en-US" noProof="0" dirty="0">
                  <a:solidFill>
                    <a:schemeClr val="accent3"/>
                  </a:solidFill>
                  <a:latin typeface="Cascadia Code" panose="020B0609020000020004" pitchFamily="49" charset="0"/>
                  <a:cs typeface="Cascadia Code" panose="020B0609020000020004" pitchFamily="49" charset="0"/>
                </a:rPr>
                <a:t>TTA</a:t>
              </a:r>
              <a:r>
                <a:rPr lang="en-US" noProof="0" dirty="0">
                  <a:latin typeface="Cascadia Code" panose="020B0609020000020004" pitchFamily="49" charset="0"/>
                  <a:cs typeface="Cascadia Code" panose="020B0609020000020004" pitchFamily="49" charset="0"/>
                </a:rPr>
                <a:t>GCTAGTCC</a:t>
              </a:r>
              <a:endParaRPr lang="en-US" sz="1400" noProof="0" dirty="0">
                <a:latin typeface="Cascadia Code" panose="020B0609020000020004" pitchFamily="49" charset="0"/>
                <a:cs typeface="Cascadia Code" panose="020B0609020000020004" pitchFamily="49" charset="0"/>
              </a:endParaRPr>
            </a:p>
          </p:txBody>
        </p:sp>
      </p:grpSp>
      <p:cxnSp>
        <p:nvCxnSpPr>
          <p:cNvPr id="45" name="Straight Arrow Connector 44">
            <a:extLst>
              <a:ext uri="{FF2B5EF4-FFF2-40B4-BE49-F238E27FC236}">
                <a16:creationId xmlns:a16="http://schemas.microsoft.com/office/drawing/2014/main" id="{210FE639-091B-90B7-EEFE-2B4946605721}"/>
              </a:ext>
            </a:extLst>
          </p:cNvPr>
          <p:cNvCxnSpPr>
            <a:cxnSpLocks/>
          </p:cNvCxnSpPr>
          <p:nvPr/>
        </p:nvCxnSpPr>
        <p:spPr>
          <a:xfrm>
            <a:off x="8160781" y="2681341"/>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10EFF376-27E9-F728-941A-BE4F046CCD91}"/>
              </a:ext>
            </a:extLst>
          </p:cNvPr>
          <p:cNvSpPr txBox="1"/>
          <p:nvPr/>
        </p:nvSpPr>
        <p:spPr>
          <a:xfrm>
            <a:off x="880568" y="3503100"/>
            <a:ext cx="3081831" cy="440313"/>
          </a:xfrm>
          <a:prstGeom prst="rect">
            <a:avLst/>
          </a:prstGeom>
          <a:noFill/>
        </p:spPr>
        <p:txBody>
          <a:bodyPr wrap="square" rtlCol="0">
            <a:spAutoFit/>
          </a:bodyPr>
          <a:lstStyle/>
          <a:p>
            <a:pPr>
              <a:lnSpc>
                <a:spcPct val="80000"/>
              </a:lnSpc>
            </a:pPr>
            <a:r>
              <a:rPr lang="en-US" sz="1400" noProof="0" dirty="0">
                <a:solidFill>
                  <a:schemeClr val="accent2">
                    <a:lumMod val="50000"/>
                  </a:schemeClr>
                </a:solidFill>
                <a:latin typeface="+mj-lt"/>
              </a:rPr>
              <a:t>Step 2: Learn the specific task,</a:t>
            </a:r>
            <a:br>
              <a:rPr lang="en-US" sz="1400" noProof="0" dirty="0">
                <a:solidFill>
                  <a:schemeClr val="accent2">
                    <a:lumMod val="50000"/>
                  </a:schemeClr>
                </a:solidFill>
                <a:latin typeface="+mj-lt"/>
              </a:rPr>
            </a:br>
            <a:r>
              <a:rPr lang="en-US" sz="1400" noProof="0" dirty="0">
                <a:solidFill>
                  <a:schemeClr val="accent2">
                    <a:lumMod val="50000"/>
                  </a:schemeClr>
                </a:solidFill>
                <a:latin typeface="+mj-lt"/>
              </a:rPr>
              <a:t>reusing the foundation model</a:t>
            </a:r>
          </a:p>
        </p:txBody>
      </p:sp>
      <p:sp>
        <p:nvSpPr>
          <p:cNvPr id="80" name="TextBox 79">
            <a:extLst>
              <a:ext uri="{FF2B5EF4-FFF2-40B4-BE49-F238E27FC236}">
                <a16:creationId xmlns:a16="http://schemas.microsoft.com/office/drawing/2014/main" id="{96EFFA57-C5D1-DD96-00E1-86F46D76CD99}"/>
              </a:ext>
            </a:extLst>
          </p:cNvPr>
          <p:cNvSpPr txBox="1"/>
          <p:nvPr/>
        </p:nvSpPr>
        <p:spPr>
          <a:xfrm>
            <a:off x="880474" y="4091086"/>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CGTGGAGGCAGTTAAC</a:t>
            </a:r>
            <a:endParaRPr lang="en-US" sz="1800" noProof="0" dirty="0">
              <a:latin typeface="Cascadia Code" panose="020B0609020000020004" pitchFamily="49" charset="0"/>
              <a:cs typeface="Cascadia Code" panose="020B0609020000020004" pitchFamily="49" charset="0"/>
            </a:endParaRPr>
          </a:p>
        </p:txBody>
      </p:sp>
      <p:sp>
        <p:nvSpPr>
          <p:cNvPr id="81" name="Rectangle: Rounded Corners 80">
            <a:extLst>
              <a:ext uri="{FF2B5EF4-FFF2-40B4-BE49-F238E27FC236}">
                <a16:creationId xmlns:a16="http://schemas.microsoft.com/office/drawing/2014/main" id="{6E9A1967-C827-9FE6-D09E-E465479F15DD}"/>
              </a:ext>
            </a:extLst>
          </p:cNvPr>
          <p:cNvSpPr/>
          <p:nvPr/>
        </p:nvSpPr>
        <p:spPr>
          <a:xfrm>
            <a:off x="6232143" y="3919800"/>
            <a:ext cx="1735200" cy="711904"/>
          </a:xfrm>
          <a:prstGeom prst="roundRect">
            <a:avLst>
              <a:gd name="adj" fmla="val 10894"/>
            </a:avLst>
          </a:prstGeom>
          <a:gradFill flip="none" rotWithShape="1">
            <a:gsLst>
              <a:gs pos="0">
                <a:schemeClr val="accent1">
                  <a:lumMod val="57000"/>
                </a:schemeClr>
              </a:gs>
              <a:gs pos="100000">
                <a:schemeClr val="accent1">
                  <a:lumMod val="5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prstClr val="white"/>
                </a:solidFill>
                <a:latin typeface="UGent Panno Text"/>
              </a:rPr>
              <a:t>TF motif prediction</a:t>
            </a:r>
          </a:p>
        </p:txBody>
      </p:sp>
      <p:cxnSp>
        <p:nvCxnSpPr>
          <p:cNvPr id="82" name="Straight Arrow Connector 81">
            <a:extLst>
              <a:ext uri="{FF2B5EF4-FFF2-40B4-BE49-F238E27FC236}">
                <a16:creationId xmlns:a16="http://schemas.microsoft.com/office/drawing/2014/main" id="{DFC2A389-A7DA-AF2D-6126-DFEE59F1D672}"/>
              </a:ext>
            </a:extLst>
          </p:cNvPr>
          <p:cNvCxnSpPr>
            <a:cxnSpLocks/>
          </p:cNvCxnSpPr>
          <p:nvPr/>
        </p:nvCxnSpPr>
        <p:spPr>
          <a:xfrm>
            <a:off x="3434705" y="4275752"/>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54359A4-FF41-0FCE-8987-F5EB45421ECF}"/>
              </a:ext>
            </a:extLst>
          </p:cNvPr>
          <p:cNvCxnSpPr>
            <a:cxnSpLocks/>
          </p:cNvCxnSpPr>
          <p:nvPr/>
        </p:nvCxnSpPr>
        <p:spPr>
          <a:xfrm>
            <a:off x="5797247" y="4275752"/>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58B1C857-0C3A-D157-A0F1-BD474E25E5F9}"/>
              </a:ext>
            </a:extLst>
          </p:cNvPr>
          <p:cNvGrpSpPr/>
          <p:nvPr/>
        </p:nvGrpSpPr>
        <p:grpSpPr>
          <a:xfrm>
            <a:off x="8595678" y="3866430"/>
            <a:ext cx="2525121" cy="818645"/>
            <a:chOff x="9171568" y="2185633"/>
            <a:chExt cx="2525121" cy="818645"/>
          </a:xfrm>
        </p:grpSpPr>
        <p:sp>
          <p:nvSpPr>
            <p:cNvPr id="86" name="TextBox 85">
              <a:extLst>
                <a:ext uri="{FF2B5EF4-FFF2-40B4-BE49-F238E27FC236}">
                  <a16:creationId xmlns:a16="http://schemas.microsoft.com/office/drawing/2014/main" id="{988E6DBF-87C0-C2EF-9A6C-380B4A295C26}"/>
                </a:ext>
              </a:extLst>
            </p:cNvPr>
            <p:cNvSpPr txBox="1"/>
            <p:nvPr/>
          </p:nvSpPr>
          <p:spPr>
            <a:xfrm>
              <a:off x="9171569" y="2271200"/>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CG</a:t>
              </a:r>
              <a:r>
                <a:rPr lang="en-US" u="sng" noProof="0" dirty="0">
                  <a:solidFill>
                    <a:schemeClr val="accent1"/>
                  </a:solidFill>
                  <a:latin typeface="Cascadia Code" panose="020B0609020000020004" pitchFamily="49" charset="0"/>
                  <a:cs typeface="Cascadia Code" panose="020B0609020000020004" pitchFamily="49" charset="0"/>
                </a:rPr>
                <a:t>TGGAGGC</a:t>
              </a:r>
              <a:r>
                <a:rPr lang="en-US" noProof="0" dirty="0">
                  <a:latin typeface="Cascadia Code" panose="020B0609020000020004" pitchFamily="49" charset="0"/>
                  <a:cs typeface="Cascadia Code" panose="020B0609020000020004" pitchFamily="49" charset="0"/>
                </a:rPr>
                <a:t>AGTTAAC</a:t>
              </a:r>
              <a:endParaRPr lang="en-US" sz="1400" noProof="0" dirty="0">
                <a:latin typeface="Cascadia Code" panose="020B0609020000020004" pitchFamily="49" charset="0"/>
                <a:cs typeface="Cascadia Code" panose="020B0609020000020004" pitchFamily="49" charset="0"/>
              </a:endParaRPr>
            </a:p>
          </p:txBody>
        </p:sp>
        <p:pic>
          <p:nvPicPr>
            <p:cNvPr id="87" name="Graphic 86" descr="Close with solid fill">
              <a:extLst>
                <a:ext uri="{FF2B5EF4-FFF2-40B4-BE49-F238E27FC236}">
                  <a16:creationId xmlns:a16="http://schemas.microsoft.com/office/drawing/2014/main" id="{E28E81D2-CF56-E7FA-8AA2-E9F84CF688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054" y="2185633"/>
              <a:ext cx="273635" cy="273635"/>
            </a:xfrm>
            <a:prstGeom prst="rect">
              <a:avLst/>
            </a:prstGeom>
          </p:spPr>
        </p:pic>
        <p:pic>
          <p:nvPicPr>
            <p:cNvPr id="88" name="Graphic 87" descr="Tick with solid fill">
              <a:extLst>
                <a:ext uri="{FF2B5EF4-FFF2-40B4-BE49-F238E27FC236}">
                  <a16:creationId xmlns:a16="http://schemas.microsoft.com/office/drawing/2014/main" id="{93B91056-E28E-A8CA-864E-AF90E1DC6F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23054" y="2554341"/>
              <a:ext cx="273635" cy="273635"/>
            </a:xfrm>
            <a:prstGeom prst="rect">
              <a:avLst/>
            </a:prstGeom>
          </p:spPr>
        </p:pic>
        <p:sp>
          <p:nvSpPr>
            <p:cNvPr id="89" name="TextBox 88">
              <a:extLst>
                <a:ext uri="{FF2B5EF4-FFF2-40B4-BE49-F238E27FC236}">
                  <a16:creationId xmlns:a16="http://schemas.microsoft.com/office/drawing/2014/main" id="{35BF233A-BEA3-F0DB-2E48-FD1F6A7D16A9}"/>
                </a:ext>
              </a:extLst>
            </p:cNvPr>
            <p:cNvSpPr txBox="1"/>
            <p:nvPr/>
          </p:nvSpPr>
          <p:spPr>
            <a:xfrm>
              <a:off x="9171568" y="2634946"/>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CGTGGAG</a:t>
              </a:r>
              <a:r>
                <a:rPr lang="en-US" u="sng" noProof="0" dirty="0">
                  <a:solidFill>
                    <a:schemeClr val="accent1"/>
                  </a:solidFill>
                  <a:latin typeface="Cascadia Code" panose="020B0609020000020004" pitchFamily="49" charset="0"/>
                  <a:cs typeface="Cascadia Code" panose="020B0609020000020004" pitchFamily="49" charset="0"/>
                </a:rPr>
                <a:t>GCAGTTA</a:t>
              </a:r>
              <a:r>
                <a:rPr lang="en-US" noProof="0" dirty="0">
                  <a:latin typeface="Cascadia Code" panose="020B0609020000020004" pitchFamily="49" charset="0"/>
                  <a:cs typeface="Cascadia Code" panose="020B0609020000020004" pitchFamily="49" charset="0"/>
                </a:rPr>
                <a:t>AC</a:t>
              </a:r>
              <a:endParaRPr lang="en-US" sz="1400" noProof="0" dirty="0">
                <a:latin typeface="Cascadia Code" panose="020B0609020000020004" pitchFamily="49" charset="0"/>
                <a:cs typeface="Cascadia Code" panose="020B0609020000020004" pitchFamily="49" charset="0"/>
              </a:endParaRPr>
            </a:p>
          </p:txBody>
        </p:sp>
      </p:grpSp>
      <p:cxnSp>
        <p:nvCxnSpPr>
          <p:cNvPr id="90" name="Straight Arrow Connector 89">
            <a:extLst>
              <a:ext uri="{FF2B5EF4-FFF2-40B4-BE49-F238E27FC236}">
                <a16:creationId xmlns:a16="http://schemas.microsoft.com/office/drawing/2014/main" id="{D91B0551-FC37-77CF-217F-CEB3F2514F94}"/>
              </a:ext>
            </a:extLst>
          </p:cNvPr>
          <p:cNvCxnSpPr>
            <a:cxnSpLocks/>
          </p:cNvCxnSpPr>
          <p:nvPr/>
        </p:nvCxnSpPr>
        <p:spPr>
          <a:xfrm>
            <a:off x="8160781" y="4275752"/>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89C0B50E-B73D-447B-27A3-6C68CE35A7A8}"/>
              </a:ext>
            </a:extLst>
          </p:cNvPr>
          <p:cNvGrpSpPr/>
          <p:nvPr/>
        </p:nvGrpSpPr>
        <p:grpSpPr>
          <a:xfrm>
            <a:off x="880474" y="5062252"/>
            <a:ext cx="10240325" cy="818645"/>
            <a:chOff x="849123" y="4954302"/>
            <a:chExt cx="10240325" cy="818645"/>
          </a:xfrm>
        </p:grpSpPr>
        <p:sp>
          <p:nvSpPr>
            <p:cNvPr id="91" name="TextBox 90">
              <a:extLst>
                <a:ext uri="{FF2B5EF4-FFF2-40B4-BE49-F238E27FC236}">
                  <a16:creationId xmlns:a16="http://schemas.microsoft.com/office/drawing/2014/main" id="{6812879E-B71E-6B67-7D09-BC1F35A7DA03}"/>
                </a:ext>
              </a:extLst>
            </p:cNvPr>
            <p:cNvSpPr txBox="1"/>
            <p:nvPr/>
          </p:nvSpPr>
          <p:spPr>
            <a:xfrm>
              <a:off x="849123" y="5178958"/>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ATCGTATGCTAGGCTT</a:t>
              </a:r>
              <a:endParaRPr lang="en-US" sz="1800" noProof="0" dirty="0">
                <a:latin typeface="Cascadia Code" panose="020B0609020000020004" pitchFamily="49" charset="0"/>
                <a:cs typeface="Cascadia Code" panose="020B0609020000020004" pitchFamily="49" charset="0"/>
              </a:endParaRPr>
            </a:p>
          </p:txBody>
        </p:sp>
        <p:sp>
          <p:nvSpPr>
            <p:cNvPr id="92" name="Rectangle: Rounded Corners 91">
              <a:extLst>
                <a:ext uri="{FF2B5EF4-FFF2-40B4-BE49-F238E27FC236}">
                  <a16:creationId xmlns:a16="http://schemas.microsoft.com/office/drawing/2014/main" id="{23553CD4-D484-809E-32C4-FF707D682BE6}"/>
                </a:ext>
              </a:extLst>
            </p:cNvPr>
            <p:cNvSpPr/>
            <p:nvPr/>
          </p:nvSpPr>
          <p:spPr>
            <a:xfrm>
              <a:off x="6200792" y="5007672"/>
              <a:ext cx="1735200" cy="711904"/>
            </a:xfrm>
            <a:prstGeom prst="roundRect">
              <a:avLst>
                <a:gd name="adj" fmla="val 10894"/>
              </a:avLst>
            </a:prstGeom>
            <a:gradFill flip="none" rotWithShape="1">
              <a:gsLst>
                <a:gs pos="0">
                  <a:schemeClr val="accent1">
                    <a:lumMod val="57000"/>
                  </a:schemeClr>
                </a:gs>
                <a:gs pos="100000">
                  <a:schemeClr val="accent1">
                    <a:lumMod val="5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prstClr val="white"/>
                  </a:solidFill>
                  <a:latin typeface="UGent Panno Text"/>
                </a:rPr>
                <a:t>splice site prediction</a:t>
              </a:r>
            </a:p>
          </p:txBody>
        </p:sp>
        <p:cxnSp>
          <p:nvCxnSpPr>
            <p:cNvPr id="93" name="Straight Arrow Connector 92">
              <a:extLst>
                <a:ext uri="{FF2B5EF4-FFF2-40B4-BE49-F238E27FC236}">
                  <a16:creationId xmlns:a16="http://schemas.microsoft.com/office/drawing/2014/main" id="{FBE66431-F085-8258-D735-010D50C3BF7D}"/>
                </a:ext>
              </a:extLst>
            </p:cNvPr>
            <p:cNvCxnSpPr>
              <a:cxnSpLocks/>
            </p:cNvCxnSpPr>
            <p:nvPr/>
          </p:nvCxnSpPr>
          <p:spPr>
            <a:xfrm>
              <a:off x="3403354" y="5363624"/>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A99A4574-9C05-6F84-39E6-677486D746B3}"/>
                </a:ext>
              </a:extLst>
            </p:cNvPr>
            <p:cNvCxnSpPr>
              <a:cxnSpLocks/>
            </p:cNvCxnSpPr>
            <p:nvPr/>
          </p:nvCxnSpPr>
          <p:spPr>
            <a:xfrm>
              <a:off x="5765896" y="5363624"/>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Rounded Corners 94">
              <a:extLst>
                <a:ext uri="{FF2B5EF4-FFF2-40B4-BE49-F238E27FC236}">
                  <a16:creationId xmlns:a16="http://schemas.microsoft.com/office/drawing/2014/main" id="{A29632C8-7327-B306-B202-C629608D5F28}"/>
                </a:ext>
              </a:extLst>
            </p:cNvPr>
            <p:cNvSpPr/>
            <p:nvPr/>
          </p:nvSpPr>
          <p:spPr>
            <a:xfrm>
              <a:off x="3838250" y="5007672"/>
              <a:ext cx="1734208" cy="711904"/>
            </a:xfrm>
            <a:prstGeom prst="roundRect">
              <a:avLst>
                <a:gd name="adj" fmla="val 10894"/>
              </a:avLst>
            </a:prstGeom>
            <a:gradFill flip="none" rotWithShape="1">
              <a:gsLst>
                <a:gs pos="0">
                  <a:schemeClr val="accent2">
                    <a:lumMod val="38000"/>
                  </a:schemeClr>
                </a:gs>
                <a:gs pos="100000">
                  <a:schemeClr val="accent1">
                    <a:lumMod val="64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UGent Panno Text"/>
                  <a:ea typeface="+mn-ea"/>
                  <a:cs typeface="+mn-cs"/>
                </a:rPr>
                <a:t>foundation model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UGent Panno Text"/>
                  <a:ea typeface="+mn-ea"/>
                  <a:cs typeface="+mn-cs"/>
                </a:rPr>
                <a:t>(already trained)</a:t>
              </a:r>
            </a:p>
          </p:txBody>
        </p:sp>
        <p:grpSp>
          <p:nvGrpSpPr>
            <p:cNvPr id="96" name="Group 95">
              <a:extLst>
                <a:ext uri="{FF2B5EF4-FFF2-40B4-BE49-F238E27FC236}">
                  <a16:creationId xmlns:a16="http://schemas.microsoft.com/office/drawing/2014/main" id="{10B2D751-DD37-C732-D83F-FB16B5C02256}"/>
                </a:ext>
              </a:extLst>
            </p:cNvPr>
            <p:cNvGrpSpPr/>
            <p:nvPr/>
          </p:nvGrpSpPr>
          <p:grpSpPr>
            <a:xfrm>
              <a:off x="8564327" y="4954302"/>
              <a:ext cx="2525121" cy="818645"/>
              <a:chOff x="9171568" y="2185633"/>
              <a:chExt cx="2525121" cy="818645"/>
            </a:xfrm>
          </p:grpSpPr>
          <p:sp>
            <p:nvSpPr>
              <p:cNvPr id="97" name="TextBox 96">
                <a:extLst>
                  <a:ext uri="{FF2B5EF4-FFF2-40B4-BE49-F238E27FC236}">
                    <a16:creationId xmlns:a16="http://schemas.microsoft.com/office/drawing/2014/main" id="{747A534E-1F34-955E-22A5-45EF4503B1E0}"/>
                  </a:ext>
                </a:extLst>
              </p:cNvPr>
              <p:cNvSpPr txBox="1"/>
              <p:nvPr/>
            </p:nvSpPr>
            <p:spPr>
              <a:xfrm>
                <a:off x="9171569" y="2271200"/>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ATCGT</a:t>
                </a:r>
                <a:r>
                  <a:rPr lang="en-US" u="sng" noProof="0" dirty="0">
                    <a:solidFill>
                      <a:schemeClr val="accent5"/>
                    </a:solidFill>
                    <a:latin typeface="Cascadia Code" panose="020B0609020000020004" pitchFamily="49" charset="0"/>
                    <a:cs typeface="Cascadia Code" panose="020B0609020000020004" pitchFamily="49" charset="0"/>
                  </a:rPr>
                  <a:t>ATGCTAG</a:t>
                </a:r>
                <a:r>
                  <a:rPr lang="en-US" noProof="0" dirty="0">
                    <a:latin typeface="Cascadia Code" panose="020B0609020000020004" pitchFamily="49" charset="0"/>
                    <a:cs typeface="Cascadia Code" panose="020B0609020000020004" pitchFamily="49" charset="0"/>
                  </a:rPr>
                  <a:t>GCTT</a:t>
                </a:r>
                <a:endParaRPr lang="en-US" sz="1400" noProof="0" dirty="0">
                  <a:latin typeface="Cascadia Code" panose="020B0609020000020004" pitchFamily="49" charset="0"/>
                  <a:cs typeface="Cascadia Code" panose="020B0609020000020004" pitchFamily="49" charset="0"/>
                </a:endParaRPr>
              </a:p>
            </p:txBody>
          </p:sp>
          <p:pic>
            <p:nvPicPr>
              <p:cNvPr id="98" name="Graphic 97" descr="Close with solid fill">
                <a:extLst>
                  <a:ext uri="{FF2B5EF4-FFF2-40B4-BE49-F238E27FC236}">
                    <a16:creationId xmlns:a16="http://schemas.microsoft.com/office/drawing/2014/main" id="{CFF63608-1555-BAE1-8CC4-04F66ECE5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054" y="2185633"/>
                <a:ext cx="273635" cy="273635"/>
              </a:xfrm>
              <a:prstGeom prst="rect">
                <a:avLst/>
              </a:prstGeom>
            </p:spPr>
          </p:pic>
          <p:pic>
            <p:nvPicPr>
              <p:cNvPr id="99" name="Graphic 98" descr="Tick with solid fill">
                <a:extLst>
                  <a:ext uri="{FF2B5EF4-FFF2-40B4-BE49-F238E27FC236}">
                    <a16:creationId xmlns:a16="http://schemas.microsoft.com/office/drawing/2014/main" id="{4A5A68B7-12C0-7750-A507-7F4B1400F1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23054" y="2554341"/>
                <a:ext cx="273635" cy="273635"/>
              </a:xfrm>
              <a:prstGeom prst="rect">
                <a:avLst/>
              </a:prstGeom>
            </p:spPr>
          </p:pic>
          <p:sp>
            <p:nvSpPr>
              <p:cNvPr id="100" name="TextBox 99">
                <a:extLst>
                  <a:ext uri="{FF2B5EF4-FFF2-40B4-BE49-F238E27FC236}">
                    <a16:creationId xmlns:a16="http://schemas.microsoft.com/office/drawing/2014/main" id="{A942DC22-95B6-3ABB-D1EE-CFC16250D419}"/>
                  </a:ext>
                </a:extLst>
              </p:cNvPr>
              <p:cNvSpPr txBox="1"/>
              <p:nvPr/>
            </p:nvSpPr>
            <p:spPr>
              <a:xfrm>
                <a:off x="9171568" y="2634946"/>
                <a:ext cx="2360793" cy="369332"/>
              </a:xfrm>
              <a:prstGeom prst="rect">
                <a:avLst/>
              </a:prstGeom>
              <a:noFill/>
            </p:spPr>
            <p:txBody>
              <a:bodyPr wrap="square">
                <a:spAutoFit/>
              </a:bodyPr>
              <a:lstStyle/>
              <a:p>
                <a:r>
                  <a:rPr lang="en-US" noProof="0" dirty="0">
                    <a:latin typeface="Cascadia Code" panose="020B0609020000020004" pitchFamily="49" charset="0"/>
                    <a:cs typeface="Cascadia Code" panose="020B0609020000020004" pitchFamily="49" charset="0"/>
                  </a:rPr>
                  <a:t>AT</a:t>
                </a:r>
                <a:r>
                  <a:rPr lang="en-US" u="sng" noProof="0" dirty="0">
                    <a:solidFill>
                      <a:schemeClr val="accent5"/>
                    </a:solidFill>
                    <a:latin typeface="Cascadia Code" panose="020B0609020000020004" pitchFamily="49" charset="0"/>
                    <a:cs typeface="Cascadia Code" panose="020B0609020000020004" pitchFamily="49" charset="0"/>
                  </a:rPr>
                  <a:t>CGTATGC</a:t>
                </a:r>
                <a:r>
                  <a:rPr lang="en-US" noProof="0" dirty="0">
                    <a:latin typeface="Cascadia Code" panose="020B0609020000020004" pitchFamily="49" charset="0"/>
                    <a:cs typeface="Cascadia Code" panose="020B0609020000020004" pitchFamily="49" charset="0"/>
                  </a:rPr>
                  <a:t>TAGGCTT</a:t>
                </a:r>
                <a:endParaRPr lang="en-US" sz="1400" noProof="0" dirty="0">
                  <a:latin typeface="Cascadia Code" panose="020B0609020000020004" pitchFamily="49" charset="0"/>
                  <a:cs typeface="Cascadia Code" panose="020B0609020000020004" pitchFamily="49" charset="0"/>
                </a:endParaRPr>
              </a:p>
            </p:txBody>
          </p:sp>
        </p:grpSp>
        <p:cxnSp>
          <p:nvCxnSpPr>
            <p:cNvPr id="101" name="Straight Arrow Connector 100">
              <a:extLst>
                <a:ext uri="{FF2B5EF4-FFF2-40B4-BE49-F238E27FC236}">
                  <a16:creationId xmlns:a16="http://schemas.microsoft.com/office/drawing/2014/main" id="{0E451C4F-F903-68E5-2B56-54F313EA29B9}"/>
                </a:ext>
              </a:extLst>
            </p:cNvPr>
            <p:cNvCxnSpPr>
              <a:cxnSpLocks/>
            </p:cNvCxnSpPr>
            <p:nvPr/>
          </p:nvCxnSpPr>
          <p:spPr>
            <a:xfrm>
              <a:off x="8129430" y="5363624"/>
              <a:ext cx="241458" cy="0"/>
            </a:xfrm>
            <a:prstGeom prst="straightConnector1">
              <a:avLst/>
            </a:prstGeom>
            <a:ln w="285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Rounded Corners 26">
            <a:extLst>
              <a:ext uri="{FF2B5EF4-FFF2-40B4-BE49-F238E27FC236}">
                <a16:creationId xmlns:a16="http://schemas.microsoft.com/office/drawing/2014/main" id="{D7D30D70-F9CC-11BA-212F-24674D7E6F27}"/>
              </a:ext>
            </a:extLst>
          </p:cNvPr>
          <p:cNvSpPr/>
          <p:nvPr/>
        </p:nvSpPr>
        <p:spPr>
          <a:xfrm>
            <a:off x="837893" y="1821277"/>
            <a:ext cx="10516213" cy="1391163"/>
          </a:xfrm>
          <a:prstGeom prst="roundRect">
            <a:avLst>
              <a:gd name="adj" fmla="val 10894"/>
            </a:avLst>
          </a:prstGeom>
          <a:solidFill>
            <a:srgbClr val="FFFFFF">
              <a:alpha val="80000"/>
            </a:srgbClr>
          </a:solidFill>
          <a:ln w="28575">
            <a:solidFill>
              <a:schemeClr val="accent1">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2"/>
              </a:solidFill>
            </a:endParaRPr>
          </a:p>
        </p:txBody>
      </p:sp>
      <p:sp>
        <p:nvSpPr>
          <p:cNvPr id="6" name="Rectangle: Rounded Corners 5">
            <a:extLst>
              <a:ext uri="{FF2B5EF4-FFF2-40B4-BE49-F238E27FC236}">
                <a16:creationId xmlns:a16="http://schemas.microsoft.com/office/drawing/2014/main" id="{58FA947C-382B-7E7E-3D41-A25E13D2CD9B}"/>
              </a:ext>
            </a:extLst>
          </p:cNvPr>
          <p:cNvSpPr/>
          <p:nvPr/>
        </p:nvSpPr>
        <p:spPr>
          <a:xfrm>
            <a:off x="3869601" y="2325389"/>
            <a:ext cx="1734208" cy="711904"/>
          </a:xfrm>
          <a:prstGeom prst="roundRect">
            <a:avLst>
              <a:gd name="adj" fmla="val 10894"/>
            </a:avLst>
          </a:prstGeom>
          <a:gradFill flip="none" rotWithShape="1">
            <a:gsLst>
              <a:gs pos="0">
                <a:schemeClr val="accent2">
                  <a:lumMod val="38000"/>
                </a:schemeClr>
              </a:gs>
              <a:gs pos="100000">
                <a:schemeClr val="accent1">
                  <a:lumMod val="64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prstClr val="white"/>
                </a:solidFill>
                <a:latin typeface="UGent Panno Text"/>
              </a:rPr>
              <a:t>foundation model</a:t>
            </a:r>
          </a:p>
        </p:txBody>
      </p:sp>
      <p:cxnSp>
        <p:nvCxnSpPr>
          <p:cNvPr id="63" name="Straight Arrow Connector 62">
            <a:extLst>
              <a:ext uri="{FF2B5EF4-FFF2-40B4-BE49-F238E27FC236}">
                <a16:creationId xmlns:a16="http://schemas.microsoft.com/office/drawing/2014/main" id="{EA0AE4F8-B70F-98E5-55E3-FE5C2A0B3604}"/>
              </a:ext>
            </a:extLst>
          </p:cNvPr>
          <p:cNvCxnSpPr>
            <a:cxnSpLocks/>
          </p:cNvCxnSpPr>
          <p:nvPr/>
        </p:nvCxnSpPr>
        <p:spPr>
          <a:xfrm>
            <a:off x="4736705" y="3135793"/>
            <a:ext cx="0" cy="685508"/>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92B00DB4-90C0-567C-B2C5-53099B1BEF11}"/>
              </a:ext>
            </a:extLst>
          </p:cNvPr>
          <p:cNvCxnSpPr>
            <a:cxnSpLocks/>
          </p:cNvCxnSpPr>
          <p:nvPr/>
        </p:nvCxnSpPr>
        <p:spPr>
          <a:xfrm>
            <a:off x="4933984" y="3135793"/>
            <a:ext cx="0" cy="1834504"/>
          </a:xfrm>
          <a:prstGeom prst="straightConnector1">
            <a:avLst/>
          </a:prstGeom>
          <a:ln w="571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C5D80312-3517-9701-6E30-915706213916}"/>
              </a:ext>
            </a:extLst>
          </p:cNvPr>
          <p:cNvSpPr/>
          <p:nvPr/>
        </p:nvSpPr>
        <p:spPr>
          <a:xfrm>
            <a:off x="3869601" y="3919800"/>
            <a:ext cx="1734208" cy="711904"/>
          </a:xfrm>
          <a:prstGeom prst="roundRect">
            <a:avLst>
              <a:gd name="adj" fmla="val 10894"/>
            </a:avLst>
          </a:prstGeom>
          <a:gradFill flip="none" rotWithShape="1">
            <a:gsLst>
              <a:gs pos="0">
                <a:schemeClr val="accent2">
                  <a:lumMod val="38000"/>
                </a:schemeClr>
              </a:gs>
              <a:gs pos="100000">
                <a:schemeClr val="accent1">
                  <a:lumMod val="64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1600" noProof="0" dirty="0">
                <a:solidFill>
                  <a:prstClr val="white"/>
                </a:solidFill>
                <a:latin typeface="UGent Panno Text"/>
              </a:rPr>
              <a:t>foundation model</a:t>
            </a:r>
          </a:p>
          <a:p>
            <a:pPr lvl="0" algn="ctr">
              <a:defRPr/>
            </a:pPr>
            <a:r>
              <a:rPr lang="en-US" sz="1200" noProof="0" dirty="0">
                <a:solidFill>
                  <a:prstClr val="white"/>
                </a:solidFill>
                <a:latin typeface="UGent Panno Text"/>
              </a:rPr>
              <a:t>(already trained)</a:t>
            </a:r>
          </a:p>
        </p:txBody>
      </p:sp>
      <p:sp>
        <p:nvSpPr>
          <p:cNvPr id="9" name="TextBox 8">
            <a:extLst>
              <a:ext uri="{FF2B5EF4-FFF2-40B4-BE49-F238E27FC236}">
                <a16:creationId xmlns:a16="http://schemas.microsoft.com/office/drawing/2014/main" id="{212C297C-6567-82AB-D664-6D3B9ED0A90C}"/>
              </a:ext>
            </a:extLst>
          </p:cNvPr>
          <p:cNvSpPr txBox="1"/>
          <p:nvPr/>
        </p:nvSpPr>
        <p:spPr>
          <a:xfrm>
            <a:off x="880474" y="5950433"/>
            <a:ext cx="6008380" cy="267958"/>
          </a:xfrm>
          <a:prstGeom prst="rect">
            <a:avLst/>
          </a:prstGeom>
          <a:noFill/>
        </p:spPr>
        <p:txBody>
          <a:bodyPr wrap="square" rtlCol="0">
            <a:spAutoFit/>
          </a:bodyPr>
          <a:lstStyle/>
          <a:p>
            <a:pPr>
              <a:lnSpc>
                <a:spcPct val="80000"/>
              </a:lnSpc>
            </a:pPr>
            <a:r>
              <a:rPr lang="en-US" sz="1400" noProof="0" dirty="0">
                <a:solidFill>
                  <a:schemeClr val="accent3">
                    <a:lumMod val="75000"/>
                  </a:schemeClr>
                </a:solidFill>
                <a:latin typeface="+mj-lt"/>
              </a:rPr>
              <a:t>Requires much less training data!</a:t>
            </a:r>
          </a:p>
        </p:txBody>
      </p:sp>
    </p:spTree>
    <p:extLst>
      <p:ext uri="{BB962C8B-B14F-4D97-AF65-F5344CB8AC3E}">
        <p14:creationId xmlns:p14="http://schemas.microsoft.com/office/powerpoint/2010/main" val="253749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7D7B2-9A79-4054-EEF8-2DABAC90D856}"/>
              </a:ext>
            </a:extLst>
          </p:cNvPr>
          <p:cNvSpPr>
            <a:spLocks noGrp="1"/>
          </p:cNvSpPr>
          <p:nvPr>
            <p:ph type="title"/>
          </p:nvPr>
        </p:nvSpPr>
        <p:spPr/>
        <p:txBody>
          <a:bodyPr/>
          <a:lstStyle/>
          <a:p>
            <a:r>
              <a:rPr lang="en-US" noProof="0" dirty="0"/>
              <a:t>Foundation models can be highly generic, while the subsequent finetuning task can be very domain-specific</a:t>
            </a:r>
          </a:p>
        </p:txBody>
      </p:sp>
      <p:sp>
        <p:nvSpPr>
          <p:cNvPr id="4" name="Slide Number Placeholder 3">
            <a:extLst>
              <a:ext uri="{FF2B5EF4-FFF2-40B4-BE49-F238E27FC236}">
                <a16:creationId xmlns:a16="http://schemas.microsoft.com/office/drawing/2014/main" id="{070156F6-BA19-6FDF-D8C5-6C92F2457123}"/>
              </a:ext>
            </a:extLst>
          </p:cNvPr>
          <p:cNvSpPr>
            <a:spLocks noGrp="1"/>
          </p:cNvSpPr>
          <p:nvPr>
            <p:ph type="sldNum" sz="quarter" idx="12"/>
          </p:nvPr>
        </p:nvSpPr>
        <p:spPr/>
        <p:txBody>
          <a:bodyPr/>
          <a:lstStyle/>
          <a:p>
            <a:fld id="{94B3E216-A3C5-4E41-AE94-D003E76F1D3A}" type="slidenum">
              <a:rPr lang="en-US" noProof="0" smtClean="0"/>
              <a:pPr/>
              <a:t>5</a:t>
            </a:fld>
            <a:endParaRPr lang="en-US" noProof="0" dirty="0"/>
          </a:p>
        </p:txBody>
      </p:sp>
      <p:pic>
        <p:nvPicPr>
          <p:cNvPr id="6" name="Picture 5">
            <a:extLst>
              <a:ext uri="{FF2B5EF4-FFF2-40B4-BE49-F238E27FC236}">
                <a16:creationId xmlns:a16="http://schemas.microsoft.com/office/drawing/2014/main" id="{2A5D19D9-ABD7-7D8A-AFC6-1082F08F2B5B}"/>
              </a:ext>
            </a:extLst>
          </p:cNvPr>
          <p:cNvPicPr>
            <a:picLocks noChangeAspect="1"/>
          </p:cNvPicPr>
          <p:nvPr/>
        </p:nvPicPr>
        <p:blipFill>
          <a:blip r:embed="rId3"/>
          <a:stretch>
            <a:fillRect/>
          </a:stretch>
        </p:blipFill>
        <p:spPr>
          <a:xfrm>
            <a:off x="1274906" y="2479720"/>
            <a:ext cx="3954176" cy="3387104"/>
          </a:xfrm>
          <a:prstGeom prst="rect">
            <a:avLst/>
          </a:prstGeom>
        </p:spPr>
      </p:pic>
      <p:pic>
        <p:nvPicPr>
          <p:cNvPr id="7" name="Afbeelding 6">
            <a:extLst>
              <a:ext uri="{FF2B5EF4-FFF2-40B4-BE49-F238E27FC236}">
                <a16:creationId xmlns:a16="http://schemas.microsoft.com/office/drawing/2014/main" id="{027EC128-33A3-844E-0ADC-410D351756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9593" y="2922579"/>
            <a:ext cx="4864316" cy="2854678"/>
          </a:xfrm>
          <a:prstGeom prst="rect">
            <a:avLst/>
          </a:prstGeom>
        </p:spPr>
      </p:pic>
      <p:sp>
        <p:nvSpPr>
          <p:cNvPr id="9" name="TextBox 8">
            <a:extLst>
              <a:ext uri="{FF2B5EF4-FFF2-40B4-BE49-F238E27FC236}">
                <a16:creationId xmlns:a16="http://schemas.microsoft.com/office/drawing/2014/main" id="{BBE999F1-A483-8712-0797-2281C61FFDAE}"/>
              </a:ext>
            </a:extLst>
          </p:cNvPr>
          <p:cNvSpPr txBox="1"/>
          <p:nvPr/>
        </p:nvSpPr>
        <p:spPr>
          <a:xfrm>
            <a:off x="6096000" y="1663381"/>
            <a:ext cx="5688013" cy="646331"/>
          </a:xfrm>
          <a:prstGeom prst="rect">
            <a:avLst/>
          </a:prstGeom>
          <a:noFill/>
        </p:spPr>
        <p:txBody>
          <a:bodyPr wrap="square" rtlCol="0">
            <a:spAutoFit/>
          </a:bodyPr>
          <a:lstStyle/>
          <a:p>
            <a:pPr algn="ctr"/>
            <a:r>
              <a:rPr lang="en-US" b="1" noProof="0" dirty="0"/>
              <a:t>Finetuned for skin lesion classification</a:t>
            </a:r>
            <a:br>
              <a:rPr lang="en-US" b="1" noProof="0" dirty="0"/>
            </a:br>
            <a:r>
              <a:rPr lang="en-US" noProof="0" dirty="0"/>
              <a:t>finetuned with 127,463 images of skin lesions</a:t>
            </a:r>
            <a:endParaRPr lang="en-US" b="1" noProof="0" dirty="0"/>
          </a:p>
        </p:txBody>
      </p:sp>
      <p:sp>
        <p:nvSpPr>
          <p:cNvPr id="10" name="TextBox 9">
            <a:extLst>
              <a:ext uri="{FF2B5EF4-FFF2-40B4-BE49-F238E27FC236}">
                <a16:creationId xmlns:a16="http://schemas.microsoft.com/office/drawing/2014/main" id="{7052A18F-8E5A-A6EA-DD40-356B29DC84C4}"/>
              </a:ext>
            </a:extLst>
          </p:cNvPr>
          <p:cNvSpPr txBox="1"/>
          <p:nvPr/>
        </p:nvSpPr>
        <p:spPr>
          <a:xfrm>
            <a:off x="407989" y="1663381"/>
            <a:ext cx="5688011" cy="646331"/>
          </a:xfrm>
          <a:prstGeom prst="rect">
            <a:avLst/>
          </a:prstGeom>
          <a:noFill/>
        </p:spPr>
        <p:txBody>
          <a:bodyPr wrap="square" rtlCol="0">
            <a:spAutoFit/>
          </a:bodyPr>
          <a:lstStyle/>
          <a:p>
            <a:pPr algn="ctr"/>
            <a:r>
              <a:rPr lang="en-US" b="1" noProof="0" dirty="0"/>
              <a:t>Inception v3, as foundation model</a:t>
            </a:r>
            <a:br>
              <a:rPr lang="en-US" noProof="0" dirty="0"/>
            </a:br>
            <a:r>
              <a:rPr lang="en-US" noProof="0" dirty="0"/>
              <a:t>trained on &gt;1m images of 1k object categories</a:t>
            </a:r>
          </a:p>
        </p:txBody>
      </p:sp>
      <p:cxnSp>
        <p:nvCxnSpPr>
          <p:cNvPr id="11" name="Straight Arrow Connector 10">
            <a:extLst>
              <a:ext uri="{FF2B5EF4-FFF2-40B4-BE49-F238E27FC236}">
                <a16:creationId xmlns:a16="http://schemas.microsoft.com/office/drawing/2014/main" id="{AFDCFC9F-5D5F-1452-1817-8B4CF61E2717}"/>
              </a:ext>
            </a:extLst>
          </p:cNvPr>
          <p:cNvCxnSpPr>
            <a:cxnSpLocks/>
          </p:cNvCxnSpPr>
          <p:nvPr/>
        </p:nvCxnSpPr>
        <p:spPr>
          <a:xfrm>
            <a:off x="5902050" y="4349918"/>
            <a:ext cx="408695"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4" name="Footer Placeholder 13">
            <a:extLst>
              <a:ext uri="{FF2B5EF4-FFF2-40B4-BE49-F238E27FC236}">
                <a16:creationId xmlns:a16="http://schemas.microsoft.com/office/drawing/2014/main" id="{389AE385-B3DB-BD56-125E-117D56F5FE94}"/>
              </a:ext>
            </a:extLst>
          </p:cNvPr>
          <p:cNvSpPr>
            <a:spLocks noGrp="1"/>
          </p:cNvSpPr>
          <p:nvPr>
            <p:ph type="ftr" sz="quarter" idx="11"/>
          </p:nvPr>
        </p:nvSpPr>
        <p:spPr/>
        <p:txBody>
          <a:bodyPr/>
          <a:lstStyle/>
          <a:p>
            <a:r>
              <a:rPr lang="en-US" noProof="0" dirty="0"/>
              <a:t>Esteva, A. et al. Dermatologist-level classification of skin cancer with deep neural networks. Nature 542, 115–118 (2017). </a:t>
            </a:r>
            <a:r>
              <a:rPr lang="en-US" noProof="0" dirty="0">
                <a:hlinkClick r:id="rId5"/>
              </a:rPr>
              <a:t>doi:10.1038/nature21056</a:t>
            </a:r>
            <a:endParaRPr lang="en-US" noProof="0" dirty="0"/>
          </a:p>
        </p:txBody>
      </p:sp>
    </p:spTree>
    <p:extLst>
      <p:ext uri="{BB962C8B-B14F-4D97-AF65-F5344CB8AC3E}">
        <p14:creationId xmlns:p14="http://schemas.microsoft.com/office/powerpoint/2010/main" val="90140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200D9-9829-0788-8C15-A929AF8D2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50F8-3F58-1796-63CB-C91F0878F033}"/>
              </a:ext>
            </a:extLst>
          </p:cNvPr>
          <p:cNvSpPr>
            <a:spLocks noGrp="1"/>
          </p:cNvSpPr>
          <p:nvPr>
            <p:ph type="title"/>
          </p:nvPr>
        </p:nvSpPr>
        <p:spPr/>
        <p:txBody>
          <a:bodyPr/>
          <a:lstStyle/>
          <a:p>
            <a:r>
              <a:rPr lang="en-US" noProof="0" dirty="0"/>
              <a:t>Foundation models can also be more domain-specific,</a:t>
            </a:r>
            <a:br>
              <a:rPr lang="en-US" noProof="0" dirty="0"/>
            </a:br>
            <a:r>
              <a:rPr lang="en-US" noProof="0" dirty="0"/>
              <a:t>but exploit large corpuses of unlabeled data</a:t>
            </a:r>
          </a:p>
        </p:txBody>
      </p:sp>
      <p:sp>
        <p:nvSpPr>
          <p:cNvPr id="4" name="Slide Number Placeholder 3">
            <a:extLst>
              <a:ext uri="{FF2B5EF4-FFF2-40B4-BE49-F238E27FC236}">
                <a16:creationId xmlns:a16="http://schemas.microsoft.com/office/drawing/2014/main" id="{B47369EB-9F7E-AE4E-7821-400F3C20D720}"/>
              </a:ext>
            </a:extLst>
          </p:cNvPr>
          <p:cNvSpPr>
            <a:spLocks noGrp="1"/>
          </p:cNvSpPr>
          <p:nvPr>
            <p:ph type="sldNum" sz="quarter" idx="12"/>
          </p:nvPr>
        </p:nvSpPr>
        <p:spPr/>
        <p:txBody>
          <a:bodyPr/>
          <a:lstStyle/>
          <a:p>
            <a:fld id="{94B3E216-A3C5-4E41-AE94-D003E76F1D3A}" type="slidenum">
              <a:rPr lang="en-US" noProof="0" smtClean="0"/>
              <a:pPr/>
              <a:t>6</a:t>
            </a:fld>
            <a:endParaRPr lang="en-US" noProof="0" dirty="0"/>
          </a:p>
        </p:txBody>
      </p:sp>
      <p:sp>
        <p:nvSpPr>
          <p:cNvPr id="9" name="TextBox 8">
            <a:extLst>
              <a:ext uri="{FF2B5EF4-FFF2-40B4-BE49-F238E27FC236}">
                <a16:creationId xmlns:a16="http://schemas.microsoft.com/office/drawing/2014/main" id="{8A51E108-26D7-2C3C-71F0-AFA809F442F8}"/>
              </a:ext>
            </a:extLst>
          </p:cNvPr>
          <p:cNvSpPr txBox="1"/>
          <p:nvPr/>
        </p:nvSpPr>
        <p:spPr>
          <a:xfrm>
            <a:off x="6132513" y="2118748"/>
            <a:ext cx="5625854" cy="523220"/>
          </a:xfrm>
          <a:prstGeom prst="rect">
            <a:avLst/>
          </a:prstGeom>
          <a:noFill/>
        </p:spPr>
        <p:txBody>
          <a:bodyPr wrap="square" rtlCol="0">
            <a:spAutoFit/>
          </a:bodyPr>
          <a:lstStyle/>
          <a:p>
            <a:pPr algn="ctr"/>
            <a:r>
              <a:rPr lang="en-US" sz="1400" b="1" noProof="0" dirty="0"/>
              <a:t>Finetuned for copy number variation gene dosage sensitivity</a:t>
            </a:r>
          </a:p>
          <a:p>
            <a:pPr algn="ctr"/>
            <a:r>
              <a:rPr lang="en-US" sz="1400" noProof="0" dirty="0"/>
              <a:t>10.000 transcription factors with known sensitivity</a:t>
            </a:r>
            <a:endParaRPr lang="en-US" sz="1400" b="1" noProof="0" dirty="0"/>
          </a:p>
        </p:txBody>
      </p:sp>
      <p:sp>
        <p:nvSpPr>
          <p:cNvPr id="10" name="TextBox 9">
            <a:extLst>
              <a:ext uri="{FF2B5EF4-FFF2-40B4-BE49-F238E27FC236}">
                <a16:creationId xmlns:a16="http://schemas.microsoft.com/office/drawing/2014/main" id="{29B7CE71-A673-B7DE-6270-072D410224A7}"/>
              </a:ext>
            </a:extLst>
          </p:cNvPr>
          <p:cNvSpPr txBox="1"/>
          <p:nvPr/>
        </p:nvSpPr>
        <p:spPr>
          <a:xfrm>
            <a:off x="433633" y="2118748"/>
            <a:ext cx="5662367" cy="523220"/>
          </a:xfrm>
          <a:prstGeom prst="rect">
            <a:avLst/>
          </a:prstGeom>
          <a:noFill/>
        </p:spPr>
        <p:txBody>
          <a:bodyPr wrap="square" rtlCol="0">
            <a:spAutoFit/>
          </a:bodyPr>
          <a:lstStyle/>
          <a:p>
            <a:pPr algn="ctr"/>
            <a:r>
              <a:rPr lang="en-US" sz="1400" b="1" noProof="0" dirty="0"/>
              <a:t>Pretraining on transcriptomics data</a:t>
            </a:r>
          </a:p>
          <a:p>
            <a:pPr algn="ctr"/>
            <a:r>
              <a:rPr lang="en-US" sz="1400" noProof="0" dirty="0"/>
              <a:t>~30 million single cell transcriptome samples</a:t>
            </a:r>
          </a:p>
        </p:txBody>
      </p:sp>
      <p:pic>
        <p:nvPicPr>
          <p:cNvPr id="1028" name="Picture 4" descr="Fig. 2: Geneformer boosted predictions of gene dosage sensitivity with limited data.">
            <a:extLst>
              <a:ext uri="{FF2B5EF4-FFF2-40B4-BE49-F238E27FC236}">
                <a16:creationId xmlns:a16="http://schemas.microsoft.com/office/drawing/2014/main" id="{ABAE4AB3-13BB-CCC6-2A3D-F93B802039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5880" b="50000"/>
          <a:stretch>
            <a:fillRect/>
          </a:stretch>
        </p:blipFill>
        <p:spPr bwMode="auto">
          <a:xfrm>
            <a:off x="6360174" y="3006240"/>
            <a:ext cx="5170531" cy="241958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Fig. 1: Geneformer architecture and transfer learning strategy.">
            <a:extLst>
              <a:ext uri="{FF2B5EF4-FFF2-40B4-BE49-F238E27FC236}">
                <a16:creationId xmlns:a16="http://schemas.microsoft.com/office/drawing/2014/main" id="{C42208F5-2CF5-266F-061E-C065C1FC5B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0356" b="23681"/>
          <a:stretch>
            <a:fillRect/>
          </a:stretch>
        </p:blipFill>
        <p:spPr bwMode="auto">
          <a:xfrm>
            <a:off x="661295" y="3113075"/>
            <a:ext cx="5289260" cy="1814206"/>
          </a:xfrm>
          <a:prstGeom prst="rect">
            <a:avLst/>
          </a:prstGeom>
          <a:noFill/>
          <a:extLst>
            <a:ext uri="{909E8E84-426E-40DD-AFC4-6F175D3DCCD1}">
              <a14:hiddenFill xmlns:a14="http://schemas.microsoft.com/office/drawing/2010/main">
                <a:solidFill>
                  <a:srgbClr val="FFFFFF"/>
                </a:solidFill>
              </a14:hiddenFill>
            </a:ext>
          </a:extLst>
        </p:spPr>
      </p:pic>
      <p:sp>
        <p:nvSpPr>
          <p:cNvPr id="12" name="Footer Placeholder 11">
            <a:extLst>
              <a:ext uri="{FF2B5EF4-FFF2-40B4-BE49-F238E27FC236}">
                <a16:creationId xmlns:a16="http://schemas.microsoft.com/office/drawing/2014/main" id="{E3AAE452-B922-AF80-7273-73A0A3A78D5A}"/>
              </a:ext>
            </a:extLst>
          </p:cNvPr>
          <p:cNvSpPr>
            <a:spLocks noGrp="1"/>
          </p:cNvSpPr>
          <p:nvPr>
            <p:ph type="ftr" sz="quarter" idx="11"/>
          </p:nvPr>
        </p:nvSpPr>
        <p:spPr/>
        <p:txBody>
          <a:bodyPr/>
          <a:lstStyle/>
          <a:p>
            <a:r>
              <a:rPr lang="en-US" noProof="0" dirty="0" err="1"/>
              <a:t>Theodoris</a:t>
            </a:r>
            <a:r>
              <a:rPr lang="en-US" noProof="0" dirty="0"/>
              <a:t>, C.V. et al. Transfer learning enables predictions in network biology. Nature 618, 616–624 (2023). </a:t>
            </a:r>
            <a:r>
              <a:rPr lang="en-US" noProof="0" dirty="0">
                <a:hlinkClick r:id="rId5"/>
              </a:rPr>
              <a:t>doi:10.1038/s41586-023-06139-9</a:t>
            </a:r>
            <a:endParaRPr lang="en-US" noProof="0" dirty="0"/>
          </a:p>
        </p:txBody>
      </p:sp>
    </p:spTree>
    <p:extLst>
      <p:ext uri="{BB962C8B-B14F-4D97-AF65-F5344CB8AC3E}">
        <p14:creationId xmlns:p14="http://schemas.microsoft.com/office/powerpoint/2010/main" val="2090455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EB4D-A322-2877-4E57-27CA1E208C7B}"/>
              </a:ext>
            </a:extLst>
          </p:cNvPr>
          <p:cNvSpPr>
            <a:spLocks noGrp="1"/>
          </p:cNvSpPr>
          <p:nvPr>
            <p:ph type="title"/>
          </p:nvPr>
        </p:nvSpPr>
        <p:spPr/>
        <p:txBody>
          <a:bodyPr/>
          <a:lstStyle/>
          <a:p>
            <a:r>
              <a:rPr lang="en-US" noProof="0" dirty="0"/>
              <a:t>Amino acids can be directly encoded in various ways</a:t>
            </a:r>
          </a:p>
        </p:txBody>
      </p:sp>
      <p:sp>
        <p:nvSpPr>
          <p:cNvPr id="4" name="Slide Number Placeholder 3">
            <a:extLst>
              <a:ext uri="{FF2B5EF4-FFF2-40B4-BE49-F238E27FC236}">
                <a16:creationId xmlns:a16="http://schemas.microsoft.com/office/drawing/2014/main" id="{45C1A963-8A74-91C1-26EF-E5F970F7F8A7}"/>
              </a:ext>
            </a:extLst>
          </p:cNvPr>
          <p:cNvSpPr>
            <a:spLocks noGrp="1"/>
          </p:cNvSpPr>
          <p:nvPr>
            <p:ph type="sldNum" sz="quarter" idx="12"/>
          </p:nvPr>
        </p:nvSpPr>
        <p:spPr/>
        <p:txBody>
          <a:bodyPr/>
          <a:lstStyle/>
          <a:p>
            <a:fld id="{94B3E216-A3C5-4E41-AE94-D003E76F1D3A}" type="slidenum">
              <a:rPr lang="en-US" noProof="0" smtClean="0"/>
              <a:pPr/>
              <a:t>7</a:t>
            </a:fld>
            <a:endParaRPr lang="en-US" noProof="0" dirty="0"/>
          </a:p>
        </p:txBody>
      </p:sp>
      <p:sp>
        <p:nvSpPr>
          <p:cNvPr id="7" name="Content Placeholder 6">
            <a:extLst>
              <a:ext uri="{FF2B5EF4-FFF2-40B4-BE49-F238E27FC236}">
                <a16:creationId xmlns:a16="http://schemas.microsoft.com/office/drawing/2014/main" id="{6EF4308A-B8E3-E184-89A3-243CF1DB98C2}"/>
              </a:ext>
            </a:extLst>
          </p:cNvPr>
          <p:cNvSpPr>
            <a:spLocks noGrp="1"/>
          </p:cNvSpPr>
          <p:nvPr>
            <p:ph idx="14"/>
          </p:nvPr>
        </p:nvSpPr>
        <p:spPr>
          <a:xfrm>
            <a:off x="407988" y="1306286"/>
            <a:ext cx="3600000" cy="341085"/>
          </a:xfrm>
        </p:spPr>
        <p:txBody>
          <a:bodyPr/>
          <a:lstStyle/>
          <a:p>
            <a:r>
              <a:rPr lang="en-US" noProof="0" dirty="0"/>
              <a:t>Manual feature engineering</a:t>
            </a:r>
          </a:p>
        </p:txBody>
      </p:sp>
      <p:sp>
        <p:nvSpPr>
          <p:cNvPr id="8" name="Content Placeholder 7">
            <a:extLst>
              <a:ext uri="{FF2B5EF4-FFF2-40B4-BE49-F238E27FC236}">
                <a16:creationId xmlns:a16="http://schemas.microsoft.com/office/drawing/2014/main" id="{FABAD303-CA8D-F314-1C67-074D640854C3}"/>
              </a:ext>
            </a:extLst>
          </p:cNvPr>
          <p:cNvSpPr>
            <a:spLocks noGrp="1"/>
          </p:cNvSpPr>
          <p:nvPr>
            <p:ph idx="15"/>
          </p:nvPr>
        </p:nvSpPr>
        <p:spPr>
          <a:xfrm>
            <a:off x="8149088" y="1306286"/>
            <a:ext cx="3600000" cy="341085"/>
          </a:xfrm>
        </p:spPr>
        <p:txBody>
          <a:bodyPr/>
          <a:lstStyle/>
          <a:p>
            <a:r>
              <a:rPr lang="en-US" noProof="0" dirty="0"/>
              <a:t>learned embedding</a:t>
            </a:r>
          </a:p>
        </p:txBody>
      </p:sp>
      <p:sp>
        <p:nvSpPr>
          <p:cNvPr id="10" name="Content Placeholder 6">
            <a:extLst>
              <a:ext uri="{FF2B5EF4-FFF2-40B4-BE49-F238E27FC236}">
                <a16:creationId xmlns:a16="http://schemas.microsoft.com/office/drawing/2014/main" id="{58911EC4-1B85-3EF3-3959-B85B2FFE4901}"/>
              </a:ext>
            </a:extLst>
          </p:cNvPr>
          <p:cNvSpPr txBox="1">
            <a:spLocks/>
          </p:cNvSpPr>
          <p:nvPr/>
        </p:nvSpPr>
        <p:spPr>
          <a:xfrm>
            <a:off x="4296000" y="1306286"/>
            <a:ext cx="3600000" cy="341085"/>
          </a:xfrm>
          <a:prstGeom prst="rect">
            <a:avLst/>
          </a:prstGeom>
        </p:spPr>
        <p:txBody>
          <a:bodyPr vert="horz" lIns="0" tIns="0" rIns="0" bIns="0" rtlCol="0">
            <a:normAutofit/>
          </a:bodyPr>
          <a:lstStyle>
            <a:lvl1pPr marL="228600" indent="-228600" algn="ctr" defTabSz="914400" rtl="0" eaLnBrk="1" latinLnBrk="0" hangingPunct="1">
              <a:lnSpc>
                <a:spcPct val="90000"/>
              </a:lnSpc>
              <a:spcBef>
                <a:spcPts val="1000"/>
              </a:spcBef>
              <a:buFont typeface="Arial" panose="020B0604020202020204" pitchFamily="34" charset="0"/>
              <a:buNone/>
              <a:defRPr lang="en-GB" sz="2000" kern="1200">
                <a:solidFill>
                  <a:schemeClr val="tx1"/>
                </a:solidFill>
                <a:latin typeface="Aptos SemiBold"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GB" sz="1800" kern="1200">
                <a:solidFill>
                  <a:schemeClr val="tx1"/>
                </a:solidFill>
                <a:latin typeface="Aptos SemiBold"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GB" sz="1600" kern="1200">
                <a:solidFill>
                  <a:schemeClr val="tx1"/>
                </a:solidFill>
                <a:latin typeface="Aptos SemiBold"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GB" sz="1400" kern="1200">
                <a:solidFill>
                  <a:schemeClr val="tx1"/>
                </a:solidFill>
                <a:latin typeface="Aptos SemiBold"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BE" sz="1400" kern="1200">
                <a:solidFill>
                  <a:schemeClr val="tx1"/>
                </a:solidFill>
                <a:latin typeface="Aptos SemiBold"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t>one-hot encoding</a:t>
            </a:r>
          </a:p>
        </p:txBody>
      </p:sp>
      <p:cxnSp>
        <p:nvCxnSpPr>
          <p:cNvPr id="14" name="Straight Arrow Connector 13">
            <a:extLst>
              <a:ext uri="{FF2B5EF4-FFF2-40B4-BE49-F238E27FC236}">
                <a16:creationId xmlns:a16="http://schemas.microsoft.com/office/drawing/2014/main" id="{51E1CF61-9B53-02FB-5DD6-FA577CD81E81}"/>
              </a:ext>
            </a:extLst>
          </p:cNvPr>
          <p:cNvCxnSpPr>
            <a:cxnSpLocks/>
          </p:cNvCxnSpPr>
          <p:nvPr/>
        </p:nvCxnSpPr>
        <p:spPr>
          <a:xfrm>
            <a:off x="2207182" y="2802835"/>
            <a:ext cx="0" cy="4174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5" name="Table 14">
            <a:extLst>
              <a:ext uri="{FF2B5EF4-FFF2-40B4-BE49-F238E27FC236}">
                <a16:creationId xmlns:a16="http://schemas.microsoft.com/office/drawing/2014/main" id="{B5146409-BFE9-947B-EEE9-7A9F97D966B8}"/>
              </a:ext>
            </a:extLst>
          </p:cNvPr>
          <p:cNvGraphicFramePr>
            <a:graphicFrameLocks noGrp="1"/>
          </p:cNvGraphicFramePr>
          <p:nvPr>
            <p:extLst>
              <p:ext uri="{D42A27DB-BD31-4B8C-83A1-F6EECF244321}">
                <p14:modId xmlns:p14="http://schemas.microsoft.com/office/powerpoint/2010/main" val="2120452358"/>
              </p:ext>
            </p:extLst>
          </p:nvPr>
        </p:nvGraphicFramePr>
        <p:xfrm>
          <a:off x="4296002" y="3571879"/>
          <a:ext cx="3599995" cy="2194560"/>
        </p:xfrm>
        <a:graphic>
          <a:graphicData uri="http://schemas.openxmlformats.org/drawingml/2006/table">
            <a:tbl>
              <a:tblPr firstRow="1" firstCol="1" bandRow="1">
                <a:tableStyleId>{073A0DAA-6AF3-43AB-8588-CEC1D06C72B9}</a:tableStyleId>
              </a:tblPr>
              <a:tblGrid>
                <a:gridCol w="599900">
                  <a:extLst>
                    <a:ext uri="{9D8B030D-6E8A-4147-A177-3AD203B41FA5}">
                      <a16:colId xmlns:a16="http://schemas.microsoft.com/office/drawing/2014/main" val="494698070"/>
                    </a:ext>
                  </a:extLst>
                </a:gridCol>
                <a:gridCol w="599900">
                  <a:extLst>
                    <a:ext uri="{9D8B030D-6E8A-4147-A177-3AD203B41FA5}">
                      <a16:colId xmlns:a16="http://schemas.microsoft.com/office/drawing/2014/main" val="2741127273"/>
                    </a:ext>
                  </a:extLst>
                </a:gridCol>
                <a:gridCol w="599900">
                  <a:extLst>
                    <a:ext uri="{9D8B030D-6E8A-4147-A177-3AD203B41FA5}">
                      <a16:colId xmlns:a16="http://schemas.microsoft.com/office/drawing/2014/main" val="1081182108"/>
                    </a:ext>
                  </a:extLst>
                </a:gridCol>
                <a:gridCol w="599900">
                  <a:extLst>
                    <a:ext uri="{9D8B030D-6E8A-4147-A177-3AD203B41FA5}">
                      <a16:colId xmlns:a16="http://schemas.microsoft.com/office/drawing/2014/main" val="3000755966"/>
                    </a:ext>
                  </a:extLst>
                </a:gridCol>
                <a:gridCol w="599900">
                  <a:extLst>
                    <a:ext uri="{9D8B030D-6E8A-4147-A177-3AD203B41FA5}">
                      <a16:colId xmlns:a16="http://schemas.microsoft.com/office/drawing/2014/main" val="2383520344"/>
                    </a:ext>
                  </a:extLst>
                </a:gridCol>
                <a:gridCol w="600495">
                  <a:extLst>
                    <a:ext uri="{9D8B030D-6E8A-4147-A177-3AD203B41FA5}">
                      <a16:colId xmlns:a16="http://schemas.microsoft.com/office/drawing/2014/main" val="266520045"/>
                    </a:ext>
                  </a:extLst>
                </a:gridCol>
              </a:tblGrid>
              <a:tr h="214713">
                <a:tc>
                  <a:txBody>
                    <a:bodyPr/>
                    <a:lstStyle/>
                    <a:p>
                      <a:pPr marL="0" algn="ctr" defTabSz="914400" rtl="0" eaLnBrk="1" latinLnBrk="0" hangingPunct="1"/>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noProof="0" dirty="0">
                          <a:solidFill>
                            <a:schemeClr val="lt1"/>
                          </a:solidFill>
                        </a:rPr>
                        <a:t>A</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noProof="0" dirty="0">
                          <a:solidFill>
                            <a:schemeClr val="lt1"/>
                          </a:solidFill>
                        </a:rPr>
                        <a:t>C</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noProof="0" dirty="0">
                          <a:solidFill>
                            <a:schemeClr val="lt1"/>
                          </a:solidFill>
                        </a:rPr>
                        <a:t>D</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noProof="0" dirty="0">
                          <a:solidFill>
                            <a:schemeClr val="lt1"/>
                          </a:solidFill>
                        </a:rPr>
                        <a:t>T</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b="1" kern="1200" noProof="0" dirty="0">
                          <a:solidFill>
                            <a:schemeClr val="lt1"/>
                          </a:solidFill>
                        </a:rPr>
                        <a:t>K</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687034335"/>
                  </a:ext>
                </a:extLst>
              </a:tr>
              <a:tr h="214713">
                <a:tc>
                  <a:txBody>
                    <a:bodyPr/>
                    <a:lstStyle/>
                    <a:p>
                      <a:pPr marL="0" algn="ctr" defTabSz="914400" rtl="0" eaLnBrk="1" latinLnBrk="0" hangingPunct="1"/>
                      <a:r>
                        <a:rPr lang="en-US" sz="1600" b="1" kern="1200" noProof="0" dirty="0">
                          <a:solidFill>
                            <a:schemeClr val="lt1"/>
                          </a:solidFill>
                        </a:rPr>
                        <a:t>A?</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1</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807118962"/>
                  </a:ext>
                </a:extLst>
              </a:tr>
              <a:tr h="214713">
                <a:tc>
                  <a:txBody>
                    <a:bodyPr/>
                    <a:lstStyle/>
                    <a:p>
                      <a:pPr marL="0" algn="ctr" defTabSz="914400" rtl="0" eaLnBrk="1" latinLnBrk="0" hangingPunct="1"/>
                      <a:r>
                        <a:rPr lang="en-US" sz="1600" b="1" kern="1200" noProof="0" dirty="0">
                          <a:solidFill>
                            <a:schemeClr val="lt1"/>
                          </a:solidFill>
                        </a:rPr>
                        <a:t>C?</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1</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2159611518"/>
                  </a:ext>
                </a:extLst>
              </a:tr>
              <a:tr h="214713">
                <a:tc>
                  <a:txBody>
                    <a:bodyPr/>
                    <a:lstStyle/>
                    <a:p>
                      <a:pPr marL="0" algn="ctr" defTabSz="914400" rtl="0" eaLnBrk="1" latinLnBrk="0" hangingPunct="1"/>
                      <a:r>
                        <a:rPr lang="en-US" sz="1600" b="1" kern="1200" noProof="0" dirty="0">
                          <a:solidFill>
                            <a:schemeClr val="lt1"/>
                          </a:solidFill>
                        </a:rPr>
                        <a:t>D?</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1</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106277594"/>
                  </a:ext>
                </a:extLst>
              </a:tr>
              <a:tr h="214713">
                <a:tc>
                  <a:txBody>
                    <a:bodyPr/>
                    <a:lstStyle/>
                    <a:p>
                      <a:pPr marL="0" algn="ctr" defTabSz="914400" rtl="0" eaLnBrk="1" latinLnBrk="0" hangingPunct="1"/>
                      <a:r>
                        <a:rPr lang="en-US" sz="1600" b="1" kern="1200" noProof="0" dirty="0">
                          <a:solidFill>
                            <a:schemeClr val="lt1"/>
                          </a:solidFill>
                        </a:rPr>
                        <a:t>…</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760272950"/>
                  </a:ext>
                </a:extLst>
              </a:tr>
              <a:tr h="214713">
                <a:tc>
                  <a:txBody>
                    <a:bodyPr/>
                    <a:lstStyle/>
                    <a:p>
                      <a:pPr marL="0" algn="ctr" defTabSz="914400" rtl="0" eaLnBrk="1" latinLnBrk="0" hangingPunct="1"/>
                      <a:r>
                        <a:rPr lang="en-US" sz="1600" b="1" kern="1200" noProof="0" dirty="0">
                          <a:solidFill>
                            <a:schemeClr val="lt1"/>
                          </a:solidFill>
                        </a:rPr>
                        <a:t>T?</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1</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976953057"/>
                  </a:ext>
                </a:extLst>
              </a:tr>
              <a:tr h="214713">
                <a:tc>
                  <a:txBody>
                    <a:bodyPr/>
                    <a:lstStyle/>
                    <a:p>
                      <a:pPr marL="0" algn="ctr" defTabSz="914400" rtl="0" eaLnBrk="1" latinLnBrk="0" hangingPunct="1"/>
                      <a:r>
                        <a:rPr lang="en-US" sz="1600" b="1" kern="1200" noProof="0" dirty="0">
                          <a:solidFill>
                            <a:schemeClr val="lt1"/>
                          </a:solidFill>
                        </a:rPr>
                        <a:t>…</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692431964"/>
                  </a:ext>
                </a:extLst>
              </a:tr>
              <a:tr h="214713">
                <a:tc>
                  <a:txBody>
                    <a:bodyPr/>
                    <a:lstStyle/>
                    <a:p>
                      <a:pPr marL="0" algn="ctr" defTabSz="914400" rtl="0" eaLnBrk="1" latinLnBrk="0" hangingPunct="1"/>
                      <a:r>
                        <a:rPr lang="en-US" sz="1600" b="1" kern="1200" noProof="0" dirty="0">
                          <a:solidFill>
                            <a:schemeClr val="lt1"/>
                          </a:solidFill>
                        </a:rPr>
                        <a:t>K?</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0</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1</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325137569"/>
                  </a:ext>
                </a:extLst>
              </a:tr>
              <a:tr h="214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noProof="0" dirty="0">
                          <a:solidFill>
                            <a:schemeClr val="lt1"/>
                          </a:solidFill>
                        </a:rPr>
                        <a:t>…</a:t>
                      </a:r>
                      <a:endParaRPr lang="en-US" sz="1600" b="1" kern="1200" noProof="0" dirty="0">
                        <a:solidFill>
                          <a:schemeClr val="lt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marL="0" algn="ctr" defTabSz="914400" rtl="0" eaLnBrk="1" latinLnBrk="0" hangingPunct="1"/>
                      <a:r>
                        <a:rPr lang="en-US" sz="1600" kern="1200" noProof="0" dirty="0">
                          <a:solidFill>
                            <a:schemeClr val="dk1"/>
                          </a:solidFill>
                          <a:latin typeface="Cascadia Code" panose="020B0609020000020004" pitchFamily="49" charset="0"/>
                          <a:cs typeface="Cascadia Code" panose="020B0609020000020004" pitchFamily="49" charset="0"/>
                        </a:rPr>
                        <a:t>…</a:t>
                      </a:r>
                      <a:endParaRPr lang="en-US" sz="1600" kern="1200" noProof="0" dirty="0">
                        <a:solidFill>
                          <a:schemeClr val="dk1"/>
                        </a:solidFill>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304798429"/>
                  </a:ext>
                </a:extLst>
              </a:tr>
            </a:tbl>
          </a:graphicData>
        </a:graphic>
      </p:graphicFrame>
      <p:sp>
        <p:nvSpPr>
          <p:cNvPr id="16" name="TextBox 15">
            <a:extLst>
              <a:ext uri="{FF2B5EF4-FFF2-40B4-BE49-F238E27FC236}">
                <a16:creationId xmlns:a16="http://schemas.microsoft.com/office/drawing/2014/main" id="{F10E7681-B816-6ADA-C5AF-13C7D9AF533F}"/>
              </a:ext>
            </a:extLst>
          </p:cNvPr>
          <p:cNvSpPr txBox="1"/>
          <p:nvPr/>
        </p:nvSpPr>
        <p:spPr>
          <a:xfrm>
            <a:off x="918212" y="2243399"/>
            <a:ext cx="2577940" cy="338554"/>
          </a:xfrm>
          <a:prstGeom prst="rect">
            <a:avLst/>
          </a:prstGeom>
          <a:noFill/>
        </p:spPr>
        <p:txBody>
          <a:bodyPr wrap="square" rtlCol="0">
            <a:spAutoFit/>
          </a:bodyPr>
          <a:lstStyle/>
          <a:p>
            <a:pPr algn="ctr"/>
            <a:r>
              <a:rPr lang="en-US" sz="1600" noProof="0" dirty="0">
                <a:latin typeface="Cascadia Code" panose="020B0609020000020004" pitchFamily="49" charset="0"/>
                <a:ea typeface="Cascadia Code" panose="020B0609020000020004" pitchFamily="49" charset="0"/>
                <a:cs typeface="Cascadia Code" panose="020B0609020000020004" pitchFamily="49" charset="0"/>
              </a:rPr>
              <a:t>ACDTK</a:t>
            </a:r>
          </a:p>
        </p:txBody>
      </p:sp>
      <p:graphicFrame>
        <p:nvGraphicFramePr>
          <p:cNvPr id="17" name="Table 16">
            <a:extLst>
              <a:ext uri="{FF2B5EF4-FFF2-40B4-BE49-F238E27FC236}">
                <a16:creationId xmlns:a16="http://schemas.microsoft.com/office/drawing/2014/main" id="{A73825ED-974B-9036-0DBC-B31F8DFC6F18}"/>
              </a:ext>
            </a:extLst>
          </p:cNvPr>
          <p:cNvGraphicFramePr>
            <a:graphicFrameLocks noGrp="1"/>
          </p:cNvGraphicFramePr>
          <p:nvPr>
            <p:extLst>
              <p:ext uri="{D42A27DB-BD31-4B8C-83A1-F6EECF244321}">
                <p14:modId xmlns:p14="http://schemas.microsoft.com/office/powerpoint/2010/main" val="2352459200"/>
              </p:ext>
            </p:extLst>
          </p:nvPr>
        </p:nvGraphicFramePr>
        <p:xfrm>
          <a:off x="554566" y="3580931"/>
          <a:ext cx="3453422" cy="1219200"/>
        </p:xfrm>
        <a:graphic>
          <a:graphicData uri="http://schemas.openxmlformats.org/drawingml/2006/table">
            <a:tbl>
              <a:tblPr firstRow="1" firstCol="1" bandRow="1">
                <a:tableStyleId>{00A15C55-8517-42AA-B614-E9B94910E393}</a:tableStyleId>
              </a:tblPr>
              <a:tblGrid>
                <a:gridCol w="923182">
                  <a:extLst>
                    <a:ext uri="{9D8B030D-6E8A-4147-A177-3AD203B41FA5}">
                      <a16:colId xmlns:a16="http://schemas.microsoft.com/office/drawing/2014/main" val="1188680553"/>
                    </a:ext>
                  </a:extLst>
                </a:gridCol>
                <a:gridCol w="506048">
                  <a:extLst>
                    <a:ext uri="{9D8B030D-6E8A-4147-A177-3AD203B41FA5}">
                      <a16:colId xmlns:a16="http://schemas.microsoft.com/office/drawing/2014/main" val="2741127273"/>
                    </a:ext>
                  </a:extLst>
                </a:gridCol>
                <a:gridCol w="506048">
                  <a:extLst>
                    <a:ext uri="{9D8B030D-6E8A-4147-A177-3AD203B41FA5}">
                      <a16:colId xmlns:a16="http://schemas.microsoft.com/office/drawing/2014/main" val="1081182108"/>
                    </a:ext>
                  </a:extLst>
                </a:gridCol>
                <a:gridCol w="506048">
                  <a:extLst>
                    <a:ext uri="{9D8B030D-6E8A-4147-A177-3AD203B41FA5}">
                      <a16:colId xmlns:a16="http://schemas.microsoft.com/office/drawing/2014/main" val="3000755966"/>
                    </a:ext>
                  </a:extLst>
                </a:gridCol>
                <a:gridCol w="506048">
                  <a:extLst>
                    <a:ext uri="{9D8B030D-6E8A-4147-A177-3AD203B41FA5}">
                      <a16:colId xmlns:a16="http://schemas.microsoft.com/office/drawing/2014/main" val="2383520344"/>
                    </a:ext>
                  </a:extLst>
                </a:gridCol>
                <a:gridCol w="506048">
                  <a:extLst>
                    <a:ext uri="{9D8B030D-6E8A-4147-A177-3AD203B41FA5}">
                      <a16:colId xmlns:a16="http://schemas.microsoft.com/office/drawing/2014/main" val="3205809761"/>
                    </a:ext>
                  </a:extLst>
                </a:gridCol>
              </a:tblGrid>
              <a:tr h="241552">
                <a:tc>
                  <a:txBody>
                    <a:bodyPr/>
                    <a:lstStyle/>
                    <a:p>
                      <a:pPr algn="ct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A</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C</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D</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T</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K</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65700731"/>
                  </a:ext>
                </a:extLst>
              </a:tr>
              <a:tr h="241552">
                <a:tc>
                  <a:txBody>
                    <a:bodyPr/>
                    <a:lstStyle/>
                    <a:p>
                      <a:pPr algn="ctr"/>
                      <a:r>
                        <a:rPr lang="en-US" sz="1600" noProof="0" dirty="0"/>
                        <a:t>Basi</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37</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35</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59</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129</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191</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807118962"/>
                  </a:ext>
                </a:extLst>
              </a:tr>
              <a:tr h="241552">
                <a:tc>
                  <a:txBody>
                    <a:bodyPr/>
                    <a:lstStyle/>
                    <a:p>
                      <a:pPr algn="ctr"/>
                      <a:r>
                        <a:rPr lang="en-US" sz="1600" noProof="0" dirty="0"/>
                        <a:t>Heli</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68</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23</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33</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29</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32</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2159611518"/>
                  </a:ext>
                </a:extLst>
              </a:tr>
              <a:tr h="241552">
                <a:tc>
                  <a:txBody>
                    <a:bodyPr/>
                    <a:lstStyle/>
                    <a:p>
                      <a:pPr algn="ctr"/>
                      <a:r>
                        <a:rPr lang="en-US" sz="1600" noProof="0" dirty="0"/>
                        <a:t>Hydr</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51</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75</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25</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35</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0</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106277594"/>
                  </a:ext>
                </a:extLst>
              </a:tr>
              <a:tr h="241552">
                <a:tc>
                  <a:txBody>
                    <a:bodyPr/>
                    <a:lstStyle/>
                    <a:p>
                      <a:pPr algn="ctr"/>
                      <a:r>
                        <a:rPr lang="en-US" sz="1600" noProof="0" dirty="0" err="1"/>
                        <a:t>pI</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32</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23</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0</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27</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latin typeface="Cascadia Code" panose="020B0609020000020004" pitchFamily="49" charset="0"/>
                          <a:cs typeface="Cascadia Code" panose="020B0609020000020004" pitchFamily="49" charset="0"/>
                        </a:rPr>
                        <a:t>69</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3760272950"/>
                  </a:ext>
                </a:extLst>
              </a:tr>
            </a:tbl>
          </a:graphicData>
        </a:graphic>
      </p:graphicFrame>
      <p:cxnSp>
        <p:nvCxnSpPr>
          <p:cNvPr id="19" name="Straight Arrow Connector 18">
            <a:extLst>
              <a:ext uri="{FF2B5EF4-FFF2-40B4-BE49-F238E27FC236}">
                <a16:creationId xmlns:a16="http://schemas.microsoft.com/office/drawing/2014/main" id="{D5B692F6-1F26-DD7E-1840-43D296EAE61E}"/>
              </a:ext>
            </a:extLst>
          </p:cNvPr>
          <p:cNvCxnSpPr>
            <a:cxnSpLocks/>
          </p:cNvCxnSpPr>
          <p:nvPr/>
        </p:nvCxnSpPr>
        <p:spPr>
          <a:xfrm>
            <a:off x="6096000" y="2802835"/>
            <a:ext cx="0" cy="4174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2" name="Table 21">
            <a:extLst>
              <a:ext uri="{FF2B5EF4-FFF2-40B4-BE49-F238E27FC236}">
                <a16:creationId xmlns:a16="http://schemas.microsoft.com/office/drawing/2014/main" id="{C3EA37B3-7441-41A0-34CC-4EC096D62FB0}"/>
              </a:ext>
            </a:extLst>
          </p:cNvPr>
          <p:cNvGraphicFramePr>
            <a:graphicFrameLocks noGrp="1"/>
          </p:cNvGraphicFramePr>
          <p:nvPr>
            <p:extLst>
              <p:ext uri="{D42A27DB-BD31-4B8C-83A1-F6EECF244321}">
                <p14:modId xmlns:p14="http://schemas.microsoft.com/office/powerpoint/2010/main" val="2033432425"/>
              </p:ext>
            </p:extLst>
          </p:nvPr>
        </p:nvGraphicFramePr>
        <p:xfrm>
          <a:off x="8295665" y="3571879"/>
          <a:ext cx="3453420" cy="2232664"/>
        </p:xfrm>
        <a:graphic>
          <a:graphicData uri="http://schemas.openxmlformats.org/drawingml/2006/table">
            <a:tbl>
              <a:tblPr firstRow="1" bandRow="1">
                <a:tableStyleId>{21E4AEA4-8DFA-4A89-87EB-49C32662AFE0}</a:tableStyleId>
              </a:tblPr>
              <a:tblGrid>
                <a:gridCol w="690684">
                  <a:extLst>
                    <a:ext uri="{9D8B030D-6E8A-4147-A177-3AD203B41FA5}">
                      <a16:colId xmlns:a16="http://schemas.microsoft.com/office/drawing/2014/main" val="2741127273"/>
                    </a:ext>
                  </a:extLst>
                </a:gridCol>
                <a:gridCol w="690684">
                  <a:extLst>
                    <a:ext uri="{9D8B030D-6E8A-4147-A177-3AD203B41FA5}">
                      <a16:colId xmlns:a16="http://schemas.microsoft.com/office/drawing/2014/main" val="1081182108"/>
                    </a:ext>
                  </a:extLst>
                </a:gridCol>
                <a:gridCol w="690684">
                  <a:extLst>
                    <a:ext uri="{9D8B030D-6E8A-4147-A177-3AD203B41FA5}">
                      <a16:colId xmlns:a16="http://schemas.microsoft.com/office/drawing/2014/main" val="3000755966"/>
                    </a:ext>
                  </a:extLst>
                </a:gridCol>
                <a:gridCol w="690684">
                  <a:extLst>
                    <a:ext uri="{9D8B030D-6E8A-4147-A177-3AD203B41FA5}">
                      <a16:colId xmlns:a16="http://schemas.microsoft.com/office/drawing/2014/main" val="2383520344"/>
                    </a:ext>
                  </a:extLst>
                </a:gridCol>
                <a:gridCol w="690684">
                  <a:extLst>
                    <a:ext uri="{9D8B030D-6E8A-4147-A177-3AD203B41FA5}">
                      <a16:colId xmlns:a16="http://schemas.microsoft.com/office/drawing/2014/main" val="3205809761"/>
                    </a:ext>
                  </a:extLst>
                </a:gridCol>
              </a:tblGrid>
              <a:tr h="241552">
                <a:tc>
                  <a:txBody>
                    <a:bodyPr/>
                    <a:lstStyle/>
                    <a:p>
                      <a:pPr algn="ctr"/>
                      <a:r>
                        <a:rPr lang="en-US" sz="1600" noProof="0" dirty="0"/>
                        <a:t>A</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C</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D</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T</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tc>
                  <a:txBody>
                    <a:bodyPr/>
                    <a:lstStyle/>
                    <a:p>
                      <a:pPr algn="ctr"/>
                      <a:r>
                        <a:rPr lang="en-US" sz="1600" noProof="0" dirty="0"/>
                        <a:t>K</a:t>
                      </a:r>
                      <a:endParaRPr lang="en-US" sz="1600" noProof="0" dirty="0">
                        <a:latin typeface="Cascadia Code" panose="020B0609020000020004" pitchFamily="49" charset="0"/>
                        <a:ea typeface="Cascadia Code" panose="020B0609020000020004" pitchFamily="49" charset="0"/>
                        <a:cs typeface="Cascadia Code" panose="020B0609020000020004" pitchFamily="49" charset="0"/>
                      </a:endParaRPr>
                    </a:p>
                  </a:txBody>
                  <a:tcPr marL="0" marR="0" marT="0" marB="0" anchor="ctr"/>
                </a:tc>
                <a:extLst>
                  <a:ext uri="{0D108BD9-81ED-4DB2-BD59-A6C34878D82A}">
                    <a16:rowId xmlns:a16="http://schemas.microsoft.com/office/drawing/2014/main" val="165700731"/>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0.73</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0.14</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0.88</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0.46</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0.21</a:t>
                      </a:r>
                    </a:p>
                  </a:txBody>
                  <a:tcPr marL="4763" marR="4763" marT="4763" marB="0" anchor="b"/>
                </a:tc>
                <a:extLst>
                  <a:ext uri="{0D108BD9-81ED-4DB2-BD59-A6C34878D82A}">
                    <a16:rowId xmlns:a16="http://schemas.microsoft.com/office/drawing/2014/main" val="1807118962"/>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0.57</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0.95</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0.32</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0.69</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0.04</a:t>
                      </a:r>
                    </a:p>
                  </a:txBody>
                  <a:tcPr marL="4763" marR="4763" marT="4763" marB="0" anchor="b"/>
                </a:tc>
                <a:extLst>
                  <a:ext uri="{0D108BD9-81ED-4DB2-BD59-A6C34878D82A}">
                    <a16:rowId xmlns:a16="http://schemas.microsoft.com/office/drawing/2014/main" val="2159611518"/>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0.81</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0.27</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0.53</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0.10</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0.76</a:t>
                      </a:r>
                    </a:p>
                  </a:txBody>
                  <a:tcPr marL="4763" marR="4763" marT="4763" marB="0" anchor="b"/>
                </a:tc>
                <a:extLst>
                  <a:ext uri="{0D108BD9-81ED-4DB2-BD59-A6C34878D82A}">
                    <a16:rowId xmlns:a16="http://schemas.microsoft.com/office/drawing/2014/main" val="1106277594"/>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0.38</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0.62</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0.17</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0.84</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0.49</a:t>
                      </a:r>
                    </a:p>
                  </a:txBody>
                  <a:tcPr marL="4763" marR="4763" marT="4763" marB="0" anchor="b"/>
                </a:tc>
                <a:extLst>
                  <a:ext uri="{0D108BD9-81ED-4DB2-BD59-A6C34878D82A}">
                    <a16:rowId xmlns:a16="http://schemas.microsoft.com/office/drawing/2014/main" val="3760272950"/>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0.92</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0.35</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0.58</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0.07</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0.64</a:t>
                      </a:r>
                    </a:p>
                  </a:txBody>
                  <a:tcPr marL="4763" marR="4763" marT="4763" marB="0" anchor="b"/>
                </a:tc>
                <a:extLst>
                  <a:ext uri="{0D108BD9-81ED-4DB2-BD59-A6C34878D82A}">
                    <a16:rowId xmlns:a16="http://schemas.microsoft.com/office/drawing/2014/main" val="878138867"/>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0.11</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0.79</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0.43</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0.96</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0.28</a:t>
                      </a:r>
                    </a:p>
                  </a:txBody>
                  <a:tcPr marL="4763" marR="4763" marT="4763" marB="0" anchor="b"/>
                </a:tc>
                <a:extLst>
                  <a:ext uri="{0D108BD9-81ED-4DB2-BD59-A6C34878D82A}">
                    <a16:rowId xmlns:a16="http://schemas.microsoft.com/office/drawing/2014/main" val="1727455474"/>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0.67</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0.24</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0.85</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0.51</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0.13</a:t>
                      </a:r>
                    </a:p>
                  </a:txBody>
                  <a:tcPr marL="4763" marR="4763" marT="4763" marB="0" anchor="b"/>
                </a:tc>
                <a:extLst>
                  <a:ext uri="{0D108BD9-81ED-4DB2-BD59-A6C34878D82A}">
                    <a16:rowId xmlns:a16="http://schemas.microsoft.com/office/drawing/2014/main" val="1132480066"/>
                  </a:ext>
                </a:extLst>
              </a:tr>
              <a:tr h="241552">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0.40</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0.73</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0.19</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0.60</a:t>
                      </a:r>
                    </a:p>
                  </a:txBody>
                  <a:tcPr marL="4763" marR="4763" marT="4763" marB="0" anchor="b"/>
                </a:tc>
                <a:tc>
                  <a:txBody>
                    <a:bodyPr/>
                    <a:lstStyle/>
                    <a:p>
                      <a:pPr algn="ctr" fontAlgn="b">
                        <a:buNone/>
                      </a:pPr>
                      <a:r>
                        <a:rPr lang="en-US" sz="1600" kern="1200" noProof="0" dirty="0">
                          <a:solidFill>
                            <a:schemeClr val="dk1"/>
                          </a:solidFill>
                          <a:latin typeface="Cascadia Code" panose="020B0609020000020004" pitchFamily="49" charset="0"/>
                          <a:ea typeface="+mn-ea"/>
                          <a:cs typeface="Cascadia Code" panose="020B0609020000020004" pitchFamily="49" charset="0"/>
                        </a:rPr>
                        <a:t>0.88</a:t>
                      </a:r>
                    </a:p>
                  </a:txBody>
                  <a:tcPr marL="4763" marR="4763" marT="4763" marB="0" anchor="b"/>
                </a:tc>
                <a:extLst>
                  <a:ext uri="{0D108BD9-81ED-4DB2-BD59-A6C34878D82A}">
                    <a16:rowId xmlns:a16="http://schemas.microsoft.com/office/drawing/2014/main" val="3741051634"/>
                  </a:ext>
                </a:extLst>
              </a:tr>
            </a:tbl>
          </a:graphicData>
        </a:graphic>
      </p:graphicFrame>
      <p:sp>
        <p:nvSpPr>
          <p:cNvPr id="27" name="TextBox 26">
            <a:extLst>
              <a:ext uri="{FF2B5EF4-FFF2-40B4-BE49-F238E27FC236}">
                <a16:creationId xmlns:a16="http://schemas.microsoft.com/office/drawing/2014/main" id="{0AE5EC27-AA37-B09D-3269-578720A1FF1C}"/>
              </a:ext>
            </a:extLst>
          </p:cNvPr>
          <p:cNvSpPr txBox="1"/>
          <p:nvPr/>
        </p:nvSpPr>
        <p:spPr>
          <a:xfrm>
            <a:off x="4807030" y="2243399"/>
            <a:ext cx="2577940" cy="338554"/>
          </a:xfrm>
          <a:prstGeom prst="rect">
            <a:avLst/>
          </a:prstGeom>
          <a:noFill/>
        </p:spPr>
        <p:txBody>
          <a:bodyPr wrap="square" rtlCol="0">
            <a:spAutoFit/>
          </a:bodyPr>
          <a:lstStyle/>
          <a:p>
            <a:pPr algn="ctr"/>
            <a:r>
              <a:rPr lang="en-US" sz="1600" noProof="0" dirty="0">
                <a:latin typeface="Cascadia Code" panose="020B0609020000020004" pitchFamily="49" charset="0"/>
                <a:ea typeface="Cascadia Code" panose="020B0609020000020004" pitchFamily="49" charset="0"/>
                <a:cs typeface="Cascadia Code" panose="020B0609020000020004" pitchFamily="49" charset="0"/>
              </a:rPr>
              <a:t>ACDTK</a:t>
            </a:r>
          </a:p>
        </p:txBody>
      </p:sp>
      <p:sp>
        <p:nvSpPr>
          <p:cNvPr id="28" name="TextBox 27">
            <a:extLst>
              <a:ext uri="{FF2B5EF4-FFF2-40B4-BE49-F238E27FC236}">
                <a16:creationId xmlns:a16="http://schemas.microsoft.com/office/drawing/2014/main" id="{AE531386-7B47-E190-A785-66D62701818C}"/>
              </a:ext>
            </a:extLst>
          </p:cNvPr>
          <p:cNvSpPr txBox="1"/>
          <p:nvPr/>
        </p:nvSpPr>
        <p:spPr>
          <a:xfrm>
            <a:off x="8639070" y="2239230"/>
            <a:ext cx="2577940" cy="338554"/>
          </a:xfrm>
          <a:prstGeom prst="rect">
            <a:avLst/>
          </a:prstGeom>
          <a:noFill/>
        </p:spPr>
        <p:txBody>
          <a:bodyPr wrap="square" rtlCol="0">
            <a:spAutoFit/>
          </a:bodyPr>
          <a:lstStyle/>
          <a:p>
            <a:pPr algn="ctr"/>
            <a:r>
              <a:rPr lang="en-US" sz="1600" noProof="0" dirty="0">
                <a:latin typeface="Cascadia Code" panose="020B0609020000020004" pitchFamily="49" charset="0"/>
                <a:ea typeface="Cascadia Code" panose="020B0609020000020004" pitchFamily="49" charset="0"/>
                <a:cs typeface="Cascadia Code" panose="020B0609020000020004" pitchFamily="49" charset="0"/>
              </a:rPr>
              <a:t>ACDTK</a:t>
            </a:r>
          </a:p>
        </p:txBody>
      </p:sp>
      <p:sp>
        <p:nvSpPr>
          <p:cNvPr id="34" name="Free-form: Shape 33">
            <a:extLst>
              <a:ext uri="{FF2B5EF4-FFF2-40B4-BE49-F238E27FC236}">
                <a16:creationId xmlns:a16="http://schemas.microsoft.com/office/drawing/2014/main" id="{46E6CC2A-A52E-084B-46EB-E8C041687281}"/>
              </a:ext>
            </a:extLst>
          </p:cNvPr>
          <p:cNvSpPr/>
          <p:nvPr/>
        </p:nvSpPr>
        <p:spPr>
          <a:xfrm rot="5400000">
            <a:off x="9622175" y="2667551"/>
            <a:ext cx="653826" cy="653858"/>
          </a:xfrm>
          <a:custGeom>
            <a:avLst/>
            <a:gdLst>
              <a:gd name="csX0" fmla="*/ 676277 w 781049"/>
              <a:gd name="csY0" fmla="*/ 438186 h 781086"/>
              <a:gd name="csX1" fmla="*/ 599407 w 781049"/>
              <a:gd name="csY1" fmla="*/ 472008 h 781086"/>
              <a:gd name="csX2" fmla="*/ 493108 w 781049"/>
              <a:gd name="csY2" fmla="*/ 390561 h 781086"/>
              <a:gd name="csX3" fmla="*/ 599293 w 781049"/>
              <a:gd name="csY3" fmla="*/ 309115 h 781086"/>
              <a:gd name="csX4" fmla="*/ 676274 w 781049"/>
              <a:gd name="csY4" fmla="*/ 342936 h 781086"/>
              <a:gd name="csX5" fmla="*/ 781049 w 781049"/>
              <a:gd name="csY5" fmla="*/ 238161 h 781086"/>
              <a:gd name="csX6" fmla="*/ 676274 w 781049"/>
              <a:gd name="csY6" fmla="*/ 133386 h 781086"/>
              <a:gd name="csX7" fmla="*/ 576824 w 781049"/>
              <a:gd name="csY7" fmla="*/ 205196 h 781086"/>
              <a:gd name="csX8" fmla="*/ 208473 w 781049"/>
              <a:gd name="csY8" fmla="*/ 119174 h 781086"/>
              <a:gd name="csX9" fmla="*/ 209626 w 781049"/>
              <a:gd name="csY9" fmla="*/ 104775 h 781086"/>
              <a:gd name="csX10" fmla="*/ 104851 w 781049"/>
              <a:gd name="csY10" fmla="*/ 0 h 781086"/>
              <a:gd name="csX11" fmla="*/ 0 w 781049"/>
              <a:gd name="csY11" fmla="*/ 104813 h 781086"/>
              <a:gd name="csX12" fmla="*/ 104775 w 781049"/>
              <a:gd name="csY12" fmla="*/ 209588 h 781086"/>
              <a:gd name="csX13" fmla="*/ 181645 w 781049"/>
              <a:gd name="csY13" fmla="*/ 175767 h 781086"/>
              <a:gd name="csX14" fmla="*/ 360124 w 781049"/>
              <a:gd name="csY14" fmla="*/ 312651 h 781086"/>
              <a:gd name="csX15" fmla="*/ 203076 w 781049"/>
              <a:gd name="csY15" fmla="*/ 354471 h 781086"/>
              <a:gd name="csX16" fmla="*/ 104778 w 781049"/>
              <a:gd name="csY16" fmla="*/ 285787 h 781086"/>
              <a:gd name="csX17" fmla="*/ 3 w 781049"/>
              <a:gd name="csY17" fmla="*/ 390562 h 781086"/>
              <a:gd name="csX18" fmla="*/ 104778 w 781049"/>
              <a:gd name="csY18" fmla="*/ 495337 h 781086"/>
              <a:gd name="csX19" fmla="*/ 203076 w 781049"/>
              <a:gd name="csY19" fmla="*/ 426653 h 781086"/>
              <a:gd name="csX20" fmla="*/ 360124 w 781049"/>
              <a:gd name="csY20" fmla="*/ 468474 h 781086"/>
              <a:gd name="csX21" fmla="*/ 181645 w 781049"/>
              <a:gd name="csY21" fmla="*/ 605358 h 781086"/>
              <a:gd name="csX22" fmla="*/ 104775 w 781049"/>
              <a:gd name="csY22" fmla="*/ 571536 h 781086"/>
              <a:gd name="csX23" fmla="*/ 0 w 781049"/>
              <a:gd name="csY23" fmla="*/ 676311 h 781086"/>
              <a:gd name="csX24" fmla="*/ 104775 w 781049"/>
              <a:gd name="csY24" fmla="*/ 781086 h 781086"/>
              <a:gd name="csX25" fmla="*/ 209550 w 781049"/>
              <a:gd name="csY25" fmla="*/ 676311 h 781086"/>
              <a:gd name="csX26" fmla="*/ 208397 w 781049"/>
              <a:gd name="csY26" fmla="*/ 661912 h 781086"/>
              <a:gd name="csX27" fmla="*/ 576747 w 781049"/>
              <a:gd name="csY27" fmla="*/ 575890 h 781086"/>
              <a:gd name="csX28" fmla="*/ 676274 w 781049"/>
              <a:gd name="csY28" fmla="*/ 647737 h 781086"/>
              <a:gd name="csX29" fmla="*/ 781049 w 781049"/>
              <a:gd name="csY29" fmla="*/ 542962 h 781086"/>
              <a:gd name="csX30" fmla="*/ 676274 w 781049"/>
              <a:gd name="csY30" fmla="*/ 438187 h 781086"/>
              <a:gd name="csX31" fmla="*/ 587687 w 781049"/>
              <a:gd name="csY31" fmla="*/ 487039 h 781086"/>
              <a:gd name="csX32" fmla="*/ 577865 w 781049"/>
              <a:gd name="csY32" fmla="*/ 506833 h 781086"/>
              <a:gd name="csX33" fmla="*/ 402433 w 781049"/>
              <a:gd name="csY33" fmla="*/ 460101 h 781086"/>
              <a:gd name="csX34" fmla="*/ 477480 w 781049"/>
              <a:gd name="csY34" fmla="*/ 402579 h 781086"/>
              <a:gd name="csX35" fmla="*/ 577976 w 781049"/>
              <a:gd name="csY35" fmla="*/ 274250 h 781086"/>
              <a:gd name="csX36" fmla="*/ 587798 w 781049"/>
              <a:gd name="csY36" fmla="*/ 294044 h 781086"/>
              <a:gd name="csX37" fmla="*/ 477594 w 781049"/>
              <a:gd name="csY37" fmla="*/ 378542 h 781086"/>
              <a:gd name="csX38" fmla="*/ 402548 w 781049"/>
              <a:gd name="csY38" fmla="*/ 321019 h 781086"/>
              <a:gd name="csX39" fmla="*/ 676274 w 781049"/>
              <a:gd name="csY39" fmla="*/ 152435 h 781086"/>
              <a:gd name="csX40" fmla="*/ 761999 w 781049"/>
              <a:gd name="csY40" fmla="*/ 238160 h 781086"/>
              <a:gd name="csX41" fmla="*/ 676274 w 781049"/>
              <a:gd name="csY41" fmla="*/ 323885 h 781086"/>
              <a:gd name="csX42" fmla="*/ 608260 w 781049"/>
              <a:gd name="csY42" fmla="*/ 290251 h 781086"/>
              <a:gd name="csX43" fmla="*/ 593489 w 781049"/>
              <a:gd name="csY43" fmla="*/ 260336 h 781086"/>
              <a:gd name="csX44" fmla="*/ 590549 w 781049"/>
              <a:gd name="csY44" fmla="*/ 238161 h 781086"/>
              <a:gd name="csX45" fmla="*/ 592744 w 781049"/>
              <a:gd name="csY45" fmla="*/ 218739 h 781086"/>
              <a:gd name="csX46" fmla="*/ 676274 w 781049"/>
              <a:gd name="csY46" fmla="*/ 152436 h 781086"/>
              <a:gd name="csX47" fmla="*/ 104774 w 781049"/>
              <a:gd name="csY47" fmla="*/ 190535 h 781086"/>
              <a:gd name="csX48" fmla="*/ 19049 w 781049"/>
              <a:gd name="csY48" fmla="*/ 104810 h 781086"/>
              <a:gd name="csX49" fmla="*/ 104774 w 781049"/>
              <a:gd name="csY49" fmla="*/ 19085 h 781086"/>
              <a:gd name="csX50" fmla="*/ 190499 w 781049"/>
              <a:gd name="csY50" fmla="*/ 104810 h 781086"/>
              <a:gd name="csX51" fmla="*/ 188304 w 781049"/>
              <a:gd name="csY51" fmla="*/ 124233 h 781086"/>
              <a:gd name="csX52" fmla="*/ 172789 w 781049"/>
              <a:gd name="csY52" fmla="*/ 156901 h 781086"/>
              <a:gd name="csX53" fmla="*/ 104774 w 781049"/>
              <a:gd name="csY53" fmla="*/ 190535 h 781086"/>
              <a:gd name="csX54" fmla="*/ 193253 w 781049"/>
              <a:gd name="csY54" fmla="*/ 160732 h 781086"/>
              <a:gd name="csX55" fmla="*/ 204117 w 781049"/>
              <a:gd name="csY55" fmla="*/ 137775 h 781086"/>
              <a:gd name="csX56" fmla="*/ 572544 w 781049"/>
              <a:gd name="csY56" fmla="*/ 223798 h 781086"/>
              <a:gd name="csX57" fmla="*/ 571391 w 781049"/>
              <a:gd name="csY57" fmla="*/ 238196 h 781086"/>
              <a:gd name="csX58" fmla="*/ 573102 w 781049"/>
              <a:gd name="csY58" fmla="*/ 255833 h 781086"/>
              <a:gd name="csX59" fmla="*/ 383269 w 781049"/>
              <a:gd name="csY59" fmla="*/ 306397 h 781086"/>
              <a:gd name="csX60" fmla="*/ 104774 w 781049"/>
              <a:gd name="csY60" fmla="*/ 476286 h 781086"/>
              <a:gd name="csX61" fmla="*/ 19049 w 781049"/>
              <a:gd name="csY61" fmla="*/ 390561 h 781086"/>
              <a:gd name="csX62" fmla="*/ 104774 w 781049"/>
              <a:gd name="csY62" fmla="*/ 304836 h 781086"/>
              <a:gd name="csX63" fmla="*/ 187560 w 781049"/>
              <a:gd name="csY63" fmla="*/ 368460 h 781086"/>
              <a:gd name="csX64" fmla="*/ 190499 w 781049"/>
              <a:gd name="csY64" fmla="*/ 390561 h 781086"/>
              <a:gd name="csX65" fmla="*/ 187560 w 781049"/>
              <a:gd name="csY65" fmla="*/ 412662 h 781086"/>
              <a:gd name="csX66" fmla="*/ 104774 w 781049"/>
              <a:gd name="csY66" fmla="*/ 476286 h 781086"/>
              <a:gd name="csX67" fmla="*/ 207835 w 781049"/>
              <a:gd name="csY67" fmla="*/ 408198 h 781086"/>
              <a:gd name="csX68" fmla="*/ 209546 w 781049"/>
              <a:gd name="csY68" fmla="*/ 390561 h 781086"/>
              <a:gd name="csX69" fmla="*/ 207835 w 781049"/>
              <a:gd name="csY69" fmla="*/ 372925 h 781086"/>
              <a:gd name="csX70" fmla="*/ 379170 w 781049"/>
              <a:gd name="csY70" fmla="*/ 327309 h 781086"/>
              <a:gd name="csX71" fmla="*/ 461844 w 781049"/>
              <a:gd name="csY71" fmla="*/ 390560 h 781086"/>
              <a:gd name="csX72" fmla="*/ 379245 w 781049"/>
              <a:gd name="csY72" fmla="*/ 453886 h 781086"/>
              <a:gd name="csX73" fmla="*/ 573204 w 781049"/>
              <a:gd name="csY73" fmla="*/ 525327 h 781086"/>
              <a:gd name="csX74" fmla="*/ 571493 w 781049"/>
              <a:gd name="csY74" fmla="*/ 542963 h 781086"/>
              <a:gd name="csX75" fmla="*/ 572646 w 781049"/>
              <a:gd name="csY75" fmla="*/ 557362 h 781086"/>
              <a:gd name="csX76" fmla="*/ 204219 w 781049"/>
              <a:gd name="csY76" fmla="*/ 643384 h 781086"/>
              <a:gd name="csX77" fmla="*/ 193355 w 781049"/>
              <a:gd name="csY77" fmla="*/ 620427 h 781086"/>
              <a:gd name="csX78" fmla="*/ 383483 w 781049"/>
              <a:gd name="csY78" fmla="*/ 474685 h 781086"/>
              <a:gd name="csX79" fmla="*/ 104765 w 781049"/>
              <a:gd name="csY79" fmla="*/ 762042 h 781086"/>
              <a:gd name="csX80" fmla="*/ 19040 w 781049"/>
              <a:gd name="csY80" fmla="*/ 676317 h 781086"/>
              <a:gd name="csX81" fmla="*/ 104765 w 781049"/>
              <a:gd name="csY81" fmla="*/ 590592 h 781086"/>
              <a:gd name="csX82" fmla="*/ 172779 w 781049"/>
              <a:gd name="csY82" fmla="*/ 624227 h 781086"/>
              <a:gd name="csX83" fmla="*/ 188294 w 781049"/>
              <a:gd name="csY83" fmla="*/ 656820 h 781086"/>
              <a:gd name="csX84" fmla="*/ 190489 w 781049"/>
              <a:gd name="csY84" fmla="*/ 676317 h 781086"/>
              <a:gd name="csX85" fmla="*/ 104764 w 781049"/>
              <a:gd name="csY85" fmla="*/ 762042 h 781086"/>
              <a:gd name="csX86" fmla="*/ 676265 w 781049"/>
              <a:gd name="csY86" fmla="*/ 628692 h 781086"/>
              <a:gd name="csX87" fmla="*/ 592735 w 781049"/>
              <a:gd name="csY87" fmla="*/ 562389 h 781086"/>
              <a:gd name="csX88" fmla="*/ 590540 w 781049"/>
              <a:gd name="csY88" fmla="*/ 542967 h 781086"/>
              <a:gd name="csX89" fmla="*/ 593479 w 781049"/>
              <a:gd name="csY89" fmla="*/ 520792 h 781086"/>
              <a:gd name="csX90" fmla="*/ 608325 w 781049"/>
              <a:gd name="csY90" fmla="*/ 490803 h 781086"/>
              <a:gd name="csX91" fmla="*/ 676265 w 781049"/>
              <a:gd name="csY91" fmla="*/ 457243 h 781086"/>
              <a:gd name="csX92" fmla="*/ 761990 w 781049"/>
              <a:gd name="csY92" fmla="*/ 542968 h 781086"/>
              <a:gd name="csX93" fmla="*/ 676265 w 781049"/>
              <a:gd name="csY93" fmla="*/ 628693 h 781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Lst>
            <a:rect l="l" t="t" r="r" b="b"/>
            <a:pathLst>
              <a:path w="781049" h="781086">
                <a:moveTo>
                  <a:pt x="676277" y="438186"/>
                </a:moveTo>
                <a:cubicBezTo>
                  <a:pt x="646660" y="438186"/>
                  <a:pt x="619127" y="450465"/>
                  <a:pt x="599407" y="472008"/>
                </a:cubicBezTo>
                <a:lnTo>
                  <a:pt x="493108" y="390561"/>
                </a:lnTo>
                <a:lnTo>
                  <a:pt x="599293" y="309115"/>
                </a:lnTo>
                <a:cubicBezTo>
                  <a:pt x="619124" y="330658"/>
                  <a:pt x="646658" y="342936"/>
                  <a:pt x="676274" y="342936"/>
                </a:cubicBezTo>
                <a:cubicBezTo>
                  <a:pt x="734094" y="342936"/>
                  <a:pt x="781049" y="295981"/>
                  <a:pt x="781049" y="238161"/>
                </a:cubicBezTo>
                <a:cubicBezTo>
                  <a:pt x="781049" y="180342"/>
                  <a:pt x="734094" y="133386"/>
                  <a:pt x="676274" y="133386"/>
                </a:cubicBezTo>
                <a:cubicBezTo>
                  <a:pt x="630472" y="133386"/>
                  <a:pt x="590846" y="162445"/>
                  <a:pt x="576824" y="205196"/>
                </a:cubicBezTo>
                <a:lnTo>
                  <a:pt x="208473" y="119174"/>
                </a:lnTo>
                <a:cubicBezTo>
                  <a:pt x="209143" y="114411"/>
                  <a:pt x="209626" y="109649"/>
                  <a:pt x="209626" y="104775"/>
                </a:cubicBezTo>
                <a:cubicBezTo>
                  <a:pt x="209626" y="46955"/>
                  <a:pt x="162671" y="0"/>
                  <a:pt x="104851" y="0"/>
                </a:cubicBezTo>
                <a:cubicBezTo>
                  <a:pt x="47069" y="37"/>
                  <a:pt x="0" y="46993"/>
                  <a:pt x="0" y="104813"/>
                </a:cubicBezTo>
                <a:cubicBezTo>
                  <a:pt x="0" y="162634"/>
                  <a:pt x="46955" y="209588"/>
                  <a:pt x="104775" y="209588"/>
                </a:cubicBezTo>
                <a:cubicBezTo>
                  <a:pt x="134392" y="209588"/>
                  <a:pt x="161925" y="197309"/>
                  <a:pt x="181645" y="175767"/>
                </a:cubicBezTo>
                <a:lnTo>
                  <a:pt x="360124" y="312651"/>
                </a:lnTo>
                <a:lnTo>
                  <a:pt x="203076" y="354471"/>
                </a:lnTo>
                <a:cubicBezTo>
                  <a:pt x="188230" y="313617"/>
                  <a:pt x="149051" y="285787"/>
                  <a:pt x="104778" y="285787"/>
                </a:cubicBezTo>
                <a:cubicBezTo>
                  <a:pt x="46958" y="285787"/>
                  <a:pt x="3" y="332743"/>
                  <a:pt x="3" y="390562"/>
                </a:cubicBezTo>
                <a:cubicBezTo>
                  <a:pt x="3" y="448382"/>
                  <a:pt x="46958" y="495337"/>
                  <a:pt x="104778" y="495337"/>
                </a:cubicBezTo>
                <a:cubicBezTo>
                  <a:pt x="149054" y="495337"/>
                  <a:pt x="188233" y="467506"/>
                  <a:pt x="203076" y="426653"/>
                </a:cubicBezTo>
                <a:lnTo>
                  <a:pt x="360124" y="468474"/>
                </a:lnTo>
                <a:lnTo>
                  <a:pt x="181645" y="605358"/>
                </a:lnTo>
                <a:cubicBezTo>
                  <a:pt x="161925" y="583815"/>
                  <a:pt x="134392" y="571536"/>
                  <a:pt x="104775" y="571536"/>
                </a:cubicBezTo>
                <a:cubicBezTo>
                  <a:pt x="46955" y="571536"/>
                  <a:pt x="0" y="618492"/>
                  <a:pt x="0" y="676311"/>
                </a:cubicBezTo>
                <a:cubicBezTo>
                  <a:pt x="0" y="734131"/>
                  <a:pt x="46955" y="781086"/>
                  <a:pt x="104775" y="781086"/>
                </a:cubicBezTo>
                <a:cubicBezTo>
                  <a:pt x="162595" y="781086"/>
                  <a:pt x="209550" y="734131"/>
                  <a:pt x="209550" y="676311"/>
                </a:cubicBezTo>
                <a:cubicBezTo>
                  <a:pt x="209550" y="671437"/>
                  <a:pt x="209066" y="666675"/>
                  <a:pt x="208397" y="661912"/>
                </a:cubicBezTo>
                <a:lnTo>
                  <a:pt x="576747" y="575890"/>
                </a:lnTo>
                <a:cubicBezTo>
                  <a:pt x="590849" y="618678"/>
                  <a:pt x="630474" y="647737"/>
                  <a:pt x="676274" y="647737"/>
                </a:cubicBezTo>
                <a:cubicBezTo>
                  <a:pt x="734094" y="647737"/>
                  <a:pt x="781049" y="600782"/>
                  <a:pt x="781049" y="542962"/>
                </a:cubicBezTo>
                <a:cubicBezTo>
                  <a:pt x="781049" y="485143"/>
                  <a:pt x="734094" y="438187"/>
                  <a:pt x="676274" y="438187"/>
                </a:cubicBezTo>
                <a:close/>
                <a:moveTo>
                  <a:pt x="587687" y="487039"/>
                </a:moveTo>
                <a:cubicBezTo>
                  <a:pt x="583669" y="493215"/>
                  <a:pt x="580431" y="499913"/>
                  <a:pt x="577865" y="506833"/>
                </a:cubicBezTo>
                <a:lnTo>
                  <a:pt x="402433" y="460101"/>
                </a:lnTo>
                <a:lnTo>
                  <a:pt x="477480" y="402579"/>
                </a:lnTo>
                <a:close/>
                <a:moveTo>
                  <a:pt x="577976" y="274250"/>
                </a:moveTo>
                <a:cubicBezTo>
                  <a:pt x="580543" y="281208"/>
                  <a:pt x="583780" y="287794"/>
                  <a:pt x="587798" y="294044"/>
                </a:cubicBezTo>
                <a:lnTo>
                  <a:pt x="477594" y="378542"/>
                </a:lnTo>
                <a:lnTo>
                  <a:pt x="402548" y="321019"/>
                </a:lnTo>
                <a:close/>
                <a:moveTo>
                  <a:pt x="676274" y="152435"/>
                </a:moveTo>
                <a:cubicBezTo>
                  <a:pt x="723527" y="152435"/>
                  <a:pt x="761999" y="190908"/>
                  <a:pt x="761999" y="238160"/>
                </a:cubicBezTo>
                <a:cubicBezTo>
                  <a:pt x="761999" y="285413"/>
                  <a:pt x="723527" y="323885"/>
                  <a:pt x="676274" y="323885"/>
                </a:cubicBezTo>
                <a:cubicBezTo>
                  <a:pt x="649411" y="323885"/>
                  <a:pt x="624631" y="311607"/>
                  <a:pt x="608260" y="290251"/>
                </a:cubicBezTo>
                <a:cubicBezTo>
                  <a:pt x="601302" y="281284"/>
                  <a:pt x="596354" y="271312"/>
                  <a:pt x="593489" y="260336"/>
                </a:cubicBezTo>
                <a:cubicBezTo>
                  <a:pt x="591517" y="253007"/>
                  <a:pt x="590549" y="245602"/>
                  <a:pt x="590549" y="238161"/>
                </a:cubicBezTo>
                <a:cubicBezTo>
                  <a:pt x="590549" y="231576"/>
                  <a:pt x="591293" y="225027"/>
                  <a:pt x="592744" y="218739"/>
                </a:cubicBezTo>
                <a:cubicBezTo>
                  <a:pt x="601897" y="179671"/>
                  <a:pt x="636165" y="152436"/>
                  <a:pt x="676274" y="152436"/>
                </a:cubicBezTo>
                <a:close/>
                <a:moveTo>
                  <a:pt x="104774" y="190535"/>
                </a:moveTo>
                <a:cubicBezTo>
                  <a:pt x="57522" y="190535"/>
                  <a:pt x="19049" y="152063"/>
                  <a:pt x="19049" y="104810"/>
                </a:cubicBezTo>
                <a:cubicBezTo>
                  <a:pt x="19049" y="57558"/>
                  <a:pt x="57522" y="19085"/>
                  <a:pt x="104774" y="19085"/>
                </a:cubicBezTo>
                <a:cubicBezTo>
                  <a:pt x="152027" y="19085"/>
                  <a:pt x="190499" y="57558"/>
                  <a:pt x="190499" y="104810"/>
                </a:cubicBezTo>
                <a:cubicBezTo>
                  <a:pt x="190499" y="111396"/>
                  <a:pt x="189755" y="117944"/>
                  <a:pt x="188304" y="124233"/>
                </a:cubicBezTo>
                <a:cubicBezTo>
                  <a:pt x="185551" y="136250"/>
                  <a:pt x="180304" y="147190"/>
                  <a:pt x="172789" y="156901"/>
                </a:cubicBezTo>
                <a:cubicBezTo>
                  <a:pt x="156417" y="178258"/>
                  <a:pt x="131638" y="190535"/>
                  <a:pt x="104774" y="190535"/>
                </a:cubicBezTo>
                <a:close/>
                <a:moveTo>
                  <a:pt x="193253" y="160732"/>
                </a:moveTo>
                <a:cubicBezTo>
                  <a:pt x="197829" y="153589"/>
                  <a:pt x="201438" y="145887"/>
                  <a:pt x="204117" y="137775"/>
                </a:cubicBezTo>
                <a:lnTo>
                  <a:pt x="572544" y="223798"/>
                </a:lnTo>
                <a:cubicBezTo>
                  <a:pt x="571874" y="228560"/>
                  <a:pt x="571391" y="233323"/>
                  <a:pt x="571391" y="238196"/>
                </a:cubicBezTo>
                <a:cubicBezTo>
                  <a:pt x="571391" y="244112"/>
                  <a:pt x="572060" y="249991"/>
                  <a:pt x="573102" y="255833"/>
                </a:cubicBezTo>
                <a:lnTo>
                  <a:pt x="383269" y="306397"/>
                </a:lnTo>
                <a:close/>
                <a:moveTo>
                  <a:pt x="104774" y="476286"/>
                </a:moveTo>
                <a:cubicBezTo>
                  <a:pt x="57522" y="476286"/>
                  <a:pt x="19049" y="437814"/>
                  <a:pt x="19049" y="390561"/>
                </a:cubicBezTo>
                <a:cubicBezTo>
                  <a:pt x="19049" y="343309"/>
                  <a:pt x="57522" y="304836"/>
                  <a:pt x="104774" y="304836"/>
                </a:cubicBezTo>
                <a:cubicBezTo>
                  <a:pt x="143618" y="304836"/>
                  <a:pt x="177625" y="330919"/>
                  <a:pt x="187560" y="368460"/>
                </a:cubicBezTo>
                <a:cubicBezTo>
                  <a:pt x="189532" y="375716"/>
                  <a:pt x="190499" y="383120"/>
                  <a:pt x="190499" y="390561"/>
                </a:cubicBezTo>
                <a:cubicBezTo>
                  <a:pt x="190499" y="398002"/>
                  <a:pt x="189532" y="405407"/>
                  <a:pt x="187560" y="412662"/>
                </a:cubicBezTo>
                <a:cubicBezTo>
                  <a:pt x="177625" y="450092"/>
                  <a:pt x="143618" y="476286"/>
                  <a:pt x="104774" y="476286"/>
                </a:cubicBezTo>
                <a:close/>
                <a:moveTo>
                  <a:pt x="207835" y="408198"/>
                </a:moveTo>
                <a:cubicBezTo>
                  <a:pt x="208876" y="402356"/>
                  <a:pt x="209546" y="396477"/>
                  <a:pt x="209546" y="390561"/>
                </a:cubicBezTo>
                <a:cubicBezTo>
                  <a:pt x="209546" y="384645"/>
                  <a:pt x="208876" y="378766"/>
                  <a:pt x="207835" y="372925"/>
                </a:cubicBezTo>
                <a:lnTo>
                  <a:pt x="379170" y="327309"/>
                </a:lnTo>
                <a:lnTo>
                  <a:pt x="461844" y="390560"/>
                </a:lnTo>
                <a:lnTo>
                  <a:pt x="379245" y="453886"/>
                </a:lnTo>
                <a:close/>
                <a:moveTo>
                  <a:pt x="573204" y="525327"/>
                </a:moveTo>
                <a:cubicBezTo>
                  <a:pt x="572162" y="531168"/>
                  <a:pt x="571493" y="537047"/>
                  <a:pt x="571493" y="542963"/>
                </a:cubicBezTo>
                <a:cubicBezTo>
                  <a:pt x="571493" y="547837"/>
                  <a:pt x="571976" y="552600"/>
                  <a:pt x="572646" y="557362"/>
                </a:cubicBezTo>
                <a:lnTo>
                  <a:pt x="204219" y="643384"/>
                </a:lnTo>
                <a:cubicBezTo>
                  <a:pt x="201540" y="635273"/>
                  <a:pt x="197931" y="627571"/>
                  <a:pt x="193355" y="620427"/>
                </a:cubicBezTo>
                <a:lnTo>
                  <a:pt x="383483" y="474685"/>
                </a:lnTo>
                <a:close/>
                <a:moveTo>
                  <a:pt x="104765" y="762042"/>
                </a:moveTo>
                <a:cubicBezTo>
                  <a:pt x="57512" y="762042"/>
                  <a:pt x="19040" y="723570"/>
                  <a:pt x="19040" y="676317"/>
                </a:cubicBezTo>
                <a:cubicBezTo>
                  <a:pt x="19040" y="629064"/>
                  <a:pt x="57512" y="590592"/>
                  <a:pt x="104765" y="590592"/>
                </a:cubicBezTo>
                <a:cubicBezTo>
                  <a:pt x="131628" y="590592"/>
                  <a:pt x="156408" y="602871"/>
                  <a:pt x="172779" y="624227"/>
                </a:cubicBezTo>
                <a:cubicBezTo>
                  <a:pt x="180220" y="633863"/>
                  <a:pt x="185429" y="644914"/>
                  <a:pt x="188294" y="656820"/>
                </a:cubicBezTo>
                <a:cubicBezTo>
                  <a:pt x="189745" y="663183"/>
                  <a:pt x="190489" y="669731"/>
                  <a:pt x="190489" y="676317"/>
                </a:cubicBezTo>
                <a:cubicBezTo>
                  <a:pt x="190489" y="723570"/>
                  <a:pt x="152017" y="762042"/>
                  <a:pt x="104764" y="762042"/>
                </a:cubicBezTo>
                <a:close/>
                <a:moveTo>
                  <a:pt x="676265" y="628692"/>
                </a:moveTo>
                <a:cubicBezTo>
                  <a:pt x="636156" y="628692"/>
                  <a:pt x="601888" y="601456"/>
                  <a:pt x="592735" y="562389"/>
                </a:cubicBezTo>
                <a:cubicBezTo>
                  <a:pt x="591284" y="556101"/>
                  <a:pt x="590540" y="549553"/>
                  <a:pt x="590540" y="542967"/>
                </a:cubicBezTo>
                <a:cubicBezTo>
                  <a:pt x="590540" y="535526"/>
                  <a:pt x="591507" y="528121"/>
                  <a:pt x="593479" y="520792"/>
                </a:cubicBezTo>
                <a:cubicBezTo>
                  <a:pt x="596344" y="509853"/>
                  <a:pt x="601367" y="499844"/>
                  <a:pt x="608325" y="490803"/>
                </a:cubicBezTo>
                <a:cubicBezTo>
                  <a:pt x="624621" y="469521"/>
                  <a:pt x="649401" y="457243"/>
                  <a:pt x="676265" y="457243"/>
                </a:cubicBezTo>
                <a:cubicBezTo>
                  <a:pt x="723517" y="457243"/>
                  <a:pt x="761990" y="495715"/>
                  <a:pt x="761990" y="542968"/>
                </a:cubicBezTo>
                <a:cubicBezTo>
                  <a:pt x="761990" y="590220"/>
                  <a:pt x="723517" y="628693"/>
                  <a:pt x="676265" y="628693"/>
                </a:cubicBezTo>
                <a:close/>
              </a:path>
            </a:pathLst>
          </a:custGeom>
          <a:solidFill>
            <a:srgbClr val="000000"/>
          </a:solidFill>
          <a:ln w="19050" cap="flat">
            <a:solidFill>
              <a:schemeClr val="tx1"/>
            </a:solidFill>
            <a:prstDash val="solid"/>
            <a:miter/>
          </a:ln>
        </p:spPr>
        <p:txBody>
          <a:bodyPr/>
          <a:lstStyle/>
          <a:p>
            <a:endParaRPr lang="en-US" noProof="0" dirty="0"/>
          </a:p>
        </p:txBody>
      </p:sp>
    </p:spTree>
    <p:extLst>
      <p:ext uri="{BB962C8B-B14F-4D97-AF65-F5344CB8AC3E}">
        <p14:creationId xmlns:p14="http://schemas.microsoft.com/office/powerpoint/2010/main" val="242756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p:bldP spid="27" grpId="0"/>
      <p:bldP spid="28" grpId="0"/>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E9863-24FD-E73F-9FEA-B4E1A81966E8}"/>
              </a:ext>
            </a:extLst>
          </p:cNvPr>
          <p:cNvSpPr>
            <a:spLocks noGrp="1"/>
          </p:cNvSpPr>
          <p:nvPr>
            <p:ph type="title"/>
          </p:nvPr>
        </p:nvSpPr>
        <p:spPr>
          <a:xfrm>
            <a:off x="433633" y="365125"/>
            <a:ext cx="11324734" cy="418128"/>
          </a:xfrm>
        </p:spPr>
        <p:txBody>
          <a:bodyPr/>
          <a:lstStyle/>
          <a:p>
            <a:r>
              <a:rPr lang="en-US" noProof="0" dirty="0"/>
              <a:t>In summary, pretraining and finetuning serve two different goals</a:t>
            </a:r>
          </a:p>
        </p:txBody>
      </p:sp>
      <p:sp>
        <p:nvSpPr>
          <p:cNvPr id="3" name="Slide Number Placeholder 2">
            <a:extLst>
              <a:ext uri="{FF2B5EF4-FFF2-40B4-BE49-F238E27FC236}">
                <a16:creationId xmlns:a16="http://schemas.microsoft.com/office/drawing/2014/main" id="{12A33C03-8251-E14E-7DAC-1645A45CD2D6}"/>
              </a:ext>
            </a:extLst>
          </p:cNvPr>
          <p:cNvSpPr>
            <a:spLocks noGrp="1"/>
          </p:cNvSpPr>
          <p:nvPr>
            <p:ph type="sldNum" sz="quarter" idx="12"/>
          </p:nvPr>
        </p:nvSpPr>
        <p:spPr/>
        <p:txBody>
          <a:bodyPr/>
          <a:lstStyle/>
          <a:p>
            <a:fld id="{94B3E216-A3C5-4E41-AE94-D003E76F1D3A}" type="slidenum">
              <a:rPr lang="en-US" noProof="0" smtClean="0"/>
              <a:t>8</a:t>
            </a:fld>
            <a:endParaRPr lang="en-US" noProof="0" dirty="0"/>
          </a:p>
        </p:txBody>
      </p:sp>
      <p:graphicFrame>
        <p:nvGraphicFramePr>
          <p:cNvPr id="4" name="Table 3">
            <a:extLst>
              <a:ext uri="{FF2B5EF4-FFF2-40B4-BE49-F238E27FC236}">
                <a16:creationId xmlns:a16="http://schemas.microsoft.com/office/drawing/2014/main" id="{EDC730EF-17D6-22F5-27FC-983ED302C3D5}"/>
              </a:ext>
            </a:extLst>
          </p:cNvPr>
          <p:cNvGraphicFramePr>
            <a:graphicFrameLocks noGrp="1"/>
          </p:cNvGraphicFramePr>
          <p:nvPr>
            <p:extLst>
              <p:ext uri="{D42A27DB-BD31-4B8C-83A1-F6EECF244321}">
                <p14:modId xmlns:p14="http://schemas.microsoft.com/office/powerpoint/2010/main" val="3700804390"/>
              </p:ext>
            </p:extLst>
          </p:nvPr>
        </p:nvGraphicFramePr>
        <p:xfrm>
          <a:off x="433634" y="2161492"/>
          <a:ext cx="11324733" cy="3431052"/>
        </p:xfrm>
        <a:graphic>
          <a:graphicData uri="http://schemas.openxmlformats.org/drawingml/2006/table">
            <a:tbl>
              <a:tblPr firstRow="1" firstCol="1" bandRow="1">
                <a:tableStyleId>{9D7B26C5-4107-4FEC-AEDC-1716B250A1EF}</a:tableStyleId>
              </a:tblPr>
              <a:tblGrid>
                <a:gridCol w="2473020">
                  <a:extLst>
                    <a:ext uri="{9D8B030D-6E8A-4147-A177-3AD203B41FA5}">
                      <a16:colId xmlns:a16="http://schemas.microsoft.com/office/drawing/2014/main" val="949337669"/>
                    </a:ext>
                  </a:extLst>
                </a:gridCol>
                <a:gridCol w="2829489">
                  <a:extLst>
                    <a:ext uri="{9D8B030D-6E8A-4147-A177-3AD203B41FA5}">
                      <a16:colId xmlns:a16="http://schemas.microsoft.com/office/drawing/2014/main" val="3094796858"/>
                    </a:ext>
                  </a:extLst>
                </a:gridCol>
                <a:gridCol w="3032719">
                  <a:extLst>
                    <a:ext uri="{9D8B030D-6E8A-4147-A177-3AD203B41FA5}">
                      <a16:colId xmlns:a16="http://schemas.microsoft.com/office/drawing/2014/main" val="3467110310"/>
                    </a:ext>
                  </a:extLst>
                </a:gridCol>
                <a:gridCol w="2989505">
                  <a:extLst>
                    <a:ext uri="{9D8B030D-6E8A-4147-A177-3AD203B41FA5}">
                      <a16:colId xmlns:a16="http://schemas.microsoft.com/office/drawing/2014/main" val="629671592"/>
                    </a:ext>
                  </a:extLst>
                </a:gridCol>
              </a:tblGrid>
              <a:tr h="353130">
                <a:tc>
                  <a:txBody>
                    <a:bodyPr/>
                    <a:lstStyle/>
                    <a:p>
                      <a:endParaRPr lang="en-US" noProof="0" dirty="0"/>
                    </a:p>
                  </a:txBody>
                  <a:tcPr/>
                </a:tc>
                <a:tc>
                  <a:txBody>
                    <a:bodyPr/>
                    <a:lstStyle/>
                    <a:p>
                      <a:r>
                        <a:rPr lang="en-US" i="1" noProof="0" dirty="0"/>
                        <a:t>Direct training</a:t>
                      </a:r>
                    </a:p>
                  </a:txBody>
                  <a:tcPr/>
                </a:tc>
                <a:tc>
                  <a:txBody>
                    <a:bodyPr/>
                    <a:lstStyle/>
                    <a:p>
                      <a:r>
                        <a:rPr lang="en-US" noProof="0" dirty="0"/>
                        <a:t>Pretraining</a:t>
                      </a:r>
                    </a:p>
                  </a:txBody>
                  <a:tcPr/>
                </a:tc>
                <a:tc>
                  <a:txBody>
                    <a:bodyPr/>
                    <a:lstStyle/>
                    <a:p>
                      <a:r>
                        <a:rPr lang="en-US" noProof="0" dirty="0"/>
                        <a:t>Finetuning</a:t>
                      </a:r>
                    </a:p>
                  </a:txBody>
                  <a:tcPr/>
                </a:tc>
                <a:extLst>
                  <a:ext uri="{0D108BD9-81ED-4DB2-BD59-A6C34878D82A}">
                    <a16:rowId xmlns:a16="http://schemas.microsoft.com/office/drawing/2014/main" val="3059695528"/>
                  </a:ext>
                </a:extLst>
              </a:tr>
              <a:tr h="870732">
                <a:tc>
                  <a:txBody>
                    <a:bodyPr/>
                    <a:lstStyle/>
                    <a:p>
                      <a:r>
                        <a:rPr lang="en-US" noProof="0" dirty="0"/>
                        <a:t>Objective</a:t>
                      </a:r>
                    </a:p>
                  </a:txBody>
                  <a:tcPr/>
                </a:tc>
                <a:tc>
                  <a:txBody>
                    <a:bodyPr/>
                    <a:lstStyle/>
                    <a:p>
                      <a:r>
                        <a:rPr lang="en-US" i="1" noProof="0" dirty="0"/>
                        <a:t>Learn the ‘language’ &amp; the specific task at once</a:t>
                      </a:r>
                    </a:p>
                  </a:txBody>
                  <a:tcPr/>
                </a:tc>
                <a:tc>
                  <a:txBody>
                    <a:bodyPr/>
                    <a:lstStyle/>
                    <a:p>
                      <a:r>
                        <a:rPr lang="en-US" noProof="0" dirty="0"/>
                        <a:t>Learn the general ‘language’</a:t>
                      </a:r>
                      <a:br>
                        <a:rPr lang="en-US" noProof="0" dirty="0"/>
                      </a:br>
                      <a:r>
                        <a:rPr lang="en-US" noProof="0" dirty="0"/>
                        <a:t>of the training task</a:t>
                      </a:r>
                    </a:p>
                  </a:txBody>
                  <a:tcPr/>
                </a:tc>
                <a:tc>
                  <a:txBody>
                    <a:bodyPr/>
                    <a:lstStyle/>
                    <a:p>
                      <a:r>
                        <a:rPr lang="en-US" noProof="0" dirty="0"/>
                        <a:t>Learn the specific training task</a:t>
                      </a:r>
                    </a:p>
                  </a:txBody>
                  <a:tcPr/>
                </a:tc>
                <a:extLst>
                  <a:ext uri="{0D108BD9-81ED-4DB2-BD59-A6C34878D82A}">
                    <a16:rowId xmlns:a16="http://schemas.microsoft.com/office/drawing/2014/main" val="1144696414"/>
                  </a:ext>
                </a:extLst>
              </a:tr>
              <a:tr h="870732">
                <a:tc>
                  <a:txBody>
                    <a:bodyPr/>
                    <a:lstStyle/>
                    <a:p>
                      <a:r>
                        <a:rPr lang="en-US" noProof="0" dirty="0"/>
                        <a:t>Method</a:t>
                      </a:r>
                    </a:p>
                  </a:txBody>
                  <a:tcPr/>
                </a:tc>
                <a:tc>
                  <a:txBody>
                    <a:bodyPr/>
                    <a:lstStyle/>
                    <a:p>
                      <a:r>
                        <a:rPr lang="en-US" i="1" noProof="0" dirty="0"/>
                        <a:t>Supervised</a:t>
                      </a:r>
                    </a:p>
                  </a:txBody>
                  <a:tcPr/>
                </a:tc>
                <a:tc>
                  <a:txBody>
                    <a:bodyPr/>
                    <a:lstStyle/>
                    <a:p>
                      <a:r>
                        <a:rPr lang="en-US" noProof="0" dirty="0"/>
                        <a:t>Supervised (with labels) or</a:t>
                      </a:r>
                      <a:br>
                        <a:rPr lang="en-US" noProof="0" dirty="0"/>
                      </a:br>
                      <a:r>
                        <a:rPr lang="en-US" noProof="0" dirty="0"/>
                        <a:t>self-supervised (masking)</a:t>
                      </a:r>
                    </a:p>
                  </a:txBody>
                  <a:tcPr/>
                </a:tc>
                <a:tc>
                  <a:txBody>
                    <a:bodyPr/>
                    <a:lstStyle/>
                    <a:p>
                      <a:r>
                        <a:rPr lang="en-US" noProof="0" dirty="0"/>
                        <a:t>Supervised (with labels)</a:t>
                      </a:r>
                    </a:p>
                  </a:txBody>
                  <a:tcPr/>
                </a:tc>
                <a:extLst>
                  <a:ext uri="{0D108BD9-81ED-4DB2-BD59-A6C34878D82A}">
                    <a16:rowId xmlns:a16="http://schemas.microsoft.com/office/drawing/2014/main" val="1223865734"/>
                  </a:ext>
                </a:extLst>
              </a:tr>
              <a:tr h="353130">
                <a:tc>
                  <a:txBody>
                    <a:bodyPr/>
                    <a:lstStyle/>
                    <a:p>
                      <a:r>
                        <a:rPr lang="en-US" noProof="0" dirty="0"/>
                        <a:t>Data requirement</a:t>
                      </a:r>
                    </a:p>
                  </a:txBody>
                  <a:tcPr/>
                </a:tc>
                <a:tc>
                  <a:txBody>
                    <a:bodyPr/>
                    <a:lstStyle/>
                    <a:p>
                      <a:r>
                        <a:rPr lang="en-US" i="1" noProof="0" dirty="0"/>
                        <a:t>Large corpus of examples</a:t>
                      </a:r>
                    </a:p>
                  </a:txBody>
                  <a:tcPr/>
                </a:tc>
                <a:tc>
                  <a:txBody>
                    <a:bodyPr/>
                    <a:lstStyle/>
                    <a:p>
                      <a:r>
                        <a:rPr lang="en-US" noProof="0" dirty="0"/>
                        <a:t>Very large corpus of examples</a:t>
                      </a:r>
                    </a:p>
                  </a:txBody>
                  <a:tcPr/>
                </a:tc>
                <a:tc>
                  <a:txBody>
                    <a:bodyPr/>
                    <a:lstStyle/>
                    <a:p>
                      <a:r>
                        <a:rPr lang="en-US" noProof="0" dirty="0"/>
                        <a:t>Much smaller data set*</a:t>
                      </a:r>
                    </a:p>
                  </a:txBody>
                  <a:tcPr/>
                </a:tc>
                <a:extLst>
                  <a:ext uri="{0D108BD9-81ED-4DB2-BD59-A6C34878D82A}">
                    <a16:rowId xmlns:a16="http://schemas.microsoft.com/office/drawing/2014/main" val="2694372394"/>
                  </a:ext>
                </a:extLst>
              </a:tr>
              <a:tr h="609512">
                <a:tc>
                  <a:txBody>
                    <a:bodyPr/>
                    <a:lstStyle/>
                    <a:p>
                      <a:r>
                        <a:rPr lang="en-US" noProof="0" dirty="0"/>
                        <a:t>Downstream applicability</a:t>
                      </a:r>
                    </a:p>
                  </a:txBody>
                  <a:tcPr/>
                </a:tc>
                <a:tc>
                  <a:txBody>
                    <a:bodyPr/>
                    <a:lstStyle/>
                    <a:p>
                      <a:r>
                        <a:rPr lang="en-US" i="1" noProof="0" dirty="0"/>
                        <a:t>Very specific</a:t>
                      </a:r>
                    </a:p>
                  </a:txBody>
                  <a:tcPr/>
                </a:tc>
                <a:tc>
                  <a:txBody>
                    <a:bodyPr/>
                    <a:lstStyle/>
                    <a:p>
                      <a:r>
                        <a:rPr lang="en-US" noProof="0" dirty="0"/>
                        <a:t>Very diverse</a:t>
                      </a:r>
                    </a:p>
                  </a:txBody>
                  <a:tcPr/>
                </a:tc>
                <a:tc>
                  <a:txBody>
                    <a:bodyPr/>
                    <a:lstStyle/>
                    <a:p>
                      <a:r>
                        <a:rPr lang="en-US" noProof="0" dirty="0"/>
                        <a:t>Very specific</a:t>
                      </a:r>
                    </a:p>
                  </a:txBody>
                  <a:tcPr/>
                </a:tc>
                <a:extLst>
                  <a:ext uri="{0D108BD9-81ED-4DB2-BD59-A6C34878D82A}">
                    <a16:rowId xmlns:a16="http://schemas.microsoft.com/office/drawing/2014/main" val="4145071056"/>
                  </a:ext>
                </a:extLst>
              </a:tr>
            </a:tbl>
          </a:graphicData>
        </a:graphic>
      </p:graphicFrame>
      <p:sp>
        <p:nvSpPr>
          <p:cNvPr id="7" name="Footer Placeholder 6">
            <a:extLst>
              <a:ext uri="{FF2B5EF4-FFF2-40B4-BE49-F238E27FC236}">
                <a16:creationId xmlns:a16="http://schemas.microsoft.com/office/drawing/2014/main" id="{0B066C87-F449-C69C-DBE6-48DFF46F8F26}"/>
              </a:ext>
            </a:extLst>
          </p:cNvPr>
          <p:cNvSpPr>
            <a:spLocks noGrp="1"/>
          </p:cNvSpPr>
          <p:nvPr>
            <p:ph type="ftr" sz="quarter" idx="11"/>
          </p:nvPr>
        </p:nvSpPr>
        <p:spPr/>
        <p:txBody>
          <a:bodyPr/>
          <a:lstStyle/>
          <a:p>
            <a:r>
              <a:rPr lang="en-US" noProof="0" dirty="0"/>
              <a:t>* depending on how different the downstream task is from the foundation model.</a:t>
            </a:r>
          </a:p>
        </p:txBody>
      </p:sp>
    </p:spTree>
    <p:extLst>
      <p:ext uri="{BB962C8B-B14F-4D97-AF65-F5344CB8AC3E}">
        <p14:creationId xmlns:p14="http://schemas.microsoft.com/office/powerpoint/2010/main" val="177836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D6438-8A42-D2A5-B82A-2EBF83889709}"/>
              </a:ext>
            </a:extLst>
          </p:cNvPr>
          <p:cNvSpPr>
            <a:spLocks noGrp="1"/>
          </p:cNvSpPr>
          <p:nvPr>
            <p:ph type="title"/>
          </p:nvPr>
        </p:nvSpPr>
        <p:spPr/>
        <p:txBody>
          <a:bodyPr/>
          <a:lstStyle/>
          <a:p>
            <a:r>
              <a:rPr lang="en-US" noProof="0" dirty="0"/>
              <a:t>Recap</a:t>
            </a:r>
          </a:p>
        </p:txBody>
      </p:sp>
      <p:sp>
        <p:nvSpPr>
          <p:cNvPr id="4" name="Content Placeholder 3">
            <a:extLst>
              <a:ext uri="{FF2B5EF4-FFF2-40B4-BE49-F238E27FC236}">
                <a16:creationId xmlns:a16="http://schemas.microsoft.com/office/drawing/2014/main" id="{3644DBD9-FB56-F106-7056-0A8AAFB47320}"/>
              </a:ext>
            </a:extLst>
          </p:cNvPr>
          <p:cNvSpPr>
            <a:spLocks noGrp="1"/>
          </p:cNvSpPr>
          <p:nvPr>
            <p:ph idx="1"/>
          </p:nvPr>
        </p:nvSpPr>
        <p:spPr>
          <a:xfrm>
            <a:off x="433633" y="1225485"/>
            <a:ext cx="11324734" cy="3686484"/>
          </a:xfrm>
        </p:spPr>
        <p:txBody>
          <a:bodyPr anchor="ctr"/>
          <a:lstStyle/>
          <a:p>
            <a:pPr>
              <a:buFont typeface="Wingdings" panose="05000000000000000000" pitchFamily="2" charset="2"/>
              <a:buChar char="§"/>
            </a:pPr>
            <a:r>
              <a:rPr lang="en-US" noProof="0" dirty="0">
                <a:latin typeface="+mn-lt"/>
              </a:rPr>
              <a:t>Foundation models first learn the general structure of a data domain from large datasets.</a:t>
            </a:r>
          </a:p>
          <a:p>
            <a:pPr>
              <a:buFont typeface="Wingdings" panose="05000000000000000000" pitchFamily="2" charset="2"/>
              <a:buChar char="§"/>
            </a:pPr>
            <a:r>
              <a:rPr lang="en-US" noProof="0" dirty="0">
                <a:latin typeface="+mn-lt"/>
              </a:rPr>
              <a:t>This pretraining step is often self-supervised, so exact labels are not always required.</a:t>
            </a:r>
          </a:p>
          <a:p>
            <a:pPr>
              <a:buFont typeface="Wingdings" panose="05000000000000000000" pitchFamily="2" charset="2"/>
              <a:buChar char="§"/>
            </a:pPr>
            <a:r>
              <a:rPr lang="en-US" noProof="0" dirty="0">
                <a:latin typeface="+mn-lt"/>
              </a:rPr>
              <a:t>The pretrained model can then be fine-tuned for specific downstream tasks.</a:t>
            </a:r>
          </a:p>
          <a:p>
            <a:pPr>
              <a:buFont typeface="Wingdings" panose="05000000000000000000" pitchFamily="2" charset="2"/>
              <a:buChar char="§"/>
            </a:pPr>
            <a:r>
              <a:rPr lang="en-US" noProof="0" dirty="0">
                <a:latin typeface="+mn-lt"/>
              </a:rPr>
              <a:t>This is very useful in biomedicine, where labeled data are often scarce but unlabeled data can be abundant.</a:t>
            </a:r>
          </a:p>
        </p:txBody>
      </p:sp>
      <p:sp>
        <p:nvSpPr>
          <p:cNvPr id="3" name="Slide Number Placeholder 2">
            <a:extLst>
              <a:ext uri="{FF2B5EF4-FFF2-40B4-BE49-F238E27FC236}">
                <a16:creationId xmlns:a16="http://schemas.microsoft.com/office/drawing/2014/main" id="{A3E5861A-ED34-E909-E8F4-1468738D6CFF}"/>
              </a:ext>
            </a:extLst>
          </p:cNvPr>
          <p:cNvSpPr>
            <a:spLocks noGrp="1"/>
          </p:cNvSpPr>
          <p:nvPr>
            <p:ph type="sldNum" sz="quarter" idx="12"/>
          </p:nvPr>
        </p:nvSpPr>
        <p:spPr/>
        <p:txBody>
          <a:bodyPr/>
          <a:lstStyle/>
          <a:p>
            <a:fld id="{94B3E216-A3C5-4E41-AE94-D003E76F1D3A}" type="slidenum">
              <a:rPr lang="en-US" noProof="0" smtClean="0"/>
              <a:t>9</a:t>
            </a:fld>
            <a:endParaRPr lang="en-US" noProof="0" dirty="0"/>
          </a:p>
        </p:txBody>
      </p:sp>
    </p:spTree>
    <p:extLst>
      <p:ext uri="{BB962C8B-B14F-4D97-AF65-F5344CB8AC3E}">
        <p14:creationId xmlns:p14="http://schemas.microsoft.com/office/powerpoint/2010/main" val="16072826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D" val="69a84c0f4baf8c0226e0f69c"/>
  <p:tag name="TRANSPARENTBACKGROUND" val="false"/>
  <p:tag name="FIGURESLIDEID" val="df01b09b-aa3b-4ad2-836a-8376d6e33fff"/>
  <p:tag name="DATEINSERTED" val="1772699317434"/>
  <p:tag name="VERSION" val="1772689053042"/>
  <p:tag name="BIOJSON" val="{&quot;id&quot;:&quot;78218fe6-3160-4f16-a102-0c09ca243669&quot;,&quot;objects&quot;:{&quot;df01b09b-aa3b-4ad2-836a-8376d6e33fff&quot;:{&quot;id&quot;:&quot;df01b09b-aa3b-4ad2-836a-8376d6e33fff&quot;,&quot;type&quot;:&quot;FIGURE_OBJECT&quot;,&quot;document&quot;:{&quot;type&quot;:&quot;FIGURE&quot;,&quot;canvasType&quot;:&quot;FIGURE&quot;,&quot;units&quot;:&quot;cm&quot;,&quot;aspectRatio&quot;:0,&quot;title&quot;:&quot;&quot;},&quot;parent&quot;:{&quot;type&quot;:&quot;DOCUMENT&quot;,&quot;parentId&quot;:&quot;78218fe6-3160-4f16-a102-0c09ca243669&quot;,&quot;order&quot;:&quot;99&quot;}},&quot;b443cbcf-2a48-43d3-afba-7b19b3a4a404&quot;:{&quot;id&quot;:&quot;b443cbcf-2a48-43d3-afba-7b19b3a4a404&quot;,&quot;type&quot;:&quot;FIGURE_OBJECT&quot;,&quot;relativeTransform&quot;:{&quot;translate&quot;:{&quot;x&quot;:0,&quot;y&quot;:0},&quot;rotate&quot;:0,&quot;skewX&quot;:0,&quot;scale&quot;:{&quot;x&quot;:1,&quot;y&quot;:1}},&quot;path&quot;:{&quot;type&quot;:&quot;RECT&quot;,&quot;size&quot;:{&quot;x&quot;:1104,&quot;y&quot;:456.94488188976374}},&quot;pathStyles&quot;:[{&quot;type&quot;:&quot;FILL&quot;,&quot;fillStyle&quot;:&quot;rgba(0,0,0,0)&quot;}],&quot;parent&quot;:{&quot;parentId&quot;:&quot;df01b09b-aa3b-4ad2-836a-8376d6e33fff&quot;,&quot;type&quot;:&quot;FRAME&quot;,&quot;order&quot;:&quot;5&quot;}},&quot;897a1bf9-931e-4930-8b86-02766b63dae2&quot;:{&quot;id&quot;:&quot;897a1bf9-931e-4930-8b86-02766b63dae2&quot;,&quot;name&quot;:&quot;Skull (base, axial cut, dorsal)&quot;,&quot;displayName&quot;:&quot;Skull base (dorsal)&quot;,&quot;type&quot;:&quot;FIGURE_OBJECT&quot;,&quot;relativeTransform&quot;:{&quot;translate&quot;:{&quot;x&quot;:-142.18041629251678,&quot;y&quot;:0.00016232718124342682},&quot;rotate&quot;:0,&quot;skewX&quot;:0,&quot;scale&quot;:{&quot;x&quot;:2.17530921242739,&quot;y&quot;:2.17530921242739}},&quot;image&quot;:{&quot;url&quot;:&quot;https://icons.cdn.biorender.com/biorender/5edf9a408c359d002771aaf1/20200609142356/image/5edf9a408c359d002771aaf1.png&quot;,&quot;isPremium&quot;:false,&quot;isOrgIcon&quot;:false,&quot;size&quot;:{&quot;x&quot;:160,&quot;y&quot;:221.20582120582122}},&quot;source&quot;:{&quot;id&quot;:&quot;5edf9a408c359d002771aaf1&quot;,&quot;version&quot;:&quot;20200609142356&quot;,&quot;type&quot;:&quot;ASSETS&quot;},&quot;isPremium&quot;:false,&quot;parent&quot;:{&quot;type&quot;:&quot;CHILD&quot;,&quot;parentId&quot;:&quot;df01b09b-aa3b-4ad2-836a-8376d6e33fff&quot;,&quot;order&quot;:&quot;8&quot;}},&quot;1dec1755-16e4-4a96-8e53-4281654b45ee&quot;:{&quot;type&quot;:&quot;FIGURE_OBJECT&quot;,&quot;id&quot;:&quot;1dec1755-16e4-4a96-8e53-4281654b45ee&quot;,&quot;relativeTransform&quot;:{&quot;translate&quot;:{&quot;x&quot;:-5.885216464457468,&quot;y&quot;:84.23002963964609},&quot;rotate&quot;:-2.4492935982947064e-16,&quot;skewX&quot;:0,&quot;scale&quot;:{&quot;x&quot;:1,&quot;y&quot;:1}},&quot;opacity&quot;:1,&quot;path&quot;:{&quot;type&quot;:&quot;POLY_LINE&quot;,&quot;points&quot;:[{&quot;x&quot;:-136.2950000407595,&quot;y&quot;:0},{&quot;x&quot;:-136.2950000407595,&quot;y&quot;:0},{&quot;x&quot;:68.14750356721784,&quot;y&quot;:58.66768538951874},{&quot;x&quot;:105.58063223581625,&quot;y&quot;:58.66768538951874}],&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df01b09b-aa3b-4ad2-836a-8376d6e33fff&quot;,&quot;order&quot;:&quot;9&quot;},&quot;connectorInfo&quot;:{&quot;type&quot;:&quot;ELBOW&quot;,&quot;offset&quot;:{&quot;x&quot;:0,&quot;y&quot;:0},&quot;bending&quot;:-0.1,&quot;customized&quot;:true}},&quot;48a2443f-7076-4f17-8b5e-c065d784c75b&quot;:{&quot;type&quot;:&quot;FIGURE_OBJECT&quot;,&quot;id&quot;:&quot;48a2443f-7076-4f17-8b5e-c065d784c75b&quot;,&quot;relativeTransform&quot;:{&quot;translate&quot;:{&quot;x&quot;:-5.885192707476559,&quot;y&quot;:13.771489676877536},&quot;rotate&quot;:-2.4492935982947064e-16,&quot;skewX&quot;:0,&quot;scale&quot;:{&quot;x&quot;:1,&quot;y&quot;:1}},&quot;opacity&quot;:1,&quot;path&quot;:{&quot;type&quot;:&quot;POLY_LINE&quot;,&quot;points&quot;:[{&quot;x&quot;:-82.7005998732943,&quot;y&quot;:33.5982980132103},{&quot;x&quot;:68.14750356721784,&quot;y&quot;:58.66768538951874},{&quot;x&quot;:105.58063223581625,&quot;y&quot;:58.66768538951874}],&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df01b09b-aa3b-4ad2-836a-8376d6e33fff&quot;,&quot;order&quot;:&quot;95&quot;},&quot;connectorInfo&quot;:{&quot;type&quot;:&quot;ELBOW&quot;,&quot;offset&quot;:{&quot;x&quot;:0,&quot;y&quot;:0},&quot;bending&quot;:-0.1,&quot;customized&quot;:true}},&quot;7197dc21-6d0d-4ef2-8885-23895db420ce&quot;:{&quot;type&quot;:&quot;FIGURE_OBJECT&quot;,&quot;id&quot;:&quot;7197dc21-6d0d-4ef2-8885-23895db420ce&quot;,&quot;relativeTransform&quot;:{&quot;translate&quot;:{&quot;x&quot;:-5.884949498799923,&quot;y&quot;:-56.68737843834886},&quot;rotate&quot;:-2.4492935982947064e-16,&quot;skewX&quot;:0,&quot;scale&quot;:{&quot;x&quot;:1,&quot;y&quot;:1}},&quot;opacity&quot;:1,&quot;path&quot;:{&quot;type&quot;:&quot;POLY_LINE&quot;,&quot;points&quot;:[{&quot;x&quot;:-80.57952883266393,&quot;y&quot;:40.04379743337631},{&quot;x&quot;:68.14750356721784,&quot;y&quot;:58.66768538951874},{&quot;x&quot;:105.58063223581625,&quot;y&quot;:58.66768538951874}],&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df01b09b-aa3b-4ad2-836a-8376d6e33fff&quot;,&quot;order&quot;:&quot;97&quot;},&quot;connectorInfo&quot;:{&quot;type&quot;:&quot;ELBOW&quot;,&quot;offset&quot;:{&quot;x&quot;:0,&quot;y&quot;:0},&quot;bending&quot;:-0.1,&quot;customized&quot;:true}},&quot;45fb0849-7500-40b7-9f5a-fe8f3c62686c&quot;:{&quot;type&quot;:&quot;FIGURE_OBJECT&quot;,&quot;id&quot;:&quot;45fb0849-7500-40b7-9f5a-fe8f3c62686c&quot;,&quot;relativeTransform&quot;:{&quot;translate&quot;:{&quot;x&quot;:-5.884815732436859,&quot;y&quot;:-125.14536961920584},&quot;rotate&quot;:-2.4492935982947064e-16,&quot;skewX&quot;:0,&quot;scale&quot;:{&quot;x&quot;:1,&quot;y&quot;:1}},&quot;opacity&quot;:1,&quot;path&quot;:{&quot;type&quot;:&quot;POLY_LINE&quot;,&quot;points&quot;:[{&quot;x&quot;:-90.19896152042335,&quot;y&quot;:98.89695537090306},{&quot;x&quot;:68.14750356721784,&quot;y&quot;:58.66768538951874},{&quot;x&quot;:105.58063223581625,&quot;y&quot;:58.66768538951874}],&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df01b09b-aa3b-4ad2-836a-8376d6e33fff&quot;,&quot;order&quot;:&quot;98&quot;},&quot;connectorInfo&quot;:{&quot;type&quot;:&quot;ELBOW&quot;,&quot;offset&quot;:{&quot;x&quot;:0,&quot;y&quot;:0},&quot;bending&quot;:-0.1,&quot;customized&quot;:true}},&quot;724b4df6-53b4-4a64-9e8f-cf787299aca1&quot;:{&quot;type&quot;:&quot;FIGURE_OBJECT&quot;,&quot;id&quot;:&quot;724b4df6-53b4-4a64-9e8f-cf787299aca1&quot;,&quot;relativeTransform&quot;:{&quot;translate&quot;:{&quot;x&quot;:-5.884571694967487,&quot;y&quot;:-195.60444186160456},&quot;rotate&quot;:-2.4492935982947064e-16,&quot;skewX&quot;:0,&quot;scale&quot;:{&quot;x&quot;:1,&quot;y&quot;:1}},&quot;opacity&quot;:1,&quot;path&quot;:{&quot;type&quot;:&quot;POLY_LINE&quot;,&quot;points&quot;:[{&quot;x&quot;:-137.1331098320384,&quot;y&quot;:156.72653096914294},{&quot;x&quot;:68.14750356721784,&quot;y&quot;:58.66768538951874},{&quot;x&quot;:105.58063223581625,&quot;y&quot;:58.66768538951874}],&quot;closed&quot;:false},&quot;pathStyles&quot;:[{&quot;type&quot;:&quot;FILL&quot;,&quot;fillStyle&quot;:&quot;rgba(0,0,0,0)&quot;},{&quot;type&quot;:&quot;STROKE&quot;,&quot;strokeStyle&quot;:&quot;#232323&quot;,&quot;lineWidth&quot;:2,&quot;lineJoin&quot;:&quot;round&quot;}],&quot;isLocked&quot;:false,&quot;parent&quot;:{&quot;type&quot;:&quot;CHILD&quot;,&quot;parentId&quot;:&quot;df01b09b-aa3b-4ad2-836a-8376d6e33fff&quot;,&quot;order&quot;:&quot;99&quot;},&quot;connectorInfo&quot;:{&quot;type&quot;:&quot;ELBOW&quot;,&quot;offset&quot;:{&quot;x&quot;:0,&quot;y&quot;:0},&quot;bending&quot;:-0.1,&quot;customized&quot;:true}},&quot;78218fe6-3160-4f16-a102-0c09ca243669&quot;:{&quot;id&quot;:&quot;78218fe6-3160-4f16-a102-0c09ca243669&quot;,&quot;type&quot;:&quot;FIGURE_OBJECT&quot;,&quot;document&quot;:{&quot;type&quot;:&quot;DOCUMENT_GROUP&quot;,&quot;canvasType&quot;:&quot;SLIDE&quot;,&quot;units&quot;:&quot;in&quot;}}}}"/>
  <p:tag name="TITLE" val="Untitled"/>
  <p:tag name="CREATORNAME" val="Lennart Martens"/>
</p:tagLst>
</file>

<file path=ppt/theme/theme1.xml><?xml version="1.0" encoding="utf-8"?>
<a:theme xmlns:a="http://schemas.openxmlformats.org/drawingml/2006/main" name="1_Office Theme">
  <a:themeElements>
    <a:clrScheme name="CompOmics">
      <a:dk1>
        <a:srgbClr val="1B2944"/>
      </a:dk1>
      <a:lt1>
        <a:sysClr val="window" lastClr="FFFFFF"/>
      </a:lt1>
      <a:dk2>
        <a:srgbClr val="1B2944"/>
      </a:dk2>
      <a:lt2>
        <a:srgbClr val="FFFFFF"/>
      </a:lt2>
      <a:accent1>
        <a:srgbClr val="417ECE"/>
      </a:accent1>
      <a:accent2>
        <a:srgbClr val="C96461"/>
      </a:accent2>
      <a:accent3>
        <a:srgbClr val="59AD5D"/>
      </a:accent3>
      <a:accent4>
        <a:srgbClr val="DDAE56"/>
      </a:accent4>
      <a:accent5>
        <a:srgbClr val="53C7C5"/>
      </a:accent5>
      <a:accent6>
        <a:srgbClr val="9976B7"/>
      </a:accent6>
      <a:hlink>
        <a:srgbClr val="5DB7B1"/>
      </a:hlink>
      <a:folHlink>
        <a:srgbClr val="5DB7B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potx" id="{6B1FDA5D-2F38-494C-9F84-B858B0FF0533}" vid="{89C44F79-ADE1-466F-BE54-FC048700D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92DD177-769E-476C-8AD6-B7077CC59EBF}">
  <we:reference id="wa200006038" version="1.0.0.4" store="en-US" storeType="OMEX"/>
  <we:alternateReferences>
    <we:reference id="wa200006038" version="1.0.0.4" store="en-US" storeType="OMEX"/>
  </we:alternateReferences>
  <we:properties>
    <we:property name="has-user-completed-add" value="true"/>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emplate>template</Template>
  <TotalTime>0</TotalTime>
  <Words>1241</Words>
  <Application>Microsoft Office PowerPoint</Application>
  <PresentationFormat>Widescreen</PresentationFormat>
  <Paragraphs>247</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Open Sans SemiBold</vt:lpstr>
      <vt:lpstr>Aptos</vt:lpstr>
      <vt:lpstr>Arial</vt:lpstr>
      <vt:lpstr>Cascadia Code</vt:lpstr>
      <vt:lpstr>UGent Panno Text</vt:lpstr>
      <vt:lpstr>Aptos SemiBold</vt:lpstr>
      <vt:lpstr>Open Sans</vt:lpstr>
      <vt:lpstr>Wingdings</vt:lpstr>
      <vt:lpstr>1_Office Theme</vt:lpstr>
      <vt:lpstr>It is easier to learn patterns if you know the language</vt:lpstr>
      <vt:lpstr>Foundation models can learn general sequence ‘language’ from a large corpus of text</vt:lpstr>
      <vt:lpstr>Pretraining &amp; fine-tuning turns one model into many predictors</vt:lpstr>
      <vt:lpstr>Pretraining &amp; fine-tuning turns one model into many predictors</vt:lpstr>
      <vt:lpstr>Foundation models can be highly generic, while the subsequent finetuning task can be very domain-specific</vt:lpstr>
      <vt:lpstr>Foundation models can also be more domain-specific, but exploit large corpuses of unlabeled data</vt:lpstr>
      <vt:lpstr>Amino acids can be directly encoded in various ways</vt:lpstr>
      <vt:lpstr>In summary, pretraining and finetuning serve two different goals</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Ralf Gabriels</dc:creator>
  <cp:lastModifiedBy>Robbin Bouwmeester</cp:lastModifiedBy>
  <cp:revision>1</cp:revision>
  <cp:lastPrinted>2026-03-06T15:26:27Z</cp:lastPrinted>
  <dcterms:created xsi:type="dcterms:W3CDTF">2026-03-11T16:52:54Z</dcterms:created>
  <dcterms:modified xsi:type="dcterms:W3CDTF">2026-10-18T08:06:41Z</dcterms:modified>
  <cp:contentStatus/>
</cp:coreProperties>
</file>