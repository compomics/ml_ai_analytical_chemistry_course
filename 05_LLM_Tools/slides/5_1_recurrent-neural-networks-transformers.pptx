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7"/>
  </p:notesMasterIdLst>
  <p:handoutMasterIdLst>
    <p:handoutMasterId r:id="rId18"/>
  </p:handoutMasterIdLst>
  <p:sldIdLst>
    <p:sldId id="257" r:id="rId2"/>
    <p:sldId id="258" r:id="rId3"/>
    <p:sldId id="260" r:id="rId4"/>
    <p:sldId id="259" r:id="rId5"/>
    <p:sldId id="262" r:id="rId6"/>
    <p:sldId id="263" r:id="rId7"/>
    <p:sldId id="264" r:id="rId8"/>
    <p:sldId id="265" r:id="rId9"/>
    <p:sldId id="266" r:id="rId10"/>
    <p:sldId id="267" r:id="rId11"/>
    <p:sldId id="268" r:id="rId12"/>
    <p:sldId id="269" r:id="rId13"/>
    <p:sldId id="270" r:id="rId14"/>
    <p:sldId id="272" r:id="rId15"/>
    <p:sldId id="273" r:id="rId16"/>
  </p:sldIdLst>
  <p:sldSz cx="12192000" cy="6858000"/>
  <p:notesSz cx="6858000" cy="9144000"/>
  <p:embeddedFontLst>
    <p:embeddedFont>
      <p:font typeface="Aptos SemiBold" panose="020B0004020202020204" pitchFamily="34" charset="0"/>
      <p:bold r:id="rId19"/>
      <p:boldItalic r:id="rId20"/>
    </p:embeddedFont>
    <p:embeddedFont>
      <p:font typeface="Cambria" panose="02040503050406030204" pitchFamily="18" charset="0"/>
      <p:regular r:id="rId21"/>
      <p:bold r:id="rId22"/>
      <p:italic r:id="rId23"/>
      <p:boldItalic r:id="rId24"/>
    </p:embeddedFont>
    <p:embeddedFont>
      <p:font typeface="Cambria Math" panose="02040503050406030204" pitchFamily="18" charset="0"/>
      <p:regular r:id="rId25"/>
    </p:embeddedFont>
    <p:embeddedFont>
      <p:font typeface="Cascadia Code" panose="020B0609020000020004" pitchFamily="49" charset="0"/>
      <p:regular r:id="rId26"/>
      <p:bold r:id="rId27"/>
      <p:italic r:id="rId28"/>
      <p:boldItalic r:id="rId29"/>
    </p:embeddedFont>
    <p:embeddedFont>
      <p:font typeface="Open Sans SemiBold" panose="020B0706030804020204" pitchFamily="34" charset="0"/>
      <p:bold r:id="rId30"/>
      <p:boldItalic r:id="rId31"/>
    </p:embeddedFont>
  </p:embeddedFontLst>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2D200454-40CA-4A62-9FC3-DE9A4176ACB9}">
      <p15:notesGuideLst xmlns:p15="http://schemas.microsoft.com/office/powerpoint/2012/main">
        <p15:guide id="1" orient="horz" pos="2886"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59A14F"/>
    <a:srgbClr val="EDC948"/>
    <a:srgbClr val="E15759"/>
    <a:srgbClr val="FFFFFF"/>
    <a:srgbClr val="417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657" autoAdjust="0"/>
    <p:restoredTop sz="63270" autoAdjust="0"/>
  </p:normalViewPr>
  <p:slideViewPr>
    <p:cSldViewPr snapToGrid="0" showGuides="1">
      <p:cViewPr varScale="1">
        <p:scale>
          <a:sx n="60" d="100"/>
          <a:sy n="60" d="100"/>
        </p:scale>
        <p:origin x="2864" y="56"/>
      </p:cViewPr>
      <p:guideLst>
        <p:guide orient="horz" pos="2160"/>
        <p:guide pos="3840"/>
      </p:guideLst>
    </p:cSldViewPr>
  </p:slideViewPr>
  <p:notesTextViewPr>
    <p:cViewPr>
      <p:scale>
        <a:sx n="1" d="1"/>
        <a:sy n="1" d="1"/>
      </p:scale>
      <p:origin x="0" y="0"/>
    </p:cViewPr>
  </p:notesTextViewPr>
  <p:notesViewPr>
    <p:cSldViewPr snapToGrid="0" showGuides="1">
      <p:cViewPr varScale="1">
        <p:scale>
          <a:sx n="66" d="100"/>
          <a:sy n="66" d="100"/>
        </p:scale>
        <p:origin x="0" y="0"/>
      </p:cViewPr>
      <p:guideLst>
        <p:guide orient="horz" pos="2886"/>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handoutMaster" Target="handoutMasters/handout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bin Bouwmeester" userId="1dbfebabfc25a55a" providerId="LiveId" clId="{75D63595-F797-482E-A4A0-2F4889B74D4F}"/>
    <pc:docChg chg="delSld">
      <pc:chgData name="Robbin Bouwmeester" userId="1dbfebabfc25a55a" providerId="LiveId" clId="{75D63595-F797-482E-A4A0-2F4889B74D4F}" dt="2026-10-18T08:04:55.368" v="1" actId="47"/>
      <pc:docMkLst>
        <pc:docMk/>
      </pc:docMkLst>
      <pc:sldChg chg="del">
        <pc:chgData name="Robbin Bouwmeester" userId="1dbfebabfc25a55a" providerId="LiveId" clId="{75D63595-F797-482E-A4A0-2F4889B74D4F}" dt="2026-10-18T08:04:19.504" v="0" actId="47"/>
        <pc:sldMkLst>
          <pc:docMk/>
          <pc:sldMk cId="2348918196" sldId="256"/>
        </pc:sldMkLst>
      </pc:sldChg>
      <pc:sldChg chg="del">
        <pc:chgData name="Robbin Bouwmeester" userId="1dbfebabfc25a55a" providerId="LiveId" clId="{75D63595-F797-482E-A4A0-2F4889B74D4F}" dt="2026-10-18T08:04:55.368" v="1" actId="47"/>
        <pc:sldMkLst>
          <pc:docMk/>
          <pc:sldMk cId="1880505086" sldId="26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88EE1B-8E02-22BC-27D6-4A79C40AC6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0998A83-ED40-9555-5C00-CB48C0FAD4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58BD91-980D-431E-84C7-4DE0DA81F003}" type="datetimeFigureOut">
              <a:rPr lang="en-US" smtClean="0"/>
              <a:t>10/18/2026</a:t>
            </a:fld>
            <a:endParaRPr lang="en-US"/>
          </a:p>
        </p:txBody>
      </p:sp>
      <p:sp>
        <p:nvSpPr>
          <p:cNvPr id="4" name="Footer Placeholder 3">
            <a:extLst>
              <a:ext uri="{FF2B5EF4-FFF2-40B4-BE49-F238E27FC236}">
                <a16:creationId xmlns:a16="http://schemas.microsoft.com/office/drawing/2014/main" id="{87A9C8C3-E4FB-88E4-2A18-2B8A75A7FE5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B543907-5418-E741-8CA6-D9DFEBE4A9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556B35-55D9-41D4-AF58-00310A1198CE}" type="slidenum">
              <a:rPr lang="en-US" smtClean="0"/>
              <a:t>‹#›</a:t>
            </a:fld>
            <a:endParaRPr lang="en-US"/>
          </a:p>
        </p:txBody>
      </p:sp>
    </p:spTree>
    <p:extLst>
      <p:ext uri="{BB962C8B-B14F-4D97-AF65-F5344CB8AC3E}">
        <p14:creationId xmlns:p14="http://schemas.microsoft.com/office/powerpoint/2010/main" val="425655844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F1364C-957D-4A3E-AAEB-3C68A911999D}"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3C013A-CD70-4544-8384-B19ED78503EB}" type="slidenum">
              <a:rPr lang="en-US" smtClean="0"/>
              <a:t>‹#›</a:t>
            </a:fld>
            <a:endParaRPr lang="en-US"/>
          </a:p>
        </p:txBody>
      </p:sp>
    </p:spTree>
    <p:extLst>
      <p:ext uri="{BB962C8B-B14F-4D97-AF65-F5344CB8AC3E}">
        <p14:creationId xmlns:p14="http://schemas.microsoft.com/office/powerpoint/2010/main" val="3193348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Many biomedical data types are naturally represented as </a:t>
            </a:r>
            <a:r>
              <a:rPr lang="en-GB" b="1" dirty="0"/>
              <a:t>sequences</a:t>
            </a:r>
            <a:r>
              <a:rPr lang="en-GB" dirty="0"/>
              <a:t>. Genomes and proteins are sequences of biological symbols, where the order of nucleotides or amino acids carries functional information. This makes sequence modelling a central problem across modern biomedical research.</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1</a:t>
            </a:fld>
            <a:endParaRPr lang="en-US"/>
          </a:p>
        </p:txBody>
      </p:sp>
    </p:spTree>
    <p:extLst>
      <p:ext uri="{BB962C8B-B14F-4D97-AF65-F5344CB8AC3E}">
        <p14:creationId xmlns:p14="http://schemas.microsoft.com/office/powerpoint/2010/main" val="2175085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Not all biomedical sequences are molecular. Signals such as </a:t>
            </a:r>
            <a:r>
              <a:rPr lang="en-GB" b="1" dirty="0"/>
              <a:t>electrocardiograms</a:t>
            </a:r>
            <a:r>
              <a:rPr lang="en-GB" dirty="0"/>
              <a:t> and ordered text such as </a:t>
            </a:r>
            <a:r>
              <a:rPr lang="en-GB" b="1" dirty="0"/>
              <a:t>research articles</a:t>
            </a:r>
            <a:r>
              <a:rPr lang="en-GB" dirty="0"/>
              <a:t> are also sequential data, because meaning depends on what appears earlier or later. Sequence models are therefore useful far beyond genomics and proteomics.</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2</a:t>
            </a:fld>
            <a:endParaRPr lang="en-US"/>
          </a:p>
        </p:txBody>
      </p:sp>
    </p:spTree>
    <p:extLst>
      <p:ext uri="{BB962C8B-B14F-4D97-AF65-F5344CB8AC3E}">
        <p14:creationId xmlns:p14="http://schemas.microsoft.com/office/powerpoint/2010/main" val="684073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Neural networks cannot work directly on symbolic inputs such as letters or words. These symbols must first be converted into numerical representations, for example through </a:t>
            </a:r>
            <a:r>
              <a:rPr lang="en-GB" b="1" dirty="0"/>
              <a:t>manual feature engineering</a:t>
            </a:r>
            <a:r>
              <a:rPr lang="en-GB" dirty="0"/>
              <a:t>, </a:t>
            </a:r>
            <a:r>
              <a:rPr lang="en-GB" b="1" dirty="0"/>
              <a:t>one-hot encoding</a:t>
            </a:r>
            <a:r>
              <a:rPr lang="en-GB" dirty="0"/>
              <a:t>, or </a:t>
            </a:r>
            <a:r>
              <a:rPr lang="en-GB" b="1" dirty="0"/>
              <a:t>learned embeddings</a:t>
            </a:r>
            <a:r>
              <a:rPr lang="en-GB" dirty="0"/>
              <a:t>. The choice of representation strongly influences what patterns a model can learn.</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3</a:t>
            </a:fld>
            <a:endParaRPr lang="en-US"/>
          </a:p>
        </p:txBody>
      </p:sp>
    </p:spTree>
    <p:extLst>
      <p:ext uri="{BB962C8B-B14F-4D97-AF65-F5344CB8AC3E}">
        <p14:creationId xmlns:p14="http://schemas.microsoft.com/office/powerpoint/2010/main" val="484205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sequence data, the </a:t>
            </a:r>
            <a:r>
              <a:rPr lang="en-GB" b="1" dirty="0"/>
              <a:t>same elements in a different order</a:t>
            </a:r>
            <a:r>
              <a:rPr lang="en-GB" dirty="0"/>
              <a:t> can have a different meaning. This is true both for language and for biological sequences, where even a small change in position can alter interpretation or function. Sequence models are designed specifically to preserve and use this ordering information.</a:t>
            </a:r>
          </a:p>
        </p:txBody>
      </p:sp>
      <p:sp>
        <p:nvSpPr>
          <p:cNvPr id="4" name="Slide Number Placeholder 3"/>
          <p:cNvSpPr>
            <a:spLocks noGrp="1"/>
          </p:cNvSpPr>
          <p:nvPr>
            <p:ph type="sldNum" sz="quarter" idx="5"/>
          </p:nvPr>
        </p:nvSpPr>
        <p:spPr/>
        <p:txBody>
          <a:bodyPr/>
          <a:lstStyle/>
          <a:p>
            <a:fld id="{953C013A-CD70-4544-8384-B19ED78503EB}" type="slidenum">
              <a:rPr lang="en-US" smtClean="0"/>
              <a:t>4</a:t>
            </a:fld>
            <a:endParaRPr lang="en-US"/>
          </a:p>
        </p:txBody>
      </p:sp>
    </p:spTree>
    <p:extLst>
      <p:ext uri="{BB962C8B-B14F-4D97-AF65-F5344CB8AC3E}">
        <p14:creationId xmlns:p14="http://schemas.microsoft.com/office/powerpoint/2010/main" val="4125707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many sequences, the correct interpretation of one element depends on the </a:t>
            </a:r>
            <a:r>
              <a:rPr lang="en-GB" b="1" dirty="0"/>
              <a:t>context that came before it</a:t>
            </a:r>
            <a:r>
              <a:rPr lang="en-GB" dirty="0"/>
              <a:t>. The same word can have different meanings in different phrases, just as the importance of a residue or motif may depend on the broader biological sequence. A useful sequence model therefore needs not only order, but also some notion of memory.</a:t>
            </a:r>
          </a:p>
        </p:txBody>
      </p:sp>
      <p:sp>
        <p:nvSpPr>
          <p:cNvPr id="4" name="Slide Number Placeholder 3"/>
          <p:cNvSpPr>
            <a:spLocks noGrp="1"/>
          </p:cNvSpPr>
          <p:nvPr>
            <p:ph type="sldNum" sz="quarter" idx="5"/>
          </p:nvPr>
        </p:nvSpPr>
        <p:spPr/>
        <p:txBody>
          <a:bodyPr/>
          <a:lstStyle/>
          <a:p>
            <a:fld id="{953C013A-CD70-4544-8384-B19ED78503EB}" type="slidenum">
              <a:rPr lang="en-US" smtClean="0"/>
              <a:t>5</a:t>
            </a:fld>
            <a:endParaRPr lang="en-US"/>
          </a:p>
        </p:txBody>
      </p:sp>
    </p:spTree>
    <p:extLst>
      <p:ext uri="{BB962C8B-B14F-4D97-AF65-F5344CB8AC3E}">
        <p14:creationId xmlns:p14="http://schemas.microsoft.com/office/powerpoint/2010/main" val="1611222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a:t>
            </a:r>
            <a:r>
              <a:rPr lang="en-GB" b="1" dirty="0"/>
              <a:t>recurrent neural network (RNN)</a:t>
            </a:r>
            <a:r>
              <a:rPr lang="en-GB" dirty="0"/>
              <a:t> reads a sequence one element at a time and updates its internal state after each step. The same recurrent unit is reused across the sequence, which allows the model to process inputs of variable length. In this way, information from earlier positions can influence later predictions.</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6</a:t>
            </a:fld>
            <a:endParaRPr lang="en-US"/>
          </a:p>
        </p:txBody>
      </p:sp>
    </p:spTree>
    <p:extLst>
      <p:ext uri="{BB962C8B-B14F-4D97-AF65-F5344CB8AC3E}">
        <p14:creationId xmlns:p14="http://schemas.microsoft.com/office/powerpoint/2010/main" val="2432342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a:t>
            </a:r>
            <a:r>
              <a:rPr lang="en-GB" b="1" dirty="0"/>
              <a:t>hidden state</a:t>
            </a:r>
            <a:r>
              <a:rPr lang="en-GB" dirty="0"/>
              <a:t> of an RNN can be viewed as a compact summary of everything the model has seen so far. After each new input, this summary is updated to incorporate the new information. The model therefore carries forward a learned representation of past context while moving through the sequence.</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7</a:t>
            </a:fld>
            <a:endParaRPr lang="en-US"/>
          </a:p>
        </p:txBody>
      </p:sp>
    </p:spTree>
    <p:extLst>
      <p:ext uri="{BB962C8B-B14F-4D97-AF65-F5344CB8AC3E}">
        <p14:creationId xmlns:p14="http://schemas.microsoft.com/office/powerpoint/2010/main" val="373978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RNNs can be used for different sequence tasks depending on where predictions are made. In </a:t>
            </a:r>
            <a:r>
              <a:rPr lang="en-GB" b="1" dirty="0"/>
              <a:t>sequence-to-sequence</a:t>
            </a:r>
            <a:r>
              <a:rPr lang="en-GB" dirty="0"/>
              <a:t> settings, the model produces an output at each step, while in </a:t>
            </a:r>
            <a:r>
              <a:rPr lang="en-GB" b="1" dirty="0"/>
              <a:t>sequence-to-one</a:t>
            </a:r>
            <a:r>
              <a:rPr lang="en-GB" dirty="0"/>
              <a:t> settings it produces a single output after reading the full sequence. This makes recurrent models flexible for both token-level and sequence-level prediction problems.</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8</a:t>
            </a:fld>
            <a:endParaRPr lang="en-US"/>
          </a:p>
        </p:txBody>
      </p:sp>
    </p:spTree>
    <p:extLst>
      <p:ext uri="{BB962C8B-B14F-4D97-AF65-F5344CB8AC3E}">
        <p14:creationId xmlns:p14="http://schemas.microsoft.com/office/powerpoint/2010/main" val="255858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basic RNN has difficulty preserving information over many time steps. As a sequence becomes longer, relevant earlier information may gradually fade from the model’s internal state. This makes it hard for vanilla RNNs to capture </a:t>
            </a:r>
            <a:r>
              <a:rPr lang="en-GB" b="1" dirty="0"/>
              <a:t>long-range dependencies</a:t>
            </a:r>
            <a:r>
              <a:rPr lang="en-GB" dirty="0"/>
              <a:t>, which are common in biological and linguistic data.</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9</a:t>
            </a:fld>
            <a:endParaRPr lang="en-US"/>
          </a:p>
        </p:txBody>
      </p:sp>
    </p:spTree>
    <p:extLst>
      <p:ext uri="{BB962C8B-B14F-4D97-AF65-F5344CB8AC3E}">
        <p14:creationId xmlns:p14="http://schemas.microsoft.com/office/powerpoint/2010/main" val="2560204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LSTMs</a:t>
            </a:r>
            <a:r>
              <a:rPr lang="en-GB" dirty="0"/>
              <a:t> and </a:t>
            </a:r>
            <a:r>
              <a:rPr lang="en-GB" b="1" dirty="0"/>
              <a:t>GRUs</a:t>
            </a:r>
            <a:r>
              <a:rPr lang="en-GB" dirty="0"/>
              <a:t> were developed to address the memory limitations of vanilla RNNs. They introduce gating mechanisms that help the model decide what information to keep, update, or forget over time. This makes them more effective when important context must be preserved across longer sequences.</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10</a:t>
            </a:fld>
            <a:endParaRPr lang="en-US"/>
          </a:p>
        </p:txBody>
      </p:sp>
    </p:spTree>
    <p:extLst>
      <p:ext uri="{BB962C8B-B14F-4D97-AF65-F5344CB8AC3E}">
        <p14:creationId xmlns:p14="http://schemas.microsoft.com/office/powerpoint/2010/main" val="2476660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Some sequence problems require the model to relate positions that are </a:t>
            </a:r>
            <a:r>
              <a:rPr lang="en-GB" b="1" dirty="0"/>
              <a:t>far apart</a:t>
            </a:r>
            <a:r>
              <a:rPr lang="en-GB" dirty="0"/>
              <a:t>. In biomedicine, this occurs for example in long-range genome interactions and in proteins, where residues distant in sequence can still interact in three-dimensional space. In such settings, compressing all past information into a single recurrent memory can become a major limitation.</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11</a:t>
            </a:fld>
            <a:endParaRPr lang="en-US"/>
          </a:p>
        </p:txBody>
      </p:sp>
    </p:spTree>
    <p:extLst>
      <p:ext uri="{BB962C8B-B14F-4D97-AF65-F5344CB8AC3E}">
        <p14:creationId xmlns:p14="http://schemas.microsoft.com/office/powerpoint/2010/main" val="3368908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Attention</a:t>
            </a:r>
            <a:r>
              <a:rPr lang="en-GB" dirty="0"/>
              <a:t> allows the model to assign different importance to different positions in the sequence when making a prediction. Instead of relying only on a compressed memory, the model can look back at the most relevant elements directly. This makes it easier to capture relationships between distant sequence positions.</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12</a:t>
            </a:fld>
            <a:endParaRPr lang="en-US"/>
          </a:p>
        </p:txBody>
      </p:sp>
    </p:spTree>
    <p:extLst>
      <p:ext uri="{BB962C8B-B14F-4D97-AF65-F5344CB8AC3E}">
        <p14:creationId xmlns:p14="http://schemas.microsoft.com/office/powerpoint/2010/main" val="700024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Transformers</a:t>
            </a:r>
            <a:r>
              <a:rPr lang="en-GB" dirty="0"/>
              <a:t> move away from recurrent step-by-step memory and instead rely primarily on attention. Rather than summarizing the past into a single evolving hidden state, each position can directly consult other relevant positions in the sequence. This makes transformers particularly powerful for modelling complex dependencies over long distances.</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13</a:t>
            </a:fld>
            <a:endParaRPr lang="en-US"/>
          </a:p>
        </p:txBody>
      </p:sp>
    </p:spTree>
    <p:extLst>
      <p:ext uri="{BB962C8B-B14F-4D97-AF65-F5344CB8AC3E}">
        <p14:creationId xmlns:p14="http://schemas.microsoft.com/office/powerpoint/2010/main" val="2044146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Transformer-based models are now used across a wide range of biomedical domains, including </a:t>
            </a:r>
            <a:r>
              <a:rPr lang="en-GB" b="1" dirty="0"/>
              <a:t>genomics</a:t>
            </a:r>
            <a:r>
              <a:rPr lang="en-GB" dirty="0"/>
              <a:t>, </a:t>
            </a:r>
            <a:r>
              <a:rPr lang="en-GB" b="1" dirty="0"/>
              <a:t>proteomics</a:t>
            </a:r>
            <a:r>
              <a:rPr lang="en-GB" dirty="0"/>
              <a:t>, </a:t>
            </a:r>
            <a:r>
              <a:rPr lang="en-GB" b="1" dirty="0"/>
              <a:t>biomedical language processing</a:t>
            </a:r>
            <a:r>
              <a:rPr lang="en-GB" dirty="0"/>
              <a:t>, and related areas. Their strength lies in learning rich sequence representations and in capturing long-range context efficiently. As a result, they have become a major modern architecture for sequence modelling in biomedicine.</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14</a:t>
            </a:fld>
            <a:endParaRPr lang="en-US"/>
          </a:p>
        </p:txBody>
      </p:sp>
    </p:spTree>
    <p:extLst>
      <p:ext uri="{BB962C8B-B14F-4D97-AF65-F5344CB8AC3E}">
        <p14:creationId xmlns:p14="http://schemas.microsoft.com/office/powerpoint/2010/main" val="38795860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53C013A-CD70-4544-8384-B19ED78503EB}" type="slidenum">
              <a:rPr lang="en-US" smtClean="0"/>
              <a:t>15</a:t>
            </a:fld>
            <a:endParaRPr lang="en-US"/>
          </a:p>
        </p:txBody>
      </p:sp>
    </p:spTree>
    <p:extLst>
      <p:ext uri="{BB962C8B-B14F-4D97-AF65-F5344CB8AC3E}">
        <p14:creationId xmlns:p14="http://schemas.microsoft.com/office/powerpoint/2010/main" val="3019831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1D86-6751-25A3-035F-788E6079F5B5}"/>
              </a:ext>
            </a:extLst>
          </p:cNvPr>
          <p:cNvSpPr>
            <a:spLocks noGrp="1"/>
          </p:cNvSpPr>
          <p:nvPr>
            <p:ph type="ctrTitle"/>
          </p:nvPr>
        </p:nvSpPr>
        <p:spPr>
          <a:xfrm>
            <a:off x="445476" y="406400"/>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C36DFF0C-2793-CF74-39AD-128524A11BED}"/>
              </a:ext>
            </a:extLst>
          </p:cNvPr>
          <p:cNvSpPr>
            <a:spLocks noGrp="1"/>
          </p:cNvSpPr>
          <p:nvPr>
            <p:ph type="subTitle" idx="1"/>
          </p:nvPr>
        </p:nvSpPr>
        <p:spPr>
          <a:xfrm>
            <a:off x="445476" y="3094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Tree>
    <p:extLst>
      <p:ext uri="{BB962C8B-B14F-4D97-AF65-F5344CB8AC3E}">
        <p14:creationId xmlns:p14="http://schemas.microsoft.com/office/powerpoint/2010/main" val="46594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CD792-7D3D-83C5-606E-EE2B07A316E5}"/>
              </a:ext>
            </a:extLst>
          </p:cNvPr>
          <p:cNvSpPr>
            <a:spLocks noGrp="1"/>
          </p:cNvSpPr>
          <p:nvPr>
            <p:ph type="title"/>
          </p:nvPr>
        </p:nvSpPr>
        <p:spPr/>
        <p:txBody>
          <a:bodyPr vert="horz" lIns="0" tIns="0" rIns="0" bIns="0" rtlCol="0" anchor="t">
            <a:noAutofit/>
          </a:bodyPr>
          <a:lstStyle>
            <a:lvl1pPr>
              <a:defRPr lang="en-BE"/>
            </a:lvl1pPr>
          </a:lstStyle>
          <a:p>
            <a:pPr lvl="0"/>
            <a:r>
              <a:rPr lang="en-GB"/>
              <a:t>Click to edit Master title style</a:t>
            </a:r>
            <a:endParaRPr lang="en-BE"/>
          </a:p>
        </p:txBody>
      </p:sp>
      <p:sp>
        <p:nvSpPr>
          <p:cNvPr id="3" name="Content Placeholder 2">
            <a:extLst>
              <a:ext uri="{FF2B5EF4-FFF2-40B4-BE49-F238E27FC236}">
                <a16:creationId xmlns:a16="http://schemas.microsoft.com/office/drawing/2014/main" id="{BE8BEEF3-E6B4-333F-98A9-C13B32EDD254}"/>
              </a:ext>
            </a:extLst>
          </p:cNvPr>
          <p:cNvSpPr>
            <a:spLocks noGrp="1"/>
          </p:cNvSpPr>
          <p:nvPr>
            <p:ph idx="1"/>
          </p:nvPr>
        </p:nvSpPr>
        <p:spPr/>
        <p:txBody>
          <a:bodyPr/>
          <a:lstStyle>
            <a:lvl1pPr>
              <a:defRPr lang="en-GB"/>
            </a:lvl1pPr>
            <a:lvl2pPr>
              <a:defRPr lang="en-GB"/>
            </a:lvl2pPr>
            <a:lvl3pPr>
              <a:defRPr lang="en-GB"/>
            </a:lvl3pPr>
            <a:lvl4pPr>
              <a:defRPr lang="en-GB"/>
            </a:lvl4pPr>
            <a:lvl5pPr>
              <a:defRPr lang="en-BE"/>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Footer Placeholder 4">
            <a:extLst>
              <a:ext uri="{FF2B5EF4-FFF2-40B4-BE49-F238E27FC236}">
                <a16:creationId xmlns:a16="http://schemas.microsoft.com/office/drawing/2014/main" id="{D49552F3-5810-93F0-E468-78FD4AFC14F2}"/>
              </a:ext>
            </a:extLst>
          </p:cNvPr>
          <p:cNvSpPr>
            <a:spLocks noGrp="1"/>
          </p:cNvSpPr>
          <p:nvPr>
            <p:ph type="ftr" sz="quarter" idx="11"/>
          </p:nvPr>
        </p:nvSpPr>
        <p:spPr/>
        <p:txBody>
          <a:bodyPr vert="horz" lIns="0" tIns="0" rIns="0" bIns="0" rtlCol="0" anchor="ctr"/>
          <a:lstStyle>
            <a:lvl1pPr>
              <a:defRPr lang="en-US"/>
            </a:lvl1pPr>
          </a:lstStyle>
          <a:p>
            <a:endParaRPr lang="en-US"/>
          </a:p>
        </p:txBody>
      </p:sp>
      <p:sp>
        <p:nvSpPr>
          <p:cNvPr id="6" name="Slide Number Placeholder 5">
            <a:extLst>
              <a:ext uri="{FF2B5EF4-FFF2-40B4-BE49-F238E27FC236}">
                <a16:creationId xmlns:a16="http://schemas.microsoft.com/office/drawing/2014/main" id="{14F9C0B1-D794-36E8-AB68-2ACF514DDCD6}"/>
              </a:ext>
            </a:extLst>
          </p:cNvPr>
          <p:cNvSpPr>
            <a:spLocks noGrp="1"/>
          </p:cNvSpPr>
          <p:nvPr>
            <p:ph type="sldNum" sz="quarter" idx="12"/>
          </p:nvPr>
        </p:nvSpPr>
        <p:spPr/>
        <p:txBody>
          <a:bodyPr/>
          <a:lstStyle>
            <a:lvl1pPr>
              <a:defRPr lang="en-BE" smtClean="0"/>
            </a:lvl1pPr>
          </a:lstStyle>
          <a:p>
            <a:fld id="{94B3E216-A3C5-4E41-AE94-D003E76F1D3A}" type="slidenum">
              <a:rPr lang="en-US" smtClean="0"/>
              <a:pPr/>
              <a:t>‹#›</a:t>
            </a:fld>
            <a:endParaRPr lang="en-US"/>
          </a:p>
        </p:txBody>
      </p:sp>
    </p:spTree>
    <p:extLst>
      <p:ext uri="{BB962C8B-B14F-4D97-AF65-F5344CB8AC3E}">
        <p14:creationId xmlns:p14="http://schemas.microsoft.com/office/powerpoint/2010/main" val="38742563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CD792-7D3D-83C5-606E-EE2B07A316E5}"/>
              </a:ext>
            </a:extLst>
          </p:cNvPr>
          <p:cNvSpPr>
            <a:spLocks noGrp="1"/>
          </p:cNvSpPr>
          <p:nvPr>
            <p:ph type="title"/>
          </p:nvPr>
        </p:nvSpPr>
        <p:spPr/>
        <p:txBody>
          <a:bodyPr vert="horz" lIns="0" tIns="0" rIns="0" bIns="0" rtlCol="0" anchor="t">
            <a:noAutofit/>
          </a:bodyPr>
          <a:lstStyle>
            <a:lvl1pPr>
              <a:defRPr lang="en-BE"/>
            </a:lvl1pPr>
          </a:lstStyle>
          <a:p>
            <a:pPr lvl="0"/>
            <a:r>
              <a:rPr lang="en-GB"/>
              <a:t>Click to edit Master title style</a:t>
            </a:r>
            <a:endParaRPr lang="en-BE"/>
          </a:p>
        </p:txBody>
      </p:sp>
      <p:sp>
        <p:nvSpPr>
          <p:cNvPr id="3" name="Content Placeholder 2">
            <a:extLst>
              <a:ext uri="{FF2B5EF4-FFF2-40B4-BE49-F238E27FC236}">
                <a16:creationId xmlns:a16="http://schemas.microsoft.com/office/drawing/2014/main" id="{BE8BEEF3-E6B4-333F-98A9-C13B32EDD254}"/>
              </a:ext>
            </a:extLst>
          </p:cNvPr>
          <p:cNvSpPr>
            <a:spLocks noGrp="1"/>
          </p:cNvSpPr>
          <p:nvPr>
            <p:ph idx="1"/>
          </p:nvPr>
        </p:nvSpPr>
        <p:spPr>
          <a:xfrm>
            <a:off x="407990" y="1944914"/>
            <a:ext cx="5455782" cy="4389898"/>
          </a:xfrm>
        </p:spPr>
        <p:txBody>
          <a:bodyPr/>
          <a:lstStyle>
            <a:lvl1pPr>
              <a:defRPr lang="en-GB"/>
            </a:lvl1pPr>
            <a:lvl2pPr>
              <a:defRPr lang="en-GB"/>
            </a:lvl2pPr>
            <a:lvl3pPr>
              <a:defRPr lang="en-GB"/>
            </a:lvl3pPr>
            <a:lvl4pPr>
              <a:defRPr lang="en-GB"/>
            </a:lvl4pPr>
            <a:lvl5pPr>
              <a:defRPr lang="en-BE"/>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E" dirty="0"/>
          </a:p>
        </p:txBody>
      </p:sp>
      <p:sp>
        <p:nvSpPr>
          <p:cNvPr id="5" name="Footer Placeholder 4">
            <a:extLst>
              <a:ext uri="{FF2B5EF4-FFF2-40B4-BE49-F238E27FC236}">
                <a16:creationId xmlns:a16="http://schemas.microsoft.com/office/drawing/2014/main" id="{D49552F3-5810-93F0-E468-78FD4AFC14F2}"/>
              </a:ext>
            </a:extLst>
          </p:cNvPr>
          <p:cNvSpPr>
            <a:spLocks noGrp="1"/>
          </p:cNvSpPr>
          <p:nvPr>
            <p:ph type="ftr" sz="quarter" idx="11"/>
          </p:nvPr>
        </p:nvSpPr>
        <p:spPr/>
        <p:txBody>
          <a:bodyPr vert="horz" lIns="0" tIns="0" rIns="0" bIns="0" rtlCol="0" anchor="ctr"/>
          <a:lstStyle>
            <a:lvl1pPr>
              <a:defRPr lang="en-US"/>
            </a:lvl1pPr>
          </a:lstStyle>
          <a:p>
            <a:endParaRPr lang="en-US"/>
          </a:p>
        </p:txBody>
      </p:sp>
      <p:sp>
        <p:nvSpPr>
          <p:cNvPr id="6" name="Slide Number Placeholder 5">
            <a:extLst>
              <a:ext uri="{FF2B5EF4-FFF2-40B4-BE49-F238E27FC236}">
                <a16:creationId xmlns:a16="http://schemas.microsoft.com/office/drawing/2014/main" id="{14F9C0B1-D794-36E8-AB68-2ACF514DDCD6}"/>
              </a:ext>
            </a:extLst>
          </p:cNvPr>
          <p:cNvSpPr>
            <a:spLocks noGrp="1"/>
          </p:cNvSpPr>
          <p:nvPr>
            <p:ph type="sldNum" sz="quarter" idx="12"/>
          </p:nvPr>
        </p:nvSpPr>
        <p:spPr/>
        <p:txBody>
          <a:bodyPr/>
          <a:lstStyle>
            <a:lvl1pPr>
              <a:defRPr lang="en-BE" smtClean="0"/>
            </a:lvl1pPr>
          </a:lstStyle>
          <a:p>
            <a:fld id="{94B3E216-A3C5-4E41-AE94-D003E76F1D3A}" type="slidenum">
              <a:rPr lang="en-US" smtClean="0"/>
              <a:pPr/>
              <a:t>‹#›</a:t>
            </a:fld>
            <a:endParaRPr lang="en-US"/>
          </a:p>
        </p:txBody>
      </p:sp>
      <p:sp>
        <p:nvSpPr>
          <p:cNvPr id="4" name="Content Placeholder 2">
            <a:extLst>
              <a:ext uri="{FF2B5EF4-FFF2-40B4-BE49-F238E27FC236}">
                <a16:creationId xmlns:a16="http://schemas.microsoft.com/office/drawing/2014/main" id="{BE3AEF0D-3DA2-B521-F79F-4AD4ACDDDBA5}"/>
              </a:ext>
            </a:extLst>
          </p:cNvPr>
          <p:cNvSpPr>
            <a:spLocks noGrp="1"/>
          </p:cNvSpPr>
          <p:nvPr>
            <p:ph idx="13"/>
          </p:nvPr>
        </p:nvSpPr>
        <p:spPr>
          <a:xfrm>
            <a:off x="6293306" y="1944914"/>
            <a:ext cx="5455782" cy="4389898"/>
          </a:xfrm>
        </p:spPr>
        <p:txBody>
          <a:bodyPr/>
          <a:lstStyle>
            <a:lvl1pPr>
              <a:defRPr lang="en-GB"/>
            </a:lvl1pPr>
            <a:lvl2pPr>
              <a:defRPr lang="en-GB"/>
            </a:lvl2pPr>
            <a:lvl3pPr>
              <a:defRPr lang="en-GB"/>
            </a:lvl3pPr>
            <a:lvl4pPr>
              <a:defRPr lang="en-GB"/>
            </a:lvl4pPr>
            <a:lvl5pPr>
              <a:defRPr lang="en-BE"/>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E" dirty="0"/>
          </a:p>
        </p:txBody>
      </p:sp>
      <p:sp>
        <p:nvSpPr>
          <p:cNvPr id="7" name="Content Placeholder 2">
            <a:extLst>
              <a:ext uri="{FF2B5EF4-FFF2-40B4-BE49-F238E27FC236}">
                <a16:creationId xmlns:a16="http://schemas.microsoft.com/office/drawing/2014/main" id="{23F31954-261C-F891-663F-1ED4DA1ADB2A}"/>
              </a:ext>
            </a:extLst>
          </p:cNvPr>
          <p:cNvSpPr>
            <a:spLocks noGrp="1"/>
          </p:cNvSpPr>
          <p:nvPr>
            <p:ph idx="14"/>
          </p:nvPr>
        </p:nvSpPr>
        <p:spPr>
          <a:xfrm>
            <a:off x="407988" y="1306286"/>
            <a:ext cx="5455782" cy="341085"/>
          </a:xfrm>
        </p:spPr>
        <p:txBody>
          <a:bodyPr/>
          <a:lstStyle>
            <a:lvl1pPr algn="ctr">
              <a:buNone/>
              <a:defRPr lang="en-GB"/>
            </a:lvl1pPr>
            <a:lvl2pPr>
              <a:defRPr lang="en-GB"/>
            </a:lvl2pPr>
            <a:lvl3pPr>
              <a:defRPr lang="en-GB"/>
            </a:lvl3pPr>
            <a:lvl4pPr>
              <a:defRPr lang="en-GB"/>
            </a:lvl4pPr>
            <a:lvl5pPr>
              <a:defRPr lang="en-BE"/>
            </a:lvl5pPr>
          </a:lstStyle>
          <a:p>
            <a:pPr lvl="0"/>
            <a:endParaRPr lang="en-BE" dirty="0"/>
          </a:p>
        </p:txBody>
      </p:sp>
      <p:sp>
        <p:nvSpPr>
          <p:cNvPr id="8" name="Content Placeholder 2">
            <a:extLst>
              <a:ext uri="{FF2B5EF4-FFF2-40B4-BE49-F238E27FC236}">
                <a16:creationId xmlns:a16="http://schemas.microsoft.com/office/drawing/2014/main" id="{565521F8-0F96-9233-538C-782069049C83}"/>
              </a:ext>
            </a:extLst>
          </p:cNvPr>
          <p:cNvSpPr>
            <a:spLocks noGrp="1"/>
          </p:cNvSpPr>
          <p:nvPr>
            <p:ph idx="15"/>
          </p:nvPr>
        </p:nvSpPr>
        <p:spPr>
          <a:xfrm>
            <a:off x="6293306" y="1306286"/>
            <a:ext cx="5455782" cy="341085"/>
          </a:xfrm>
        </p:spPr>
        <p:txBody>
          <a:bodyPr/>
          <a:lstStyle>
            <a:lvl1pPr algn="ctr">
              <a:buNone/>
              <a:defRPr lang="en-GB"/>
            </a:lvl1pPr>
            <a:lvl2pPr>
              <a:defRPr lang="en-GB"/>
            </a:lvl2pPr>
            <a:lvl3pPr>
              <a:defRPr lang="en-GB"/>
            </a:lvl3pPr>
            <a:lvl4pPr>
              <a:defRPr lang="en-GB"/>
            </a:lvl4pPr>
            <a:lvl5pPr>
              <a:defRPr lang="en-BE"/>
            </a:lvl5pPr>
          </a:lstStyle>
          <a:p>
            <a:pPr lvl="0"/>
            <a:endParaRPr lang="en-BE" dirty="0"/>
          </a:p>
        </p:txBody>
      </p:sp>
    </p:spTree>
    <p:extLst>
      <p:ext uri="{BB962C8B-B14F-4D97-AF65-F5344CB8AC3E}">
        <p14:creationId xmlns:p14="http://schemas.microsoft.com/office/powerpoint/2010/main" val="32470744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29DC3-8AAE-DEDC-EB49-92CAD4E4038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BA40AA02-1CBC-FFE6-61AD-45B18821D0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58201DE-6807-8F50-7C1D-6A9824254BAC}"/>
              </a:ext>
            </a:extLst>
          </p:cNvPr>
          <p:cNvSpPr>
            <a:spLocks noGrp="1"/>
          </p:cNvSpPr>
          <p:nvPr>
            <p:ph type="dt" sz="half" idx="10"/>
          </p:nvPr>
        </p:nvSpPr>
        <p:spPr>
          <a:xfrm>
            <a:off x="433633" y="6459767"/>
            <a:ext cx="3147767" cy="261708"/>
          </a:xfrm>
          <a:prstGeom prst="rect">
            <a:avLst/>
          </a:prstGeom>
        </p:spPr>
        <p:txBody>
          <a:bodyPr/>
          <a:lstStyle/>
          <a:p>
            <a:fld id="{858A6A01-87E6-49E3-BB95-1C1D84F4E29B}" type="datetime8">
              <a:rPr lang="en-BE" smtClean="0"/>
              <a:t>10/18/2026 10:04</a:t>
            </a:fld>
            <a:endParaRPr lang="en-BE"/>
          </a:p>
        </p:txBody>
      </p:sp>
      <p:sp>
        <p:nvSpPr>
          <p:cNvPr id="5" name="Footer Placeholder 4">
            <a:extLst>
              <a:ext uri="{FF2B5EF4-FFF2-40B4-BE49-F238E27FC236}">
                <a16:creationId xmlns:a16="http://schemas.microsoft.com/office/drawing/2014/main" id="{E7F08137-91F7-C16D-6848-DAF48904F5D0}"/>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E48073F0-040C-7AB4-0FBC-12E7740D353E}"/>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064854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5A02-220B-237D-9FE4-311584315A3B}"/>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93C927E6-BA8E-AB88-7421-757A268D9073}"/>
              </a:ext>
            </a:extLst>
          </p:cNvPr>
          <p:cNvSpPr>
            <a:spLocks noGrp="1"/>
          </p:cNvSpPr>
          <p:nvPr>
            <p:ph sz="half" idx="1"/>
          </p:nvPr>
        </p:nvSpPr>
        <p:spPr>
          <a:xfrm>
            <a:off x="433633" y="1253765"/>
            <a:ext cx="5586167" cy="50716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C92954B8-E4C9-4219-7811-8A1A1E0D647F}"/>
              </a:ext>
            </a:extLst>
          </p:cNvPr>
          <p:cNvSpPr>
            <a:spLocks noGrp="1"/>
          </p:cNvSpPr>
          <p:nvPr>
            <p:ph sz="half" idx="2"/>
          </p:nvPr>
        </p:nvSpPr>
        <p:spPr>
          <a:xfrm>
            <a:off x="6172199" y="1253764"/>
            <a:ext cx="5586167" cy="50716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D28B685C-61CC-0404-2995-D328F279993B}"/>
              </a:ext>
            </a:extLst>
          </p:cNvPr>
          <p:cNvSpPr>
            <a:spLocks noGrp="1"/>
          </p:cNvSpPr>
          <p:nvPr>
            <p:ph type="dt" sz="half" idx="10"/>
          </p:nvPr>
        </p:nvSpPr>
        <p:spPr>
          <a:xfrm>
            <a:off x="433633" y="6459767"/>
            <a:ext cx="3147767" cy="261708"/>
          </a:xfrm>
          <a:prstGeom prst="rect">
            <a:avLst/>
          </a:prstGeom>
        </p:spPr>
        <p:txBody>
          <a:bodyPr/>
          <a:lstStyle/>
          <a:p>
            <a:fld id="{00FE062E-D11C-40F2-AC56-F7BFB1C87B09}" type="datetime8">
              <a:rPr lang="en-BE" smtClean="0"/>
              <a:t>10/18/2026 10:04</a:t>
            </a:fld>
            <a:endParaRPr lang="en-BE"/>
          </a:p>
        </p:txBody>
      </p:sp>
      <p:sp>
        <p:nvSpPr>
          <p:cNvPr id="6" name="Footer Placeholder 5">
            <a:extLst>
              <a:ext uri="{FF2B5EF4-FFF2-40B4-BE49-F238E27FC236}">
                <a16:creationId xmlns:a16="http://schemas.microsoft.com/office/drawing/2014/main" id="{282CBF2C-7DC6-6CDB-599F-4D2531B7EFD7}"/>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E8FDAF82-8FCB-417A-9568-F2F4F799F4DE}"/>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465810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DCE99-BFE2-D0D6-CF3C-997712D01BF9}"/>
              </a:ext>
            </a:extLst>
          </p:cNvPr>
          <p:cNvSpPr>
            <a:spLocks noGrp="1"/>
          </p:cNvSpPr>
          <p:nvPr>
            <p:ph type="title"/>
          </p:nvPr>
        </p:nvSpPr>
        <p:spPr>
          <a:xfrm>
            <a:off x="839788" y="365125"/>
            <a:ext cx="10515600" cy="1325563"/>
          </a:xfrm>
        </p:spPr>
        <p:txBody>
          <a:bodyPr anchor="t"/>
          <a:lstStyle/>
          <a:p>
            <a:r>
              <a:rPr lang="en-GB"/>
              <a:t>Click to edit Master title style</a:t>
            </a:r>
            <a:endParaRPr lang="en-BE"/>
          </a:p>
        </p:txBody>
      </p:sp>
      <p:sp>
        <p:nvSpPr>
          <p:cNvPr id="3" name="Text Placeholder 2">
            <a:extLst>
              <a:ext uri="{FF2B5EF4-FFF2-40B4-BE49-F238E27FC236}">
                <a16:creationId xmlns:a16="http://schemas.microsoft.com/office/drawing/2014/main" id="{4C3DC899-0E87-4F3F-F936-290D33103A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2FEB3DB-2664-F917-CC97-C5B24E74C7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B4911868-5A70-0FE7-1E9D-68B932AE69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3FF1200-9003-F769-B17C-F8F3C04DB00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358DB5A2-AB44-8908-3FA7-91F34DAE9D2D}"/>
              </a:ext>
            </a:extLst>
          </p:cNvPr>
          <p:cNvSpPr>
            <a:spLocks noGrp="1"/>
          </p:cNvSpPr>
          <p:nvPr>
            <p:ph type="dt" sz="half" idx="10"/>
          </p:nvPr>
        </p:nvSpPr>
        <p:spPr>
          <a:xfrm>
            <a:off x="433633" y="6459767"/>
            <a:ext cx="3147767" cy="261708"/>
          </a:xfrm>
          <a:prstGeom prst="rect">
            <a:avLst/>
          </a:prstGeom>
        </p:spPr>
        <p:txBody>
          <a:bodyPr/>
          <a:lstStyle/>
          <a:p>
            <a:fld id="{591105BC-8387-468C-BB78-9993150C77E8}" type="datetime8">
              <a:rPr lang="en-BE" smtClean="0"/>
              <a:t>10/18/2026 10:04</a:t>
            </a:fld>
            <a:endParaRPr lang="en-BE"/>
          </a:p>
        </p:txBody>
      </p:sp>
      <p:sp>
        <p:nvSpPr>
          <p:cNvPr id="8" name="Footer Placeholder 7">
            <a:extLst>
              <a:ext uri="{FF2B5EF4-FFF2-40B4-BE49-F238E27FC236}">
                <a16:creationId xmlns:a16="http://schemas.microsoft.com/office/drawing/2014/main" id="{2C28D419-E8D9-CCD0-BC41-E27C3A63828E}"/>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6ECCCADE-35D4-F930-CD8D-095A3FD8E911}"/>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4238486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D34C0-9FB6-1B1D-7010-75A1C0C308FB}"/>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E16E80C2-3008-6421-7948-4B8A47EE77C9}"/>
              </a:ext>
            </a:extLst>
          </p:cNvPr>
          <p:cNvSpPr>
            <a:spLocks noGrp="1"/>
          </p:cNvSpPr>
          <p:nvPr>
            <p:ph type="dt" sz="half" idx="10"/>
          </p:nvPr>
        </p:nvSpPr>
        <p:spPr>
          <a:xfrm>
            <a:off x="433633" y="6459767"/>
            <a:ext cx="3147767" cy="261708"/>
          </a:xfrm>
          <a:prstGeom prst="rect">
            <a:avLst/>
          </a:prstGeom>
        </p:spPr>
        <p:txBody>
          <a:bodyPr/>
          <a:lstStyle/>
          <a:p>
            <a:fld id="{DC970503-348D-4AD8-B0F8-FDFDAECC1101}" type="datetime8">
              <a:rPr lang="en-BE" smtClean="0"/>
              <a:t>10/18/2026 10:04</a:t>
            </a:fld>
            <a:endParaRPr lang="en-BE"/>
          </a:p>
        </p:txBody>
      </p:sp>
      <p:sp>
        <p:nvSpPr>
          <p:cNvPr id="4" name="Footer Placeholder 3">
            <a:extLst>
              <a:ext uri="{FF2B5EF4-FFF2-40B4-BE49-F238E27FC236}">
                <a16:creationId xmlns:a16="http://schemas.microsoft.com/office/drawing/2014/main" id="{D19244BD-79F0-BDCF-7553-6F8AFC2CD80D}"/>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86D591E2-2A4F-E3FB-8C9D-1B1A0288CBBA}"/>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505817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A1A13D-2595-50CE-AC9F-F4BFCC2B2932}"/>
              </a:ext>
            </a:extLst>
          </p:cNvPr>
          <p:cNvSpPr>
            <a:spLocks noGrp="1"/>
          </p:cNvSpPr>
          <p:nvPr>
            <p:ph type="dt" sz="half" idx="10"/>
          </p:nvPr>
        </p:nvSpPr>
        <p:spPr>
          <a:xfrm>
            <a:off x="433633" y="6459767"/>
            <a:ext cx="3147767" cy="261708"/>
          </a:xfrm>
          <a:prstGeom prst="rect">
            <a:avLst/>
          </a:prstGeom>
        </p:spPr>
        <p:txBody>
          <a:bodyPr/>
          <a:lstStyle/>
          <a:p>
            <a:fld id="{639A8ADD-3D3E-4211-B3DA-099B5EF48C8A}" type="datetime8">
              <a:rPr lang="en-BE" smtClean="0"/>
              <a:t>10/18/2026 10:04</a:t>
            </a:fld>
            <a:endParaRPr lang="en-BE"/>
          </a:p>
        </p:txBody>
      </p:sp>
      <p:sp>
        <p:nvSpPr>
          <p:cNvPr id="3" name="Footer Placeholder 2">
            <a:extLst>
              <a:ext uri="{FF2B5EF4-FFF2-40B4-BE49-F238E27FC236}">
                <a16:creationId xmlns:a16="http://schemas.microsoft.com/office/drawing/2014/main" id="{9B8B9CF6-FC22-FD6C-4EA2-D6275E678ABE}"/>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959B6BB4-2803-7AD3-3AF5-341799AD2DD1}"/>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440939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D239E-4E74-98A7-CEBB-C260A3AF4FE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06537D8C-0D6B-653A-8124-5AB48D6361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EDF03FBA-5D49-1949-9A18-D4BE75F28C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9478A04-333D-D106-6228-7FE9A0078287}"/>
              </a:ext>
            </a:extLst>
          </p:cNvPr>
          <p:cNvSpPr>
            <a:spLocks noGrp="1"/>
          </p:cNvSpPr>
          <p:nvPr>
            <p:ph type="dt" sz="half" idx="10"/>
          </p:nvPr>
        </p:nvSpPr>
        <p:spPr>
          <a:xfrm>
            <a:off x="433633" y="6459767"/>
            <a:ext cx="3147767" cy="261708"/>
          </a:xfrm>
          <a:prstGeom prst="rect">
            <a:avLst/>
          </a:prstGeom>
        </p:spPr>
        <p:txBody>
          <a:bodyPr/>
          <a:lstStyle/>
          <a:p>
            <a:fld id="{60C02A96-A3E3-4B47-8922-B223B53966F5}" type="datetime8">
              <a:rPr lang="en-BE" smtClean="0"/>
              <a:t>10/18/2026 10:04</a:t>
            </a:fld>
            <a:endParaRPr lang="en-BE"/>
          </a:p>
        </p:txBody>
      </p:sp>
      <p:sp>
        <p:nvSpPr>
          <p:cNvPr id="6" name="Footer Placeholder 5">
            <a:extLst>
              <a:ext uri="{FF2B5EF4-FFF2-40B4-BE49-F238E27FC236}">
                <a16:creationId xmlns:a16="http://schemas.microsoft.com/office/drawing/2014/main" id="{1EA43E89-05D8-2567-C96D-E29C27A729BD}"/>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163B97D3-2B7D-A37C-9B19-A57DE8EE2AE5}"/>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879138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B9AA-1A3F-3172-C9EB-F2A54AB88B2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BB4BD0E5-B450-8C62-44E6-26F791BBB9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BE"/>
          </a:p>
        </p:txBody>
      </p:sp>
      <p:sp>
        <p:nvSpPr>
          <p:cNvPr id="4" name="Text Placeholder 3">
            <a:extLst>
              <a:ext uri="{FF2B5EF4-FFF2-40B4-BE49-F238E27FC236}">
                <a16:creationId xmlns:a16="http://schemas.microsoft.com/office/drawing/2014/main" id="{3EE99DC3-DB93-78D2-BF5E-A068C38B90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2E20E9F-FBB8-46D9-CF71-30472851C116}"/>
              </a:ext>
            </a:extLst>
          </p:cNvPr>
          <p:cNvSpPr>
            <a:spLocks noGrp="1"/>
          </p:cNvSpPr>
          <p:nvPr>
            <p:ph type="dt" sz="half" idx="10"/>
          </p:nvPr>
        </p:nvSpPr>
        <p:spPr>
          <a:xfrm>
            <a:off x="433633" y="6459767"/>
            <a:ext cx="3147767" cy="261708"/>
          </a:xfrm>
          <a:prstGeom prst="rect">
            <a:avLst/>
          </a:prstGeom>
        </p:spPr>
        <p:txBody>
          <a:bodyPr/>
          <a:lstStyle/>
          <a:p>
            <a:fld id="{2798CD17-957B-4F15-80AA-6FA3D7FBF0A7}" type="datetime8">
              <a:rPr lang="en-BE" smtClean="0"/>
              <a:t>10/18/2026 10:04</a:t>
            </a:fld>
            <a:endParaRPr lang="en-BE"/>
          </a:p>
        </p:txBody>
      </p:sp>
      <p:sp>
        <p:nvSpPr>
          <p:cNvPr id="6" name="Footer Placeholder 5">
            <a:extLst>
              <a:ext uri="{FF2B5EF4-FFF2-40B4-BE49-F238E27FC236}">
                <a16:creationId xmlns:a16="http://schemas.microsoft.com/office/drawing/2014/main" id="{A225BC26-F783-F721-E9E5-33FFCF66C909}"/>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6540B8E3-98A5-2761-9D49-F0B67C33B10D}"/>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373594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E4E1E-063B-AA21-912A-F83B72036528}"/>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F54D790A-2FB7-C21C-DAC0-C803D405C1F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98AB05FD-34AF-3E35-8E94-C1712F94A67C}"/>
              </a:ext>
            </a:extLst>
          </p:cNvPr>
          <p:cNvSpPr>
            <a:spLocks noGrp="1"/>
          </p:cNvSpPr>
          <p:nvPr>
            <p:ph type="dt" sz="half" idx="10"/>
          </p:nvPr>
        </p:nvSpPr>
        <p:spPr>
          <a:xfrm>
            <a:off x="433633" y="6459767"/>
            <a:ext cx="3147767" cy="261708"/>
          </a:xfrm>
          <a:prstGeom prst="rect">
            <a:avLst/>
          </a:prstGeom>
        </p:spPr>
        <p:txBody>
          <a:bodyPr/>
          <a:lstStyle/>
          <a:p>
            <a:fld id="{18296E6A-B81C-42D4-B054-2E03431A5F8F}" type="datetime8">
              <a:rPr lang="en-BE" smtClean="0"/>
              <a:t>10/18/2026 10:04</a:t>
            </a:fld>
            <a:endParaRPr lang="en-BE"/>
          </a:p>
        </p:txBody>
      </p:sp>
      <p:sp>
        <p:nvSpPr>
          <p:cNvPr id="5" name="Footer Placeholder 4">
            <a:extLst>
              <a:ext uri="{FF2B5EF4-FFF2-40B4-BE49-F238E27FC236}">
                <a16:creationId xmlns:a16="http://schemas.microsoft.com/office/drawing/2014/main" id="{2877C186-A6B0-2478-EAEE-BD1E9840B07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E113B3B-9579-E887-FA90-DE28987E5A53}"/>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837954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020E95-7106-9B01-984D-25E5931682F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7D19EB7B-37B5-0E28-DFA5-89543600AC1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683CE053-5459-F91F-5969-D9B1B088B1B4}"/>
              </a:ext>
            </a:extLst>
          </p:cNvPr>
          <p:cNvSpPr>
            <a:spLocks noGrp="1"/>
          </p:cNvSpPr>
          <p:nvPr>
            <p:ph type="dt" sz="half" idx="10"/>
          </p:nvPr>
        </p:nvSpPr>
        <p:spPr>
          <a:xfrm>
            <a:off x="433633" y="6459767"/>
            <a:ext cx="3147767" cy="261708"/>
          </a:xfrm>
          <a:prstGeom prst="rect">
            <a:avLst/>
          </a:prstGeom>
        </p:spPr>
        <p:txBody>
          <a:bodyPr/>
          <a:lstStyle/>
          <a:p>
            <a:fld id="{E7202CB3-5427-4BA6-99B6-A5EA4F4F0019}" type="datetime8">
              <a:rPr lang="en-BE" smtClean="0"/>
              <a:t>10/18/2026 10:04</a:t>
            </a:fld>
            <a:endParaRPr lang="en-BE"/>
          </a:p>
        </p:txBody>
      </p:sp>
      <p:sp>
        <p:nvSpPr>
          <p:cNvPr id="5" name="Footer Placeholder 4">
            <a:extLst>
              <a:ext uri="{FF2B5EF4-FFF2-40B4-BE49-F238E27FC236}">
                <a16:creationId xmlns:a16="http://schemas.microsoft.com/office/drawing/2014/main" id="{16DE4691-D5D8-3528-889E-CB34E4306F8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B2727E4E-9593-1FBC-3FF8-D6FA9E0327D6}"/>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1046800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B2D071-8136-59B1-D0A6-46F0A037C97D}"/>
              </a:ext>
            </a:extLst>
          </p:cNvPr>
          <p:cNvSpPr>
            <a:spLocks noGrp="1"/>
          </p:cNvSpPr>
          <p:nvPr>
            <p:ph type="title"/>
          </p:nvPr>
        </p:nvSpPr>
        <p:spPr>
          <a:xfrm>
            <a:off x="407989" y="365125"/>
            <a:ext cx="11341100" cy="418128"/>
          </a:xfrm>
          <a:prstGeom prst="rect">
            <a:avLst/>
          </a:prstGeom>
        </p:spPr>
        <p:txBody>
          <a:bodyPr vert="horz" wrap="square" lIns="0" tIns="0" rIns="0" bIns="0" rtlCol="0" anchor="t">
            <a:spAutoFit/>
          </a:bodyPr>
          <a:lstStyle/>
          <a:p>
            <a:r>
              <a:rPr lang="en-GB" dirty="0"/>
              <a:t>Click to edit Master title style</a:t>
            </a:r>
            <a:endParaRPr lang="en-BE" dirty="0"/>
          </a:p>
        </p:txBody>
      </p:sp>
      <p:sp>
        <p:nvSpPr>
          <p:cNvPr id="3" name="Text Placeholder 2">
            <a:extLst>
              <a:ext uri="{FF2B5EF4-FFF2-40B4-BE49-F238E27FC236}">
                <a16:creationId xmlns:a16="http://schemas.microsoft.com/office/drawing/2014/main" id="{124FF3CE-AB41-3DBA-F1EE-46716E1D2C02}"/>
              </a:ext>
            </a:extLst>
          </p:cNvPr>
          <p:cNvSpPr>
            <a:spLocks noGrp="1"/>
          </p:cNvSpPr>
          <p:nvPr>
            <p:ph type="body" idx="1"/>
          </p:nvPr>
        </p:nvSpPr>
        <p:spPr>
          <a:xfrm>
            <a:off x="407989" y="1225485"/>
            <a:ext cx="11341100" cy="510932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Footer Placeholder 4">
            <a:extLst>
              <a:ext uri="{FF2B5EF4-FFF2-40B4-BE49-F238E27FC236}">
                <a16:creationId xmlns:a16="http://schemas.microsoft.com/office/drawing/2014/main" id="{3DF3ED21-04A5-C9AD-0745-6D1BF969C464}"/>
              </a:ext>
            </a:extLst>
          </p:cNvPr>
          <p:cNvSpPr>
            <a:spLocks noGrp="1"/>
          </p:cNvSpPr>
          <p:nvPr>
            <p:ph type="ftr" sz="quarter" idx="3"/>
          </p:nvPr>
        </p:nvSpPr>
        <p:spPr>
          <a:xfrm>
            <a:off x="407989" y="6459767"/>
            <a:ext cx="10164056" cy="261708"/>
          </a:xfrm>
          <a:prstGeom prst="rect">
            <a:avLst/>
          </a:prstGeom>
        </p:spPr>
        <p:txBody>
          <a:bodyPr vert="horz" lIns="0" tIns="0" rIns="0" bIns="0" rtlCol="0" anchor="ctr"/>
          <a:lstStyle>
            <a:lvl1pPr algn="l">
              <a:defRPr sz="1050">
                <a:solidFill>
                  <a:schemeClr val="tx1">
                    <a:tint val="82000"/>
                  </a:schemeClr>
                </a:solidFill>
                <a:latin typeface="+mj-lt"/>
              </a:defRPr>
            </a:lvl1pPr>
          </a:lstStyle>
          <a:p>
            <a:endParaRPr lang="en-BE" dirty="0"/>
          </a:p>
        </p:txBody>
      </p:sp>
      <p:sp>
        <p:nvSpPr>
          <p:cNvPr id="6" name="Slide Number Placeholder 5">
            <a:extLst>
              <a:ext uri="{FF2B5EF4-FFF2-40B4-BE49-F238E27FC236}">
                <a16:creationId xmlns:a16="http://schemas.microsoft.com/office/drawing/2014/main" id="{EEE7EA51-DEF7-1B95-07B8-026BDF39496F}"/>
              </a:ext>
            </a:extLst>
          </p:cNvPr>
          <p:cNvSpPr>
            <a:spLocks noGrp="1"/>
          </p:cNvSpPr>
          <p:nvPr>
            <p:ph type="sldNum" sz="quarter" idx="4"/>
          </p:nvPr>
        </p:nvSpPr>
        <p:spPr>
          <a:xfrm>
            <a:off x="10684933" y="6459767"/>
            <a:ext cx="1064155" cy="261708"/>
          </a:xfrm>
          <a:prstGeom prst="rect">
            <a:avLst/>
          </a:prstGeom>
        </p:spPr>
        <p:txBody>
          <a:bodyPr vert="horz" lIns="0" tIns="0" rIns="0" bIns="0" rtlCol="0" anchor="ctr"/>
          <a:lstStyle>
            <a:lvl1pPr algn="r">
              <a:defRPr sz="1050">
                <a:solidFill>
                  <a:schemeClr val="tx1">
                    <a:tint val="82000"/>
                  </a:schemeClr>
                </a:solidFill>
                <a:latin typeface="+mj-lt"/>
              </a:defRPr>
            </a:lvl1pPr>
          </a:lstStyle>
          <a:p>
            <a:fld id="{94B3E216-A3C5-4E41-AE94-D003E76F1D3A}" type="slidenum">
              <a:rPr lang="en-BE" smtClean="0"/>
              <a:pPr/>
              <a:t>‹#›</a:t>
            </a:fld>
            <a:endParaRPr lang="en-BE" dirty="0"/>
          </a:p>
        </p:txBody>
      </p:sp>
    </p:spTree>
    <p:extLst>
      <p:ext uri="{BB962C8B-B14F-4D97-AF65-F5344CB8AC3E}">
        <p14:creationId xmlns:p14="http://schemas.microsoft.com/office/powerpoint/2010/main" val="24717835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hdr="0" ftr="0" dt="0"/>
  <p:txStyles>
    <p:titleStyle>
      <a:lvl1pPr algn="l" defTabSz="914400" rtl="0" eaLnBrk="1" latinLnBrk="0" hangingPunct="1">
        <a:lnSpc>
          <a:spcPct val="90000"/>
        </a:lnSpc>
        <a:spcBef>
          <a:spcPct val="0"/>
        </a:spcBef>
        <a:buNone/>
        <a:defRPr sz="3000" kern="1200">
          <a:solidFill>
            <a:schemeClr val="tx1"/>
          </a:solidFill>
          <a:latin typeface="Aptos SemiBold"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ptos SemiBold"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SemiBold"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SemiBold"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57" userDrawn="1">
          <p15:clr>
            <a:srgbClr val="F26B43"/>
          </p15:clr>
        </p15:guide>
        <p15:guide id="4" pos="740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hyperlink" Target="http://www.uniprot.org/" TargetMode="External"/><Relationship Id="rId4" Type="http://schemas.openxmlformats.org/officeDocument/2006/relationships/hyperlink" Target="https://genome.ucsc.edu/"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commons.wikimedia.org/w/index.php?search=ecg&amp;title=Special%3AMediaSearch&amp;type=image"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hyperlink" Target="https://doi.org/10.1016/j.mcpro.2022.100266"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1.jpeg"/><Relationship Id="rId5" Type="http://schemas.openxmlformats.org/officeDocument/2006/relationships/hyperlink" Target="https://www.uniprot.org/uniprotkb/P60709/entry" TargetMode="External"/><Relationship Id="rId4" Type="http://schemas.openxmlformats.org/officeDocument/2006/relationships/hyperlink" Target="https://www.nature.com/articles/s41586-025-10014-0"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169B9-FA41-8273-C14F-E0BC1C79F0F6}"/>
              </a:ext>
            </a:extLst>
          </p:cNvPr>
          <p:cNvSpPr>
            <a:spLocks noGrp="1"/>
          </p:cNvSpPr>
          <p:nvPr>
            <p:ph type="title"/>
          </p:nvPr>
        </p:nvSpPr>
        <p:spPr/>
        <p:txBody>
          <a:bodyPr/>
          <a:lstStyle/>
          <a:p>
            <a:r>
              <a:rPr lang="en-GB" dirty="0"/>
              <a:t>Sequence data are everywhere in biomedicine</a:t>
            </a:r>
            <a:endParaRPr lang="en-US" dirty="0"/>
          </a:p>
        </p:txBody>
      </p:sp>
      <p:pic>
        <p:nvPicPr>
          <p:cNvPr id="14" name="Content Placeholder 13">
            <a:extLst>
              <a:ext uri="{FF2B5EF4-FFF2-40B4-BE49-F238E27FC236}">
                <a16:creationId xmlns:a16="http://schemas.microsoft.com/office/drawing/2014/main" id="{6DE66659-6F2B-FB38-DD56-A9EFDFE9A5DF}"/>
              </a:ext>
            </a:extLst>
          </p:cNvPr>
          <p:cNvPicPr>
            <a:picLocks noGrp="1" noChangeAspect="1"/>
          </p:cNvPicPr>
          <p:nvPr>
            <p:ph idx="1"/>
          </p:nvPr>
        </p:nvPicPr>
        <p:blipFill>
          <a:blip r:embed="rId3"/>
          <a:stretch>
            <a:fillRect/>
          </a:stretch>
        </p:blipFill>
        <p:spPr>
          <a:xfrm>
            <a:off x="407988" y="2368523"/>
            <a:ext cx="5456237" cy="3541767"/>
          </a:xfrm>
          <a:prstGeom prst="rect">
            <a:avLst/>
          </a:prstGeom>
        </p:spPr>
      </p:pic>
      <p:sp>
        <p:nvSpPr>
          <p:cNvPr id="7" name="Footer Placeholder 6">
            <a:extLst>
              <a:ext uri="{FF2B5EF4-FFF2-40B4-BE49-F238E27FC236}">
                <a16:creationId xmlns:a16="http://schemas.microsoft.com/office/drawing/2014/main" id="{A8065C54-44C2-81B0-169E-A71EA25B4CA1}"/>
              </a:ext>
            </a:extLst>
          </p:cNvPr>
          <p:cNvSpPr>
            <a:spLocks noGrp="1"/>
          </p:cNvSpPr>
          <p:nvPr>
            <p:ph type="ftr" sz="quarter" idx="11"/>
          </p:nvPr>
        </p:nvSpPr>
        <p:spPr/>
        <p:txBody>
          <a:bodyPr/>
          <a:lstStyle/>
          <a:p>
            <a:r>
              <a:rPr lang="en-US" dirty="0">
                <a:hlinkClick r:id="rId4"/>
              </a:rPr>
              <a:t>genome.ucsc.edu</a:t>
            </a:r>
            <a:r>
              <a:rPr lang="en-US" dirty="0"/>
              <a:t>, </a:t>
            </a:r>
            <a:r>
              <a:rPr lang="en-US" dirty="0">
                <a:hlinkClick r:id="rId5"/>
              </a:rPr>
              <a:t>www.uniprot.org</a:t>
            </a:r>
            <a:r>
              <a:rPr lang="en-US" dirty="0"/>
              <a:t>, </a:t>
            </a:r>
          </a:p>
        </p:txBody>
      </p:sp>
      <p:sp>
        <p:nvSpPr>
          <p:cNvPr id="4" name="Slide Number Placeholder 3">
            <a:extLst>
              <a:ext uri="{FF2B5EF4-FFF2-40B4-BE49-F238E27FC236}">
                <a16:creationId xmlns:a16="http://schemas.microsoft.com/office/drawing/2014/main" id="{0CA6B583-0008-A673-07C4-76CD2B491D13}"/>
              </a:ext>
            </a:extLst>
          </p:cNvPr>
          <p:cNvSpPr>
            <a:spLocks noGrp="1"/>
          </p:cNvSpPr>
          <p:nvPr>
            <p:ph type="sldNum" sz="quarter" idx="12"/>
          </p:nvPr>
        </p:nvSpPr>
        <p:spPr/>
        <p:txBody>
          <a:bodyPr/>
          <a:lstStyle/>
          <a:p>
            <a:fld id="{94B3E216-A3C5-4E41-AE94-D003E76F1D3A}" type="slidenum">
              <a:rPr lang="en-US" smtClean="0"/>
              <a:pPr/>
              <a:t>1</a:t>
            </a:fld>
            <a:endParaRPr lang="en-US"/>
          </a:p>
        </p:txBody>
      </p:sp>
      <p:pic>
        <p:nvPicPr>
          <p:cNvPr id="16" name="Content Placeholder 15">
            <a:extLst>
              <a:ext uri="{FF2B5EF4-FFF2-40B4-BE49-F238E27FC236}">
                <a16:creationId xmlns:a16="http://schemas.microsoft.com/office/drawing/2014/main" id="{D39BA8B5-6F47-E3F5-DCEC-D75318B28710}"/>
              </a:ext>
            </a:extLst>
          </p:cNvPr>
          <p:cNvPicPr>
            <a:picLocks noGrp="1" noChangeAspect="1"/>
          </p:cNvPicPr>
          <p:nvPr>
            <p:ph idx="13"/>
          </p:nvPr>
        </p:nvPicPr>
        <p:blipFill>
          <a:blip r:embed="rId6"/>
          <a:stretch>
            <a:fillRect/>
          </a:stretch>
        </p:blipFill>
        <p:spPr>
          <a:xfrm>
            <a:off x="6292850" y="2666311"/>
            <a:ext cx="5456238" cy="2946190"/>
          </a:xfrm>
          <a:prstGeom prst="rect">
            <a:avLst/>
          </a:prstGeom>
        </p:spPr>
      </p:pic>
      <p:sp>
        <p:nvSpPr>
          <p:cNvPr id="12" name="Content Placeholder 11">
            <a:extLst>
              <a:ext uri="{FF2B5EF4-FFF2-40B4-BE49-F238E27FC236}">
                <a16:creationId xmlns:a16="http://schemas.microsoft.com/office/drawing/2014/main" id="{00D727AF-A87F-0830-A4DB-74B17244AD14}"/>
              </a:ext>
            </a:extLst>
          </p:cNvPr>
          <p:cNvSpPr>
            <a:spLocks noGrp="1"/>
          </p:cNvSpPr>
          <p:nvPr>
            <p:ph idx="14"/>
          </p:nvPr>
        </p:nvSpPr>
        <p:spPr/>
        <p:txBody>
          <a:bodyPr/>
          <a:lstStyle/>
          <a:p>
            <a:r>
              <a:rPr lang="en-US" dirty="0"/>
              <a:t>genome data</a:t>
            </a:r>
            <a:endParaRPr lang="en-BE" dirty="0"/>
          </a:p>
        </p:txBody>
      </p:sp>
      <p:sp>
        <p:nvSpPr>
          <p:cNvPr id="13" name="Content Placeholder 12">
            <a:extLst>
              <a:ext uri="{FF2B5EF4-FFF2-40B4-BE49-F238E27FC236}">
                <a16:creationId xmlns:a16="http://schemas.microsoft.com/office/drawing/2014/main" id="{2A7692FC-15E7-A4EC-9B39-83BD2772B52D}"/>
              </a:ext>
            </a:extLst>
          </p:cNvPr>
          <p:cNvSpPr>
            <a:spLocks noGrp="1"/>
          </p:cNvSpPr>
          <p:nvPr>
            <p:ph idx="15"/>
          </p:nvPr>
        </p:nvSpPr>
        <p:spPr/>
        <p:txBody>
          <a:bodyPr/>
          <a:lstStyle/>
          <a:p>
            <a:r>
              <a:rPr lang="en-US" dirty="0"/>
              <a:t>proteins</a:t>
            </a:r>
            <a:endParaRPr lang="en-BE" dirty="0"/>
          </a:p>
        </p:txBody>
      </p:sp>
    </p:spTree>
    <p:extLst>
      <p:ext uri="{BB962C8B-B14F-4D97-AF65-F5344CB8AC3E}">
        <p14:creationId xmlns:p14="http://schemas.microsoft.com/office/powerpoint/2010/main" val="172257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20A7F-4ECD-A0C3-0712-6B4544254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76A1A-BDF1-8DFF-CB7B-B12153AA81FD}"/>
              </a:ext>
            </a:extLst>
          </p:cNvPr>
          <p:cNvSpPr>
            <a:spLocks noGrp="1"/>
          </p:cNvSpPr>
          <p:nvPr>
            <p:ph type="title"/>
          </p:nvPr>
        </p:nvSpPr>
        <p:spPr/>
        <p:txBody>
          <a:bodyPr/>
          <a:lstStyle/>
          <a:p>
            <a:r>
              <a:rPr lang="en-GB" dirty="0"/>
              <a:t>Sequence data are everywhere in biomedicine</a:t>
            </a:r>
            <a:endParaRPr lang="en-US" dirty="0"/>
          </a:p>
        </p:txBody>
      </p:sp>
      <p:sp>
        <p:nvSpPr>
          <p:cNvPr id="7" name="Footer Placeholder 6">
            <a:extLst>
              <a:ext uri="{FF2B5EF4-FFF2-40B4-BE49-F238E27FC236}">
                <a16:creationId xmlns:a16="http://schemas.microsoft.com/office/drawing/2014/main" id="{5F848F90-51F6-DA1B-9FD0-A0CA9C36DB38}"/>
              </a:ext>
            </a:extLst>
          </p:cNvPr>
          <p:cNvSpPr>
            <a:spLocks noGrp="1"/>
          </p:cNvSpPr>
          <p:nvPr>
            <p:ph type="ftr" sz="quarter" idx="11"/>
          </p:nvPr>
        </p:nvSpPr>
        <p:spPr/>
        <p:txBody>
          <a:bodyPr/>
          <a:lstStyle/>
          <a:p>
            <a:r>
              <a:rPr lang="en-US" dirty="0"/>
              <a:t>Figures: </a:t>
            </a:r>
            <a:r>
              <a:rPr lang="en-US" dirty="0">
                <a:hlinkClick r:id="rId3"/>
              </a:rPr>
              <a:t>commons.wikimedia.org</a:t>
            </a:r>
            <a:r>
              <a:rPr lang="en-US" dirty="0"/>
              <a:t>, </a:t>
            </a:r>
            <a:r>
              <a:rPr lang="pt-BR" dirty="0">
                <a:hlinkClick r:id="rId4"/>
              </a:rPr>
              <a:t>10.1016/j.mcpro.2022.100266</a:t>
            </a:r>
            <a:endParaRPr lang="en-US" dirty="0"/>
          </a:p>
        </p:txBody>
      </p:sp>
      <p:sp>
        <p:nvSpPr>
          <p:cNvPr id="4" name="Slide Number Placeholder 3">
            <a:extLst>
              <a:ext uri="{FF2B5EF4-FFF2-40B4-BE49-F238E27FC236}">
                <a16:creationId xmlns:a16="http://schemas.microsoft.com/office/drawing/2014/main" id="{34C004DA-BAE5-70DE-FA96-D6526639B4C5}"/>
              </a:ext>
            </a:extLst>
          </p:cNvPr>
          <p:cNvSpPr>
            <a:spLocks noGrp="1"/>
          </p:cNvSpPr>
          <p:nvPr>
            <p:ph type="sldNum" sz="quarter" idx="12"/>
          </p:nvPr>
        </p:nvSpPr>
        <p:spPr/>
        <p:txBody>
          <a:bodyPr/>
          <a:lstStyle/>
          <a:p>
            <a:fld id="{94B3E216-A3C5-4E41-AE94-D003E76F1D3A}" type="slidenum">
              <a:rPr lang="en-US" smtClean="0"/>
              <a:pPr/>
              <a:t>2</a:t>
            </a:fld>
            <a:endParaRPr lang="en-US"/>
          </a:p>
        </p:txBody>
      </p:sp>
      <p:pic>
        <p:nvPicPr>
          <p:cNvPr id="22" name="Content Placeholder 21">
            <a:extLst>
              <a:ext uri="{FF2B5EF4-FFF2-40B4-BE49-F238E27FC236}">
                <a16:creationId xmlns:a16="http://schemas.microsoft.com/office/drawing/2014/main" id="{052EB45F-6770-6A06-F9A0-3A98DAB8F76F}"/>
              </a:ext>
            </a:extLst>
          </p:cNvPr>
          <p:cNvPicPr>
            <a:picLocks noGrp="1" noChangeAspect="1"/>
          </p:cNvPicPr>
          <p:nvPr>
            <p:ph idx="13"/>
          </p:nvPr>
        </p:nvPicPr>
        <p:blipFill>
          <a:blip r:embed="rId5"/>
          <a:stretch>
            <a:fillRect/>
          </a:stretch>
        </p:blipFill>
        <p:spPr>
          <a:xfrm>
            <a:off x="6371700" y="1944688"/>
            <a:ext cx="5298538" cy="4389437"/>
          </a:xfrm>
          <a:prstGeom prst="rect">
            <a:avLst/>
          </a:prstGeom>
        </p:spPr>
      </p:pic>
      <p:sp>
        <p:nvSpPr>
          <p:cNvPr id="13" name="Content Placeholder 12">
            <a:extLst>
              <a:ext uri="{FF2B5EF4-FFF2-40B4-BE49-F238E27FC236}">
                <a16:creationId xmlns:a16="http://schemas.microsoft.com/office/drawing/2014/main" id="{FAE92B49-6199-D32C-075B-D57798AEB5A7}"/>
              </a:ext>
            </a:extLst>
          </p:cNvPr>
          <p:cNvSpPr>
            <a:spLocks noGrp="1"/>
          </p:cNvSpPr>
          <p:nvPr>
            <p:ph idx="14"/>
          </p:nvPr>
        </p:nvSpPr>
        <p:spPr/>
        <p:txBody>
          <a:bodyPr/>
          <a:lstStyle/>
          <a:p>
            <a:r>
              <a:rPr lang="en-US" dirty="0"/>
              <a:t>electrocardiogram</a:t>
            </a:r>
            <a:endParaRPr lang="en-BE" dirty="0"/>
          </a:p>
        </p:txBody>
      </p:sp>
      <p:sp>
        <p:nvSpPr>
          <p:cNvPr id="14" name="Content Placeholder 13">
            <a:extLst>
              <a:ext uri="{FF2B5EF4-FFF2-40B4-BE49-F238E27FC236}">
                <a16:creationId xmlns:a16="http://schemas.microsoft.com/office/drawing/2014/main" id="{8494DD8A-40EA-92E0-09AE-86C62F302B9D}"/>
              </a:ext>
            </a:extLst>
          </p:cNvPr>
          <p:cNvSpPr>
            <a:spLocks noGrp="1"/>
          </p:cNvSpPr>
          <p:nvPr>
            <p:ph idx="15"/>
          </p:nvPr>
        </p:nvSpPr>
        <p:spPr/>
        <p:txBody>
          <a:bodyPr/>
          <a:lstStyle/>
          <a:p>
            <a:r>
              <a:rPr lang="en-US" dirty="0"/>
              <a:t>research articles</a:t>
            </a:r>
            <a:endParaRPr lang="en-BE" dirty="0"/>
          </a:p>
        </p:txBody>
      </p:sp>
      <p:pic>
        <p:nvPicPr>
          <p:cNvPr id="16" name="Picture 2">
            <a:extLst>
              <a:ext uri="{FF2B5EF4-FFF2-40B4-BE49-F238E27FC236}">
                <a16:creationId xmlns:a16="http://schemas.microsoft.com/office/drawing/2014/main" id="{4BC5524E-638D-D5D9-FD95-1C6FAA16A0AF}"/>
              </a:ext>
            </a:extLst>
          </p:cNvPr>
          <p:cNvPicPr>
            <a:picLocks noGrp="1" noChangeAspect="1" noChangeArrowheads="1"/>
          </p:cNvPicPr>
          <p:nvPr>
            <p:ph idx="1"/>
          </p:nvPr>
        </p:nvPicPr>
        <p:blipFill rotWithShape="1">
          <a:blip r:embed="rId6">
            <a:extLst>
              <a:ext uri="{28A0092B-C50C-407E-A947-70E740481C1C}">
                <a14:useLocalDpi xmlns:a14="http://schemas.microsoft.com/office/drawing/2010/main" val="0"/>
              </a:ext>
            </a:extLst>
          </a:blip>
          <a:srcRect l="3015" t="2976" r="2414" b="-20"/>
          <a:stretch>
            <a:fillRect/>
          </a:stretch>
        </p:blipFill>
        <p:spPr bwMode="auto">
          <a:xfrm>
            <a:off x="408441" y="2075543"/>
            <a:ext cx="5490253" cy="4259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7196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AEB4D-A322-2877-4E57-27CA1E208C7B}"/>
              </a:ext>
            </a:extLst>
          </p:cNvPr>
          <p:cNvSpPr>
            <a:spLocks noGrp="1"/>
          </p:cNvSpPr>
          <p:nvPr>
            <p:ph type="title"/>
          </p:nvPr>
        </p:nvSpPr>
        <p:spPr/>
        <p:txBody>
          <a:bodyPr/>
          <a:lstStyle/>
          <a:p>
            <a:r>
              <a:rPr lang="en-GB" dirty="0"/>
              <a:t>Symbols must first be converted into numbers</a:t>
            </a:r>
            <a:endParaRPr lang="en-BE" dirty="0"/>
          </a:p>
        </p:txBody>
      </p:sp>
      <p:sp>
        <p:nvSpPr>
          <p:cNvPr id="4" name="Slide Number Placeholder 3">
            <a:extLst>
              <a:ext uri="{FF2B5EF4-FFF2-40B4-BE49-F238E27FC236}">
                <a16:creationId xmlns:a16="http://schemas.microsoft.com/office/drawing/2014/main" id="{45C1A963-8A74-91C1-26EF-E5F970F7F8A7}"/>
              </a:ext>
            </a:extLst>
          </p:cNvPr>
          <p:cNvSpPr>
            <a:spLocks noGrp="1"/>
          </p:cNvSpPr>
          <p:nvPr>
            <p:ph type="sldNum" sz="quarter" idx="12"/>
          </p:nvPr>
        </p:nvSpPr>
        <p:spPr/>
        <p:txBody>
          <a:bodyPr/>
          <a:lstStyle/>
          <a:p>
            <a:fld id="{94B3E216-A3C5-4E41-AE94-D003E76F1D3A}" type="slidenum">
              <a:rPr lang="en-US" smtClean="0"/>
              <a:pPr/>
              <a:t>3</a:t>
            </a:fld>
            <a:endParaRPr lang="en-US"/>
          </a:p>
        </p:txBody>
      </p:sp>
      <p:sp>
        <p:nvSpPr>
          <p:cNvPr id="7" name="Content Placeholder 6">
            <a:extLst>
              <a:ext uri="{FF2B5EF4-FFF2-40B4-BE49-F238E27FC236}">
                <a16:creationId xmlns:a16="http://schemas.microsoft.com/office/drawing/2014/main" id="{6EF4308A-B8E3-E184-89A3-243CF1DB98C2}"/>
              </a:ext>
            </a:extLst>
          </p:cNvPr>
          <p:cNvSpPr>
            <a:spLocks noGrp="1"/>
          </p:cNvSpPr>
          <p:nvPr>
            <p:ph idx="14"/>
          </p:nvPr>
        </p:nvSpPr>
        <p:spPr>
          <a:xfrm>
            <a:off x="407988" y="1306286"/>
            <a:ext cx="3600000" cy="341085"/>
          </a:xfrm>
        </p:spPr>
        <p:txBody>
          <a:bodyPr/>
          <a:lstStyle/>
          <a:p>
            <a:r>
              <a:rPr lang="en-US" dirty="0"/>
              <a:t>Manual feature engineering</a:t>
            </a:r>
            <a:endParaRPr lang="en-BE" dirty="0"/>
          </a:p>
        </p:txBody>
      </p:sp>
      <p:sp>
        <p:nvSpPr>
          <p:cNvPr id="8" name="Content Placeholder 7">
            <a:extLst>
              <a:ext uri="{FF2B5EF4-FFF2-40B4-BE49-F238E27FC236}">
                <a16:creationId xmlns:a16="http://schemas.microsoft.com/office/drawing/2014/main" id="{FABAD303-CA8D-F314-1C67-074D640854C3}"/>
              </a:ext>
            </a:extLst>
          </p:cNvPr>
          <p:cNvSpPr>
            <a:spLocks noGrp="1"/>
          </p:cNvSpPr>
          <p:nvPr>
            <p:ph idx="15"/>
          </p:nvPr>
        </p:nvSpPr>
        <p:spPr>
          <a:xfrm>
            <a:off x="8149088" y="1306286"/>
            <a:ext cx="3600000" cy="341085"/>
          </a:xfrm>
        </p:spPr>
        <p:txBody>
          <a:bodyPr/>
          <a:lstStyle/>
          <a:p>
            <a:r>
              <a:rPr lang="en-US" dirty="0"/>
              <a:t>learned embedding</a:t>
            </a:r>
            <a:endParaRPr lang="en-BE" dirty="0"/>
          </a:p>
        </p:txBody>
      </p:sp>
      <p:sp>
        <p:nvSpPr>
          <p:cNvPr id="10" name="Content Placeholder 6">
            <a:extLst>
              <a:ext uri="{FF2B5EF4-FFF2-40B4-BE49-F238E27FC236}">
                <a16:creationId xmlns:a16="http://schemas.microsoft.com/office/drawing/2014/main" id="{58911EC4-1B85-3EF3-3959-B85B2FFE4901}"/>
              </a:ext>
            </a:extLst>
          </p:cNvPr>
          <p:cNvSpPr txBox="1">
            <a:spLocks/>
          </p:cNvSpPr>
          <p:nvPr/>
        </p:nvSpPr>
        <p:spPr>
          <a:xfrm>
            <a:off x="4296000" y="1306286"/>
            <a:ext cx="3600000" cy="341085"/>
          </a:xfrm>
          <a:prstGeom prst="rect">
            <a:avLst/>
          </a:prstGeom>
        </p:spPr>
        <p:txBody>
          <a:bodyPr vert="horz" lIns="0" tIns="0" rIns="0" bIns="0" rtlCol="0">
            <a:normAutofit/>
          </a:bodyPr>
          <a:lstStyle>
            <a:lvl1pPr marL="228600" indent="-228600" algn="ctr" defTabSz="914400" rtl="0" eaLnBrk="1" latinLnBrk="0" hangingPunct="1">
              <a:lnSpc>
                <a:spcPct val="90000"/>
              </a:lnSpc>
              <a:spcBef>
                <a:spcPts val="1000"/>
              </a:spcBef>
              <a:buFont typeface="Arial" panose="020B0604020202020204" pitchFamily="34" charset="0"/>
              <a:buNone/>
              <a:defRPr lang="en-GB" sz="2000" kern="1200">
                <a:solidFill>
                  <a:schemeClr val="tx1"/>
                </a:solidFill>
                <a:latin typeface="Aptos SemiBold"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Aptos SemiBold"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GB" sz="1600" kern="1200">
                <a:solidFill>
                  <a:schemeClr val="tx1"/>
                </a:solidFill>
                <a:latin typeface="Aptos SemiBold"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GB" sz="1400" kern="1200">
                <a:solidFill>
                  <a:schemeClr val="tx1"/>
                </a:solidFill>
                <a:latin typeface="Aptos SemiBold"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BE" sz="1400" kern="1200">
                <a:solidFill>
                  <a:schemeClr val="tx1"/>
                </a:solidFill>
                <a:latin typeface="Aptos SemiBold"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one-hot encoding</a:t>
            </a:r>
            <a:endParaRPr lang="en-BE" dirty="0"/>
          </a:p>
        </p:txBody>
      </p:sp>
      <p:cxnSp>
        <p:nvCxnSpPr>
          <p:cNvPr id="14" name="Straight Arrow Connector 13">
            <a:extLst>
              <a:ext uri="{FF2B5EF4-FFF2-40B4-BE49-F238E27FC236}">
                <a16:creationId xmlns:a16="http://schemas.microsoft.com/office/drawing/2014/main" id="{51E1CF61-9B53-02FB-5DD6-FA577CD81E81}"/>
              </a:ext>
            </a:extLst>
          </p:cNvPr>
          <p:cNvCxnSpPr>
            <a:cxnSpLocks/>
          </p:cNvCxnSpPr>
          <p:nvPr/>
        </p:nvCxnSpPr>
        <p:spPr>
          <a:xfrm>
            <a:off x="2207182" y="2802835"/>
            <a:ext cx="0" cy="4174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5" name="Table 14">
            <a:extLst>
              <a:ext uri="{FF2B5EF4-FFF2-40B4-BE49-F238E27FC236}">
                <a16:creationId xmlns:a16="http://schemas.microsoft.com/office/drawing/2014/main" id="{B5146409-BFE9-947B-EEE9-7A9F97D966B8}"/>
              </a:ext>
            </a:extLst>
          </p:cNvPr>
          <p:cNvGraphicFramePr>
            <a:graphicFrameLocks noGrp="1"/>
          </p:cNvGraphicFramePr>
          <p:nvPr>
            <p:extLst>
              <p:ext uri="{D42A27DB-BD31-4B8C-83A1-F6EECF244321}">
                <p14:modId xmlns:p14="http://schemas.microsoft.com/office/powerpoint/2010/main" val="733283183"/>
              </p:ext>
            </p:extLst>
          </p:nvPr>
        </p:nvGraphicFramePr>
        <p:xfrm>
          <a:off x="4296002" y="3571879"/>
          <a:ext cx="3599995" cy="2194560"/>
        </p:xfrm>
        <a:graphic>
          <a:graphicData uri="http://schemas.openxmlformats.org/drawingml/2006/table">
            <a:tbl>
              <a:tblPr firstRow="1" firstCol="1" bandRow="1">
                <a:tableStyleId>{073A0DAA-6AF3-43AB-8588-CEC1D06C72B9}</a:tableStyleId>
              </a:tblPr>
              <a:tblGrid>
                <a:gridCol w="599900">
                  <a:extLst>
                    <a:ext uri="{9D8B030D-6E8A-4147-A177-3AD203B41FA5}">
                      <a16:colId xmlns:a16="http://schemas.microsoft.com/office/drawing/2014/main" val="494698070"/>
                    </a:ext>
                  </a:extLst>
                </a:gridCol>
                <a:gridCol w="599900">
                  <a:extLst>
                    <a:ext uri="{9D8B030D-6E8A-4147-A177-3AD203B41FA5}">
                      <a16:colId xmlns:a16="http://schemas.microsoft.com/office/drawing/2014/main" val="2741127273"/>
                    </a:ext>
                  </a:extLst>
                </a:gridCol>
                <a:gridCol w="599900">
                  <a:extLst>
                    <a:ext uri="{9D8B030D-6E8A-4147-A177-3AD203B41FA5}">
                      <a16:colId xmlns:a16="http://schemas.microsoft.com/office/drawing/2014/main" val="1081182108"/>
                    </a:ext>
                  </a:extLst>
                </a:gridCol>
                <a:gridCol w="599900">
                  <a:extLst>
                    <a:ext uri="{9D8B030D-6E8A-4147-A177-3AD203B41FA5}">
                      <a16:colId xmlns:a16="http://schemas.microsoft.com/office/drawing/2014/main" val="3000755966"/>
                    </a:ext>
                  </a:extLst>
                </a:gridCol>
                <a:gridCol w="599900">
                  <a:extLst>
                    <a:ext uri="{9D8B030D-6E8A-4147-A177-3AD203B41FA5}">
                      <a16:colId xmlns:a16="http://schemas.microsoft.com/office/drawing/2014/main" val="2383520344"/>
                    </a:ext>
                  </a:extLst>
                </a:gridCol>
                <a:gridCol w="600495">
                  <a:extLst>
                    <a:ext uri="{9D8B030D-6E8A-4147-A177-3AD203B41FA5}">
                      <a16:colId xmlns:a16="http://schemas.microsoft.com/office/drawing/2014/main" val="266520045"/>
                    </a:ext>
                  </a:extLst>
                </a:gridCol>
              </a:tblGrid>
              <a:tr h="214713">
                <a:tc>
                  <a:txBody>
                    <a:bodyPr/>
                    <a:lstStyle/>
                    <a:p>
                      <a:pPr marL="0" algn="ctr" defTabSz="914400" rtl="0" eaLnBrk="1" latinLnBrk="0" hangingPunct="1"/>
                      <a:endParaRPr lang="en-BE" sz="1600" b="1" kern="120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b="1" kern="1200" dirty="0">
                          <a:solidFill>
                            <a:schemeClr val="lt1"/>
                          </a:solidFill>
                        </a:rPr>
                        <a:t>A</a:t>
                      </a:r>
                      <a:endParaRPr lang="en-BE" sz="1600" b="1" kern="120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b="1" kern="1200">
                          <a:solidFill>
                            <a:schemeClr val="lt1"/>
                          </a:solidFill>
                        </a:rPr>
                        <a:t>C</a:t>
                      </a:r>
                      <a:endParaRPr lang="en-BE" sz="1600" b="1" kern="120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b="1" kern="1200">
                          <a:solidFill>
                            <a:schemeClr val="lt1"/>
                          </a:solidFill>
                        </a:rPr>
                        <a:t>D</a:t>
                      </a:r>
                      <a:endParaRPr lang="en-BE" sz="1600" b="1" kern="120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b="1" kern="1200" dirty="0">
                          <a:solidFill>
                            <a:schemeClr val="lt1"/>
                          </a:solidFill>
                        </a:rPr>
                        <a:t>T</a:t>
                      </a:r>
                      <a:endParaRPr lang="en-BE" sz="1600" b="1" kern="120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b="1" kern="1200">
                          <a:solidFill>
                            <a:schemeClr val="lt1"/>
                          </a:solidFill>
                        </a:rPr>
                        <a:t>K</a:t>
                      </a:r>
                      <a:endParaRPr lang="en-BE" sz="1600" b="1" kern="120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687034335"/>
                  </a:ext>
                </a:extLst>
              </a:tr>
              <a:tr h="214713">
                <a:tc>
                  <a:txBody>
                    <a:bodyPr/>
                    <a:lstStyle/>
                    <a:p>
                      <a:pPr marL="0" algn="ctr" defTabSz="914400" rtl="0" eaLnBrk="1" latinLnBrk="0" hangingPunct="1"/>
                      <a:r>
                        <a:rPr lang="en-US" sz="1600" b="1" kern="1200">
                          <a:solidFill>
                            <a:schemeClr val="lt1"/>
                          </a:solidFill>
                        </a:rPr>
                        <a:t>A?</a:t>
                      </a:r>
                      <a:endParaRPr lang="en-BE" sz="1600" b="1" kern="120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1</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807118962"/>
                  </a:ext>
                </a:extLst>
              </a:tr>
              <a:tr h="214713">
                <a:tc>
                  <a:txBody>
                    <a:bodyPr/>
                    <a:lstStyle/>
                    <a:p>
                      <a:pPr marL="0" algn="ctr" defTabSz="914400" rtl="0" eaLnBrk="1" latinLnBrk="0" hangingPunct="1"/>
                      <a:r>
                        <a:rPr lang="en-US" sz="1600" b="1" kern="1200" dirty="0">
                          <a:solidFill>
                            <a:schemeClr val="lt1"/>
                          </a:solidFill>
                        </a:rPr>
                        <a:t>C?</a:t>
                      </a:r>
                      <a:endParaRPr lang="en-BE" sz="1600" b="1" kern="120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dirty="0">
                          <a:solidFill>
                            <a:schemeClr val="dk1"/>
                          </a:solidFill>
                          <a:latin typeface="Cascadia Code" panose="020B0609020000020004" pitchFamily="49" charset="0"/>
                          <a:cs typeface="Cascadia Code" panose="020B0609020000020004" pitchFamily="49" charset="0"/>
                        </a:rPr>
                        <a:t>0</a:t>
                      </a:r>
                      <a:endParaRPr lang="en-BE" sz="1600" kern="120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1</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2159611518"/>
                  </a:ext>
                </a:extLst>
              </a:tr>
              <a:tr h="214713">
                <a:tc>
                  <a:txBody>
                    <a:bodyPr/>
                    <a:lstStyle/>
                    <a:p>
                      <a:pPr marL="0" algn="ctr" defTabSz="914400" rtl="0" eaLnBrk="1" latinLnBrk="0" hangingPunct="1"/>
                      <a:r>
                        <a:rPr lang="en-US" sz="1600" b="1" kern="1200">
                          <a:solidFill>
                            <a:schemeClr val="lt1"/>
                          </a:solidFill>
                        </a:rPr>
                        <a:t>D?</a:t>
                      </a:r>
                      <a:endParaRPr lang="en-BE" sz="1600" b="1" kern="120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1</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106277594"/>
                  </a:ext>
                </a:extLst>
              </a:tr>
              <a:tr h="214713">
                <a:tc>
                  <a:txBody>
                    <a:bodyPr/>
                    <a:lstStyle/>
                    <a:p>
                      <a:pPr marL="0" algn="ctr" defTabSz="914400" rtl="0" eaLnBrk="1" latinLnBrk="0" hangingPunct="1"/>
                      <a:r>
                        <a:rPr lang="en-BE" sz="1600" b="1" kern="1200">
                          <a:solidFill>
                            <a:schemeClr val="lt1"/>
                          </a:solidFill>
                        </a:rPr>
                        <a:t>…</a:t>
                      </a:r>
                      <a:endParaRPr lang="en-BE" sz="1600" b="1" kern="120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3760272950"/>
                  </a:ext>
                </a:extLst>
              </a:tr>
              <a:tr h="214713">
                <a:tc>
                  <a:txBody>
                    <a:bodyPr/>
                    <a:lstStyle/>
                    <a:p>
                      <a:pPr marL="0" algn="ctr" defTabSz="914400" rtl="0" eaLnBrk="1" latinLnBrk="0" hangingPunct="1"/>
                      <a:r>
                        <a:rPr lang="en-US" sz="1600" b="1" kern="1200">
                          <a:solidFill>
                            <a:schemeClr val="lt1"/>
                          </a:solidFill>
                        </a:rPr>
                        <a:t>T?</a:t>
                      </a:r>
                      <a:endParaRPr lang="en-BE" sz="1600" b="1" kern="120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dirty="0">
                          <a:solidFill>
                            <a:schemeClr val="dk1"/>
                          </a:solidFill>
                          <a:latin typeface="Cascadia Code" panose="020B0609020000020004" pitchFamily="49" charset="0"/>
                          <a:cs typeface="Cascadia Code" panose="020B0609020000020004" pitchFamily="49" charset="0"/>
                        </a:rPr>
                        <a:t>0</a:t>
                      </a:r>
                      <a:endParaRPr lang="en-BE" sz="1600" kern="120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1</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976953057"/>
                  </a:ext>
                </a:extLst>
              </a:tr>
              <a:tr h="214713">
                <a:tc>
                  <a:txBody>
                    <a:bodyPr/>
                    <a:lstStyle/>
                    <a:p>
                      <a:pPr marL="0" algn="ctr" defTabSz="914400" rtl="0" eaLnBrk="1" latinLnBrk="0" hangingPunct="1"/>
                      <a:r>
                        <a:rPr lang="en-BE" sz="1600" b="1" kern="1200">
                          <a:solidFill>
                            <a:schemeClr val="lt1"/>
                          </a:solidFill>
                        </a:rPr>
                        <a:t>…</a:t>
                      </a:r>
                      <a:endParaRPr lang="en-BE" sz="1600" b="1" kern="120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3692431964"/>
                  </a:ext>
                </a:extLst>
              </a:tr>
              <a:tr h="214713">
                <a:tc>
                  <a:txBody>
                    <a:bodyPr/>
                    <a:lstStyle/>
                    <a:p>
                      <a:pPr marL="0" algn="ctr" defTabSz="914400" rtl="0" eaLnBrk="1" latinLnBrk="0" hangingPunct="1"/>
                      <a:r>
                        <a:rPr lang="en-US" sz="1600" b="1" kern="1200">
                          <a:solidFill>
                            <a:schemeClr val="lt1"/>
                          </a:solidFill>
                        </a:rPr>
                        <a:t>K?</a:t>
                      </a:r>
                      <a:endParaRPr lang="en-BE" sz="1600" b="1" kern="120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0</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a:solidFill>
                            <a:schemeClr val="dk1"/>
                          </a:solidFill>
                          <a:latin typeface="Cascadia Code" panose="020B0609020000020004" pitchFamily="49" charset="0"/>
                          <a:cs typeface="Cascadia Code" panose="020B0609020000020004" pitchFamily="49" charset="0"/>
                        </a:rPr>
                        <a:t>1</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3325137569"/>
                  </a:ext>
                </a:extLst>
              </a:tr>
              <a:tr h="2147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BE" sz="1600" b="1" kern="1200" dirty="0">
                          <a:solidFill>
                            <a:schemeClr val="lt1"/>
                          </a:solidFill>
                        </a:rPr>
                        <a:t>…</a:t>
                      </a:r>
                      <a:endParaRPr lang="en-BE" sz="1600" b="1" kern="120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a:solidFill>
                            <a:schemeClr val="dk1"/>
                          </a:solidFill>
                          <a:latin typeface="Cascadia Code" panose="020B0609020000020004" pitchFamily="49" charset="0"/>
                          <a:cs typeface="Cascadia Code" panose="020B0609020000020004" pitchFamily="49" charset="0"/>
                        </a:rPr>
                        <a:t>…</a:t>
                      </a:r>
                      <a:endParaRPr lang="en-BE" sz="1600" kern="120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BE" sz="1600" kern="1200" dirty="0">
                          <a:solidFill>
                            <a:schemeClr val="dk1"/>
                          </a:solidFill>
                          <a:latin typeface="Cascadia Code" panose="020B0609020000020004" pitchFamily="49" charset="0"/>
                          <a:cs typeface="Cascadia Code" panose="020B0609020000020004" pitchFamily="49" charset="0"/>
                        </a:rPr>
                        <a:t>…</a:t>
                      </a:r>
                      <a:endParaRPr lang="en-BE" sz="1600" kern="120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304798429"/>
                  </a:ext>
                </a:extLst>
              </a:tr>
            </a:tbl>
          </a:graphicData>
        </a:graphic>
      </p:graphicFrame>
      <p:sp>
        <p:nvSpPr>
          <p:cNvPr id="16" name="TextBox 15">
            <a:extLst>
              <a:ext uri="{FF2B5EF4-FFF2-40B4-BE49-F238E27FC236}">
                <a16:creationId xmlns:a16="http://schemas.microsoft.com/office/drawing/2014/main" id="{F10E7681-B816-6ADA-C5AF-13C7D9AF533F}"/>
              </a:ext>
            </a:extLst>
          </p:cNvPr>
          <p:cNvSpPr txBox="1"/>
          <p:nvPr/>
        </p:nvSpPr>
        <p:spPr>
          <a:xfrm>
            <a:off x="918212" y="2243399"/>
            <a:ext cx="2577940" cy="338554"/>
          </a:xfrm>
          <a:prstGeom prst="rect">
            <a:avLst/>
          </a:prstGeom>
          <a:noFill/>
        </p:spPr>
        <p:txBody>
          <a:bodyPr wrap="square" rtlCol="0">
            <a:spAutoFit/>
          </a:bodyPr>
          <a:lstStyle/>
          <a:p>
            <a:pPr algn="ctr"/>
            <a:r>
              <a:rPr lang="en-US" sz="1600" dirty="0">
                <a:latin typeface="Cascadia Code" panose="020B0609020000020004" pitchFamily="49" charset="0"/>
                <a:ea typeface="Cascadia Code" panose="020B0609020000020004" pitchFamily="49" charset="0"/>
                <a:cs typeface="Cascadia Code" panose="020B0609020000020004" pitchFamily="49" charset="0"/>
              </a:rPr>
              <a:t>ACDTK</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p:txBody>
      </p:sp>
      <p:graphicFrame>
        <p:nvGraphicFramePr>
          <p:cNvPr id="17" name="Table 16">
            <a:extLst>
              <a:ext uri="{FF2B5EF4-FFF2-40B4-BE49-F238E27FC236}">
                <a16:creationId xmlns:a16="http://schemas.microsoft.com/office/drawing/2014/main" id="{A73825ED-974B-9036-0DBC-B31F8DFC6F18}"/>
              </a:ext>
            </a:extLst>
          </p:cNvPr>
          <p:cNvGraphicFramePr>
            <a:graphicFrameLocks noGrp="1"/>
          </p:cNvGraphicFramePr>
          <p:nvPr>
            <p:extLst>
              <p:ext uri="{D42A27DB-BD31-4B8C-83A1-F6EECF244321}">
                <p14:modId xmlns:p14="http://schemas.microsoft.com/office/powerpoint/2010/main" val="359872452"/>
              </p:ext>
            </p:extLst>
          </p:nvPr>
        </p:nvGraphicFramePr>
        <p:xfrm>
          <a:off x="554566" y="3580931"/>
          <a:ext cx="3453422" cy="1219200"/>
        </p:xfrm>
        <a:graphic>
          <a:graphicData uri="http://schemas.openxmlformats.org/drawingml/2006/table">
            <a:tbl>
              <a:tblPr firstRow="1" firstCol="1" bandRow="1">
                <a:tableStyleId>{00A15C55-8517-42AA-B614-E9B94910E393}</a:tableStyleId>
              </a:tblPr>
              <a:tblGrid>
                <a:gridCol w="923182">
                  <a:extLst>
                    <a:ext uri="{9D8B030D-6E8A-4147-A177-3AD203B41FA5}">
                      <a16:colId xmlns:a16="http://schemas.microsoft.com/office/drawing/2014/main" val="1188680553"/>
                    </a:ext>
                  </a:extLst>
                </a:gridCol>
                <a:gridCol w="506048">
                  <a:extLst>
                    <a:ext uri="{9D8B030D-6E8A-4147-A177-3AD203B41FA5}">
                      <a16:colId xmlns:a16="http://schemas.microsoft.com/office/drawing/2014/main" val="2741127273"/>
                    </a:ext>
                  </a:extLst>
                </a:gridCol>
                <a:gridCol w="506048">
                  <a:extLst>
                    <a:ext uri="{9D8B030D-6E8A-4147-A177-3AD203B41FA5}">
                      <a16:colId xmlns:a16="http://schemas.microsoft.com/office/drawing/2014/main" val="1081182108"/>
                    </a:ext>
                  </a:extLst>
                </a:gridCol>
                <a:gridCol w="506048">
                  <a:extLst>
                    <a:ext uri="{9D8B030D-6E8A-4147-A177-3AD203B41FA5}">
                      <a16:colId xmlns:a16="http://schemas.microsoft.com/office/drawing/2014/main" val="3000755966"/>
                    </a:ext>
                  </a:extLst>
                </a:gridCol>
                <a:gridCol w="506048">
                  <a:extLst>
                    <a:ext uri="{9D8B030D-6E8A-4147-A177-3AD203B41FA5}">
                      <a16:colId xmlns:a16="http://schemas.microsoft.com/office/drawing/2014/main" val="2383520344"/>
                    </a:ext>
                  </a:extLst>
                </a:gridCol>
                <a:gridCol w="506048">
                  <a:extLst>
                    <a:ext uri="{9D8B030D-6E8A-4147-A177-3AD203B41FA5}">
                      <a16:colId xmlns:a16="http://schemas.microsoft.com/office/drawing/2014/main" val="3205809761"/>
                    </a:ext>
                  </a:extLst>
                </a:gridCol>
              </a:tblGrid>
              <a:tr h="241552">
                <a:tc>
                  <a:txBody>
                    <a:bodyPr/>
                    <a:lstStyle/>
                    <a:p>
                      <a:pPr algn="ct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dirty="0"/>
                        <a:t>A</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t>C</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t>D</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dirty="0"/>
                        <a:t>T</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t>K</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65700731"/>
                  </a:ext>
                </a:extLst>
              </a:tr>
              <a:tr h="241552">
                <a:tc>
                  <a:txBody>
                    <a:bodyPr/>
                    <a:lstStyle/>
                    <a:p>
                      <a:pPr algn="ctr"/>
                      <a:r>
                        <a:rPr lang="en-US" sz="1600"/>
                        <a:t>Basi</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37</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35</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59</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129</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dirty="0">
                          <a:latin typeface="Cascadia Code" panose="020B0609020000020004" pitchFamily="49" charset="0"/>
                          <a:cs typeface="Cascadia Code" panose="020B0609020000020004" pitchFamily="49" charset="0"/>
                        </a:rPr>
                        <a:t>191</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807118962"/>
                  </a:ext>
                </a:extLst>
              </a:tr>
              <a:tr h="241552">
                <a:tc>
                  <a:txBody>
                    <a:bodyPr/>
                    <a:lstStyle/>
                    <a:p>
                      <a:pPr algn="ctr"/>
                      <a:r>
                        <a:rPr lang="en-US" sz="1600"/>
                        <a:t>Heli</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68</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23</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dirty="0">
                          <a:latin typeface="Cascadia Code" panose="020B0609020000020004" pitchFamily="49" charset="0"/>
                          <a:cs typeface="Cascadia Code" panose="020B0609020000020004" pitchFamily="49" charset="0"/>
                        </a:rPr>
                        <a:t>33</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dirty="0">
                          <a:latin typeface="Cascadia Code" panose="020B0609020000020004" pitchFamily="49" charset="0"/>
                          <a:cs typeface="Cascadia Code" panose="020B0609020000020004" pitchFamily="49" charset="0"/>
                        </a:rPr>
                        <a:t>29</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dirty="0">
                          <a:latin typeface="Cascadia Code" panose="020B0609020000020004" pitchFamily="49" charset="0"/>
                          <a:cs typeface="Cascadia Code" panose="020B0609020000020004" pitchFamily="49" charset="0"/>
                        </a:rPr>
                        <a:t>32</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2159611518"/>
                  </a:ext>
                </a:extLst>
              </a:tr>
              <a:tr h="241552">
                <a:tc>
                  <a:txBody>
                    <a:bodyPr/>
                    <a:lstStyle/>
                    <a:p>
                      <a:pPr algn="ctr"/>
                      <a:r>
                        <a:rPr lang="en-US" sz="1600" err="1"/>
                        <a:t>Hydr</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51</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75</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25</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35</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0</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106277594"/>
                  </a:ext>
                </a:extLst>
              </a:tr>
              <a:tr h="241552">
                <a:tc>
                  <a:txBody>
                    <a:bodyPr/>
                    <a:lstStyle/>
                    <a:p>
                      <a:pPr algn="ctr"/>
                      <a:r>
                        <a:rPr lang="en-US" sz="1600"/>
                        <a:t>pI</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32</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latin typeface="Cascadia Code" panose="020B0609020000020004" pitchFamily="49" charset="0"/>
                          <a:cs typeface="Cascadia Code" panose="020B0609020000020004" pitchFamily="49" charset="0"/>
                        </a:rPr>
                        <a:t>23</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dirty="0">
                          <a:latin typeface="Cascadia Code" panose="020B0609020000020004" pitchFamily="49" charset="0"/>
                          <a:cs typeface="Cascadia Code" panose="020B0609020000020004" pitchFamily="49" charset="0"/>
                        </a:rPr>
                        <a:t>0</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dirty="0">
                          <a:latin typeface="Cascadia Code" panose="020B0609020000020004" pitchFamily="49" charset="0"/>
                          <a:cs typeface="Cascadia Code" panose="020B0609020000020004" pitchFamily="49" charset="0"/>
                        </a:rPr>
                        <a:t>27</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dirty="0">
                          <a:latin typeface="Cascadia Code" panose="020B0609020000020004" pitchFamily="49" charset="0"/>
                          <a:cs typeface="Cascadia Code" panose="020B0609020000020004" pitchFamily="49" charset="0"/>
                        </a:rPr>
                        <a:t>69</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3760272950"/>
                  </a:ext>
                </a:extLst>
              </a:tr>
            </a:tbl>
          </a:graphicData>
        </a:graphic>
      </p:graphicFrame>
      <p:cxnSp>
        <p:nvCxnSpPr>
          <p:cNvPr id="19" name="Straight Arrow Connector 18">
            <a:extLst>
              <a:ext uri="{FF2B5EF4-FFF2-40B4-BE49-F238E27FC236}">
                <a16:creationId xmlns:a16="http://schemas.microsoft.com/office/drawing/2014/main" id="{D5B692F6-1F26-DD7E-1840-43D296EAE61E}"/>
              </a:ext>
            </a:extLst>
          </p:cNvPr>
          <p:cNvCxnSpPr>
            <a:cxnSpLocks/>
          </p:cNvCxnSpPr>
          <p:nvPr/>
        </p:nvCxnSpPr>
        <p:spPr>
          <a:xfrm>
            <a:off x="6096000" y="2802835"/>
            <a:ext cx="0" cy="4174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22" name="Table 21">
            <a:extLst>
              <a:ext uri="{FF2B5EF4-FFF2-40B4-BE49-F238E27FC236}">
                <a16:creationId xmlns:a16="http://schemas.microsoft.com/office/drawing/2014/main" id="{C3EA37B3-7441-41A0-34CC-4EC096D62FB0}"/>
              </a:ext>
            </a:extLst>
          </p:cNvPr>
          <p:cNvGraphicFramePr>
            <a:graphicFrameLocks noGrp="1"/>
          </p:cNvGraphicFramePr>
          <p:nvPr>
            <p:extLst>
              <p:ext uri="{D42A27DB-BD31-4B8C-83A1-F6EECF244321}">
                <p14:modId xmlns:p14="http://schemas.microsoft.com/office/powerpoint/2010/main" val="3246139215"/>
              </p:ext>
            </p:extLst>
          </p:nvPr>
        </p:nvGraphicFramePr>
        <p:xfrm>
          <a:off x="8295665" y="3571879"/>
          <a:ext cx="3453420" cy="2232664"/>
        </p:xfrm>
        <a:graphic>
          <a:graphicData uri="http://schemas.openxmlformats.org/drawingml/2006/table">
            <a:tbl>
              <a:tblPr firstRow="1" bandRow="1">
                <a:tableStyleId>{21E4AEA4-8DFA-4A89-87EB-49C32662AFE0}</a:tableStyleId>
              </a:tblPr>
              <a:tblGrid>
                <a:gridCol w="690684">
                  <a:extLst>
                    <a:ext uri="{9D8B030D-6E8A-4147-A177-3AD203B41FA5}">
                      <a16:colId xmlns:a16="http://schemas.microsoft.com/office/drawing/2014/main" val="2741127273"/>
                    </a:ext>
                  </a:extLst>
                </a:gridCol>
                <a:gridCol w="690684">
                  <a:extLst>
                    <a:ext uri="{9D8B030D-6E8A-4147-A177-3AD203B41FA5}">
                      <a16:colId xmlns:a16="http://schemas.microsoft.com/office/drawing/2014/main" val="1081182108"/>
                    </a:ext>
                  </a:extLst>
                </a:gridCol>
                <a:gridCol w="690684">
                  <a:extLst>
                    <a:ext uri="{9D8B030D-6E8A-4147-A177-3AD203B41FA5}">
                      <a16:colId xmlns:a16="http://schemas.microsoft.com/office/drawing/2014/main" val="3000755966"/>
                    </a:ext>
                  </a:extLst>
                </a:gridCol>
                <a:gridCol w="690684">
                  <a:extLst>
                    <a:ext uri="{9D8B030D-6E8A-4147-A177-3AD203B41FA5}">
                      <a16:colId xmlns:a16="http://schemas.microsoft.com/office/drawing/2014/main" val="2383520344"/>
                    </a:ext>
                  </a:extLst>
                </a:gridCol>
                <a:gridCol w="690684">
                  <a:extLst>
                    <a:ext uri="{9D8B030D-6E8A-4147-A177-3AD203B41FA5}">
                      <a16:colId xmlns:a16="http://schemas.microsoft.com/office/drawing/2014/main" val="3205809761"/>
                    </a:ext>
                  </a:extLst>
                </a:gridCol>
              </a:tblGrid>
              <a:tr h="241552">
                <a:tc>
                  <a:txBody>
                    <a:bodyPr/>
                    <a:lstStyle/>
                    <a:p>
                      <a:pPr algn="ctr"/>
                      <a:r>
                        <a:rPr lang="en-US" sz="1600" dirty="0"/>
                        <a:t>A</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t>C</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t>D</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dirty="0"/>
                        <a:t>T</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a:t>K</a:t>
                      </a:r>
                      <a:endParaRPr lang="en-BE" sz="160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65700731"/>
                  </a:ext>
                </a:extLst>
              </a:tr>
              <a:tr h="241552">
                <a:tc>
                  <a:txBody>
                    <a:bodyPr/>
                    <a:lstStyle/>
                    <a:p>
                      <a:pPr algn="ctr" fontAlgn="b">
                        <a:buNone/>
                      </a:pPr>
                      <a:r>
                        <a:rPr lang="en-BE" sz="1600" kern="1200" dirty="0">
                          <a:solidFill>
                            <a:schemeClr val="dk1"/>
                          </a:solidFill>
                          <a:latin typeface="Cascadia Code" panose="020B0609020000020004" pitchFamily="49" charset="0"/>
                          <a:ea typeface="+mn-ea"/>
                          <a:cs typeface="Cascadia Code" panose="020B0609020000020004" pitchFamily="49" charset="0"/>
                        </a:rPr>
                        <a:t>0.73</a:t>
                      </a:r>
                    </a:p>
                  </a:txBody>
                  <a:tcPr marL="4763" marR="4763" marT="4763" marB="0" anchor="b"/>
                </a:tc>
                <a:tc>
                  <a:txBody>
                    <a:bodyPr/>
                    <a:lstStyle/>
                    <a:p>
                      <a:pPr algn="ctr" fontAlgn="b">
                        <a:buNone/>
                      </a:pPr>
                      <a:r>
                        <a:rPr lang="en-BE" sz="1600" kern="1200" dirty="0">
                          <a:solidFill>
                            <a:schemeClr val="dk1"/>
                          </a:solidFill>
                          <a:latin typeface="Cascadia Code" panose="020B0609020000020004" pitchFamily="49" charset="0"/>
                          <a:ea typeface="+mn-ea"/>
                          <a:cs typeface="Cascadia Code" panose="020B0609020000020004" pitchFamily="49" charset="0"/>
                        </a:rPr>
                        <a:t>0.14</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0.88</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0.46</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0.21</a:t>
                      </a:r>
                    </a:p>
                  </a:txBody>
                  <a:tcPr marL="4763" marR="4763" marT="4763" marB="0" anchor="b"/>
                </a:tc>
                <a:extLst>
                  <a:ext uri="{0D108BD9-81ED-4DB2-BD59-A6C34878D82A}">
                    <a16:rowId xmlns:a16="http://schemas.microsoft.com/office/drawing/2014/main" val="1807118962"/>
                  </a:ext>
                </a:extLst>
              </a:tr>
              <a:tr h="241552">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0.57</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0.95</a:t>
                      </a:r>
                    </a:p>
                  </a:txBody>
                  <a:tcPr marL="4763" marR="4763" marT="4763" marB="0" anchor="b"/>
                </a:tc>
                <a:tc>
                  <a:txBody>
                    <a:bodyPr/>
                    <a:lstStyle/>
                    <a:p>
                      <a:pPr algn="ctr" fontAlgn="b">
                        <a:buNone/>
                      </a:pPr>
                      <a:r>
                        <a:rPr lang="en-BE" sz="1600" kern="1200" dirty="0">
                          <a:solidFill>
                            <a:schemeClr val="dk1"/>
                          </a:solidFill>
                          <a:latin typeface="Cascadia Code" panose="020B0609020000020004" pitchFamily="49" charset="0"/>
                          <a:ea typeface="+mn-ea"/>
                          <a:cs typeface="Cascadia Code" panose="020B0609020000020004" pitchFamily="49" charset="0"/>
                        </a:rPr>
                        <a:t>0.32</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0.69</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0.04</a:t>
                      </a:r>
                    </a:p>
                  </a:txBody>
                  <a:tcPr marL="4763" marR="4763" marT="4763" marB="0" anchor="b"/>
                </a:tc>
                <a:extLst>
                  <a:ext uri="{0D108BD9-81ED-4DB2-BD59-A6C34878D82A}">
                    <a16:rowId xmlns:a16="http://schemas.microsoft.com/office/drawing/2014/main" val="2159611518"/>
                  </a:ext>
                </a:extLst>
              </a:tr>
              <a:tr h="241552">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0.81</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0.27</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0.53</a:t>
                      </a:r>
                    </a:p>
                  </a:txBody>
                  <a:tcPr marL="4763" marR="4763" marT="4763" marB="0" anchor="b"/>
                </a:tc>
                <a:tc>
                  <a:txBody>
                    <a:bodyPr/>
                    <a:lstStyle/>
                    <a:p>
                      <a:pPr algn="ctr" fontAlgn="b">
                        <a:buNone/>
                      </a:pPr>
                      <a:r>
                        <a:rPr lang="en-BE" sz="1600" kern="1200" dirty="0">
                          <a:solidFill>
                            <a:schemeClr val="dk1"/>
                          </a:solidFill>
                          <a:latin typeface="Cascadia Code" panose="020B0609020000020004" pitchFamily="49" charset="0"/>
                          <a:ea typeface="+mn-ea"/>
                          <a:cs typeface="Cascadia Code" panose="020B0609020000020004" pitchFamily="49" charset="0"/>
                        </a:rPr>
                        <a:t>0.10</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0.76</a:t>
                      </a:r>
                    </a:p>
                  </a:txBody>
                  <a:tcPr marL="4763" marR="4763" marT="4763" marB="0" anchor="b"/>
                </a:tc>
                <a:extLst>
                  <a:ext uri="{0D108BD9-81ED-4DB2-BD59-A6C34878D82A}">
                    <a16:rowId xmlns:a16="http://schemas.microsoft.com/office/drawing/2014/main" val="1106277594"/>
                  </a:ext>
                </a:extLst>
              </a:tr>
              <a:tr h="241552">
                <a:tc>
                  <a:txBody>
                    <a:bodyPr/>
                    <a:lstStyle/>
                    <a:p>
                      <a:pPr algn="ctr" fontAlgn="b">
                        <a:buNone/>
                      </a:pPr>
                      <a:r>
                        <a:rPr lang="en-BE" sz="1600" kern="1200" dirty="0">
                          <a:solidFill>
                            <a:schemeClr val="dk1"/>
                          </a:solidFill>
                          <a:latin typeface="Cascadia Code" panose="020B0609020000020004" pitchFamily="49" charset="0"/>
                          <a:ea typeface="+mn-ea"/>
                          <a:cs typeface="Cascadia Code" panose="020B0609020000020004" pitchFamily="49" charset="0"/>
                        </a:rPr>
                        <a:t>0.38</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0.62</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0.17</a:t>
                      </a:r>
                    </a:p>
                  </a:txBody>
                  <a:tcPr marL="4763" marR="4763" marT="4763" marB="0" anchor="b"/>
                </a:tc>
                <a:tc>
                  <a:txBody>
                    <a:bodyPr/>
                    <a:lstStyle/>
                    <a:p>
                      <a:pPr algn="ctr" fontAlgn="b">
                        <a:buNone/>
                      </a:pPr>
                      <a:r>
                        <a:rPr lang="en-BE" sz="1600" kern="1200" dirty="0">
                          <a:solidFill>
                            <a:schemeClr val="dk1"/>
                          </a:solidFill>
                          <a:latin typeface="Cascadia Code" panose="020B0609020000020004" pitchFamily="49" charset="0"/>
                          <a:ea typeface="+mn-ea"/>
                          <a:cs typeface="Cascadia Code" panose="020B0609020000020004" pitchFamily="49" charset="0"/>
                        </a:rPr>
                        <a:t>0.84</a:t>
                      </a:r>
                    </a:p>
                  </a:txBody>
                  <a:tcPr marL="4763" marR="4763" marT="4763" marB="0" anchor="b"/>
                </a:tc>
                <a:tc>
                  <a:txBody>
                    <a:bodyPr/>
                    <a:lstStyle/>
                    <a:p>
                      <a:pPr algn="ctr" fontAlgn="b">
                        <a:buNone/>
                      </a:pPr>
                      <a:r>
                        <a:rPr lang="en-BE" sz="1600" kern="1200" dirty="0">
                          <a:solidFill>
                            <a:schemeClr val="dk1"/>
                          </a:solidFill>
                          <a:latin typeface="Cascadia Code" panose="020B0609020000020004" pitchFamily="49" charset="0"/>
                          <a:ea typeface="+mn-ea"/>
                          <a:cs typeface="Cascadia Code" panose="020B0609020000020004" pitchFamily="49" charset="0"/>
                        </a:rPr>
                        <a:t>0.49</a:t>
                      </a:r>
                    </a:p>
                  </a:txBody>
                  <a:tcPr marL="4763" marR="4763" marT="4763" marB="0" anchor="b"/>
                </a:tc>
                <a:extLst>
                  <a:ext uri="{0D108BD9-81ED-4DB2-BD59-A6C34878D82A}">
                    <a16:rowId xmlns:a16="http://schemas.microsoft.com/office/drawing/2014/main" val="3760272950"/>
                  </a:ext>
                </a:extLst>
              </a:tr>
              <a:tr h="241552">
                <a:tc>
                  <a:txBody>
                    <a:bodyPr/>
                    <a:lstStyle/>
                    <a:p>
                      <a:pPr algn="ctr" fontAlgn="b">
                        <a:buNone/>
                      </a:pPr>
                      <a:r>
                        <a:rPr lang="en-BE" sz="1600" kern="1200" dirty="0">
                          <a:solidFill>
                            <a:schemeClr val="dk1"/>
                          </a:solidFill>
                          <a:latin typeface="Cascadia Code" panose="020B0609020000020004" pitchFamily="49" charset="0"/>
                          <a:ea typeface="+mn-ea"/>
                          <a:cs typeface="Cascadia Code" panose="020B0609020000020004" pitchFamily="49" charset="0"/>
                        </a:rPr>
                        <a:t>0.92</a:t>
                      </a:r>
                    </a:p>
                  </a:txBody>
                  <a:tcPr marL="4763" marR="4763" marT="4763" marB="0" anchor="b"/>
                </a:tc>
                <a:tc>
                  <a:txBody>
                    <a:bodyPr/>
                    <a:lstStyle/>
                    <a:p>
                      <a:pPr algn="ctr" fontAlgn="b">
                        <a:buNone/>
                      </a:pPr>
                      <a:r>
                        <a:rPr lang="en-BE" sz="1600" kern="1200" dirty="0">
                          <a:solidFill>
                            <a:schemeClr val="dk1"/>
                          </a:solidFill>
                          <a:latin typeface="Cascadia Code" panose="020B0609020000020004" pitchFamily="49" charset="0"/>
                          <a:ea typeface="+mn-ea"/>
                          <a:cs typeface="Cascadia Code" panose="020B0609020000020004" pitchFamily="49" charset="0"/>
                        </a:rPr>
                        <a:t>0.35</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0.58</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0.07</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0.64</a:t>
                      </a:r>
                    </a:p>
                  </a:txBody>
                  <a:tcPr marL="4763" marR="4763" marT="4763" marB="0" anchor="b"/>
                </a:tc>
                <a:extLst>
                  <a:ext uri="{0D108BD9-81ED-4DB2-BD59-A6C34878D82A}">
                    <a16:rowId xmlns:a16="http://schemas.microsoft.com/office/drawing/2014/main" val="878138867"/>
                  </a:ext>
                </a:extLst>
              </a:tr>
              <a:tr h="241552">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0.11</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0.79</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0.43</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0.96</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0.28</a:t>
                      </a:r>
                    </a:p>
                  </a:txBody>
                  <a:tcPr marL="4763" marR="4763" marT="4763" marB="0" anchor="b"/>
                </a:tc>
                <a:extLst>
                  <a:ext uri="{0D108BD9-81ED-4DB2-BD59-A6C34878D82A}">
                    <a16:rowId xmlns:a16="http://schemas.microsoft.com/office/drawing/2014/main" val="1727455474"/>
                  </a:ext>
                </a:extLst>
              </a:tr>
              <a:tr h="241552">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0.67</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0.24</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0.85</a:t>
                      </a:r>
                    </a:p>
                  </a:txBody>
                  <a:tcPr marL="4763" marR="4763" marT="4763" marB="0" anchor="b"/>
                </a:tc>
                <a:tc>
                  <a:txBody>
                    <a:bodyPr/>
                    <a:lstStyle/>
                    <a:p>
                      <a:pPr algn="ctr" fontAlgn="b">
                        <a:buNone/>
                      </a:pPr>
                      <a:r>
                        <a:rPr lang="en-BE" sz="1600" kern="1200" dirty="0">
                          <a:solidFill>
                            <a:schemeClr val="dk1"/>
                          </a:solidFill>
                          <a:latin typeface="Cascadia Code" panose="020B0609020000020004" pitchFamily="49" charset="0"/>
                          <a:ea typeface="+mn-ea"/>
                          <a:cs typeface="Cascadia Code" panose="020B0609020000020004" pitchFamily="49" charset="0"/>
                        </a:rPr>
                        <a:t>0.51</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0.13</a:t>
                      </a:r>
                    </a:p>
                  </a:txBody>
                  <a:tcPr marL="4763" marR="4763" marT="4763" marB="0" anchor="b"/>
                </a:tc>
                <a:extLst>
                  <a:ext uri="{0D108BD9-81ED-4DB2-BD59-A6C34878D82A}">
                    <a16:rowId xmlns:a16="http://schemas.microsoft.com/office/drawing/2014/main" val="1132480066"/>
                  </a:ext>
                </a:extLst>
              </a:tr>
              <a:tr h="241552">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0.40</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0.73</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0.19</a:t>
                      </a:r>
                    </a:p>
                  </a:txBody>
                  <a:tcPr marL="4763" marR="4763" marT="4763" marB="0" anchor="b"/>
                </a:tc>
                <a:tc>
                  <a:txBody>
                    <a:bodyPr/>
                    <a:lstStyle/>
                    <a:p>
                      <a:pPr algn="ctr" fontAlgn="b">
                        <a:buNone/>
                      </a:pPr>
                      <a:r>
                        <a:rPr lang="en-BE" sz="1600" kern="1200">
                          <a:solidFill>
                            <a:schemeClr val="dk1"/>
                          </a:solidFill>
                          <a:latin typeface="Cascadia Code" panose="020B0609020000020004" pitchFamily="49" charset="0"/>
                          <a:ea typeface="+mn-ea"/>
                          <a:cs typeface="Cascadia Code" panose="020B0609020000020004" pitchFamily="49" charset="0"/>
                        </a:rPr>
                        <a:t>0.60</a:t>
                      </a:r>
                    </a:p>
                  </a:txBody>
                  <a:tcPr marL="4763" marR="4763" marT="4763" marB="0" anchor="b"/>
                </a:tc>
                <a:tc>
                  <a:txBody>
                    <a:bodyPr/>
                    <a:lstStyle/>
                    <a:p>
                      <a:pPr algn="ctr" fontAlgn="b">
                        <a:buNone/>
                      </a:pPr>
                      <a:r>
                        <a:rPr lang="en-BE" sz="1600" kern="1200" dirty="0">
                          <a:solidFill>
                            <a:schemeClr val="dk1"/>
                          </a:solidFill>
                          <a:latin typeface="Cascadia Code" panose="020B0609020000020004" pitchFamily="49" charset="0"/>
                          <a:ea typeface="+mn-ea"/>
                          <a:cs typeface="Cascadia Code" panose="020B0609020000020004" pitchFamily="49" charset="0"/>
                        </a:rPr>
                        <a:t>0.88</a:t>
                      </a:r>
                    </a:p>
                  </a:txBody>
                  <a:tcPr marL="4763" marR="4763" marT="4763" marB="0" anchor="b"/>
                </a:tc>
                <a:extLst>
                  <a:ext uri="{0D108BD9-81ED-4DB2-BD59-A6C34878D82A}">
                    <a16:rowId xmlns:a16="http://schemas.microsoft.com/office/drawing/2014/main" val="3741051634"/>
                  </a:ext>
                </a:extLst>
              </a:tr>
            </a:tbl>
          </a:graphicData>
        </a:graphic>
      </p:graphicFrame>
      <p:sp>
        <p:nvSpPr>
          <p:cNvPr id="27" name="TextBox 26">
            <a:extLst>
              <a:ext uri="{FF2B5EF4-FFF2-40B4-BE49-F238E27FC236}">
                <a16:creationId xmlns:a16="http://schemas.microsoft.com/office/drawing/2014/main" id="{0AE5EC27-AA37-B09D-3269-578720A1FF1C}"/>
              </a:ext>
            </a:extLst>
          </p:cNvPr>
          <p:cNvSpPr txBox="1"/>
          <p:nvPr/>
        </p:nvSpPr>
        <p:spPr>
          <a:xfrm>
            <a:off x="4807030" y="2243399"/>
            <a:ext cx="2577940" cy="338554"/>
          </a:xfrm>
          <a:prstGeom prst="rect">
            <a:avLst/>
          </a:prstGeom>
          <a:noFill/>
        </p:spPr>
        <p:txBody>
          <a:bodyPr wrap="square" rtlCol="0">
            <a:spAutoFit/>
          </a:bodyPr>
          <a:lstStyle/>
          <a:p>
            <a:pPr algn="ctr"/>
            <a:r>
              <a:rPr lang="en-US" sz="1600" dirty="0">
                <a:latin typeface="Cascadia Code" panose="020B0609020000020004" pitchFamily="49" charset="0"/>
                <a:ea typeface="Cascadia Code" panose="020B0609020000020004" pitchFamily="49" charset="0"/>
                <a:cs typeface="Cascadia Code" panose="020B0609020000020004" pitchFamily="49" charset="0"/>
              </a:rPr>
              <a:t>ACDTK</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28" name="TextBox 27">
            <a:extLst>
              <a:ext uri="{FF2B5EF4-FFF2-40B4-BE49-F238E27FC236}">
                <a16:creationId xmlns:a16="http://schemas.microsoft.com/office/drawing/2014/main" id="{AE531386-7B47-E190-A785-66D62701818C}"/>
              </a:ext>
            </a:extLst>
          </p:cNvPr>
          <p:cNvSpPr txBox="1"/>
          <p:nvPr/>
        </p:nvSpPr>
        <p:spPr>
          <a:xfrm>
            <a:off x="8639070" y="2239230"/>
            <a:ext cx="2577940" cy="338554"/>
          </a:xfrm>
          <a:prstGeom prst="rect">
            <a:avLst/>
          </a:prstGeom>
          <a:noFill/>
        </p:spPr>
        <p:txBody>
          <a:bodyPr wrap="square" rtlCol="0">
            <a:spAutoFit/>
          </a:bodyPr>
          <a:lstStyle/>
          <a:p>
            <a:pPr algn="ctr"/>
            <a:r>
              <a:rPr lang="en-US" sz="1600" dirty="0">
                <a:latin typeface="Cascadia Code" panose="020B0609020000020004" pitchFamily="49" charset="0"/>
                <a:ea typeface="Cascadia Code" panose="020B0609020000020004" pitchFamily="49" charset="0"/>
                <a:cs typeface="Cascadia Code" panose="020B0609020000020004" pitchFamily="49" charset="0"/>
              </a:rPr>
              <a:t>ACDTK</a:t>
            </a:r>
            <a:endParaRPr lang="en-BE" sz="16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34" name="Free-form: Shape 33">
            <a:extLst>
              <a:ext uri="{FF2B5EF4-FFF2-40B4-BE49-F238E27FC236}">
                <a16:creationId xmlns:a16="http://schemas.microsoft.com/office/drawing/2014/main" id="{46E6CC2A-A52E-084B-46EB-E8C041687281}"/>
              </a:ext>
            </a:extLst>
          </p:cNvPr>
          <p:cNvSpPr/>
          <p:nvPr/>
        </p:nvSpPr>
        <p:spPr>
          <a:xfrm rot="5400000">
            <a:off x="9622175" y="2667551"/>
            <a:ext cx="653826" cy="653858"/>
          </a:xfrm>
          <a:custGeom>
            <a:avLst/>
            <a:gdLst>
              <a:gd name="csX0" fmla="*/ 676277 w 781049"/>
              <a:gd name="csY0" fmla="*/ 438186 h 781086"/>
              <a:gd name="csX1" fmla="*/ 599407 w 781049"/>
              <a:gd name="csY1" fmla="*/ 472008 h 781086"/>
              <a:gd name="csX2" fmla="*/ 493108 w 781049"/>
              <a:gd name="csY2" fmla="*/ 390561 h 781086"/>
              <a:gd name="csX3" fmla="*/ 599293 w 781049"/>
              <a:gd name="csY3" fmla="*/ 309115 h 781086"/>
              <a:gd name="csX4" fmla="*/ 676274 w 781049"/>
              <a:gd name="csY4" fmla="*/ 342936 h 781086"/>
              <a:gd name="csX5" fmla="*/ 781049 w 781049"/>
              <a:gd name="csY5" fmla="*/ 238161 h 781086"/>
              <a:gd name="csX6" fmla="*/ 676274 w 781049"/>
              <a:gd name="csY6" fmla="*/ 133386 h 781086"/>
              <a:gd name="csX7" fmla="*/ 576824 w 781049"/>
              <a:gd name="csY7" fmla="*/ 205196 h 781086"/>
              <a:gd name="csX8" fmla="*/ 208473 w 781049"/>
              <a:gd name="csY8" fmla="*/ 119174 h 781086"/>
              <a:gd name="csX9" fmla="*/ 209626 w 781049"/>
              <a:gd name="csY9" fmla="*/ 104775 h 781086"/>
              <a:gd name="csX10" fmla="*/ 104851 w 781049"/>
              <a:gd name="csY10" fmla="*/ 0 h 781086"/>
              <a:gd name="csX11" fmla="*/ 0 w 781049"/>
              <a:gd name="csY11" fmla="*/ 104813 h 781086"/>
              <a:gd name="csX12" fmla="*/ 104775 w 781049"/>
              <a:gd name="csY12" fmla="*/ 209588 h 781086"/>
              <a:gd name="csX13" fmla="*/ 181645 w 781049"/>
              <a:gd name="csY13" fmla="*/ 175767 h 781086"/>
              <a:gd name="csX14" fmla="*/ 360124 w 781049"/>
              <a:gd name="csY14" fmla="*/ 312651 h 781086"/>
              <a:gd name="csX15" fmla="*/ 203076 w 781049"/>
              <a:gd name="csY15" fmla="*/ 354471 h 781086"/>
              <a:gd name="csX16" fmla="*/ 104778 w 781049"/>
              <a:gd name="csY16" fmla="*/ 285787 h 781086"/>
              <a:gd name="csX17" fmla="*/ 3 w 781049"/>
              <a:gd name="csY17" fmla="*/ 390562 h 781086"/>
              <a:gd name="csX18" fmla="*/ 104778 w 781049"/>
              <a:gd name="csY18" fmla="*/ 495337 h 781086"/>
              <a:gd name="csX19" fmla="*/ 203076 w 781049"/>
              <a:gd name="csY19" fmla="*/ 426653 h 781086"/>
              <a:gd name="csX20" fmla="*/ 360124 w 781049"/>
              <a:gd name="csY20" fmla="*/ 468474 h 781086"/>
              <a:gd name="csX21" fmla="*/ 181645 w 781049"/>
              <a:gd name="csY21" fmla="*/ 605358 h 781086"/>
              <a:gd name="csX22" fmla="*/ 104775 w 781049"/>
              <a:gd name="csY22" fmla="*/ 571536 h 781086"/>
              <a:gd name="csX23" fmla="*/ 0 w 781049"/>
              <a:gd name="csY23" fmla="*/ 676311 h 781086"/>
              <a:gd name="csX24" fmla="*/ 104775 w 781049"/>
              <a:gd name="csY24" fmla="*/ 781086 h 781086"/>
              <a:gd name="csX25" fmla="*/ 209550 w 781049"/>
              <a:gd name="csY25" fmla="*/ 676311 h 781086"/>
              <a:gd name="csX26" fmla="*/ 208397 w 781049"/>
              <a:gd name="csY26" fmla="*/ 661912 h 781086"/>
              <a:gd name="csX27" fmla="*/ 576747 w 781049"/>
              <a:gd name="csY27" fmla="*/ 575890 h 781086"/>
              <a:gd name="csX28" fmla="*/ 676274 w 781049"/>
              <a:gd name="csY28" fmla="*/ 647737 h 781086"/>
              <a:gd name="csX29" fmla="*/ 781049 w 781049"/>
              <a:gd name="csY29" fmla="*/ 542962 h 781086"/>
              <a:gd name="csX30" fmla="*/ 676274 w 781049"/>
              <a:gd name="csY30" fmla="*/ 438187 h 781086"/>
              <a:gd name="csX31" fmla="*/ 587687 w 781049"/>
              <a:gd name="csY31" fmla="*/ 487039 h 781086"/>
              <a:gd name="csX32" fmla="*/ 577865 w 781049"/>
              <a:gd name="csY32" fmla="*/ 506833 h 781086"/>
              <a:gd name="csX33" fmla="*/ 402433 w 781049"/>
              <a:gd name="csY33" fmla="*/ 460101 h 781086"/>
              <a:gd name="csX34" fmla="*/ 477480 w 781049"/>
              <a:gd name="csY34" fmla="*/ 402579 h 781086"/>
              <a:gd name="csX35" fmla="*/ 577976 w 781049"/>
              <a:gd name="csY35" fmla="*/ 274250 h 781086"/>
              <a:gd name="csX36" fmla="*/ 587798 w 781049"/>
              <a:gd name="csY36" fmla="*/ 294044 h 781086"/>
              <a:gd name="csX37" fmla="*/ 477594 w 781049"/>
              <a:gd name="csY37" fmla="*/ 378542 h 781086"/>
              <a:gd name="csX38" fmla="*/ 402548 w 781049"/>
              <a:gd name="csY38" fmla="*/ 321019 h 781086"/>
              <a:gd name="csX39" fmla="*/ 676274 w 781049"/>
              <a:gd name="csY39" fmla="*/ 152435 h 781086"/>
              <a:gd name="csX40" fmla="*/ 761999 w 781049"/>
              <a:gd name="csY40" fmla="*/ 238160 h 781086"/>
              <a:gd name="csX41" fmla="*/ 676274 w 781049"/>
              <a:gd name="csY41" fmla="*/ 323885 h 781086"/>
              <a:gd name="csX42" fmla="*/ 608260 w 781049"/>
              <a:gd name="csY42" fmla="*/ 290251 h 781086"/>
              <a:gd name="csX43" fmla="*/ 593489 w 781049"/>
              <a:gd name="csY43" fmla="*/ 260336 h 781086"/>
              <a:gd name="csX44" fmla="*/ 590549 w 781049"/>
              <a:gd name="csY44" fmla="*/ 238161 h 781086"/>
              <a:gd name="csX45" fmla="*/ 592744 w 781049"/>
              <a:gd name="csY45" fmla="*/ 218739 h 781086"/>
              <a:gd name="csX46" fmla="*/ 676274 w 781049"/>
              <a:gd name="csY46" fmla="*/ 152436 h 781086"/>
              <a:gd name="csX47" fmla="*/ 104774 w 781049"/>
              <a:gd name="csY47" fmla="*/ 190535 h 781086"/>
              <a:gd name="csX48" fmla="*/ 19049 w 781049"/>
              <a:gd name="csY48" fmla="*/ 104810 h 781086"/>
              <a:gd name="csX49" fmla="*/ 104774 w 781049"/>
              <a:gd name="csY49" fmla="*/ 19085 h 781086"/>
              <a:gd name="csX50" fmla="*/ 190499 w 781049"/>
              <a:gd name="csY50" fmla="*/ 104810 h 781086"/>
              <a:gd name="csX51" fmla="*/ 188304 w 781049"/>
              <a:gd name="csY51" fmla="*/ 124233 h 781086"/>
              <a:gd name="csX52" fmla="*/ 172789 w 781049"/>
              <a:gd name="csY52" fmla="*/ 156901 h 781086"/>
              <a:gd name="csX53" fmla="*/ 104774 w 781049"/>
              <a:gd name="csY53" fmla="*/ 190535 h 781086"/>
              <a:gd name="csX54" fmla="*/ 193253 w 781049"/>
              <a:gd name="csY54" fmla="*/ 160732 h 781086"/>
              <a:gd name="csX55" fmla="*/ 204117 w 781049"/>
              <a:gd name="csY55" fmla="*/ 137775 h 781086"/>
              <a:gd name="csX56" fmla="*/ 572544 w 781049"/>
              <a:gd name="csY56" fmla="*/ 223798 h 781086"/>
              <a:gd name="csX57" fmla="*/ 571391 w 781049"/>
              <a:gd name="csY57" fmla="*/ 238196 h 781086"/>
              <a:gd name="csX58" fmla="*/ 573102 w 781049"/>
              <a:gd name="csY58" fmla="*/ 255833 h 781086"/>
              <a:gd name="csX59" fmla="*/ 383269 w 781049"/>
              <a:gd name="csY59" fmla="*/ 306397 h 781086"/>
              <a:gd name="csX60" fmla="*/ 104774 w 781049"/>
              <a:gd name="csY60" fmla="*/ 476286 h 781086"/>
              <a:gd name="csX61" fmla="*/ 19049 w 781049"/>
              <a:gd name="csY61" fmla="*/ 390561 h 781086"/>
              <a:gd name="csX62" fmla="*/ 104774 w 781049"/>
              <a:gd name="csY62" fmla="*/ 304836 h 781086"/>
              <a:gd name="csX63" fmla="*/ 187560 w 781049"/>
              <a:gd name="csY63" fmla="*/ 368460 h 781086"/>
              <a:gd name="csX64" fmla="*/ 190499 w 781049"/>
              <a:gd name="csY64" fmla="*/ 390561 h 781086"/>
              <a:gd name="csX65" fmla="*/ 187560 w 781049"/>
              <a:gd name="csY65" fmla="*/ 412662 h 781086"/>
              <a:gd name="csX66" fmla="*/ 104774 w 781049"/>
              <a:gd name="csY66" fmla="*/ 476286 h 781086"/>
              <a:gd name="csX67" fmla="*/ 207835 w 781049"/>
              <a:gd name="csY67" fmla="*/ 408198 h 781086"/>
              <a:gd name="csX68" fmla="*/ 209546 w 781049"/>
              <a:gd name="csY68" fmla="*/ 390561 h 781086"/>
              <a:gd name="csX69" fmla="*/ 207835 w 781049"/>
              <a:gd name="csY69" fmla="*/ 372925 h 781086"/>
              <a:gd name="csX70" fmla="*/ 379170 w 781049"/>
              <a:gd name="csY70" fmla="*/ 327309 h 781086"/>
              <a:gd name="csX71" fmla="*/ 461844 w 781049"/>
              <a:gd name="csY71" fmla="*/ 390560 h 781086"/>
              <a:gd name="csX72" fmla="*/ 379245 w 781049"/>
              <a:gd name="csY72" fmla="*/ 453886 h 781086"/>
              <a:gd name="csX73" fmla="*/ 573204 w 781049"/>
              <a:gd name="csY73" fmla="*/ 525327 h 781086"/>
              <a:gd name="csX74" fmla="*/ 571493 w 781049"/>
              <a:gd name="csY74" fmla="*/ 542963 h 781086"/>
              <a:gd name="csX75" fmla="*/ 572646 w 781049"/>
              <a:gd name="csY75" fmla="*/ 557362 h 781086"/>
              <a:gd name="csX76" fmla="*/ 204219 w 781049"/>
              <a:gd name="csY76" fmla="*/ 643384 h 781086"/>
              <a:gd name="csX77" fmla="*/ 193355 w 781049"/>
              <a:gd name="csY77" fmla="*/ 620427 h 781086"/>
              <a:gd name="csX78" fmla="*/ 383483 w 781049"/>
              <a:gd name="csY78" fmla="*/ 474685 h 781086"/>
              <a:gd name="csX79" fmla="*/ 104765 w 781049"/>
              <a:gd name="csY79" fmla="*/ 762042 h 781086"/>
              <a:gd name="csX80" fmla="*/ 19040 w 781049"/>
              <a:gd name="csY80" fmla="*/ 676317 h 781086"/>
              <a:gd name="csX81" fmla="*/ 104765 w 781049"/>
              <a:gd name="csY81" fmla="*/ 590592 h 781086"/>
              <a:gd name="csX82" fmla="*/ 172779 w 781049"/>
              <a:gd name="csY82" fmla="*/ 624227 h 781086"/>
              <a:gd name="csX83" fmla="*/ 188294 w 781049"/>
              <a:gd name="csY83" fmla="*/ 656820 h 781086"/>
              <a:gd name="csX84" fmla="*/ 190489 w 781049"/>
              <a:gd name="csY84" fmla="*/ 676317 h 781086"/>
              <a:gd name="csX85" fmla="*/ 104764 w 781049"/>
              <a:gd name="csY85" fmla="*/ 762042 h 781086"/>
              <a:gd name="csX86" fmla="*/ 676265 w 781049"/>
              <a:gd name="csY86" fmla="*/ 628692 h 781086"/>
              <a:gd name="csX87" fmla="*/ 592735 w 781049"/>
              <a:gd name="csY87" fmla="*/ 562389 h 781086"/>
              <a:gd name="csX88" fmla="*/ 590540 w 781049"/>
              <a:gd name="csY88" fmla="*/ 542967 h 781086"/>
              <a:gd name="csX89" fmla="*/ 593479 w 781049"/>
              <a:gd name="csY89" fmla="*/ 520792 h 781086"/>
              <a:gd name="csX90" fmla="*/ 608325 w 781049"/>
              <a:gd name="csY90" fmla="*/ 490803 h 781086"/>
              <a:gd name="csX91" fmla="*/ 676265 w 781049"/>
              <a:gd name="csY91" fmla="*/ 457243 h 781086"/>
              <a:gd name="csX92" fmla="*/ 761990 w 781049"/>
              <a:gd name="csY92" fmla="*/ 542968 h 781086"/>
              <a:gd name="csX93" fmla="*/ 676265 w 781049"/>
              <a:gd name="csY93" fmla="*/ 628693 h 781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Lst>
            <a:rect l="l" t="t" r="r" b="b"/>
            <a:pathLst>
              <a:path w="781049" h="781086">
                <a:moveTo>
                  <a:pt x="676277" y="438186"/>
                </a:moveTo>
                <a:cubicBezTo>
                  <a:pt x="646660" y="438186"/>
                  <a:pt x="619127" y="450465"/>
                  <a:pt x="599407" y="472008"/>
                </a:cubicBezTo>
                <a:lnTo>
                  <a:pt x="493108" y="390561"/>
                </a:lnTo>
                <a:lnTo>
                  <a:pt x="599293" y="309115"/>
                </a:lnTo>
                <a:cubicBezTo>
                  <a:pt x="619124" y="330658"/>
                  <a:pt x="646658" y="342936"/>
                  <a:pt x="676274" y="342936"/>
                </a:cubicBezTo>
                <a:cubicBezTo>
                  <a:pt x="734094" y="342936"/>
                  <a:pt x="781049" y="295981"/>
                  <a:pt x="781049" y="238161"/>
                </a:cubicBezTo>
                <a:cubicBezTo>
                  <a:pt x="781049" y="180342"/>
                  <a:pt x="734094" y="133386"/>
                  <a:pt x="676274" y="133386"/>
                </a:cubicBezTo>
                <a:cubicBezTo>
                  <a:pt x="630472" y="133386"/>
                  <a:pt x="590846" y="162445"/>
                  <a:pt x="576824" y="205196"/>
                </a:cubicBezTo>
                <a:lnTo>
                  <a:pt x="208473" y="119174"/>
                </a:lnTo>
                <a:cubicBezTo>
                  <a:pt x="209143" y="114411"/>
                  <a:pt x="209626" y="109649"/>
                  <a:pt x="209626" y="104775"/>
                </a:cubicBezTo>
                <a:cubicBezTo>
                  <a:pt x="209626" y="46955"/>
                  <a:pt x="162671" y="0"/>
                  <a:pt x="104851" y="0"/>
                </a:cubicBezTo>
                <a:cubicBezTo>
                  <a:pt x="47069" y="37"/>
                  <a:pt x="0" y="46993"/>
                  <a:pt x="0" y="104813"/>
                </a:cubicBezTo>
                <a:cubicBezTo>
                  <a:pt x="0" y="162634"/>
                  <a:pt x="46955" y="209588"/>
                  <a:pt x="104775" y="209588"/>
                </a:cubicBezTo>
                <a:cubicBezTo>
                  <a:pt x="134392" y="209588"/>
                  <a:pt x="161925" y="197309"/>
                  <a:pt x="181645" y="175767"/>
                </a:cubicBezTo>
                <a:lnTo>
                  <a:pt x="360124" y="312651"/>
                </a:lnTo>
                <a:lnTo>
                  <a:pt x="203076" y="354471"/>
                </a:lnTo>
                <a:cubicBezTo>
                  <a:pt x="188230" y="313617"/>
                  <a:pt x="149051" y="285787"/>
                  <a:pt x="104778" y="285787"/>
                </a:cubicBezTo>
                <a:cubicBezTo>
                  <a:pt x="46958" y="285787"/>
                  <a:pt x="3" y="332743"/>
                  <a:pt x="3" y="390562"/>
                </a:cubicBezTo>
                <a:cubicBezTo>
                  <a:pt x="3" y="448382"/>
                  <a:pt x="46958" y="495337"/>
                  <a:pt x="104778" y="495337"/>
                </a:cubicBezTo>
                <a:cubicBezTo>
                  <a:pt x="149054" y="495337"/>
                  <a:pt x="188233" y="467506"/>
                  <a:pt x="203076" y="426653"/>
                </a:cubicBezTo>
                <a:lnTo>
                  <a:pt x="360124" y="468474"/>
                </a:lnTo>
                <a:lnTo>
                  <a:pt x="181645" y="605358"/>
                </a:lnTo>
                <a:cubicBezTo>
                  <a:pt x="161925" y="583815"/>
                  <a:pt x="134392" y="571536"/>
                  <a:pt x="104775" y="571536"/>
                </a:cubicBezTo>
                <a:cubicBezTo>
                  <a:pt x="46955" y="571536"/>
                  <a:pt x="0" y="618492"/>
                  <a:pt x="0" y="676311"/>
                </a:cubicBezTo>
                <a:cubicBezTo>
                  <a:pt x="0" y="734131"/>
                  <a:pt x="46955" y="781086"/>
                  <a:pt x="104775" y="781086"/>
                </a:cubicBezTo>
                <a:cubicBezTo>
                  <a:pt x="162595" y="781086"/>
                  <a:pt x="209550" y="734131"/>
                  <a:pt x="209550" y="676311"/>
                </a:cubicBezTo>
                <a:cubicBezTo>
                  <a:pt x="209550" y="671437"/>
                  <a:pt x="209066" y="666675"/>
                  <a:pt x="208397" y="661912"/>
                </a:cubicBezTo>
                <a:lnTo>
                  <a:pt x="576747" y="575890"/>
                </a:lnTo>
                <a:cubicBezTo>
                  <a:pt x="590849" y="618678"/>
                  <a:pt x="630474" y="647737"/>
                  <a:pt x="676274" y="647737"/>
                </a:cubicBezTo>
                <a:cubicBezTo>
                  <a:pt x="734094" y="647737"/>
                  <a:pt x="781049" y="600782"/>
                  <a:pt x="781049" y="542962"/>
                </a:cubicBezTo>
                <a:cubicBezTo>
                  <a:pt x="781049" y="485143"/>
                  <a:pt x="734094" y="438187"/>
                  <a:pt x="676274" y="438187"/>
                </a:cubicBezTo>
                <a:close/>
                <a:moveTo>
                  <a:pt x="587687" y="487039"/>
                </a:moveTo>
                <a:cubicBezTo>
                  <a:pt x="583669" y="493215"/>
                  <a:pt x="580431" y="499913"/>
                  <a:pt x="577865" y="506833"/>
                </a:cubicBezTo>
                <a:lnTo>
                  <a:pt x="402433" y="460101"/>
                </a:lnTo>
                <a:lnTo>
                  <a:pt x="477480" y="402579"/>
                </a:lnTo>
                <a:close/>
                <a:moveTo>
                  <a:pt x="577976" y="274250"/>
                </a:moveTo>
                <a:cubicBezTo>
                  <a:pt x="580543" y="281208"/>
                  <a:pt x="583780" y="287794"/>
                  <a:pt x="587798" y="294044"/>
                </a:cubicBezTo>
                <a:lnTo>
                  <a:pt x="477594" y="378542"/>
                </a:lnTo>
                <a:lnTo>
                  <a:pt x="402548" y="321019"/>
                </a:lnTo>
                <a:close/>
                <a:moveTo>
                  <a:pt x="676274" y="152435"/>
                </a:moveTo>
                <a:cubicBezTo>
                  <a:pt x="723527" y="152435"/>
                  <a:pt x="761999" y="190908"/>
                  <a:pt x="761999" y="238160"/>
                </a:cubicBezTo>
                <a:cubicBezTo>
                  <a:pt x="761999" y="285413"/>
                  <a:pt x="723527" y="323885"/>
                  <a:pt x="676274" y="323885"/>
                </a:cubicBezTo>
                <a:cubicBezTo>
                  <a:pt x="649411" y="323885"/>
                  <a:pt x="624631" y="311607"/>
                  <a:pt x="608260" y="290251"/>
                </a:cubicBezTo>
                <a:cubicBezTo>
                  <a:pt x="601302" y="281284"/>
                  <a:pt x="596354" y="271312"/>
                  <a:pt x="593489" y="260336"/>
                </a:cubicBezTo>
                <a:cubicBezTo>
                  <a:pt x="591517" y="253007"/>
                  <a:pt x="590549" y="245602"/>
                  <a:pt x="590549" y="238161"/>
                </a:cubicBezTo>
                <a:cubicBezTo>
                  <a:pt x="590549" y="231576"/>
                  <a:pt x="591293" y="225027"/>
                  <a:pt x="592744" y="218739"/>
                </a:cubicBezTo>
                <a:cubicBezTo>
                  <a:pt x="601897" y="179671"/>
                  <a:pt x="636165" y="152436"/>
                  <a:pt x="676274" y="152436"/>
                </a:cubicBezTo>
                <a:close/>
                <a:moveTo>
                  <a:pt x="104774" y="190535"/>
                </a:moveTo>
                <a:cubicBezTo>
                  <a:pt x="57522" y="190535"/>
                  <a:pt x="19049" y="152063"/>
                  <a:pt x="19049" y="104810"/>
                </a:cubicBezTo>
                <a:cubicBezTo>
                  <a:pt x="19049" y="57558"/>
                  <a:pt x="57522" y="19085"/>
                  <a:pt x="104774" y="19085"/>
                </a:cubicBezTo>
                <a:cubicBezTo>
                  <a:pt x="152027" y="19085"/>
                  <a:pt x="190499" y="57558"/>
                  <a:pt x="190499" y="104810"/>
                </a:cubicBezTo>
                <a:cubicBezTo>
                  <a:pt x="190499" y="111396"/>
                  <a:pt x="189755" y="117944"/>
                  <a:pt x="188304" y="124233"/>
                </a:cubicBezTo>
                <a:cubicBezTo>
                  <a:pt x="185551" y="136250"/>
                  <a:pt x="180304" y="147190"/>
                  <a:pt x="172789" y="156901"/>
                </a:cubicBezTo>
                <a:cubicBezTo>
                  <a:pt x="156417" y="178258"/>
                  <a:pt x="131638" y="190535"/>
                  <a:pt x="104774" y="190535"/>
                </a:cubicBezTo>
                <a:close/>
                <a:moveTo>
                  <a:pt x="193253" y="160732"/>
                </a:moveTo>
                <a:cubicBezTo>
                  <a:pt x="197829" y="153589"/>
                  <a:pt x="201438" y="145887"/>
                  <a:pt x="204117" y="137775"/>
                </a:cubicBezTo>
                <a:lnTo>
                  <a:pt x="572544" y="223798"/>
                </a:lnTo>
                <a:cubicBezTo>
                  <a:pt x="571874" y="228560"/>
                  <a:pt x="571391" y="233323"/>
                  <a:pt x="571391" y="238196"/>
                </a:cubicBezTo>
                <a:cubicBezTo>
                  <a:pt x="571391" y="244112"/>
                  <a:pt x="572060" y="249991"/>
                  <a:pt x="573102" y="255833"/>
                </a:cubicBezTo>
                <a:lnTo>
                  <a:pt x="383269" y="306397"/>
                </a:lnTo>
                <a:close/>
                <a:moveTo>
                  <a:pt x="104774" y="476286"/>
                </a:moveTo>
                <a:cubicBezTo>
                  <a:pt x="57522" y="476286"/>
                  <a:pt x="19049" y="437814"/>
                  <a:pt x="19049" y="390561"/>
                </a:cubicBezTo>
                <a:cubicBezTo>
                  <a:pt x="19049" y="343309"/>
                  <a:pt x="57522" y="304836"/>
                  <a:pt x="104774" y="304836"/>
                </a:cubicBezTo>
                <a:cubicBezTo>
                  <a:pt x="143618" y="304836"/>
                  <a:pt x="177625" y="330919"/>
                  <a:pt x="187560" y="368460"/>
                </a:cubicBezTo>
                <a:cubicBezTo>
                  <a:pt x="189532" y="375716"/>
                  <a:pt x="190499" y="383120"/>
                  <a:pt x="190499" y="390561"/>
                </a:cubicBezTo>
                <a:cubicBezTo>
                  <a:pt x="190499" y="398002"/>
                  <a:pt x="189532" y="405407"/>
                  <a:pt x="187560" y="412662"/>
                </a:cubicBezTo>
                <a:cubicBezTo>
                  <a:pt x="177625" y="450092"/>
                  <a:pt x="143618" y="476286"/>
                  <a:pt x="104774" y="476286"/>
                </a:cubicBezTo>
                <a:close/>
                <a:moveTo>
                  <a:pt x="207835" y="408198"/>
                </a:moveTo>
                <a:cubicBezTo>
                  <a:pt x="208876" y="402356"/>
                  <a:pt x="209546" y="396477"/>
                  <a:pt x="209546" y="390561"/>
                </a:cubicBezTo>
                <a:cubicBezTo>
                  <a:pt x="209546" y="384645"/>
                  <a:pt x="208876" y="378766"/>
                  <a:pt x="207835" y="372925"/>
                </a:cubicBezTo>
                <a:lnTo>
                  <a:pt x="379170" y="327309"/>
                </a:lnTo>
                <a:lnTo>
                  <a:pt x="461844" y="390560"/>
                </a:lnTo>
                <a:lnTo>
                  <a:pt x="379245" y="453886"/>
                </a:lnTo>
                <a:close/>
                <a:moveTo>
                  <a:pt x="573204" y="525327"/>
                </a:moveTo>
                <a:cubicBezTo>
                  <a:pt x="572162" y="531168"/>
                  <a:pt x="571493" y="537047"/>
                  <a:pt x="571493" y="542963"/>
                </a:cubicBezTo>
                <a:cubicBezTo>
                  <a:pt x="571493" y="547837"/>
                  <a:pt x="571976" y="552600"/>
                  <a:pt x="572646" y="557362"/>
                </a:cubicBezTo>
                <a:lnTo>
                  <a:pt x="204219" y="643384"/>
                </a:lnTo>
                <a:cubicBezTo>
                  <a:pt x="201540" y="635273"/>
                  <a:pt x="197931" y="627571"/>
                  <a:pt x="193355" y="620427"/>
                </a:cubicBezTo>
                <a:lnTo>
                  <a:pt x="383483" y="474685"/>
                </a:lnTo>
                <a:close/>
                <a:moveTo>
                  <a:pt x="104765" y="762042"/>
                </a:moveTo>
                <a:cubicBezTo>
                  <a:pt x="57512" y="762042"/>
                  <a:pt x="19040" y="723570"/>
                  <a:pt x="19040" y="676317"/>
                </a:cubicBezTo>
                <a:cubicBezTo>
                  <a:pt x="19040" y="629064"/>
                  <a:pt x="57512" y="590592"/>
                  <a:pt x="104765" y="590592"/>
                </a:cubicBezTo>
                <a:cubicBezTo>
                  <a:pt x="131628" y="590592"/>
                  <a:pt x="156408" y="602871"/>
                  <a:pt x="172779" y="624227"/>
                </a:cubicBezTo>
                <a:cubicBezTo>
                  <a:pt x="180220" y="633863"/>
                  <a:pt x="185429" y="644914"/>
                  <a:pt x="188294" y="656820"/>
                </a:cubicBezTo>
                <a:cubicBezTo>
                  <a:pt x="189745" y="663183"/>
                  <a:pt x="190489" y="669731"/>
                  <a:pt x="190489" y="676317"/>
                </a:cubicBezTo>
                <a:cubicBezTo>
                  <a:pt x="190489" y="723570"/>
                  <a:pt x="152017" y="762042"/>
                  <a:pt x="104764" y="762042"/>
                </a:cubicBezTo>
                <a:close/>
                <a:moveTo>
                  <a:pt x="676265" y="628692"/>
                </a:moveTo>
                <a:cubicBezTo>
                  <a:pt x="636156" y="628692"/>
                  <a:pt x="601888" y="601456"/>
                  <a:pt x="592735" y="562389"/>
                </a:cubicBezTo>
                <a:cubicBezTo>
                  <a:pt x="591284" y="556101"/>
                  <a:pt x="590540" y="549553"/>
                  <a:pt x="590540" y="542967"/>
                </a:cubicBezTo>
                <a:cubicBezTo>
                  <a:pt x="590540" y="535526"/>
                  <a:pt x="591507" y="528121"/>
                  <a:pt x="593479" y="520792"/>
                </a:cubicBezTo>
                <a:cubicBezTo>
                  <a:pt x="596344" y="509853"/>
                  <a:pt x="601367" y="499844"/>
                  <a:pt x="608325" y="490803"/>
                </a:cubicBezTo>
                <a:cubicBezTo>
                  <a:pt x="624621" y="469521"/>
                  <a:pt x="649401" y="457243"/>
                  <a:pt x="676265" y="457243"/>
                </a:cubicBezTo>
                <a:cubicBezTo>
                  <a:pt x="723517" y="457243"/>
                  <a:pt x="761990" y="495715"/>
                  <a:pt x="761990" y="542968"/>
                </a:cubicBezTo>
                <a:cubicBezTo>
                  <a:pt x="761990" y="590220"/>
                  <a:pt x="723517" y="628693"/>
                  <a:pt x="676265" y="628693"/>
                </a:cubicBezTo>
                <a:close/>
              </a:path>
            </a:pathLst>
          </a:custGeom>
          <a:solidFill>
            <a:srgbClr val="000000"/>
          </a:solidFill>
          <a:ln w="19050" cap="flat">
            <a:solidFill>
              <a:schemeClr val="tx1"/>
            </a:solidFill>
            <a:prstDash val="solid"/>
            <a:miter/>
          </a:ln>
        </p:spPr>
        <p:txBody>
          <a:bodyPr/>
          <a:lstStyle/>
          <a:p>
            <a:endParaRPr lang="en-BE" dirty="0"/>
          </a:p>
        </p:txBody>
      </p:sp>
    </p:spTree>
    <p:extLst>
      <p:ext uri="{BB962C8B-B14F-4D97-AF65-F5344CB8AC3E}">
        <p14:creationId xmlns:p14="http://schemas.microsoft.com/office/powerpoint/2010/main" val="242756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p:bldP spid="27" grpId="0"/>
      <p:bldP spid="28" grpId="0"/>
      <p:bldP spid="3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29B408-135F-2F66-CD71-097259E48BB9}"/>
              </a:ext>
            </a:extLst>
          </p:cNvPr>
          <p:cNvSpPr>
            <a:spLocks noGrp="1"/>
          </p:cNvSpPr>
          <p:nvPr>
            <p:ph type="title"/>
          </p:nvPr>
        </p:nvSpPr>
        <p:spPr/>
        <p:txBody>
          <a:bodyPr/>
          <a:lstStyle/>
          <a:p>
            <a:r>
              <a:rPr lang="en-GB" dirty="0"/>
              <a:t>In sequence data, order matters</a:t>
            </a:r>
            <a:endParaRPr lang="en-BE" dirty="0"/>
          </a:p>
        </p:txBody>
      </p:sp>
      <p:sp>
        <p:nvSpPr>
          <p:cNvPr id="4" name="Slide Number Placeholder 3">
            <a:extLst>
              <a:ext uri="{FF2B5EF4-FFF2-40B4-BE49-F238E27FC236}">
                <a16:creationId xmlns:a16="http://schemas.microsoft.com/office/drawing/2014/main" id="{C10A17A8-035D-8EAD-CA37-E23DBCBF3067}"/>
              </a:ext>
            </a:extLst>
          </p:cNvPr>
          <p:cNvSpPr>
            <a:spLocks noGrp="1"/>
          </p:cNvSpPr>
          <p:nvPr>
            <p:ph type="sldNum" sz="quarter" idx="12"/>
          </p:nvPr>
        </p:nvSpPr>
        <p:spPr/>
        <p:txBody>
          <a:bodyPr/>
          <a:lstStyle/>
          <a:p>
            <a:fld id="{94B3E216-A3C5-4E41-AE94-D003E76F1D3A}" type="slidenum">
              <a:rPr lang="en-US" smtClean="0"/>
              <a:pPr/>
              <a:t>4</a:t>
            </a:fld>
            <a:endParaRPr lang="en-US"/>
          </a:p>
        </p:txBody>
      </p:sp>
      <p:grpSp>
        <p:nvGrpSpPr>
          <p:cNvPr id="14" name="Group 13">
            <a:extLst>
              <a:ext uri="{FF2B5EF4-FFF2-40B4-BE49-F238E27FC236}">
                <a16:creationId xmlns:a16="http://schemas.microsoft.com/office/drawing/2014/main" id="{3D889350-4DB3-BA5A-F919-B28E2162BB59}"/>
              </a:ext>
            </a:extLst>
          </p:cNvPr>
          <p:cNvGrpSpPr/>
          <p:nvPr/>
        </p:nvGrpSpPr>
        <p:grpSpPr>
          <a:xfrm>
            <a:off x="6478521" y="2084114"/>
            <a:ext cx="4977983" cy="2845327"/>
            <a:chOff x="3589547" y="2190132"/>
            <a:chExt cx="4977983" cy="2845327"/>
          </a:xfrm>
        </p:grpSpPr>
        <p:sp>
          <p:nvSpPr>
            <p:cNvPr id="11" name="TextBox 10">
              <a:extLst>
                <a:ext uri="{FF2B5EF4-FFF2-40B4-BE49-F238E27FC236}">
                  <a16:creationId xmlns:a16="http://schemas.microsoft.com/office/drawing/2014/main" id="{0837224B-ACC4-B6F8-46B6-05245E62539C}"/>
                </a:ext>
              </a:extLst>
            </p:cNvPr>
            <p:cNvSpPr txBox="1"/>
            <p:nvPr/>
          </p:nvSpPr>
          <p:spPr>
            <a:xfrm>
              <a:off x="3589548" y="2190132"/>
              <a:ext cx="4977982" cy="830997"/>
            </a:xfrm>
            <a:prstGeom prst="rect">
              <a:avLst/>
            </a:prstGeom>
            <a:noFill/>
          </p:spPr>
          <p:txBody>
            <a:bodyPr wrap="square">
              <a:spAutoFit/>
            </a:bodyPr>
            <a:lstStyle/>
            <a:p>
              <a:r>
                <a:rPr lang="en-BE" sz="1600" dirty="0">
                  <a:latin typeface="Cascadia Code" panose="020B0609020000020004" pitchFamily="49" charset="0"/>
                  <a:cs typeface="Cascadia Code" panose="020B0609020000020004" pitchFamily="49" charset="0"/>
                </a:rPr>
                <a:t>MDKSFTLFLTLTILVVFIISSPPVQAGFANDLGGVAWATTGDNGSGCHGSIAECIGAEE</a:t>
              </a:r>
              <a:r>
                <a:rPr lang="en-BE" sz="1600" dirty="0">
                  <a:highlight>
                    <a:srgbClr val="FFFF00"/>
                  </a:highlight>
                  <a:latin typeface="Cascadia Code" panose="020B0609020000020004" pitchFamily="49" charset="0"/>
                  <a:cs typeface="Cascadia Code" panose="020B0609020000020004" pitchFamily="49" charset="0"/>
                </a:rPr>
                <a:t>EEMD</a:t>
              </a:r>
              <a:r>
                <a:rPr lang="en-BE" sz="1600" dirty="0">
                  <a:latin typeface="Cascadia Code" panose="020B0609020000020004" pitchFamily="49" charset="0"/>
                  <a:cs typeface="Cascadia Code" panose="020B0609020000020004" pitchFamily="49" charset="0"/>
                </a:rPr>
                <a:t>SEINRRILATTKYISYQSLKRNSVPCSRRGASYYNCQNGAQANPYSRGCSKIARCRS</a:t>
              </a:r>
            </a:p>
          </p:txBody>
        </p:sp>
        <p:sp>
          <p:nvSpPr>
            <p:cNvPr id="12" name="TextBox 11">
              <a:extLst>
                <a:ext uri="{FF2B5EF4-FFF2-40B4-BE49-F238E27FC236}">
                  <a16:creationId xmlns:a16="http://schemas.microsoft.com/office/drawing/2014/main" id="{2D12D787-9B53-952D-10E1-BD4BEC918EFB}"/>
                </a:ext>
              </a:extLst>
            </p:cNvPr>
            <p:cNvSpPr txBox="1"/>
            <p:nvPr/>
          </p:nvSpPr>
          <p:spPr>
            <a:xfrm>
              <a:off x="3589547" y="4204462"/>
              <a:ext cx="4977982" cy="830997"/>
            </a:xfrm>
            <a:prstGeom prst="rect">
              <a:avLst/>
            </a:prstGeom>
            <a:noFill/>
          </p:spPr>
          <p:txBody>
            <a:bodyPr wrap="square">
              <a:spAutoFit/>
            </a:bodyPr>
            <a:lstStyle/>
            <a:p>
              <a:r>
                <a:rPr lang="en-BE" sz="1600" dirty="0">
                  <a:latin typeface="Cascadia Code" panose="020B0609020000020004" pitchFamily="49" charset="0"/>
                  <a:cs typeface="Cascadia Code" panose="020B0609020000020004" pitchFamily="49" charset="0"/>
                </a:rPr>
                <a:t>MDKSFTLFLTLTILVVFIISSPPVQAGFANDLGGVAWATTGDNGSGCHGSIAECIGAEE</a:t>
              </a:r>
              <a:r>
                <a:rPr lang="en-US" sz="1600" dirty="0">
                  <a:highlight>
                    <a:srgbClr val="FFFF00"/>
                  </a:highlight>
                  <a:latin typeface="Cascadia Code" panose="020B0609020000020004" pitchFamily="49" charset="0"/>
                  <a:cs typeface="Cascadia Code" panose="020B0609020000020004" pitchFamily="49" charset="0"/>
                </a:rPr>
                <a:t>DMEE</a:t>
              </a:r>
              <a:r>
                <a:rPr lang="en-BE" sz="1600" dirty="0">
                  <a:latin typeface="Cascadia Code" panose="020B0609020000020004" pitchFamily="49" charset="0"/>
                  <a:cs typeface="Cascadia Code" panose="020B0609020000020004" pitchFamily="49" charset="0"/>
                </a:rPr>
                <a:t>SEINRRILATTKYISYQSLKRNSVPCSRRGASYYNCQNGAQANPYSRGCSKIARCRS</a:t>
              </a:r>
            </a:p>
          </p:txBody>
        </p:sp>
        <p:sp>
          <p:nvSpPr>
            <p:cNvPr id="13" name="TextBox 12">
              <a:extLst>
                <a:ext uri="{FF2B5EF4-FFF2-40B4-BE49-F238E27FC236}">
                  <a16:creationId xmlns:a16="http://schemas.microsoft.com/office/drawing/2014/main" id="{734C987F-2B82-4D2F-2335-0355C0D62F53}"/>
                </a:ext>
              </a:extLst>
            </p:cNvPr>
            <p:cNvSpPr txBox="1"/>
            <p:nvPr/>
          </p:nvSpPr>
          <p:spPr>
            <a:xfrm>
              <a:off x="3589547" y="3212853"/>
              <a:ext cx="4977980" cy="769441"/>
            </a:xfrm>
            <a:prstGeom prst="rect">
              <a:avLst/>
            </a:prstGeom>
            <a:noFill/>
          </p:spPr>
          <p:txBody>
            <a:bodyPr wrap="square">
              <a:spAutoFit/>
            </a:bodyPr>
            <a:lstStyle/>
            <a:p>
              <a:pPr algn="ctr"/>
              <a:r>
                <a:rPr lang="en-BE" sz="4400" dirty="0"/>
                <a:t>≠</a:t>
              </a:r>
              <a:endParaRPr lang="en-BE" sz="4400" dirty="0">
                <a:latin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CC2D65AE-C219-3013-D693-3FF787002B20}"/>
              </a:ext>
            </a:extLst>
          </p:cNvPr>
          <p:cNvGrpSpPr/>
          <p:nvPr/>
        </p:nvGrpSpPr>
        <p:grpSpPr>
          <a:xfrm>
            <a:off x="735494" y="2133977"/>
            <a:ext cx="4977982" cy="2641575"/>
            <a:chOff x="3589545" y="2239995"/>
            <a:chExt cx="4977982" cy="2641575"/>
          </a:xfrm>
        </p:grpSpPr>
        <p:sp>
          <p:nvSpPr>
            <p:cNvPr id="16" name="TextBox 15">
              <a:extLst>
                <a:ext uri="{FF2B5EF4-FFF2-40B4-BE49-F238E27FC236}">
                  <a16:creationId xmlns:a16="http://schemas.microsoft.com/office/drawing/2014/main" id="{0F0E0B50-5FD4-63BF-1A92-EC70CCACE1AA}"/>
                </a:ext>
              </a:extLst>
            </p:cNvPr>
            <p:cNvSpPr txBox="1"/>
            <p:nvPr/>
          </p:nvSpPr>
          <p:spPr>
            <a:xfrm>
              <a:off x="3589545" y="2239995"/>
              <a:ext cx="4977982" cy="523220"/>
            </a:xfrm>
            <a:prstGeom prst="rect">
              <a:avLst/>
            </a:prstGeom>
            <a:noFill/>
          </p:spPr>
          <p:txBody>
            <a:bodyPr wrap="square">
              <a:spAutoFit/>
            </a:bodyPr>
            <a:lstStyle/>
            <a:p>
              <a:pPr algn="ctr"/>
              <a:r>
                <a:rPr lang="en-US" sz="2800" dirty="0">
                  <a:latin typeface="Cambria" panose="02040503050406030204" pitchFamily="18" charset="0"/>
                  <a:ea typeface="Cambria" panose="02040503050406030204" pitchFamily="18" charset="0"/>
                  <a:cs typeface="Cascadia Code" panose="020B0609020000020004" pitchFamily="49" charset="0"/>
                </a:rPr>
                <a:t>Cage the swallow.</a:t>
              </a:r>
              <a:endParaRPr lang="en-BE" sz="2800" dirty="0">
                <a:latin typeface="Cambria" panose="02040503050406030204" pitchFamily="18" charset="0"/>
                <a:ea typeface="Cambria" panose="02040503050406030204" pitchFamily="18" charset="0"/>
                <a:cs typeface="Cascadia Code" panose="020B0609020000020004" pitchFamily="49" charset="0"/>
              </a:endParaRPr>
            </a:p>
          </p:txBody>
        </p:sp>
        <p:sp>
          <p:nvSpPr>
            <p:cNvPr id="17" name="TextBox 16">
              <a:extLst>
                <a:ext uri="{FF2B5EF4-FFF2-40B4-BE49-F238E27FC236}">
                  <a16:creationId xmlns:a16="http://schemas.microsoft.com/office/drawing/2014/main" id="{945ABF7D-41EC-F9FE-E90E-5A53D784D656}"/>
                </a:ext>
              </a:extLst>
            </p:cNvPr>
            <p:cNvSpPr txBox="1"/>
            <p:nvPr/>
          </p:nvSpPr>
          <p:spPr>
            <a:xfrm>
              <a:off x="3589545" y="4358350"/>
              <a:ext cx="4977982"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1B2944"/>
                  </a:solidFill>
                  <a:effectLst/>
                  <a:uLnTx/>
                  <a:uFillTx/>
                  <a:latin typeface="Cambria" panose="02040503050406030204" pitchFamily="18" charset="0"/>
                  <a:ea typeface="Cambria" panose="02040503050406030204" pitchFamily="18" charset="0"/>
                  <a:cs typeface="Cascadia Code" panose="020B0609020000020004" pitchFamily="49" charset="0"/>
                </a:rPr>
                <a:t>Swallow the cage.</a:t>
              </a:r>
              <a:endParaRPr kumimoji="0" lang="en-BE" sz="2800" b="0" i="0" u="none" strike="noStrike" kern="1200" cap="none" spc="0" normalizeH="0" baseline="0" noProof="0" dirty="0">
                <a:ln>
                  <a:noFill/>
                </a:ln>
                <a:solidFill>
                  <a:srgbClr val="1B2944"/>
                </a:solidFill>
                <a:effectLst/>
                <a:uLnTx/>
                <a:uFillTx/>
                <a:latin typeface="Cambria" panose="02040503050406030204" pitchFamily="18" charset="0"/>
                <a:ea typeface="Cambria" panose="02040503050406030204" pitchFamily="18" charset="0"/>
                <a:cs typeface="Cascadia Code" panose="020B0609020000020004" pitchFamily="49" charset="0"/>
              </a:endParaRPr>
            </a:p>
          </p:txBody>
        </p:sp>
        <p:sp>
          <p:nvSpPr>
            <p:cNvPr id="18" name="TextBox 17">
              <a:extLst>
                <a:ext uri="{FF2B5EF4-FFF2-40B4-BE49-F238E27FC236}">
                  <a16:creationId xmlns:a16="http://schemas.microsoft.com/office/drawing/2014/main" id="{E79D7EDD-0369-4FFF-2B23-1CA2117F9580}"/>
                </a:ext>
              </a:extLst>
            </p:cNvPr>
            <p:cNvSpPr txBox="1"/>
            <p:nvPr/>
          </p:nvSpPr>
          <p:spPr>
            <a:xfrm>
              <a:off x="3589547" y="3212853"/>
              <a:ext cx="4977980" cy="769441"/>
            </a:xfrm>
            <a:prstGeom prst="rect">
              <a:avLst/>
            </a:prstGeom>
            <a:noFill/>
          </p:spPr>
          <p:txBody>
            <a:bodyPr wrap="square">
              <a:spAutoFit/>
            </a:bodyPr>
            <a:lstStyle/>
            <a:p>
              <a:pPr algn="ctr"/>
              <a:r>
                <a:rPr lang="en-BE" sz="4400" dirty="0"/>
                <a:t>≠</a:t>
              </a:r>
              <a:endParaRPr lang="en-BE" sz="4400" dirty="0">
                <a:latin typeface="Cascadia Code" panose="020B0609020000020004" pitchFamily="49" charset="0"/>
                <a:cs typeface="Cascadia Code" panose="020B0609020000020004" pitchFamily="49" charset="0"/>
              </a:endParaRPr>
            </a:p>
          </p:txBody>
        </p:sp>
      </p:grpSp>
    </p:spTree>
    <p:extLst>
      <p:ext uri="{BB962C8B-B14F-4D97-AF65-F5344CB8AC3E}">
        <p14:creationId xmlns:p14="http://schemas.microsoft.com/office/powerpoint/2010/main" val="140389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D39A5-FE5F-3503-10F6-13AD66F6949D}"/>
              </a:ext>
            </a:extLst>
          </p:cNvPr>
          <p:cNvSpPr>
            <a:spLocks noGrp="1"/>
          </p:cNvSpPr>
          <p:nvPr>
            <p:ph type="title"/>
          </p:nvPr>
        </p:nvSpPr>
        <p:spPr/>
        <p:txBody>
          <a:bodyPr/>
          <a:lstStyle/>
          <a:p>
            <a:r>
              <a:rPr lang="en-US" dirty="0"/>
              <a:t>In sequence data, memory matters as well</a:t>
            </a:r>
            <a:endParaRPr lang="en-BE" dirty="0"/>
          </a:p>
        </p:txBody>
      </p:sp>
      <p:sp>
        <p:nvSpPr>
          <p:cNvPr id="4" name="Slide Number Placeholder 3">
            <a:extLst>
              <a:ext uri="{FF2B5EF4-FFF2-40B4-BE49-F238E27FC236}">
                <a16:creationId xmlns:a16="http://schemas.microsoft.com/office/drawing/2014/main" id="{89C90B06-819B-364A-9C51-FB1961AE4B2E}"/>
              </a:ext>
            </a:extLst>
          </p:cNvPr>
          <p:cNvSpPr>
            <a:spLocks noGrp="1"/>
          </p:cNvSpPr>
          <p:nvPr>
            <p:ph type="sldNum" sz="quarter" idx="12"/>
          </p:nvPr>
        </p:nvSpPr>
        <p:spPr/>
        <p:txBody>
          <a:bodyPr/>
          <a:lstStyle/>
          <a:p>
            <a:fld id="{94B3E216-A3C5-4E41-AE94-D003E76F1D3A}" type="slidenum">
              <a:rPr lang="en-US" smtClean="0"/>
              <a:pPr/>
              <a:t>5</a:t>
            </a:fld>
            <a:endParaRPr lang="en-US"/>
          </a:p>
        </p:txBody>
      </p:sp>
      <p:sp>
        <p:nvSpPr>
          <p:cNvPr id="6" name="TextBox 5">
            <a:extLst>
              <a:ext uri="{FF2B5EF4-FFF2-40B4-BE49-F238E27FC236}">
                <a16:creationId xmlns:a16="http://schemas.microsoft.com/office/drawing/2014/main" id="{EB5B7790-08B5-311F-CEA0-1EEB3888E807}"/>
              </a:ext>
            </a:extLst>
          </p:cNvPr>
          <p:cNvSpPr txBox="1"/>
          <p:nvPr/>
        </p:nvSpPr>
        <p:spPr>
          <a:xfrm>
            <a:off x="407988" y="1707257"/>
            <a:ext cx="5688011" cy="1384995"/>
          </a:xfrm>
          <a:prstGeom prst="rect">
            <a:avLst/>
          </a:prstGeom>
          <a:noFill/>
        </p:spPr>
        <p:txBody>
          <a:bodyPr wrap="square">
            <a:spAutoFit/>
          </a:bodyPr>
          <a:lstStyle/>
          <a:p>
            <a:pPr algn="ctr"/>
            <a:r>
              <a:rPr lang="en-US" sz="2800" dirty="0">
                <a:latin typeface="Cambria" panose="02040503050406030204" pitchFamily="18" charset="0"/>
                <a:ea typeface="Cambria" panose="02040503050406030204" pitchFamily="18" charset="0"/>
                <a:cs typeface="Cascadia Code" panose="020B0609020000020004" pitchFamily="49" charset="0"/>
              </a:rPr>
              <a:t>culture</a:t>
            </a:r>
          </a:p>
          <a:p>
            <a:pPr algn="ctr"/>
            <a:r>
              <a:rPr lang="en-US" sz="2800" dirty="0">
                <a:latin typeface="Cambria" panose="02040503050406030204" pitchFamily="18" charset="0"/>
                <a:ea typeface="Cambria" panose="02040503050406030204" pitchFamily="18" charset="0"/>
                <a:cs typeface="Cascadia Code" panose="020B0609020000020004" pitchFamily="49" charset="0"/>
              </a:rPr>
              <a:t>office culture</a:t>
            </a:r>
          </a:p>
          <a:p>
            <a:pPr algn="ctr"/>
            <a:r>
              <a:rPr lang="en-US" sz="2800" dirty="0">
                <a:latin typeface="Cambria" panose="02040503050406030204" pitchFamily="18" charset="0"/>
                <a:ea typeface="Cambria" panose="02040503050406030204" pitchFamily="18" charset="0"/>
                <a:cs typeface="Cascadia Code" panose="020B0609020000020004" pitchFamily="49" charset="0"/>
              </a:rPr>
              <a:t>cell culture</a:t>
            </a:r>
            <a:endParaRPr lang="en-BE" sz="2800" dirty="0">
              <a:latin typeface="Cambria" panose="02040503050406030204" pitchFamily="18" charset="0"/>
              <a:ea typeface="Cambria" panose="02040503050406030204" pitchFamily="18" charset="0"/>
              <a:cs typeface="Cascadia Code" panose="020B0609020000020004" pitchFamily="49" charset="0"/>
            </a:endParaRPr>
          </a:p>
        </p:txBody>
      </p:sp>
      <p:sp>
        <p:nvSpPr>
          <p:cNvPr id="11" name="TextBox 10">
            <a:extLst>
              <a:ext uri="{FF2B5EF4-FFF2-40B4-BE49-F238E27FC236}">
                <a16:creationId xmlns:a16="http://schemas.microsoft.com/office/drawing/2014/main" id="{47941C90-FF22-E77F-A270-55BE253311D7}"/>
              </a:ext>
            </a:extLst>
          </p:cNvPr>
          <p:cNvSpPr txBox="1"/>
          <p:nvPr/>
        </p:nvSpPr>
        <p:spPr>
          <a:xfrm>
            <a:off x="390528" y="3765749"/>
            <a:ext cx="5688011" cy="1384995"/>
          </a:xfrm>
          <a:prstGeom prst="rect">
            <a:avLst/>
          </a:prstGeom>
          <a:noFill/>
        </p:spPr>
        <p:txBody>
          <a:bodyPr wrap="square">
            <a:spAutoFit/>
          </a:bodyPr>
          <a:lstStyle/>
          <a:p>
            <a:pPr algn="ctr"/>
            <a:r>
              <a:rPr lang="en-US" sz="2800" dirty="0">
                <a:latin typeface="Cambria" panose="02040503050406030204" pitchFamily="18" charset="0"/>
                <a:ea typeface="Cambria" panose="02040503050406030204" pitchFamily="18" charset="0"/>
                <a:cs typeface="Cascadia Code" panose="020B0609020000020004" pitchFamily="49" charset="0"/>
              </a:rPr>
              <a:t>expression</a:t>
            </a:r>
          </a:p>
          <a:p>
            <a:pPr algn="ctr"/>
            <a:r>
              <a:rPr lang="en-US" sz="2800" dirty="0">
                <a:latin typeface="Cambria" panose="02040503050406030204" pitchFamily="18" charset="0"/>
                <a:ea typeface="Cambria" panose="02040503050406030204" pitchFamily="18" charset="0"/>
                <a:cs typeface="Cascadia Code" panose="020B0609020000020004" pitchFamily="49" charset="0"/>
              </a:rPr>
              <a:t>artistic expression</a:t>
            </a:r>
          </a:p>
          <a:p>
            <a:pPr algn="ctr"/>
            <a:r>
              <a:rPr lang="en-US" sz="2800" dirty="0">
                <a:latin typeface="Cambria" panose="02040503050406030204" pitchFamily="18" charset="0"/>
                <a:ea typeface="Cambria" panose="02040503050406030204" pitchFamily="18" charset="0"/>
                <a:cs typeface="Cascadia Code" panose="020B0609020000020004" pitchFamily="49" charset="0"/>
              </a:rPr>
              <a:t>gene expression</a:t>
            </a:r>
            <a:endParaRPr lang="en-BE" sz="2800" dirty="0">
              <a:latin typeface="Cambria" panose="02040503050406030204" pitchFamily="18" charset="0"/>
              <a:ea typeface="Cambria" panose="02040503050406030204" pitchFamily="18" charset="0"/>
              <a:cs typeface="Cascadia Code" panose="020B0609020000020004" pitchFamily="49" charset="0"/>
            </a:endParaRPr>
          </a:p>
        </p:txBody>
      </p:sp>
      <p:sp>
        <p:nvSpPr>
          <p:cNvPr id="12" name="TextBox 11">
            <a:extLst>
              <a:ext uri="{FF2B5EF4-FFF2-40B4-BE49-F238E27FC236}">
                <a16:creationId xmlns:a16="http://schemas.microsoft.com/office/drawing/2014/main" id="{CCF32968-96F3-F392-0E9B-A43610E40ED5}"/>
              </a:ext>
            </a:extLst>
          </p:cNvPr>
          <p:cNvSpPr txBox="1"/>
          <p:nvPr/>
        </p:nvSpPr>
        <p:spPr>
          <a:xfrm>
            <a:off x="6095999" y="1707256"/>
            <a:ext cx="5688011" cy="1384995"/>
          </a:xfrm>
          <a:prstGeom prst="rect">
            <a:avLst/>
          </a:prstGeom>
          <a:noFill/>
        </p:spPr>
        <p:txBody>
          <a:bodyPr wrap="square">
            <a:spAutoFit/>
          </a:bodyPr>
          <a:lstStyle/>
          <a:p>
            <a:pPr algn="ctr"/>
            <a:r>
              <a:rPr lang="en-US" sz="2800" dirty="0">
                <a:latin typeface="Cambria" panose="02040503050406030204" pitchFamily="18" charset="0"/>
                <a:ea typeface="Cambria" panose="02040503050406030204" pitchFamily="18" charset="0"/>
                <a:cs typeface="Cascadia Code" panose="020B0609020000020004" pitchFamily="49" charset="0"/>
              </a:rPr>
              <a:t>bank</a:t>
            </a:r>
          </a:p>
          <a:p>
            <a:pPr algn="ctr"/>
            <a:r>
              <a:rPr lang="en-US" sz="2800" dirty="0">
                <a:latin typeface="Cambria" panose="02040503050406030204" pitchFamily="18" charset="0"/>
                <a:ea typeface="Cambria" panose="02040503050406030204" pitchFamily="18" charset="0"/>
                <a:cs typeface="Cascadia Code" panose="020B0609020000020004" pitchFamily="49" charset="0"/>
              </a:rPr>
              <a:t>river bank</a:t>
            </a:r>
          </a:p>
          <a:p>
            <a:pPr algn="ctr"/>
            <a:r>
              <a:rPr lang="en-US" sz="2800" dirty="0">
                <a:latin typeface="Cambria" panose="02040503050406030204" pitchFamily="18" charset="0"/>
                <a:ea typeface="Cambria" panose="02040503050406030204" pitchFamily="18" charset="0"/>
                <a:cs typeface="Cascadia Code" panose="020B0609020000020004" pitchFamily="49" charset="0"/>
              </a:rPr>
              <a:t>investment bank</a:t>
            </a:r>
            <a:endParaRPr lang="en-BE" sz="2800" dirty="0">
              <a:latin typeface="Cambria" panose="02040503050406030204" pitchFamily="18" charset="0"/>
              <a:ea typeface="Cambria" panose="02040503050406030204" pitchFamily="18" charset="0"/>
              <a:cs typeface="Cascadia Code" panose="020B0609020000020004" pitchFamily="49" charset="0"/>
            </a:endParaRPr>
          </a:p>
        </p:txBody>
      </p:sp>
      <p:sp>
        <p:nvSpPr>
          <p:cNvPr id="13" name="TextBox 12">
            <a:extLst>
              <a:ext uri="{FF2B5EF4-FFF2-40B4-BE49-F238E27FC236}">
                <a16:creationId xmlns:a16="http://schemas.microsoft.com/office/drawing/2014/main" id="{CC347F0B-597D-E629-F0A0-2E5AF1E3BAD7}"/>
              </a:ext>
            </a:extLst>
          </p:cNvPr>
          <p:cNvSpPr txBox="1"/>
          <p:nvPr/>
        </p:nvSpPr>
        <p:spPr>
          <a:xfrm>
            <a:off x="6095999" y="3765748"/>
            <a:ext cx="5688011" cy="1384995"/>
          </a:xfrm>
          <a:prstGeom prst="rect">
            <a:avLst/>
          </a:prstGeom>
          <a:noFill/>
        </p:spPr>
        <p:txBody>
          <a:bodyPr wrap="square">
            <a:spAutoFit/>
          </a:bodyPr>
          <a:lstStyle/>
          <a:p>
            <a:pPr algn="ctr"/>
            <a:r>
              <a:rPr lang="en-US" sz="2800" dirty="0">
                <a:latin typeface="Cambria" panose="02040503050406030204" pitchFamily="18" charset="0"/>
                <a:ea typeface="Cambria" panose="02040503050406030204" pitchFamily="18" charset="0"/>
                <a:cs typeface="Cascadia Code" panose="020B0609020000020004" pitchFamily="49" charset="0"/>
              </a:rPr>
              <a:t>cell</a:t>
            </a:r>
          </a:p>
          <a:p>
            <a:pPr algn="ctr"/>
            <a:r>
              <a:rPr lang="en-US" sz="2800" dirty="0">
                <a:latin typeface="Cambria" panose="02040503050406030204" pitchFamily="18" charset="0"/>
                <a:ea typeface="Cambria" panose="02040503050406030204" pitchFamily="18" charset="0"/>
                <a:cs typeface="Cascadia Code" panose="020B0609020000020004" pitchFamily="49" charset="0"/>
              </a:rPr>
              <a:t>immune cell</a:t>
            </a:r>
          </a:p>
          <a:p>
            <a:pPr algn="ctr"/>
            <a:r>
              <a:rPr lang="en-US" sz="2800" dirty="0">
                <a:latin typeface="Cambria" panose="02040503050406030204" pitchFamily="18" charset="0"/>
                <a:ea typeface="Cambria" panose="02040503050406030204" pitchFamily="18" charset="0"/>
                <a:cs typeface="Cascadia Code" panose="020B0609020000020004" pitchFamily="49" charset="0"/>
              </a:rPr>
              <a:t>prison cell</a:t>
            </a:r>
            <a:endParaRPr lang="en-BE" sz="2800" dirty="0">
              <a:latin typeface="Cambria" panose="02040503050406030204" pitchFamily="18" charset="0"/>
              <a:ea typeface="Cambria" panose="02040503050406030204" pitchFamily="18" charset="0"/>
              <a:cs typeface="Cascadia Code" panose="020B0609020000020004" pitchFamily="49" charset="0"/>
            </a:endParaRPr>
          </a:p>
        </p:txBody>
      </p:sp>
    </p:spTree>
    <p:extLst>
      <p:ext uri="{BB962C8B-B14F-4D97-AF65-F5344CB8AC3E}">
        <p14:creationId xmlns:p14="http://schemas.microsoft.com/office/powerpoint/2010/main" val="126686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1" grpId="0" build="p"/>
      <p:bldP spid="12" grpId="0" build="p"/>
      <p:bldP spid="1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51345-138C-3E22-6136-D4230BF9F98E}"/>
              </a:ext>
            </a:extLst>
          </p:cNvPr>
          <p:cNvSpPr>
            <a:spLocks noGrp="1"/>
          </p:cNvSpPr>
          <p:nvPr>
            <p:ph type="title"/>
          </p:nvPr>
        </p:nvSpPr>
        <p:spPr/>
        <p:txBody>
          <a:bodyPr/>
          <a:lstStyle/>
          <a:p>
            <a:r>
              <a:rPr lang="en-GB" b="1" dirty="0"/>
              <a:t>Recurrent neural networks process a sequence one step at a time</a:t>
            </a:r>
            <a:endParaRPr lang="en-BE" dirty="0"/>
          </a:p>
        </p:txBody>
      </p:sp>
      <p:sp>
        <p:nvSpPr>
          <p:cNvPr id="4" name="Slide Number Placeholder 3">
            <a:extLst>
              <a:ext uri="{FF2B5EF4-FFF2-40B4-BE49-F238E27FC236}">
                <a16:creationId xmlns:a16="http://schemas.microsoft.com/office/drawing/2014/main" id="{B8B39695-AEE8-5E6C-EB73-BF68FF590E75}"/>
              </a:ext>
            </a:extLst>
          </p:cNvPr>
          <p:cNvSpPr>
            <a:spLocks noGrp="1"/>
          </p:cNvSpPr>
          <p:nvPr>
            <p:ph type="sldNum" sz="quarter" idx="12"/>
          </p:nvPr>
        </p:nvSpPr>
        <p:spPr/>
        <p:txBody>
          <a:bodyPr/>
          <a:lstStyle/>
          <a:p>
            <a:fld id="{94B3E216-A3C5-4E41-AE94-D003E76F1D3A}" type="slidenum">
              <a:rPr lang="en-US" smtClean="0"/>
              <a:pPr/>
              <a:t>6</a:t>
            </a:fld>
            <a:endParaRPr lang="en-US"/>
          </a:p>
        </p:txBody>
      </p:sp>
      <p:sp>
        <p:nvSpPr>
          <p:cNvPr id="6" name="Rectangle: Rounded Corners 5">
            <a:extLst>
              <a:ext uri="{FF2B5EF4-FFF2-40B4-BE49-F238E27FC236}">
                <a16:creationId xmlns:a16="http://schemas.microsoft.com/office/drawing/2014/main" id="{D90CDE4B-D5CD-94B3-F7FE-346CB84FEA45}"/>
              </a:ext>
            </a:extLst>
          </p:cNvPr>
          <p:cNvSpPr/>
          <p:nvPr/>
        </p:nvSpPr>
        <p:spPr>
          <a:xfrm>
            <a:off x="1386168" y="2718867"/>
            <a:ext cx="726831" cy="101990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sp>
        <p:nvSpPr>
          <p:cNvPr id="7" name="Oval 6">
            <a:extLst>
              <a:ext uri="{FF2B5EF4-FFF2-40B4-BE49-F238E27FC236}">
                <a16:creationId xmlns:a16="http://schemas.microsoft.com/office/drawing/2014/main" id="{EF6C303B-D98B-90C2-00D6-4975A1317A8E}"/>
              </a:ext>
            </a:extLst>
          </p:cNvPr>
          <p:cNvSpPr/>
          <p:nvPr/>
        </p:nvSpPr>
        <p:spPr>
          <a:xfrm>
            <a:off x="1450643" y="4242868"/>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cxnSp>
        <p:nvCxnSpPr>
          <p:cNvPr id="8" name="Straight Arrow Connector 7">
            <a:extLst>
              <a:ext uri="{FF2B5EF4-FFF2-40B4-BE49-F238E27FC236}">
                <a16:creationId xmlns:a16="http://schemas.microsoft.com/office/drawing/2014/main" id="{1F13414C-4EED-6370-719E-7DF6878C5C3D}"/>
              </a:ext>
            </a:extLst>
          </p:cNvPr>
          <p:cNvCxnSpPr>
            <a:stCxn id="7" idx="0"/>
            <a:endCxn id="6" idx="2"/>
          </p:cNvCxnSpPr>
          <p:nvPr/>
        </p:nvCxnSpPr>
        <p:spPr>
          <a:xfrm flipV="1">
            <a:off x="1749582" y="3738775"/>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94FCE360-78C9-D7C2-6259-691CE9BEBC3D}"/>
              </a:ext>
            </a:extLst>
          </p:cNvPr>
          <p:cNvSpPr/>
          <p:nvPr/>
        </p:nvSpPr>
        <p:spPr>
          <a:xfrm>
            <a:off x="2914554" y="2718867"/>
            <a:ext cx="726831" cy="101990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sp>
        <p:nvSpPr>
          <p:cNvPr id="10" name="Oval 9">
            <a:extLst>
              <a:ext uri="{FF2B5EF4-FFF2-40B4-BE49-F238E27FC236}">
                <a16:creationId xmlns:a16="http://schemas.microsoft.com/office/drawing/2014/main" id="{0A8A0E56-B7B1-5799-D37F-678B47040965}"/>
              </a:ext>
            </a:extLst>
          </p:cNvPr>
          <p:cNvSpPr/>
          <p:nvPr/>
        </p:nvSpPr>
        <p:spPr>
          <a:xfrm>
            <a:off x="2979029" y="4242868"/>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cxnSp>
        <p:nvCxnSpPr>
          <p:cNvPr id="11" name="Straight Arrow Connector 10">
            <a:extLst>
              <a:ext uri="{FF2B5EF4-FFF2-40B4-BE49-F238E27FC236}">
                <a16:creationId xmlns:a16="http://schemas.microsoft.com/office/drawing/2014/main" id="{0D667047-BA37-E5BC-C751-3CAB695087B7}"/>
              </a:ext>
            </a:extLst>
          </p:cNvPr>
          <p:cNvCxnSpPr>
            <a:stCxn id="10" idx="0"/>
            <a:endCxn id="9" idx="2"/>
          </p:cNvCxnSpPr>
          <p:nvPr/>
        </p:nvCxnSpPr>
        <p:spPr>
          <a:xfrm flipV="1">
            <a:off x="3277968" y="3738775"/>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E015918C-241C-874C-0A27-671E16CB2D2B}"/>
              </a:ext>
            </a:extLst>
          </p:cNvPr>
          <p:cNvSpPr/>
          <p:nvPr/>
        </p:nvSpPr>
        <p:spPr>
          <a:xfrm>
            <a:off x="4442940" y="2718867"/>
            <a:ext cx="726831" cy="101990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sp>
        <p:nvSpPr>
          <p:cNvPr id="13" name="Oval 12">
            <a:extLst>
              <a:ext uri="{FF2B5EF4-FFF2-40B4-BE49-F238E27FC236}">
                <a16:creationId xmlns:a16="http://schemas.microsoft.com/office/drawing/2014/main" id="{B566CE33-8ECF-C7D8-CB9E-25770FA78439}"/>
              </a:ext>
            </a:extLst>
          </p:cNvPr>
          <p:cNvSpPr/>
          <p:nvPr/>
        </p:nvSpPr>
        <p:spPr>
          <a:xfrm>
            <a:off x="4507415" y="4242868"/>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cxnSp>
        <p:nvCxnSpPr>
          <p:cNvPr id="14" name="Straight Arrow Connector 13">
            <a:extLst>
              <a:ext uri="{FF2B5EF4-FFF2-40B4-BE49-F238E27FC236}">
                <a16:creationId xmlns:a16="http://schemas.microsoft.com/office/drawing/2014/main" id="{FF5A5CBC-CF12-1734-436F-F37E531664C6}"/>
              </a:ext>
            </a:extLst>
          </p:cNvPr>
          <p:cNvCxnSpPr>
            <a:stCxn id="13" idx="0"/>
            <a:endCxn id="12" idx="2"/>
          </p:cNvCxnSpPr>
          <p:nvPr/>
        </p:nvCxnSpPr>
        <p:spPr>
          <a:xfrm flipV="1">
            <a:off x="4806354" y="3738775"/>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E3C792E-F4C4-D00F-2961-A734595C62EB}"/>
              </a:ext>
            </a:extLst>
          </p:cNvPr>
          <p:cNvCxnSpPr>
            <a:cxnSpLocks/>
            <a:stCxn id="6" idx="3"/>
            <a:endCxn id="9" idx="1"/>
          </p:cNvCxnSpPr>
          <p:nvPr/>
        </p:nvCxnSpPr>
        <p:spPr>
          <a:xfrm>
            <a:off x="2112999" y="3228821"/>
            <a:ext cx="80155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09075E0-18DF-51AD-4C43-1760BAF0C787}"/>
              </a:ext>
            </a:extLst>
          </p:cNvPr>
          <p:cNvCxnSpPr>
            <a:cxnSpLocks/>
            <a:stCxn id="9" idx="3"/>
            <a:endCxn id="12" idx="1"/>
          </p:cNvCxnSpPr>
          <p:nvPr/>
        </p:nvCxnSpPr>
        <p:spPr>
          <a:xfrm>
            <a:off x="3641385" y="3228821"/>
            <a:ext cx="80155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73C71C6-18BE-E90F-B238-7A7120165922}"/>
                  </a:ext>
                </a:extLst>
              </p:cNvPr>
              <p:cNvSpPr txBox="1"/>
              <p:nvPr/>
            </p:nvSpPr>
            <p:spPr>
              <a:xfrm>
                <a:off x="1433062" y="4330459"/>
                <a:ext cx="599125" cy="668645"/>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𝑥</m:t>
                          </m:r>
                        </m:e>
                        <m:sub>
                          <m:r>
                            <a:rPr lang="en-GB" sz="2400" b="0" i="1" smtClean="0">
                              <a:latin typeface="Cambria Math" panose="02040503050406030204" pitchFamily="18" charset="0"/>
                            </a:rPr>
                            <m:t>0</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17" name="TextBox 16">
                <a:extLst>
                  <a:ext uri="{FF2B5EF4-FFF2-40B4-BE49-F238E27FC236}">
                    <a16:creationId xmlns:a16="http://schemas.microsoft.com/office/drawing/2014/main" id="{573C71C6-18BE-E90F-B238-7A7120165922}"/>
                  </a:ext>
                </a:extLst>
              </p:cNvPr>
              <p:cNvSpPr txBox="1">
                <a:spLocks noRot="1" noChangeAspect="1" noMove="1" noResize="1" noEditPoints="1" noAdjustHandles="1" noChangeArrowheads="1" noChangeShapeType="1" noTextEdit="1"/>
              </p:cNvSpPr>
              <p:nvPr/>
            </p:nvSpPr>
            <p:spPr>
              <a:xfrm>
                <a:off x="1433062" y="4330459"/>
                <a:ext cx="599125" cy="668645"/>
              </a:xfrm>
              <a:prstGeom prst="rect">
                <a:avLst/>
              </a:prstGeom>
              <a:blipFill>
                <a:blip r:embed="rId3"/>
                <a:stretch>
                  <a:fillRect l="-23469" t="-10000" r="-19388" b="-20909"/>
                </a:stretch>
              </a:blipFill>
            </p:spPr>
            <p:txBody>
              <a:bodyPr/>
              <a:lstStyle/>
              <a:p>
                <a:r>
                  <a:rPr lang="en-BE">
                    <a:noFill/>
                  </a:rPr>
                  <a:t> </a:t>
                </a:r>
              </a:p>
            </p:txBody>
          </p:sp>
        </mc:Fallback>
      </mc:AlternateContent>
      <p:sp>
        <p:nvSpPr>
          <p:cNvPr id="18" name="Oval 17">
            <a:extLst>
              <a:ext uri="{FF2B5EF4-FFF2-40B4-BE49-F238E27FC236}">
                <a16:creationId xmlns:a16="http://schemas.microsoft.com/office/drawing/2014/main" id="{4915B778-FF63-329B-7F5E-2B7C3F798B31}"/>
              </a:ext>
            </a:extLst>
          </p:cNvPr>
          <p:cNvSpPr/>
          <p:nvPr/>
        </p:nvSpPr>
        <p:spPr>
          <a:xfrm>
            <a:off x="1451911" y="1616897"/>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19" name="Straight Arrow Connector 18">
            <a:extLst>
              <a:ext uri="{FF2B5EF4-FFF2-40B4-BE49-F238E27FC236}">
                <a16:creationId xmlns:a16="http://schemas.microsoft.com/office/drawing/2014/main" id="{5F2904B1-3F0F-DAED-B42C-D0318D14C9D5}"/>
              </a:ext>
            </a:extLst>
          </p:cNvPr>
          <p:cNvCxnSpPr/>
          <p:nvPr/>
        </p:nvCxnSpPr>
        <p:spPr>
          <a:xfrm flipV="1">
            <a:off x="1750848" y="221477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73F31EEB-B1B5-37CD-62E8-45253A72DBFA}"/>
              </a:ext>
            </a:extLst>
          </p:cNvPr>
          <p:cNvSpPr/>
          <p:nvPr/>
        </p:nvSpPr>
        <p:spPr>
          <a:xfrm>
            <a:off x="2980289" y="1616897"/>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21" name="Straight Arrow Connector 20">
            <a:extLst>
              <a:ext uri="{FF2B5EF4-FFF2-40B4-BE49-F238E27FC236}">
                <a16:creationId xmlns:a16="http://schemas.microsoft.com/office/drawing/2014/main" id="{7DFAD490-7C57-3DDC-9803-EF1F900052F2}"/>
              </a:ext>
            </a:extLst>
          </p:cNvPr>
          <p:cNvCxnSpPr/>
          <p:nvPr/>
        </p:nvCxnSpPr>
        <p:spPr>
          <a:xfrm flipV="1">
            <a:off x="3279226" y="221477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1C0F2196-4F26-728B-6574-0458660A3B6F}"/>
              </a:ext>
            </a:extLst>
          </p:cNvPr>
          <p:cNvSpPr/>
          <p:nvPr/>
        </p:nvSpPr>
        <p:spPr>
          <a:xfrm>
            <a:off x="4508663" y="1616897"/>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23" name="Straight Arrow Connector 22">
            <a:extLst>
              <a:ext uri="{FF2B5EF4-FFF2-40B4-BE49-F238E27FC236}">
                <a16:creationId xmlns:a16="http://schemas.microsoft.com/office/drawing/2014/main" id="{C04D477C-3BAC-B49B-3CEF-9F430EF55628}"/>
              </a:ext>
            </a:extLst>
          </p:cNvPr>
          <p:cNvCxnSpPr/>
          <p:nvPr/>
        </p:nvCxnSpPr>
        <p:spPr>
          <a:xfrm flipV="1">
            <a:off x="4807600" y="221477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386704A-CC11-FACD-DF53-B276FAB7F678}"/>
                  </a:ext>
                </a:extLst>
              </p:cNvPr>
              <p:cNvSpPr txBox="1"/>
              <p:nvPr/>
            </p:nvSpPr>
            <p:spPr>
              <a:xfrm>
                <a:off x="2959653" y="4330459"/>
                <a:ext cx="599125" cy="665567"/>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𝑥</m:t>
                          </m:r>
                        </m:e>
                        <m:sub>
                          <m:r>
                            <a:rPr lang="en-GB" sz="2400" b="0" i="1" smtClean="0">
                              <a:latin typeface="Cambria Math" panose="02040503050406030204" pitchFamily="18" charset="0"/>
                            </a:rPr>
                            <m:t>1</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4" name="TextBox 23">
                <a:extLst>
                  <a:ext uri="{FF2B5EF4-FFF2-40B4-BE49-F238E27FC236}">
                    <a16:creationId xmlns:a16="http://schemas.microsoft.com/office/drawing/2014/main" id="{A386704A-CC11-FACD-DF53-B276FAB7F678}"/>
                  </a:ext>
                </a:extLst>
              </p:cNvPr>
              <p:cNvSpPr txBox="1">
                <a:spLocks noRot="1" noChangeAspect="1" noMove="1" noResize="1" noEditPoints="1" noAdjustHandles="1" noChangeArrowheads="1" noChangeShapeType="1" noTextEdit="1"/>
              </p:cNvSpPr>
              <p:nvPr/>
            </p:nvSpPr>
            <p:spPr>
              <a:xfrm>
                <a:off x="2959653" y="4330459"/>
                <a:ext cx="599125" cy="665567"/>
              </a:xfrm>
              <a:prstGeom prst="rect">
                <a:avLst/>
              </a:prstGeom>
              <a:blipFill>
                <a:blip r:embed="rId4"/>
                <a:stretch>
                  <a:fillRect l="-24490" t="-10000" r="-18367" b="-20000"/>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4A8616A-5095-646D-0B11-D9EAFB240B25}"/>
                  </a:ext>
                </a:extLst>
              </p:cNvPr>
              <p:cNvSpPr txBox="1"/>
              <p:nvPr/>
            </p:nvSpPr>
            <p:spPr>
              <a:xfrm>
                <a:off x="4486244" y="4330459"/>
                <a:ext cx="599125" cy="666336"/>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𝑥</m:t>
                          </m:r>
                        </m:e>
                        <m:sub>
                          <m:r>
                            <a:rPr lang="en-GB" sz="2400" b="0" i="1" smtClean="0">
                              <a:latin typeface="Cambria Math" panose="02040503050406030204" pitchFamily="18" charset="0"/>
                            </a:rPr>
                            <m:t>2</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5" name="TextBox 24">
                <a:extLst>
                  <a:ext uri="{FF2B5EF4-FFF2-40B4-BE49-F238E27FC236}">
                    <a16:creationId xmlns:a16="http://schemas.microsoft.com/office/drawing/2014/main" id="{D4A8616A-5095-646D-0B11-D9EAFB240B25}"/>
                  </a:ext>
                </a:extLst>
              </p:cNvPr>
              <p:cNvSpPr txBox="1">
                <a:spLocks noRot="1" noChangeAspect="1" noMove="1" noResize="1" noEditPoints="1" noAdjustHandles="1" noChangeArrowheads="1" noChangeShapeType="1" noTextEdit="1"/>
              </p:cNvSpPr>
              <p:nvPr/>
            </p:nvSpPr>
            <p:spPr>
              <a:xfrm>
                <a:off x="4486244" y="4330459"/>
                <a:ext cx="599125" cy="666336"/>
              </a:xfrm>
              <a:prstGeom prst="rect">
                <a:avLst/>
              </a:prstGeom>
              <a:blipFill>
                <a:blip r:embed="rId5"/>
                <a:stretch>
                  <a:fillRect l="-24490" t="-10000" r="-18367" b="-20909"/>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DD1DD1A-1E93-8788-83DB-92E41B57ED75}"/>
                  </a:ext>
                </a:extLst>
              </p:cNvPr>
              <p:cNvSpPr txBox="1"/>
              <p:nvPr/>
            </p:nvSpPr>
            <p:spPr>
              <a:xfrm>
                <a:off x="1450663" y="1698959"/>
                <a:ext cx="599125" cy="694101"/>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0</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6" name="TextBox 25">
                <a:extLst>
                  <a:ext uri="{FF2B5EF4-FFF2-40B4-BE49-F238E27FC236}">
                    <a16:creationId xmlns:a16="http://schemas.microsoft.com/office/drawing/2014/main" id="{FDD1DD1A-1E93-8788-83DB-92E41B57ED75}"/>
                  </a:ext>
                </a:extLst>
              </p:cNvPr>
              <p:cNvSpPr txBox="1">
                <a:spLocks noRot="1" noChangeAspect="1" noMove="1" noResize="1" noEditPoints="1" noAdjustHandles="1" noChangeArrowheads="1" noChangeShapeType="1" noTextEdit="1"/>
              </p:cNvSpPr>
              <p:nvPr/>
            </p:nvSpPr>
            <p:spPr>
              <a:xfrm>
                <a:off x="1450663" y="1698959"/>
                <a:ext cx="599125" cy="694101"/>
              </a:xfrm>
              <a:prstGeom prst="rect">
                <a:avLst/>
              </a:prstGeom>
              <a:blipFill>
                <a:blip r:embed="rId6"/>
                <a:stretch>
                  <a:fillRect l="-24490" t="-10526" r="-19388" b="-15789"/>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86E1163-4EBB-229A-7C8B-D51D9CFDACF2}"/>
                  </a:ext>
                </a:extLst>
              </p:cNvPr>
              <p:cNvSpPr txBox="1"/>
              <p:nvPr/>
            </p:nvSpPr>
            <p:spPr>
              <a:xfrm>
                <a:off x="2980284" y="1683576"/>
                <a:ext cx="599125" cy="665567"/>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1</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7" name="TextBox 26">
                <a:extLst>
                  <a:ext uri="{FF2B5EF4-FFF2-40B4-BE49-F238E27FC236}">
                    <a16:creationId xmlns:a16="http://schemas.microsoft.com/office/drawing/2014/main" id="{286E1163-4EBB-229A-7C8B-D51D9CFDACF2}"/>
                  </a:ext>
                </a:extLst>
              </p:cNvPr>
              <p:cNvSpPr txBox="1">
                <a:spLocks noRot="1" noChangeAspect="1" noMove="1" noResize="1" noEditPoints="1" noAdjustHandles="1" noChangeArrowheads="1" noChangeShapeType="1" noTextEdit="1"/>
              </p:cNvSpPr>
              <p:nvPr/>
            </p:nvSpPr>
            <p:spPr>
              <a:xfrm>
                <a:off x="2980284" y="1683576"/>
                <a:ext cx="599125" cy="665567"/>
              </a:xfrm>
              <a:prstGeom prst="rect">
                <a:avLst/>
              </a:prstGeom>
              <a:blipFill>
                <a:blip r:embed="rId7"/>
                <a:stretch>
                  <a:fillRect l="-24490" t="-10092" r="-18367" b="-21101"/>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A0019FA-B53C-7456-5820-E96706297160}"/>
                  </a:ext>
                </a:extLst>
              </p:cNvPr>
              <p:cNvSpPr txBox="1"/>
              <p:nvPr/>
            </p:nvSpPr>
            <p:spPr>
              <a:xfrm>
                <a:off x="4507415" y="1682593"/>
                <a:ext cx="599125" cy="665567"/>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1</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8" name="TextBox 27">
                <a:extLst>
                  <a:ext uri="{FF2B5EF4-FFF2-40B4-BE49-F238E27FC236}">
                    <a16:creationId xmlns:a16="http://schemas.microsoft.com/office/drawing/2014/main" id="{CA0019FA-B53C-7456-5820-E96706297160}"/>
                  </a:ext>
                </a:extLst>
              </p:cNvPr>
              <p:cNvSpPr txBox="1">
                <a:spLocks noRot="1" noChangeAspect="1" noMove="1" noResize="1" noEditPoints="1" noAdjustHandles="1" noChangeArrowheads="1" noChangeShapeType="1" noTextEdit="1"/>
              </p:cNvSpPr>
              <p:nvPr/>
            </p:nvSpPr>
            <p:spPr>
              <a:xfrm>
                <a:off x="4507415" y="1682593"/>
                <a:ext cx="599125" cy="665567"/>
              </a:xfrm>
              <a:prstGeom prst="rect">
                <a:avLst/>
              </a:prstGeom>
              <a:blipFill>
                <a:blip r:embed="rId8"/>
                <a:stretch>
                  <a:fillRect l="-23232" t="-10092" r="-18182" b="-21101"/>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1CEE63E-A315-F59A-B8A9-F4ECDB20368D}"/>
                  </a:ext>
                </a:extLst>
              </p:cNvPr>
              <p:cNvSpPr txBox="1"/>
              <p:nvPr/>
            </p:nvSpPr>
            <p:spPr>
              <a:xfrm>
                <a:off x="2221098" y="2718867"/>
                <a:ext cx="599125" cy="668645"/>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ℎ</m:t>
                          </m:r>
                        </m:e>
                        <m:sub>
                          <m:r>
                            <a:rPr lang="en-GB" sz="2400" b="0" i="1" smtClean="0">
                              <a:latin typeface="Cambria Math" panose="02040503050406030204" pitchFamily="18" charset="0"/>
                            </a:rPr>
                            <m:t>0</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9" name="TextBox 28">
                <a:extLst>
                  <a:ext uri="{FF2B5EF4-FFF2-40B4-BE49-F238E27FC236}">
                    <a16:creationId xmlns:a16="http://schemas.microsoft.com/office/drawing/2014/main" id="{91CEE63E-A315-F59A-B8A9-F4ECDB20368D}"/>
                  </a:ext>
                </a:extLst>
              </p:cNvPr>
              <p:cNvSpPr txBox="1">
                <a:spLocks noRot="1" noChangeAspect="1" noMove="1" noResize="1" noEditPoints="1" noAdjustHandles="1" noChangeArrowheads="1" noChangeShapeType="1" noTextEdit="1"/>
              </p:cNvSpPr>
              <p:nvPr/>
            </p:nvSpPr>
            <p:spPr>
              <a:xfrm>
                <a:off x="2221098" y="2718867"/>
                <a:ext cx="599125" cy="668645"/>
              </a:xfrm>
              <a:prstGeom prst="rect">
                <a:avLst/>
              </a:prstGeom>
              <a:blipFill>
                <a:blip r:embed="rId9"/>
                <a:stretch>
                  <a:fillRect l="-23232" t="-10000" r="-20202" b="-20909"/>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6E03C4E-CF82-F5B8-FCC6-03BF92DC924B}"/>
                  </a:ext>
                </a:extLst>
              </p:cNvPr>
              <p:cNvSpPr txBox="1"/>
              <p:nvPr/>
            </p:nvSpPr>
            <p:spPr>
              <a:xfrm>
                <a:off x="3733693" y="2718867"/>
                <a:ext cx="599125" cy="665567"/>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ℎ</m:t>
                          </m:r>
                        </m:e>
                        <m:sub>
                          <m:r>
                            <a:rPr lang="en-GB" sz="2400" b="0" i="1" smtClean="0">
                              <a:latin typeface="Cambria Math" panose="02040503050406030204" pitchFamily="18" charset="0"/>
                            </a:rPr>
                            <m:t>1</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30" name="TextBox 29">
                <a:extLst>
                  <a:ext uri="{FF2B5EF4-FFF2-40B4-BE49-F238E27FC236}">
                    <a16:creationId xmlns:a16="http://schemas.microsoft.com/office/drawing/2014/main" id="{F6E03C4E-CF82-F5B8-FCC6-03BF92DC924B}"/>
                  </a:ext>
                </a:extLst>
              </p:cNvPr>
              <p:cNvSpPr txBox="1">
                <a:spLocks noRot="1" noChangeAspect="1" noMove="1" noResize="1" noEditPoints="1" noAdjustHandles="1" noChangeArrowheads="1" noChangeShapeType="1" noTextEdit="1"/>
              </p:cNvSpPr>
              <p:nvPr/>
            </p:nvSpPr>
            <p:spPr>
              <a:xfrm>
                <a:off x="3733693" y="2718867"/>
                <a:ext cx="599125" cy="665567"/>
              </a:xfrm>
              <a:prstGeom prst="rect">
                <a:avLst/>
              </a:prstGeom>
              <a:blipFill>
                <a:blip r:embed="rId10"/>
                <a:stretch>
                  <a:fillRect l="-23232" t="-10092" r="-19192" b="-21101"/>
                </a:stretch>
              </a:blipFill>
            </p:spPr>
            <p:txBody>
              <a:bodyPr/>
              <a:lstStyle/>
              <a:p>
                <a:r>
                  <a:rPr lang="en-BE">
                    <a:noFill/>
                  </a:rPr>
                  <a:t> </a:t>
                </a:r>
              </a:p>
            </p:txBody>
          </p:sp>
        </mc:Fallback>
      </mc:AlternateContent>
      <p:grpSp>
        <p:nvGrpSpPr>
          <p:cNvPr id="31" name="Group 30">
            <a:extLst>
              <a:ext uri="{FF2B5EF4-FFF2-40B4-BE49-F238E27FC236}">
                <a16:creationId xmlns:a16="http://schemas.microsoft.com/office/drawing/2014/main" id="{3B04B9BF-E1CE-932A-461E-DEBB0DFA43C6}"/>
              </a:ext>
            </a:extLst>
          </p:cNvPr>
          <p:cNvGrpSpPr/>
          <p:nvPr/>
        </p:nvGrpSpPr>
        <p:grpSpPr>
          <a:xfrm>
            <a:off x="8069041" y="1616897"/>
            <a:ext cx="2110866" cy="3377333"/>
            <a:chOff x="1008185" y="2596660"/>
            <a:chExt cx="2110866" cy="3377333"/>
          </a:xfrm>
        </p:grpSpPr>
        <p:sp>
          <p:nvSpPr>
            <p:cNvPr id="32" name="Rectangle: Rounded Corners 31">
              <a:extLst>
                <a:ext uri="{FF2B5EF4-FFF2-40B4-BE49-F238E27FC236}">
                  <a16:creationId xmlns:a16="http://schemas.microsoft.com/office/drawing/2014/main" id="{C87BBAAF-3BEE-027A-81CA-5646E448AC98}"/>
                </a:ext>
              </a:extLst>
            </p:cNvPr>
            <p:cNvSpPr/>
            <p:nvPr/>
          </p:nvSpPr>
          <p:spPr>
            <a:xfrm>
              <a:off x="1453661" y="3698630"/>
              <a:ext cx="726831" cy="101990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sp>
          <p:nvSpPr>
            <p:cNvPr id="33" name="Oval 32">
              <a:extLst>
                <a:ext uri="{FF2B5EF4-FFF2-40B4-BE49-F238E27FC236}">
                  <a16:creationId xmlns:a16="http://schemas.microsoft.com/office/drawing/2014/main" id="{58C85103-3594-CD6D-57E6-AE925A2DB6D6}"/>
                </a:ext>
              </a:extLst>
            </p:cNvPr>
            <p:cNvSpPr/>
            <p:nvPr/>
          </p:nvSpPr>
          <p:spPr>
            <a:xfrm>
              <a:off x="1518136" y="5222631"/>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sp>
          <p:nvSpPr>
            <p:cNvPr id="34" name="Oval 33">
              <a:extLst>
                <a:ext uri="{FF2B5EF4-FFF2-40B4-BE49-F238E27FC236}">
                  <a16:creationId xmlns:a16="http://schemas.microsoft.com/office/drawing/2014/main" id="{41773EC6-9126-012B-6CC4-43A53D2686C8}"/>
                </a:ext>
              </a:extLst>
            </p:cNvPr>
            <p:cNvSpPr/>
            <p:nvPr/>
          </p:nvSpPr>
          <p:spPr>
            <a:xfrm>
              <a:off x="1518137" y="2596660"/>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35" name="Straight Arrow Connector 34">
              <a:extLst>
                <a:ext uri="{FF2B5EF4-FFF2-40B4-BE49-F238E27FC236}">
                  <a16:creationId xmlns:a16="http://schemas.microsoft.com/office/drawing/2014/main" id="{B56FF393-3E7A-7643-A53A-9B6DEDD30F02}"/>
                </a:ext>
              </a:extLst>
            </p:cNvPr>
            <p:cNvCxnSpPr>
              <a:stCxn id="33" idx="0"/>
              <a:endCxn id="32" idx="2"/>
            </p:cNvCxnSpPr>
            <p:nvPr/>
          </p:nvCxnSpPr>
          <p:spPr>
            <a:xfrm flipV="1">
              <a:off x="1817075" y="4718538"/>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0D58903-D1C5-0279-CBD8-73C8548590D1}"/>
                </a:ext>
              </a:extLst>
            </p:cNvPr>
            <p:cNvCxnSpPr/>
            <p:nvPr/>
          </p:nvCxnSpPr>
          <p:spPr>
            <a:xfrm flipV="1">
              <a:off x="1817074" y="3194537"/>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3552239-6384-5A47-B0CD-D12AA8F92D1A}"/>
                    </a:ext>
                  </a:extLst>
                </p:cNvPr>
                <p:cNvSpPr txBox="1"/>
                <p:nvPr/>
              </p:nvSpPr>
              <p:spPr>
                <a:xfrm>
                  <a:off x="1498213" y="5310222"/>
                  <a:ext cx="599125" cy="663771"/>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𝑥</m:t>
                            </m:r>
                          </m:e>
                          <m:sub>
                            <m:r>
                              <a:rPr lang="en-GB" sz="2400" b="0" i="1" smtClean="0">
                                <a:latin typeface="Cambria Math" panose="02040503050406030204" pitchFamily="18" charset="0"/>
                              </a:rPr>
                              <m:t>𝑡</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37" name="TextBox 36">
                  <a:extLst>
                    <a:ext uri="{FF2B5EF4-FFF2-40B4-BE49-F238E27FC236}">
                      <a16:creationId xmlns:a16="http://schemas.microsoft.com/office/drawing/2014/main" id="{03552239-6384-5A47-B0CD-D12AA8F92D1A}"/>
                    </a:ext>
                  </a:extLst>
                </p:cNvPr>
                <p:cNvSpPr txBox="1">
                  <a:spLocks noRot="1" noChangeAspect="1" noMove="1" noResize="1" noEditPoints="1" noAdjustHandles="1" noChangeArrowheads="1" noChangeShapeType="1" noTextEdit="1"/>
                </p:cNvSpPr>
                <p:nvPr/>
              </p:nvSpPr>
              <p:spPr>
                <a:xfrm>
                  <a:off x="1498213" y="5310222"/>
                  <a:ext cx="599125" cy="663771"/>
                </a:xfrm>
                <a:prstGeom prst="rect">
                  <a:avLst/>
                </a:prstGeom>
                <a:blipFill>
                  <a:blip r:embed="rId11"/>
                  <a:stretch>
                    <a:fillRect l="-23469" t="-11009" r="-17347" b="-21101"/>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D3CC1F6-BE2B-E6D6-BFEE-C59B2AC8C796}"/>
                    </a:ext>
                  </a:extLst>
                </p:cNvPr>
                <p:cNvSpPr txBox="1"/>
                <p:nvPr/>
              </p:nvSpPr>
              <p:spPr>
                <a:xfrm>
                  <a:off x="1518136" y="2666513"/>
                  <a:ext cx="599125" cy="663771"/>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𝑡</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38" name="TextBox 37">
                  <a:extLst>
                    <a:ext uri="{FF2B5EF4-FFF2-40B4-BE49-F238E27FC236}">
                      <a16:creationId xmlns:a16="http://schemas.microsoft.com/office/drawing/2014/main" id="{CD3CC1F6-BE2B-E6D6-BFEE-C59B2AC8C796}"/>
                    </a:ext>
                  </a:extLst>
                </p:cNvPr>
                <p:cNvSpPr txBox="1">
                  <a:spLocks noRot="1" noChangeAspect="1" noMove="1" noResize="1" noEditPoints="1" noAdjustHandles="1" noChangeArrowheads="1" noChangeShapeType="1" noTextEdit="1"/>
                </p:cNvSpPr>
                <p:nvPr/>
              </p:nvSpPr>
              <p:spPr>
                <a:xfrm>
                  <a:off x="1518136" y="2666513"/>
                  <a:ext cx="599125" cy="663771"/>
                </a:xfrm>
                <a:prstGeom prst="rect">
                  <a:avLst/>
                </a:prstGeom>
                <a:blipFill>
                  <a:blip r:embed="rId12"/>
                  <a:stretch>
                    <a:fillRect l="-23232" t="-11927" r="-37374" b="-20183"/>
                  </a:stretch>
                </a:blipFill>
              </p:spPr>
              <p:txBody>
                <a:bodyPr/>
                <a:lstStyle/>
                <a:p>
                  <a:r>
                    <a:rPr lang="en-BE">
                      <a:noFill/>
                    </a:rPr>
                    <a:t> </a:t>
                  </a:r>
                </a:p>
              </p:txBody>
            </p:sp>
          </mc:Fallback>
        </mc:AlternateContent>
        <p:cxnSp>
          <p:nvCxnSpPr>
            <p:cNvPr id="39" name="Straight Connector 38">
              <a:extLst>
                <a:ext uri="{FF2B5EF4-FFF2-40B4-BE49-F238E27FC236}">
                  <a16:creationId xmlns:a16="http://schemas.microsoft.com/office/drawing/2014/main" id="{29B01AD3-3622-3B20-0299-9225F5FA5180}"/>
                </a:ext>
              </a:extLst>
            </p:cNvPr>
            <p:cNvCxnSpPr>
              <a:stCxn id="32" idx="3"/>
            </p:cNvCxnSpPr>
            <p:nvPr/>
          </p:nvCxnSpPr>
          <p:spPr>
            <a:xfrm>
              <a:off x="2180492" y="4208584"/>
              <a:ext cx="3985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6C88D34-1504-2F7B-8309-9F207D4BABA4}"/>
                </a:ext>
              </a:extLst>
            </p:cNvPr>
            <p:cNvCxnSpPr>
              <a:cxnSpLocks/>
            </p:cNvCxnSpPr>
            <p:nvPr/>
          </p:nvCxnSpPr>
          <p:spPr>
            <a:xfrm flipV="1">
              <a:off x="2579077" y="3534508"/>
              <a:ext cx="0" cy="6740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5806901-7051-E740-6B50-D3B180FA0D60}"/>
                </a:ext>
              </a:extLst>
            </p:cNvPr>
            <p:cNvCxnSpPr>
              <a:cxnSpLocks/>
            </p:cNvCxnSpPr>
            <p:nvPr/>
          </p:nvCxnSpPr>
          <p:spPr>
            <a:xfrm flipH="1">
              <a:off x="1008185" y="3534508"/>
              <a:ext cx="157089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DBE9682-D936-44BB-C674-A6BAB216EAF0}"/>
                </a:ext>
              </a:extLst>
            </p:cNvPr>
            <p:cNvCxnSpPr>
              <a:cxnSpLocks/>
            </p:cNvCxnSpPr>
            <p:nvPr/>
          </p:nvCxnSpPr>
          <p:spPr>
            <a:xfrm>
              <a:off x="1008185" y="3534508"/>
              <a:ext cx="0" cy="6740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02B7E0B-8C3F-B699-CDB1-526CCE274EBF}"/>
                </a:ext>
              </a:extLst>
            </p:cNvPr>
            <p:cNvCxnSpPr>
              <a:cxnSpLocks/>
              <a:endCxn id="32" idx="1"/>
            </p:cNvCxnSpPr>
            <p:nvPr/>
          </p:nvCxnSpPr>
          <p:spPr>
            <a:xfrm>
              <a:off x="1008185" y="4208584"/>
              <a:ext cx="4454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3619700-1C10-1C75-8188-C1FA983EBA2B}"/>
                    </a:ext>
                  </a:extLst>
                </p:cNvPr>
                <p:cNvSpPr txBox="1"/>
                <p:nvPr/>
              </p:nvSpPr>
              <p:spPr>
                <a:xfrm>
                  <a:off x="2519926" y="3693199"/>
                  <a:ext cx="599125" cy="663771"/>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ℎ</m:t>
                            </m:r>
                          </m:e>
                          <m:sub>
                            <m:r>
                              <a:rPr lang="en-GB" sz="2400" b="0" i="1" smtClean="0">
                                <a:latin typeface="Cambria Math" panose="02040503050406030204" pitchFamily="18" charset="0"/>
                              </a:rPr>
                              <m:t>𝑡</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44" name="TextBox 43">
                  <a:extLst>
                    <a:ext uri="{FF2B5EF4-FFF2-40B4-BE49-F238E27FC236}">
                      <a16:creationId xmlns:a16="http://schemas.microsoft.com/office/drawing/2014/main" id="{D3619700-1C10-1C75-8188-C1FA983EBA2B}"/>
                    </a:ext>
                  </a:extLst>
                </p:cNvPr>
                <p:cNvSpPr txBox="1">
                  <a:spLocks noRot="1" noChangeAspect="1" noMove="1" noResize="1" noEditPoints="1" noAdjustHandles="1" noChangeArrowheads="1" noChangeShapeType="1" noTextEdit="1"/>
                </p:cNvSpPr>
                <p:nvPr/>
              </p:nvSpPr>
              <p:spPr>
                <a:xfrm>
                  <a:off x="2519926" y="3693199"/>
                  <a:ext cx="599125" cy="663771"/>
                </a:xfrm>
                <a:prstGeom prst="rect">
                  <a:avLst/>
                </a:prstGeom>
                <a:blipFill>
                  <a:blip r:embed="rId13"/>
                  <a:stretch>
                    <a:fillRect l="-24490" t="-11009" r="-18367" b="-21101"/>
                  </a:stretch>
                </a:blipFill>
              </p:spPr>
              <p:txBody>
                <a:bodyPr/>
                <a:lstStyle/>
                <a:p>
                  <a:r>
                    <a:rPr lang="en-BE">
                      <a:noFill/>
                    </a:rPr>
                    <a:t> </a:t>
                  </a:r>
                </a:p>
              </p:txBody>
            </p:sp>
          </mc:Fallback>
        </mc:AlternateContent>
      </p:grpSp>
      <p:sp>
        <p:nvSpPr>
          <p:cNvPr id="46" name="TextBox 45">
            <a:extLst>
              <a:ext uri="{FF2B5EF4-FFF2-40B4-BE49-F238E27FC236}">
                <a16:creationId xmlns:a16="http://schemas.microsoft.com/office/drawing/2014/main" id="{D1D0DEC6-D58F-F19F-DA5D-AFD7D7522E6B}"/>
              </a:ext>
            </a:extLst>
          </p:cNvPr>
          <p:cNvSpPr txBox="1"/>
          <p:nvPr/>
        </p:nvSpPr>
        <p:spPr>
          <a:xfrm flipH="1">
            <a:off x="1013107" y="4988474"/>
            <a:ext cx="1472948" cy="400110"/>
          </a:xfrm>
          <a:prstGeom prst="rect">
            <a:avLst/>
          </a:prstGeom>
          <a:noFill/>
        </p:spPr>
        <p:txBody>
          <a:bodyPr wrap="square">
            <a:spAutoFit/>
          </a:bodyPr>
          <a:lstStyle/>
          <a:p>
            <a:pPr algn="ctr"/>
            <a:r>
              <a:rPr lang="en-US" sz="2000" dirty="0">
                <a:latin typeface="Cambria" panose="02040503050406030204" pitchFamily="18" charset="0"/>
                <a:ea typeface="Cambria" panose="02040503050406030204" pitchFamily="18" charset="0"/>
                <a:cs typeface="Cascadia Code" panose="020B0609020000020004" pitchFamily="49" charset="0"/>
              </a:rPr>
              <a:t>&lt;cage&gt;</a:t>
            </a:r>
            <a:endParaRPr lang="en-BE" sz="2000" dirty="0">
              <a:latin typeface="Cambria" panose="02040503050406030204" pitchFamily="18" charset="0"/>
              <a:ea typeface="Cambria" panose="02040503050406030204" pitchFamily="18" charset="0"/>
              <a:cs typeface="Cascadia Code" panose="020B0609020000020004" pitchFamily="49" charset="0"/>
            </a:endParaRPr>
          </a:p>
        </p:txBody>
      </p:sp>
      <p:sp>
        <p:nvSpPr>
          <p:cNvPr id="47" name="TextBox 46">
            <a:extLst>
              <a:ext uri="{FF2B5EF4-FFF2-40B4-BE49-F238E27FC236}">
                <a16:creationId xmlns:a16="http://schemas.microsoft.com/office/drawing/2014/main" id="{6CD4124B-3F17-30C3-C9BE-4C8B99DA47E2}"/>
              </a:ext>
            </a:extLst>
          </p:cNvPr>
          <p:cNvSpPr txBox="1"/>
          <p:nvPr/>
        </p:nvSpPr>
        <p:spPr>
          <a:xfrm flipH="1">
            <a:off x="2546846" y="4988474"/>
            <a:ext cx="1472948" cy="400110"/>
          </a:xfrm>
          <a:prstGeom prst="rect">
            <a:avLst/>
          </a:prstGeom>
          <a:noFill/>
        </p:spPr>
        <p:txBody>
          <a:bodyPr wrap="square">
            <a:spAutoFit/>
          </a:bodyPr>
          <a:lstStyle/>
          <a:p>
            <a:pPr algn="ctr"/>
            <a:r>
              <a:rPr lang="en-US" sz="2000" dirty="0">
                <a:latin typeface="Cambria" panose="02040503050406030204" pitchFamily="18" charset="0"/>
                <a:ea typeface="Cambria" panose="02040503050406030204" pitchFamily="18" charset="0"/>
                <a:cs typeface="Cascadia Code" panose="020B0609020000020004" pitchFamily="49" charset="0"/>
              </a:rPr>
              <a:t>&lt;the&gt;</a:t>
            </a:r>
            <a:endParaRPr lang="en-BE" sz="2000" dirty="0">
              <a:latin typeface="Cambria" panose="02040503050406030204" pitchFamily="18" charset="0"/>
              <a:ea typeface="Cambria" panose="02040503050406030204" pitchFamily="18" charset="0"/>
              <a:cs typeface="Cascadia Code" panose="020B0609020000020004" pitchFamily="49" charset="0"/>
            </a:endParaRPr>
          </a:p>
        </p:txBody>
      </p:sp>
      <p:sp>
        <p:nvSpPr>
          <p:cNvPr id="48" name="TextBox 47">
            <a:extLst>
              <a:ext uri="{FF2B5EF4-FFF2-40B4-BE49-F238E27FC236}">
                <a16:creationId xmlns:a16="http://schemas.microsoft.com/office/drawing/2014/main" id="{E3868699-7901-72FB-77BE-62E6D3F6A7D8}"/>
              </a:ext>
            </a:extLst>
          </p:cNvPr>
          <p:cNvSpPr txBox="1"/>
          <p:nvPr/>
        </p:nvSpPr>
        <p:spPr>
          <a:xfrm flipH="1">
            <a:off x="4069879" y="4988474"/>
            <a:ext cx="1472948" cy="400110"/>
          </a:xfrm>
          <a:prstGeom prst="rect">
            <a:avLst/>
          </a:prstGeom>
          <a:noFill/>
        </p:spPr>
        <p:txBody>
          <a:bodyPr wrap="square">
            <a:spAutoFit/>
          </a:bodyPr>
          <a:lstStyle/>
          <a:p>
            <a:pPr algn="ctr"/>
            <a:r>
              <a:rPr lang="en-US" sz="2000" dirty="0">
                <a:latin typeface="Cambria" panose="02040503050406030204" pitchFamily="18" charset="0"/>
                <a:ea typeface="Cambria" panose="02040503050406030204" pitchFamily="18" charset="0"/>
                <a:cs typeface="Cascadia Code" panose="020B0609020000020004" pitchFamily="49" charset="0"/>
              </a:rPr>
              <a:t>&lt;swallow&gt;</a:t>
            </a:r>
            <a:endParaRPr lang="en-BE" sz="2000" dirty="0">
              <a:latin typeface="Cambria" panose="02040503050406030204" pitchFamily="18" charset="0"/>
              <a:ea typeface="Cambria" panose="02040503050406030204" pitchFamily="18" charset="0"/>
              <a:cs typeface="Cascadia Code" panose="020B0609020000020004" pitchFamily="49" charset="0"/>
            </a:endParaRPr>
          </a:p>
        </p:txBody>
      </p:sp>
      <p:cxnSp>
        <p:nvCxnSpPr>
          <p:cNvPr id="50" name="Straight Arrow Connector 49">
            <a:extLst>
              <a:ext uri="{FF2B5EF4-FFF2-40B4-BE49-F238E27FC236}">
                <a16:creationId xmlns:a16="http://schemas.microsoft.com/office/drawing/2014/main" id="{E0BC2421-1F9C-985B-CB36-0E6708795668}"/>
              </a:ext>
            </a:extLst>
          </p:cNvPr>
          <p:cNvCxnSpPr/>
          <p:nvPr/>
        </p:nvCxnSpPr>
        <p:spPr>
          <a:xfrm>
            <a:off x="1386168" y="5636623"/>
            <a:ext cx="392270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57A19CBC-18E2-17E7-DD70-38388754E25B}"/>
              </a:ext>
            </a:extLst>
          </p:cNvPr>
          <p:cNvSpPr txBox="1"/>
          <p:nvPr/>
        </p:nvSpPr>
        <p:spPr>
          <a:xfrm>
            <a:off x="1835331" y="5721533"/>
            <a:ext cx="2971023" cy="338554"/>
          </a:xfrm>
          <a:prstGeom prst="rect">
            <a:avLst/>
          </a:prstGeom>
          <a:noFill/>
        </p:spPr>
        <p:txBody>
          <a:bodyPr wrap="square" rtlCol="0">
            <a:spAutoFit/>
          </a:bodyPr>
          <a:lstStyle/>
          <a:p>
            <a:pPr algn="ctr"/>
            <a:r>
              <a:rPr lang="en-US" sz="1600" b="1" dirty="0"/>
              <a:t>Sequence</a:t>
            </a:r>
            <a:endParaRPr lang="en-BE" sz="1600" b="1" dirty="0"/>
          </a:p>
        </p:txBody>
      </p:sp>
    </p:spTree>
    <p:extLst>
      <p:ext uri="{BB962C8B-B14F-4D97-AF65-F5344CB8AC3E}">
        <p14:creationId xmlns:p14="http://schemas.microsoft.com/office/powerpoint/2010/main" val="391528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3C746-1153-72D3-627E-B511E9B8A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2AF9F-6CCF-FB65-34EB-7A3C3564AE46}"/>
              </a:ext>
            </a:extLst>
          </p:cNvPr>
          <p:cNvSpPr>
            <a:spLocks noGrp="1"/>
          </p:cNvSpPr>
          <p:nvPr>
            <p:ph type="title"/>
          </p:nvPr>
        </p:nvSpPr>
        <p:spPr/>
        <p:txBody>
          <a:bodyPr/>
          <a:lstStyle/>
          <a:p>
            <a:r>
              <a:rPr lang="en-GB" b="1" dirty="0"/>
              <a:t>The hidden state acts as a running summary of the past</a:t>
            </a:r>
            <a:endParaRPr lang="en-BE" dirty="0"/>
          </a:p>
        </p:txBody>
      </p:sp>
      <p:sp>
        <p:nvSpPr>
          <p:cNvPr id="4" name="Slide Number Placeholder 3">
            <a:extLst>
              <a:ext uri="{FF2B5EF4-FFF2-40B4-BE49-F238E27FC236}">
                <a16:creationId xmlns:a16="http://schemas.microsoft.com/office/drawing/2014/main" id="{FBDF7A3A-4808-2F9B-9B20-D9AF6E433C31}"/>
              </a:ext>
            </a:extLst>
          </p:cNvPr>
          <p:cNvSpPr>
            <a:spLocks noGrp="1"/>
          </p:cNvSpPr>
          <p:nvPr>
            <p:ph type="sldNum" sz="quarter" idx="12"/>
          </p:nvPr>
        </p:nvSpPr>
        <p:spPr/>
        <p:txBody>
          <a:bodyPr/>
          <a:lstStyle/>
          <a:p>
            <a:fld id="{94B3E216-A3C5-4E41-AE94-D003E76F1D3A}" type="slidenum">
              <a:rPr lang="en-US" smtClean="0"/>
              <a:pPr/>
              <a:t>7</a:t>
            </a:fld>
            <a:endParaRPr lang="en-US"/>
          </a:p>
        </p:txBody>
      </p:sp>
      <p:sp>
        <p:nvSpPr>
          <p:cNvPr id="6" name="Rectangle: Rounded Corners 5">
            <a:extLst>
              <a:ext uri="{FF2B5EF4-FFF2-40B4-BE49-F238E27FC236}">
                <a16:creationId xmlns:a16="http://schemas.microsoft.com/office/drawing/2014/main" id="{CD015341-6AA5-7839-7598-AB6186CCA08F}"/>
              </a:ext>
            </a:extLst>
          </p:cNvPr>
          <p:cNvSpPr/>
          <p:nvPr/>
        </p:nvSpPr>
        <p:spPr>
          <a:xfrm>
            <a:off x="1247062" y="2718867"/>
            <a:ext cx="1005044" cy="1019908"/>
          </a:xfrm>
          <a:prstGeom prst="roundRect">
            <a:avLst/>
          </a:prstGeom>
          <a:ln/>
        </p:spPr>
        <p:style>
          <a:lnRef idx="3">
            <a:schemeClr val="lt1"/>
          </a:lnRef>
          <a:fillRef idx="1">
            <a:schemeClr val="accent2"/>
          </a:fillRef>
          <a:effectRef idx="1">
            <a:schemeClr val="accent2"/>
          </a:effectRef>
          <a:fontRef idx="minor">
            <a:schemeClr val="lt1"/>
          </a:fontRef>
        </p:style>
        <p:txBody>
          <a:bodyPr lIns="0" tIns="0" rIns="0" bIns="0" rtlCol="0" anchor="ctr"/>
          <a:lstStyle/>
          <a:p>
            <a:pPr algn="ctr"/>
            <a:r>
              <a:rPr lang="en-US" dirty="0"/>
              <a:t>cage</a:t>
            </a:r>
            <a:endParaRPr lang="LID4096" dirty="0"/>
          </a:p>
        </p:txBody>
      </p:sp>
      <p:sp>
        <p:nvSpPr>
          <p:cNvPr id="7" name="Oval 6">
            <a:extLst>
              <a:ext uri="{FF2B5EF4-FFF2-40B4-BE49-F238E27FC236}">
                <a16:creationId xmlns:a16="http://schemas.microsoft.com/office/drawing/2014/main" id="{8BD6BB7E-F86C-2706-4DAC-E36308098B77}"/>
              </a:ext>
            </a:extLst>
          </p:cNvPr>
          <p:cNvSpPr/>
          <p:nvPr/>
        </p:nvSpPr>
        <p:spPr>
          <a:xfrm>
            <a:off x="1450643" y="4242868"/>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cxnSp>
        <p:nvCxnSpPr>
          <p:cNvPr id="8" name="Straight Arrow Connector 7">
            <a:extLst>
              <a:ext uri="{FF2B5EF4-FFF2-40B4-BE49-F238E27FC236}">
                <a16:creationId xmlns:a16="http://schemas.microsoft.com/office/drawing/2014/main" id="{A8A53698-095C-A3E0-0BA4-B67896AD917E}"/>
              </a:ext>
            </a:extLst>
          </p:cNvPr>
          <p:cNvCxnSpPr>
            <a:cxnSpLocks/>
            <a:stCxn id="7" idx="0"/>
            <a:endCxn id="6" idx="2"/>
          </p:cNvCxnSpPr>
          <p:nvPr/>
        </p:nvCxnSpPr>
        <p:spPr>
          <a:xfrm flipV="1">
            <a:off x="1749582" y="3738775"/>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01290FAF-EB57-A953-F1E5-4A3E9D44C44D}"/>
              </a:ext>
            </a:extLst>
          </p:cNvPr>
          <p:cNvSpPr/>
          <p:nvPr/>
        </p:nvSpPr>
        <p:spPr>
          <a:xfrm>
            <a:off x="2775448" y="2718867"/>
            <a:ext cx="1005044" cy="1019908"/>
          </a:xfrm>
          <a:prstGeom prst="roundRect">
            <a:avLst/>
          </a:prstGeom>
          <a:ln/>
        </p:spPr>
        <p:style>
          <a:lnRef idx="3">
            <a:schemeClr val="lt1"/>
          </a:lnRef>
          <a:fillRef idx="1">
            <a:schemeClr val="accent2"/>
          </a:fillRef>
          <a:effectRef idx="1">
            <a:schemeClr val="accent2"/>
          </a:effectRef>
          <a:fontRef idx="minor">
            <a:schemeClr val="lt1"/>
          </a:fontRef>
        </p:style>
        <p:txBody>
          <a:bodyPr lIns="0" tIns="0" rIns="0" bIns="0" rtlCol="0" anchor="ctr"/>
          <a:lstStyle/>
          <a:p>
            <a:pPr algn="ctr"/>
            <a:r>
              <a:rPr lang="en-US" dirty="0"/>
              <a:t>cage</a:t>
            </a:r>
            <a:br>
              <a:rPr lang="en-US" dirty="0"/>
            </a:br>
            <a:r>
              <a:rPr lang="en-US" dirty="0"/>
              <a:t>the</a:t>
            </a:r>
            <a:endParaRPr lang="LID4096" dirty="0"/>
          </a:p>
        </p:txBody>
      </p:sp>
      <p:sp>
        <p:nvSpPr>
          <p:cNvPr id="10" name="Oval 9">
            <a:extLst>
              <a:ext uri="{FF2B5EF4-FFF2-40B4-BE49-F238E27FC236}">
                <a16:creationId xmlns:a16="http://schemas.microsoft.com/office/drawing/2014/main" id="{B52EBC26-CD9F-8616-45A7-DA79820672F2}"/>
              </a:ext>
            </a:extLst>
          </p:cNvPr>
          <p:cNvSpPr/>
          <p:nvPr/>
        </p:nvSpPr>
        <p:spPr>
          <a:xfrm>
            <a:off x="2979029" y="4242868"/>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cxnSp>
        <p:nvCxnSpPr>
          <p:cNvPr id="11" name="Straight Arrow Connector 10">
            <a:extLst>
              <a:ext uri="{FF2B5EF4-FFF2-40B4-BE49-F238E27FC236}">
                <a16:creationId xmlns:a16="http://schemas.microsoft.com/office/drawing/2014/main" id="{78EF91CC-CEAA-7334-2114-156ACD8E11D6}"/>
              </a:ext>
            </a:extLst>
          </p:cNvPr>
          <p:cNvCxnSpPr>
            <a:cxnSpLocks/>
            <a:stCxn id="10" idx="0"/>
            <a:endCxn id="9" idx="2"/>
          </p:cNvCxnSpPr>
          <p:nvPr/>
        </p:nvCxnSpPr>
        <p:spPr>
          <a:xfrm flipV="1">
            <a:off x="3277968" y="3738775"/>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F00BE6F1-2BFD-A42D-0CA0-9BC47FFE263B}"/>
              </a:ext>
            </a:extLst>
          </p:cNvPr>
          <p:cNvSpPr/>
          <p:nvPr/>
        </p:nvSpPr>
        <p:spPr>
          <a:xfrm>
            <a:off x="4303834" y="2718867"/>
            <a:ext cx="1005044" cy="1019908"/>
          </a:xfrm>
          <a:prstGeom prst="roundRect">
            <a:avLst/>
          </a:prstGeom>
          <a:ln/>
        </p:spPr>
        <p:style>
          <a:lnRef idx="3">
            <a:schemeClr val="lt1"/>
          </a:lnRef>
          <a:fillRef idx="1">
            <a:schemeClr val="accent2"/>
          </a:fillRef>
          <a:effectRef idx="1">
            <a:schemeClr val="accent2"/>
          </a:effectRef>
          <a:fontRef idx="minor">
            <a:schemeClr val="lt1"/>
          </a:fontRef>
        </p:style>
        <p:txBody>
          <a:bodyPr lIns="0" tIns="0" rIns="0" bIns="0" rtlCol="0" anchor="ctr"/>
          <a:lstStyle/>
          <a:p>
            <a:pPr algn="ctr"/>
            <a:r>
              <a:rPr lang="en-US" dirty="0"/>
              <a:t>cage</a:t>
            </a:r>
            <a:br>
              <a:rPr lang="en-US" dirty="0"/>
            </a:br>
            <a:r>
              <a:rPr lang="en-US" dirty="0"/>
              <a:t>the</a:t>
            </a:r>
            <a:br>
              <a:rPr lang="en-US" dirty="0"/>
            </a:br>
            <a:r>
              <a:rPr lang="en-US" dirty="0"/>
              <a:t>swallow</a:t>
            </a:r>
            <a:endParaRPr lang="LID4096" dirty="0"/>
          </a:p>
        </p:txBody>
      </p:sp>
      <p:sp>
        <p:nvSpPr>
          <p:cNvPr id="13" name="Oval 12">
            <a:extLst>
              <a:ext uri="{FF2B5EF4-FFF2-40B4-BE49-F238E27FC236}">
                <a16:creationId xmlns:a16="http://schemas.microsoft.com/office/drawing/2014/main" id="{FAE7F0E1-CB14-3B95-B1F8-9491F38C3ABA}"/>
              </a:ext>
            </a:extLst>
          </p:cNvPr>
          <p:cNvSpPr/>
          <p:nvPr/>
        </p:nvSpPr>
        <p:spPr>
          <a:xfrm>
            <a:off x="4507415" y="4242868"/>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cxnSp>
        <p:nvCxnSpPr>
          <p:cNvPr id="14" name="Straight Arrow Connector 13">
            <a:extLst>
              <a:ext uri="{FF2B5EF4-FFF2-40B4-BE49-F238E27FC236}">
                <a16:creationId xmlns:a16="http://schemas.microsoft.com/office/drawing/2014/main" id="{723D6710-0EE5-4C2F-7136-77EA7DB50546}"/>
              </a:ext>
            </a:extLst>
          </p:cNvPr>
          <p:cNvCxnSpPr>
            <a:cxnSpLocks/>
            <a:stCxn id="13" idx="0"/>
            <a:endCxn id="12" idx="2"/>
          </p:cNvCxnSpPr>
          <p:nvPr/>
        </p:nvCxnSpPr>
        <p:spPr>
          <a:xfrm flipV="1">
            <a:off x="4806354" y="3738775"/>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16DCA5F-B63F-598E-4CC4-10AB1D9AB98D}"/>
              </a:ext>
            </a:extLst>
          </p:cNvPr>
          <p:cNvCxnSpPr>
            <a:cxnSpLocks/>
            <a:stCxn id="6" idx="3"/>
            <a:endCxn id="9" idx="1"/>
          </p:cNvCxnSpPr>
          <p:nvPr/>
        </p:nvCxnSpPr>
        <p:spPr>
          <a:xfrm>
            <a:off x="2252106" y="3228821"/>
            <a:ext cx="52334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027A661-DFCE-CFF5-E395-7F7B86AD794E}"/>
              </a:ext>
            </a:extLst>
          </p:cNvPr>
          <p:cNvCxnSpPr>
            <a:cxnSpLocks/>
            <a:stCxn id="9" idx="3"/>
            <a:endCxn id="12" idx="1"/>
          </p:cNvCxnSpPr>
          <p:nvPr/>
        </p:nvCxnSpPr>
        <p:spPr>
          <a:xfrm>
            <a:off x="3780492" y="3228821"/>
            <a:ext cx="52334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3BF95DD-2F13-3EA9-D5F8-FDDCBE39F8C6}"/>
                  </a:ext>
                </a:extLst>
              </p:cNvPr>
              <p:cNvSpPr txBox="1"/>
              <p:nvPr/>
            </p:nvSpPr>
            <p:spPr>
              <a:xfrm>
                <a:off x="1433062" y="4330459"/>
                <a:ext cx="599125" cy="668645"/>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𝑥</m:t>
                          </m:r>
                        </m:e>
                        <m:sub>
                          <m:r>
                            <a:rPr lang="en-GB" sz="2400" b="0" i="1" smtClean="0">
                              <a:latin typeface="Cambria Math" panose="02040503050406030204" pitchFamily="18" charset="0"/>
                            </a:rPr>
                            <m:t>0</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17" name="TextBox 16">
                <a:extLst>
                  <a:ext uri="{FF2B5EF4-FFF2-40B4-BE49-F238E27FC236}">
                    <a16:creationId xmlns:a16="http://schemas.microsoft.com/office/drawing/2014/main" id="{93BF95DD-2F13-3EA9-D5F8-FDDCBE39F8C6}"/>
                  </a:ext>
                </a:extLst>
              </p:cNvPr>
              <p:cNvSpPr txBox="1">
                <a:spLocks noRot="1" noChangeAspect="1" noMove="1" noResize="1" noEditPoints="1" noAdjustHandles="1" noChangeArrowheads="1" noChangeShapeType="1" noTextEdit="1"/>
              </p:cNvSpPr>
              <p:nvPr/>
            </p:nvSpPr>
            <p:spPr>
              <a:xfrm>
                <a:off x="1433062" y="4330459"/>
                <a:ext cx="599125" cy="668645"/>
              </a:xfrm>
              <a:prstGeom prst="rect">
                <a:avLst/>
              </a:prstGeom>
              <a:blipFill>
                <a:blip r:embed="rId3"/>
                <a:stretch>
                  <a:fillRect l="-23469" t="-10000" r="-19388" b="-20909"/>
                </a:stretch>
              </a:blipFill>
            </p:spPr>
            <p:txBody>
              <a:bodyPr/>
              <a:lstStyle/>
              <a:p>
                <a:r>
                  <a:rPr lang="en-BE">
                    <a:noFill/>
                  </a:rPr>
                  <a:t> </a:t>
                </a:r>
              </a:p>
            </p:txBody>
          </p:sp>
        </mc:Fallback>
      </mc:AlternateContent>
      <p:sp>
        <p:nvSpPr>
          <p:cNvPr id="18" name="Oval 17">
            <a:extLst>
              <a:ext uri="{FF2B5EF4-FFF2-40B4-BE49-F238E27FC236}">
                <a16:creationId xmlns:a16="http://schemas.microsoft.com/office/drawing/2014/main" id="{F5213AE1-A9C4-FC30-D8BA-934E9CC460DF}"/>
              </a:ext>
            </a:extLst>
          </p:cNvPr>
          <p:cNvSpPr/>
          <p:nvPr/>
        </p:nvSpPr>
        <p:spPr>
          <a:xfrm>
            <a:off x="1451911" y="1616897"/>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19" name="Straight Arrow Connector 18">
            <a:extLst>
              <a:ext uri="{FF2B5EF4-FFF2-40B4-BE49-F238E27FC236}">
                <a16:creationId xmlns:a16="http://schemas.microsoft.com/office/drawing/2014/main" id="{9A18A655-60DC-601C-8DF0-BBFF14AD06AB}"/>
              </a:ext>
            </a:extLst>
          </p:cNvPr>
          <p:cNvCxnSpPr/>
          <p:nvPr/>
        </p:nvCxnSpPr>
        <p:spPr>
          <a:xfrm flipV="1">
            <a:off x="1750848" y="221477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79102967-71A2-F29F-0E5C-315C991F6DCB}"/>
              </a:ext>
            </a:extLst>
          </p:cNvPr>
          <p:cNvSpPr/>
          <p:nvPr/>
        </p:nvSpPr>
        <p:spPr>
          <a:xfrm>
            <a:off x="2980289" y="1616897"/>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21" name="Straight Arrow Connector 20">
            <a:extLst>
              <a:ext uri="{FF2B5EF4-FFF2-40B4-BE49-F238E27FC236}">
                <a16:creationId xmlns:a16="http://schemas.microsoft.com/office/drawing/2014/main" id="{BC9BCF45-0656-C237-D2C3-3CEA549113B2}"/>
              </a:ext>
            </a:extLst>
          </p:cNvPr>
          <p:cNvCxnSpPr/>
          <p:nvPr/>
        </p:nvCxnSpPr>
        <p:spPr>
          <a:xfrm flipV="1">
            <a:off x="3279226" y="221477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BBFC7844-A596-314B-D3BC-B47084A5C3AA}"/>
              </a:ext>
            </a:extLst>
          </p:cNvPr>
          <p:cNvSpPr/>
          <p:nvPr/>
        </p:nvSpPr>
        <p:spPr>
          <a:xfrm>
            <a:off x="4508663" y="1616897"/>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23" name="Straight Arrow Connector 22">
            <a:extLst>
              <a:ext uri="{FF2B5EF4-FFF2-40B4-BE49-F238E27FC236}">
                <a16:creationId xmlns:a16="http://schemas.microsoft.com/office/drawing/2014/main" id="{C4D309A3-3ACF-E75E-7CAA-DE5ACE7FFDF8}"/>
              </a:ext>
            </a:extLst>
          </p:cNvPr>
          <p:cNvCxnSpPr/>
          <p:nvPr/>
        </p:nvCxnSpPr>
        <p:spPr>
          <a:xfrm flipV="1">
            <a:off x="4807600" y="221477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CC0FE49-BB8F-5207-66ED-84C9E59D6AFC}"/>
                  </a:ext>
                </a:extLst>
              </p:cNvPr>
              <p:cNvSpPr txBox="1"/>
              <p:nvPr/>
            </p:nvSpPr>
            <p:spPr>
              <a:xfrm>
                <a:off x="2959653" y="4330459"/>
                <a:ext cx="599125" cy="665567"/>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𝑥</m:t>
                          </m:r>
                        </m:e>
                        <m:sub>
                          <m:r>
                            <a:rPr lang="en-GB" sz="2400" b="0" i="1" smtClean="0">
                              <a:latin typeface="Cambria Math" panose="02040503050406030204" pitchFamily="18" charset="0"/>
                            </a:rPr>
                            <m:t>1</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4" name="TextBox 23">
                <a:extLst>
                  <a:ext uri="{FF2B5EF4-FFF2-40B4-BE49-F238E27FC236}">
                    <a16:creationId xmlns:a16="http://schemas.microsoft.com/office/drawing/2014/main" id="{6CC0FE49-BB8F-5207-66ED-84C9E59D6AFC}"/>
                  </a:ext>
                </a:extLst>
              </p:cNvPr>
              <p:cNvSpPr txBox="1">
                <a:spLocks noRot="1" noChangeAspect="1" noMove="1" noResize="1" noEditPoints="1" noAdjustHandles="1" noChangeArrowheads="1" noChangeShapeType="1" noTextEdit="1"/>
              </p:cNvSpPr>
              <p:nvPr/>
            </p:nvSpPr>
            <p:spPr>
              <a:xfrm>
                <a:off x="2959653" y="4330459"/>
                <a:ext cx="599125" cy="665567"/>
              </a:xfrm>
              <a:prstGeom prst="rect">
                <a:avLst/>
              </a:prstGeom>
              <a:blipFill>
                <a:blip r:embed="rId4"/>
                <a:stretch>
                  <a:fillRect l="-24490" t="-10000" r="-18367" b="-20000"/>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46A50D5-952F-F1E7-AF65-C699D2157430}"/>
                  </a:ext>
                </a:extLst>
              </p:cNvPr>
              <p:cNvSpPr txBox="1"/>
              <p:nvPr/>
            </p:nvSpPr>
            <p:spPr>
              <a:xfrm>
                <a:off x="4486244" y="4330459"/>
                <a:ext cx="599125" cy="666336"/>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𝑥</m:t>
                          </m:r>
                        </m:e>
                        <m:sub>
                          <m:r>
                            <a:rPr lang="en-GB" sz="2400" b="0" i="1" smtClean="0">
                              <a:latin typeface="Cambria Math" panose="02040503050406030204" pitchFamily="18" charset="0"/>
                            </a:rPr>
                            <m:t>2</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5" name="TextBox 24">
                <a:extLst>
                  <a:ext uri="{FF2B5EF4-FFF2-40B4-BE49-F238E27FC236}">
                    <a16:creationId xmlns:a16="http://schemas.microsoft.com/office/drawing/2014/main" id="{E46A50D5-952F-F1E7-AF65-C699D2157430}"/>
                  </a:ext>
                </a:extLst>
              </p:cNvPr>
              <p:cNvSpPr txBox="1">
                <a:spLocks noRot="1" noChangeAspect="1" noMove="1" noResize="1" noEditPoints="1" noAdjustHandles="1" noChangeArrowheads="1" noChangeShapeType="1" noTextEdit="1"/>
              </p:cNvSpPr>
              <p:nvPr/>
            </p:nvSpPr>
            <p:spPr>
              <a:xfrm>
                <a:off x="4486244" y="4330459"/>
                <a:ext cx="599125" cy="666336"/>
              </a:xfrm>
              <a:prstGeom prst="rect">
                <a:avLst/>
              </a:prstGeom>
              <a:blipFill>
                <a:blip r:embed="rId5"/>
                <a:stretch>
                  <a:fillRect l="-24490" t="-10000" r="-18367" b="-20909"/>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DFED98E-FEBB-F5FD-E42F-07A338F7758C}"/>
                  </a:ext>
                </a:extLst>
              </p:cNvPr>
              <p:cNvSpPr txBox="1"/>
              <p:nvPr/>
            </p:nvSpPr>
            <p:spPr>
              <a:xfrm>
                <a:off x="1450663" y="1698959"/>
                <a:ext cx="599125" cy="694101"/>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0</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6" name="TextBox 25">
                <a:extLst>
                  <a:ext uri="{FF2B5EF4-FFF2-40B4-BE49-F238E27FC236}">
                    <a16:creationId xmlns:a16="http://schemas.microsoft.com/office/drawing/2014/main" id="{5DFED98E-FEBB-F5FD-E42F-07A338F7758C}"/>
                  </a:ext>
                </a:extLst>
              </p:cNvPr>
              <p:cNvSpPr txBox="1">
                <a:spLocks noRot="1" noChangeAspect="1" noMove="1" noResize="1" noEditPoints="1" noAdjustHandles="1" noChangeArrowheads="1" noChangeShapeType="1" noTextEdit="1"/>
              </p:cNvSpPr>
              <p:nvPr/>
            </p:nvSpPr>
            <p:spPr>
              <a:xfrm>
                <a:off x="1450663" y="1698959"/>
                <a:ext cx="599125" cy="694101"/>
              </a:xfrm>
              <a:prstGeom prst="rect">
                <a:avLst/>
              </a:prstGeom>
              <a:blipFill>
                <a:blip r:embed="rId6"/>
                <a:stretch>
                  <a:fillRect l="-24490" t="-10526" r="-19388" b="-15789"/>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FF7E122-19E0-DC48-D294-311BD9308F92}"/>
                  </a:ext>
                </a:extLst>
              </p:cNvPr>
              <p:cNvSpPr txBox="1"/>
              <p:nvPr/>
            </p:nvSpPr>
            <p:spPr>
              <a:xfrm>
                <a:off x="2980284" y="1683576"/>
                <a:ext cx="599125" cy="665567"/>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1</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7" name="TextBox 26">
                <a:extLst>
                  <a:ext uri="{FF2B5EF4-FFF2-40B4-BE49-F238E27FC236}">
                    <a16:creationId xmlns:a16="http://schemas.microsoft.com/office/drawing/2014/main" id="{4FF7E122-19E0-DC48-D294-311BD9308F92}"/>
                  </a:ext>
                </a:extLst>
              </p:cNvPr>
              <p:cNvSpPr txBox="1">
                <a:spLocks noRot="1" noChangeAspect="1" noMove="1" noResize="1" noEditPoints="1" noAdjustHandles="1" noChangeArrowheads="1" noChangeShapeType="1" noTextEdit="1"/>
              </p:cNvSpPr>
              <p:nvPr/>
            </p:nvSpPr>
            <p:spPr>
              <a:xfrm>
                <a:off x="2980284" y="1683576"/>
                <a:ext cx="599125" cy="665567"/>
              </a:xfrm>
              <a:prstGeom prst="rect">
                <a:avLst/>
              </a:prstGeom>
              <a:blipFill>
                <a:blip r:embed="rId7"/>
                <a:stretch>
                  <a:fillRect l="-24490" t="-10092" r="-18367" b="-21101"/>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4231485-3B64-494D-CA1B-1937102B499D}"/>
                  </a:ext>
                </a:extLst>
              </p:cNvPr>
              <p:cNvSpPr txBox="1"/>
              <p:nvPr/>
            </p:nvSpPr>
            <p:spPr>
              <a:xfrm>
                <a:off x="4507415" y="1682593"/>
                <a:ext cx="599125" cy="665567"/>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1</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8" name="TextBox 27">
                <a:extLst>
                  <a:ext uri="{FF2B5EF4-FFF2-40B4-BE49-F238E27FC236}">
                    <a16:creationId xmlns:a16="http://schemas.microsoft.com/office/drawing/2014/main" id="{B4231485-3B64-494D-CA1B-1937102B499D}"/>
                  </a:ext>
                </a:extLst>
              </p:cNvPr>
              <p:cNvSpPr txBox="1">
                <a:spLocks noRot="1" noChangeAspect="1" noMove="1" noResize="1" noEditPoints="1" noAdjustHandles="1" noChangeArrowheads="1" noChangeShapeType="1" noTextEdit="1"/>
              </p:cNvSpPr>
              <p:nvPr/>
            </p:nvSpPr>
            <p:spPr>
              <a:xfrm>
                <a:off x="4507415" y="1682593"/>
                <a:ext cx="599125" cy="665567"/>
              </a:xfrm>
              <a:prstGeom prst="rect">
                <a:avLst/>
              </a:prstGeom>
              <a:blipFill>
                <a:blip r:embed="rId8"/>
                <a:stretch>
                  <a:fillRect l="-23232" t="-10092" r="-18182" b="-21101"/>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1F4B228-FFD8-4389-5034-6B196F45302E}"/>
                  </a:ext>
                </a:extLst>
              </p:cNvPr>
              <p:cNvSpPr txBox="1"/>
              <p:nvPr/>
            </p:nvSpPr>
            <p:spPr>
              <a:xfrm>
                <a:off x="2221098" y="2718867"/>
                <a:ext cx="599125" cy="668645"/>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ℎ</m:t>
                          </m:r>
                        </m:e>
                        <m:sub>
                          <m:r>
                            <a:rPr lang="en-GB" sz="2400" b="0" i="1" smtClean="0">
                              <a:latin typeface="Cambria Math" panose="02040503050406030204" pitchFamily="18" charset="0"/>
                            </a:rPr>
                            <m:t>0</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29" name="TextBox 28">
                <a:extLst>
                  <a:ext uri="{FF2B5EF4-FFF2-40B4-BE49-F238E27FC236}">
                    <a16:creationId xmlns:a16="http://schemas.microsoft.com/office/drawing/2014/main" id="{91F4B228-FFD8-4389-5034-6B196F45302E}"/>
                  </a:ext>
                </a:extLst>
              </p:cNvPr>
              <p:cNvSpPr txBox="1">
                <a:spLocks noRot="1" noChangeAspect="1" noMove="1" noResize="1" noEditPoints="1" noAdjustHandles="1" noChangeArrowheads="1" noChangeShapeType="1" noTextEdit="1"/>
              </p:cNvSpPr>
              <p:nvPr/>
            </p:nvSpPr>
            <p:spPr>
              <a:xfrm>
                <a:off x="2221098" y="2718867"/>
                <a:ext cx="599125" cy="668645"/>
              </a:xfrm>
              <a:prstGeom prst="rect">
                <a:avLst/>
              </a:prstGeom>
              <a:blipFill>
                <a:blip r:embed="rId9"/>
                <a:stretch>
                  <a:fillRect l="-23232" t="-10000" r="-20202" b="-20909"/>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F653DB2-2D36-65D3-3D66-75445DE3BE80}"/>
                  </a:ext>
                </a:extLst>
              </p:cNvPr>
              <p:cNvSpPr txBox="1"/>
              <p:nvPr/>
            </p:nvSpPr>
            <p:spPr>
              <a:xfrm>
                <a:off x="3733693" y="2718867"/>
                <a:ext cx="599125" cy="665567"/>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ℎ</m:t>
                          </m:r>
                        </m:e>
                        <m:sub>
                          <m:r>
                            <a:rPr lang="en-GB" sz="2400" b="0" i="1" smtClean="0">
                              <a:latin typeface="Cambria Math" panose="02040503050406030204" pitchFamily="18" charset="0"/>
                            </a:rPr>
                            <m:t>1</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30" name="TextBox 29">
                <a:extLst>
                  <a:ext uri="{FF2B5EF4-FFF2-40B4-BE49-F238E27FC236}">
                    <a16:creationId xmlns:a16="http://schemas.microsoft.com/office/drawing/2014/main" id="{CF653DB2-2D36-65D3-3D66-75445DE3BE80}"/>
                  </a:ext>
                </a:extLst>
              </p:cNvPr>
              <p:cNvSpPr txBox="1">
                <a:spLocks noRot="1" noChangeAspect="1" noMove="1" noResize="1" noEditPoints="1" noAdjustHandles="1" noChangeArrowheads="1" noChangeShapeType="1" noTextEdit="1"/>
              </p:cNvSpPr>
              <p:nvPr/>
            </p:nvSpPr>
            <p:spPr>
              <a:xfrm>
                <a:off x="3733693" y="2718867"/>
                <a:ext cx="599125" cy="665567"/>
              </a:xfrm>
              <a:prstGeom prst="rect">
                <a:avLst/>
              </a:prstGeom>
              <a:blipFill>
                <a:blip r:embed="rId10"/>
                <a:stretch>
                  <a:fillRect l="-23232" t="-10092" r="-19192" b="-21101"/>
                </a:stretch>
              </a:blipFill>
            </p:spPr>
            <p:txBody>
              <a:bodyPr/>
              <a:lstStyle/>
              <a:p>
                <a:r>
                  <a:rPr lang="en-BE">
                    <a:noFill/>
                  </a:rPr>
                  <a:t> </a:t>
                </a:r>
              </a:p>
            </p:txBody>
          </p:sp>
        </mc:Fallback>
      </mc:AlternateContent>
      <p:sp>
        <p:nvSpPr>
          <p:cNvPr id="46" name="TextBox 45">
            <a:extLst>
              <a:ext uri="{FF2B5EF4-FFF2-40B4-BE49-F238E27FC236}">
                <a16:creationId xmlns:a16="http://schemas.microsoft.com/office/drawing/2014/main" id="{04DE051D-28B2-95F1-BDFF-A25B89578225}"/>
              </a:ext>
            </a:extLst>
          </p:cNvPr>
          <p:cNvSpPr txBox="1"/>
          <p:nvPr/>
        </p:nvSpPr>
        <p:spPr>
          <a:xfrm flipH="1">
            <a:off x="1013107" y="4988474"/>
            <a:ext cx="1472948" cy="400110"/>
          </a:xfrm>
          <a:prstGeom prst="rect">
            <a:avLst/>
          </a:prstGeom>
          <a:noFill/>
        </p:spPr>
        <p:txBody>
          <a:bodyPr wrap="square">
            <a:spAutoFit/>
          </a:bodyPr>
          <a:lstStyle/>
          <a:p>
            <a:pPr algn="ctr"/>
            <a:r>
              <a:rPr lang="en-US" sz="2000" dirty="0">
                <a:latin typeface="Cambria" panose="02040503050406030204" pitchFamily="18" charset="0"/>
                <a:ea typeface="Cambria" panose="02040503050406030204" pitchFamily="18" charset="0"/>
                <a:cs typeface="Cascadia Code" panose="020B0609020000020004" pitchFamily="49" charset="0"/>
              </a:rPr>
              <a:t>&lt;cage&gt;</a:t>
            </a:r>
            <a:endParaRPr lang="en-BE" sz="2000" dirty="0">
              <a:latin typeface="Cambria" panose="02040503050406030204" pitchFamily="18" charset="0"/>
              <a:ea typeface="Cambria" panose="02040503050406030204" pitchFamily="18" charset="0"/>
              <a:cs typeface="Cascadia Code" panose="020B0609020000020004" pitchFamily="49" charset="0"/>
            </a:endParaRPr>
          </a:p>
        </p:txBody>
      </p:sp>
      <p:sp>
        <p:nvSpPr>
          <p:cNvPr id="47" name="TextBox 46">
            <a:extLst>
              <a:ext uri="{FF2B5EF4-FFF2-40B4-BE49-F238E27FC236}">
                <a16:creationId xmlns:a16="http://schemas.microsoft.com/office/drawing/2014/main" id="{8F3CACD6-A181-D208-8B29-6D61694A3FF5}"/>
              </a:ext>
            </a:extLst>
          </p:cNvPr>
          <p:cNvSpPr txBox="1"/>
          <p:nvPr/>
        </p:nvSpPr>
        <p:spPr>
          <a:xfrm flipH="1">
            <a:off x="2546846" y="4988474"/>
            <a:ext cx="1472948" cy="400110"/>
          </a:xfrm>
          <a:prstGeom prst="rect">
            <a:avLst/>
          </a:prstGeom>
          <a:noFill/>
        </p:spPr>
        <p:txBody>
          <a:bodyPr wrap="square">
            <a:spAutoFit/>
          </a:bodyPr>
          <a:lstStyle/>
          <a:p>
            <a:pPr algn="ctr"/>
            <a:r>
              <a:rPr lang="en-US" sz="2000" dirty="0">
                <a:latin typeface="Cambria" panose="02040503050406030204" pitchFamily="18" charset="0"/>
                <a:ea typeface="Cambria" panose="02040503050406030204" pitchFamily="18" charset="0"/>
                <a:cs typeface="Cascadia Code" panose="020B0609020000020004" pitchFamily="49" charset="0"/>
              </a:rPr>
              <a:t>&lt;the&gt;</a:t>
            </a:r>
            <a:endParaRPr lang="en-BE" sz="2000" dirty="0">
              <a:latin typeface="Cambria" panose="02040503050406030204" pitchFamily="18" charset="0"/>
              <a:ea typeface="Cambria" panose="02040503050406030204" pitchFamily="18" charset="0"/>
              <a:cs typeface="Cascadia Code" panose="020B0609020000020004" pitchFamily="49" charset="0"/>
            </a:endParaRPr>
          </a:p>
        </p:txBody>
      </p:sp>
      <p:sp>
        <p:nvSpPr>
          <p:cNvPr id="48" name="TextBox 47">
            <a:extLst>
              <a:ext uri="{FF2B5EF4-FFF2-40B4-BE49-F238E27FC236}">
                <a16:creationId xmlns:a16="http://schemas.microsoft.com/office/drawing/2014/main" id="{1A84E39B-EFEB-358D-B944-39664ECF2401}"/>
              </a:ext>
            </a:extLst>
          </p:cNvPr>
          <p:cNvSpPr txBox="1"/>
          <p:nvPr/>
        </p:nvSpPr>
        <p:spPr>
          <a:xfrm flipH="1">
            <a:off x="4069879" y="4988474"/>
            <a:ext cx="1472948" cy="400110"/>
          </a:xfrm>
          <a:prstGeom prst="rect">
            <a:avLst/>
          </a:prstGeom>
          <a:noFill/>
        </p:spPr>
        <p:txBody>
          <a:bodyPr wrap="square">
            <a:spAutoFit/>
          </a:bodyPr>
          <a:lstStyle/>
          <a:p>
            <a:pPr algn="ctr"/>
            <a:r>
              <a:rPr lang="en-US" sz="2000" dirty="0">
                <a:latin typeface="Cambria" panose="02040503050406030204" pitchFamily="18" charset="0"/>
                <a:ea typeface="Cambria" panose="02040503050406030204" pitchFamily="18" charset="0"/>
                <a:cs typeface="Cascadia Code" panose="020B0609020000020004" pitchFamily="49" charset="0"/>
              </a:rPr>
              <a:t>&lt;swallow&gt;</a:t>
            </a:r>
            <a:endParaRPr lang="en-BE" sz="2000" dirty="0">
              <a:latin typeface="Cambria" panose="02040503050406030204" pitchFamily="18" charset="0"/>
              <a:ea typeface="Cambria" panose="02040503050406030204" pitchFamily="18" charset="0"/>
              <a:cs typeface="Cascadia Code" panose="020B0609020000020004" pitchFamily="49" charset="0"/>
            </a:endParaRPr>
          </a:p>
        </p:txBody>
      </p:sp>
      <p:cxnSp>
        <p:nvCxnSpPr>
          <p:cNvPr id="50" name="Straight Arrow Connector 49">
            <a:extLst>
              <a:ext uri="{FF2B5EF4-FFF2-40B4-BE49-F238E27FC236}">
                <a16:creationId xmlns:a16="http://schemas.microsoft.com/office/drawing/2014/main" id="{513409B0-F520-2A4E-BEBC-CE03A67BDF8D}"/>
              </a:ext>
            </a:extLst>
          </p:cNvPr>
          <p:cNvCxnSpPr/>
          <p:nvPr/>
        </p:nvCxnSpPr>
        <p:spPr>
          <a:xfrm>
            <a:off x="1386168" y="5636623"/>
            <a:ext cx="392270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F18779FA-EAD5-7150-BD58-16F6E3F37E66}"/>
              </a:ext>
            </a:extLst>
          </p:cNvPr>
          <p:cNvSpPr txBox="1"/>
          <p:nvPr/>
        </p:nvSpPr>
        <p:spPr>
          <a:xfrm>
            <a:off x="1835331" y="5721533"/>
            <a:ext cx="2971023" cy="338554"/>
          </a:xfrm>
          <a:prstGeom prst="rect">
            <a:avLst/>
          </a:prstGeom>
          <a:noFill/>
        </p:spPr>
        <p:txBody>
          <a:bodyPr wrap="square" rtlCol="0">
            <a:spAutoFit/>
          </a:bodyPr>
          <a:lstStyle/>
          <a:p>
            <a:pPr algn="ctr"/>
            <a:r>
              <a:rPr lang="en-US" sz="1600" b="1" dirty="0"/>
              <a:t>Sequence</a:t>
            </a:r>
            <a:endParaRPr lang="en-BE" sz="1600" b="1" dirty="0"/>
          </a:p>
        </p:txBody>
      </p:sp>
    </p:spTree>
    <p:extLst>
      <p:ext uri="{BB962C8B-B14F-4D97-AF65-F5344CB8AC3E}">
        <p14:creationId xmlns:p14="http://schemas.microsoft.com/office/powerpoint/2010/main" val="3629940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BE631-1C2E-CADF-11B7-3843F4C5EBE6}"/>
              </a:ext>
            </a:extLst>
          </p:cNvPr>
          <p:cNvSpPr>
            <a:spLocks noGrp="1"/>
          </p:cNvSpPr>
          <p:nvPr>
            <p:ph type="title"/>
          </p:nvPr>
        </p:nvSpPr>
        <p:spPr/>
        <p:txBody>
          <a:bodyPr/>
          <a:lstStyle/>
          <a:p>
            <a:r>
              <a:rPr lang="en-GB" b="1" dirty="0"/>
              <a:t>Recurrent neural networks can predict at each step or at the end</a:t>
            </a:r>
            <a:endParaRPr lang="en-BE" dirty="0"/>
          </a:p>
        </p:txBody>
      </p:sp>
      <p:sp>
        <p:nvSpPr>
          <p:cNvPr id="4" name="Slide Number Placeholder 3">
            <a:extLst>
              <a:ext uri="{FF2B5EF4-FFF2-40B4-BE49-F238E27FC236}">
                <a16:creationId xmlns:a16="http://schemas.microsoft.com/office/drawing/2014/main" id="{CAC4235D-F6E5-BCD7-0046-7016647F2CDE}"/>
              </a:ext>
            </a:extLst>
          </p:cNvPr>
          <p:cNvSpPr>
            <a:spLocks noGrp="1"/>
          </p:cNvSpPr>
          <p:nvPr>
            <p:ph type="sldNum" sz="quarter" idx="12"/>
          </p:nvPr>
        </p:nvSpPr>
        <p:spPr/>
        <p:txBody>
          <a:bodyPr/>
          <a:lstStyle/>
          <a:p>
            <a:fld id="{94B3E216-A3C5-4E41-AE94-D003E76F1D3A}" type="slidenum">
              <a:rPr lang="en-US" smtClean="0"/>
              <a:pPr/>
              <a:t>8</a:t>
            </a:fld>
            <a:endParaRPr lang="en-US"/>
          </a:p>
        </p:txBody>
      </p:sp>
      <p:sp>
        <p:nvSpPr>
          <p:cNvPr id="7" name="Content Placeholder 6">
            <a:extLst>
              <a:ext uri="{FF2B5EF4-FFF2-40B4-BE49-F238E27FC236}">
                <a16:creationId xmlns:a16="http://schemas.microsoft.com/office/drawing/2014/main" id="{11D2A618-3EBF-C7FE-477F-821FD9EF23BE}"/>
              </a:ext>
            </a:extLst>
          </p:cNvPr>
          <p:cNvSpPr>
            <a:spLocks noGrp="1"/>
          </p:cNvSpPr>
          <p:nvPr>
            <p:ph idx="14"/>
          </p:nvPr>
        </p:nvSpPr>
        <p:spPr>
          <a:xfrm>
            <a:off x="407988" y="1306286"/>
            <a:ext cx="5455782" cy="597877"/>
          </a:xfrm>
        </p:spPr>
        <p:txBody>
          <a:bodyPr>
            <a:normAutofit/>
          </a:bodyPr>
          <a:lstStyle/>
          <a:p>
            <a:r>
              <a:rPr lang="en-US" dirty="0"/>
              <a:t>sequence to sequence</a:t>
            </a:r>
            <a:br>
              <a:rPr lang="en-US" dirty="0"/>
            </a:br>
            <a:r>
              <a:rPr lang="en-US" dirty="0"/>
              <a:t>(many to many)</a:t>
            </a:r>
          </a:p>
        </p:txBody>
      </p:sp>
      <p:sp>
        <p:nvSpPr>
          <p:cNvPr id="8" name="Content Placeholder 7">
            <a:extLst>
              <a:ext uri="{FF2B5EF4-FFF2-40B4-BE49-F238E27FC236}">
                <a16:creationId xmlns:a16="http://schemas.microsoft.com/office/drawing/2014/main" id="{CF533842-700B-1EC9-010C-ADD1E0979CEA}"/>
              </a:ext>
            </a:extLst>
          </p:cNvPr>
          <p:cNvSpPr>
            <a:spLocks noGrp="1"/>
          </p:cNvSpPr>
          <p:nvPr>
            <p:ph idx="15"/>
          </p:nvPr>
        </p:nvSpPr>
        <p:spPr>
          <a:xfrm>
            <a:off x="6293306" y="1306286"/>
            <a:ext cx="5455782" cy="597877"/>
          </a:xfrm>
        </p:spPr>
        <p:txBody>
          <a:bodyPr/>
          <a:lstStyle/>
          <a:p>
            <a:r>
              <a:rPr lang="en-US" dirty="0"/>
              <a:t>sequence to one</a:t>
            </a:r>
            <a:br>
              <a:rPr lang="en-US" dirty="0"/>
            </a:br>
            <a:r>
              <a:rPr lang="en-US" dirty="0"/>
              <a:t>(many to one)</a:t>
            </a:r>
          </a:p>
        </p:txBody>
      </p:sp>
      <p:sp>
        <p:nvSpPr>
          <p:cNvPr id="9" name="Rectangle: Rounded Corners 8">
            <a:extLst>
              <a:ext uri="{FF2B5EF4-FFF2-40B4-BE49-F238E27FC236}">
                <a16:creationId xmlns:a16="http://schemas.microsoft.com/office/drawing/2014/main" id="{2D1FF1BF-DF6E-E410-6502-9FA247E478E8}"/>
              </a:ext>
            </a:extLst>
          </p:cNvPr>
          <p:cNvSpPr/>
          <p:nvPr/>
        </p:nvSpPr>
        <p:spPr>
          <a:xfrm>
            <a:off x="1706765" y="3429836"/>
            <a:ext cx="726831" cy="101990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sp>
        <p:nvSpPr>
          <p:cNvPr id="10" name="Oval 9">
            <a:extLst>
              <a:ext uri="{FF2B5EF4-FFF2-40B4-BE49-F238E27FC236}">
                <a16:creationId xmlns:a16="http://schemas.microsoft.com/office/drawing/2014/main" id="{FDB47552-947B-BE32-9B35-5D429B2D16C5}"/>
              </a:ext>
            </a:extLst>
          </p:cNvPr>
          <p:cNvSpPr/>
          <p:nvPr/>
        </p:nvSpPr>
        <p:spPr>
          <a:xfrm>
            <a:off x="1771240" y="4953837"/>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sp>
        <p:nvSpPr>
          <p:cNvPr id="11" name="Oval 10">
            <a:extLst>
              <a:ext uri="{FF2B5EF4-FFF2-40B4-BE49-F238E27FC236}">
                <a16:creationId xmlns:a16="http://schemas.microsoft.com/office/drawing/2014/main" id="{2D276919-C51A-5D45-0DDF-2AC5EC8649D3}"/>
              </a:ext>
            </a:extLst>
          </p:cNvPr>
          <p:cNvSpPr/>
          <p:nvPr/>
        </p:nvSpPr>
        <p:spPr>
          <a:xfrm>
            <a:off x="1771241" y="2327866"/>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12" name="Straight Arrow Connector 11">
            <a:extLst>
              <a:ext uri="{FF2B5EF4-FFF2-40B4-BE49-F238E27FC236}">
                <a16:creationId xmlns:a16="http://schemas.microsoft.com/office/drawing/2014/main" id="{F5528117-4293-F8FC-85CA-9CBD2A839304}"/>
              </a:ext>
            </a:extLst>
          </p:cNvPr>
          <p:cNvCxnSpPr>
            <a:stCxn id="10" idx="0"/>
            <a:endCxn id="9" idx="2"/>
          </p:cNvCxnSpPr>
          <p:nvPr/>
        </p:nvCxnSpPr>
        <p:spPr>
          <a:xfrm flipV="1">
            <a:off x="2070179" y="444974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7A357EF-13CD-C679-43E6-2AE357EB8C7D}"/>
              </a:ext>
            </a:extLst>
          </p:cNvPr>
          <p:cNvCxnSpPr/>
          <p:nvPr/>
        </p:nvCxnSpPr>
        <p:spPr>
          <a:xfrm flipV="1">
            <a:off x="2070178" y="2925743"/>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710686A0-824B-0AC0-2C74-0426CA5BAA9C}"/>
              </a:ext>
            </a:extLst>
          </p:cNvPr>
          <p:cNvSpPr/>
          <p:nvPr/>
        </p:nvSpPr>
        <p:spPr>
          <a:xfrm>
            <a:off x="2732530" y="3429836"/>
            <a:ext cx="726831" cy="101990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sp>
        <p:nvSpPr>
          <p:cNvPr id="15" name="Oval 14">
            <a:extLst>
              <a:ext uri="{FF2B5EF4-FFF2-40B4-BE49-F238E27FC236}">
                <a16:creationId xmlns:a16="http://schemas.microsoft.com/office/drawing/2014/main" id="{4186C6BB-44D1-AF91-E981-5F68126B08BA}"/>
              </a:ext>
            </a:extLst>
          </p:cNvPr>
          <p:cNvSpPr/>
          <p:nvPr/>
        </p:nvSpPr>
        <p:spPr>
          <a:xfrm>
            <a:off x="2797005" y="4953837"/>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sp>
        <p:nvSpPr>
          <p:cNvPr id="16" name="Oval 15">
            <a:extLst>
              <a:ext uri="{FF2B5EF4-FFF2-40B4-BE49-F238E27FC236}">
                <a16:creationId xmlns:a16="http://schemas.microsoft.com/office/drawing/2014/main" id="{CA62BD58-2BE1-B7E5-F131-B776A65867D8}"/>
              </a:ext>
            </a:extLst>
          </p:cNvPr>
          <p:cNvSpPr/>
          <p:nvPr/>
        </p:nvSpPr>
        <p:spPr>
          <a:xfrm>
            <a:off x="2797006" y="2327866"/>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17" name="Straight Arrow Connector 16">
            <a:extLst>
              <a:ext uri="{FF2B5EF4-FFF2-40B4-BE49-F238E27FC236}">
                <a16:creationId xmlns:a16="http://schemas.microsoft.com/office/drawing/2014/main" id="{92742EB0-3F7F-9B71-CCBE-F6FEDBE6AA66}"/>
              </a:ext>
            </a:extLst>
          </p:cNvPr>
          <p:cNvCxnSpPr>
            <a:stCxn id="15" idx="0"/>
            <a:endCxn id="14" idx="2"/>
          </p:cNvCxnSpPr>
          <p:nvPr/>
        </p:nvCxnSpPr>
        <p:spPr>
          <a:xfrm flipV="1">
            <a:off x="3095944" y="444974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7C1B1E2-0D60-9645-8C35-EC6332BEAF1E}"/>
              </a:ext>
            </a:extLst>
          </p:cNvPr>
          <p:cNvCxnSpPr/>
          <p:nvPr/>
        </p:nvCxnSpPr>
        <p:spPr>
          <a:xfrm flipV="1">
            <a:off x="3095943" y="2925743"/>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F520DCD5-1ACB-E238-A306-240CEAC8F3C0}"/>
              </a:ext>
            </a:extLst>
          </p:cNvPr>
          <p:cNvSpPr/>
          <p:nvPr/>
        </p:nvSpPr>
        <p:spPr>
          <a:xfrm>
            <a:off x="3755356" y="3429836"/>
            <a:ext cx="726831" cy="101990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sp>
        <p:nvSpPr>
          <p:cNvPr id="20" name="Oval 19">
            <a:extLst>
              <a:ext uri="{FF2B5EF4-FFF2-40B4-BE49-F238E27FC236}">
                <a16:creationId xmlns:a16="http://schemas.microsoft.com/office/drawing/2014/main" id="{25F41FD0-181B-701B-0FD3-41451D7763FC}"/>
              </a:ext>
            </a:extLst>
          </p:cNvPr>
          <p:cNvSpPr/>
          <p:nvPr/>
        </p:nvSpPr>
        <p:spPr>
          <a:xfrm>
            <a:off x="3819831" y="4953837"/>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sp>
        <p:nvSpPr>
          <p:cNvPr id="21" name="Oval 20">
            <a:extLst>
              <a:ext uri="{FF2B5EF4-FFF2-40B4-BE49-F238E27FC236}">
                <a16:creationId xmlns:a16="http://schemas.microsoft.com/office/drawing/2014/main" id="{804EE03C-AC9C-EEBB-9AB1-45833750F42F}"/>
              </a:ext>
            </a:extLst>
          </p:cNvPr>
          <p:cNvSpPr/>
          <p:nvPr/>
        </p:nvSpPr>
        <p:spPr>
          <a:xfrm>
            <a:off x="3819832" y="2327866"/>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22" name="Straight Arrow Connector 21">
            <a:extLst>
              <a:ext uri="{FF2B5EF4-FFF2-40B4-BE49-F238E27FC236}">
                <a16:creationId xmlns:a16="http://schemas.microsoft.com/office/drawing/2014/main" id="{48F0C060-D9D9-4B8F-7E3A-CE6A20807D57}"/>
              </a:ext>
            </a:extLst>
          </p:cNvPr>
          <p:cNvCxnSpPr>
            <a:stCxn id="20" idx="0"/>
            <a:endCxn id="19" idx="2"/>
          </p:cNvCxnSpPr>
          <p:nvPr/>
        </p:nvCxnSpPr>
        <p:spPr>
          <a:xfrm flipV="1">
            <a:off x="4118770" y="444974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557C39F-E4ED-BCBB-1BE1-B920B5F33675}"/>
              </a:ext>
            </a:extLst>
          </p:cNvPr>
          <p:cNvCxnSpPr/>
          <p:nvPr/>
        </p:nvCxnSpPr>
        <p:spPr>
          <a:xfrm flipV="1">
            <a:off x="4118769" y="2925743"/>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9A36F1C-49EB-E5CB-5291-7E85F16DC69E}"/>
              </a:ext>
            </a:extLst>
          </p:cNvPr>
          <p:cNvCxnSpPr>
            <a:cxnSpLocks/>
            <a:endCxn id="14" idx="1"/>
          </p:cNvCxnSpPr>
          <p:nvPr/>
        </p:nvCxnSpPr>
        <p:spPr>
          <a:xfrm>
            <a:off x="2433596" y="3939790"/>
            <a:ext cx="29893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58E3CDB-D26F-98FC-CA3A-034D7079079A}"/>
              </a:ext>
            </a:extLst>
          </p:cNvPr>
          <p:cNvCxnSpPr>
            <a:cxnSpLocks/>
          </p:cNvCxnSpPr>
          <p:nvPr/>
        </p:nvCxnSpPr>
        <p:spPr>
          <a:xfrm>
            <a:off x="3459361" y="3922205"/>
            <a:ext cx="29893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6BFA9357-0AEE-9CBA-055C-00A804FA8AEF}"/>
              </a:ext>
            </a:extLst>
          </p:cNvPr>
          <p:cNvSpPr/>
          <p:nvPr/>
        </p:nvSpPr>
        <p:spPr>
          <a:xfrm>
            <a:off x="7645337" y="3429836"/>
            <a:ext cx="726831" cy="101990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sp>
        <p:nvSpPr>
          <p:cNvPr id="27" name="Oval 26">
            <a:extLst>
              <a:ext uri="{FF2B5EF4-FFF2-40B4-BE49-F238E27FC236}">
                <a16:creationId xmlns:a16="http://schemas.microsoft.com/office/drawing/2014/main" id="{ADC7C7B5-AA7E-3E76-C3BE-07CAE9806078}"/>
              </a:ext>
            </a:extLst>
          </p:cNvPr>
          <p:cNvSpPr/>
          <p:nvPr/>
        </p:nvSpPr>
        <p:spPr>
          <a:xfrm>
            <a:off x="7709812" y="4953837"/>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cxnSp>
        <p:nvCxnSpPr>
          <p:cNvPr id="28" name="Straight Arrow Connector 27">
            <a:extLst>
              <a:ext uri="{FF2B5EF4-FFF2-40B4-BE49-F238E27FC236}">
                <a16:creationId xmlns:a16="http://schemas.microsoft.com/office/drawing/2014/main" id="{607694E2-BF36-3C3C-83DE-73B61AFB9996}"/>
              </a:ext>
            </a:extLst>
          </p:cNvPr>
          <p:cNvCxnSpPr>
            <a:stCxn id="27" idx="0"/>
            <a:endCxn id="26" idx="2"/>
          </p:cNvCxnSpPr>
          <p:nvPr/>
        </p:nvCxnSpPr>
        <p:spPr>
          <a:xfrm flipV="1">
            <a:off x="8008751" y="444974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FA72B37C-82D1-B301-1E91-32301C176A87}"/>
              </a:ext>
            </a:extLst>
          </p:cNvPr>
          <p:cNvSpPr/>
          <p:nvPr/>
        </p:nvSpPr>
        <p:spPr>
          <a:xfrm>
            <a:off x="8671102" y="3429836"/>
            <a:ext cx="726831" cy="101990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sp>
        <p:nvSpPr>
          <p:cNvPr id="30" name="Oval 29">
            <a:extLst>
              <a:ext uri="{FF2B5EF4-FFF2-40B4-BE49-F238E27FC236}">
                <a16:creationId xmlns:a16="http://schemas.microsoft.com/office/drawing/2014/main" id="{A886850B-EE8F-0C8A-C7A6-FDB1AF22DD1C}"/>
              </a:ext>
            </a:extLst>
          </p:cNvPr>
          <p:cNvSpPr/>
          <p:nvPr/>
        </p:nvSpPr>
        <p:spPr>
          <a:xfrm>
            <a:off x="8735577" y="4953837"/>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cxnSp>
        <p:nvCxnSpPr>
          <p:cNvPr id="31" name="Straight Arrow Connector 30">
            <a:extLst>
              <a:ext uri="{FF2B5EF4-FFF2-40B4-BE49-F238E27FC236}">
                <a16:creationId xmlns:a16="http://schemas.microsoft.com/office/drawing/2014/main" id="{ED9A67FB-3F16-F805-E7F6-68F459EDCBD4}"/>
              </a:ext>
            </a:extLst>
          </p:cNvPr>
          <p:cNvCxnSpPr>
            <a:stCxn id="30" idx="0"/>
            <a:endCxn id="29" idx="2"/>
          </p:cNvCxnSpPr>
          <p:nvPr/>
        </p:nvCxnSpPr>
        <p:spPr>
          <a:xfrm flipV="1">
            <a:off x="9034516" y="444974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26CE1A32-DA5F-95A0-7830-1AF2E9607C19}"/>
              </a:ext>
            </a:extLst>
          </p:cNvPr>
          <p:cNvSpPr/>
          <p:nvPr/>
        </p:nvSpPr>
        <p:spPr>
          <a:xfrm>
            <a:off x="9693928" y="3429836"/>
            <a:ext cx="726831" cy="101990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sp>
        <p:nvSpPr>
          <p:cNvPr id="33" name="Oval 32">
            <a:extLst>
              <a:ext uri="{FF2B5EF4-FFF2-40B4-BE49-F238E27FC236}">
                <a16:creationId xmlns:a16="http://schemas.microsoft.com/office/drawing/2014/main" id="{7D18D473-E6CE-DFFC-8D49-B56B90765106}"/>
              </a:ext>
            </a:extLst>
          </p:cNvPr>
          <p:cNvSpPr/>
          <p:nvPr/>
        </p:nvSpPr>
        <p:spPr>
          <a:xfrm>
            <a:off x="9758403" y="4953837"/>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sp>
        <p:nvSpPr>
          <p:cNvPr id="34" name="Oval 33">
            <a:extLst>
              <a:ext uri="{FF2B5EF4-FFF2-40B4-BE49-F238E27FC236}">
                <a16:creationId xmlns:a16="http://schemas.microsoft.com/office/drawing/2014/main" id="{2D346FD1-586D-FD29-E8EF-4C667217B804}"/>
              </a:ext>
            </a:extLst>
          </p:cNvPr>
          <p:cNvSpPr/>
          <p:nvPr/>
        </p:nvSpPr>
        <p:spPr>
          <a:xfrm>
            <a:off x="9758404" y="2327866"/>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35" name="Straight Arrow Connector 34">
            <a:extLst>
              <a:ext uri="{FF2B5EF4-FFF2-40B4-BE49-F238E27FC236}">
                <a16:creationId xmlns:a16="http://schemas.microsoft.com/office/drawing/2014/main" id="{673208A3-7F2C-2B26-5802-D6FB060B43C7}"/>
              </a:ext>
            </a:extLst>
          </p:cNvPr>
          <p:cNvCxnSpPr>
            <a:stCxn id="33" idx="0"/>
            <a:endCxn id="32" idx="2"/>
          </p:cNvCxnSpPr>
          <p:nvPr/>
        </p:nvCxnSpPr>
        <p:spPr>
          <a:xfrm flipV="1">
            <a:off x="10057342" y="4449744"/>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F78DC5E-4FC5-F274-E155-3A9034E15326}"/>
              </a:ext>
            </a:extLst>
          </p:cNvPr>
          <p:cNvCxnSpPr/>
          <p:nvPr/>
        </p:nvCxnSpPr>
        <p:spPr>
          <a:xfrm flipV="1">
            <a:off x="10057341" y="2925743"/>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334B4CA-7281-AA80-543B-BCF1A753BF76}"/>
              </a:ext>
            </a:extLst>
          </p:cNvPr>
          <p:cNvCxnSpPr>
            <a:cxnSpLocks/>
            <a:endCxn id="29" idx="1"/>
          </p:cNvCxnSpPr>
          <p:nvPr/>
        </p:nvCxnSpPr>
        <p:spPr>
          <a:xfrm>
            <a:off x="8372168" y="3939790"/>
            <a:ext cx="29893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064DF2F-FE0B-257E-6B75-CD4BE07306D2}"/>
              </a:ext>
            </a:extLst>
          </p:cNvPr>
          <p:cNvCxnSpPr>
            <a:cxnSpLocks/>
          </p:cNvCxnSpPr>
          <p:nvPr/>
        </p:nvCxnSpPr>
        <p:spPr>
          <a:xfrm>
            <a:off x="9397933" y="3922205"/>
            <a:ext cx="29893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1013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1510-F183-A528-EB28-DA3F7D98E374}"/>
              </a:ext>
            </a:extLst>
          </p:cNvPr>
          <p:cNvSpPr>
            <a:spLocks noGrp="1"/>
          </p:cNvSpPr>
          <p:nvPr>
            <p:ph type="title"/>
          </p:nvPr>
        </p:nvSpPr>
        <p:spPr/>
        <p:txBody>
          <a:bodyPr/>
          <a:lstStyle/>
          <a:p>
            <a:r>
              <a:rPr lang="en-GB" b="1" dirty="0"/>
              <a:t>Vanilla RNNs struggle with long-range dependencies</a:t>
            </a:r>
            <a:br>
              <a:rPr lang="en-GB" dirty="0"/>
            </a:br>
            <a:endParaRPr lang="en-BE" dirty="0"/>
          </a:p>
        </p:txBody>
      </p:sp>
      <p:sp>
        <p:nvSpPr>
          <p:cNvPr id="4" name="Slide Number Placeholder 3">
            <a:extLst>
              <a:ext uri="{FF2B5EF4-FFF2-40B4-BE49-F238E27FC236}">
                <a16:creationId xmlns:a16="http://schemas.microsoft.com/office/drawing/2014/main" id="{27CB3982-CE4C-8B71-0708-0732E1E4C5B3}"/>
              </a:ext>
            </a:extLst>
          </p:cNvPr>
          <p:cNvSpPr>
            <a:spLocks noGrp="1"/>
          </p:cNvSpPr>
          <p:nvPr>
            <p:ph type="sldNum" sz="quarter" idx="12"/>
          </p:nvPr>
        </p:nvSpPr>
        <p:spPr/>
        <p:txBody>
          <a:bodyPr/>
          <a:lstStyle/>
          <a:p>
            <a:fld id="{94B3E216-A3C5-4E41-AE94-D003E76F1D3A}" type="slidenum">
              <a:rPr lang="en-US" smtClean="0"/>
              <a:pPr/>
              <a:t>9</a:t>
            </a:fld>
            <a:endParaRPr lang="en-US"/>
          </a:p>
        </p:txBody>
      </p:sp>
      <p:cxnSp>
        <p:nvCxnSpPr>
          <p:cNvPr id="9" name="Straight Arrow Connector 8">
            <a:extLst>
              <a:ext uri="{FF2B5EF4-FFF2-40B4-BE49-F238E27FC236}">
                <a16:creationId xmlns:a16="http://schemas.microsoft.com/office/drawing/2014/main" id="{0602B6E5-EA1F-E483-8302-A4DCF0DD4113}"/>
              </a:ext>
            </a:extLst>
          </p:cNvPr>
          <p:cNvCxnSpPr>
            <a:cxnSpLocks/>
          </p:cNvCxnSpPr>
          <p:nvPr/>
        </p:nvCxnSpPr>
        <p:spPr>
          <a:xfrm>
            <a:off x="2092083" y="1803647"/>
            <a:ext cx="7775585" cy="0"/>
          </a:xfrm>
          <a:prstGeom prst="straightConnector1">
            <a:avLst/>
          </a:prstGeom>
          <a:ln w="76200">
            <a:tailEnd type="triangl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FE5A53D1-0722-B6B8-874F-67B268396D7A}"/>
              </a:ext>
            </a:extLst>
          </p:cNvPr>
          <p:cNvSpPr txBox="1"/>
          <p:nvPr/>
        </p:nvSpPr>
        <p:spPr>
          <a:xfrm>
            <a:off x="3958585" y="1352875"/>
            <a:ext cx="4439342" cy="338554"/>
          </a:xfrm>
          <a:prstGeom prst="rect">
            <a:avLst/>
          </a:prstGeom>
          <a:noFill/>
        </p:spPr>
        <p:txBody>
          <a:bodyPr wrap="square" rtlCol="0">
            <a:spAutoFit/>
          </a:bodyPr>
          <a:lstStyle/>
          <a:p>
            <a:pPr algn="ctr"/>
            <a:r>
              <a:rPr lang="en-US" sz="1600" b="1" dirty="0">
                <a:solidFill>
                  <a:schemeClr val="accent1">
                    <a:lumMod val="75000"/>
                  </a:schemeClr>
                </a:solidFill>
              </a:rPr>
              <a:t>model memory</a:t>
            </a:r>
            <a:endParaRPr lang="en-BE" sz="1600" b="1" dirty="0">
              <a:solidFill>
                <a:schemeClr val="accent1">
                  <a:lumMod val="75000"/>
                </a:schemeClr>
              </a:solidFill>
            </a:endParaRPr>
          </a:p>
        </p:txBody>
      </p:sp>
      <p:sp>
        <p:nvSpPr>
          <p:cNvPr id="12" name="TextBox 11">
            <a:extLst>
              <a:ext uri="{FF2B5EF4-FFF2-40B4-BE49-F238E27FC236}">
                <a16:creationId xmlns:a16="http://schemas.microsoft.com/office/drawing/2014/main" id="{1C5D4065-5AA6-3F09-E56C-174AA8D06679}"/>
              </a:ext>
            </a:extLst>
          </p:cNvPr>
          <p:cNvSpPr txBox="1"/>
          <p:nvPr/>
        </p:nvSpPr>
        <p:spPr>
          <a:xfrm>
            <a:off x="2092083" y="1926212"/>
            <a:ext cx="7744375" cy="707886"/>
          </a:xfrm>
          <a:prstGeom prst="rect">
            <a:avLst/>
          </a:prstGeom>
          <a:noFill/>
        </p:spPr>
        <p:txBody>
          <a:bodyPr wrap="square" rtlCol="0">
            <a:spAutoFit/>
          </a:bodyPr>
          <a:lstStyle/>
          <a:p>
            <a:pPr lvl="0">
              <a:defRPr/>
            </a:pPr>
            <a:r>
              <a:rPr lang="en-BE" sz="4000" dirty="0">
                <a:solidFill>
                  <a:srgbClr val="1B2944"/>
                </a:solidFill>
                <a:latin typeface="Cascadia Code" panose="020B0609020000020004" pitchFamily="49" charset="0"/>
                <a:cs typeface="Cascadia Code" panose="020B0609020000020004" pitchFamily="49" charset="0"/>
              </a:rPr>
              <a:t>M</a:t>
            </a:r>
            <a:endParaRPr kumimoji="0" lang="en-US" sz="4000" b="0" i="0" u="none" strike="noStrike" kern="1200" cap="none" spc="0" normalizeH="0" baseline="0" noProof="0" dirty="0">
              <a:ln>
                <a:noFill/>
              </a:ln>
              <a:solidFill>
                <a:srgbClr val="1B2944"/>
              </a:solidFill>
              <a:effectLst/>
              <a:uLnTx/>
              <a:uFillTx/>
              <a:latin typeface="Cascadia Code" panose="020B0609020000020004" pitchFamily="49" charset="0"/>
              <a:ea typeface="+mn-ea"/>
              <a:cs typeface="Cascadia Code" panose="020B0609020000020004" pitchFamily="49" charset="0"/>
            </a:endParaRPr>
          </a:p>
        </p:txBody>
      </p:sp>
      <p:sp>
        <p:nvSpPr>
          <p:cNvPr id="14" name="TextBox 13">
            <a:extLst>
              <a:ext uri="{FF2B5EF4-FFF2-40B4-BE49-F238E27FC236}">
                <a16:creationId xmlns:a16="http://schemas.microsoft.com/office/drawing/2014/main" id="{94830057-CEDC-E3FE-1E00-22D50FCEC408}"/>
              </a:ext>
            </a:extLst>
          </p:cNvPr>
          <p:cNvSpPr txBox="1"/>
          <p:nvPr/>
        </p:nvSpPr>
        <p:spPr>
          <a:xfrm>
            <a:off x="2092083" y="2560337"/>
            <a:ext cx="7744375" cy="707886"/>
          </a:xfrm>
          <a:prstGeom prst="rect">
            <a:avLst/>
          </a:prstGeom>
          <a:noFill/>
        </p:spPr>
        <p:txBody>
          <a:bodyPr wrap="square" rtlCol="0">
            <a:spAutoFit/>
          </a:bodyPr>
          <a:lstStyle/>
          <a:p>
            <a:pPr lvl="0">
              <a:defRPr/>
            </a:pPr>
            <a:r>
              <a:rPr lang="en-BE" sz="4000" dirty="0">
                <a:solidFill>
                  <a:srgbClr val="1B2944"/>
                </a:solidFill>
                <a:latin typeface="Cascadia Code" panose="020B0609020000020004" pitchFamily="49" charset="0"/>
                <a:cs typeface="Cascadia Code" panose="020B0609020000020004" pitchFamily="49" charset="0"/>
              </a:rPr>
              <a:t>MDKSF</a:t>
            </a:r>
            <a:endParaRPr kumimoji="0" lang="en-US" sz="4000" b="0" i="0" u="none" strike="noStrike" kern="1200" cap="none" spc="0" normalizeH="0" baseline="0" noProof="0" dirty="0">
              <a:ln>
                <a:noFill/>
              </a:ln>
              <a:solidFill>
                <a:srgbClr val="1B2944"/>
              </a:solidFill>
              <a:effectLst/>
              <a:uLnTx/>
              <a:uFillTx/>
              <a:latin typeface="Cascadia Code" panose="020B0609020000020004" pitchFamily="49" charset="0"/>
              <a:ea typeface="+mn-ea"/>
              <a:cs typeface="Cascadia Code" panose="020B0609020000020004" pitchFamily="49" charset="0"/>
            </a:endParaRPr>
          </a:p>
        </p:txBody>
      </p:sp>
      <p:sp>
        <p:nvSpPr>
          <p:cNvPr id="15" name="TextBox 14">
            <a:extLst>
              <a:ext uri="{FF2B5EF4-FFF2-40B4-BE49-F238E27FC236}">
                <a16:creationId xmlns:a16="http://schemas.microsoft.com/office/drawing/2014/main" id="{B4D6DAD1-90BF-8838-0863-C8D709F5D864}"/>
              </a:ext>
            </a:extLst>
          </p:cNvPr>
          <p:cNvSpPr txBox="1"/>
          <p:nvPr/>
        </p:nvSpPr>
        <p:spPr>
          <a:xfrm>
            <a:off x="2092083" y="3194462"/>
            <a:ext cx="7744375" cy="707886"/>
          </a:xfrm>
          <a:prstGeom prst="rect">
            <a:avLst/>
          </a:prstGeom>
          <a:noFill/>
        </p:spPr>
        <p:txBody>
          <a:bodyPr wrap="square" rtlCol="0">
            <a:spAutoFit/>
          </a:bodyPr>
          <a:lstStyle/>
          <a:p>
            <a:pPr lvl="0">
              <a:defRPr/>
            </a:pPr>
            <a:r>
              <a:rPr lang="en-BE" sz="4000" dirty="0">
                <a:solidFill>
                  <a:srgbClr val="1B2944"/>
                </a:solidFill>
                <a:latin typeface="Cascadia Code" panose="020B0609020000020004" pitchFamily="49" charset="0"/>
                <a:cs typeface="Cascadia Code" panose="020B0609020000020004" pitchFamily="49" charset="0"/>
              </a:rPr>
              <a:t>MDKSFTLFLT</a:t>
            </a:r>
            <a:endParaRPr kumimoji="0" lang="en-US" sz="4000" b="0" i="0" u="none" strike="noStrike" kern="1200" cap="none" spc="0" normalizeH="0" baseline="0" noProof="0" dirty="0">
              <a:ln>
                <a:noFill/>
              </a:ln>
              <a:solidFill>
                <a:srgbClr val="1B2944"/>
              </a:solidFill>
              <a:effectLst/>
              <a:uLnTx/>
              <a:uFillTx/>
              <a:latin typeface="Cascadia Code" panose="020B0609020000020004" pitchFamily="49" charset="0"/>
              <a:ea typeface="+mn-ea"/>
              <a:cs typeface="Cascadia Code" panose="020B0609020000020004" pitchFamily="49" charset="0"/>
            </a:endParaRPr>
          </a:p>
        </p:txBody>
      </p:sp>
      <p:sp>
        <p:nvSpPr>
          <p:cNvPr id="16" name="TextBox 15">
            <a:extLst>
              <a:ext uri="{FF2B5EF4-FFF2-40B4-BE49-F238E27FC236}">
                <a16:creationId xmlns:a16="http://schemas.microsoft.com/office/drawing/2014/main" id="{32FF4813-4314-285C-9A53-2D0022626778}"/>
              </a:ext>
            </a:extLst>
          </p:cNvPr>
          <p:cNvSpPr txBox="1"/>
          <p:nvPr/>
        </p:nvSpPr>
        <p:spPr>
          <a:xfrm>
            <a:off x="2092083" y="3828587"/>
            <a:ext cx="7744375" cy="707886"/>
          </a:xfrm>
          <a:prstGeom prst="rect">
            <a:avLst/>
          </a:prstGeom>
          <a:noFill/>
        </p:spPr>
        <p:txBody>
          <a:bodyPr wrap="square" rtlCol="0">
            <a:spAutoFit/>
          </a:bodyPr>
          <a:lstStyle/>
          <a:p>
            <a:pPr lvl="0">
              <a:defRPr/>
            </a:pPr>
            <a:r>
              <a:rPr lang="en-BE" sz="4000" dirty="0">
                <a:solidFill>
                  <a:srgbClr val="1B2944"/>
                </a:solidFill>
                <a:latin typeface="Cascadia Code" panose="020B0609020000020004" pitchFamily="49" charset="0"/>
                <a:cs typeface="Cascadia Code" panose="020B0609020000020004" pitchFamily="49" charset="0"/>
              </a:rPr>
              <a:t>MDKSFTLFLTLTILV</a:t>
            </a:r>
            <a:endParaRPr kumimoji="0" lang="en-US" sz="4000" b="0" i="0" u="none" strike="noStrike" kern="1200" cap="none" spc="0" normalizeH="0" baseline="0" noProof="0" dirty="0">
              <a:ln>
                <a:noFill/>
              </a:ln>
              <a:solidFill>
                <a:srgbClr val="1B2944"/>
              </a:solidFill>
              <a:effectLst/>
              <a:uLnTx/>
              <a:uFillTx/>
              <a:latin typeface="Cascadia Code" panose="020B0609020000020004" pitchFamily="49" charset="0"/>
              <a:ea typeface="+mn-ea"/>
              <a:cs typeface="Cascadia Code" panose="020B0609020000020004" pitchFamily="49" charset="0"/>
            </a:endParaRPr>
          </a:p>
        </p:txBody>
      </p:sp>
      <p:sp>
        <p:nvSpPr>
          <p:cNvPr id="21" name="TextBox 20">
            <a:extLst>
              <a:ext uri="{FF2B5EF4-FFF2-40B4-BE49-F238E27FC236}">
                <a16:creationId xmlns:a16="http://schemas.microsoft.com/office/drawing/2014/main" id="{842FF895-5A56-8658-9A7F-CA22E5F7CDD0}"/>
              </a:ext>
            </a:extLst>
          </p:cNvPr>
          <p:cNvSpPr txBox="1"/>
          <p:nvPr/>
        </p:nvSpPr>
        <p:spPr>
          <a:xfrm>
            <a:off x="2092083" y="4462712"/>
            <a:ext cx="7744375" cy="707886"/>
          </a:xfrm>
          <a:prstGeom prst="rect">
            <a:avLst/>
          </a:prstGeom>
          <a:noFill/>
        </p:spPr>
        <p:txBody>
          <a:bodyPr wrap="square" rtlCol="0">
            <a:spAutoFit/>
          </a:bodyPr>
          <a:lstStyle/>
          <a:p>
            <a:pPr lvl="0">
              <a:defRPr/>
            </a:pPr>
            <a:r>
              <a:rPr lang="en-BE" sz="4000" dirty="0">
                <a:solidFill>
                  <a:srgbClr val="1B2944"/>
                </a:solidFill>
                <a:latin typeface="Cascadia Code" panose="020B0609020000020004" pitchFamily="49" charset="0"/>
                <a:cs typeface="Cascadia Code" panose="020B0609020000020004" pitchFamily="49" charset="0"/>
              </a:rPr>
              <a:t>MDKSFTLFLTLTILVVFIIS</a:t>
            </a:r>
            <a:endParaRPr kumimoji="0" lang="en-US" sz="4000" b="0" i="0" u="none" strike="noStrike" kern="1200" cap="none" spc="0" normalizeH="0" baseline="0" noProof="0" dirty="0">
              <a:ln>
                <a:noFill/>
              </a:ln>
              <a:solidFill>
                <a:srgbClr val="1B2944"/>
              </a:solidFill>
              <a:effectLst/>
              <a:uLnTx/>
              <a:uFillTx/>
              <a:latin typeface="Cascadia Code" panose="020B0609020000020004" pitchFamily="49" charset="0"/>
              <a:ea typeface="+mn-ea"/>
              <a:cs typeface="Cascadia Code" panose="020B0609020000020004" pitchFamily="49" charset="0"/>
            </a:endParaRPr>
          </a:p>
        </p:txBody>
      </p:sp>
      <p:sp>
        <p:nvSpPr>
          <p:cNvPr id="22" name="TextBox 21">
            <a:extLst>
              <a:ext uri="{FF2B5EF4-FFF2-40B4-BE49-F238E27FC236}">
                <a16:creationId xmlns:a16="http://schemas.microsoft.com/office/drawing/2014/main" id="{D6DBA7C6-F42F-B49E-910D-4590DE3E2589}"/>
              </a:ext>
            </a:extLst>
          </p:cNvPr>
          <p:cNvSpPr txBox="1"/>
          <p:nvPr/>
        </p:nvSpPr>
        <p:spPr>
          <a:xfrm>
            <a:off x="2092083" y="5096837"/>
            <a:ext cx="7744375" cy="707886"/>
          </a:xfrm>
          <a:prstGeom prst="rect">
            <a:avLst/>
          </a:prstGeom>
          <a:noFill/>
        </p:spPr>
        <p:txBody>
          <a:bodyPr wrap="square" rtlCol="0">
            <a:spAutoFit/>
          </a:bodyPr>
          <a:lstStyle/>
          <a:p>
            <a:pPr lvl="0">
              <a:defRPr/>
            </a:pPr>
            <a:r>
              <a:rPr lang="en-BE" sz="4000" dirty="0">
                <a:solidFill>
                  <a:srgbClr val="1B2944"/>
                </a:solidFill>
                <a:latin typeface="Cascadia Code" panose="020B0609020000020004" pitchFamily="49" charset="0"/>
                <a:cs typeface="Cascadia Code" panose="020B0609020000020004" pitchFamily="49" charset="0"/>
              </a:rPr>
              <a:t>MDKSFTLFLTLTILVVFIISSPPVQ</a:t>
            </a:r>
            <a:endParaRPr kumimoji="0" lang="en-US" sz="4000" b="0" i="0" u="none" strike="noStrike" kern="1200" cap="none" spc="0" normalizeH="0" baseline="0" noProof="0" dirty="0">
              <a:ln>
                <a:noFill/>
              </a:ln>
              <a:solidFill>
                <a:srgbClr val="1B2944"/>
              </a:solidFill>
              <a:effectLst/>
              <a:uLnTx/>
              <a:uFillTx/>
              <a:latin typeface="Cascadia Code" panose="020B0609020000020004" pitchFamily="49" charset="0"/>
              <a:ea typeface="+mn-ea"/>
              <a:cs typeface="Cascadia Code" panose="020B0609020000020004" pitchFamily="49" charset="0"/>
            </a:endParaRPr>
          </a:p>
        </p:txBody>
      </p:sp>
      <p:cxnSp>
        <p:nvCxnSpPr>
          <p:cNvPr id="24" name="Straight Arrow Connector 23">
            <a:extLst>
              <a:ext uri="{FF2B5EF4-FFF2-40B4-BE49-F238E27FC236}">
                <a16:creationId xmlns:a16="http://schemas.microsoft.com/office/drawing/2014/main" id="{F9585075-77DB-23FF-B6C4-A28DFAC29188}"/>
              </a:ext>
            </a:extLst>
          </p:cNvPr>
          <p:cNvCxnSpPr>
            <a:cxnSpLocks/>
          </p:cNvCxnSpPr>
          <p:nvPr/>
        </p:nvCxnSpPr>
        <p:spPr>
          <a:xfrm>
            <a:off x="1971157" y="1944129"/>
            <a:ext cx="0" cy="3984129"/>
          </a:xfrm>
          <a:prstGeom prst="straightConnector1">
            <a:avLst/>
          </a:prstGeom>
          <a:ln w="76200">
            <a:tailEnd type="triangle"/>
          </a:ln>
        </p:spPr>
        <p:style>
          <a:lnRef idx="3">
            <a:schemeClr val="accent1"/>
          </a:lnRef>
          <a:fillRef idx="0">
            <a:schemeClr val="accent1"/>
          </a:fillRef>
          <a:effectRef idx="2">
            <a:schemeClr val="accent1"/>
          </a:effectRef>
          <a:fontRef idx="minor">
            <a:schemeClr val="tx1"/>
          </a:fontRef>
        </p:style>
      </p:cxnSp>
      <p:sp>
        <p:nvSpPr>
          <p:cNvPr id="26" name="TextBox 25">
            <a:extLst>
              <a:ext uri="{FF2B5EF4-FFF2-40B4-BE49-F238E27FC236}">
                <a16:creationId xmlns:a16="http://schemas.microsoft.com/office/drawing/2014/main" id="{D8706602-DC72-C678-95B6-AB8929AD7FDB}"/>
              </a:ext>
            </a:extLst>
          </p:cNvPr>
          <p:cNvSpPr txBox="1"/>
          <p:nvPr/>
        </p:nvSpPr>
        <p:spPr>
          <a:xfrm rot="16200000">
            <a:off x="-517136" y="3701363"/>
            <a:ext cx="4439342" cy="338554"/>
          </a:xfrm>
          <a:prstGeom prst="rect">
            <a:avLst/>
          </a:prstGeom>
          <a:noFill/>
        </p:spPr>
        <p:txBody>
          <a:bodyPr wrap="square" rtlCol="0">
            <a:spAutoFit/>
          </a:bodyPr>
          <a:lstStyle/>
          <a:p>
            <a:pPr algn="ctr"/>
            <a:r>
              <a:rPr lang="en-US" sz="1600" b="1" dirty="0">
                <a:solidFill>
                  <a:schemeClr val="accent1">
                    <a:lumMod val="75000"/>
                  </a:schemeClr>
                </a:solidFill>
              </a:rPr>
              <a:t>time steps throughout the sequence</a:t>
            </a:r>
            <a:endParaRPr lang="en-BE" sz="1600" b="1" dirty="0">
              <a:solidFill>
                <a:schemeClr val="accent1">
                  <a:lumMod val="75000"/>
                </a:schemeClr>
              </a:solidFill>
            </a:endParaRPr>
          </a:p>
        </p:txBody>
      </p:sp>
      <p:sp>
        <p:nvSpPr>
          <p:cNvPr id="27" name="Rectangle 26">
            <a:extLst>
              <a:ext uri="{FF2B5EF4-FFF2-40B4-BE49-F238E27FC236}">
                <a16:creationId xmlns:a16="http://schemas.microsoft.com/office/drawing/2014/main" id="{C7AAA864-4996-F3FC-4AE5-92F82E15FC2C}"/>
              </a:ext>
            </a:extLst>
          </p:cNvPr>
          <p:cNvSpPr/>
          <p:nvPr/>
        </p:nvSpPr>
        <p:spPr>
          <a:xfrm>
            <a:off x="2092083" y="2634098"/>
            <a:ext cx="7743600" cy="559050"/>
          </a:xfrm>
          <a:prstGeom prst="rect">
            <a:avLst/>
          </a:prstGeom>
          <a:gradFill flip="none" rotWithShape="1">
            <a:gsLst>
              <a:gs pos="0">
                <a:schemeClr val="bg1">
                  <a:alpha val="24000"/>
                </a:schemeClr>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28" name="Rectangle 27">
            <a:extLst>
              <a:ext uri="{FF2B5EF4-FFF2-40B4-BE49-F238E27FC236}">
                <a16:creationId xmlns:a16="http://schemas.microsoft.com/office/drawing/2014/main" id="{E01B6616-9CA0-2A0B-F43F-810FF1212239}"/>
              </a:ext>
            </a:extLst>
          </p:cNvPr>
          <p:cNvSpPr/>
          <p:nvPr/>
        </p:nvSpPr>
        <p:spPr>
          <a:xfrm>
            <a:off x="2092083" y="3268223"/>
            <a:ext cx="7743600" cy="559050"/>
          </a:xfrm>
          <a:prstGeom prst="rect">
            <a:avLst/>
          </a:prstGeom>
          <a:gradFill flip="none" rotWithShape="1">
            <a:gsLst>
              <a:gs pos="0">
                <a:schemeClr val="bg1"/>
              </a:gs>
              <a:gs pos="27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9" name="Rectangle 28">
            <a:extLst>
              <a:ext uri="{FF2B5EF4-FFF2-40B4-BE49-F238E27FC236}">
                <a16:creationId xmlns:a16="http://schemas.microsoft.com/office/drawing/2014/main" id="{B3F971B8-5D57-C599-795B-8A66E0DF4332}"/>
              </a:ext>
            </a:extLst>
          </p:cNvPr>
          <p:cNvSpPr/>
          <p:nvPr/>
        </p:nvSpPr>
        <p:spPr>
          <a:xfrm>
            <a:off x="2092083" y="3902348"/>
            <a:ext cx="7743600" cy="559050"/>
          </a:xfrm>
          <a:prstGeom prst="rect">
            <a:avLst/>
          </a:prstGeom>
          <a:gradFill flip="none" rotWithShape="1">
            <a:gsLst>
              <a:gs pos="6000">
                <a:schemeClr val="bg1"/>
              </a:gs>
              <a:gs pos="7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0" name="Rectangle 29">
            <a:extLst>
              <a:ext uri="{FF2B5EF4-FFF2-40B4-BE49-F238E27FC236}">
                <a16:creationId xmlns:a16="http://schemas.microsoft.com/office/drawing/2014/main" id="{77AF96D4-E3E0-3895-BC33-87FEF40FCEC0}"/>
              </a:ext>
            </a:extLst>
          </p:cNvPr>
          <p:cNvSpPr/>
          <p:nvPr/>
        </p:nvSpPr>
        <p:spPr>
          <a:xfrm>
            <a:off x="2092083" y="4536473"/>
            <a:ext cx="7743600" cy="559050"/>
          </a:xfrm>
          <a:prstGeom prst="rect">
            <a:avLst/>
          </a:prstGeom>
          <a:gradFill flip="none" rotWithShape="1">
            <a:gsLst>
              <a:gs pos="2900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1" name="Rectangle 30">
            <a:extLst>
              <a:ext uri="{FF2B5EF4-FFF2-40B4-BE49-F238E27FC236}">
                <a16:creationId xmlns:a16="http://schemas.microsoft.com/office/drawing/2014/main" id="{92C7DE9A-141E-71CB-5836-D9B90D7772CE}"/>
              </a:ext>
            </a:extLst>
          </p:cNvPr>
          <p:cNvSpPr/>
          <p:nvPr/>
        </p:nvSpPr>
        <p:spPr>
          <a:xfrm>
            <a:off x="2092083" y="5170598"/>
            <a:ext cx="7743600" cy="559050"/>
          </a:xfrm>
          <a:prstGeom prst="rect">
            <a:avLst/>
          </a:prstGeom>
          <a:gradFill flip="none" rotWithShape="1">
            <a:gsLst>
              <a:gs pos="4600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567737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246C4-0524-C598-FB68-C584EC26E0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323A8-D960-3C2A-A44E-6CD1EC20CD27}"/>
              </a:ext>
            </a:extLst>
          </p:cNvPr>
          <p:cNvSpPr>
            <a:spLocks noGrp="1"/>
          </p:cNvSpPr>
          <p:nvPr>
            <p:ph type="title"/>
          </p:nvPr>
        </p:nvSpPr>
        <p:spPr>
          <a:xfrm>
            <a:off x="407989" y="365125"/>
            <a:ext cx="11341100" cy="833626"/>
          </a:xfrm>
        </p:spPr>
        <p:txBody>
          <a:bodyPr/>
          <a:lstStyle/>
          <a:p>
            <a:r>
              <a:rPr lang="en-GB" b="1" dirty="0"/>
              <a:t>LSTMs and GRUs introduced gated memory to better preserve</a:t>
            </a:r>
            <a:br>
              <a:rPr lang="en-GB" b="1" dirty="0"/>
            </a:br>
            <a:r>
              <a:rPr lang="en-GB" b="1" dirty="0"/>
              <a:t>the important information</a:t>
            </a:r>
            <a:endParaRPr lang="en-BE" dirty="0"/>
          </a:p>
        </p:txBody>
      </p:sp>
      <p:sp>
        <p:nvSpPr>
          <p:cNvPr id="4" name="Slide Number Placeholder 3">
            <a:extLst>
              <a:ext uri="{FF2B5EF4-FFF2-40B4-BE49-F238E27FC236}">
                <a16:creationId xmlns:a16="http://schemas.microsoft.com/office/drawing/2014/main" id="{66AC2EB0-0C7B-21CC-0EDB-3891E8E3934F}"/>
              </a:ext>
            </a:extLst>
          </p:cNvPr>
          <p:cNvSpPr>
            <a:spLocks noGrp="1"/>
          </p:cNvSpPr>
          <p:nvPr>
            <p:ph type="sldNum" sz="quarter" idx="12"/>
          </p:nvPr>
        </p:nvSpPr>
        <p:spPr/>
        <p:txBody>
          <a:bodyPr/>
          <a:lstStyle/>
          <a:p>
            <a:fld id="{94B3E216-A3C5-4E41-AE94-D003E76F1D3A}" type="slidenum">
              <a:rPr lang="en-US" smtClean="0"/>
              <a:pPr/>
              <a:t>10</a:t>
            </a:fld>
            <a:endParaRPr lang="en-US"/>
          </a:p>
        </p:txBody>
      </p:sp>
      <p:grpSp>
        <p:nvGrpSpPr>
          <p:cNvPr id="101" name="Group 100">
            <a:extLst>
              <a:ext uri="{FF2B5EF4-FFF2-40B4-BE49-F238E27FC236}">
                <a16:creationId xmlns:a16="http://schemas.microsoft.com/office/drawing/2014/main" id="{0AF475BD-E7EE-99CD-197D-01A058776135}"/>
              </a:ext>
            </a:extLst>
          </p:cNvPr>
          <p:cNvGrpSpPr/>
          <p:nvPr/>
        </p:nvGrpSpPr>
        <p:grpSpPr>
          <a:xfrm>
            <a:off x="1545278" y="2140592"/>
            <a:ext cx="9139655" cy="3377333"/>
            <a:chOff x="1861941" y="2101032"/>
            <a:chExt cx="9139655" cy="3377333"/>
          </a:xfrm>
        </p:grpSpPr>
        <p:grpSp>
          <p:nvGrpSpPr>
            <p:cNvPr id="56" name="Group 55">
              <a:extLst>
                <a:ext uri="{FF2B5EF4-FFF2-40B4-BE49-F238E27FC236}">
                  <a16:creationId xmlns:a16="http://schemas.microsoft.com/office/drawing/2014/main" id="{A180D7B6-0F84-D35F-7986-0DDE64431625}"/>
                </a:ext>
              </a:extLst>
            </p:cNvPr>
            <p:cNvGrpSpPr/>
            <p:nvPr/>
          </p:nvGrpSpPr>
          <p:grpSpPr>
            <a:xfrm>
              <a:off x="1861941" y="2101032"/>
              <a:ext cx="2110866" cy="3377333"/>
              <a:chOff x="1008185" y="2596660"/>
              <a:chExt cx="2110866" cy="3377333"/>
            </a:xfrm>
          </p:grpSpPr>
          <p:sp>
            <p:nvSpPr>
              <p:cNvPr id="57" name="Rectangle: Rounded Corners 56">
                <a:extLst>
                  <a:ext uri="{FF2B5EF4-FFF2-40B4-BE49-F238E27FC236}">
                    <a16:creationId xmlns:a16="http://schemas.microsoft.com/office/drawing/2014/main" id="{DAA3EA36-3E15-5D92-3B6B-50DB1C20EF5F}"/>
                  </a:ext>
                </a:extLst>
              </p:cNvPr>
              <p:cNvSpPr/>
              <p:nvPr/>
            </p:nvSpPr>
            <p:spPr>
              <a:xfrm>
                <a:off x="1453661" y="3698630"/>
                <a:ext cx="726831" cy="1019908"/>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sp>
            <p:nvSpPr>
              <p:cNvPr id="58" name="Oval 57">
                <a:extLst>
                  <a:ext uri="{FF2B5EF4-FFF2-40B4-BE49-F238E27FC236}">
                    <a16:creationId xmlns:a16="http://schemas.microsoft.com/office/drawing/2014/main" id="{05160C70-7F63-957B-3E13-E4F3A1CEB836}"/>
                  </a:ext>
                </a:extLst>
              </p:cNvPr>
              <p:cNvSpPr/>
              <p:nvPr/>
            </p:nvSpPr>
            <p:spPr>
              <a:xfrm>
                <a:off x="1518136" y="5222631"/>
                <a:ext cx="597877" cy="597877"/>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LID4096"/>
              </a:p>
            </p:txBody>
          </p:sp>
          <p:sp>
            <p:nvSpPr>
              <p:cNvPr id="59" name="Oval 58">
                <a:extLst>
                  <a:ext uri="{FF2B5EF4-FFF2-40B4-BE49-F238E27FC236}">
                    <a16:creationId xmlns:a16="http://schemas.microsoft.com/office/drawing/2014/main" id="{8A2CCA8B-06DC-7539-62DF-CFD667D0A6E7}"/>
                  </a:ext>
                </a:extLst>
              </p:cNvPr>
              <p:cNvSpPr/>
              <p:nvPr/>
            </p:nvSpPr>
            <p:spPr>
              <a:xfrm>
                <a:off x="1518137" y="2596660"/>
                <a:ext cx="597877" cy="597877"/>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lang="LID4096"/>
              </a:p>
            </p:txBody>
          </p:sp>
          <p:cxnSp>
            <p:nvCxnSpPr>
              <p:cNvPr id="60" name="Straight Arrow Connector 59">
                <a:extLst>
                  <a:ext uri="{FF2B5EF4-FFF2-40B4-BE49-F238E27FC236}">
                    <a16:creationId xmlns:a16="http://schemas.microsoft.com/office/drawing/2014/main" id="{A7D35D8D-08D4-E3BC-69C9-524898E52EF4}"/>
                  </a:ext>
                </a:extLst>
              </p:cNvPr>
              <p:cNvCxnSpPr>
                <a:stCxn id="58" idx="0"/>
                <a:endCxn id="57" idx="2"/>
              </p:cNvCxnSpPr>
              <p:nvPr/>
            </p:nvCxnSpPr>
            <p:spPr>
              <a:xfrm flipV="1">
                <a:off x="1817075" y="4718538"/>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1173B01-A5A8-535B-FD13-83B88FA0DBEE}"/>
                  </a:ext>
                </a:extLst>
              </p:cNvPr>
              <p:cNvCxnSpPr/>
              <p:nvPr/>
            </p:nvCxnSpPr>
            <p:spPr>
              <a:xfrm flipV="1">
                <a:off x="1817074" y="3194537"/>
                <a:ext cx="2" cy="504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4A21FB75-5761-4954-F6BB-73FC6CEDA7E3}"/>
                      </a:ext>
                    </a:extLst>
                  </p:cNvPr>
                  <p:cNvSpPr txBox="1"/>
                  <p:nvPr/>
                </p:nvSpPr>
                <p:spPr>
                  <a:xfrm>
                    <a:off x="1498213" y="5310222"/>
                    <a:ext cx="599125" cy="663771"/>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𝑥</m:t>
                              </m:r>
                            </m:e>
                            <m:sub>
                              <m:r>
                                <a:rPr lang="en-GB" sz="2400" b="0" i="1" smtClean="0">
                                  <a:latin typeface="Cambria Math" panose="02040503050406030204" pitchFamily="18" charset="0"/>
                                </a:rPr>
                                <m:t>𝑡</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62" name="TextBox 61">
                    <a:extLst>
                      <a:ext uri="{FF2B5EF4-FFF2-40B4-BE49-F238E27FC236}">
                        <a16:creationId xmlns:a16="http://schemas.microsoft.com/office/drawing/2014/main" id="{4A21FB75-5761-4954-F6BB-73FC6CEDA7E3}"/>
                      </a:ext>
                    </a:extLst>
                  </p:cNvPr>
                  <p:cNvSpPr txBox="1">
                    <a:spLocks noRot="1" noChangeAspect="1" noMove="1" noResize="1" noEditPoints="1" noAdjustHandles="1" noChangeArrowheads="1" noChangeShapeType="1" noTextEdit="1"/>
                  </p:cNvSpPr>
                  <p:nvPr/>
                </p:nvSpPr>
                <p:spPr>
                  <a:xfrm>
                    <a:off x="1498213" y="5310222"/>
                    <a:ext cx="599125" cy="663771"/>
                  </a:xfrm>
                  <a:prstGeom prst="rect">
                    <a:avLst/>
                  </a:prstGeom>
                  <a:blipFill>
                    <a:blip r:embed="rId3"/>
                    <a:stretch>
                      <a:fillRect l="-24490" t="-11009" r="-16327" b="-21101"/>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0EF59AD-9883-CDD4-B9A8-E85E461CF243}"/>
                      </a:ext>
                    </a:extLst>
                  </p:cNvPr>
                  <p:cNvSpPr txBox="1"/>
                  <p:nvPr/>
                </p:nvSpPr>
                <p:spPr>
                  <a:xfrm>
                    <a:off x="1518136" y="2666513"/>
                    <a:ext cx="599125" cy="663771"/>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𝑡</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63" name="TextBox 62">
                    <a:extLst>
                      <a:ext uri="{FF2B5EF4-FFF2-40B4-BE49-F238E27FC236}">
                        <a16:creationId xmlns:a16="http://schemas.microsoft.com/office/drawing/2014/main" id="{E0EF59AD-9883-CDD4-B9A8-E85E461CF243}"/>
                      </a:ext>
                    </a:extLst>
                  </p:cNvPr>
                  <p:cNvSpPr txBox="1">
                    <a:spLocks noRot="1" noChangeAspect="1" noMove="1" noResize="1" noEditPoints="1" noAdjustHandles="1" noChangeArrowheads="1" noChangeShapeType="1" noTextEdit="1"/>
                  </p:cNvSpPr>
                  <p:nvPr/>
                </p:nvSpPr>
                <p:spPr>
                  <a:xfrm>
                    <a:off x="1518136" y="2666513"/>
                    <a:ext cx="599125" cy="663771"/>
                  </a:xfrm>
                  <a:prstGeom prst="rect">
                    <a:avLst/>
                  </a:prstGeom>
                  <a:blipFill>
                    <a:blip r:embed="rId4"/>
                    <a:stretch>
                      <a:fillRect l="-23469" t="-12037" r="-38776" b="-21296"/>
                    </a:stretch>
                  </a:blipFill>
                </p:spPr>
                <p:txBody>
                  <a:bodyPr/>
                  <a:lstStyle/>
                  <a:p>
                    <a:r>
                      <a:rPr lang="en-BE">
                        <a:noFill/>
                      </a:rPr>
                      <a:t> </a:t>
                    </a:r>
                  </a:p>
                </p:txBody>
              </p:sp>
            </mc:Fallback>
          </mc:AlternateContent>
          <p:cxnSp>
            <p:nvCxnSpPr>
              <p:cNvPr id="64" name="Straight Connector 63">
                <a:extLst>
                  <a:ext uri="{FF2B5EF4-FFF2-40B4-BE49-F238E27FC236}">
                    <a16:creationId xmlns:a16="http://schemas.microsoft.com/office/drawing/2014/main" id="{7363BF6C-86DB-3F8C-BBA5-E60DDDDA13E8}"/>
                  </a:ext>
                </a:extLst>
              </p:cNvPr>
              <p:cNvCxnSpPr>
                <a:stCxn id="57" idx="3"/>
              </p:cNvCxnSpPr>
              <p:nvPr/>
            </p:nvCxnSpPr>
            <p:spPr>
              <a:xfrm>
                <a:off x="2180492" y="4208584"/>
                <a:ext cx="3985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28EB0A3-432B-AAD8-0D8B-90382318D0B0}"/>
                  </a:ext>
                </a:extLst>
              </p:cNvPr>
              <p:cNvCxnSpPr>
                <a:cxnSpLocks/>
              </p:cNvCxnSpPr>
              <p:nvPr/>
            </p:nvCxnSpPr>
            <p:spPr>
              <a:xfrm flipV="1">
                <a:off x="2579077" y="3534508"/>
                <a:ext cx="0" cy="6740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13D3945-D360-D892-194C-7001CAEF9E76}"/>
                  </a:ext>
                </a:extLst>
              </p:cNvPr>
              <p:cNvCxnSpPr>
                <a:cxnSpLocks/>
              </p:cNvCxnSpPr>
              <p:nvPr/>
            </p:nvCxnSpPr>
            <p:spPr>
              <a:xfrm flipH="1">
                <a:off x="1008185" y="3534508"/>
                <a:ext cx="157089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D6E8A1B-D663-21DE-9FC2-8DFF50415D42}"/>
                  </a:ext>
                </a:extLst>
              </p:cNvPr>
              <p:cNvCxnSpPr>
                <a:cxnSpLocks/>
              </p:cNvCxnSpPr>
              <p:nvPr/>
            </p:nvCxnSpPr>
            <p:spPr>
              <a:xfrm>
                <a:off x="1008185" y="3534508"/>
                <a:ext cx="0" cy="6740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E2152620-7A5A-BFFC-F21B-49E42CDC368C}"/>
                  </a:ext>
                </a:extLst>
              </p:cNvPr>
              <p:cNvCxnSpPr>
                <a:cxnSpLocks/>
                <a:endCxn id="57" idx="1"/>
              </p:cNvCxnSpPr>
              <p:nvPr/>
            </p:nvCxnSpPr>
            <p:spPr>
              <a:xfrm>
                <a:off x="1008185" y="4208584"/>
                <a:ext cx="44547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8595B4DD-2711-81ED-C517-D8E522FA1893}"/>
                      </a:ext>
                    </a:extLst>
                  </p:cNvPr>
                  <p:cNvSpPr txBox="1"/>
                  <p:nvPr/>
                </p:nvSpPr>
                <p:spPr>
                  <a:xfrm>
                    <a:off x="2519926" y="3693199"/>
                    <a:ext cx="599125" cy="663771"/>
                  </a:xfrm>
                  <a:prstGeom prst="rect">
                    <a:avLst/>
                  </a:prstGeom>
                  <a:noFill/>
                </p:spPr>
                <p:txBody>
                  <a:bodyPr wrap="square" lIns="0" tIns="0" rIns="0" bIns="0" rtlCol="0">
                    <a:spAutoFit/>
                  </a:bodyPr>
                  <a:lstStyle/>
                  <a:p>
                    <a:pPr/>
                    <a14:m>
                      <m:oMathPara xmlns:m="http://schemas.openxmlformats.org/officeDocument/2006/math">
                        <m:oMath>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ℎ</m:t>
                              </m:r>
                            </m:e>
                            <m:sub>
                              <m:r>
                                <a:rPr lang="en-GB" sz="2400" b="0" i="1" smtClean="0">
                                  <a:latin typeface="Cambria Math" panose="02040503050406030204" pitchFamily="18" charset="0"/>
                                </a:rPr>
                                <m:t>𝑡</m:t>
                              </m:r>
                            </m:sub>
                            <m:sup>
                              <m:r>
                                <a:rPr lang="en-GB" sz="2400" b="0" i="1" smtClean="0">
                                  <a:latin typeface="Cambria Math" panose="02040503050406030204" pitchFamily="18" charset="0"/>
                                </a:rPr>
                                <m:t>𝑖</m:t>
                              </m:r>
                            </m:sup>
                          </m:sSubSup>
                        </m:oMath>
                      </m:oMathPara>
                    </a14:m>
                    <a:endParaRPr lang="en-GB" sz="2400" b="0" dirty="0"/>
                  </a:p>
                  <a:p>
                    <a:endParaRPr lang="en-GB" b="0" dirty="0"/>
                  </a:p>
                </p:txBody>
              </p:sp>
            </mc:Choice>
            <mc:Fallback xmlns="">
              <p:sp>
                <p:nvSpPr>
                  <p:cNvPr id="69" name="TextBox 68">
                    <a:extLst>
                      <a:ext uri="{FF2B5EF4-FFF2-40B4-BE49-F238E27FC236}">
                        <a16:creationId xmlns:a16="http://schemas.microsoft.com/office/drawing/2014/main" id="{8595B4DD-2711-81ED-C517-D8E522FA1893}"/>
                      </a:ext>
                    </a:extLst>
                  </p:cNvPr>
                  <p:cNvSpPr txBox="1">
                    <a:spLocks noRot="1" noChangeAspect="1" noMove="1" noResize="1" noEditPoints="1" noAdjustHandles="1" noChangeArrowheads="1" noChangeShapeType="1" noTextEdit="1"/>
                  </p:cNvSpPr>
                  <p:nvPr/>
                </p:nvSpPr>
                <p:spPr>
                  <a:xfrm>
                    <a:off x="2519926" y="3693199"/>
                    <a:ext cx="599125" cy="663771"/>
                  </a:xfrm>
                  <a:prstGeom prst="rect">
                    <a:avLst/>
                  </a:prstGeom>
                  <a:blipFill>
                    <a:blip r:embed="rId5"/>
                    <a:stretch>
                      <a:fillRect l="-23232" t="-11009" r="-18182" b="-21101"/>
                    </a:stretch>
                  </a:blipFill>
                </p:spPr>
                <p:txBody>
                  <a:bodyPr/>
                  <a:lstStyle/>
                  <a:p>
                    <a:r>
                      <a:rPr lang="en-BE">
                        <a:noFill/>
                      </a:rPr>
                      <a:t> </a:t>
                    </a:r>
                  </a:p>
                </p:txBody>
              </p:sp>
            </mc:Fallback>
          </mc:AlternateContent>
        </p:grpSp>
        <p:sp>
          <p:nvSpPr>
            <p:cNvPr id="70" name="Rectangle: Rounded Corners 69">
              <a:extLst>
                <a:ext uri="{FF2B5EF4-FFF2-40B4-BE49-F238E27FC236}">
                  <a16:creationId xmlns:a16="http://schemas.microsoft.com/office/drawing/2014/main" id="{4F7CAF3F-BEB3-5B86-7F12-995A900F1B55}"/>
                </a:ext>
              </a:extLst>
            </p:cNvPr>
            <p:cNvSpPr/>
            <p:nvPr/>
          </p:nvSpPr>
          <p:spPr>
            <a:xfrm>
              <a:off x="6243295" y="2155746"/>
              <a:ext cx="4758301" cy="3121347"/>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LID4096" dirty="0"/>
            </a:p>
          </p:txBody>
        </p:sp>
        <p:cxnSp>
          <p:nvCxnSpPr>
            <p:cNvPr id="71" name="Straight Arrow Connector 70">
              <a:extLst>
                <a:ext uri="{FF2B5EF4-FFF2-40B4-BE49-F238E27FC236}">
                  <a16:creationId xmlns:a16="http://schemas.microsoft.com/office/drawing/2014/main" id="{6D9BD7F6-2BB3-5283-B7AB-87091194FF03}"/>
                </a:ext>
              </a:extLst>
            </p:cNvPr>
            <p:cNvCxnSpPr>
              <a:cxnSpLocks/>
            </p:cNvCxnSpPr>
            <p:nvPr/>
          </p:nvCxnSpPr>
          <p:spPr>
            <a:xfrm flipV="1">
              <a:off x="6243295" y="3697817"/>
              <a:ext cx="1501046" cy="581"/>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BBBB62F5-441B-5B75-3E71-D713D1E586ED}"/>
                </a:ext>
              </a:extLst>
            </p:cNvPr>
            <p:cNvCxnSpPr>
              <a:cxnSpLocks/>
              <a:stCxn id="70" idx="2"/>
            </p:cNvCxnSpPr>
            <p:nvPr/>
          </p:nvCxnSpPr>
          <p:spPr>
            <a:xfrm flipH="1" flipV="1">
              <a:off x="8622445" y="4252439"/>
              <a:ext cx="1" cy="1024654"/>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E90F0260-80F2-7D89-626D-48A09FF4F9DC}"/>
                </a:ext>
              </a:extLst>
            </p:cNvPr>
            <p:cNvCxnSpPr>
              <a:cxnSpLocks/>
            </p:cNvCxnSpPr>
            <p:nvPr/>
          </p:nvCxnSpPr>
          <p:spPr>
            <a:xfrm>
              <a:off x="6783268" y="3697817"/>
              <a:ext cx="2491358"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44E8ACD4-A232-3C5C-0044-E110F96993C3}"/>
                </a:ext>
              </a:extLst>
            </p:cNvPr>
            <p:cNvCxnSpPr>
              <a:cxnSpLocks/>
              <a:endCxn id="70" idx="0"/>
            </p:cNvCxnSpPr>
            <p:nvPr/>
          </p:nvCxnSpPr>
          <p:spPr>
            <a:xfrm flipV="1">
              <a:off x="8622446" y="2155746"/>
              <a:ext cx="0" cy="2229687"/>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AFA0EB3C-D45D-B896-31F8-ED9E349E126B}"/>
                </a:ext>
              </a:extLst>
            </p:cNvPr>
            <p:cNvCxnSpPr>
              <a:cxnSpLocks/>
            </p:cNvCxnSpPr>
            <p:nvPr/>
          </p:nvCxnSpPr>
          <p:spPr>
            <a:xfrm>
              <a:off x="10226733" y="3697817"/>
              <a:ext cx="774863"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90" name="Graphic 89" descr="Door Open with solid fill">
              <a:extLst>
                <a:ext uri="{FF2B5EF4-FFF2-40B4-BE49-F238E27FC236}">
                  <a16:creationId xmlns:a16="http://schemas.microsoft.com/office/drawing/2014/main" id="{9C3B5A55-FDAA-F18F-CFEA-DC1504CB853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12333" y="3182432"/>
              <a:ext cx="914400" cy="914400"/>
            </a:xfrm>
            <a:prstGeom prst="rect">
              <a:avLst/>
            </a:prstGeom>
          </p:spPr>
        </p:pic>
        <p:cxnSp>
          <p:nvCxnSpPr>
            <p:cNvPr id="93" name="Straight Connector 92">
              <a:extLst>
                <a:ext uri="{FF2B5EF4-FFF2-40B4-BE49-F238E27FC236}">
                  <a16:creationId xmlns:a16="http://schemas.microsoft.com/office/drawing/2014/main" id="{C13A355D-E74E-79FA-71D9-3B6818764917}"/>
                </a:ext>
              </a:extLst>
            </p:cNvPr>
            <p:cNvCxnSpPr>
              <a:cxnSpLocks/>
            </p:cNvCxnSpPr>
            <p:nvPr/>
          </p:nvCxnSpPr>
          <p:spPr>
            <a:xfrm flipV="1">
              <a:off x="2997901" y="2198240"/>
              <a:ext cx="3643979" cy="1064468"/>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8D1A30A0-719B-E50C-8657-1896B5BB7989}"/>
                </a:ext>
              </a:extLst>
            </p:cNvPr>
            <p:cNvCxnSpPr>
              <a:cxnSpLocks/>
            </p:cNvCxnSpPr>
            <p:nvPr/>
          </p:nvCxnSpPr>
          <p:spPr>
            <a:xfrm>
              <a:off x="2901270" y="4202491"/>
              <a:ext cx="3740610" cy="1034202"/>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101293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412F5-0DB2-068B-122F-0A7AA4AB8B11}"/>
              </a:ext>
            </a:extLst>
          </p:cNvPr>
          <p:cNvSpPr>
            <a:spLocks noGrp="1"/>
          </p:cNvSpPr>
          <p:nvPr>
            <p:ph type="title"/>
          </p:nvPr>
        </p:nvSpPr>
        <p:spPr>
          <a:xfrm>
            <a:off x="407989" y="365125"/>
            <a:ext cx="11341100" cy="750014"/>
          </a:xfrm>
        </p:spPr>
        <p:txBody>
          <a:bodyPr/>
          <a:lstStyle/>
          <a:p>
            <a:r>
              <a:rPr lang="en-GB" b="1" dirty="0"/>
              <a:t>For complex tasks, recurrent memory is often not enough…</a:t>
            </a:r>
            <a:br>
              <a:rPr lang="en-GB" b="1" dirty="0"/>
            </a:br>
            <a:r>
              <a:rPr lang="en-GB" sz="2400" b="1" dirty="0"/>
              <a:t>Especially when important context is far away</a:t>
            </a:r>
            <a:endParaRPr lang="en-BE" dirty="0"/>
          </a:p>
        </p:txBody>
      </p:sp>
      <p:sp>
        <p:nvSpPr>
          <p:cNvPr id="3" name="Slide Number Placeholder 2">
            <a:extLst>
              <a:ext uri="{FF2B5EF4-FFF2-40B4-BE49-F238E27FC236}">
                <a16:creationId xmlns:a16="http://schemas.microsoft.com/office/drawing/2014/main" id="{519E8AD8-9559-5124-875D-844E0BD6AD0B}"/>
              </a:ext>
            </a:extLst>
          </p:cNvPr>
          <p:cNvSpPr>
            <a:spLocks noGrp="1"/>
          </p:cNvSpPr>
          <p:nvPr>
            <p:ph type="sldNum" sz="quarter" idx="12"/>
          </p:nvPr>
        </p:nvSpPr>
        <p:spPr/>
        <p:txBody>
          <a:bodyPr/>
          <a:lstStyle/>
          <a:p>
            <a:fld id="{94B3E216-A3C5-4E41-AE94-D003E76F1D3A}" type="slidenum">
              <a:rPr lang="en-BE" smtClean="0"/>
              <a:t>11</a:t>
            </a:fld>
            <a:endParaRPr lang="en-BE"/>
          </a:p>
        </p:txBody>
      </p:sp>
      <p:sp>
        <p:nvSpPr>
          <p:cNvPr id="18" name="Content Placeholder 5">
            <a:extLst>
              <a:ext uri="{FF2B5EF4-FFF2-40B4-BE49-F238E27FC236}">
                <a16:creationId xmlns:a16="http://schemas.microsoft.com/office/drawing/2014/main" id="{9AEA0702-548C-78EA-D48A-C2B0C279880D}"/>
              </a:ext>
            </a:extLst>
          </p:cNvPr>
          <p:cNvSpPr txBox="1">
            <a:spLocks/>
          </p:cNvSpPr>
          <p:nvPr/>
        </p:nvSpPr>
        <p:spPr>
          <a:xfrm>
            <a:off x="407988" y="1371599"/>
            <a:ext cx="5455782" cy="343235"/>
          </a:xfrm>
          <a:prstGeom prst="rect">
            <a:avLst/>
          </a:prstGeom>
        </p:spPr>
        <p:txBody>
          <a:bodyP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ptos SemiBold"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SemiBold"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SemiBold"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Long-range genome interactions</a:t>
            </a:r>
            <a:endParaRPr lang="en-US" sz="1800" i="1" dirty="0"/>
          </a:p>
        </p:txBody>
      </p:sp>
      <p:sp>
        <p:nvSpPr>
          <p:cNvPr id="19" name="Content Placeholder 17">
            <a:extLst>
              <a:ext uri="{FF2B5EF4-FFF2-40B4-BE49-F238E27FC236}">
                <a16:creationId xmlns:a16="http://schemas.microsoft.com/office/drawing/2014/main" id="{1400533C-4F7B-DA15-A9B4-5C4CFD54DA24}"/>
              </a:ext>
            </a:extLst>
          </p:cNvPr>
          <p:cNvSpPr txBox="1">
            <a:spLocks/>
          </p:cNvSpPr>
          <p:nvPr/>
        </p:nvSpPr>
        <p:spPr>
          <a:xfrm>
            <a:off x="6293306" y="1371599"/>
            <a:ext cx="5455782" cy="34108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ptos SemiBold"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SemiBold"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SemiBold"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Amino acid interactions in 3D structure</a:t>
            </a:r>
          </a:p>
        </p:txBody>
      </p:sp>
      <p:pic>
        <p:nvPicPr>
          <p:cNvPr id="21" name="Picture 20">
            <a:extLst>
              <a:ext uri="{FF2B5EF4-FFF2-40B4-BE49-F238E27FC236}">
                <a16:creationId xmlns:a16="http://schemas.microsoft.com/office/drawing/2014/main" id="{8D9F0D02-9D1C-40EC-D9AF-E1720950D3AA}"/>
              </a:ext>
            </a:extLst>
          </p:cNvPr>
          <p:cNvPicPr>
            <a:picLocks noChangeAspect="1"/>
          </p:cNvPicPr>
          <p:nvPr/>
        </p:nvPicPr>
        <p:blipFill>
          <a:blip r:embed="rId3"/>
          <a:stretch>
            <a:fillRect/>
          </a:stretch>
        </p:blipFill>
        <p:spPr>
          <a:xfrm>
            <a:off x="7097225" y="2170404"/>
            <a:ext cx="4020717" cy="3586044"/>
          </a:xfrm>
          <a:prstGeom prst="rect">
            <a:avLst/>
          </a:prstGeom>
        </p:spPr>
      </p:pic>
      <p:sp>
        <p:nvSpPr>
          <p:cNvPr id="22" name="Footer Placeholder 21">
            <a:extLst>
              <a:ext uri="{FF2B5EF4-FFF2-40B4-BE49-F238E27FC236}">
                <a16:creationId xmlns:a16="http://schemas.microsoft.com/office/drawing/2014/main" id="{AA8FFEAE-A29C-1588-2D9C-816D38666A69}"/>
              </a:ext>
            </a:extLst>
          </p:cNvPr>
          <p:cNvSpPr>
            <a:spLocks noGrp="1"/>
          </p:cNvSpPr>
          <p:nvPr>
            <p:ph type="ftr" sz="quarter" idx="11"/>
          </p:nvPr>
        </p:nvSpPr>
        <p:spPr/>
        <p:txBody>
          <a:bodyPr/>
          <a:lstStyle/>
          <a:p>
            <a:r>
              <a:rPr lang="en-GB" dirty="0">
                <a:hlinkClick r:id="rId4"/>
              </a:rPr>
              <a:t>nature.com/articles/s41586-025-10014-0</a:t>
            </a:r>
            <a:r>
              <a:rPr lang="en-GB" dirty="0"/>
              <a:t>,</a:t>
            </a:r>
            <a:r>
              <a:rPr lang="en-GB" dirty="0">
                <a:hlinkClick r:id="rId5"/>
              </a:rPr>
              <a:t>uniprot.org/uniprotkb/P60709</a:t>
            </a:r>
            <a:endParaRPr lang="en-BE" dirty="0"/>
          </a:p>
        </p:txBody>
      </p:sp>
      <p:grpSp>
        <p:nvGrpSpPr>
          <p:cNvPr id="24" name="Group 23">
            <a:extLst>
              <a:ext uri="{FF2B5EF4-FFF2-40B4-BE49-F238E27FC236}">
                <a16:creationId xmlns:a16="http://schemas.microsoft.com/office/drawing/2014/main" id="{7509761F-1464-2D13-EE58-8165EE38AD94}"/>
              </a:ext>
            </a:extLst>
          </p:cNvPr>
          <p:cNvGrpSpPr/>
          <p:nvPr/>
        </p:nvGrpSpPr>
        <p:grpSpPr>
          <a:xfrm>
            <a:off x="390526" y="1766619"/>
            <a:ext cx="5688012" cy="4579767"/>
            <a:chOff x="390526" y="1766619"/>
            <a:chExt cx="5688012" cy="4579767"/>
          </a:xfrm>
        </p:grpSpPr>
        <p:pic>
          <p:nvPicPr>
            <p:cNvPr id="20" name="Picture 2" descr="DeepMind發佈AlphaGenome，1秒內完成所有模態和細胞類型的變異效應預測 - 新浪香港">
              <a:extLst>
                <a:ext uri="{FF2B5EF4-FFF2-40B4-BE49-F238E27FC236}">
                  <a16:creationId xmlns:a16="http://schemas.microsoft.com/office/drawing/2014/main" id="{5ECF561E-6C13-69C6-1509-FC0A53EBCA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526" y="1766619"/>
              <a:ext cx="5688012" cy="4579767"/>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CC5C4612-ECC6-904F-E2FB-A6797C13A5A5}"/>
                </a:ext>
              </a:extLst>
            </p:cNvPr>
            <p:cNvSpPr/>
            <p:nvPr/>
          </p:nvSpPr>
          <p:spPr>
            <a:xfrm>
              <a:off x="500743" y="1872343"/>
              <a:ext cx="384628" cy="298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Tree>
    <p:extLst>
      <p:ext uri="{BB962C8B-B14F-4D97-AF65-F5344CB8AC3E}">
        <p14:creationId xmlns:p14="http://schemas.microsoft.com/office/powerpoint/2010/main" val="3905849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C4F47-6EB5-AD47-D9C2-00E55848DBCF}"/>
              </a:ext>
            </a:extLst>
          </p:cNvPr>
          <p:cNvSpPr>
            <a:spLocks noGrp="1"/>
          </p:cNvSpPr>
          <p:nvPr>
            <p:ph type="title"/>
          </p:nvPr>
        </p:nvSpPr>
        <p:spPr>
          <a:xfrm>
            <a:off x="407989" y="365125"/>
            <a:ext cx="11341100" cy="833626"/>
          </a:xfrm>
        </p:spPr>
        <p:txBody>
          <a:bodyPr/>
          <a:lstStyle/>
          <a:p>
            <a:r>
              <a:rPr lang="en-GB" b="1" dirty="0"/>
              <a:t>Attention lets the model focus on the most relevant parts</a:t>
            </a:r>
            <a:br>
              <a:rPr lang="en-GB" b="1" dirty="0"/>
            </a:br>
            <a:r>
              <a:rPr lang="en-GB" b="1" dirty="0"/>
              <a:t>of the entire sequence</a:t>
            </a:r>
            <a:endParaRPr lang="en-BE" dirty="0"/>
          </a:p>
        </p:txBody>
      </p:sp>
      <p:sp>
        <p:nvSpPr>
          <p:cNvPr id="3" name="Slide Number Placeholder 2">
            <a:extLst>
              <a:ext uri="{FF2B5EF4-FFF2-40B4-BE49-F238E27FC236}">
                <a16:creationId xmlns:a16="http://schemas.microsoft.com/office/drawing/2014/main" id="{99CCF46F-6708-6737-5D0A-91F69DB8544B}"/>
              </a:ext>
            </a:extLst>
          </p:cNvPr>
          <p:cNvSpPr>
            <a:spLocks noGrp="1"/>
          </p:cNvSpPr>
          <p:nvPr>
            <p:ph type="sldNum" sz="quarter" idx="12"/>
          </p:nvPr>
        </p:nvSpPr>
        <p:spPr/>
        <p:txBody>
          <a:bodyPr/>
          <a:lstStyle/>
          <a:p>
            <a:fld id="{94B3E216-A3C5-4E41-AE94-D003E76F1D3A}" type="slidenum">
              <a:rPr lang="en-BE" smtClean="0"/>
              <a:t>12</a:t>
            </a:fld>
            <a:endParaRPr lang="en-BE"/>
          </a:p>
        </p:txBody>
      </p:sp>
      <p:grpSp>
        <p:nvGrpSpPr>
          <p:cNvPr id="9" name="Group 8">
            <a:extLst>
              <a:ext uri="{FF2B5EF4-FFF2-40B4-BE49-F238E27FC236}">
                <a16:creationId xmlns:a16="http://schemas.microsoft.com/office/drawing/2014/main" id="{05435FB0-56C7-4DFF-7072-4160BB72BCC5}"/>
              </a:ext>
            </a:extLst>
          </p:cNvPr>
          <p:cNvGrpSpPr/>
          <p:nvPr/>
        </p:nvGrpSpPr>
        <p:grpSpPr>
          <a:xfrm>
            <a:off x="5343543" y="1955365"/>
            <a:ext cx="6405545" cy="3895963"/>
            <a:chOff x="5286624" y="1955365"/>
            <a:chExt cx="6405545" cy="3895963"/>
          </a:xfrm>
        </p:grpSpPr>
        <p:pic>
          <p:nvPicPr>
            <p:cNvPr id="5" name="Picture 4">
              <a:extLst>
                <a:ext uri="{FF2B5EF4-FFF2-40B4-BE49-F238E27FC236}">
                  <a16:creationId xmlns:a16="http://schemas.microsoft.com/office/drawing/2014/main" id="{4727675C-1923-E009-1981-1C16F86F94C4}"/>
                </a:ext>
              </a:extLst>
            </p:cNvPr>
            <p:cNvPicPr>
              <a:picLocks noChangeAspect="1"/>
            </p:cNvPicPr>
            <p:nvPr/>
          </p:nvPicPr>
          <p:blipFill>
            <a:blip r:embed="rId3"/>
            <a:stretch>
              <a:fillRect/>
            </a:stretch>
          </p:blipFill>
          <p:spPr>
            <a:xfrm>
              <a:off x="5286624" y="1955366"/>
              <a:ext cx="3093021" cy="3895962"/>
            </a:xfrm>
            <a:prstGeom prst="rect">
              <a:avLst/>
            </a:prstGeom>
          </p:spPr>
        </p:pic>
        <p:pic>
          <p:nvPicPr>
            <p:cNvPr id="6" name="Picture 5">
              <a:extLst>
                <a:ext uri="{FF2B5EF4-FFF2-40B4-BE49-F238E27FC236}">
                  <a16:creationId xmlns:a16="http://schemas.microsoft.com/office/drawing/2014/main" id="{D69CD4B5-A883-299E-C42F-A591456EBEF6}"/>
                </a:ext>
              </a:extLst>
            </p:cNvPr>
            <p:cNvPicPr>
              <a:picLocks noChangeAspect="1"/>
            </p:cNvPicPr>
            <p:nvPr/>
          </p:nvPicPr>
          <p:blipFill>
            <a:blip r:embed="rId4"/>
            <a:stretch>
              <a:fillRect/>
            </a:stretch>
          </p:blipFill>
          <p:spPr>
            <a:xfrm>
              <a:off x="8379645" y="1955365"/>
              <a:ext cx="3312524" cy="3747787"/>
            </a:xfrm>
            <a:prstGeom prst="rect">
              <a:avLst/>
            </a:prstGeom>
          </p:spPr>
        </p:pic>
      </p:grpSp>
      <p:pic>
        <p:nvPicPr>
          <p:cNvPr id="8" name="Picture 7">
            <a:extLst>
              <a:ext uri="{FF2B5EF4-FFF2-40B4-BE49-F238E27FC236}">
                <a16:creationId xmlns:a16="http://schemas.microsoft.com/office/drawing/2014/main" id="{2C1FFC7F-9755-728D-6663-BDC6518C8775}"/>
              </a:ext>
            </a:extLst>
          </p:cNvPr>
          <p:cNvPicPr>
            <a:picLocks noChangeAspect="1"/>
          </p:cNvPicPr>
          <p:nvPr/>
        </p:nvPicPr>
        <p:blipFill>
          <a:blip r:embed="rId5"/>
          <a:stretch>
            <a:fillRect/>
          </a:stretch>
        </p:blipFill>
        <p:spPr>
          <a:xfrm>
            <a:off x="588430" y="1596536"/>
            <a:ext cx="3695515" cy="4308580"/>
          </a:xfrm>
          <a:prstGeom prst="rect">
            <a:avLst/>
          </a:prstGeom>
        </p:spPr>
      </p:pic>
    </p:spTree>
    <p:extLst>
      <p:ext uri="{BB962C8B-B14F-4D97-AF65-F5344CB8AC3E}">
        <p14:creationId xmlns:p14="http://schemas.microsoft.com/office/powerpoint/2010/main" val="1862244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9385-68D3-D6CB-49A6-9AF71C3F1C9E}"/>
              </a:ext>
            </a:extLst>
          </p:cNvPr>
          <p:cNvSpPr>
            <a:spLocks noGrp="1"/>
          </p:cNvSpPr>
          <p:nvPr>
            <p:ph type="title"/>
          </p:nvPr>
        </p:nvSpPr>
        <p:spPr/>
        <p:txBody>
          <a:bodyPr/>
          <a:lstStyle/>
          <a:p>
            <a:r>
              <a:rPr lang="en-GB" b="1" dirty="0"/>
              <a:t>Transformers replace recurrence memory by attention</a:t>
            </a:r>
            <a:endParaRPr lang="en-BE" dirty="0"/>
          </a:p>
        </p:txBody>
      </p:sp>
      <p:sp>
        <p:nvSpPr>
          <p:cNvPr id="3" name="Slide Number Placeholder 2">
            <a:extLst>
              <a:ext uri="{FF2B5EF4-FFF2-40B4-BE49-F238E27FC236}">
                <a16:creationId xmlns:a16="http://schemas.microsoft.com/office/drawing/2014/main" id="{F84B8F4E-561E-5967-245C-F3FADBE5608B}"/>
              </a:ext>
            </a:extLst>
          </p:cNvPr>
          <p:cNvSpPr>
            <a:spLocks noGrp="1"/>
          </p:cNvSpPr>
          <p:nvPr>
            <p:ph type="sldNum" sz="quarter" idx="12"/>
          </p:nvPr>
        </p:nvSpPr>
        <p:spPr/>
        <p:txBody>
          <a:bodyPr/>
          <a:lstStyle/>
          <a:p>
            <a:fld id="{94B3E216-A3C5-4E41-AE94-D003E76F1D3A}" type="slidenum">
              <a:rPr lang="en-BE" smtClean="0"/>
              <a:t>13</a:t>
            </a:fld>
            <a:endParaRPr lang="en-BE"/>
          </a:p>
        </p:txBody>
      </p:sp>
      <p:sp>
        <p:nvSpPr>
          <p:cNvPr id="6" name="Content Placeholder 5">
            <a:extLst>
              <a:ext uri="{FF2B5EF4-FFF2-40B4-BE49-F238E27FC236}">
                <a16:creationId xmlns:a16="http://schemas.microsoft.com/office/drawing/2014/main" id="{0D216092-EF2B-ED5F-5FA1-30901B801BAA}"/>
              </a:ext>
            </a:extLst>
          </p:cNvPr>
          <p:cNvSpPr>
            <a:spLocks noGrp="1"/>
          </p:cNvSpPr>
          <p:nvPr>
            <p:ph idx="14"/>
          </p:nvPr>
        </p:nvSpPr>
        <p:spPr>
          <a:xfrm>
            <a:off x="407988" y="1306286"/>
            <a:ext cx="5455782" cy="555793"/>
          </a:xfrm>
        </p:spPr>
        <p:txBody>
          <a:bodyPr>
            <a:spAutoFit/>
          </a:bodyPr>
          <a:lstStyle/>
          <a:p>
            <a:r>
              <a:rPr lang="en-US" dirty="0"/>
              <a:t>RNN</a:t>
            </a:r>
            <a:br>
              <a:rPr lang="en-US" dirty="0"/>
            </a:br>
            <a:r>
              <a:rPr lang="en-US" i="1" dirty="0"/>
              <a:t>summary through time</a:t>
            </a:r>
          </a:p>
        </p:txBody>
      </p:sp>
      <p:sp>
        <p:nvSpPr>
          <p:cNvPr id="7" name="Content Placeholder 6">
            <a:extLst>
              <a:ext uri="{FF2B5EF4-FFF2-40B4-BE49-F238E27FC236}">
                <a16:creationId xmlns:a16="http://schemas.microsoft.com/office/drawing/2014/main" id="{027C9777-D943-F837-3C6B-58E9B488B24E}"/>
              </a:ext>
            </a:extLst>
          </p:cNvPr>
          <p:cNvSpPr>
            <a:spLocks noGrp="1"/>
          </p:cNvSpPr>
          <p:nvPr>
            <p:ph idx="15"/>
          </p:nvPr>
        </p:nvSpPr>
        <p:spPr>
          <a:xfrm>
            <a:off x="6293306" y="1306286"/>
            <a:ext cx="5455782" cy="555793"/>
          </a:xfrm>
        </p:spPr>
        <p:txBody>
          <a:bodyPr>
            <a:spAutoFit/>
          </a:bodyPr>
          <a:lstStyle/>
          <a:p>
            <a:r>
              <a:rPr lang="en-US" dirty="0"/>
              <a:t>Transformer</a:t>
            </a:r>
            <a:br>
              <a:rPr lang="en-US" dirty="0"/>
            </a:br>
            <a:r>
              <a:rPr lang="en-US" i="1" dirty="0"/>
              <a:t>direct context lookup</a:t>
            </a:r>
            <a:endParaRPr lang="en-BE" dirty="0"/>
          </a:p>
        </p:txBody>
      </p:sp>
      <p:grpSp>
        <p:nvGrpSpPr>
          <p:cNvPr id="23" name="Group 22">
            <a:extLst>
              <a:ext uri="{FF2B5EF4-FFF2-40B4-BE49-F238E27FC236}">
                <a16:creationId xmlns:a16="http://schemas.microsoft.com/office/drawing/2014/main" id="{F8DB7E04-A2D2-A311-8386-7103A953FC89}"/>
              </a:ext>
            </a:extLst>
          </p:cNvPr>
          <p:cNvGrpSpPr/>
          <p:nvPr/>
        </p:nvGrpSpPr>
        <p:grpSpPr>
          <a:xfrm>
            <a:off x="930909" y="3428999"/>
            <a:ext cx="4409941" cy="1042148"/>
            <a:chOff x="719418" y="3428999"/>
            <a:chExt cx="4409941" cy="1042148"/>
          </a:xfrm>
        </p:grpSpPr>
        <p:sp>
          <p:nvSpPr>
            <p:cNvPr id="8" name="Oval 7">
              <a:extLst>
                <a:ext uri="{FF2B5EF4-FFF2-40B4-BE49-F238E27FC236}">
                  <a16:creationId xmlns:a16="http://schemas.microsoft.com/office/drawing/2014/main" id="{315111FC-F6E6-F6CF-40D1-C9938C312D62}"/>
                </a:ext>
              </a:extLst>
            </p:cNvPr>
            <p:cNvSpPr/>
            <p:nvPr/>
          </p:nvSpPr>
          <p:spPr>
            <a:xfrm>
              <a:off x="719418" y="3429000"/>
              <a:ext cx="1042147" cy="10421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I</a:t>
              </a:r>
              <a:endParaRPr lang="en-BE" dirty="0"/>
            </a:p>
          </p:txBody>
        </p:sp>
        <p:sp>
          <p:nvSpPr>
            <p:cNvPr id="9" name="Oval 8">
              <a:extLst>
                <a:ext uri="{FF2B5EF4-FFF2-40B4-BE49-F238E27FC236}">
                  <a16:creationId xmlns:a16="http://schemas.microsoft.com/office/drawing/2014/main" id="{DE1868A2-C4E3-7645-5D4E-F482A32E9846}"/>
                </a:ext>
              </a:extLst>
            </p:cNvPr>
            <p:cNvSpPr/>
            <p:nvPr/>
          </p:nvSpPr>
          <p:spPr>
            <a:xfrm>
              <a:off x="2403315" y="3428999"/>
              <a:ext cx="1042147" cy="10421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I</a:t>
              </a:r>
              <a:br>
                <a:rPr lang="en-US" dirty="0"/>
              </a:br>
              <a:r>
                <a:rPr lang="en-US" dirty="0"/>
                <a:t>am</a:t>
              </a:r>
              <a:endParaRPr lang="en-BE" dirty="0"/>
            </a:p>
          </p:txBody>
        </p:sp>
        <p:sp>
          <p:nvSpPr>
            <p:cNvPr id="10" name="Oval 9">
              <a:extLst>
                <a:ext uri="{FF2B5EF4-FFF2-40B4-BE49-F238E27FC236}">
                  <a16:creationId xmlns:a16="http://schemas.microsoft.com/office/drawing/2014/main" id="{EC6EFEE1-C082-4D16-640B-B604BBB5E3C9}"/>
                </a:ext>
              </a:extLst>
            </p:cNvPr>
            <p:cNvSpPr/>
            <p:nvPr/>
          </p:nvSpPr>
          <p:spPr>
            <a:xfrm>
              <a:off x="4087212" y="3429000"/>
              <a:ext cx="1042147" cy="10421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I</a:t>
              </a:r>
              <a:br>
                <a:rPr lang="en-US" dirty="0"/>
              </a:br>
              <a:r>
                <a:rPr lang="en-US" sz="900" dirty="0"/>
                <a:t>am</a:t>
              </a:r>
              <a:br>
                <a:rPr lang="en-US" dirty="0"/>
              </a:br>
              <a:r>
                <a:rPr lang="en-US" dirty="0"/>
                <a:t>happy</a:t>
              </a:r>
              <a:endParaRPr lang="en-BE" dirty="0"/>
            </a:p>
          </p:txBody>
        </p:sp>
        <p:cxnSp>
          <p:nvCxnSpPr>
            <p:cNvPr id="12" name="Straight Arrow Connector 11">
              <a:extLst>
                <a:ext uri="{FF2B5EF4-FFF2-40B4-BE49-F238E27FC236}">
                  <a16:creationId xmlns:a16="http://schemas.microsoft.com/office/drawing/2014/main" id="{4A628E41-DE50-414C-3218-59B0D7E8F869}"/>
                </a:ext>
              </a:extLst>
            </p:cNvPr>
            <p:cNvCxnSpPr>
              <a:cxnSpLocks/>
              <a:stCxn id="8" idx="6"/>
              <a:endCxn id="9" idx="2"/>
            </p:cNvCxnSpPr>
            <p:nvPr/>
          </p:nvCxnSpPr>
          <p:spPr>
            <a:xfrm flipV="1">
              <a:off x="1761565" y="3950073"/>
              <a:ext cx="641750" cy="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765C088-B30E-76AD-60AE-4FA6A8278244}"/>
                </a:ext>
              </a:extLst>
            </p:cNvPr>
            <p:cNvCxnSpPr>
              <a:cxnSpLocks/>
              <a:stCxn id="9" idx="6"/>
              <a:endCxn id="10" idx="2"/>
            </p:cNvCxnSpPr>
            <p:nvPr/>
          </p:nvCxnSpPr>
          <p:spPr>
            <a:xfrm>
              <a:off x="3445462" y="3950073"/>
              <a:ext cx="641750" cy="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pSp>
      <p:grpSp>
        <p:nvGrpSpPr>
          <p:cNvPr id="50" name="Group 49">
            <a:extLst>
              <a:ext uri="{FF2B5EF4-FFF2-40B4-BE49-F238E27FC236}">
                <a16:creationId xmlns:a16="http://schemas.microsoft.com/office/drawing/2014/main" id="{847477CF-3534-08EE-3999-2292FB581CFE}"/>
              </a:ext>
            </a:extLst>
          </p:cNvPr>
          <p:cNvGrpSpPr/>
          <p:nvPr/>
        </p:nvGrpSpPr>
        <p:grpSpPr>
          <a:xfrm>
            <a:off x="6393215" y="2043661"/>
            <a:ext cx="4627484" cy="4234524"/>
            <a:chOff x="6393215" y="2043661"/>
            <a:chExt cx="4627484" cy="4234524"/>
          </a:xfrm>
        </p:grpSpPr>
        <p:sp>
          <p:nvSpPr>
            <p:cNvPr id="25" name="Oval 24">
              <a:extLst>
                <a:ext uri="{FF2B5EF4-FFF2-40B4-BE49-F238E27FC236}">
                  <a16:creationId xmlns:a16="http://schemas.microsoft.com/office/drawing/2014/main" id="{6D983D66-ADEC-8446-35C5-C0EA30D0B281}"/>
                </a:ext>
              </a:extLst>
            </p:cNvPr>
            <p:cNvSpPr/>
            <p:nvPr/>
          </p:nvSpPr>
          <p:spPr>
            <a:xfrm>
              <a:off x="7376351" y="2043661"/>
              <a:ext cx="983136" cy="983134"/>
            </a:xfrm>
            <a:prstGeom prst="ellipse">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n-US" dirty="0"/>
                <a:t>I</a:t>
              </a:r>
              <a:endParaRPr lang="en-BE" dirty="0"/>
            </a:p>
          </p:txBody>
        </p:sp>
        <p:sp>
          <p:nvSpPr>
            <p:cNvPr id="26" name="Oval 25">
              <a:extLst>
                <a:ext uri="{FF2B5EF4-FFF2-40B4-BE49-F238E27FC236}">
                  <a16:creationId xmlns:a16="http://schemas.microsoft.com/office/drawing/2014/main" id="{C6695F50-FBC0-98A6-EE56-173193CAEE35}"/>
                </a:ext>
              </a:extLst>
            </p:cNvPr>
            <p:cNvSpPr/>
            <p:nvPr/>
          </p:nvSpPr>
          <p:spPr>
            <a:xfrm>
              <a:off x="8706957" y="2043661"/>
              <a:ext cx="983136" cy="983134"/>
            </a:xfrm>
            <a:prstGeom prst="ellipse">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n-US" dirty="0"/>
                <a:t>am</a:t>
              </a:r>
              <a:endParaRPr lang="en-BE" dirty="0"/>
            </a:p>
          </p:txBody>
        </p:sp>
        <p:sp>
          <p:nvSpPr>
            <p:cNvPr id="27" name="Oval 26">
              <a:extLst>
                <a:ext uri="{FF2B5EF4-FFF2-40B4-BE49-F238E27FC236}">
                  <a16:creationId xmlns:a16="http://schemas.microsoft.com/office/drawing/2014/main" id="{E09704B3-2998-CFF3-470E-A3694A48C35D}"/>
                </a:ext>
              </a:extLst>
            </p:cNvPr>
            <p:cNvSpPr/>
            <p:nvPr/>
          </p:nvSpPr>
          <p:spPr>
            <a:xfrm>
              <a:off x="10037563" y="2043661"/>
              <a:ext cx="983136" cy="983134"/>
            </a:xfrm>
            <a:prstGeom prst="ellipse">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n-US" dirty="0"/>
                <a:t>happy</a:t>
              </a:r>
              <a:endParaRPr lang="en-BE" dirty="0"/>
            </a:p>
          </p:txBody>
        </p:sp>
        <p:sp>
          <p:nvSpPr>
            <p:cNvPr id="36" name="Oval 35">
              <a:extLst>
                <a:ext uri="{FF2B5EF4-FFF2-40B4-BE49-F238E27FC236}">
                  <a16:creationId xmlns:a16="http://schemas.microsoft.com/office/drawing/2014/main" id="{7183574B-DBCA-5861-35E5-9FC470D5514C}"/>
                </a:ext>
              </a:extLst>
            </p:cNvPr>
            <p:cNvSpPr/>
            <p:nvPr/>
          </p:nvSpPr>
          <p:spPr>
            <a:xfrm>
              <a:off x="6393215" y="3026795"/>
              <a:ext cx="983136" cy="983134"/>
            </a:xfrm>
            <a:prstGeom prst="ellipse">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n-US" dirty="0"/>
                <a:t>I</a:t>
              </a:r>
              <a:endParaRPr lang="en-BE" dirty="0"/>
            </a:p>
          </p:txBody>
        </p:sp>
        <p:sp>
          <p:nvSpPr>
            <p:cNvPr id="37" name="Oval 36">
              <a:extLst>
                <a:ext uri="{FF2B5EF4-FFF2-40B4-BE49-F238E27FC236}">
                  <a16:creationId xmlns:a16="http://schemas.microsoft.com/office/drawing/2014/main" id="{F0276E9A-BBBC-F58C-7B7C-3EBB4C6F7C89}"/>
                </a:ext>
              </a:extLst>
            </p:cNvPr>
            <p:cNvSpPr/>
            <p:nvPr/>
          </p:nvSpPr>
          <p:spPr>
            <a:xfrm>
              <a:off x="6393215" y="4160923"/>
              <a:ext cx="983136" cy="983134"/>
            </a:xfrm>
            <a:prstGeom prst="ellipse">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n-US" dirty="0"/>
                <a:t>am</a:t>
              </a:r>
              <a:endParaRPr lang="en-BE" dirty="0"/>
            </a:p>
          </p:txBody>
        </p:sp>
        <p:sp>
          <p:nvSpPr>
            <p:cNvPr id="38" name="Oval 37">
              <a:extLst>
                <a:ext uri="{FF2B5EF4-FFF2-40B4-BE49-F238E27FC236}">
                  <a16:creationId xmlns:a16="http://schemas.microsoft.com/office/drawing/2014/main" id="{ACC2BC77-2251-58FE-A5A1-174BFF83AA90}"/>
                </a:ext>
              </a:extLst>
            </p:cNvPr>
            <p:cNvSpPr/>
            <p:nvPr/>
          </p:nvSpPr>
          <p:spPr>
            <a:xfrm>
              <a:off x="6393215" y="5295051"/>
              <a:ext cx="983136" cy="983134"/>
            </a:xfrm>
            <a:prstGeom prst="ellipse">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n-US" dirty="0"/>
                <a:t>happy</a:t>
              </a:r>
              <a:endParaRPr lang="en-BE" dirty="0"/>
            </a:p>
          </p:txBody>
        </p:sp>
        <p:sp>
          <p:nvSpPr>
            <p:cNvPr id="39" name="Oval 38">
              <a:extLst>
                <a:ext uri="{FF2B5EF4-FFF2-40B4-BE49-F238E27FC236}">
                  <a16:creationId xmlns:a16="http://schemas.microsoft.com/office/drawing/2014/main" id="{8324E44B-7ADE-6480-E199-AB638493C6D6}"/>
                </a:ext>
              </a:extLst>
            </p:cNvPr>
            <p:cNvSpPr/>
            <p:nvPr/>
          </p:nvSpPr>
          <p:spPr>
            <a:xfrm>
              <a:off x="7749237" y="3399680"/>
              <a:ext cx="237364" cy="237364"/>
            </a:xfrm>
            <a:prstGeom prst="ellipse">
              <a:avLst/>
            </a:prstGeom>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en-BE" dirty="0"/>
            </a:p>
          </p:txBody>
        </p:sp>
        <p:sp>
          <p:nvSpPr>
            <p:cNvPr id="41" name="Oval 40">
              <a:extLst>
                <a:ext uri="{FF2B5EF4-FFF2-40B4-BE49-F238E27FC236}">
                  <a16:creationId xmlns:a16="http://schemas.microsoft.com/office/drawing/2014/main" id="{BDA5369D-3DEB-4C10-6B25-D1059A6FA384}"/>
                </a:ext>
              </a:extLst>
            </p:cNvPr>
            <p:cNvSpPr/>
            <p:nvPr/>
          </p:nvSpPr>
          <p:spPr>
            <a:xfrm>
              <a:off x="9095948" y="3415785"/>
              <a:ext cx="205154" cy="205154"/>
            </a:xfrm>
            <a:prstGeom prst="ellipse">
              <a:avLst/>
            </a:prstGeom>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en-BE" dirty="0"/>
            </a:p>
          </p:txBody>
        </p:sp>
        <p:sp>
          <p:nvSpPr>
            <p:cNvPr id="42" name="Oval 41">
              <a:extLst>
                <a:ext uri="{FF2B5EF4-FFF2-40B4-BE49-F238E27FC236}">
                  <a16:creationId xmlns:a16="http://schemas.microsoft.com/office/drawing/2014/main" id="{8F484AFF-2D02-AC68-E812-6B34CDE9644F}"/>
                </a:ext>
              </a:extLst>
            </p:cNvPr>
            <p:cNvSpPr/>
            <p:nvPr/>
          </p:nvSpPr>
          <p:spPr>
            <a:xfrm>
              <a:off x="10125219" y="3114450"/>
              <a:ext cx="807824" cy="807824"/>
            </a:xfrm>
            <a:prstGeom prst="ellipse">
              <a:avLst/>
            </a:prstGeom>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en-BE" dirty="0"/>
            </a:p>
          </p:txBody>
        </p:sp>
        <p:sp>
          <p:nvSpPr>
            <p:cNvPr id="43" name="Oval 42">
              <a:extLst>
                <a:ext uri="{FF2B5EF4-FFF2-40B4-BE49-F238E27FC236}">
                  <a16:creationId xmlns:a16="http://schemas.microsoft.com/office/drawing/2014/main" id="{B5C412CD-81AC-1A96-D5DC-600EE7CD9A72}"/>
                </a:ext>
              </a:extLst>
            </p:cNvPr>
            <p:cNvSpPr/>
            <p:nvPr/>
          </p:nvSpPr>
          <p:spPr>
            <a:xfrm>
              <a:off x="7765342" y="4549913"/>
              <a:ext cx="205154" cy="205154"/>
            </a:xfrm>
            <a:prstGeom prst="ellipse">
              <a:avLst/>
            </a:prstGeom>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en-BE" dirty="0"/>
            </a:p>
          </p:txBody>
        </p:sp>
        <p:sp>
          <p:nvSpPr>
            <p:cNvPr id="44" name="Oval 43">
              <a:extLst>
                <a:ext uri="{FF2B5EF4-FFF2-40B4-BE49-F238E27FC236}">
                  <a16:creationId xmlns:a16="http://schemas.microsoft.com/office/drawing/2014/main" id="{44C12D89-44CC-8B87-6F81-17FE72342A2A}"/>
                </a:ext>
              </a:extLst>
            </p:cNvPr>
            <p:cNvSpPr/>
            <p:nvPr/>
          </p:nvSpPr>
          <p:spPr>
            <a:xfrm>
              <a:off x="9095948" y="4549913"/>
              <a:ext cx="205154" cy="205154"/>
            </a:xfrm>
            <a:prstGeom prst="ellipse">
              <a:avLst/>
            </a:prstGeom>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en-BE" dirty="0"/>
            </a:p>
          </p:txBody>
        </p:sp>
        <p:sp>
          <p:nvSpPr>
            <p:cNvPr id="45" name="Oval 44">
              <a:extLst>
                <a:ext uri="{FF2B5EF4-FFF2-40B4-BE49-F238E27FC236}">
                  <a16:creationId xmlns:a16="http://schemas.microsoft.com/office/drawing/2014/main" id="{E3C7B160-0F63-B9D7-13EC-F009DA48184A}"/>
                </a:ext>
              </a:extLst>
            </p:cNvPr>
            <p:cNvSpPr/>
            <p:nvPr/>
          </p:nvSpPr>
          <p:spPr>
            <a:xfrm>
              <a:off x="10458997" y="4582356"/>
              <a:ext cx="140268" cy="140268"/>
            </a:xfrm>
            <a:prstGeom prst="ellipse">
              <a:avLst/>
            </a:prstGeom>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en-BE" dirty="0"/>
            </a:p>
          </p:txBody>
        </p:sp>
        <p:sp>
          <p:nvSpPr>
            <p:cNvPr id="46" name="Oval 45">
              <a:extLst>
                <a:ext uri="{FF2B5EF4-FFF2-40B4-BE49-F238E27FC236}">
                  <a16:creationId xmlns:a16="http://schemas.microsoft.com/office/drawing/2014/main" id="{FEACE078-47EF-27D2-6687-DF2582706A1E}"/>
                </a:ext>
              </a:extLst>
            </p:cNvPr>
            <p:cNvSpPr/>
            <p:nvPr/>
          </p:nvSpPr>
          <p:spPr>
            <a:xfrm>
              <a:off x="7605298" y="5523997"/>
              <a:ext cx="525242" cy="525242"/>
            </a:xfrm>
            <a:prstGeom prst="ellipse">
              <a:avLst/>
            </a:prstGeom>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en-BE" dirty="0"/>
            </a:p>
          </p:txBody>
        </p:sp>
        <p:sp>
          <p:nvSpPr>
            <p:cNvPr id="48" name="Oval 47">
              <a:extLst>
                <a:ext uri="{FF2B5EF4-FFF2-40B4-BE49-F238E27FC236}">
                  <a16:creationId xmlns:a16="http://schemas.microsoft.com/office/drawing/2014/main" id="{C1402A88-EDF7-16F1-C60A-A906E4B159EA}"/>
                </a:ext>
              </a:extLst>
            </p:cNvPr>
            <p:cNvSpPr/>
            <p:nvPr/>
          </p:nvSpPr>
          <p:spPr>
            <a:xfrm>
              <a:off x="9128391" y="5716484"/>
              <a:ext cx="140268" cy="140268"/>
            </a:xfrm>
            <a:prstGeom prst="ellipse">
              <a:avLst/>
            </a:prstGeom>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en-BE" dirty="0"/>
            </a:p>
          </p:txBody>
        </p:sp>
        <p:sp>
          <p:nvSpPr>
            <p:cNvPr id="49" name="Oval 48">
              <a:extLst>
                <a:ext uri="{FF2B5EF4-FFF2-40B4-BE49-F238E27FC236}">
                  <a16:creationId xmlns:a16="http://schemas.microsoft.com/office/drawing/2014/main" id="{D30A03D8-3850-1840-1381-75D33168E8FF}"/>
                </a:ext>
              </a:extLst>
            </p:cNvPr>
            <p:cNvSpPr/>
            <p:nvPr/>
          </p:nvSpPr>
          <p:spPr>
            <a:xfrm>
              <a:off x="10380157" y="5637644"/>
              <a:ext cx="297948" cy="297948"/>
            </a:xfrm>
            <a:prstGeom prst="ellipse">
              <a:avLst/>
            </a:prstGeom>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en-BE" dirty="0"/>
            </a:p>
          </p:txBody>
        </p:sp>
      </p:grpSp>
    </p:spTree>
    <p:extLst>
      <p:ext uri="{BB962C8B-B14F-4D97-AF65-F5344CB8AC3E}">
        <p14:creationId xmlns:p14="http://schemas.microsoft.com/office/powerpoint/2010/main" val="19396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1A89E-0DD0-D8ED-C0D4-AD6259EAE229}"/>
              </a:ext>
            </a:extLst>
          </p:cNvPr>
          <p:cNvSpPr>
            <a:spLocks noGrp="1"/>
          </p:cNvSpPr>
          <p:nvPr>
            <p:ph type="title"/>
          </p:nvPr>
        </p:nvSpPr>
        <p:spPr/>
        <p:txBody>
          <a:bodyPr/>
          <a:lstStyle/>
          <a:p>
            <a:r>
              <a:rPr lang="en-GB" b="1" dirty="0"/>
              <a:t>Transformers are now widely used across biomedical data types</a:t>
            </a:r>
            <a:br>
              <a:rPr lang="en-GB" dirty="0"/>
            </a:br>
            <a:endParaRPr lang="en-BE" dirty="0"/>
          </a:p>
        </p:txBody>
      </p:sp>
      <p:sp>
        <p:nvSpPr>
          <p:cNvPr id="4" name="Slide Number Placeholder 3">
            <a:extLst>
              <a:ext uri="{FF2B5EF4-FFF2-40B4-BE49-F238E27FC236}">
                <a16:creationId xmlns:a16="http://schemas.microsoft.com/office/drawing/2014/main" id="{477F406C-12C0-8C80-BDA0-3E3B074CE80F}"/>
              </a:ext>
            </a:extLst>
          </p:cNvPr>
          <p:cNvSpPr>
            <a:spLocks noGrp="1"/>
          </p:cNvSpPr>
          <p:nvPr>
            <p:ph type="sldNum" sz="quarter" idx="12"/>
          </p:nvPr>
        </p:nvSpPr>
        <p:spPr/>
        <p:txBody>
          <a:bodyPr/>
          <a:lstStyle/>
          <a:p>
            <a:fld id="{94B3E216-A3C5-4E41-AE94-D003E76F1D3A}" type="slidenum">
              <a:rPr lang="en-US" smtClean="0"/>
              <a:pPr/>
              <a:t>14</a:t>
            </a:fld>
            <a:endParaRPr lang="en-US"/>
          </a:p>
        </p:txBody>
      </p:sp>
      <p:pic>
        <p:nvPicPr>
          <p:cNvPr id="9" name="Picture 8">
            <a:extLst>
              <a:ext uri="{FF2B5EF4-FFF2-40B4-BE49-F238E27FC236}">
                <a16:creationId xmlns:a16="http://schemas.microsoft.com/office/drawing/2014/main" id="{F6AC06C5-FD99-2A82-2A5B-53BAC222E340}"/>
              </a:ext>
            </a:extLst>
          </p:cNvPr>
          <p:cNvPicPr>
            <a:picLocks noChangeAspect="1"/>
          </p:cNvPicPr>
          <p:nvPr/>
        </p:nvPicPr>
        <p:blipFill>
          <a:blip r:embed="rId3"/>
          <a:stretch>
            <a:fillRect/>
          </a:stretch>
        </p:blipFill>
        <p:spPr>
          <a:xfrm>
            <a:off x="355687" y="979923"/>
            <a:ext cx="4963584" cy="3425163"/>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352E1A13-0C00-E218-0365-5856E1FA5545}"/>
              </a:ext>
            </a:extLst>
          </p:cNvPr>
          <p:cNvPicPr>
            <a:picLocks noChangeAspect="1"/>
          </p:cNvPicPr>
          <p:nvPr/>
        </p:nvPicPr>
        <p:blipFill>
          <a:blip r:embed="rId4"/>
          <a:stretch>
            <a:fillRect/>
          </a:stretch>
        </p:blipFill>
        <p:spPr>
          <a:xfrm>
            <a:off x="1289680" y="2554486"/>
            <a:ext cx="4788859" cy="3701199"/>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0D63BB55-5D5C-22CE-76B1-2F8BAD9B604A}"/>
              </a:ext>
            </a:extLst>
          </p:cNvPr>
          <p:cNvPicPr>
            <a:picLocks noChangeAspect="1"/>
          </p:cNvPicPr>
          <p:nvPr/>
        </p:nvPicPr>
        <p:blipFill>
          <a:blip r:embed="rId5"/>
          <a:stretch>
            <a:fillRect/>
          </a:stretch>
        </p:blipFill>
        <p:spPr>
          <a:xfrm>
            <a:off x="4920341" y="1394308"/>
            <a:ext cx="5009765" cy="3207448"/>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4E7325FF-EA5B-B40A-45AA-9E6DD9692532}"/>
              </a:ext>
            </a:extLst>
          </p:cNvPr>
          <p:cNvPicPr>
            <a:picLocks noChangeAspect="1"/>
          </p:cNvPicPr>
          <p:nvPr/>
        </p:nvPicPr>
        <p:blipFill>
          <a:blip r:embed="rId6"/>
          <a:stretch>
            <a:fillRect/>
          </a:stretch>
        </p:blipFill>
        <p:spPr>
          <a:xfrm>
            <a:off x="7215229" y="2801258"/>
            <a:ext cx="4533859" cy="33728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01437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A515A68-9956-0CF8-7685-11BB01299DF4}"/>
              </a:ext>
            </a:extLst>
          </p:cNvPr>
          <p:cNvSpPr>
            <a:spLocks noGrp="1"/>
          </p:cNvSpPr>
          <p:nvPr>
            <p:ph type="title"/>
          </p:nvPr>
        </p:nvSpPr>
        <p:spPr/>
        <p:txBody>
          <a:bodyPr/>
          <a:lstStyle/>
          <a:p>
            <a:r>
              <a:rPr lang="en-US" dirty="0"/>
              <a:t>Recap</a:t>
            </a:r>
            <a:endParaRPr lang="en-BE" dirty="0"/>
          </a:p>
        </p:txBody>
      </p:sp>
      <p:sp>
        <p:nvSpPr>
          <p:cNvPr id="9" name="Content Placeholder 8">
            <a:extLst>
              <a:ext uri="{FF2B5EF4-FFF2-40B4-BE49-F238E27FC236}">
                <a16:creationId xmlns:a16="http://schemas.microsoft.com/office/drawing/2014/main" id="{CFCE007B-AF2C-EEC7-E6C0-83DF456BBB22}"/>
              </a:ext>
            </a:extLst>
          </p:cNvPr>
          <p:cNvSpPr>
            <a:spLocks noGrp="1"/>
          </p:cNvSpPr>
          <p:nvPr>
            <p:ph idx="1"/>
          </p:nvPr>
        </p:nvSpPr>
        <p:spPr/>
        <p:txBody>
          <a:bodyPr/>
          <a:lstStyle/>
          <a:p>
            <a:pPr>
              <a:buFont typeface="Wingdings" panose="05000000000000000000" pitchFamily="2" charset="2"/>
              <a:buChar char="§"/>
            </a:pPr>
            <a:r>
              <a:rPr lang="en-GB" dirty="0"/>
              <a:t>Sequence data are ordered, so position carries meaning.</a:t>
            </a:r>
          </a:p>
          <a:p>
            <a:pPr>
              <a:buFont typeface="Wingdings" panose="05000000000000000000" pitchFamily="2" charset="2"/>
              <a:buChar char="§"/>
            </a:pPr>
            <a:r>
              <a:rPr lang="en-GB" dirty="0"/>
              <a:t>Symbols must be converted into numbers, often through learned embeddings.</a:t>
            </a:r>
          </a:p>
          <a:p>
            <a:pPr>
              <a:buFont typeface="Wingdings" panose="05000000000000000000" pitchFamily="2" charset="2"/>
              <a:buChar char="§"/>
            </a:pPr>
            <a:r>
              <a:rPr lang="en-GB" dirty="0"/>
              <a:t>RNNs process sequences step by step and maintain a hidden state as memory.</a:t>
            </a:r>
          </a:p>
          <a:p>
            <a:pPr>
              <a:buFont typeface="Wingdings" panose="05000000000000000000" pitchFamily="2" charset="2"/>
              <a:buChar char="§"/>
            </a:pPr>
            <a:r>
              <a:rPr lang="en-GB" dirty="0"/>
              <a:t>Vanilla RNNs struggle with long-range dependencies; LSTMs and GRUs improve this.</a:t>
            </a:r>
          </a:p>
          <a:p>
            <a:pPr>
              <a:buFont typeface="Wingdings" panose="05000000000000000000" pitchFamily="2" charset="2"/>
              <a:buChar char="§"/>
            </a:pPr>
            <a:r>
              <a:rPr lang="en-GB" dirty="0"/>
              <a:t>Transformers use attention to relate distant sequence elements directly.</a:t>
            </a:r>
            <a:endParaRPr lang="en-BE" dirty="0"/>
          </a:p>
        </p:txBody>
      </p:sp>
      <p:sp>
        <p:nvSpPr>
          <p:cNvPr id="4" name="Slide Number Placeholder 3">
            <a:extLst>
              <a:ext uri="{FF2B5EF4-FFF2-40B4-BE49-F238E27FC236}">
                <a16:creationId xmlns:a16="http://schemas.microsoft.com/office/drawing/2014/main" id="{25AB92D4-51D1-8A01-6E19-E3DE78012780}"/>
              </a:ext>
            </a:extLst>
          </p:cNvPr>
          <p:cNvSpPr>
            <a:spLocks noGrp="1"/>
          </p:cNvSpPr>
          <p:nvPr>
            <p:ph type="sldNum" sz="quarter" idx="12"/>
          </p:nvPr>
        </p:nvSpPr>
        <p:spPr/>
        <p:txBody>
          <a:bodyPr/>
          <a:lstStyle/>
          <a:p>
            <a:fld id="{94B3E216-A3C5-4E41-AE94-D003E76F1D3A}" type="slidenum">
              <a:rPr lang="en-US" smtClean="0"/>
              <a:pPr/>
              <a:t>15</a:t>
            </a:fld>
            <a:endParaRPr lang="en-US"/>
          </a:p>
        </p:txBody>
      </p:sp>
    </p:spTree>
    <p:extLst>
      <p:ext uri="{BB962C8B-B14F-4D97-AF65-F5344CB8AC3E}">
        <p14:creationId xmlns:p14="http://schemas.microsoft.com/office/powerpoint/2010/main" val="310020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CompOmics">
      <a:dk1>
        <a:srgbClr val="1B2944"/>
      </a:dk1>
      <a:lt1>
        <a:sysClr val="window" lastClr="FFFFFF"/>
      </a:lt1>
      <a:dk2>
        <a:srgbClr val="1B2944"/>
      </a:dk2>
      <a:lt2>
        <a:srgbClr val="FFFFFF"/>
      </a:lt2>
      <a:accent1>
        <a:srgbClr val="417ECE"/>
      </a:accent1>
      <a:accent2>
        <a:srgbClr val="C96461"/>
      </a:accent2>
      <a:accent3>
        <a:srgbClr val="59AD5D"/>
      </a:accent3>
      <a:accent4>
        <a:srgbClr val="DDAE56"/>
      </a:accent4>
      <a:accent5>
        <a:srgbClr val="53C7C5"/>
      </a:accent5>
      <a:accent6>
        <a:srgbClr val="9976B7"/>
      </a:accent6>
      <a:hlink>
        <a:srgbClr val="5DB7B1"/>
      </a:hlink>
      <a:folHlink>
        <a:srgbClr val="5DB7B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potx" id="{6B1FDA5D-2F38-494C-9F84-B858B0FF0533}" vid="{89C44F79-ADE1-466F-BE54-FC048700D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92DD177-769E-476C-8AD6-B7077CC59EBF}">
  <we:reference id="wa200006038" version="1.0.0.4" store="en-US" storeType="OMEX"/>
  <we:alternateReferences>
    <we:reference id="wa200006038" version="1.0.0.4" store="en-US" storeType="OMEX"/>
  </we:alternateReferences>
  <we:properties>
    <we:property name="has-user-completed-add" value="true"/>
    <we:property name="pptx_export_from_biorender" value="false"/>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docProps/app.xml><?xml version="1.0" encoding="utf-8"?>
<Properties xmlns="http://schemas.openxmlformats.org/officeDocument/2006/extended-properties" xmlns:vt="http://schemas.openxmlformats.org/officeDocument/2006/docPropsVTypes">
  <Template>template</Template>
  <TotalTime>0</TotalTime>
  <Words>1313</Words>
  <Application>Microsoft Office PowerPoint</Application>
  <PresentationFormat>Widescreen</PresentationFormat>
  <Paragraphs>278</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Cambria Math</vt:lpstr>
      <vt:lpstr>Aptos</vt:lpstr>
      <vt:lpstr>Open Sans SemiBold</vt:lpstr>
      <vt:lpstr>Arial</vt:lpstr>
      <vt:lpstr>Cascadia Code</vt:lpstr>
      <vt:lpstr>Cambria</vt:lpstr>
      <vt:lpstr>Aptos SemiBold</vt:lpstr>
      <vt:lpstr>Wingdings</vt:lpstr>
      <vt:lpstr>1_Office Theme</vt:lpstr>
      <vt:lpstr>Sequence data are everywhere in biomedicine</vt:lpstr>
      <vt:lpstr>Sequence data are everywhere in biomedicine</vt:lpstr>
      <vt:lpstr>Symbols must first be converted into numbers</vt:lpstr>
      <vt:lpstr>In sequence data, order matters</vt:lpstr>
      <vt:lpstr>In sequence data, memory matters as well</vt:lpstr>
      <vt:lpstr>Recurrent neural networks process a sequence one step at a time</vt:lpstr>
      <vt:lpstr>The hidden state acts as a running summary of the past</vt:lpstr>
      <vt:lpstr>Recurrent neural networks can predict at each step or at the end</vt:lpstr>
      <vt:lpstr>Vanilla RNNs struggle with long-range dependencies </vt:lpstr>
      <vt:lpstr>LSTMs and GRUs introduced gated memory to better preserve the important information</vt:lpstr>
      <vt:lpstr>For complex tasks, recurrent memory is often not enough… Especially when important context is far away</vt:lpstr>
      <vt:lpstr>Attention lets the model focus on the most relevant parts of the entire sequence</vt:lpstr>
      <vt:lpstr>Transformers replace recurrence memory by attention</vt:lpstr>
      <vt:lpstr>Transformers are now widely used across biomedical data types </vt:lpstr>
      <vt:lpstr>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Ralf Gabriels</dc:creator>
  <cp:lastModifiedBy>Robbin Bouwmeester</cp:lastModifiedBy>
  <cp:revision>1</cp:revision>
  <cp:lastPrinted>2026-03-06T15:26:27Z</cp:lastPrinted>
  <dcterms:created xsi:type="dcterms:W3CDTF">2026-03-10T20:29:10Z</dcterms:created>
  <dcterms:modified xsi:type="dcterms:W3CDTF">2026-10-18T08:05:05Z</dcterms:modified>
  <cp:contentStatus/>
</cp:coreProperties>
</file>