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71" r:id="rId2"/>
    <p:sldId id="256" r:id="rId3"/>
    <p:sldId id="293" r:id="rId4"/>
    <p:sldId id="285" r:id="rId5"/>
    <p:sldId id="291" r:id="rId6"/>
    <p:sldId id="292" r:id="rId7"/>
    <p:sldId id="295" r:id="rId8"/>
    <p:sldId id="299" r:id="rId9"/>
    <p:sldId id="296" r:id="rId10"/>
    <p:sldId id="297" r:id="rId11"/>
    <p:sldId id="298" r:id="rId12"/>
    <p:sldId id="261" r:id="rId13"/>
    <p:sldId id="262" r:id="rId14"/>
    <p:sldId id="258" r:id="rId15"/>
    <p:sldId id="290" r:id="rId16"/>
    <p:sldId id="283" r:id="rId17"/>
    <p:sldId id="301" r:id="rId18"/>
    <p:sldId id="302" r:id="rId19"/>
    <p:sldId id="303" r:id="rId20"/>
    <p:sldId id="304" r:id="rId21"/>
    <p:sldId id="280" r:id="rId22"/>
    <p:sldId id="300" r:id="rId23"/>
    <p:sldId id="272" r:id="rId24"/>
    <p:sldId id="276" r:id="rId25"/>
    <p:sldId id="277" r:id="rId26"/>
    <p:sldId id="264" r:id="rId27"/>
    <p:sldId id="266" r:id="rId28"/>
    <p:sldId id="267" r:id="rId29"/>
    <p:sldId id="273" r:id="rId30"/>
    <p:sldId id="281" r:id="rId3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7" autoAdjust="0"/>
    <p:restoredTop sz="96362" autoAdjust="0"/>
  </p:normalViewPr>
  <p:slideViewPr>
    <p:cSldViewPr snapToGrid="0">
      <p:cViewPr varScale="1">
        <p:scale>
          <a:sx n="120" d="100"/>
          <a:sy n="120" d="100"/>
        </p:scale>
        <p:origin x="12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B5AD2B-3264-4AE2-9EB6-348438390B29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C6F79-54CA-4D84-B1C9-F6FB65448F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0960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cast.in2p3.fr/video/table-ronde-2-intelligence-humaine-collective-et-artificielle-de-concert-pour-developper-nos-expertises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solidFill>
                  <a:schemeClr val="bg1">
                    <a:lumMod val="50000"/>
                  </a:schemeClr>
                </a:solidFill>
                <a:hlinkClick r:id="rId3"/>
              </a:rPr>
              <a:t>https://webcast.in2p3.fr/video/table-ronde-2-intelligence-humaine-collective-et-artificielle-de-concert-pour-developper-nos-expertises</a:t>
            </a:r>
            <a:endParaRPr lang="fr-F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CC6F79-54CA-4D84-B1C9-F6FB65448FD7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883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0511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0231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953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568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3182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0375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658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269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9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485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547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B2770-0FF0-4E61-99DA-A551B52EF16E}" type="datetimeFigureOut">
              <a:rPr lang="fr-FR" smtClean="0"/>
              <a:t>30/10/2026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D53F1-0EB7-4CF1-A02D-9660D035279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6717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macromicro.me/series/77092/world-chatgpt-monthly-active-user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research/group/aiei/ai-diffusion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xplodingtopics.com/blog/data-generated-per-day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PZh9BOjkQs" TargetMode="External"/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weirdness.com/shaped-like-information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bench.ai/#/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poch.ai/benchmarks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cilm.allen.ai/" TargetMode="External"/><Relationship Id="rId2" Type="http://schemas.openxmlformats.org/officeDocument/2006/relationships/hyperlink" Target="https://theopenschola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1586-025-10072-4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notebooklm.google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perplexity.ai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engineering/building-effective-agents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ernest.unistra.fr/jcms/1442664709_UDSActualites/fr/publication-de-lignes-directrices-sur-l-usage-des-outils-d-intelligence-artificielle" TargetMode="External"/><Relationship Id="rId2" Type="http://schemas.openxmlformats.org/officeDocument/2006/relationships/hyperlink" Target="https://research-and-innovation.ec.europa.eu/document/download/2b6cf7e5-36ac-41cb-aab5-0d32050143dc_en?filename=ec_rtd_ai-guidelines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hyperlink" Target="https://science-ouverte.inrae.fr/fr/offre-service/fiches-pratiques-et-recommandations/guide-du-bon-usage-des-assistants-base-dintelligences-artificielles-generatives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emmy.cnrs.fr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idle.cnrs.f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ntor.gouv.fr/local/catalog/pages/training.php?trainingid=8" TargetMode="External"/><Relationship Id="rId5" Type="http://schemas.openxmlformats.org/officeDocument/2006/relationships/hyperlink" Target="https://mentor.gouv.fr/local/catalog/pages/training.php?trainingid=3189" TargetMode="External"/><Relationship Id="rId4" Type="http://schemas.openxmlformats.org/officeDocument/2006/relationships/hyperlink" Target="https://podv2.unistra.f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pic>
        <p:nvPicPr>
          <p:cNvPr id="4" name="Large Language Models explained briefly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7363" y="365125"/>
            <a:ext cx="10332391" cy="5811838"/>
          </a:xfrm>
        </p:spPr>
      </p:pic>
    </p:spTree>
    <p:extLst>
      <p:ext uri="{BB962C8B-B14F-4D97-AF65-F5344CB8AC3E}">
        <p14:creationId xmlns:p14="http://schemas.microsoft.com/office/powerpoint/2010/main" val="3045423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Seminar</a:t>
            </a:r>
            <a:r>
              <a:rPr lang="fr-FR" dirty="0"/>
              <a:t> AI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15/01/2026</a:t>
            </a:r>
          </a:p>
        </p:txBody>
      </p:sp>
    </p:spTree>
    <p:extLst>
      <p:ext uri="{BB962C8B-B14F-4D97-AF65-F5344CB8AC3E}">
        <p14:creationId xmlns:p14="http://schemas.microsoft.com/office/powerpoint/2010/main" val="230159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ChatGPT</a:t>
            </a:r>
            <a:r>
              <a:rPr lang="fr-FR" dirty="0"/>
              <a:t> </a:t>
            </a:r>
            <a:r>
              <a:rPr lang="fr-FR" dirty="0" err="1"/>
              <a:t>monthly</a:t>
            </a:r>
            <a:r>
              <a:rPr lang="fr-FR" dirty="0"/>
              <a:t> </a:t>
            </a:r>
            <a:r>
              <a:rPr lang="fr-FR" dirty="0" err="1"/>
              <a:t>users</a:t>
            </a:r>
            <a:endParaRPr lang="fr-FR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2065" y="1690688"/>
            <a:ext cx="8708987" cy="4535732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1500554" y="6137031"/>
            <a:ext cx="7942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https://en.macromicro.me/series/77092/world-chatgpt-monthly-active-users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76351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111" y="480647"/>
            <a:ext cx="10283091" cy="5784239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767862" y="6342185"/>
            <a:ext cx="786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https://www.microsoft.com/en-us/research/group/aiei/ai-diffusion/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0067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ChatGPT</a:t>
            </a:r>
            <a:r>
              <a:rPr lang="en-US" dirty="0"/>
              <a:t> has exploded? </a:t>
            </a:r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8157" y="1547445"/>
            <a:ext cx="6654485" cy="5057409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8551985" y="2309446"/>
            <a:ext cx="3253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Zettabytes = 10^9 Terabytes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500 000 000 TB per day</a:t>
            </a:r>
          </a:p>
          <a:p>
            <a:endParaRPr lang="en-US" dirty="0"/>
          </a:p>
          <a:p>
            <a:r>
              <a:rPr lang="en-US" dirty="0" err="1"/>
              <a:t>ChatGPT</a:t>
            </a:r>
            <a:r>
              <a:rPr lang="en-US" dirty="0"/>
              <a:t> was trained on </a:t>
            </a:r>
            <a:r>
              <a:rPr lang="en-US" dirty="0" err="1"/>
              <a:t>on</a:t>
            </a:r>
            <a:r>
              <a:rPr lang="en-US" dirty="0"/>
              <a:t> more than 1 000 TB of data.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8551985" y="5802924"/>
            <a:ext cx="289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https://explodingtopics.com/blog/data-generated-per-day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611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ChatGPT</a:t>
            </a:r>
            <a:r>
              <a:rPr lang="en-US" dirty="0"/>
              <a:t> has exploded? 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2540" y="1690688"/>
            <a:ext cx="8815749" cy="4958859"/>
          </a:xfrm>
        </p:spPr>
      </p:pic>
    </p:spTree>
    <p:extLst>
      <p:ext uri="{BB962C8B-B14F-4D97-AF65-F5344CB8AC3E}">
        <p14:creationId xmlns:p14="http://schemas.microsoft.com/office/powerpoint/2010/main" val="2120923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ChatGPT</a:t>
            </a:r>
            <a:r>
              <a:rPr lang="en-US" dirty="0"/>
              <a:t> has exploded?</a:t>
            </a:r>
            <a:br>
              <a:rPr lang="en-US" dirty="0"/>
            </a:br>
            <a:r>
              <a:rPr lang="en-US" dirty="0"/>
              <a:t>Algorithm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Large Language Model is a sophisticated mathematical function that </a:t>
            </a:r>
            <a:r>
              <a:rPr lang="en-US" dirty="0">
                <a:solidFill>
                  <a:srgbClr val="FF0000"/>
                </a:solidFill>
              </a:rPr>
              <a:t>predicts</a:t>
            </a:r>
            <a:r>
              <a:rPr lang="en-US" dirty="0"/>
              <a:t> what word comes next for any piece of text. It has been trained to understand, process and generate human language.</a:t>
            </a:r>
          </a:p>
          <a:p>
            <a:endParaRPr lang="en-US" dirty="0"/>
          </a:p>
        </p:txBody>
      </p:sp>
      <p:sp>
        <p:nvSpPr>
          <p:cNvPr id="5" name="ZoneTexte 4"/>
          <p:cNvSpPr txBox="1"/>
          <p:nvPr/>
        </p:nvSpPr>
        <p:spPr>
          <a:xfrm>
            <a:off x="1019235" y="4472988"/>
            <a:ext cx="2725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learning is very </a:t>
            </a:r>
          </a:p>
        </p:txBody>
      </p:sp>
      <p:sp>
        <p:nvSpPr>
          <p:cNvPr id="8" name="Flèche droite 7"/>
          <p:cNvSpPr/>
          <p:nvPr/>
        </p:nvSpPr>
        <p:spPr>
          <a:xfrm>
            <a:off x="3587710" y="4583648"/>
            <a:ext cx="786267" cy="2120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ZoneTexte 8"/>
          <p:cNvSpPr txBox="1"/>
          <p:nvPr/>
        </p:nvSpPr>
        <p:spPr>
          <a:xfrm>
            <a:off x="4647714" y="4505021"/>
            <a:ext cx="136286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LLM</a:t>
            </a:r>
            <a:endParaRPr lang="en-US" dirty="0"/>
          </a:p>
        </p:txBody>
      </p:sp>
      <p:sp>
        <p:nvSpPr>
          <p:cNvPr id="10" name="Flèche droite 9"/>
          <p:cNvSpPr/>
          <p:nvPr/>
        </p:nvSpPr>
        <p:spPr>
          <a:xfrm>
            <a:off x="6259320" y="4583648"/>
            <a:ext cx="786267" cy="2120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ZoneTexte 10"/>
          <p:cNvSpPr txBox="1"/>
          <p:nvPr/>
        </p:nvSpPr>
        <p:spPr>
          <a:xfrm>
            <a:off x="7414211" y="3768260"/>
            <a:ext cx="1689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43% </a:t>
            </a:r>
            <a:r>
              <a:rPr lang="en-US" dirty="0">
                <a:solidFill>
                  <a:srgbClr val="FF0000"/>
                </a:solidFill>
              </a:rPr>
              <a:t>innovative</a:t>
            </a:r>
          </a:p>
          <a:p>
            <a:r>
              <a:rPr lang="en-US" dirty="0"/>
              <a:t>37% powerful</a:t>
            </a:r>
          </a:p>
          <a:p>
            <a:r>
              <a:rPr lang="en-US" dirty="0"/>
              <a:t>15% complex</a:t>
            </a:r>
          </a:p>
          <a:p>
            <a:r>
              <a:rPr lang="en-US" dirty="0"/>
              <a:t>….</a:t>
            </a:r>
          </a:p>
          <a:p>
            <a:r>
              <a:rPr lang="en-US" dirty="0"/>
              <a:t>…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24178" y="5857612"/>
            <a:ext cx="364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Machine learning is very </a:t>
            </a:r>
            <a:r>
              <a:rPr lang="en-US" dirty="0">
                <a:solidFill>
                  <a:srgbClr val="FF0000"/>
                </a:solidFill>
              </a:rPr>
              <a:t>innovative</a:t>
            </a:r>
            <a:r>
              <a:rPr lang="en-US" dirty="0"/>
              <a:t> </a:t>
            </a:r>
          </a:p>
        </p:txBody>
      </p:sp>
      <p:sp>
        <p:nvSpPr>
          <p:cNvPr id="13" name="Flèche droite 12"/>
          <p:cNvSpPr/>
          <p:nvPr/>
        </p:nvSpPr>
        <p:spPr>
          <a:xfrm>
            <a:off x="4211871" y="5936239"/>
            <a:ext cx="786267" cy="2120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/>
          <p:cNvSpPr txBox="1"/>
          <p:nvPr/>
        </p:nvSpPr>
        <p:spPr>
          <a:xfrm>
            <a:off x="5271875" y="5857612"/>
            <a:ext cx="136286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LLM</a:t>
            </a:r>
            <a:endParaRPr lang="en-US" dirty="0"/>
          </a:p>
        </p:txBody>
      </p:sp>
      <p:sp>
        <p:nvSpPr>
          <p:cNvPr id="15" name="Flèche droite 14"/>
          <p:cNvSpPr/>
          <p:nvPr/>
        </p:nvSpPr>
        <p:spPr>
          <a:xfrm>
            <a:off x="6883481" y="5936239"/>
            <a:ext cx="786267" cy="21207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ZoneTexte 15"/>
          <p:cNvSpPr txBox="1"/>
          <p:nvPr/>
        </p:nvSpPr>
        <p:spPr>
          <a:xfrm>
            <a:off x="8228871" y="5165323"/>
            <a:ext cx="16890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56% </a:t>
            </a:r>
            <a:r>
              <a:rPr lang="en-US" dirty="0">
                <a:solidFill>
                  <a:srgbClr val="FF0000"/>
                </a:solidFill>
              </a:rPr>
              <a:t>and</a:t>
            </a:r>
          </a:p>
          <a:p>
            <a:r>
              <a:rPr lang="en-US" dirty="0"/>
              <a:t>27% .</a:t>
            </a:r>
          </a:p>
          <a:p>
            <a:r>
              <a:rPr lang="en-US" dirty="0"/>
              <a:t>11% for</a:t>
            </a:r>
          </a:p>
          <a:p>
            <a:r>
              <a:rPr lang="en-US" dirty="0"/>
              <a:t>….</a:t>
            </a:r>
          </a:p>
          <a:p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99834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93725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Analyze the importance of each word in relation to the others within a sentence.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Parallelization of the training, resulting </a:t>
            </a:r>
            <a:r>
              <a:rPr lang="en-US"/>
              <a:t>in shorter </a:t>
            </a:r>
            <a:r>
              <a:rPr lang="en-US" dirty="0"/>
              <a:t>learning time.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1600" dirty="0">
                <a:hlinkClick r:id="rId2"/>
              </a:rPr>
              <a:t>https://poloclub.github.io/transformer-explainer/</a:t>
            </a:r>
            <a:r>
              <a:rPr lang="en-US" sz="1600" dirty="0"/>
              <a:t> </a:t>
            </a:r>
          </a:p>
          <a:p>
            <a:pPr marL="0" indent="0">
              <a:buNone/>
            </a:pPr>
            <a:r>
              <a:rPr lang="en-US" sz="1600" dirty="0">
                <a:hlinkClick r:id="rId3"/>
              </a:rPr>
              <a:t>https://www.youtube.com/watch?v=LPZh9BOjkQs</a:t>
            </a:r>
            <a:r>
              <a:rPr lang="en-US" sz="1600" dirty="0"/>
              <a:t>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174" y="4719425"/>
            <a:ext cx="4496284" cy="113396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817" y="4720215"/>
            <a:ext cx="4012878" cy="1133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48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dataset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422" y="2583469"/>
            <a:ext cx="3877216" cy="3743847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169" y="2577579"/>
            <a:ext cx="3581900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006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18593" y="469244"/>
            <a:ext cx="5958160" cy="5958160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990115" y="1788031"/>
            <a:ext cx="22772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Hallucinations</a:t>
            </a:r>
          </a:p>
        </p:txBody>
      </p:sp>
      <p:sp>
        <p:nvSpPr>
          <p:cNvPr id="7" name="ZoneTexte 6"/>
          <p:cNvSpPr txBox="1"/>
          <p:nvPr/>
        </p:nvSpPr>
        <p:spPr>
          <a:xfrm>
            <a:off x="570772" y="2719903"/>
            <a:ext cx="3360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Prompt: “Please generate a colorful guide to basic geometry shapes, as an aid to children learning to identify basic shapes”</a:t>
            </a:r>
          </a:p>
          <a:p>
            <a:r>
              <a:rPr lang="en-US" dirty="0"/>
              <a:t>DALL-E3 March 2024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396046" y="6385507"/>
            <a:ext cx="4379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hlinkClick r:id="rId3"/>
              </a:rPr>
              <a:t>https://www.aiweirdness.com/shaped-like-information/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6358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4177" y="365125"/>
            <a:ext cx="6063646" cy="6063646"/>
          </a:xfrm>
        </p:spPr>
      </p:pic>
      <p:sp>
        <p:nvSpPr>
          <p:cNvPr id="5" name="ZoneTexte 4"/>
          <p:cNvSpPr txBox="1"/>
          <p:nvPr/>
        </p:nvSpPr>
        <p:spPr>
          <a:xfrm>
            <a:off x="285386" y="2096713"/>
            <a:ext cx="26383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Nano Banana Pro </a:t>
            </a:r>
          </a:p>
          <a:p>
            <a:r>
              <a:rPr lang="en-US" dirty="0"/>
              <a:t>February 2026</a:t>
            </a:r>
          </a:p>
        </p:txBody>
      </p:sp>
    </p:spTree>
    <p:extLst>
      <p:ext uri="{BB962C8B-B14F-4D97-AF65-F5344CB8AC3E}">
        <p14:creationId xmlns:p14="http://schemas.microsoft.com/office/powerpoint/2010/main" val="596847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912" y="365125"/>
            <a:ext cx="940879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336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ce réservé du contenu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1969" y="425116"/>
            <a:ext cx="9302910" cy="575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76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614" y="23337"/>
            <a:ext cx="12203228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93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Benchmark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609" y="1450487"/>
            <a:ext cx="9442197" cy="468601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71954" y="6257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hlinkClick r:id="rId3"/>
              </a:rPr>
              <a:t>https://livebench.ai/#/</a:t>
            </a:r>
            <a:r>
              <a:rPr lang="en-US" dirty="0"/>
              <a:t> 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4906108" y="6257836"/>
            <a:ext cx="2991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https://epoch.ai/benchmarks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451757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Open </a:t>
            </a:r>
            <a:r>
              <a:rPr lang="fr-FR" b="1" dirty="0" err="1"/>
              <a:t>scholar</a:t>
            </a:r>
            <a:r>
              <a:rPr lang="fr-FR" b="1" dirty="0"/>
              <a:t> </a:t>
            </a:r>
            <a:r>
              <a:rPr lang="fr-FR" sz="2400" dirty="0">
                <a:hlinkClick r:id="rId2"/>
              </a:rPr>
              <a:t>https://theopenscholar.com/</a:t>
            </a:r>
            <a:r>
              <a:rPr lang="fr-FR" sz="2400" dirty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Openscholar</a:t>
            </a:r>
            <a:r>
              <a:rPr lang="en-US" dirty="0"/>
              <a:t> is “a specialized retrieval-augmented language model (LM) that answers scientific queries by identifying relevant passages from 45 million open-access papers and synthesizing citation-backed responses.” </a:t>
            </a:r>
          </a:p>
          <a:p>
            <a:r>
              <a:rPr lang="en-US" dirty="0"/>
              <a:t>Perform better than any other open source model and with no fake citations.</a:t>
            </a:r>
            <a:endParaRPr lang="fr-FR" dirty="0"/>
          </a:p>
          <a:p>
            <a:r>
              <a:rPr lang="fr-FR" dirty="0"/>
              <a:t>You </a:t>
            </a:r>
            <a:r>
              <a:rPr lang="fr-FR" dirty="0" err="1"/>
              <a:t>can</a:t>
            </a:r>
            <a:r>
              <a:rPr lang="fr-FR" dirty="0"/>
              <a:t> </a:t>
            </a:r>
            <a:r>
              <a:rPr lang="fr-FR" dirty="0" err="1"/>
              <a:t>try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on: </a:t>
            </a:r>
            <a:r>
              <a:rPr lang="fr-FR" dirty="0">
                <a:hlinkClick r:id="rId3"/>
              </a:rPr>
              <a:t>https://openscilm.allen.ai/</a:t>
            </a:r>
            <a:r>
              <a:rPr lang="fr-FR" dirty="0"/>
              <a:t> </a:t>
            </a:r>
          </a:p>
          <a:p>
            <a:endParaRPr lang="fr-FR" dirty="0"/>
          </a:p>
          <a:p>
            <a:pPr marL="0" indent="0">
              <a:buNone/>
            </a:pPr>
            <a:r>
              <a:rPr lang="fr-FR" dirty="0">
                <a:hlinkClick r:id="rId4"/>
              </a:rPr>
              <a:t>https://www.nature.com/articles/s41586-025-10072-4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386122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Upload your documents that the IA will focus on to answer your questions, act like a specialized expert on your documents. (50 per notebook)</a:t>
            </a:r>
          </a:p>
          <a:p>
            <a:r>
              <a:rPr lang="en-US" dirty="0"/>
              <a:t>Response includes direct citations from your files, allowing to verify the information.</a:t>
            </a:r>
          </a:p>
          <a:p>
            <a:r>
              <a:rPr lang="en-US" dirty="0"/>
              <a:t>Multiple output possibility: Audio, image, </a:t>
            </a:r>
            <a:r>
              <a:rPr lang="en-US" dirty="0" err="1"/>
              <a:t>mindmap</a:t>
            </a:r>
            <a:r>
              <a:rPr lang="en-US" dirty="0"/>
              <a:t>, quiz, video, …</a:t>
            </a:r>
          </a:p>
        </p:txBody>
      </p:sp>
      <p:sp>
        <p:nvSpPr>
          <p:cNvPr id="4" name="AutoShape 2" descr="Google NotebookLM | AI Research Tool &amp; Thinking Partner"/>
          <p:cNvSpPr>
            <a:spLocks noGrp="1" noChangeAspect="1" noChangeArrowheads="1"/>
          </p:cNvSpPr>
          <p:nvPr>
            <p:ph type="title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b="1" dirty="0" err="1"/>
              <a:t>NotebookLM</a:t>
            </a:r>
            <a:r>
              <a:rPr lang="en-US" b="1" dirty="0"/>
              <a:t> </a:t>
            </a:r>
            <a:br>
              <a:rPr lang="en-US" b="1" dirty="0"/>
            </a:br>
            <a:r>
              <a:rPr lang="en-US" sz="2000" dirty="0">
                <a:hlinkClick r:id="rId2"/>
              </a:rPr>
              <a:t>https://notebooklm.google/</a:t>
            </a:r>
            <a:r>
              <a:rPr lang="en-US" sz="2000" dirty="0"/>
              <a:t> 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9032" y="620938"/>
            <a:ext cx="3863119" cy="406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1082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Perplexity</a:t>
            </a:r>
            <a:br>
              <a:rPr lang="en-US" b="1" dirty="0"/>
            </a:br>
            <a:r>
              <a:rPr lang="en-US" sz="2000" dirty="0">
                <a:hlinkClick r:id="rId2"/>
              </a:rPr>
              <a:t>https://www.perplexity.ai/</a:t>
            </a:r>
            <a:r>
              <a:rPr lang="en-US" sz="2000" dirty="0"/>
              <a:t>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“Real-time” search engine: </a:t>
            </a:r>
            <a:r>
              <a:rPr lang="en-US" dirty="0" err="1"/>
              <a:t>browes</a:t>
            </a:r>
            <a:r>
              <a:rPr lang="en-US" dirty="0"/>
              <a:t> the internet to find up-to-date information on your request.</a:t>
            </a:r>
          </a:p>
          <a:p>
            <a:r>
              <a:rPr lang="en-US" dirty="0"/>
              <a:t>Each answer is provided with citations and the list of source links.</a:t>
            </a:r>
          </a:p>
          <a:p>
            <a:r>
              <a:rPr lang="en-US" dirty="0"/>
              <a:t>Select your model from different companies (Claude, </a:t>
            </a:r>
            <a:r>
              <a:rPr lang="en-US" dirty="0" err="1"/>
              <a:t>OpenAI</a:t>
            </a:r>
            <a:r>
              <a:rPr lang="en-US" dirty="0"/>
              <a:t>, Gemini, …)</a:t>
            </a:r>
          </a:p>
          <a:p>
            <a:r>
              <a:rPr lang="en-US" dirty="0"/>
              <a:t>You can also provide your own documents.</a:t>
            </a:r>
          </a:p>
          <a:p>
            <a:r>
              <a:rPr lang="en-US" dirty="0"/>
              <a:t>It’s the most suited for research, documentation and study.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462" y="511402"/>
            <a:ext cx="4101040" cy="103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5585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895" y="2016369"/>
            <a:ext cx="7135003" cy="4952881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Agentic AI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438764"/>
            <a:ext cx="10515600" cy="4351338"/>
          </a:xfrm>
        </p:spPr>
        <p:txBody>
          <a:bodyPr/>
          <a:lstStyle/>
          <a:p>
            <a:r>
              <a:rPr lang="en-US" dirty="0"/>
              <a:t>An autonomous system capable of reasoning, planning and using tools to achieve complex goals.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9260" y="6056510"/>
            <a:ext cx="392723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hlinkClick r:id="rId3"/>
              </a:rPr>
              <a:t>https://www.anthropic.com/engineering/building-effective-agents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0720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Prompt engineering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>
                <a:solidFill>
                  <a:srgbClr val="FF0000"/>
                </a:solidFill>
              </a:rPr>
              <a:t>CROPS</a:t>
            </a:r>
          </a:p>
          <a:p>
            <a:pPr lvl="1"/>
            <a:r>
              <a:rPr lang="fr-FR" b="1" dirty="0" err="1">
                <a:solidFill>
                  <a:srgbClr val="FF0000"/>
                </a:solidFill>
              </a:rPr>
              <a:t>C</a:t>
            </a:r>
            <a:r>
              <a:rPr lang="fr-FR" dirty="0" err="1"/>
              <a:t>ontext</a:t>
            </a:r>
            <a:r>
              <a:rPr lang="fr-FR" dirty="0"/>
              <a:t> : Background information</a:t>
            </a:r>
          </a:p>
          <a:p>
            <a:pPr lvl="1"/>
            <a:r>
              <a:rPr lang="fr-FR" b="1" dirty="0" err="1">
                <a:solidFill>
                  <a:srgbClr val="FF0000"/>
                </a:solidFill>
              </a:rPr>
              <a:t>R</a:t>
            </a:r>
            <a:r>
              <a:rPr lang="fr-FR" dirty="0" err="1"/>
              <a:t>ole</a:t>
            </a:r>
            <a:r>
              <a:rPr lang="fr-FR" dirty="0"/>
              <a:t>: Point of </a:t>
            </a:r>
            <a:r>
              <a:rPr lang="fr-FR" dirty="0" err="1"/>
              <a:t>view</a:t>
            </a:r>
            <a:endParaRPr lang="fr-FR" dirty="0"/>
          </a:p>
          <a:p>
            <a:pPr lvl="1"/>
            <a:r>
              <a:rPr lang="fr-FR" b="1" dirty="0">
                <a:solidFill>
                  <a:srgbClr val="FF0000"/>
                </a:solidFill>
              </a:rPr>
              <a:t>O</a:t>
            </a:r>
            <a:r>
              <a:rPr lang="fr-FR" dirty="0"/>
              <a:t>bjective: </a:t>
            </a:r>
            <a:r>
              <a:rPr lang="fr-FR" dirty="0" err="1"/>
              <a:t>Give</a:t>
            </a:r>
            <a:r>
              <a:rPr lang="fr-FR" dirty="0"/>
              <a:t> the goal</a:t>
            </a:r>
          </a:p>
          <a:p>
            <a:pPr lvl="1"/>
            <a:r>
              <a:rPr lang="fr-FR" b="1" dirty="0" err="1">
                <a:solidFill>
                  <a:srgbClr val="FF0000"/>
                </a:solidFill>
              </a:rPr>
              <a:t>P</a:t>
            </a:r>
            <a:r>
              <a:rPr lang="fr-FR" dirty="0" err="1"/>
              <a:t>recisions</a:t>
            </a:r>
            <a:r>
              <a:rPr lang="fr-FR" dirty="0"/>
              <a:t>: </a:t>
            </a:r>
            <a:r>
              <a:rPr lang="fr-FR" dirty="0" err="1"/>
              <a:t>Define</a:t>
            </a:r>
            <a:r>
              <a:rPr lang="fr-FR" dirty="0"/>
              <a:t> the </a:t>
            </a:r>
            <a:r>
              <a:rPr lang="fr-FR" dirty="0" err="1"/>
              <a:t>constraints</a:t>
            </a:r>
            <a:endParaRPr lang="fr-FR" dirty="0"/>
          </a:p>
          <a:p>
            <a:pPr lvl="1"/>
            <a:r>
              <a:rPr lang="fr-FR" b="1" dirty="0">
                <a:solidFill>
                  <a:srgbClr val="FF0000"/>
                </a:solidFill>
              </a:rPr>
              <a:t>S</a:t>
            </a:r>
            <a:r>
              <a:rPr lang="fr-FR" dirty="0"/>
              <a:t>tructure: Format of the output </a:t>
            </a:r>
          </a:p>
          <a:p>
            <a:r>
              <a:rPr lang="fr-FR" dirty="0" err="1"/>
              <a:t>Add</a:t>
            </a:r>
            <a:r>
              <a:rPr lang="fr-FR" dirty="0"/>
              <a:t> an </a:t>
            </a:r>
            <a:r>
              <a:rPr lang="fr-FR" dirty="0" err="1"/>
              <a:t>examples</a:t>
            </a:r>
            <a:endParaRPr lang="fr-FR" dirty="0"/>
          </a:p>
          <a:p>
            <a:r>
              <a:rPr lang="fr-FR" dirty="0" err="1"/>
              <a:t>Give</a:t>
            </a:r>
            <a:r>
              <a:rPr lang="fr-FR" dirty="0"/>
              <a:t> the </a:t>
            </a:r>
            <a:r>
              <a:rPr lang="fr-FR" dirty="0" err="1"/>
              <a:t>chain</a:t>
            </a:r>
            <a:r>
              <a:rPr lang="fr-FR" dirty="0"/>
              <a:t> of </a:t>
            </a:r>
            <a:r>
              <a:rPr lang="fr-FR" dirty="0" err="1"/>
              <a:t>thought</a:t>
            </a:r>
            <a:r>
              <a:rPr lang="fr-FR" dirty="0"/>
              <a:t> </a:t>
            </a:r>
          </a:p>
          <a:p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ambiguity</a:t>
            </a:r>
            <a:r>
              <a:rPr lang="fr-FR" dirty="0"/>
              <a:t> (</a:t>
            </a:r>
            <a:r>
              <a:rPr lang="fr-FR" dirty="0" err="1"/>
              <a:t>small</a:t>
            </a:r>
            <a:r>
              <a:rPr lang="fr-FR" dirty="0"/>
              <a:t>, </a:t>
            </a:r>
            <a:r>
              <a:rPr lang="fr-FR" dirty="0" err="1"/>
              <a:t>many</a:t>
            </a:r>
            <a:r>
              <a:rPr lang="fr-FR" dirty="0"/>
              <a:t>, …)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7047286" y="2481111"/>
            <a:ext cx="45487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are an expert in remote team dynamics. A company struggles with low engagement after moving to remote work. Suggest practical, low-cost ways to boost collaboration and motivation, with clear short- and long-term steps with 400 words, professional format.</a:t>
            </a:r>
          </a:p>
        </p:txBody>
      </p:sp>
    </p:spTree>
    <p:extLst>
      <p:ext uri="{BB962C8B-B14F-4D97-AF65-F5344CB8AC3E}">
        <p14:creationId xmlns:p14="http://schemas.microsoft.com/office/powerpoint/2010/main" val="2295432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Tutorship</a:t>
            </a:r>
            <a:r>
              <a:rPr lang="fr-FR" b="1" dirty="0"/>
              <a:t> guidelines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550126"/>
            <a:ext cx="10515600" cy="4963885"/>
          </a:xfrm>
        </p:spPr>
        <p:txBody>
          <a:bodyPr>
            <a:normAutofit/>
          </a:bodyPr>
          <a:lstStyle/>
          <a:p>
            <a:r>
              <a:rPr lang="fr-FR" dirty="0"/>
              <a:t>CNRS </a:t>
            </a:r>
            <a:r>
              <a:rPr lang="fr-FR" dirty="0" err="1"/>
              <a:t>is</a:t>
            </a:r>
            <a:r>
              <a:rPr lang="fr-FR" dirty="0"/>
              <a:t> part of G6 </a:t>
            </a:r>
            <a:r>
              <a:rPr lang="fr-FR" altLang="fr-FR" dirty="0"/>
              <a:t>network</a:t>
            </a:r>
            <a:r>
              <a:rPr lang="fr-FR" dirty="0"/>
              <a:t> </a:t>
            </a:r>
            <a:r>
              <a:rPr lang="fr-FR" dirty="0" err="1"/>
              <a:t>grouping</a:t>
            </a:r>
            <a:r>
              <a:rPr lang="fr-FR" dirty="0"/>
              <a:t> t</a:t>
            </a:r>
            <a:r>
              <a:rPr lang="fr-FR" altLang="fr-FR" dirty="0"/>
              <a:t>he 6 main </a:t>
            </a:r>
            <a:r>
              <a:rPr lang="fr-FR" altLang="fr-FR" dirty="0" err="1"/>
              <a:t>European</a:t>
            </a:r>
            <a:r>
              <a:rPr lang="fr-FR" altLang="fr-FR" dirty="0"/>
              <a:t> </a:t>
            </a:r>
            <a:r>
              <a:rPr lang="fr-FR" altLang="fr-FR" dirty="0" err="1"/>
              <a:t>research</a:t>
            </a:r>
            <a:r>
              <a:rPr lang="fr-FR" altLang="fr-FR" dirty="0"/>
              <a:t> </a:t>
            </a:r>
            <a:r>
              <a:rPr lang="fr-FR" altLang="fr-FR" dirty="0" err="1"/>
              <a:t>organizations</a:t>
            </a:r>
            <a:r>
              <a:rPr lang="fr-FR" altLang="fr-FR" dirty="0"/>
              <a:t> : CNR (</a:t>
            </a:r>
            <a:r>
              <a:rPr lang="fr-FR" altLang="fr-FR" dirty="0" err="1"/>
              <a:t>Italy</a:t>
            </a:r>
            <a:r>
              <a:rPr lang="fr-FR" altLang="fr-FR" dirty="0"/>
              <a:t>), CNRS (France), CSIC (Spain), Helmholtz Association, Leibniz Association and Max Planck Society (Germany)</a:t>
            </a:r>
            <a:r>
              <a:rPr lang="fr-FR" dirty="0"/>
              <a:t>    </a:t>
            </a:r>
          </a:p>
          <a:p>
            <a:pPr marL="273050" indent="0">
              <a:buNone/>
            </a:pPr>
            <a:r>
              <a:rPr lang="fr-FR" dirty="0">
                <a:hlinkClick r:id="rId2"/>
              </a:rPr>
              <a:t>EU guidelines 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April 2025</a:t>
            </a:r>
          </a:p>
          <a:p>
            <a:pPr marL="273050" indent="0">
              <a:buNone/>
            </a:pPr>
            <a:r>
              <a:rPr lang="fr-FR" dirty="0"/>
              <a:t>No </a:t>
            </a:r>
            <a:r>
              <a:rPr lang="fr-FR" dirty="0" err="1"/>
              <a:t>practical</a:t>
            </a:r>
            <a:r>
              <a:rPr lang="fr-FR" dirty="0"/>
              <a:t> guidelines</a:t>
            </a:r>
          </a:p>
          <a:p>
            <a:endParaRPr lang="fr-F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fr-FR" dirty="0">
                <a:hlinkClick r:id="rId3"/>
              </a:rPr>
              <a:t>Appendix</a:t>
            </a:r>
            <a:r>
              <a:rPr lang="fr-FR" dirty="0"/>
              <a:t> </a:t>
            </a:r>
            <a:r>
              <a:rPr lang="fr-FR" dirty="0" err="1"/>
              <a:t>dedicated</a:t>
            </a:r>
            <a:r>
              <a:rPr lang="fr-FR" dirty="0"/>
              <a:t> to AI </a:t>
            </a:r>
            <a:r>
              <a:rPr lang="fr-FR" dirty="0" err="1"/>
              <a:t>added</a:t>
            </a:r>
            <a:r>
              <a:rPr lang="fr-FR" dirty="0"/>
              <a:t> to the digital charter of the </a:t>
            </a:r>
            <a:r>
              <a:rPr lang="fr-FR" dirty="0" err="1"/>
              <a:t>University</a:t>
            </a:r>
            <a:r>
              <a:rPr lang="fr-FR" dirty="0"/>
              <a:t> of Strasbourg 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May 2025</a:t>
            </a:r>
          </a:p>
          <a:p>
            <a:endParaRPr lang="fr-F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fr-FR" dirty="0"/>
              <a:t>The </a:t>
            </a:r>
            <a:r>
              <a:rPr lang="fr-FR" dirty="0">
                <a:hlinkClick r:id="rId4"/>
              </a:rPr>
              <a:t>INRAE</a:t>
            </a:r>
            <a:r>
              <a:rPr lang="fr-FR" dirty="0"/>
              <a:t> guidelines</a:t>
            </a: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092" y="2875689"/>
            <a:ext cx="3686583" cy="922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698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19100" y="277276"/>
            <a:ext cx="11353800" cy="1325563"/>
          </a:xfrm>
        </p:spPr>
        <p:txBody>
          <a:bodyPr>
            <a:normAutofit/>
          </a:bodyPr>
          <a:lstStyle/>
          <a:p>
            <a:r>
              <a:rPr lang="fr-FR" dirty="0"/>
              <a:t>Guidelines Unistra : </a:t>
            </a:r>
            <a:r>
              <a:rPr lang="fr-FR" altLang="fr-FR" dirty="0" err="1"/>
              <a:t>prior</a:t>
            </a:r>
            <a:r>
              <a:rPr lang="fr-FR" altLang="fr-FR" dirty="0"/>
              <a:t> </a:t>
            </a:r>
            <a:r>
              <a:rPr lang="fr-FR" altLang="fr-FR" dirty="0" err="1"/>
              <a:t>reflection</a:t>
            </a:r>
            <a:r>
              <a:rPr lang="fr-FR" altLang="fr-FR" dirty="0"/>
              <a:t>, </a:t>
            </a:r>
            <a:r>
              <a:rPr lang="fr-FR" altLang="fr-FR" dirty="0" err="1"/>
              <a:t>transparency</a:t>
            </a:r>
            <a:r>
              <a:rPr lang="fr-FR" altLang="fr-FR" dirty="0"/>
              <a:t> and </a:t>
            </a:r>
            <a:r>
              <a:rPr lang="fr-FR" altLang="fr-FR" dirty="0" err="1"/>
              <a:t>responsibility</a:t>
            </a:r>
            <a:r>
              <a:rPr lang="fr-FR" altLang="fr-FR" dirty="0"/>
              <a:t>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019136"/>
          </a:xfrm>
        </p:spPr>
        <p:txBody>
          <a:bodyPr/>
          <a:lstStyle/>
          <a:p>
            <a:pPr marL="914400" lvl="1" indent="-457200">
              <a:buFont typeface="+mj-lt"/>
              <a:buAutoNum type="arabicPeriod"/>
            </a:pPr>
            <a:r>
              <a:rPr lang="fr-FR" altLang="fr-FR" dirty="0">
                <a:latin typeface="+mj-lt"/>
              </a:rPr>
              <a:t>Secure information </a:t>
            </a:r>
            <a:r>
              <a:rPr lang="fr-FR" altLang="fr-FR" sz="1800" dirty="0">
                <a:latin typeface="+mj-lt"/>
              </a:rPr>
              <a:t>= data </a:t>
            </a:r>
            <a:r>
              <a:rPr lang="fr-FR" altLang="fr-FR" sz="1800" dirty="0" err="1">
                <a:latin typeface="+mj-lt"/>
              </a:rPr>
              <a:t>confidentiality</a:t>
            </a:r>
            <a:endParaRPr lang="fr-FR" altLang="fr-FR" sz="48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fr-FR" altLang="fr-FR" dirty="0" err="1">
                <a:latin typeface="+mj-lt"/>
              </a:rPr>
              <a:t>Protect</a:t>
            </a:r>
            <a:r>
              <a:rPr lang="fr-FR" altLang="fr-FR" dirty="0">
                <a:latin typeface="+mj-lt"/>
              </a:rPr>
              <a:t> </a:t>
            </a:r>
            <a:r>
              <a:rPr lang="fr-FR" altLang="fr-FR" dirty="0" err="1">
                <a:latin typeface="+mj-lt"/>
              </a:rPr>
              <a:t>personal</a:t>
            </a:r>
            <a:r>
              <a:rPr lang="fr-FR" altLang="fr-FR" dirty="0">
                <a:latin typeface="+mj-lt"/>
              </a:rPr>
              <a:t> data</a:t>
            </a:r>
            <a:r>
              <a:rPr lang="fr-FR" altLang="fr-FR" sz="1800" dirty="0">
                <a:latin typeface="+mj-lt"/>
              </a:rPr>
              <a:t> = RGPD </a:t>
            </a:r>
            <a:r>
              <a:rPr lang="fr-FR" altLang="fr-FR" sz="1800" dirty="0" err="1">
                <a:latin typeface="+mj-lt"/>
              </a:rPr>
              <a:t>law</a:t>
            </a:r>
            <a:endParaRPr lang="fr-FR" altLang="fr-FR" sz="48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fr-FR" altLang="fr-FR" dirty="0">
                <a:latin typeface="+mj-lt"/>
              </a:rPr>
              <a:t>Respect </a:t>
            </a:r>
            <a:r>
              <a:rPr lang="fr-FR" altLang="fr-FR" dirty="0" err="1">
                <a:latin typeface="+mj-lt"/>
              </a:rPr>
              <a:t>intellectual</a:t>
            </a:r>
            <a:r>
              <a:rPr lang="fr-FR" altLang="fr-FR" dirty="0">
                <a:latin typeface="+mj-lt"/>
              </a:rPr>
              <a:t> </a:t>
            </a:r>
            <a:r>
              <a:rPr lang="fr-FR" altLang="fr-FR" dirty="0" err="1">
                <a:latin typeface="+mj-lt"/>
              </a:rPr>
              <a:t>property</a:t>
            </a:r>
            <a:r>
              <a:rPr lang="fr-FR" altLang="fr-FR" sz="1800" dirty="0">
                <a:latin typeface="+mj-lt"/>
              </a:rPr>
              <a:t> = </a:t>
            </a:r>
            <a:r>
              <a:rPr lang="fr-FR" altLang="fr-FR" sz="1800" dirty="0" err="1">
                <a:latin typeface="+mj-lt"/>
              </a:rPr>
              <a:t>transparency</a:t>
            </a:r>
            <a:r>
              <a:rPr lang="fr-FR" altLang="fr-FR" sz="1800" dirty="0">
                <a:latin typeface="+mj-lt"/>
              </a:rPr>
              <a:t>, </a:t>
            </a:r>
            <a:r>
              <a:rPr lang="fr-FR" altLang="fr-FR" sz="1800" dirty="0" err="1">
                <a:latin typeface="+mj-lt"/>
              </a:rPr>
              <a:t>indicate</a:t>
            </a:r>
            <a:r>
              <a:rPr lang="fr-FR" altLang="fr-FR" sz="1800" dirty="0">
                <a:latin typeface="+mj-lt"/>
              </a:rPr>
              <a:t> AI use</a:t>
            </a:r>
            <a:endParaRPr lang="fr-FR" altLang="fr-FR" sz="4800" dirty="0">
              <a:latin typeface="+mj-lt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fr-FR" altLang="fr-FR" dirty="0">
                <a:latin typeface="+mj-lt"/>
              </a:rPr>
              <a:t>Respect </a:t>
            </a:r>
            <a:r>
              <a:rPr lang="fr-FR" altLang="fr-FR" dirty="0" err="1">
                <a:latin typeface="+mj-lt"/>
              </a:rPr>
              <a:t>scientific</a:t>
            </a:r>
            <a:r>
              <a:rPr lang="fr-FR" altLang="fr-FR" dirty="0">
                <a:latin typeface="+mj-lt"/>
              </a:rPr>
              <a:t> </a:t>
            </a:r>
            <a:r>
              <a:rPr lang="fr-FR" altLang="fr-FR" dirty="0" err="1">
                <a:latin typeface="+mj-lt"/>
              </a:rPr>
              <a:t>ethics</a:t>
            </a:r>
            <a:r>
              <a:rPr lang="fr-FR" altLang="fr-FR" sz="1800" dirty="0">
                <a:latin typeface="+mj-lt"/>
              </a:rPr>
              <a:t> = </a:t>
            </a:r>
            <a:r>
              <a:rPr lang="fr-FR" altLang="fr-FR" sz="1800" dirty="0" err="1">
                <a:latin typeface="+mj-lt"/>
              </a:rPr>
              <a:t>critical</a:t>
            </a:r>
            <a:r>
              <a:rPr lang="fr-FR" altLang="fr-FR" sz="1800" dirty="0">
                <a:latin typeface="+mj-lt"/>
              </a:rPr>
              <a:t> </a:t>
            </a:r>
            <a:r>
              <a:rPr lang="fr-FR" altLang="fr-FR" sz="1800" dirty="0" err="1">
                <a:latin typeface="+mj-lt"/>
              </a:rPr>
              <a:t>proofreading</a:t>
            </a:r>
            <a:r>
              <a:rPr lang="fr-FR" altLang="fr-FR" sz="1800" dirty="0">
                <a:latin typeface="+mj-lt"/>
              </a:rPr>
              <a:t> to </a:t>
            </a:r>
            <a:r>
              <a:rPr lang="fr-FR" altLang="fr-FR" sz="1800" dirty="0" err="1">
                <a:latin typeface="+mj-lt"/>
              </a:rPr>
              <a:t>eliminate</a:t>
            </a:r>
            <a:r>
              <a:rPr lang="fr-FR" altLang="fr-FR" sz="1800" dirty="0">
                <a:latin typeface="+mj-lt"/>
              </a:rPr>
              <a:t> biais, hallucinations</a:t>
            </a:r>
          </a:p>
          <a:p>
            <a:pPr marL="914400" lvl="1" indent="-457200">
              <a:buFont typeface="+mj-lt"/>
              <a:buAutoNum type="arabicPeriod"/>
            </a:pPr>
            <a:r>
              <a:rPr lang="fr-FR" dirty="0" err="1">
                <a:latin typeface="+mj-lt"/>
              </a:rPr>
              <a:t>Minimize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environmental</a:t>
            </a:r>
            <a:r>
              <a:rPr lang="fr-FR" dirty="0">
                <a:latin typeface="+mj-lt"/>
              </a:rPr>
              <a:t> impact </a:t>
            </a:r>
            <a:r>
              <a:rPr lang="fr-FR" sz="1800" dirty="0">
                <a:latin typeface="+mj-lt"/>
              </a:rPr>
              <a:t>= use of frugal AI model, use </a:t>
            </a:r>
            <a:r>
              <a:rPr lang="fr-FR" sz="1800" dirty="0" err="1">
                <a:latin typeface="+mj-lt"/>
              </a:rPr>
              <a:t>only</a:t>
            </a:r>
            <a:r>
              <a:rPr lang="fr-FR" sz="1800" dirty="0">
                <a:latin typeface="+mj-lt"/>
              </a:rPr>
              <a:t> </a:t>
            </a:r>
            <a:r>
              <a:rPr lang="fr-FR" sz="1800" dirty="0" err="1">
                <a:latin typeface="+mj-lt"/>
              </a:rPr>
              <a:t>when</a:t>
            </a:r>
            <a:r>
              <a:rPr lang="fr-FR" sz="1800" dirty="0">
                <a:latin typeface="+mj-lt"/>
              </a:rPr>
              <a:t> an </a:t>
            </a:r>
            <a:r>
              <a:rPr lang="fr-FR" sz="1800" dirty="0" err="1">
                <a:latin typeface="+mj-lt"/>
              </a:rPr>
              <a:t>added</a:t>
            </a:r>
            <a:r>
              <a:rPr lang="fr-FR" sz="1800" dirty="0">
                <a:latin typeface="+mj-lt"/>
              </a:rPr>
              <a:t> value </a:t>
            </a:r>
            <a:r>
              <a:rPr lang="fr-FR" sz="1800" dirty="0" err="1">
                <a:latin typeface="+mj-lt"/>
              </a:rPr>
              <a:t>is</a:t>
            </a:r>
            <a:r>
              <a:rPr lang="fr-FR" sz="1800" dirty="0">
                <a:latin typeface="+mj-lt"/>
              </a:rPr>
              <a:t> </a:t>
            </a:r>
            <a:r>
              <a:rPr lang="fr-FR" sz="1800" dirty="0" err="1">
                <a:latin typeface="+mj-lt"/>
              </a:rPr>
              <a:t>proven</a:t>
            </a:r>
            <a:endParaRPr lang="fr-FR" sz="1800" dirty="0">
              <a:latin typeface="+mj-lt"/>
            </a:endParaRP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260" y="4866861"/>
            <a:ext cx="8355027" cy="1685925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1689652" y="4497529"/>
            <a:ext cx="2060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u="sng" dirty="0" err="1"/>
              <a:t>Existing</a:t>
            </a:r>
            <a:r>
              <a:rPr lang="fr-FR" sz="2400" u="sng" dirty="0"/>
              <a:t> logos :</a:t>
            </a:r>
          </a:p>
        </p:txBody>
      </p:sp>
    </p:spTree>
    <p:extLst>
      <p:ext uri="{BB962C8B-B14F-4D97-AF65-F5344CB8AC3E}">
        <p14:creationId xmlns:p14="http://schemas.microsoft.com/office/powerpoint/2010/main" val="34772132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Internal</a:t>
            </a:r>
            <a:r>
              <a:rPr lang="fr-FR" b="1" dirty="0"/>
              <a:t> </a:t>
            </a:r>
            <a:r>
              <a:rPr lang="fr-FR" b="1" dirty="0" err="1"/>
              <a:t>tools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550126"/>
            <a:ext cx="10515600" cy="4963885"/>
          </a:xfrm>
        </p:spPr>
        <p:txBody>
          <a:bodyPr>
            <a:normAutofit/>
          </a:bodyPr>
          <a:lstStyle/>
          <a:p>
            <a:r>
              <a:rPr lang="fr-FR" dirty="0"/>
              <a:t>CNRS : Emmy (Mistral)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launched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16/12/2025 </a:t>
            </a:r>
          </a:p>
          <a:p>
            <a:pPr marL="177800" indent="0">
              <a:buNone/>
            </a:pPr>
            <a:r>
              <a:rPr lang="fr-FR" i="1" dirty="0"/>
              <a:t>restriction of use : </a:t>
            </a:r>
            <a:r>
              <a:rPr lang="fr-FR" i="1" dirty="0" err="1"/>
              <a:t>need</a:t>
            </a:r>
            <a:r>
              <a:rPr lang="fr-FR" i="1" dirty="0"/>
              <a:t> </a:t>
            </a:r>
            <a:r>
              <a:rPr lang="fr-FR" i="1" dirty="0" err="1"/>
              <a:t>cnrs</a:t>
            </a:r>
            <a:r>
              <a:rPr lang="fr-FR" i="1" dirty="0"/>
              <a:t> mail </a:t>
            </a:r>
            <a:r>
              <a:rPr lang="fr-FR" i="1" dirty="0" err="1"/>
              <a:t>address</a:t>
            </a:r>
            <a:endParaRPr lang="fr-FR" i="1" dirty="0"/>
          </a:p>
          <a:p>
            <a:pPr marL="0" indent="0">
              <a:buNone/>
            </a:pPr>
            <a:endParaRPr lang="fr-FR" i="1" dirty="0"/>
          </a:p>
          <a:p>
            <a:r>
              <a:rPr lang="fr-FR" dirty="0" err="1"/>
              <a:t>University</a:t>
            </a:r>
            <a:r>
              <a:rPr lang="fr-FR" dirty="0"/>
              <a:t> of Strasbourg IA </a:t>
            </a:r>
            <a:r>
              <a:rPr lang="fr-FR" dirty="0" err="1"/>
              <a:t>tool</a:t>
            </a:r>
            <a:r>
              <a:rPr lang="fr-FR" dirty="0"/>
              <a:t> </a:t>
            </a:r>
            <a:r>
              <a:rPr lang="fr-FR" dirty="0" err="1"/>
              <a:t>testing</a:t>
            </a:r>
            <a:r>
              <a:rPr lang="fr-FR" dirty="0"/>
              <a:t> phase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since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december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2025 </a:t>
            </a:r>
            <a:r>
              <a:rPr lang="fr-FR" i="1" dirty="0"/>
              <a:t>restriction of use : </a:t>
            </a:r>
            <a:r>
              <a:rPr lang="fr-FR" i="1" dirty="0" err="1"/>
              <a:t>need</a:t>
            </a:r>
            <a:r>
              <a:rPr lang="fr-FR" i="1" dirty="0"/>
              <a:t> to </a:t>
            </a:r>
            <a:r>
              <a:rPr lang="fr-FR" i="1" dirty="0" err="1"/>
              <a:t>be</a:t>
            </a:r>
            <a:r>
              <a:rPr lang="fr-FR" i="1" dirty="0"/>
              <a:t> a </a:t>
            </a:r>
            <a:r>
              <a:rPr lang="fr-FR" i="1" dirty="0" err="1"/>
              <a:t>beta-tester</a:t>
            </a:r>
            <a:endParaRPr lang="fr-FR" i="1" dirty="0"/>
          </a:p>
          <a:p>
            <a:endParaRPr lang="fr-FR" dirty="0"/>
          </a:p>
          <a:p>
            <a:r>
              <a:rPr lang="fr-FR" dirty="0"/>
              <a:t>TDM </a:t>
            </a:r>
            <a:r>
              <a:rPr lang="fr-FR" dirty="0" err="1"/>
              <a:t>Factory</a:t>
            </a:r>
            <a:r>
              <a:rPr lang="fr-FR" dirty="0"/>
              <a:t> (</a:t>
            </a:r>
            <a:r>
              <a:rPr lang="fr-FR" dirty="0" err="1"/>
              <a:t>Text</a:t>
            </a:r>
            <a:r>
              <a:rPr lang="fr-FR" dirty="0"/>
              <a:t> Data Mining)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launched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in </a:t>
            </a:r>
            <a:r>
              <a:rPr lang="fr-FR" dirty="0" err="1">
                <a:solidFill>
                  <a:schemeClr val="bg1">
                    <a:lumMod val="50000"/>
                  </a:schemeClr>
                </a:solidFill>
              </a:rPr>
              <a:t>October</a:t>
            </a:r>
            <a:r>
              <a:rPr lang="fr-FR" dirty="0">
                <a:solidFill>
                  <a:schemeClr val="bg1">
                    <a:lumMod val="50000"/>
                  </a:schemeClr>
                </a:solidFill>
              </a:rPr>
              <a:t> 2025 </a:t>
            </a:r>
            <a:r>
              <a:rPr lang="fr-FR" dirty="0"/>
              <a:t>by CNRS &amp; INRAE : </a:t>
            </a:r>
            <a:r>
              <a:rPr lang="fr-FR" dirty="0" err="1"/>
              <a:t>specific</a:t>
            </a:r>
            <a:r>
              <a:rPr lang="fr-FR" dirty="0"/>
              <a:t> </a:t>
            </a:r>
            <a:r>
              <a:rPr lang="fr-FR" dirty="0" err="1"/>
              <a:t>tools</a:t>
            </a:r>
            <a:r>
              <a:rPr lang="fr-FR" dirty="0"/>
              <a:t> </a:t>
            </a:r>
            <a:r>
              <a:rPr lang="fr-FR" dirty="0" err="1"/>
              <a:t>dedicated</a:t>
            </a:r>
            <a:r>
              <a:rPr lang="fr-FR" dirty="0"/>
              <a:t> to </a:t>
            </a:r>
            <a:r>
              <a:rPr lang="fr-FR" dirty="0" err="1"/>
              <a:t>bibliographic</a:t>
            </a:r>
            <a:r>
              <a:rPr lang="fr-FR" dirty="0"/>
              <a:t> </a:t>
            </a:r>
            <a:r>
              <a:rPr lang="fr-FR" dirty="0" err="1"/>
              <a:t>search</a:t>
            </a:r>
            <a:r>
              <a:rPr lang="fr-FR" dirty="0"/>
              <a:t> 2.0 </a:t>
            </a:r>
          </a:p>
          <a:p>
            <a:pPr marL="273050" indent="0">
              <a:buNone/>
            </a:pPr>
            <a:r>
              <a:rPr lang="fr-FR" i="1" dirty="0"/>
              <a:t>no restriction of use </a:t>
            </a:r>
          </a:p>
          <a:p>
            <a:endParaRPr lang="fr-FR" dirty="0"/>
          </a:p>
          <a:p>
            <a:endParaRPr lang="fr-FR" dirty="0">
              <a:solidFill>
                <a:schemeClr val="bg1">
                  <a:lumMod val="50000"/>
                </a:schemeClr>
              </a:solidFill>
            </a:endParaRPr>
          </a:p>
          <a:p>
            <a:endParaRPr lang="fr-FR" dirty="0"/>
          </a:p>
          <a:p>
            <a:endParaRPr lang="fr-FR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009254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Emmy</a:t>
            </a:r>
            <a:r>
              <a:rPr lang="fr-FR" dirty="0"/>
              <a:t> </a:t>
            </a:r>
            <a:r>
              <a:rPr lang="fr-FR" sz="2000" dirty="0">
                <a:hlinkClick r:id="rId2"/>
              </a:rPr>
              <a:t>https://emmy.cnrs.fr/</a:t>
            </a:r>
            <a:r>
              <a:rPr lang="fr-FR" sz="2000" dirty="0"/>
              <a:t>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06632" y="1825625"/>
            <a:ext cx="957873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077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Test IA </a:t>
            </a:r>
            <a:r>
              <a:rPr lang="fr-FR" b="1" dirty="0" err="1"/>
              <a:t>Unistra</a:t>
            </a:r>
            <a:endParaRPr lang="fr-FR" b="1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0501" r="53135" b="54429"/>
          <a:stretch/>
        </p:blipFill>
        <p:spPr>
          <a:xfrm>
            <a:off x="234885" y="1690688"/>
            <a:ext cx="4051927" cy="1403016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679445" y="3472445"/>
            <a:ext cx="1104398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/>
              <a:t>3 chat </a:t>
            </a:r>
            <a:r>
              <a:rPr lang="fr-FR" sz="2800" dirty="0" err="1"/>
              <a:t>models</a:t>
            </a:r>
            <a:r>
              <a:rPr lang="fr-FR" sz="2800" dirty="0"/>
              <a:t> </a:t>
            </a:r>
            <a:r>
              <a:rPr lang="fr-FR" sz="2800" dirty="0" err="1"/>
              <a:t>deployed</a:t>
            </a:r>
            <a:r>
              <a:rPr lang="fr-FR" sz="2800" dirty="0"/>
              <a:t> </a:t>
            </a:r>
            <a:r>
              <a:rPr lang="fr-FR" sz="2800" dirty="0" err="1"/>
              <a:t>locally</a:t>
            </a:r>
            <a:endParaRPr lang="fr-FR" sz="2800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 err="1"/>
              <a:t>Same</a:t>
            </a:r>
            <a:r>
              <a:rPr lang="fr-FR" sz="2800" dirty="0"/>
              <a:t> applications as Emmy are possible </a:t>
            </a:r>
            <a:r>
              <a:rPr lang="fr-FR" sz="2800" dirty="0" err="1"/>
              <a:t>using</a:t>
            </a:r>
            <a:r>
              <a:rPr lang="fr-FR" sz="2800" dirty="0"/>
              <a:t> the </a:t>
            </a:r>
            <a:r>
              <a:rPr lang="fr-FR" sz="2800" dirty="0" err="1"/>
              <a:t>chatbot</a:t>
            </a:r>
            <a:r>
              <a:rPr lang="fr-FR" sz="2800" dirty="0"/>
              <a:t> </a:t>
            </a:r>
            <a:r>
              <a:rPr lang="fr-FR" sz="2400" dirty="0"/>
              <a:t>(Vision in Mistral </a:t>
            </a:r>
            <a:r>
              <a:rPr lang="fr-FR" sz="2400" dirty="0" err="1"/>
              <a:t>only</a:t>
            </a:r>
            <a:r>
              <a:rPr lang="fr-FR" sz="2400" dirty="0"/>
              <a:t>, </a:t>
            </a:r>
            <a:r>
              <a:rPr lang="fr-FR" sz="2400" dirty="0" err="1"/>
              <a:t>Qwen</a:t>
            </a:r>
            <a:r>
              <a:rPr lang="fr-FR" sz="2400" dirty="0"/>
              <a:t> </a:t>
            </a:r>
            <a:r>
              <a:rPr lang="fr-FR" sz="2400" dirty="0" err="1"/>
              <a:t>recommended</a:t>
            </a:r>
            <a:r>
              <a:rPr lang="fr-FR" sz="2400" dirty="0"/>
              <a:t> for </a:t>
            </a:r>
            <a:r>
              <a:rPr lang="fr-FR" sz="2400" dirty="0" err="1"/>
              <a:t>reasoning</a:t>
            </a:r>
            <a:r>
              <a:rPr lang="fr-FR" sz="2400" dirty="0"/>
              <a:t>)</a:t>
            </a:r>
            <a:endParaRPr lang="fr-FR" sz="2800" dirty="0"/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fr-FR" sz="2800" dirty="0" err="1"/>
              <a:t>Additionnal</a:t>
            </a:r>
            <a:r>
              <a:rPr lang="fr-FR" sz="2800" dirty="0"/>
              <a:t> </a:t>
            </a:r>
            <a:r>
              <a:rPr lang="fr-FR" sz="2800" dirty="0" err="1"/>
              <a:t>functions</a:t>
            </a:r>
            <a:r>
              <a:rPr lang="fr-FR" sz="2800" dirty="0"/>
              <a:t> </a:t>
            </a:r>
            <a:r>
              <a:rPr lang="fr-FR" sz="2800" dirty="0" err="1"/>
              <a:t>compared</a:t>
            </a:r>
            <a:r>
              <a:rPr lang="fr-FR" sz="2800" dirty="0"/>
              <a:t> to Emmy : vocal </a:t>
            </a:r>
            <a:r>
              <a:rPr lang="fr-FR" sz="2800" dirty="0" err="1"/>
              <a:t>synthesis</a:t>
            </a:r>
            <a:r>
              <a:rPr lang="fr-FR" sz="2800" dirty="0"/>
              <a:t> and an a</a:t>
            </a:r>
            <a:r>
              <a:rPr lang="fr-FR" altLang="fr-FR" sz="2800" dirty="0"/>
              <a:t>udio transcription </a:t>
            </a:r>
            <a:r>
              <a:rPr lang="fr-FR" altLang="fr-FR" sz="2400" dirty="0"/>
              <a:t>(</a:t>
            </a:r>
            <a:r>
              <a:rPr lang="fr-FR" altLang="fr-FR" sz="2400" dirty="0" err="1"/>
              <a:t>Subtitling</a:t>
            </a:r>
            <a:r>
              <a:rPr lang="fr-FR" altLang="fr-FR" sz="2400" dirty="0"/>
              <a:t>, </a:t>
            </a:r>
            <a:r>
              <a:rPr lang="fr-FR" altLang="fr-FR" sz="2400" dirty="0" err="1"/>
              <a:t>creating</a:t>
            </a:r>
            <a:r>
              <a:rPr lang="fr-FR" altLang="fr-FR" sz="2400" dirty="0"/>
              <a:t> </a:t>
            </a:r>
            <a:r>
              <a:rPr lang="fr-FR" sz="2400" dirty="0"/>
              <a:t>meeting minutes </a:t>
            </a:r>
            <a:r>
              <a:rPr lang="fr-FR" sz="2400" dirty="0" err="1"/>
              <a:t>with</a:t>
            </a:r>
            <a:r>
              <a:rPr lang="fr-FR" sz="2400" dirty="0"/>
              <a:t> vocal recognition option)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119" y="195777"/>
            <a:ext cx="7449996" cy="294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05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/>
              <a:t>TDM </a:t>
            </a:r>
            <a:r>
              <a:rPr lang="fr-FR" b="1" dirty="0" err="1"/>
              <a:t>Factory</a:t>
            </a:r>
            <a:r>
              <a:rPr lang="fr-FR" b="1" dirty="0"/>
              <a:t> </a:t>
            </a:r>
            <a:r>
              <a:rPr lang="fr-FR" sz="3200" dirty="0"/>
              <a:t>https://tdm-factory.services.istex.fr/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8144" y="1854461"/>
            <a:ext cx="7735712" cy="4351338"/>
          </a:xfrm>
          <a:prstGeom prst="rect">
            <a:avLst/>
          </a:prstGeom>
        </p:spPr>
      </p:pic>
      <p:sp>
        <p:nvSpPr>
          <p:cNvPr id="5" name="Flèche vers le bas 4"/>
          <p:cNvSpPr/>
          <p:nvPr/>
        </p:nvSpPr>
        <p:spPr>
          <a:xfrm rot="5400000">
            <a:off x="9662613" y="3847905"/>
            <a:ext cx="218366" cy="1037230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 vers le bas 6"/>
          <p:cNvSpPr/>
          <p:nvPr/>
        </p:nvSpPr>
        <p:spPr>
          <a:xfrm rot="5400000">
            <a:off x="9662612" y="4352871"/>
            <a:ext cx="218367" cy="1037230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 vers le bas 7"/>
          <p:cNvSpPr/>
          <p:nvPr/>
        </p:nvSpPr>
        <p:spPr>
          <a:xfrm rot="5400000">
            <a:off x="9662612" y="4596992"/>
            <a:ext cx="218367" cy="1037230"/>
          </a:xfrm>
          <a:prstGeom prst="downArrow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5836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230" y="322547"/>
            <a:ext cx="11154778" cy="6228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294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543" y="365125"/>
            <a:ext cx="11131609" cy="6226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86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To </a:t>
            </a:r>
            <a:r>
              <a:rPr lang="fr-FR" dirty="0" err="1"/>
              <a:t>resume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Beware</a:t>
            </a:r>
            <a:r>
              <a:rPr lang="fr-FR" dirty="0"/>
              <a:t> of the data </a:t>
            </a:r>
            <a:r>
              <a:rPr lang="fr-FR" dirty="0" err="1"/>
              <a:t>criticity</a:t>
            </a:r>
            <a:r>
              <a:rPr lang="fr-FR" dirty="0"/>
              <a:t> </a:t>
            </a:r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external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fr-FR" dirty="0"/>
          </a:p>
          <a:p>
            <a:r>
              <a:rPr lang="fr-FR" dirty="0"/>
              <a:t>Do not </a:t>
            </a:r>
            <a:r>
              <a:rPr lang="fr-FR" dirty="0" err="1"/>
              <a:t>hesitate</a:t>
            </a:r>
            <a:r>
              <a:rPr lang="fr-FR" dirty="0"/>
              <a:t> to </a:t>
            </a:r>
            <a:r>
              <a:rPr lang="fr-FR" dirty="0" err="1"/>
              <a:t>try</a:t>
            </a:r>
            <a:r>
              <a:rPr lang="fr-FR" dirty="0"/>
              <a:t> </a:t>
            </a:r>
            <a:r>
              <a:rPr lang="fr-FR" dirty="0" err="1"/>
              <a:t>several</a:t>
            </a:r>
            <a:r>
              <a:rPr lang="fr-FR" dirty="0"/>
              <a:t> </a:t>
            </a:r>
            <a:r>
              <a:rPr lang="fr-FR" dirty="0" err="1"/>
              <a:t>tools</a:t>
            </a:r>
            <a:endParaRPr lang="fr-FR" dirty="0"/>
          </a:p>
          <a:p>
            <a:r>
              <a:rPr lang="fr-FR" dirty="0"/>
              <a:t>Be </a:t>
            </a:r>
            <a:r>
              <a:rPr lang="fr-FR" dirty="0" err="1"/>
              <a:t>critical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the AI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results</a:t>
            </a:r>
            <a:endParaRPr lang="fr-FR" dirty="0"/>
          </a:p>
          <a:p>
            <a:r>
              <a:rPr lang="fr-FR" dirty="0"/>
              <a:t>IA </a:t>
            </a:r>
            <a:r>
              <a:rPr lang="fr-FR" dirty="0" err="1"/>
              <a:t>does</a:t>
            </a:r>
            <a:r>
              <a:rPr lang="fr-FR" dirty="0"/>
              <a:t> max 80% of the job, the last 20% are up to the </a:t>
            </a:r>
            <a:r>
              <a:rPr lang="fr-FR" dirty="0" err="1"/>
              <a:t>human</a:t>
            </a:r>
            <a:endParaRPr lang="fr-FR" dirty="0"/>
          </a:p>
          <a:p>
            <a:endParaRPr lang="fr-FR" dirty="0"/>
          </a:p>
          <a:p>
            <a:r>
              <a:rPr lang="fr-FR" dirty="0"/>
              <a:t>Do not </a:t>
            </a:r>
            <a:r>
              <a:rPr lang="fr-FR" dirty="0" err="1"/>
              <a:t>hesitate</a:t>
            </a:r>
            <a:r>
              <a:rPr lang="fr-FR" dirty="0"/>
              <a:t> to use AI for new applications and to </a:t>
            </a:r>
            <a:r>
              <a:rPr lang="fr-FR" dirty="0" err="1"/>
              <a:t>share</a:t>
            </a:r>
            <a:r>
              <a:rPr lang="fr-FR" dirty="0"/>
              <a:t> </a:t>
            </a:r>
            <a:r>
              <a:rPr lang="fr-FR" dirty="0" err="1"/>
              <a:t>it</a:t>
            </a:r>
            <a:r>
              <a:rPr lang="fr-FR" dirty="0"/>
              <a:t> </a:t>
            </a:r>
          </a:p>
          <a:p>
            <a:r>
              <a:rPr lang="fr-FR" dirty="0"/>
              <a:t>IA-Club?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08039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err="1"/>
              <a:t>Tutorship</a:t>
            </a:r>
            <a:r>
              <a:rPr lang="fr-FR" b="1" dirty="0"/>
              <a:t> ressources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8200" y="1550126"/>
            <a:ext cx="10515600" cy="4963885"/>
          </a:xfrm>
        </p:spPr>
        <p:txBody>
          <a:bodyPr>
            <a:normAutofit fontScale="92500" lnSpcReduction="10000"/>
          </a:bodyPr>
          <a:lstStyle/>
          <a:p>
            <a:r>
              <a:rPr lang="fr-FR" dirty="0"/>
              <a:t>CNRS : </a:t>
            </a:r>
            <a:r>
              <a:rPr lang="fr-FR" dirty="0">
                <a:hlinkClick r:id="rId3"/>
              </a:rPr>
              <a:t>www.fidle.cnrs.fr</a:t>
            </a:r>
            <a:r>
              <a:rPr lang="fr-FR" dirty="0"/>
              <a:t> </a:t>
            </a:r>
            <a:endParaRPr lang="fr-FR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fr-FR" dirty="0" err="1"/>
              <a:t>Unistra</a:t>
            </a:r>
            <a:r>
              <a:rPr lang="fr-FR" dirty="0"/>
              <a:t> </a:t>
            </a:r>
            <a:r>
              <a:rPr lang="fr-FR" dirty="0" err="1"/>
              <a:t>Pod</a:t>
            </a:r>
            <a:r>
              <a:rPr lang="fr-FR" dirty="0"/>
              <a:t> : </a:t>
            </a:r>
            <a:r>
              <a:rPr lang="fr-FR" dirty="0">
                <a:hlinkClick r:id="rId4"/>
              </a:rPr>
              <a:t>https://podv2.unistra.fr/</a:t>
            </a:r>
            <a:r>
              <a:rPr lang="fr-FR" dirty="0"/>
              <a:t>  </a:t>
            </a:r>
          </a:p>
          <a:p>
            <a:pPr marL="0" indent="0">
              <a:buNone/>
            </a:pPr>
            <a:endParaRPr lang="fr-FR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altLang="fr-FR" dirty="0" err="1"/>
              <a:t>Two</a:t>
            </a:r>
            <a:r>
              <a:rPr lang="fr-FR" altLang="fr-FR" dirty="0"/>
              <a:t> formations </a:t>
            </a:r>
            <a:r>
              <a:rPr lang="fr-FR" altLang="fr-FR" dirty="0" err="1"/>
              <a:t>available</a:t>
            </a:r>
            <a:r>
              <a:rPr lang="fr-FR" altLang="fr-FR" dirty="0"/>
              <a:t> on mentor.gouv.fr :</a:t>
            </a:r>
            <a:endParaRPr lang="fr-FR" altLang="fr-FR" dirty="0">
              <a:hlinkClick r:id="rId5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hlinkClick r:id="rId5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hlinkClick r:id="rId5"/>
              </a:rPr>
              <a:t>Découvrir les IA génératives</a:t>
            </a:r>
            <a:r>
              <a:rPr lang="fr-FR" altLang="fr-FR" dirty="0"/>
              <a:t> (1h), les bases des informations nécessaires pour utiliser une IA générative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hlinkClick r:id="rId6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hlinkClick r:id="rId6"/>
              </a:rPr>
              <a:t>Objectif IA : Initiez-vous à l’intelligence artificielle</a:t>
            </a:r>
            <a:r>
              <a:rPr lang="fr-FR" altLang="fr-FR" dirty="0"/>
              <a:t> (6h) pour le grand public sans aucun prérequis en informatique ou mathématiques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But french </a:t>
            </a:r>
            <a:r>
              <a:rPr lang="fr-FR" dirty="0" err="1"/>
              <a:t>speaking</a:t>
            </a: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  <a:p>
            <a:pPr marL="0" indent="0">
              <a:buNone/>
            </a:pP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03903999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10398</TotalTime>
  <Words>1003</Words>
  <Application>Microsoft Office PowerPoint</Application>
  <PresentationFormat>Grand écran</PresentationFormat>
  <Paragraphs>145</Paragraphs>
  <Slides>30</Slides>
  <Notes>1</Notes>
  <HiddenSlides>0</HiddenSlides>
  <MMClips>1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Calibri Light</vt:lpstr>
      <vt:lpstr>Thème Office</vt:lpstr>
      <vt:lpstr>Présentation PowerPoint</vt:lpstr>
      <vt:lpstr>Seminar AI</vt:lpstr>
      <vt:lpstr>ChatGPT monthly users</vt:lpstr>
      <vt:lpstr>Présentation PowerPoint</vt:lpstr>
      <vt:lpstr>Why ChatGPT has exploded? </vt:lpstr>
      <vt:lpstr>Why ChatGPT has exploded? </vt:lpstr>
      <vt:lpstr>Why ChatGPT has exploded? Algorithm </vt:lpstr>
      <vt:lpstr>Transformers</vt:lpstr>
      <vt:lpstr>Limitations</vt:lpstr>
      <vt:lpstr>Limitations</vt:lpstr>
      <vt:lpstr>Présentation PowerPoint</vt:lpstr>
      <vt:lpstr>Présentation PowerPoint</vt:lpstr>
      <vt:lpstr>Présentation PowerPoint</vt:lpstr>
      <vt:lpstr>Présentation PowerPoint</vt:lpstr>
      <vt:lpstr>Benchmark</vt:lpstr>
      <vt:lpstr>Open scholar https://theopenscholar.com/ </vt:lpstr>
      <vt:lpstr>NotebookLM  https://notebooklm.google/ </vt:lpstr>
      <vt:lpstr>Perplexity https://www.perplexity.ai/ </vt:lpstr>
      <vt:lpstr>Agentic AI</vt:lpstr>
      <vt:lpstr>Prompt engineering </vt:lpstr>
      <vt:lpstr>Tutorship guidelines</vt:lpstr>
      <vt:lpstr>Guidelines Unistra : prior reflection, transparency and responsibility </vt:lpstr>
      <vt:lpstr>Internal tools</vt:lpstr>
      <vt:lpstr>Emmy https://emmy.cnrs.fr/ </vt:lpstr>
      <vt:lpstr>Test IA Unistra</vt:lpstr>
      <vt:lpstr>TDM Factory https://tdm-factory.services.istex.fr/</vt:lpstr>
      <vt:lpstr>Présentation PowerPoint</vt:lpstr>
      <vt:lpstr>Présentation PowerPoint</vt:lpstr>
      <vt:lpstr>To resume</vt:lpstr>
      <vt:lpstr>Tutorship ressources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 IA</dc:title>
  <dc:creator>Magali Rompais</dc:creator>
  <cp:lastModifiedBy>Arnaud Jung</cp:lastModifiedBy>
  <cp:revision>109</cp:revision>
  <dcterms:created xsi:type="dcterms:W3CDTF">2025-12-08T13:23:44Z</dcterms:created>
  <dcterms:modified xsi:type="dcterms:W3CDTF">2026-10-30T13:44:17Z</dcterms:modified>
</cp:coreProperties>
</file>