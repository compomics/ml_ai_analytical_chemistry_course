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2.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3.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4.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5.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a3ab827237234401" /><Relationship Type="http://schemas.openxmlformats.org/officeDocument/2006/relationships/extended-properties" Target="/docProps/app.xml" Id="R4d1fd09496ae4b23" /><Relationship Type="http://schemas.openxmlformats.org/officeDocument/2006/relationships/officeDocument" Target="/ppt/presentation.xml" Id="Re5532ad5a46948c3" /></Relationships>
</file>

<file path=ppt/presentation.xml><?xml version="1.0" encoding="utf-8"?>
<p:presentation xmlns:p="http://schemas.openxmlformats.org/presentationml/2006/main">
  <p:sldMasterIdLst>
    <p:sldMasterId xmlns:r="http://schemas.openxmlformats.org/officeDocument/2006/relationships" id="2147483648" r:id="R9ed4427692834d14"/>
  </p:sldMasterIdLst>
  <p:notesMasterIdLst>
    <p:notesMasterId xmlns:r="http://schemas.openxmlformats.org/officeDocument/2006/relationships" r:id="R59dc11f40fb842fd"/>
  </p:notesMasterIdLst>
  <p:sldIdLst>
    <p:sldId xmlns:r="http://schemas.openxmlformats.org/officeDocument/2006/relationships" id="256" r:id="Rb5fdb90aa6214b08"/>
    <p:sldId xmlns:r="http://schemas.openxmlformats.org/officeDocument/2006/relationships" id="257" r:id="R0a167d7e3c274031"/>
    <p:sldId xmlns:r="http://schemas.openxmlformats.org/officeDocument/2006/relationships" id="258" r:id="R36288435ad704f31"/>
    <p:sldId xmlns:r="http://schemas.openxmlformats.org/officeDocument/2006/relationships" id="259" r:id="Ra0b70f2889de4207"/>
    <p:sldId xmlns:r="http://schemas.openxmlformats.org/officeDocument/2006/relationships" id="260" r:id="R967c8c8485124a79"/>
    <p:sldId xmlns:r="http://schemas.openxmlformats.org/officeDocument/2006/relationships" id="261" r:id="Red97ebc7fdee4269"/>
    <p:sldId xmlns:r="http://schemas.openxmlformats.org/officeDocument/2006/relationships" id="262" r:id="R34323ae628ce4200"/>
    <p:sldId xmlns:r="http://schemas.openxmlformats.org/officeDocument/2006/relationships" id="263" r:id="R7f8231ba5faf424f"/>
    <p:sldId xmlns:r="http://schemas.openxmlformats.org/officeDocument/2006/relationships" id="264" r:id="R127f91522e5e42f8"/>
    <p:sldId xmlns:r="http://schemas.openxmlformats.org/officeDocument/2006/relationships" id="265" r:id="Ref70d567946f4f5b"/>
    <p:sldId xmlns:r="http://schemas.openxmlformats.org/officeDocument/2006/relationships" id="266" r:id="R68a8b298be4d4230"/>
  </p:sldIdLst>
  <p:sldSz cx="9144000" cy="5143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fa5e8d4cbe349f2" /><Relationship Type="http://schemas.openxmlformats.org/officeDocument/2006/relationships/slideMaster" Target="/ppt/slideMasters/slideMaster1.xml" Id="R9ed4427692834d14" /><Relationship Type="http://schemas.openxmlformats.org/officeDocument/2006/relationships/notesMaster" Target="/ppt/notesMasters/notesMaster1.xml" Id="R59dc11f40fb842fd" /><Relationship Type="http://schemas.openxmlformats.org/officeDocument/2006/relationships/presProps" Target="/ppt/presProps.xml" Id="R4b599594a6cd4607" /><Relationship Type="http://schemas.openxmlformats.org/officeDocument/2006/relationships/tableStyles" Target="/ppt/tableStyles.xml" Id="Rf7e8a7a5d72548f4" /><Relationship Type="http://schemas.openxmlformats.org/officeDocument/2006/relationships/slide" Target="/ppt/slides/slide1.xml" Id="Rb5fdb90aa6214b08" /><Relationship Type="http://schemas.openxmlformats.org/officeDocument/2006/relationships/slide" Target="/ppt/slides/slide2.xml" Id="R0a167d7e3c274031" /><Relationship Type="http://schemas.openxmlformats.org/officeDocument/2006/relationships/slide" Target="/ppt/slides/slide3.xml" Id="R36288435ad704f31" /><Relationship Type="http://schemas.openxmlformats.org/officeDocument/2006/relationships/slide" Target="/ppt/slides/slide4.xml" Id="Ra0b70f2889de4207" /><Relationship Type="http://schemas.openxmlformats.org/officeDocument/2006/relationships/slide" Target="/ppt/slides/slide5.xml" Id="R967c8c8485124a79" /><Relationship Type="http://schemas.openxmlformats.org/officeDocument/2006/relationships/slide" Target="/ppt/slides/slide6.xml" Id="Red97ebc7fdee4269" /><Relationship Type="http://schemas.openxmlformats.org/officeDocument/2006/relationships/slide" Target="/ppt/slides/slide7.xml" Id="R34323ae628ce4200" /><Relationship Type="http://schemas.openxmlformats.org/officeDocument/2006/relationships/slide" Target="/ppt/slides/slide8.xml" Id="R7f8231ba5faf424f" /><Relationship Type="http://schemas.openxmlformats.org/officeDocument/2006/relationships/slide" Target="/ppt/slides/slide9.xml" Id="R127f91522e5e42f8" /><Relationship Type="http://schemas.openxmlformats.org/officeDocument/2006/relationships/slide" Target="/ppt/slides/slide10.xml" Id="Ref70d567946f4f5b" /><Relationship Type="http://schemas.openxmlformats.org/officeDocument/2006/relationships/slide" Target="/ppt/slides/slide11.xml" Id="R68a8b298be4d423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905d712c42a433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4e31721e76d4776" /><Relationship Type="http://schemas.openxmlformats.org/officeDocument/2006/relationships/notesMaster" Target="/ppt/notesMasters/notesMaster1.xml" Id="R6f7e294de50a400e" /></Relationships>
</file>

<file path=ppt/notesSlides/_rels/notesSlide2.xml.rels>&#65279;<?xml version="1.0" encoding="utf-8"?><Relationships xmlns="http://schemas.openxmlformats.org/package/2006/relationships"><Relationship Type="http://schemas.openxmlformats.org/officeDocument/2006/relationships/slide" Target="/ppt/slides/slide2.xml" Id="Re24b708f567f48c9" /><Relationship Type="http://schemas.openxmlformats.org/officeDocument/2006/relationships/notesMaster" Target="/ppt/notesMasters/notesMaster1.xml" Id="R9d06b62ff0334c3c" /></Relationships>
</file>

<file path=ppt/notesSlides/_rels/notesSlide3.xml.rels>&#65279;<?xml version="1.0" encoding="utf-8"?><Relationships xmlns="http://schemas.openxmlformats.org/package/2006/relationships"><Relationship Type="http://schemas.openxmlformats.org/officeDocument/2006/relationships/slide" Target="/ppt/slides/slide3.xml" Id="R8935215aa2ca47fa" /><Relationship Type="http://schemas.openxmlformats.org/officeDocument/2006/relationships/notesMaster" Target="/ppt/notesMasters/notesMaster1.xml" Id="R17a46a100e9e43e7" /></Relationships>
</file>

<file path=ppt/notesSlides/_rels/notesSlide4.xml.rels>&#65279;<?xml version="1.0" encoding="utf-8"?><Relationships xmlns="http://schemas.openxmlformats.org/package/2006/relationships"><Relationship Type="http://schemas.openxmlformats.org/officeDocument/2006/relationships/slide" Target="/ppt/slides/slide4.xml" Id="Ra0ce4bfbc2a14cc4" /><Relationship Type="http://schemas.openxmlformats.org/officeDocument/2006/relationships/notesMaster" Target="/ppt/notesMasters/notesMaster1.xml" Id="R1ee47ecf30324f30" /></Relationships>
</file>

<file path=ppt/notesSlides/_rels/notesSlide5.xml.rels>&#65279;<?xml version="1.0" encoding="utf-8"?><Relationships xmlns="http://schemas.openxmlformats.org/package/2006/relationships"><Relationship Type="http://schemas.openxmlformats.org/officeDocument/2006/relationships/slide" Target="/ppt/slides/slide5.xml" Id="Rbbe2faf6b30c49b7" /><Relationship Type="http://schemas.openxmlformats.org/officeDocument/2006/relationships/notesMaster" Target="/ppt/notesMasters/notesMaster1.xml" Id="Rc4be536e3a1c4ba4" /></Relationships>
</file>

<file path=ppt/notesSlides/_rels/notesSlide6.xml.rels>&#65279;<?xml version="1.0" encoding="utf-8"?><Relationships xmlns="http://schemas.openxmlformats.org/package/2006/relationships"><Relationship Type="http://schemas.openxmlformats.org/officeDocument/2006/relationships/slide" Target="/ppt/slides/slide6.xml" Id="R95a5997e1b434aac" /><Relationship Type="http://schemas.openxmlformats.org/officeDocument/2006/relationships/notesMaster" Target="/ppt/notesMasters/notesMaster1.xml" Id="R497b808b23504fe0" /></Relationships>
</file>

<file path=ppt/notesSlides/_rels/notesSlide7.xml.rels>&#65279;<?xml version="1.0" encoding="utf-8"?><Relationships xmlns="http://schemas.openxmlformats.org/package/2006/relationships"><Relationship Type="http://schemas.openxmlformats.org/officeDocument/2006/relationships/slide" Target="/ppt/slides/slide7.xml" Id="R36c3e6a5bc1f4f5e" /><Relationship Type="http://schemas.openxmlformats.org/officeDocument/2006/relationships/notesMaster" Target="/ppt/notesMasters/notesMaster1.xml" Id="Rfb0e2c32673a4ed2" /></Relationships>
</file>

<file path=ppt/notesSlides/_rels/notesSlide8.xml.rels>&#65279;<?xml version="1.0" encoding="utf-8"?><Relationships xmlns="http://schemas.openxmlformats.org/package/2006/relationships"><Relationship Type="http://schemas.openxmlformats.org/officeDocument/2006/relationships/slide" Target="/ppt/slides/slide8.xml" Id="Rbef755231c6f4cc0" /><Relationship Type="http://schemas.openxmlformats.org/officeDocument/2006/relationships/notesMaster" Target="/ppt/notesMasters/notesMaster1.xml" Id="R0f4623592c9841ad" /></Relationships>
</file>

<file path=ppt/notesSlides/_rels/notesSlide9.xml.rels>&#65279;<?xml version="1.0" encoding="utf-8"?><Relationships xmlns="http://schemas.openxmlformats.org/package/2006/relationships"><Relationship Type="http://schemas.openxmlformats.org/officeDocument/2006/relationships/slide" Target="/ppt/slides/slide9.xml" Id="R1b4ac3d656294931" /><Relationship Type="http://schemas.openxmlformats.org/officeDocument/2006/relationships/notesMaster" Target="/ppt/notesMasters/notesMaster1.xml" Id="R4fe90ef69d8245f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b7a12281aa0433c" /><Relationship Type="http://schemas.openxmlformats.org/officeDocument/2006/relationships/notesMaster" Target="/ppt/notesMasters/notesMaster1.xml" Id="Ra533227efa834b4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848a5edde944516" /><Relationship Type="http://schemas.openxmlformats.org/officeDocument/2006/relationships/notesMaster" Target="/ppt/notesMasters/notesMaster1.xml" Id="Rced673d2a6ca42b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five concrete questions: can the model describe the training pattern, does the pattern transfer, whose samples does the dataset represent, do new samples match the conditions studied, and was the final evaluation independent? Here bias means systematic problems in sampling, measurement or targets. Statistical bias in the bias–variance discussion is a different use of the word and connects to underfitting. Poor coverage does not inevitably cause poor performance, but it limits the evidence for performance in that group. A gap alone cannot diagnose every cause. Validation-based model selection is an intended part of development. Leakage compromises data intended to provide an independent check, or introduces information unavailable under the intended prediction conditions.</a:t>
            </a:r>
          </a:p>
          <a:p xmlns:a="http://schemas.openxmlformats.org/drawingml/2006/main">
            <a:r>
              <a:t/>
            </a:r>
          </a:p>
          <a:p xmlns:a="http://schemas.openxmlformats.org/drawingml/2006/main">
            <a:r>
              <a:t>Sources</a:t>
            </a:r>
          </a:p>
          <a:p xmlns:a="http://schemas.openxmlformats.org/drawingml/2006/main">
            <a:r>
              <a:t>https://scikit-learn.org/stable/auto_examples/model_selection/plot_underfitting_overfitting.html</a:t>
            </a:r>
          </a:p>
          <a:p xmlns:a="http://schemas.openxmlformats.org/drawingml/2006/main">
            <a:r>
              <a:t>https://doi.org/10.6028/NIST.SP.1270</a:t>
            </a:r>
          </a:p>
          <a:p xmlns:a="http://schemas.openxmlformats.org/drawingml/2006/main">
            <a:r>
              <a:t>https://doi.org/10.1038/s43246-024-00731-w</a:t>
            </a:r>
          </a:p>
          <a:p xmlns:a="http://schemas.openxmlformats.org/drawingml/2006/main">
            <a:r>
              <a:t>https://doi.org/10.1016/j.patter.2023.100804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calibration data in this insert are simulated, not experimental observations. The response follows 0.1 + 1.8(1 − exp(−2c)) plus independent Gaussian noise with SD 0.035 arbitrary units. Twelve evenly spaced training standards span 0–1 mg/L. Eighty independent validation measurements span 0.015–0.985 mg/L. Random seed 42 fixes the illustration. Compare model degrees 1 and 2. Root mean squared error is a typical error magnitude, in response units, so lower is better. Degree 1: Training error 0.118</a:t>
            </a:r>
          </a:p>
          <a:p xmlns:a="http://schemas.openxmlformats.org/drawingml/2006/main">
            <a:r>
              <a:t>Validation error 0.112. Degree 2: Training error 0.039</a:t>
            </a:r>
          </a:p>
          <a:p xmlns:a="http://schemas.openxmlformats.org/drawingml/2006/main">
            <a:r>
              <a:t>Validation error 0.037. Do not interpret low training and validation performance as proof of underfitting in every study: weak features, noisy targets and measurement problems can also cause it. A real laboratory may dilute samples or use a validated narrower linear range rather than fit a curve.</a:t>
            </a:r>
          </a:p>
          <a:p xmlns:a="http://schemas.openxmlformats.org/drawingml/2006/main">
            <a:r>
              <a:t/>
            </a:r>
          </a:p>
          <a:p xmlns:a="http://schemas.openxmlformats.org/drawingml/2006/main">
            <a:r>
              <a:t>Sources</a:t>
            </a:r>
          </a:p>
          <a:p xmlns:a="http://schemas.openxmlformats.org/drawingml/2006/main">
            <a:r>
              <a:t>https://scikit-learn.org/stable/auto_examples/model_selection/plot_underfitting_overfitting.html</a:t>
            </a:r>
          </a:p>
          <a:p xmlns:a="http://schemas.openxmlformats.org/drawingml/2006/main">
            <a:r>
              <a:t>https://scikit-learn.org/stable/modules/learning_curve.html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degree-11 polynomial interpolates the twelve training observations. Its training error is approximately zero and its validation error is 0.078 response units. The degree-2 model has validation error 0.037. The very flexible model therefore predicts the independent validation observations less well despite fitting training almost perfectly. The curves use the same standards and axis meaning as the preceding slide. Underfitting and overfitting describe failure to transfer useful structure, not simply a universal threshold for model size. The known noise-free response exists only because this is a simulation.</a:t>
            </a:r>
          </a:p>
          <a:p xmlns:a="http://schemas.openxmlformats.org/drawingml/2006/main">
            <a:r>
              <a:t/>
            </a:r>
          </a:p>
          <a:p xmlns:a="http://schemas.openxmlformats.org/drawingml/2006/main">
            <a:r>
              <a:t>Sources</a:t>
            </a:r>
          </a:p>
          <a:p xmlns:a="http://schemas.openxmlformats.org/drawingml/2006/main">
            <a:r>
              <a:t>https://scikit-learn.org/stable/auto_examples/model_selection/plot_underfitting_overfitting.html</a:t>
            </a:r>
          </a:p>
          <a:p xmlns:a="http://schemas.openxmlformats.org/drawingml/2006/main">
            <a:r>
              <a:t>https://scikit-learn.org/stable/modules/learning_curve.html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curve fits each polynomial to the same twelve training standards and evaluates the same eighty independent validation measurements. It uses no practical notebook data. Degree 3 gives the lowest validation error in this particular simulation. Treat the selected setting as fixed before a new independent test. Validation performance after searching several degrees is not an unbiased final performance estimate. The slide does not show a final test score. A broad U-shape is an illustration rather than a universal law. Do not equate more complex models automatically with worse generalisation.</a:t>
            </a:r>
          </a:p>
          <a:p xmlns:a="http://schemas.openxmlformats.org/drawingml/2006/main">
            <a:r>
              <a:t/>
            </a:r>
          </a:p>
          <a:p xmlns:a="http://schemas.openxmlformats.org/drawingml/2006/main">
            <a:r>
              <a:t>Sources</a:t>
            </a:r>
          </a:p>
          <a:p xmlns:a="http://schemas.openxmlformats.org/drawingml/2006/main">
            <a:r>
              <a:t>https://scikit-learn.org/stable/modules/learning_curve.html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hypothetical analytical-chemistry scenario, not a measured result from strawberry or Tox21. Assume the training collection covers drinking water much more thoroughly than river water. Matrix-dependent interferences are a plausible concern, not an experimentally established cause in this illustration. The test example contains 855 correct drinking-water predictions and 50 correct river-water predictions, giving 905/1000 = 90.5% overall. Unequal performance alone does not identify its cause. Inspect sampling, measurement methods and target quality for each matrix, and obtain representative labelled measurements. A more complex model or class weights cannot supply missing matrix coverage. Here bias means systematic data or measurement problems, not the mathematical high-bias description of an overly restrictive model. Matrix groups are not target classes.</a:t>
            </a:r>
          </a:p>
          <a:p xmlns:a="http://schemas.openxmlformats.org/drawingml/2006/main">
            <a:r>
              <a:t/>
            </a:r>
          </a:p>
          <a:p xmlns:a="http://schemas.openxmlformats.org/drawingml/2006/main">
            <a:r>
              <a:t>Sources</a:t>
            </a:r>
          </a:p>
          <a:p xmlns:a="http://schemas.openxmlformats.org/drawingml/2006/main">
            <a:r>
              <a:t>https://doi.org/10.6028/NIST.SP.1270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plotted new sample is a hypothetical model prediction, not a measured response. The original degree-2 calibration model now extends beyond the 0–1 mg/L range used for training and validation. In this illustration concentration is the known input to a forward response model, as with calibration standards. Quantifying an unknown sample from its measured response would require the appropriate inverse calibration procedure. Out-of-distribution means a change relative to the joint conditions and examples represented during development. A fresh sample is not automatically OOD merely because it was not in training. OOD samples can also involve unfamiliar combinations while individual feature values remain inside their old ranges. A random split within the original conditions does not establish performance after a shift. Check the new conditions experimentally, dilute into a validated range when appropriate, or extend and revalidate the method. An outlier flag can request review but cannot guarantee detection of all OOD cases.</a:t>
            </a:r>
          </a:p>
          <a:p xmlns:a="http://schemas.openxmlformats.org/drawingml/2006/main">
            <a:r>
              <a:t/>
            </a:r>
          </a:p>
          <a:p xmlns:a="http://schemas.openxmlformats.org/drawingml/2006/main">
            <a:r>
              <a:t>Sources</a:t>
            </a:r>
          </a:p>
          <a:p xmlns:a="http://schemas.openxmlformats.org/drawingml/2006/main">
            <a:r>
              <a:t>https://doi.org/10.1038/s43246-024-00731-w</a:t>
            </a:r>
          </a:p>
          <a:p xmlns:a="http://schemas.openxmlformats.org/drawingml/2006/main">
            <a:r>
              <a:t>https://doi.org/10.1038/s41467-020-17112-9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hypothetical example. Train the classifier on the features and recorded targets of milk specimens A, B and C. Then ask it to predict the same feature record for B. Hiding B’s target during this prediction does not undo its earlier use in training. A correct prediction could reflect memorisation of an example and answer already seen. It does not demonstrate performance on new specimens. The model is not guaranteed to predict B correctly, but that uncertainty does not make B an independent test. Predicting training records is legitimate when checking training fit. The methodological error is reporting those predictions as an independent test or allowing training/test overlap to support a claim about new specimens. An exact copy of B under another row number remains the same example. Keep genuinely independent specimens outside model development, including learned preprocessing and model choice. Validation may legitimately guide model choice, while the final test checks the fixed workflow. The next slide makes the overlap less obvious by using another scan of the same specimen.</a:t>
            </a:r>
          </a:p>
          <a:p xmlns:a="http://schemas.openxmlformats.org/drawingml/2006/main">
            <a:r>
              <a:t/>
            </a:r>
          </a:p>
          <a:p xmlns:a="http://schemas.openxmlformats.org/drawingml/2006/main">
            <a:r>
              <a:t>Sources</a:t>
            </a:r>
          </a:p>
          <a:p xmlns:a="http://schemas.openxmlformats.org/drawingml/2006/main">
            <a:r>
              <a:t>https://scikit-learn.org/stable/modules/cross_validation.html</a:t>
            </a:r>
          </a:p>
          <a:p xmlns:a="http://schemas.openxmlformats.org/drawingml/2006/main">
            <a:r>
              <a:t>https://doi.org/10.1016/j.patter.2023.100804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hypothetical sampling example, with no claimed accuracy. The preceding slide reused the exact training example. Here the evaluation record is a different scan, but still comes from a specimen used for training. Suppose each powdered-milk specimen produces three repeat NIR spectra. The intended task is classification of genuinely new physical specimens. Splitting spectra can put near-replicates of the same specimen in both groups. Their shared composition, preparation and instrument effects can make evaluation easier than the intended task. Group all repeat measurements of a specimen together when splitting, and keep those groups together within cross-validation. If the intended claim concerns new production lots, farms or acquisition days, the grouping unit may need to be larger. Independent evaluation requires enough independent groups, not just many repeated scans. The small A–D example illustrates membership only and is not a sufficient real validation study.</a:t>
            </a:r>
          </a:p>
          <a:p xmlns:a="http://schemas.openxmlformats.org/drawingml/2006/main">
            <a:r>
              <a:t/>
            </a:r>
          </a:p>
          <a:p xmlns:a="http://schemas.openxmlformats.org/drawingml/2006/main">
            <a:r>
              <a:t>Sources</a:t>
            </a:r>
          </a:p>
          <a:p xmlns:a="http://schemas.openxmlformats.org/drawingml/2006/main">
            <a:r>
              <a:t>https://scikit-learn.org/stable/modules/cross_validation.html#cross-validation-iterators-for-grouped-data</a:t>
            </a:r>
          </a:p>
          <a:p xmlns:a="http://schemas.openxmlformats.org/drawingml/2006/main">
            <a:r>
              <a:t>https://doi.org/10.1016/j.patter.2023.100804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illustrative preprocessing choices for a spectral or chromatographic feature table. Select bands, learn scaling and estimate missing-value replacements from training data. Apply those learned rules unchanged to validation and final-test samples. When using cross-validation, repeat the learning of these steps within each training fold. Validation can compare candidate workflows. Test results must not choose among them. A fixed operation on one spectrum, such as a transformation defined in advance using that spectrum alone, does not automatically leak information. The issue is what information the transformation learns or uses. Scaling on all samples can leak feature-distribution information even without using targets. Pipelines help keep learned transformations inside the correct fitting partition.</a:t>
            </a:r>
          </a:p>
          <a:p xmlns:a="http://schemas.openxmlformats.org/drawingml/2006/main">
            <a:r>
              <a:t/>
            </a:r>
          </a:p>
          <a:p xmlns:a="http://schemas.openxmlformats.org/drawingml/2006/main">
            <a:r>
              <a:t>Sources</a:t>
            </a:r>
          </a:p>
          <a:p xmlns:a="http://schemas.openxmlformats.org/drawingml/2006/main">
            <a:r>
              <a:t>https://scikit-learn.org/stable/common_pitfalls.html#data-leakage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useful warning signs rather than definitive diagnostic tests. Check a meaningful baseline and the quality of features and targets. Leakage may produce very good reported scores without a conspicuous training–validation gap. Audit specimen identities, feature selection and preprocessing even when the scores agree. If test information influenced development, redesign the workflow and obtain an independent final check. Biased coverage and distribution shift often overlap: a matrix may be underrepresented during development and more common during deployment. They describe different aspects of the problem, so several answers can be relevant. Keep model choice within training/validation roles and reserve independent testing for the fixed choice.</a:t>
            </a:r>
          </a:p>
          <a:p xmlns:a="http://schemas.openxmlformats.org/drawingml/2006/main">
            <a:r>
              <a:t/>
            </a:r>
          </a:p>
          <a:p xmlns:a="http://schemas.openxmlformats.org/drawingml/2006/main">
            <a:r>
              <a:t>Sources</a:t>
            </a:r>
          </a:p>
          <a:p xmlns:a="http://schemas.openxmlformats.org/drawingml/2006/main">
            <a:r>
              <a:t>https://scikit-learn.org/stable/auto_examples/model_selection/plot_underfitting_overfitting.html</a:t>
            </a:r>
          </a:p>
          <a:p xmlns:a="http://schemas.openxmlformats.org/drawingml/2006/main">
            <a:r>
              <a:t>https://scikit-learn.org/stable/modules/learning_curve.html</a:t>
            </a:r>
          </a:p>
          <a:p xmlns:a="http://schemas.openxmlformats.org/drawingml/2006/main">
            <a:r>
              <a:t>https://doi.org/10.6028/NIST.SP.1270</a:t>
            </a:r>
          </a:p>
          <a:p xmlns:a="http://schemas.openxmlformats.org/drawingml/2006/main">
            <a:r>
              <a:t>https://doi.org/10.1038/s43246-024-00731-w</a:t>
            </a:r>
          </a:p>
          <a:p xmlns:a="http://schemas.openxmlformats.org/drawingml/2006/main">
            <a:r>
              <a:t>https://doi.org/10.1016/j.patter.2023.100804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discussion answers. 1: underfitting is plausible because the straight-line model cannot describe the consistent curvature. Compare a suitable curve or a narrower validated linear range. 2: overfitting. Compare training and validation errors and choose a simpler model through validation. 3: investigate bias or coverage and measurement differences across matrices. The gap alone does not prove a particular cause, and a deployment shift may overlap. Inspect per-matrix sample counts, interferences, reference measurements and errors. 4: out-of-distribution extrapolation. Obtain independent measurements at the new range or bring samples into a validated range. 5: specimen B already entered training. Its prediction measures training fit and cannot serve as an independent test of new specimens. Use specimens excluded from model development and keep all replicate scans of a specimen together. Predicting B is not itself wrong; the claim of an independent test is wrong. These cases assess interpretation rather than coding. Ask for a reason with each answer and accept well-supported overlapping failure modes.</a:t>
            </a:r>
          </a:p>
          <a:p xmlns:a="http://schemas.openxmlformats.org/drawingml/2006/main">
            <a:r>
              <a:t/>
            </a:r>
          </a:p>
          <a:p xmlns:a="http://schemas.openxmlformats.org/drawingml/2006/main">
            <a:r>
              <a:t>Sources</a:t>
            </a:r>
          </a:p>
          <a:p xmlns:a="http://schemas.openxmlformats.org/drawingml/2006/main">
            <a:r>
              <a:t>https://scikit-learn.org/stable/auto_examples/model_selection/plot_underfitting_overfitting.html</a:t>
            </a:r>
          </a:p>
          <a:p xmlns:a="http://schemas.openxmlformats.org/drawingml/2006/main">
            <a:r>
              <a:t>https://doi.org/10.6028/NIST.SP.1270</a:t>
            </a:r>
          </a:p>
          <a:p xmlns:a="http://schemas.openxmlformats.org/drawingml/2006/main">
            <a:r>
              <a:t>https://doi.org/10.1038/s43246-024-00731-w</a:t>
            </a:r>
          </a:p>
          <a:p xmlns:a="http://schemas.openxmlformats.org/drawingml/2006/main">
            <a:r>
              <a:t>https://scikit-learn.org/stable/modules/cross_validation.html</a:t>
            </a:r>
          </a:p>
          <a:p xmlns:a="http://schemas.openxmlformats.org/drawingml/2006/main">
            <a:r>
              <a:t>https://doi.org/10.1016/j.patter.2023.100804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8372a077e85437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4235e5dd4174e9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02b89ca0a074ef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c212a8e88e045f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32ca6d9aba645a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c4362da8905486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C9C06EA-26B7-4E95-BD4D-DCA227F9BC5D}"/>
              </a:ext>
            </a:extLst>
          </p:cNvPr>
          <p:cNvSpPr>
            <a:spLocks xmlns:a="http://schemas.openxmlformats.org/drawingml/2006/main" noGrp="1"/>
          </p:cNvSpPr>
          <p:nvPr>
            <p:ph type="title" idx="0"/>
          </p:nvPr>
        </p:nvSpPr>
        <p:spPr>
          <a:xfrm xmlns:a="http://schemas.openxmlformats.org/drawingml/2006/main">
            <a:off x="914400" y="1943100"/>
            <a:ext cx="7315200" cy="7429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6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6138FAC-9B38-45E0-9B56-CD312BE4DDEB}"/>
              </a:ext>
            </a:extLst>
          </p:cNvPr>
          <p:cNvSpPr>
            <a:spLocks xmlns:a="http://schemas.openxmlformats.org/drawingml/2006/main" noGrp="1"/>
          </p:cNvSpPr>
          <p:nvPr>
            <p:ph type="subTitle" idx="1"/>
          </p:nvPr>
        </p:nvSpPr>
        <p:spPr>
          <a:xfrm xmlns:a="http://schemas.openxmlformats.org/drawingml/2006/main">
            <a:off x="1371600" y="2828925"/>
            <a:ext cx="6400800" cy="571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1575"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D8BC01B-92D8-4667-AF48-D314A782C0AF}"/>
              </a:ext>
            </a:extLst>
          </p:cNvPr>
          <p:cNvSpPr>
            <a:spLocks xmlns:a="http://schemas.openxmlformats.org/drawingml/2006/main" noGrp="1"/>
          </p:cNvSpPr>
          <p:nvPr>
            <p:ph type="title" idx="0"/>
          </p:nvPr>
        </p:nvSpPr>
        <p:spPr>
          <a:xfrm xmlns:a="http://schemas.openxmlformats.org/drawingml/2006/main">
            <a:off x="914400" y="2143125"/>
            <a:ext cx="7315200" cy="857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CD4C6F8-8388-4E82-8554-F1543B5127EB}"/>
              </a:ext>
            </a:extLst>
          </p:cNvPr>
          <p:cNvSpPr>
            <a:spLocks xmlns:a="http://schemas.openxmlformats.org/drawingml/2006/main" noGrp="1"/>
          </p:cNvSpPr>
          <p:nvPr>
            <p:ph type="title" idx="0"/>
          </p:nvPr>
        </p:nvSpPr>
        <p:spPr>
          <a:xfrm xmlns:a="http://schemas.openxmlformats.org/drawingml/2006/main">
            <a:off x="514350" y="400050"/>
            <a:ext cx="8115300" cy="6286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47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68AD8F7-BD0C-47EC-A600-4FFE92894422}"/>
              </a:ext>
            </a:extLst>
          </p:cNvPr>
          <p:cNvSpPr>
            <a:spLocks xmlns:a="http://schemas.openxmlformats.org/drawingml/2006/main" noGrp="1"/>
          </p:cNvSpPr>
          <p:nvPr>
            <p:ph type="body" idx="1"/>
          </p:nvPr>
        </p:nvSpPr>
        <p:spPr>
          <a:xfrm xmlns:a="http://schemas.openxmlformats.org/drawingml/2006/main">
            <a:off x="514350" y="1428750"/>
            <a:ext cx="8115300" cy="3200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688" b="0">
                <a:solidFill>
                  <a:schemeClr val="tx1"/>
                </a:solidFill>
                <a:latin typeface="+mn-lt"/>
                <a:ea typeface="+mn-lt"/>
                <a:cs typeface="+mn-lt"/>
              </a:defRPr>
            </a:defPPr>
            <a:lvl1pPr marL="171450" indent="-171450">
              <a:lnSpc>
                <a:spcPct val="110000"/>
              </a:lnSpc>
              <a:spcBef>
                <a:spcPts val="0"/>
              </a:spcBef>
              <a:spcAft>
                <a:spcPts val="900"/>
              </a:spcAft>
              <a:buChar char="•"/>
            </a:lvl1pPr>
            <a:lvl2pPr marL="400050" indent="-171450">
              <a:lnSpc>
                <a:spcPct val="110000"/>
              </a:lnSpc>
              <a:spcBef>
                <a:spcPts val="0"/>
              </a:spcBef>
              <a:spcAft>
                <a:spcPts val="900"/>
              </a:spcAft>
              <a:buChar char="•"/>
            </a:lvl2pPr>
            <a:lvl3pPr marL="628650" indent="-171450">
              <a:lnSpc>
                <a:spcPct val="110000"/>
              </a:lnSpc>
              <a:spcBef>
                <a:spcPts val="0"/>
              </a:spcBef>
              <a:spcAft>
                <a:spcPts val="900"/>
              </a:spcAft>
              <a:buChar char="•"/>
            </a:lvl3pPr>
            <a:lvl4pPr marL="857250" indent="-171450">
              <a:lnSpc>
                <a:spcPct val="110000"/>
              </a:lnSpc>
              <a:spcBef>
                <a:spcPts val="0"/>
              </a:spcBef>
              <a:spcAft>
                <a:spcPts val="900"/>
              </a:spcAft>
              <a:buChar char="•"/>
            </a:lvl4pPr>
            <a:lvl5pPr marL="1085850" indent="-171450">
              <a:lnSpc>
                <a:spcPct val="110000"/>
              </a:lnSpc>
              <a:spcBef>
                <a:spcPts val="0"/>
              </a:spcBef>
              <a:spcAft>
                <a:spcPts val="900"/>
              </a:spcAft>
              <a:buChar char="•"/>
            </a:lvl5pPr>
            <a:lvl6pPr marL="1314450" indent="-171450">
              <a:lnSpc>
                <a:spcPct val="110000"/>
              </a:lnSpc>
              <a:spcBef>
                <a:spcPts val="0"/>
              </a:spcBef>
              <a:spcAft>
                <a:spcPts val="900"/>
              </a:spcAft>
              <a:buChar char="•"/>
            </a:lvl6pPr>
            <a:lvl7pPr marL="1543050" indent="-171450">
              <a:lnSpc>
                <a:spcPct val="110000"/>
              </a:lnSpc>
              <a:spcBef>
                <a:spcPts val="0"/>
              </a:spcBef>
              <a:spcAft>
                <a:spcPts val="900"/>
              </a:spcAft>
              <a:buChar char="•"/>
            </a:lvl7pPr>
            <a:lvl8pPr marL="1771650" indent="-171450">
              <a:lnSpc>
                <a:spcPct val="110000"/>
              </a:lnSpc>
              <a:spcBef>
                <a:spcPts val="0"/>
              </a:spcBef>
              <a:spcAft>
                <a:spcPts val="900"/>
              </a:spcAft>
              <a:buChar char="•"/>
            </a:lvl8pPr>
            <a:lvl9pPr marL="2000250" indent="-171450">
              <a:lnSpc>
                <a:spcPct val="110000"/>
              </a:lnSpc>
              <a:spcBef>
                <a:spcPts val="0"/>
              </a:spcBef>
              <a:spcAft>
                <a:spcPts val="9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B87812E-2848-408E-BC14-6026DE593E5B}"/>
              </a:ext>
            </a:extLst>
          </p:cNvPr>
          <p:cNvSpPr>
            <a:spLocks xmlns:a="http://schemas.openxmlformats.org/drawingml/2006/main" noGrp="1"/>
          </p:cNvSpPr>
          <p:nvPr>
            <p:ph type="title" idx="0"/>
          </p:nvPr>
        </p:nvSpPr>
        <p:spPr>
          <a:xfrm xmlns:a="http://schemas.openxmlformats.org/drawingml/2006/main">
            <a:off x="514350" y="400050"/>
            <a:ext cx="8115300" cy="6286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47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7C683AE-FBE0-4AA2-992A-E422A39B4484}"/>
              </a:ext>
            </a:extLst>
          </p:cNvPr>
          <p:cNvSpPr>
            <a:spLocks xmlns:a="http://schemas.openxmlformats.org/drawingml/2006/main" noGrp="1"/>
          </p:cNvSpPr>
          <p:nvPr>
            <p:ph type="body" idx="1"/>
          </p:nvPr>
        </p:nvSpPr>
        <p:spPr>
          <a:xfrm xmlns:a="http://schemas.openxmlformats.org/drawingml/2006/main">
            <a:off x="514350" y="1428750"/>
            <a:ext cx="3771900" cy="3200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575" b="0">
                <a:solidFill>
                  <a:schemeClr val="tx1"/>
                </a:solidFill>
                <a:latin typeface="+mn-lt"/>
                <a:ea typeface="+mn-lt"/>
                <a:cs typeface="+mn-lt"/>
              </a:defRPr>
            </a:defPPr>
            <a:lvl1pPr marL="171450" indent="-171450">
              <a:lnSpc>
                <a:spcPct val="110000"/>
              </a:lnSpc>
              <a:spcBef>
                <a:spcPts val="0"/>
              </a:spcBef>
              <a:spcAft>
                <a:spcPts val="900"/>
              </a:spcAft>
              <a:buChar char="•"/>
            </a:lvl1pPr>
            <a:lvl2pPr marL="400050" indent="-171450">
              <a:lnSpc>
                <a:spcPct val="110000"/>
              </a:lnSpc>
              <a:spcBef>
                <a:spcPts val="0"/>
              </a:spcBef>
              <a:spcAft>
                <a:spcPts val="900"/>
              </a:spcAft>
              <a:buChar char="•"/>
            </a:lvl2pPr>
            <a:lvl3pPr marL="628650" indent="-171450">
              <a:lnSpc>
                <a:spcPct val="110000"/>
              </a:lnSpc>
              <a:spcBef>
                <a:spcPts val="0"/>
              </a:spcBef>
              <a:spcAft>
                <a:spcPts val="900"/>
              </a:spcAft>
              <a:buChar char="•"/>
            </a:lvl3pPr>
            <a:lvl4pPr marL="857250" indent="-171450">
              <a:lnSpc>
                <a:spcPct val="110000"/>
              </a:lnSpc>
              <a:spcBef>
                <a:spcPts val="0"/>
              </a:spcBef>
              <a:spcAft>
                <a:spcPts val="900"/>
              </a:spcAft>
              <a:buChar char="•"/>
            </a:lvl4pPr>
            <a:lvl5pPr marL="1085850" indent="-171450">
              <a:lnSpc>
                <a:spcPct val="110000"/>
              </a:lnSpc>
              <a:spcBef>
                <a:spcPts val="0"/>
              </a:spcBef>
              <a:spcAft>
                <a:spcPts val="900"/>
              </a:spcAft>
              <a:buChar char="•"/>
            </a:lvl5pPr>
            <a:lvl6pPr marL="1314450" indent="-171450">
              <a:lnSpc>
                <a:spcPct val="110000"/>
              </a:lnSpc>
              <a:spcBef>
                <a:spcPts val="0"/>
              </a:spcBef>
              <a:spcAft>
                <a:spcPts val="900"/>
              </a:spcAft>
              <a:buChar char="•"/>
            </a:lvl6pPr>
            <a:lvl7pPr marL="1543050" indent="-171450">
              <a:lnSpc>
                <a:spcPct val="110000"/>
              </a:lnSpc>
              <a:spcBef>
                <a:spcPts val="0"/>
              </a:spcBef>
              <a:spcAft>
                <a:spcPts val="900"/>
              </a:spcAft>
              <a:buChar char="•"/>
            </a:lvl7pPr>
            <a:lvl8pPr marL="1771650" indent="-171450">
              <a:lnSpc>
                <a:spcPct val="110000"/>
              </a:lnSpc>
              <a:spcBef>
                <a:spcPts val="0"/>
              </a:spcBef>
              <a:spcAft>
                <a:spcPts val="900"/>
              </a:spcAft>
              <a:buChar char="•"/>
            </a:lvl8pPr>
            <a:lvl9pPr marL="2000250" indent="-171450">
              <a:lnSpc>
                <a:spcPct val="110000"/>
              </a:lnSpc>
              <a:spcBef>
                <a:spcPts val="0"/>
              </a:spcBef>
              <a:spcAft>
                <a:spcPts val="9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89C8703-232E-4599-9BD2-A0760C9DBEF6}"/>
              </a:ext>
            </a:extLst>
          </p:cNvPr>
          <p:cNvSpPr>
            <a:spLocks xmlns:a="http://schemas.openxmlformats.org/drawingml/2006/main" noGrp="1"/>
          </p:cNvSpPr>
          <p:nvPr>
            <p:ph type="body" idx="2"/>
          </p:nvPr>
        </p:nvSpPr>
        <p:spPr>
          <a:xfrm xmlns:a="http://schemas.openxmlformats.org/drawingml/2006/main">
            <a:off x="4857750" y="1428750"/>
            <a:ext cx="3771900" cy="3200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575" b="0">
                <a:solidFill>
                  <a:schemeClr val="tx1"/>
                </a:solidFill>
                <a:latin typeface="+mn-lt"/>
                <a:ea typeface="+mn-lt"/>
                <a:cs typeface="+mn-lt"/>
              </a:defRPr>
            </a:defPPr>
            <a:lvl1pPr marL="171450" indent="-171450">
              <a:lnSpc>
                <a:spcPct val="110000"/>
              </a:lnSpc>
              <a:spcBef>
                <a:spcPts val="0"/>
              </a:spcBef>
              <a:spcAft>
                <a:spcPts val="900"/>
              </a:spcAft>
              <a:buChar char="•"/>
            </a:lvl1pPr>
            <a:lvl2pPr marL="400050" indent="-171450">
              <a:lnSpc>
                <a:spcPct val="110000"/>
              </a:lnSpc>
              <a:spcBef>
                <a:spcPts val="0"/>
              </a:spcBef>
              <a:spcAft>
                <a:spcPts val="900"/>
              </a:spcAft>
              <a:buChar char="•"/>
            </a:lvl2pPr>
            <a:lvl3pPr marL="628650" indent="-171450">
              <a:lnSpc>
                <a:spcPct val="110000"/>
              </a:lnSpc>
              <a:spcBef>
                <a:spcPts val="0"/>
              </a:spcBef>
              <a:spcAft>
                <a:spcPts val="900"/>
              </a:spcAft>
              <a:buChar char="•"/>
            </a:lvl3pPr>
            <a:lvl4pPr marL="857250" indent="-171450">
              <a:lnSpc>
                <a:spcPct val="110000"/>
              </a:lnSpc>
              <a:spcBef>
                <a:spcPts val="0"/>
              </a:spcBef>
              <a:spcAft>
                <a:spcPts val="900"/>
              </a:spcAft>
              <a:buChar char="•"/>
            </a:lvl4pPr>
            <a:lvl5pPr marL="1085850" indent="-171450">
              <a:lnSpc>
                <a:spcPct val="110000"/>
              </a:lnSpc>
              <a:spcBef>
                <a:spcPts val="0"/>
              </a:spcBef>
              <a:spcAft>
                <a:spcPts val="900"/>
              </a:spcAft>
              <a:buChar char="•"/>
            </a:lvl5pPr>
            <a:lvl6pPr marL="1314450" indent="-171450">
              <a:lnSpc>
                <a:spcPct val="110000"/>
              </a:lnSpc>
              <a:spcBef>
                <a:spcPts val="0"/>
              </a:spcBef>
              <a:spcAft>
                <a:spcPts val="900"/>
              </a:spcAft>
              <a:buChar char="•"/>
            </a:lvl6pPr>
            <a:lvl7pPr marL="1543050" indent="-171450">
              <a:lnSpc>
                <a:spcPct val="110000"/>
              </a:lnSpc>
              <a:spcBef>
                <a:spcPts val="0"/>
              </a:spcBef>
              <a:spcAft>
                <a:spcPts val="900"/>
              </a:spcAft>
              <a:buChar char="•"/>
            </a:lvl7pPr>
            <a:lvl8pPr marL="1771650" indent="-171450">
              <a:lnSpc>
                <a:spcPct val="110000"/>
              </a:lnSpc>
              <a:spcBef>
                <a:spcPts val="0"/>
              </a:spcBef>
              <a:spcAft>
                <a:spcPts val="900"/>
              </a:spcAft>
              <a:buChar char="•"/>
            </a:lvl8pPr>
            <a:lvl9pPr marL="2000250" indent="-171450">
              <a:lnSpc>
                <a:spcPct val="110000"/>
              </a:lnSpc>
              <a:spcBef>
                <a:spcPts val="0"/>
              </a:spcBef>
              <a:spcAft>
                <a:spcPts val="9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99F12C7-3724-4576-A798-A04E975BA2AA}"/>
              </a:ext>
            </a:extLst>
          </p:cNvPr>
          <p:cNvSpPr>
            <a:spLocks xmlns:a="http://schemas.openxmlformats.org/drawingml/2006/main" noGrp="1"/>
          </p:cNvSpPr>
          <p:nvPr>
            <p:ph type="title" idx="0"/>
          </p:nvPr>
        </p:nvSpPr>
        <p:spPr>
          <a:xfrm xmlns:a="http://schemas.openxmlformats.org/drawingml/2006/main">
            <a:off x="514350" y="400050"/>
            <a:ext cx="8115300" cy="6286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47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7A8AE38-8EA4-4199-ACCC-DAF2F54FC16E}"/>
              </a:ext>
            </a:extLst>
          </p:cNvPr>
          <p:cNvSpPr>
            <a:spLocks xmlns:a="http://schemas.openxmlformats.org/drawingml/2006/main" noGrp="1"/>
          </p:cNvSpPr>
          <p:nvPr>
            <p:ph type="body" idx="1"/>
          </p:nvPr>
        </p:nvSpPr>
        <p:spPr>
          <a:xfrm xmlns:a="http://schemas.openxmlformats.org/drawingml/2006/main">
            <a:off x="514350" y="1428750"/>
            <a:ext cx="3771900" cy="3200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688" b="0">
                <a:solidFill>
                  <a:schemeClr val="tx1"/>
                </a:solidFill>
                <a:latin typeface="+mn-lt"/>
                <a:ea typeface="+mn-lt"/>
                <a:cs typeface="+mn-lt"/>
              </a:defRPr>
            </a:defPPr>
            <a:lvl1pPr marL="171450" indent="-171450">
              <a:lnSpc>
                <a:spcPct val="110000"/>
              </a:lnSpc>
              <a:spcBef>
                <a:spcPts val="0"/>
              </a:spcBef>
              <a:spcAft>
                <a:spcPts val="900"/>
              </a:spcAft>
              <a:buChar char="•"/>
            </a:lvl1pPr>
            <a:lvl2pPr marL="400050" indent="-171450">
              <a:lnSpc>
                <a:spcPct val="110000"/>
              </a:lnSpc>
              <a:spcBef>
                <a:spcPts val="0"/>
              </a:spcBef>
              <a:spcAft>
                <a:spcPts val="900"/>
              </a:spcAft>
              <a:buChar char="•"/>
            </a:lvl2pPr>
            <a:lvl3pPr marL="628650" indent="-171450">
              <a:lnSpc>
                <a:spcPct val="110000"/>
              </a:lnSpc>
              <a:spcBef>
                <a:spcPts val="0"/>
              </a:spcBef>
              <a:spcAft>
                <a:spcPts val="900"/>
              </a:spcAft>
              <a:buChar char="•"/>
            </a:lvl3pPr>
            <a:lvl4pPr marL="857250" indent="-171450">
              <a:lnSpc>
                <a:spcPct val="110000"/>
              </a:lnSpc>
              <a:spcBef>
                <a:spcPts val="0"/>
              </a:spcBef>
              <a:spcAft>
                <a:spcPts val="900"/>
              </a:spcAft>
              <a:buChar char="•"/>
            </a:lvl4pPr>
            <a:lvl5pPr marL="1085850" indent="-171450">
              <a:lnSpc>
                <a:spcPct val="110000"/>
              </a:lnSpc>
              <a:spcBef>
                <a:spcPts val="0"/>
              </a:spcBef>
              <a:spcAft>
                <a:spcPts val="900"/>
              </a:spcAft>
              <a:buChar char="•"/>
            </a:lvl5pPr>
            <a:lvl6pPr marL="1314450" indent="-171450">
              <a:lnSpc>
                <a:spcPct val="110000"/>
              </a:lnSpc>
              <a:spcBef>
                <a:spcPts val="0"/>
              </a:spcBef>
              <a:spcAft>
                <a:spcPts val="900"/>
              </a:spcAft>
              <a:buChar char="•"/>
            </a:lvl6pPr>
            <a:lvl7pPr marL="1543050" indent="-171450">
              <a:lnSpc>
                <a:spcPct val="110000"/>
              </a:lnSpc>
              <a:spcBef>
                <a:spcPts val="0"/>
              </a:spcBef>
              <a:spcAft>
                <a:spcPts val="900"/>
              </a:spcAft>
              <a:buChar char="•"/>
            </a:lvl7pPr>
            <a:lvl8pPr marL="1771650" indent="-171450">
              <a:lnSpc>
                <a:spcPct val="110000"/>
              </a:lnSpc>
              <a:spcBef>
                <a:spcPts val="0"/>
              </a:spcBef>
              <a:spcAft>
                <a:spcPts val="900"/>
              </a:spcAft>
              <a:buChar char="•"/>
            </a:lvl8pPr>
            <a:lvl9pPr marL="2000250" indent="-171450">
              <a:lnSpc>
                <a:spcPct val="110000"/>
              </a:lnSpc>
              <a:spcBef>
                <a:spcPts val="0"/>
              </a:spcBef>
              <a:spcAft>
                <a:spcPts val="9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2483b240d844a67" /><Relationship Type="http://schemas.openxmlformats.org/officeDocument/2006/relationships/slideLayout" Target="/ppt/slideLayouts/slideLayout1.xml" Id="Recc7a0ee60b3400c" /><Relationship Type="http://schemas.openxmlformats.org/officeDocument/2006/relationships/slideLayout" Target="/ppt/slideLayouts/slideLayout2.xml" Id="R5cbbaccb91c94af0" /><Relationship Type="http://schemas.openxmlformats.org/officeDocument/2006/relationships/slideLayout" Target="/ppt/slideLayouts/slideLayout3.xml" Id="R309d2f7a70a64ee8" /><Relationship Type="http://schemas.openxmlformats.org/officeDocument/2006/relationships/slideLayout" Target="/ppt/slideLayouts/slideLayout4.xml" Id="R8347390f46394d1d" /><Relationship Type="http://schemas.openxmlformats.org/officeDocument/2006/relationships/slideLayout" Target="/ppt/slideLayouts/slideLayout5.xml" Id="R64b976eb03934e00" /><Relationship Type="http://schemas.openxmlformats.org/officeDocument/2006/relationships/slideLayout" Target="/ppt/slideLayouts/slideLayout6.xml" Id="R6641c1d8da2f41f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cc7a0ee60b3400c"/>
    <p:sldLayoutId xmlns:r="http://schemas.openxmlformats.org/officeDocument/2006/relationships" id="2147483650" r:id="R5cbbaccb91c94af0"/>
    <p:sldLayoutId xmlns:r="http://schemas.openxmlformats.org/officeDocument/2006/relationships" id="2147483651" r:id="R309d2f7a70a64ee8"/>
    <p:sldLayoutId xmlns:r="http://schemas.openxmlformats.org/officeDocument/2006/relationships" id="2147483652" r:id="R8347390f46394d1d"/>
    <p:sldLayoutId xmlns:r="http://schemas.openxmlformats.org/officeDocument/2006/relationships" id="2147483653" r:id="R64b976eb03934e00"/>
    <p:sldLayoutId xmlns:r="http://schemas.openxmlformats.org/officeDocument/2006/relationships" id="2147483654" r:id="R6641c1d8da2f41f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91de26d82ec4c15" /><Relationship Type="http://schemas.openxmlformats.org/officeDocument/2006/relationships/notesSlide" Target="/ppt/notesSlides/notesSlide1.xml" Id="R09a3aea5cc3848a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42a4d332aa543d4" /><Relationship Type="http://schemas.openxmlformats.org/officeDocument/2006/relationships/chart" Target="/ppt/slides/charts/chart1.xml" Id="Rf141d976fd2848d2" /><Relationship Type="http://schemas.openxmlformats.org/officeDocument/2006/relationships/notesSlide" Target="/ppt/notesSlides/notesSlide2.xml" Id="Re1dc905b430a463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141824d8e3b4788" /><Relationship Type="http://schemas.openxmlformats.org/officeDocument/2006/relationships/chart" Target="/ppt/slides/charts/chart2.xml" Id="R934017a518c848e1" /><Relationship Type="http://schemas.openxmlformats.org/officeDocument/2006/relationships/notesSlide" Target="/ppt/notesSlides/notesSlide3.xml" Id="R844a8334d30f4e5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35321e383084402" /><Relationship Type="http://schemas.openxmlformats.org/officeDocument/2006/relationships/chart" Target="/ppt/slides/charts/chart3.xml" Id="Rd5461fbe207f4dc8" /><Relationship Type="http://schemas.openxmlformats.org/officeDocument/2006/relationships/notesSlide" Target="/ppt/notesSlides/notesSlide4.xml" Id="R8ee58ea80ec8438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3d709e77e7d4e09" /><Relationship Type="http://schemas.openxmlformats.org/officeDocument/2006/relationships/chart" Target="/ppt/slides/charts/chart4.xml" Id="R6b71d499b2b64737" /><Relationship Type="http://schemas.openxmlformats.org/officeDocument/2006/relationships/notesSlide" Target="/ppt/notesSlides/notesSlide5.xml" Id="R850f991ce7d1419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71133429e6f4114" /><Relationship Type="http://schemas.openxmlformats.org/officeDocument/2006/relationships/chart" Target="/ppt/slides/charts/chart5.xml" Id="R5d684fe970b743dd" /><Relationship Type="http://schemas.openxmlformats.org/officeDocument/2006/relationships/notesSlide" Target="/ppt/notesSlides/notesSlide6.xml" Id="R3866291e7f184a5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14d9be8a3d94a79" /><Relationship Type="http://schemas.openxmlformats.org/officeDocument/2006/relationships/notesSlide" Target="/ppt/notesSlides/notesSlide7.xml" Id="R9083f6697c0443e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0e82c341fea4d94" /><Relationship Type="http://schemas.openxmlformats.org/officeDocument/2006/relationships/notesSlide" Target="/ppt/notesSlides/notesSlide8.xml" Id="Rb588cd765beb420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a0978f6493441fe" /><Relationship Type="http://schemas.openxmlformats.org/officeDocument/2006/relationships/notesSlide" Target="/ppt/notesSlides/notesSlide9.xml" Id="Rbd381b68c5d2462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402cb3319b1479a" /><Relationship Type="http://schemas.openxmlformats.org/officeDocument/2006/relationships/notesSlide" Target="/ppt/notesSlides/notesSlide10.xml" Id="R4953204fd23a43c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6d61488c3e924ecf" /><Relationship Type="http://schemas.openxmlformats.org/officeDocument/2006/relationships/notesSlide" Target="/ppt/notesSlides/notesSlide11.xml" Id="Ra78701a43b7347b5"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xmlns:r="http://schemas.openxmlformats.org/officeDocument/2006/relationships">
  <c:lang val="en-US"/>
  <c:chart>
    <c:plotArea>
      <c:scatterChart>
        <c:scatterStyle val="lineMarker"/>
        <c:varyColors val="0"/>
        <c:ser>
          <c:idx val="0"/>
          <c:order val="0"/>
          <c:tx>
            <c:v>Calibration standards</c:v>
          </c:tx>
          <c:spPr>
            <a:ln xmlns:a="http://schemas.openxmlformats.org/drawingml/2006/main" w="0">
              <a:noFill/>
            </a:ln>
          </c:spPr>
          <c:marker>
            <c:symbol val="circle"/>
            <c:size val="6"/>
            <c:spPr>
              <a:solidFill xmlns:a="http://schemas.openxmlformats.org/drawingml/2006/main">
                <a:srgbClr val="028090"/>
              </a:solidFill>
            </c:spPr>
          </c:marker>
          <c:xVal>
            <c:numRef>
              <c:f>'Chart Data'!$A$2:$A$13</c:f>
              <c:numCache>
                <c:formatCode>General</c:formatCode>
                <c:ptCount val="12"/>
                <c:pt idx="0">
                  <c:v>0</c:v>
                </c:pt>
                <c:pt idx="1">
                  <c:v>0.09090909</c:v>
                </c:pt>
                <c:pt idx="2">
                  <c:v>0.18181818</c:v>
                </c:pt>
                <c:pt idx="3">
                  <c:v>0.27272727</c:v>
                </c:pt>
                <c:pt idx="4">
                  <c:v>0.36363636</c:v>
                </c:pt>
                <c:pt idx="5">
                  <c:v>0.45454545</c:v>
                </c:pt>
                <c:pt idx="6">
                  <c:v>0.54545455</c:v>
                </c:pt>
                <c:pt idx="7">
                  <c:v>0.63636364</c:v>
                </c:pt>
                <c:pt idx="8">
                  <c:v>0.72727273</c:v>
                </c:pt>
                <c:pt idx="9">
                  <c:v>0.81818182</c:v>
                </c:pt>
                <c:pt idx="10">
                  <c:v>0.90909091</c:v>
                </c:pt>
                <c:pt idx="11">
                  <c:v>1</c:v>
                </c:pt>
              </c:numCache>
            </c:numRef>
          </c:xVal>
          <c:yVal>
            <c:numRef>
              <c:f>'Chart Data'!$B$2:$B$13</c:f>
              <c:numCache>
                <c:formatCode>0.0</c:formatCode>
                <c:ptCount val="12"/>
                <c:pt idx="0">
                  <c:v>0.1106651</c:v>
                </c:pt>
                <c:pt idx="1">
                  <c:v>0.3628453</c:v>
                </c:pt>
                <c:pt idx="2">
                  <c:v>0.67500672</c:v>
                </c:pt>
                <c:pt idx="3">
                  <c:v>0.88967886</c:v>
                </c:pt>
                <c:pt idx="4">
                  <c:v>0.96190862</c:v>
                </c:pt>
                <c:pt idx="5">
                  <c:v>1.12922114</c:v>
                </c:pt>
                <c:pt idx="6">
                  <c:v>1.29983465</c:v>
                </c:pt>
                <c:pt idx="7">
                  <c:v>1.38481134</c:v>
                </c:pt>
                <c:pt idx="8">
                  <c:v>1.4791003</c:v>
                </c:pt>
                <c:pt idx="9">
                  <c:v>1.51970739</c:v>
                </c:pt>
                <c:pt idx="10">
                  <c:v>1.63860183</c:v>
                </c:pt>
                <c:pt idx="11">
                  <c:v>1.68361921</c:v>
                </c:pt>
              </c:numCache>
            </c:numRef>
          </c:yVal>
        </c:ser>
        <c:ser>
          <c:idx val="1"/>
          <c:order val="1"/>
          <c:tx>
            <c:v>Straight line</c:v>
          </c:tx>
          <c:spPr>
            <a:ln xmlns:a="http://schemas.openxmlformats.org/drawingml/2006/main" w="23813">
              <a:solidFill>
                <a:srgbClr val="C56B30"/>
              </a:solidFill>
            </a:ln>
          </c:spPr>
          <c:marker>
            <c:symbol val="none"/>
          </c:marker>
          <c:xVal>
            <c:numRef>
              <c:f>'Chart Data'!$C$2:$C$102</c:f>
              <c:numCache>
                <c:formatCode>General</c:formatCode>
                <c:ptCount val="101"/>
                <c:pt idx="0">
                  <c:v>0</c:v>
                </c:pt>
                <c:pt idx="1">
                  <c:v>0.01</c:v>
                </c:pt>
                <c:pt idx="2">
                  <c:v>0.02</c:v>
                </c:pt>
                <c:pt idx="3">
                  <c:v>0.03</c:v>
                </c:pt>
                <c:pt idx="4">
                  <c:v>0.04</c:v>
                </c:pt>
                <c:pt idx="5">
                  <c:v>0.05</c:v>
                </c:pt>
                <c:pt idx="6">
                  <c:v>0.06</c:v>
                </c:pt>
                <c:pt idx="7">
                  <c:v>0.07</c:v>
                </c:pt>
                <c:pt idx="8">
                  <c:v>0.08</c:v>
                </c:pt>
                <c:pt idx="9">
                  <c:v>0.09</c:v>
                </c:pt>
                <c:pt idx="10">
                  <c:v>0.1</c:v>
                </c:pt>
                <c:pt idx="11">
                  <c:v>0.11</c:v>
                </c:pt>
                <c:pt idx="12">
                  <c:v>0.12</c:v>
                </c:pt>
                <c:pt idx="13">
                  <c:v>0.13</c:v>
                </c:pt>
                <c:pt idx="14">
                  <c:v>0.14</c:v>
                </c:pt>
                <c:pt idx="15">
                  <c:v>0.15</c:v>
                </c:pt>
                <c:pt idx="16">
                  <c:v>0.16</c:v>
                </c:pt>
                <c:pt idx="17">
                  <c:v>0.17</c:v>
                </c:pt>
                <c:pt idx="18">
                  <c:v>0.18</c:v>
                </c:pt>
                <c:pt idx="19">
                  <c:v>0.19</c:v>
                </c:pt>
                <c:pt idx="20">
                  <c:v>0.2</c:v>
                </c:pt>
                <c:pt idx="21">
                  <c:v>0.21</c:v>
                </c:pt>
                <c:pt idx="22">
                  <c:v>0.22</c:v>
                </c:pt>
                <c:pt idx="23">
                  <c:v>0.23</c:v>
                </c:pt>
                <c:pt idx="24">
                  <c:v>0.24</c:v>
                </c:pt>
                <c:pt idx="25">
                  <c:v>0.25</c:v>
                </c:pt>
                <c:pt idx="26">
                  <c:v>0.26</c:v>
                </c:pt>
                <c:pt idx="27">
                  <c:v>0.27</c:v>
                </c:pt>
                <c:pt idx="28">
                  <c:v>0.28</c:v>
                </c:pt>
                <c:pt idx="29">
                  <c:v>0.29</c:v>
                </c:pt>
                <c:pt idx="30">
                  <c:v>0.3</c:v>
                </c:pt>
                <c:pt idx="31">
                  <c:v>0.31</c:v>
                </c:pt>
                <c:pt idx="32">
                  <c:v>0.32</c:v>
                </c:pt>
                <c:pt idx="33">
                  <c:v>0.33</c:v>
                </c:pt>
                <c:pt idx="34">
                  <c:v>0.34</c:v>
                </c:pt>
                <c:pt idx="35">
                  <c:v>0.35</c:v>
                </c:pt>
                <c:pt idx="36">
                  <c:v>0.36</c:v>
                </c:pt>
                <c:pt idx="37">
                  <c:v>0.37</c:v>
                </c:pt>
                <c:pt idx="38">
                  <c:v>0.38</c:v>
                </c:pt>
                <c:pt idx="39">
                  <c:v>0.39</c:v>
                </c:pt>
                <c:pt idx="40">
                  <c:v>0.4</c:v>
                </c:pt>
                <c:pt idx="41">
                  <c:v>0.41</c:v>
                </c:pt>
                <c:pt idx="42">
                  <c:v>0.42</c:v>
                </c:pt>
                <c:pt idx="43">
                  <c:v>0.43</c:v>
                </c:pt>
                <c:pt idx="44">
                  <c:v>0.44</c:v>
                </c:pt>
                <c:pt idx="45">
                  <c:v>0.45</c:v>
                </c:pt>
                <c:pt idx="46">
                  <c:v>0.46</c:v>
                </c:pt>
                <c:pt idx="47">
                  <c:v>0.47</c:v>
                </c:pt>
                <c:pt idx="48">
                  <c:v>0.48</c:v>
                </c:pt>
                <c:pt idx="49">
                  <c:v>0.49</c:v>
                </c:pt>
                <c:pt idx="50">
                  <c:v>0.5</c:v>
                </c:pt>
                <c:pt idx="51">
                  <c:v>0.51</c:v>
                </c:pt>
                <c:pt idx="52">
                  <c:v>0.52</c:v>
                </c:pt>
                <c:pt idx="53">
                  <c:v>0.53</c:v>
                </c:pt>
                <c:pt idx="54">
                  <c:v>0.54</c:v>
                </c:pt>
                <c:pt idx="55">
                  <c:v>0.55</c:v>
                </c:pt>
                <c:pt idx="56">
                  <c:v>0.56</c:v>
                </c:pt>
                <c:pt idx="57">
                  <c:v>0.57</c:v>
                </c:pt>
                <c:pt idx="58">
                  <c:v>0.58</c:v>
                </c:pt>
                <c:pt idx="59">
                  <c:v>0.59</c:v>
                </c:pt>
                <c:pt idx="60">
                  <c:v>0.6</c:v>
                </c:pt>
                <c:pt idx="61">
                  <c:v>0.61</c:v>
                </c:pt>
                <c:pt idx="62">
                  <c:v>0.62</c:v>
                </c:pt>
                <c:pt idx="63">
                  <c:v>0.63</c:v>
                </c:pt>
                <c:pt idx="64">
                  <c:v>0.64</c:v>
                </c:pt>
                <c:pt idx="65">
                  <c:v>0.65</c:v>
                </c:pt>
                <c:pt idx="66">
                  <c:v>0.66</c:v>
                </c:pt>
                <c:pt idx="67">
                  <c:v>0.67</c:v>
                </c:pt>
                <c:pt idx="68">
                  <c:v>0.68</c:v>
                </c:pt>
                <c:pt idx="69">
                  <c:v>0.69</c:v>
                </c:pt>
                <c:pt idx="70">
                  <c:v>0.7</c:v>
                </c:pt>
                <c:pt idx="71">
                  <c:v>0.71</c:v>
                </c:pt>
                <c:pt idx="72">
                  <c:v>0.72</c:v>
                </c:pt>
                <c:pt idx="73">
                  <c:v>0.73</c:v>
                </c:pt>
                <c:pt idx="74">
                  <c:v>0.74</c:v>
                </c:pt>
                <c:pt idx="75">
                  <c:v>0.75</c:v>
                </c:pt>
                <c:pt idx="76">
                  <c:v>0.76</c:v>
                </c:pt>
                <c:pt idx="77">
                  <c:v>0.77</c:v>
                </c:pt>
                <c:pt idx="78">
                  <c:v>0.78</c:v>
                </c:pt>
                <c:pt idx="79">
                  <c:v>0.79</c:v>
                </c:pt>
                <c:pt idx="80">
                  <c:v>0.8</c:v>
                </c:pt>
                <c:pt idx="81">
                  <c:v>0.81</c:v>
                </c:pt>
                <c:pt idx="82">
                  <c:v>0.82</c:v>
                </c:pt>
                <c:pt idx="83">
                  <c:v>0.83</c:v>
                </c:pt>
                <c:pt idx="84">
                  <c:v>0.84</c:v>
                </c:pt>
                <c:pt idx="85">
                  <c:v>0.85</c:v>
                </c:pt>
                <c:pt idx="86">
                  <c:v>0.86</c:v>
                </c:pt>
                <c:pt idx="87">
                  <c:v>0.87</c:v>
                </c:pt>
                <c:pt idx="88">
                  <c:v>0.88</c:v>
                </c:pt>
                <c:pt idx="89">
                  <c:v>0.89</c:v>
                </c:pt>
                <c:pt idx="90">
                  <c:v>0.9</c:v>
                </c:pt>
                <c:pt idx="91">
                  <c:v>0.91</c:v>
                </c:pt>
                <c:pt idx="92">
                  <c:v>0.92</c:v>
                </c:pt>
                <c:pt idx="93">
                  <c:v>0.93</c:v>
                </c:pt>
                <c:pt idx="94">
                  <c:v>0.94</c:v>
                </c:pt>
                <c:pt idx="95">
                  <c:v>0.95</c:v>
                </c:pt>
                <c:pt idx="96">
                  <c:v>0.96</c:v>
                </c:pt>
                <c:pt idx="97">
                  <c:v>0.97</c:v>
                </c:pt>
                <c:pt idx="98">
                  <c:v>0.98</c:v>
                </c:pt>
                <c:pt idx="99">
                  <c:v>0.99</c:v>
                </c:pt>
                <c:pt idx="100">
                  <c:v>1</c:v>
                </c:pt>
              </c:numCache>
            </c:numRef>
          </c:xVal>
          <c:yVal>
            <c:numRef>
              <c:f>'Chart Data'!$D$2:$D$102</c:f>
              <c:numCache>
                <c:formatCode>0.0</c:formatCode>
                <c:ptCount val="101"/>
                <c:pt idx="0">
                  <c:v>0.34297496</c:v>
                </c:pt>
                <c:pt idx="1">
                  <c:v>0.35800713</c:v>
                </c:pt>
                <c:pt idx="2">
                  <c:v>0.3730393</c:v>
                </c:pt>
                <c:pt idx="3">
                  <c:v>0.38807146</c:v>
                </c:pt>
                <c:pt idx="4">
                  <c:v>0.40310363</c:v>
                </c:pt>
                <c:pt idx="5">
                  <c:v>0.4181358</c:v>
                </c:pt>
                <c:pt idx="6">
                  <c:v>0.43316797</c:v>
                </c:pt>
                <c:pt idx="7">
                  <c:v>0.44820014</c:v>
                </c:pt>
                <c:pt idx="8">
                  <c:v>0.4632323</c:v>
                </c:pt>
                <c:pt idx="9">
                  <c:v>0.47826447</c:v>
                </c:pt>
                <c:pt idx="10">
                  <c:v>0.49329664</c:v>
                </c:pt>
                <c:pt idx="11">
                  <c:v>0.50832881</c:v>
                </c:pt>
                <c:pt idx="12">
                  <c:v>0.52336098</c:v>
                </c:pt>
                <c:pt idx="13">
                  <c:v>0.53839315</c:v>
                </c:pt>
                <c:pt idx="14">
                  <c:v>0.55342531</c:v>
                </c:pt>
                <c:pt idx="15">
                  <c:v>0.56845748</c:v>
                </c:pt>
                <c:pt idx="16">
                  <c:v>0.58348965</c:v>
                </c:pt>
                <c:pt idx="17">
                  <c:v>0.59852182</c:v>
                </c:pt>
                <c:pt idx="18">
                  <c:v>0.61355399</c:v>
                </c:pt>
                <c:pt idx="19">
                  <c:v>0.62858616</c:v>
                </c:pt>
                <c:pt idx="20">
                  <c:v>0.64361832</c:v>
                </c:pt>
                <c:pt idx="21">
                  <c:v>0.65865049</c:v>
                </c:pt>
                <c:pt idx="22">
                  <c:v>0.67368266</c:v>
                </c:pt>
                <c:pt idx="23">
                  <c:v>0.68871483</c:v>
                </c:pt>
                <c:pt idx="24">
                  <c:v>0.703747</c:v>
                </c:pt>
                <c:pt idx="25">
                  <c:v>0.71877917</c:v>
                </c:pt>
                <c:pt idx="26">
                  <c:v>0.73381133</c:v>
                </c:pt>
                <c:pt idx="27">
                  <c:v>0.7488435</c:v>
                </c:pt>
                <c:pt idx="28">
                  <c:v>0.76387567</c:v>
                </c:pt>
                <c:pt idx="29">
                  <c:v>0.77890784</c:v>
                </c:pt>
                <c:pt idx="30">
                  <c:v>0.79394001</c:v>
                </c:pt>
                <c:pt idx="31">
                  <c:v>0.80897217</c:v>
                </c:pt>
                <c:pt idx="32">
                  <c:v>0.82400434</c:v>
                </c:pt>
                <c:pt idx="33">
                  <c:v>0.83903651</c:v>
                </c:pt>
                <c:pt idx="34">
                  <c:v>0.85406868</c:v>
                </c:pt>
                <c:pt idx="35">
                  <c:v>0.86910085</c:v>
                </c:pt>
                <c:pt idx="36">
                  <c:v>0.88413302</c:v>
                </c:pt>
                <c:pt idx="37">
                  <c:v>0.89916518</c:v>
                </c:pt>
                <c:pt idx="38">
                  <c:v>0.91419735</c:v>
                </c:pt>
                <c:pt idx="39">
                  <c:v>0.92922952</c:v>
                </c:pt>
                <c:pt idx="40">
                  <c:v>0.94426169</c:v>
                </c:pt>
                <c:pt idx="41">
                  <c:v>0.95929386</c:v>
                </c:pt>
                <c:pt idx="42">
                  <c:v>0.97432603</c:v>
                </c:pt>
                <c:pt idx="43">
                  <c:v>0.98935819</c:v>
                </c:pt>
                <c:pt idx="44">
                  <c:v>1.00439036</c:v>
                </c:pt>
                <c:pt idx="45">
                  <c:v>1.01942253</c:v>
                </c:pt>
                <c:pt idx="46">
                  <c:v>1.0344547</c:v>
                </c:pt>
                <c:pt idx="47">
                  <c:v>1.04948687</c:v>
                </c:pt>
                <c:pt idx="48">
                  <c:v>1.06451903</c:v>
                </c:pt>
                <c:pt idx="49">
                  <c:v>1.0795512</c:v>
                </c:pt>
                <c:pt idx="50">
                  <c:v>1.09458337</c:v>
                </c:pt>
                <c:pt idx="51">
                  <c:v>1.10961554</c:v>
                </c:pt>
                <c:pt idx="52">
                  <c:v>1.12464771</c:v>
                </c:pt>
                <c:pt idx="53">
                  <c:v>1.13967988</c:v>
                </c:pt>
                <c:pt idx="54">
                  <c:v>1.15471204</c:v>
                </c:pt>
                <c:pt idx="55">
                  <c:v>1.16974421</c:v>
                </c:pt>
                <c:pt idx="56">
                  <c:v>1.18477638</c:v>
                </c:pt>
                <c:pt idx="57">
                  <c:v>1.19980855</c:v>
                </c:pt>
                <c:pt idx="58">
                  <c:v>1.21484072</c:v>
                </c:pt>
                <c:pt idx="59">
                  <c:v>1.22987289</c:v>
                </c:pt>
                <c:pt idx="60">
                  <c:v>1.24490505</c:v>
                </c:pt>
                <c:pt idx="61">
                  <c:v>1.25993722</c:v>
                </c:pt>
                <c:pt idx="62">
                  <c:v>1.27496939</c:v>
                </c:pt>
                <c:pt idx="63">
                  <c:v>1.29000156</c:v>
                </c:pt>
                <c:pt idx="64">
                  <c:v>1.30503373</c:v>
                </c:pt>
                <c:pt idx="65">
                  <c:v>1.32006589</c:v>
                </c:pt>
                <c:pt idx="66">
                  <c:v>1.33509806</c:v>
                </c:pt>
                <c:pt idx="67">
                  <c:v>1.35013023</c:v>
                </c:pt>
                <c:pt idx="68">
                  <c:v>1.3651624</c:v>
                </c:pt>
                <c:pt idx="69">
                  <c:v>1.38019457</c:v>
                </c:pt>
                <c:pt idx="70">
                  <c:v>1.39522674</c:v>
                </c:pt>
                <c:pt idx="71">
                  <c:v>1.4102589</c:v>
                </c:pt>
                <c:pt idx="72">
                  <c:v>1.42529107</c:v>
                </c:pt>
                <c:pt idx="73">
                  <c:v>1.44032324</c:v>
                </c:pt>
                <c:pt idx="74">
                  <c:v>1.45535541</c:v>
                </c:pt>
                <c:pt idx="75">
                  <c:v>1.47038758</c:v>
                </c:pt>
                <c:pt idx="76">
                  <c:v>1.48541975</c:v>
                </c:pt>
                <c:pt idx="77">
                  <c:v>1.50045191</c:v>
                </c:pt>
                <c:pt idx="78">
                  <c:v>1.51548408</c:v>
                </c:pt>
                <c:pt idx="79">
                  <c:v>1.53051625</c:v>
                </c:pt>
                <c:pt idx="80">
                  <c:v>1.54554842</c:v>
                </c:pt>
                <c:pt idx="81">
                  <c:v>1.56058059</c:v>
                </c:pt>
                <c:pt idx="82">
                  <c:v>1.57561276</c:v>
                </c:pt>
                <c:pt idx="83">
                  <c:v>1.59064492</c:v>
                </c:pt>
                <c:pt idx="84">
                  <c:v>1.60567709</c:v>
                </c:pt>
                <c:pt idx="85">
                  <c:v>1.62070926</c:v>
                </c:pt>
                <c:pt idx="86">
                  <c:v>1.63574143</c:v>
                </c:pt>
                <c:pt idx="87">
                  <c:v>1.6507736</c:v>
                </c:pt>
                <c:pt idx="88">
                  <c:v>1.66580576</c:v>
                </c:pt>
                <c:pt idx="89">
                  <c:v>1.68083793</c:v>
                </c:pt>
                <c:pt idx="90">
                  <c:v>1.6958701</c:v>
                </c:pt>
                <c:pt idx="91">
                  <c:v>1.71090227</c:v>
                </c:pt>
                <c:pt idx="92">
                  <c:v>1.72593444</c:v>
                </c:pt>
                <c:pt idx="93">
                  <c:v>1.74096661</c:v>
                </c:pt>
                <c:pt idx="94">
                  <c:v>1.75599877</c:v>
                </c:pt>
                <c:pt idx="95">
                  <c:v>1.77103094</c:v>
                </c:pt>
                <c:pt idx="96">
                  <c:v>1.78606311</c:v>
                </c:pt>
                <c:pt idx="97">
                  <c:v>1.80109528</c:v>
                </c:pt>
                <c:pt idx="98">
                  <c:v>1.81612745</c:v>
                </c:pt>
                <c:pt idx="99">
                  <c:v>1.83115962</c:v>
                </c:pt>
                <c:pt idx="100">
                  <c:v>1.84619178</c:v>
                </c:pt>
              </c:numCache>
            </c:numRef>
          </c:yVal>
        </c:ser>
        <c:ser>
          <c:idx val="2"/>
          <c:order val="2"/>
          <c:tx>
            <c:v>Curved model</c:v>
          </c:tx>
          <c:spPr>
            <a:ln xmlns:a="http://schemas.openxmlformats.org/drawingml/2006/main" w="23813">
              <a:solidFill>
                <a:srgbClr val="64748B"/>
              </a:solidFill>
            </a:ln>
          </c:spPr>
          <c:marker>
            <c:symbol val="none"/>
          </c:marker>
          <c:xVal>
            <c:numRef>
              <c:f>'Chart Data'!$E$2:$E$102</c:f>
              <c:numCache>
                <c:formatCode>General</c:formatCode>
                <c:ptCount val="101"/>
                <c:pt idx="0">
                  <c:v>0</c:v>
                </c:pt>
                <c:pt idx="1">
                  <c:v>0.01</c:v>
                </c:pt>
                <c:pt idx="2">
                  <c:v>0.02</c:v>
                </c:pt>
                <c:pt idx="3">
                  <c:v>0.03</c:v>
                </c:pt>
                <c:pt idx="4">
                  <c:v>0.04</c:v>
                </c:pt>
                <c:pt idx="5">
                  <c:v>0.05</c:v>
                </c:pt>
                <c:pt idx="6">
                  <c:v>0.06</c:v>
                </c:pt>
                <c:pt idx="7">
                  <c:v>0.07</c:v>
                </c:pt>
                <c:pt idx="8">
                  <c:v>0.08</c:v>
                </c:pt>
                <c:pt idx="9">
                  <c:v>0.09</c:v>
                </c:pt>
                <c:pt idx="10">
                  <c:v>0.1</c:v>
                </c:pt>
                <c:pt idx="11">
                  <c:v>0.11</c:v>
                </c:pt>
                <c:pt idx="12">
                  <c:v>0.12</c:v>
                </c:pt>
                <c:pt idx="13">
                  <c:v>0.13</c:v>
                </c:pt>
                <c:pt idx="14">
                  <c:v>0.14</c:v>
                </c:pt>
                <c:pt idx="15">
                  <c:v>0.15</c:v>
                </c:pt>
                <c:pt idx="16">
                  <c:v>0.16</c:v>
                </c:pt>
                <c:pt idx="17">
                  <c:v>0.17</c:v>
                </c:pt>
                <c:pt idx="18">
                  <c:v>0.18</c:v>
                </c:pt>
                <c:pt idx="19">
                  <c:v>0.19</c:v>
                </c:pt>
                <c:pt idx="20">
                  <c:v>0.2</c:v>
                </c:pt>
                <c:pt idx="21">
                  <c:v>0.21</c:v>
                </c:pt>
                <c:pt idx="22">
                  <c:v>0.22</c:v>
                </c:pt>
                <c:pt idx="23">
                  <c:v>0.23</c:v>
                </c:pt>
                <c:pt idx="24">
                  <c:v>0.24</c:v>
                </c:pt>
                <c:pt idx="25">
                  <c:v>0.25</c:v>
                </c:pt>
                <c:pt idx="26">
                  <c:v>0.26</c:v>
                </c:pt>
                <c:pt idx="27">
                  <c:v>0.27</c:v>
                </c:pt>
                <c:pt idx="28">
                  <c:v>0.28</c:v>
                </c:pt>
                <c:pt idx="29">
                  <c:v>0.29</c:v>
                </c:pt>
                <c:pt idx="30">
                  <c:v>0.3</c:v>
                </c:pt>
                <c:pt idx="31">
                  <c:v>0.31</c:v>
                </c:pt>
                <c:pt idx="32">
                  <c:v>0.32</c:v>
                </c:pt>
                <c:pt idx="33">
                  <c:v>0.33</c:v>
                </c:pt>
                <c:pt idx="34">
                  <c:v>0.34</c:v>
                </c:pt>
                <c:pt idx="35">
                  <c:v>0.35</c:v>
                </c:pt>
                <c:pt idx="36">
                  <c:v>0.36</c:v>
                </c:pt>
                <c:pt idx="37">
                  <c:v>0.37</c:v>
                </c:pt>
                <c:pt idx="38">
                  <c:v>0.38</c:v>
                </c:pt>
                <c:pt idx="39">
                  <c:v>0.39</c:v>
                </c:pt>
                <c:pt idx="40">
                  <c:v>0.4</c:v>
                </c:pt>
                <c:pt idx="41">
                  <c:v>0.41</c:v>
                </c:pt>
                <c:pt idx="42">
                  <c:v>0.42</c:v>
                </c:pt>
                <c:pt idx="43">
                  <c:v>0.43</c:v>
                </c:pt>
                <c:pt idx="44">
                  <c:v>0.44</c:v>
                </c:pt>
                <c:pt idx="45">
                  <c:v>0.45</c:v>
                </c:pt>
                <c:pt idx="46">
                  <c:v>0.46</c:v>
                </c:pt>
                <c:pt idx="47">
                  <c:v>0.47</c:v>
                </c:pt>
                <c:pt idx="48">
                  <c:v>0.48</c:v>
                </c:pt>
                <c:pt idx="49">
                  <c:v>0.49</c:v>
                </c:pt>
                <c:pt idx="50">
                  <c:v>0.5</c:v>
                </c:pt>
                <c:pt idx="51">
                  <c:v>0.51</c:v>
                </c:pt>
                <c:pt idx="52">
                  <c:v>0.52</c:v>
                </c:pt>
                <c:pt idx="53">
                  <c:v>0.53</c:v>
                </c:pt>
                <c:pt idx="54">
                  <c:v>0.54</c:v>
                </c:pt>
                <c:pt idx="55">
                  <c:v>0.55</c:v>
                </c:pt>
                <c:pt idx="56">
                  <c:v>0.56</c:v>
                </c:pt>
                <c:pt idx="57">
                  <c:v>0.57</c:v>
                </c:pt>
                <c:pt idx="58">
                  <c:v>0.58</c:v>
                </c:pt>
                <c:pt idx="59">
                  <c:v>0.59</c:v>
                </c:pt>
                <c:pt idx="60">
                  <c:v>0.6</c:v>
                </c:pt>
                <c:pt idx="61">
                  <c:v>0.61</c:v>
                </c:pt>
                <c:pt idx="62">
                  <c:v>0.62</c:v>
                </c:pt>
                <c:pt idx="63">
                  <c:v>0.63</c:v>
                </c:pt>
                <c:pt idx="64">
                  <c:v>0.64</c:v>
                </c:pt>
                <c:pt idx="65">
                  <c:v>0.65</c:v>
                </c:pt>
                <c:pt idx="66">
                  <c:v>0.66</c:v>
                </c:pt>
                <c:pt idx="67">
                  <c:v>0.67</c:v>
                </c:pt>
                <c:pt idx="68">
                  <c:v>0.68</c:v>
                </c:pt>
                <c:pt idx="69">
                  <c:v>0.69</c:v>
                </c:pt>
                <c:pt idx="70">
                  <c:v>0.7</c:v>
                </c:pt>
                <c:pt idx="71">
                  <c:v>0.71</c:v>
                </c:pt>
                <c:pt idx="72">
                  <c:v>0.72</c:v>
                </c:pt>
                <c:pt idx="73">
                  <c:v>0.73</c:v>
                </c:pt>
                <c:pt idx="74">
                  <c:v>0.74</c:v>
                </c:pt>
                <c:pt idx="75">
                  <c:v>0.75</c:v>
                </c:pt>
                <c:pt idx="76">
                  <c:v>0.76</c:v>
                </c:pt>
                <c:pt idx="77">
                  <c:v>0.77</c:v>
                </c:pt>
                <c:pt idx="78">
                  <c:v>0.78</c:v>
                </c:pt>
                <c:pt idx="79">
                  <c:v>0.79</c:v>
                </c:pt>
                <c:pt idx="80">
                  <c:v>0.8</c:v>
                </c:pt>
                <c:pt idx="81">
                  <c:v>0.81</c:v>
                </c:pt>
                <c:pt idx="82">
                  <c:v>0.82</c:v>
                </c:pt>
                <c:pt idx="83">
                  <c:v>0.83</c:v>
                </c:pt>
                <c:pt idx="84">
                  <c:v>0.84</c:v>
                </c:pt>
                <c:pt idx="85">
                  <c:v>0.85</c:v>
                </c:pt>
                <c:pt idx="86">
                  <c:v>0.86</c:v>
                </c:pt>
                <c:pt idx="87">
                  <c:v>0.87</c:v>
                </c:pt>
                <c:pt idx="88">
                  <c:v>0.88</c:v>
                </c:pt>
                <c:pt idx="89">
                  <c:v>0.89</c:v>
                </c:pt>
                <c:pt idx="90">
                  <c:v>0.9</c:v>
                </c:pt>
                <c:pt idx="91">
                  <c:v>0.91</c:v>
                </c:pt>
                <c:pt idx="92">
                  <c:v>0.92</c:v>
                </c:pt>
                <c:pt idx="93">
                  <c:v>0.93</c:v>
                </c:pt>
                <c:pt idx="94">
                  <c:v>0.94</c:v>
                </c:pt>
                <c:pt idx="95">
                  <c:v>0.95</c:v>
                </c:pt>
                <c:pt idx="96">
                  <c:v>0.96</c:v>
                </c:pt>
                <c:pt idx="97">
                  <c:v>0.97</c:v>
                </c:pt>
                <c:pt idx="98">
                  <c:v>0.98</c:v>
                </c:pt>
                <c:pt idx="99">
                  <c:v>0.99</c:v>
                </c:pt>
                <c:pt idx="100">
                  <c:v>1</c:v>
                </c:pt>
              </c:numCache>
            </c:numRef>
          </c:xVal>
          <c:yVal>
            <c:numRef>
              <c:f>'Chart Data'!$F$2:$F$102</c:f>
              <c:numCache>
                <c:formatCode>0.0</c:formatCode>
                <c:ptCount val="101"/>
                <c:pt idx="0">
                  <c:v>0.14872337</c:v>
                </c:pt>
                <c:pt idx="1">
                  <c:v>0.17644793</c:v>
                </c:pt>
                <c:pt idx="2">
                  <c:v>0.20391609</c:v>
                </c:pt>
                <c:pt idx="3">
                  <c:v>0.23112783</c:v>
                </c:pt>
                <c:pt idx="4">
                  <c:v>0.25808316</c:v>
                </c:pt>
                <c:pt idx="5">
                  <c:v>0.28478208</c:v>
                </c:pt>
                <c:pt idx="6">
                  <c:v>0.31122459</c:v>
                </c:pt>
                <c:pt idx="7">
                  <c:v>0.33741068</c:v>
                </c:pt>
                <c:pt idx="8">
                  <c:v>0.36334037</c:v>
                </c:pt>
                <c:pt idx="9">
                  <c:v>0.38901364</c:v>
                </c:pt>
                <c:pt idx="10">
                  <c:v>0.41443049</c:v>
                </c:pt>
                <c:pt idx="11">
                  <c:v>0.43959094</c:v>
                </c:pt>
                <c:pt idx="12">
                  <c:v>0.46449498</c:v>
                </c:pt>
                <c:pt idx="13">
                  <c:v>0.4891426</c:v>
                </c:pt>
                <c:pt idx="14">
                  <c:v>0.51353381</c:v>
                </c:pt>
                <c:pt idx="15">
                  <c:v>0.53766861</c:v>
                </c:pt>
                <c:pt idx="16">
                  <c:v>0.56154699</c:v>
                </c:pt>
                <c:pt idx="17">
                  <c:v>0.58516896</c:v>
                </c:pt>
                <c:pt idx="18">
                  <c:v>0.60853453</c:v>
                </c:pt>
                <c:pt idx="19">
                  <c:v>0.63164368</c:v>
                </c:pt>
                <c:pt idx="20">
                  <c:v>0.65449641</c:v>
                </c:pt>
                <c:pt idx="21">
                  <c:v>0.67709274</c:v>
                </c:pt>
                <c:pt idx="22">
                  <c:v>0.69943265</c:v>
                </c:pt>
                <c:pt idx="23">
                  <c:v>0.72151615</c:v>
                </c:pt>
                <c:pt idx="24">
                  <c:v>0.74334324</c:v>
                </c:pt>
                <c:pt idx="25">
                  <c:v>0.76491392</c:v>
                </c:pt>
                <c:pt idx="26">
                  <c:v>0.78622818</c:v>
                </c:pt>
                <c:pt idx="27">
                  <c:v>0.80728604</c:v>
                </c:pt>
                <c:pt idx="28">
                  <c:v>0.82808748</c:v>
                </c:pt>
                <c:pt idx="29">
                  <c:v>0.8486325</c:v>
                </c:pt>
                <c:pt idx="30">
                  <c:v>0.86892112</c:v>
                </c:pt>
                <c:pt idx="31">
                  <c:v>0.88895333</c:v>
                </c:pt>
                <c:pt idx="32">
                  <c:v>0.90872912</c:v>
                </c:pt>
                <c:pt idx="33">
                  <c:v>0.9282485</c:v>
                </c:pt>
                <c:pt idx="34">
                  <c:v>0.94751147</c:v>
                </c:pt>
                <c:pt idx="35">
                  <c:v>0.96651802</c:v>
                </c:pt>
                <c:pt idx="36">
                  <c:v>0.98526817</c:v>
                </c:pt>
                <c:pt idx="37">
                  <c:v>1.0037619</c:v>
                </c:pt>
                <c:pt idx="38">
                  <c:v>1.02199922</c:v>
                </c:pt>
                <c:pt idx="39">
                  <c:v>1.03998012</c:v>
                </c:pt>
                <c:pt idx="40">
                  <c:v>1.05770462</c:v>
                </c:pt>
                <c:pt idx="41">
                  <c:v>1.0751727</c:v>
                </c:pt>
                <c:pt idx="42">
                  <c:v>1.09238437</c:v>
                </c:pt>
                <c:pt idx="43">
                  <c:v>1.10933963</c:v>
                </c:pt>
                <c:pt idx="44">
                  <c:v>1.12603848</c:v>
                </c:pt>
                <c:pt idx="45">
                  <c:v>1.14248091</c:v>
                </c:pt>
                <c:pt idx="46">
                  <c:v>1.15866694</c:v>
                </c:pt>
                <c:pt idx="47">
                  <c:v>1.17459655</c:v>
                </c:pt>
                <c:pt idx="48">
                  <c:v>1.19026975</c:v>
                </c:pt>
                <c:pt idx="49">
                  <c:v>1.20568653</c:v>
                </c:pt>
                <c:pt idx="50">
                  <c:v>1.22084691</c:v>
                </c:pt>
                <c:pt idx="51">
                  <c:v>1.23575087</c:v>
                </c:pt>
                <c:pt idx="52">
                  <c:v>1.25039842</c:v>
                </c:pt>
                <c:pt idx="53">
                  <c:v>1.26478956</c:v>
                </c:pt>
                <c:pt idx="54">
                  <c:v>1.27892428</c:v>
                </c:pt>
                <c:pt idx="55">
                  <c:v>1.2928026</c:v>
                </c:pt>
                <c:pt idx="56">
                  <c:v>1.3064245</c:v>
                </c:pt>
                <c:pt idx="57">
                  <c:v>1.31978999</c:v>
                </c:pt>
                <c:pt idx="58">
                  <c:v>1.33289907</c:v>
                </c:pt>
                <c:pt idx="59">
                  <c:v>1.34575173</c:v>
                </c:pt>
                <c:pt idx="60">
                  <c:v>1.35834798</c:v>
                </c:pt>
                <c:pt idx="61">
                  <c:v>1.37068783</c:v>
                </c:pt>
                <c:pt idx="62">
                  <c:v>1.38277125</c:v>
                </c:pt>
                <c:pt idx="63">
                  <c:v>1.39459827</c:v>
                </c:pt>
                <c:pt idx="64">
                  <c:v>1.40616888</c:v>
                </c:pt>
                <c:pt idx="65">
                  <c:v>1.41748307</c:v>
                </c:pt>
                <c:pt idx="66">
                  <c:v>1.42854085</c:v>
                </c:pt>
                <c:pt idx="67">
                  <c:v>1.43934222</c:v>
                </c:pt>
                <c:pt idx="68">
                  <c:v>1.44988717</c:v>
                </c:pt>
                <c:pt idx="69">
                  <c:v>1.46017572</c:v>
                </c:pt>
                <c:pt idx="70">
                  <c:v>1.47020785</c:v>
                </c:pt>
                <c:pt idx="71">
                  <c:v>1.47998357</c:v>
                </c:pt>
                <c:pt idx="72">
                  <c:v>1.48950288</c:v>
                </c:pt>
                <c:pt idx="73">
                  <c:v>1.49876578</c:v>
                </c:pt>
                <c:pt idx="74">
                  <c:v>1.50777226</c:v>
                </c:pt>
                <c:pt idx="75">
                  <c:v>1.51652233</c:v>
                </c:pt>
                <c:pt idx="76">
                  <c:v>1.52501599</c:v>
                </c:pt>
                <c:pt idx="77">
                  <c:v>1.53325324</c:v>
                </c:pt>
                <c:pt idx="78">
                  <c:v>1.54123407</c:v>
                </c:pt>
                <c:pt idx="79">
                  <c:v>1.5489585</c:v>
                </c:pt>
                <c:pt idx="80">
                  <c:v>1.55642651</c:v>
                </c:pt>
                <c:pt idx="81">
                  <c:v>1.56363811</c:v>
                </c:pt>
                <c:pt idx="82">
                  <c:v>1.57059329</c:v>
                </c:pt>
                <c:pt idx="83">
                  <c:v>1.57729207</c:v>
                </c:pt>
                <c:pt idx="84">
                  <c:v>1.58373443</c:v>
                </c:pt>
                <c:pt idx="85">
                  <c:v>1.58992038</c:v>
                </c:pt>
                <c:pt idx="86">
                  <c:v>1.59584992</c:v>
                </c:pt>
                <c:pt idx="87">
                  <c:v>1.60152305</c:v>
                </c:pt>
                <c:pt idx="88">
                  <c:v>1.60693976</c:v>
                </c:pt>
                <c:pt idx="89">
                  <c:v>1.61210006</c:v>
                </c:pt>
                <c:pt idx="90">
                  <c:v>1.61700395</c:v>
                </c:pt>
                <c:pt idx="91">
                  <c:v>1.62165143</c:v>
                </c:pt>
                <c:pt idx="92">
                  <c:v>1.6260425</c:v>
                </c:pt>
                <c:pt idx="93">
                  <c:v>1.63017715</c:v>
                </c:pt>
                <c:pt idx="94">
                  <c:v>1.63405539</c:v>
                </c:pt>
                <c:pt idx="95">
                  <c:v>1.63767722</c:v>
                </c:pt>
                <c:pt idx="96">
                  <c:v>1.64104264</c:v>
                </c:pt>
                <c:pt idx="97">
                  <c:v>1.64415165</c:v>
                </c:pt>
                <c:pt idx="98">
                  <c:v>1.64700424</c:v>
                </c:pt>
                <c:pt idx="99">
                  <c:v>1.64960042</c:v>
                </c:pt>
                <c:pt idx="100">
                  <c:v>1.65194019</c:v>
                </c:pt>
              </c:numCache>
            </c:numRef>
          </c:yVal>
        </c:ser>
        <c:dLbls>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showLegendKey val="0"/>
          <c:showVal val="0"/>
          <c:showCatName val="0"/>
          <c:showSerName val="0"/>
          <c:showPercent val="0"/>
          <c:showBubbleSize val="0"/>
          <c:showLeaderLines val="0"/>
        </c:dLbls>
        <c:axId val="48650112"/>
        <c:axId val="48672768"/>
      </c:scatterChart>
      <c:valAx>
        <c:axId val="48672768"/>
        <c:scaling>
          <c:orientation val="minMax"/>
          <c:max val="2"/>
          <c:min val="0"/>
        </c:scaling>
        <c:delete val="0"/>
        <c:axPos val="l"/>
        <c:majorGridlines>
          <c:spPr>
            <a:ln xmlns:a="http://schemas.openxmlformats.org/drawingml/2006/main" w="6668">
              <a:solidFill>
                <a:srgbClr val="E2E8F0"/>
              </a:solidFill>
            </a:ln>
          </c:spPr>
        </c:majorGridlines>
        <c:title>
          <c:tx>
            <c:rich>
              <a:bodyPr xmlns:a="http://schemas.openxmlformats.org/drawingml/2006/main"/>
              <a:lstStyle xmlns:a="http://schemas.openxmlformats.org/drawingml/2006/main"/>
              <a:p xmlns:a="http://schemas.openxmlformats.org/drawingml/2006/main">
                <a:r>
                  <a:rPr sz="1275">
                    <a:latin typeface="Calibri"/>
                    <a:ea typeface="Calibri"/>
                    <a:cs typeface="Calibri"/>
                  </a:rPr>
                  <a:t>Detector response (a.u.)</a:t>
                </a:r>
              </a:p>
            </c:rich>
          </c:tx>
          <c:overlay val="0"/>
          <c:txPr>
            <a:bodyPr xmlns:a="http://schemas.openxmlformats.org/drawingml/2006/main" anchorCtr="1"/>
            <a:lstStyle xmlns:a="http://schemas.openxmlformats.org/drawingml/2006/main"/>
            <a:p xmlns:a="http://schemas.openxmlformats.org/drawingml/2006/main">
              <a:pPr>
                <a:defRPr sz="1275">
                  <a:latin typeface="Calibri"/>
                  <a:ea typeface="Calibri"/>
                  <a:cs typeface="Calibri"/>
                </a:defRPr>
              </a:pPr>
            </a:p>
          </c:txPr>
        </c:title>
        <c:numFmt formatCode="0.0"/>
        <c:majorTickMark val="none"/>
        <c:minorTickMark val="none"/>
        <c:spPr>
          <a:ln xmlns:a="http://schemas.openxmlformats.org/drawingml/2006/main" w="9525">
            <a:solidFill>
              <a:srgbClr val="64748B"/>
            </a:solidFill>
          </a:ln>
        </c:spPr>
        <c:txPr>
          <a:bodyPr xmlns:a="http://schemas.openxmlformats.org/drawingml/2006/main" anchorCtr="1"/>
          <a:lstStyle xmlns:a="http://schemas.openxmlformats.org/drawingml/2006/main"/>
          <a:p xmlns:a="http://schemas.openxmlformats.org/drawingml/2006/main">
            <a:pPr>
              <a:defRPr sz="1200">
                <a:solidFill>
                  <a:srgbClr val="64748B"/>
                </a:solidFill>
                <a:latin typeface="Calibri"/>
                <a:ea typeface="Calibri"/>
                <a:cs typeface="Calibri"/>
              </a:defRPr>
            </a:pPr>
          </a:p>
        </c:txPr>
        <c:crossAx val="48650112"/>
        <c:majorUnit val="0.5"/>
      </c:valAx>
      <c:valAx>
        <c:axId val="48650112"/>
        <c:scaling>
          <c:orientation val="minMax"/>
          <c:max val="1"/>
          <c:min val="0"/>
        </c:scaling>
        <c:delete val="0"/>
        <c:axPos val="b"/>
        <c:title>
          <c:tx>
            <c:rich>
              <a:bodyPr xmlns:a="http://schemas.openxmlformats.org/drawingml/2006/main"/>
              <a:lstStyle xmlns:a="http://schemas.openxmlformats.org/drawingml/2006/main"/>
              <a:p xmlns:a="http://schemas.openxmlformats.org/drawingml/2006/main">
                <a:r>
                  <a:rPr sz="1275">
                    <a:latin typeface="Calibri"/>
                    <a:ea typeface="Calibri"/>
                    <a:cs typeface="Calibri"/>
                  </a:rPr>
                  <a:t>Concentration (mg/L)</a:t>
                </a:r>
              </a:p>
            </c:rich>
          </c:tx>
          <c:overlay val="0"/>
          <c:txPr>
            <a:bodyPr xmlns:a="http://schemas.openxmlformats.org/drawingml/2006/main" anchorCtr="1"/>
            <a:lstStyle xmlns:a="http://schemas.openxmlformats.org/drawingml/2006/main"/>
            <a:p xmlns:a="http://schemas.openxmlformats.org/drawingml/2006/main">
              <a:pPr>
                <a:defRPr sz="1275">
                  <a:latin typeface="Calibri"/>
                  <a:ea typeface="Calibri"/>
                  <a:cs typeface="Calibri"/>
                </a:defRPr>
              </a:pPr>
            </a:p>
          </c:txPr>
        </c:title>
        <c:numFmt formatCode="0.0"/>
        <c:majorTickMark val="none"/>
        <c:minorTickMark val="none"/>
        <c:spPr>
          <a:ln xmlns:a="http://schemas.openxmlformats.org/drawingml/2006/main" w="9525">
            <a:solidFill>
              <a:srgbClr val="64748B"/>
            </a:solidFill>
          </a:ln>
        </c:spPr>
        <c:txPr>
          <a:bodyPr xmlns:a="http://schemas.openxmlformats.org/drawingml/2006/main" anchorCtr="1"/>
          <a:lstStyle xmlns:a="http://schemas.openxmlformats.org/drawingml/2006/main"/>
          <a:p xmlns:a="http://schemas.openxmlformats.org/drawingml/2006/main">
            <a:pPr>
              <a:defRPr sz="1200">
                <a:solidFill>
                  <a:srgbClr val="64748B"/>
                </a:solidFill>
                <a:latin typeface="Calibri"/>
                <a:ea typeface="Calibri"/>
                <a:cs typeface="Calibri"/>
              </a:defRPr>
            </a:pPr>
          </a:p>
        </c:txPr>
        <c:crossAx val="48672768"/>
        <c:majorUnit val="0.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200">
              <a:solidFill>
                <a:srgbClr val="1E293B"/>
              </a:solidFill>
              <a:latin typeface="Calibri"/>
              <a:ea typeface="Calibri"/>
              <a:cs typeface="Calibri"/>
            </a:defRPr>
          </a:pPr>
        </a:p>
      </c:txPr>
    </c:legend>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lineMarker"/>
        <c:varyColors val="0"/>
        <c:ser>
          <c:idx val="0"/>
          <c:order val="0"/>
          <c:tx>
            <c:v>Calibration standards</c:v>
          </c:tx>
          <c:spPr>
            <a:ln xmlns:a="http://schemas.openxmlformats.org/drawingml/2006/main" w="0">
              <a:noFill/>
            </a:ln>
          </c:spPr>
          <c:marker>
            <c:symbol val="circle"/>
            <c:size val="6"/>
            <c:spPr>
              <a:solidFill xmlns:a="http://schemas.openxmlformats.org/drawingml/2006/main">
                <a:srgbClr val="028090"/>
              </a:solidFill>
            </c:spPr>
          </c:marker>
          <c:xVal>
            <c:numRef>
              <c:f>'Chart Data'!$A$2:$A$13</c:f>
              <c:numCache>
                <c:formatCode>General</c:formatCode>
                <c:ptCount val="12"/>
                <c:pt idx="0">
                  <c:v>0</c:v>
                </c:pt>
                <c:pt idx="1">
                  <c:v>0.09090909</c:v>
                </c:pt>
                <c:pt idx="2">
                  <c:v>0.18181818</c:v>
                </c:pt>
                <c:pt idx="3">
                  <c:v>0.27272727</c:v>
                </c:pt>
                <c:pt idx="4">
                  <c:v>0.36363636</c:v>
                </c:pt>
                <c:pt idx="5">
                  <c:v>0.45454545</c:v>
                </c:pt>
                <c:pt idx="6">
                  <c:v>0.54545455</c:v>
                </c:pt>
                <c:pt idx="7">
                  <c:v>0.63636364</c:v>
                </c:pt>
                <c:pt idx="8">
                  <c:v>0.72727273</c:v>
                </c:pt>
                <c:pt idx="9">
                  <c:v>0.81818182</c:v>
                </c:pt>
                <c:pt idx="10">
                  <c:v>0.90909091</c:v>
                </c:pt>
                <c:pt idx="11">
                  <c:v>1</c:v>
                </c:pt>
              </c:numCache>
            </c:numRef>
          </c:xVal>
          <c:yVal>
            <c:numRef>
              <c:f>'Chart Data'!$B$2:$B$13</c:f>
              <c:numCache>
                <c:formatCode>0.0</c:formatCode>
                <c:ptCount val="12"/>
                <c:pt idx="0">
                  <c:v>0.1106651</c:v>
                </c:pt>
                <c:pt idx="1">
                  <c:v>0.3628453</c:v>
                </c:pt>
                <c:pt idx="2">
                  <c:v>0.67500672</c:v>
                </c:pt>
                <c:pt idx="3">
                  <c:v>0.88967886</c:v>
                </c:pt>
                <c:pt idx="4">
                  <c:v>0.96190862</c:v>
                </c:pt>
                <c:pt idx="5">
                  <c:v>1.12922114</c:v>
                </c:pt>
                <c:pt idx="6">
                  <c:v>1.29983465</c:v>
                </c:pt>
                <c:pt idx="7">
                  <c:v>1.38481134</c:v>
                </c:pt>
                <c:pt idx="8">
                  <c:v>1.4791003</c:v>
                </c:pt>
                <c:pt idx="9">
                  <c:v>1.51970739</c:v>
                </c:pt>
                <c:pt idx="10">
                  <c:v>1.63860183</c:v>
                </c:pt>
                <c:pt idx="11">
                  <c:v>1.68361921</c:v>
                </c:pt>
              </c:numCache>
            </c:numRef>
          </c:yVal>
        </c:ser>
        <c:ser>
          <c:idx val="1"/>
          <c:order val="1"/>
          <c:tx>
            <c:v>Very flexible model</c:v>
          </c:tx>
          <c:spPr>
            <a:ln xmlns:a="http://schemas.openxmlformats.org/drawingml/2006/main" w="23813">
              <a:solidFill>
                <a:srgbClr val="C56B30"/>
              </a:solidFill>
            </a:ln>
          </c:spPr>
          <c:marker>
            <c:symbol val="none"/>
          </c:marker>
          <c:xVal>
            <c:numRef>
              <c:f>'Chart Data'!$C$2:$C$102</c:f>
              <c:numCache>
                <c:formatCode>General</c:formatCode>
                <c:ptCount val="101"/>
                <c:pt idx="0">
                  <c:v>0</c:v>
                </c:pt>
                <c:pt idx="1">
                  <c:v>0.01</c:v>
                </c:pt>
                <c:pt idx="2">
                  <c:v>0.02</c:v>
                </c:pt>
                <c:pt idx="3">
                  <c:v>0.03</c:v>
                </c:pt>
                <c:pt idx="4">
                  <c:v>0.04</c:v>
                </c:pt>
                <c:pt idx="5">
                  <c:v>0.05</c:v>
                </c:pt>
                <c:pt idx="6">
                  <c:v>0.06</c:v>
                </c:pt>
                <c:pt idx="7">
                  <c:v>0.07</c:v>
                </c:pt>
                <c:pt idx="8">
                  <c:v>0.08</c:v>
                </c:pt>
                <c:pt idx="9">
                  <c:v>0.09</c:v>
                </c:pt>
                <c:pt idx="10">
                  <c:v>0.1</c:v>
                </c:pt>
                <c:pt idx="11">
                  <c:v>0.11</c:v>
                </c:pt>
                <c:pt idx="12">
                  <c:v>0.12</c:v>
                </c:pt>
                <c:pt idx="13">
                  <c:v>0.13</c:v>
                </c:pt>
                <c:pt idx="14">
                  <c:v>0.14</c:v>
                </c:pt>
                <c:pt idx="15">
                  <c:v>0.15</c:v>
                </c:pt>
                <c:pt idx="16">
                  <c:v>0.16</c:v>
                </c:pt>
                <c:pt idx="17">
                  <c:v>0.17</c:v>
                </c:pt>
                <c:pt idx="18">
                  <c:v>0.18</c:v>
                </c:pt>
                <c:pt idx="19">
                  <c:v>0.19</c:v>
                </c:pt>
                <c:pt idx="20">
                  <c:v>0.2</c:v>
                </c:pt>
                <c:pt idx="21">
                  <c:v>0.21</c:v>
                </c:pt>
                <c:pt idx="22">
                  <c:v>0.22</c:v>
                </c:pt>
                <c:pt idx="23">
                  <c:v>0.23</c:v>
                </c:pt>
                <c:pt idx="24">
                  <c:v>0.24</c:v>
                </c:pt>
                <c:pt idx="25">
                  <c:v>0.25</c:v>
                </c:pt>
                <c:pt idx="26">
                  <c:v>0.26</c:v>
                </c:pt>
                <c:pt idx="27">
                  <c:v>0.27</c:v>
                </c:pt>
                <c:pt idx="28">
                  <c:v>0.28</c:v>
                </c:pt>
                <c:pt idx="29">
                  <c:v>0.29</c:v>
                </c:pt>
                <c:pt idx="30">
                  <c:v>0.3</c:v>
                </c:pt>
                <c:pt idx="31">
                  <c:v>0.31</c:v>
                </c:pt>
                <c:pt idx="32">
                  <c:v>0.32</c:v>
                </c:pt>
                <c:pt idx="33">
                  <c:v>0.33</c:v>
                </c:pt>
                <c:pt idx="34">
                  <c:v>0.34</c:v>
                </c:pt>
                <c:pt idx="35">
                  <c:v>0.35</c:v>
                </c:pt>
                <c:pt idx="36">
                  <c:v>0.36</c:v>
                </c:pt>
                <c:pt idx="37">
                  <c:v>0.37</c:v>
                </c:pt>
                <c:pt idx="38">
                  <c:v>0.38</c:v>
                </c:pt>
                <c:pt idx="39">
                  <c:v>0.39</c:v>
                </c:pt>
                <c:pt idx="40">
                  <c:v>0.4</c:v>
                </c:pt>
                <c:pt idx="41">
                  <c:v>0.41</c:v>
                </c:pt>
                <c:pt idx="42">
                  <c:v>0.42</c:v>
                </c:pt>
                <c:pt idx="43">
                  <c:v>0.43</c:v>
                </c:pt>
                <c:pt idx="44">
                  <c:v>0.44</c:v>
                </c:pt>
                <c:pt idx="45">
                  <c:v>0.45</c:v>
                </c:pt>
                <c:pt idx="46">
                  <c:v>0.46</c:v>
                </c:pt>
                <c:pt idx="47">
                  <c:v>0.47</c:v>
                </c:pt>
                <c:pt idx="48">
                  <c:v>0.48</c:v>
                </c:pt>
                <c:pt idx="49">
                  <c:v>0.49</c:v>
                </c:pt>
                <c:pt idx="50">
                  <c:v>0.5</c:v>
                </c:pt>
                <c:pt idx="51">
                  <c:v>0.51</c:v>
                </c:pt>
                <c:pt idx="52">
                  <c:v>0.52</c:v>
                </c:pt>
                <c:pt idx="53">
                  <c:v>0.53</c:v>
                </c:pt>
                <c:pt idx="54">
                  <c:v>0.54</c:v>
                </c:pt>
                <c:pt idx="55">
                  <c:v>0.55</c:v>
                </c:pt>
                <c:pt idx="56">
                  <c:v>0.56</c:v>
                </c:pt>
                <c:pt idx="57">
                  <c:v>0.57</c:v>
                </c:pt>
                <c:pt idx="58">
                  <c:v>0.58</c:v>
                </c:pt>
                <c:pt idx="59">
                  <c:v>0.59</c:v>
                </c:pt>
                <c:pt idx="60">
                  <c:v>0.6</c:v>
                </c:pt>
                <c:pt idx="61">
                  <c:v>0.61</c:v>
                </c:pt>
                <c:pt idx="62">
                  <c:v>0.62</c:v>
                </c:pt>
                <c:pt idx="63">
                  <c:v>0.63</c:v>
                </c:pt>
                <c:pt idx="64">
                  <c:v>0.64</c:v>
                </c:pt>
                <c:pt idx="65">
                  <c:v>0.65</c:v>
                </c:pt>
                <c:pt idx="66">
                  <c:v>0.66</c:v>
                </c:pt>
                <c:pt idx="67">
                  <c:v>0.67</c:v>
                </c:pt>
                <c:pt idx="68">
                  <c:v>0.68</c:v>
                </c:pt>
                <c:pt idx="69">
                  <c:v>0.69</c:v>
                </c:pt>
                <c:pt idx="70">
                  <c:v>0.7</c:v>
                </c:pt>
                <c:pt idx="71">
                  <c:v>0.71</c:v>
                </c:pt>
                <c:pt idx="72">
                  <c:v>0.72</c:v>
                </c:pt>
                <c:pt idx="73">
                  <c:v>0.73</c:v>
                </c:pt>
                <c:pt idx="74">
                  <c:v>0.74</c:v>
                </c:pt>
                <c:pt idx="75">
                  <c:v>0.75</c:v>
                </c:pt>
                <c:pt idx="76">
                  <c:v>0.76</c:v>
                </c:pt>
                <c:pt idx="77">
                  <c:v>0.77</c:v>
                </c:pt>
                <c:pt idx="78">
                  <c:v>0.78</c:v>
                </c:pt>
                <c:pt idx="79">
                  <c:v>0.79</c:v>
                </c:pt>
                <c:pt idx="80">
                  <c:v>0.8</c:v>
                </c:pt>
                <c:pt idx="81">
                  <c:v>0.81</c:v>
                </c:pt>
                <c:pt idx="82">
                  <c:v>0.82</c:v>
                </c:pt>
                <c:pt idx="83">
                  <c:v>0.83</c:v>
                </c:pt>
                <c:pt idx="84">
                  <c:v>0.84</c:v>
                </c:pt>
                <c:pt idx="85">
                  <c:v>0.85</c:v>
                </c:pt>
                <c:pt idx="86">
                  <c:v>0.86</c:v>
                </c:pt>
                <c:pt idx="87">
                  <c:v>0.87</c:v>
                </c:pt>
                <c:pt idx="88">
                  <c:v>0.88</c:v>
                </c:pt>
                <c:pt idx="89">
                  <c:v>0.89</c:v>
                </c:pt>
                <c:pt idx="90">
                  <c:v>0.9</c:v>
                </c:pt>
                <c:pt idx="91">
                  <c:v>0.91</c:v>
                </c:pt>
                <c:pt idx="92">
                  <c:v>0.92</c:v>
                </c:pt>
                <c:pt idx="93">
                  <c:v>0.93</c:v>
                </c:pt>
                <c:pt idx="94">
                  <c:v>0.94</c:v>
                </c:pt>
                <c:pt idx="95">
                  <c:v>0.95</c:v>
                </c:pt>
                <c:pt idx="96">
                  <c:v>0.96</c:v>
                </c:pt>
                <c:pt idx="97">
                  <c:v>0.97</c:v>
                </c:pt>
                <c:pt idx="98">
                  <c:v>0.98</c:v>
                </c:pt>
                <c:pt idx="99">
                  <c:v>0.99</c:v>
                </c:pt>
                <c:pt idx="100">
                  <c:v>1</c:v>
                </c:pt>
              </c:numCache>
            </c:numRef>
          </c:xVal>
          <c:yVal>
            <c:numRef>
              <c:f>'Chart Data'!$D$2:$D$102</c:f>
              <c:numCache>
                <c:formatCode>0.0</c:formatCode>
                <c:ptCount val="101"/>
                <c:pt idx="0">
                  <c:v>0.1106651</c:v>
                </c:pt>
                <c:pt idx="1">
                  <c:v>0.22657224</c:v>
                </c:pt>
                <c:pt idx="2">
                  <c:v>0.29324835</c:v>
                </c:pt>
                <c:pt idx="3">
                  <c:v>0.32718258</c:v>
                </c:pt>
                <c:pt idx="4">
                  <c:v>0.34107935</c:v>
                </c:pt>
                <c:pt idx="5">
                  <c:v>0.34447271</c:v>
                </c:pt>
                <c:pt idx="6">
                  <c:v>0.34427181</c:v>
                </c:pt>
                <c:pt idx="7">
                  <c:v>0.34524217</c:v>
                </c:pt>
                <c:pt idx="8">
                  <c:v>0.35042736</c:v>
                </c:pt>
                <c:pt idx="9">
                  <c:v>0.3615154</c:v>
                </c:pt>
                <c:pt idx="10">
                  <c:v>0.37915451</c:v>
                </c:pt>
                <c:pt idx="11">
                  <c:v>0.40322233</c:v>
                </c:pt>
                <c:pt idx="12">
                  <c:v>0.43305286</c:v>
                </c:pt>
                <c:pt idx="13">
                  <c:v>0.46762506</c:v>
                </c:pt>
                <c:pt idx="14">
                  <c:v>0.5057171</c:v>
                </c:pt>
                <c:pt idx="15">
                  <c:v>0.5460298</c:v>
                </c:pt>
                <c:pt idx="16">
                  <c:v>0.58728287</c:v>
                </c:pt>
                <c:pt idx="17">
                  <c:v>0.6282873</c:v>
                </c:pt>
                <c:pt idx="18">
                  <c:v>0.6679969</c:v>
                </c:pt>
                <c:pt idx="19">
                  <c:v>0.70554216</c:v>
                </c:pt>
                <c:pt idx="20">
                  <c:v>0.74024891</c:v>
                </c:pt>
                <c:pt idx="21">
                  <c:v>0.77164451</c:v>
                </c:pt>
                <c:pt idx="22">
                  <c:v>0.79945384</c:v>
                </c:pt>
                <c:pt idx="23">
                  <c:v>0.82358719</c:v>
                </c:pt>
                <c:pt idx="24">
                  <c:v>0.84412205</c:v>
                </c:pt>
                <c:pt idx="25">
                  <c:v>0.86128043</c:v>
                </c:pt>
                <c:pt idx="26">
                  <c:v>0.87540342</c:v>
                </c:pt>
                <c:pt idx="27">
                  <c:v>0.88692415</c:v>
                </c:pt>
                <c:pt idx="28">
                  <c:v>0.89634046</c:v>
                </c:pt>
                <c:pt idx="29">
                  <c:v>0.90418825</c:v>
                </c:pt>
                <c:pt idx="30">
                  <c:v>0.91101628</c:v>
                </c:pt>
                <c:pt idx="31">
                  <c:v>0.91736313</c:v>
                </c:pt>
                <c:pt idx="32">
                  <c:v>0.92373693</c:v>
                </c:pt>
                <c:pt idx="33">
                  <c:v>0.93059801</c:v>
                </c:pt>
                <c:pt idx="34">
                  <c:v>0.93834502</c:v>
                </c:pt>
                <c:pt idx="35">
                  <c:v>0.9473044</c:v>
                </c:pt>
                <c:pt idx="36">
                  <c:v>0.95772334</c:v>
                </c:pt>
                <c:pt idx="37">
                  <c:v>0.96976615</c:v>
                </c:pt>
                <c:pt idx="38">
                  <c:v>0.98351383</c:v>
                </c:pt>
                <c:pt idx="39">
                  <c:v>0.99896669</c:v>
                </c:pt>
                <c:pt idx="40">
                  <c:v>1.0160496</c:v>
                </c:pt>
                <c:pt idx="41">
                  <c:v>1.03461963</c:v>
                </c:pt>
                <c:pt idx="42">
                  <c:v>1.05447561</c:v>
                </c:pt>
                <c:pt idx="43">
                  <c:v>1.07536921</c:v>
                </c:pt>
                <c:pt idx="44">
                  <c:v>1.09701712</c:v>
                </c:pt>
                <c:pt idx="45">
                  <c:v>1.11911387</c:v>
                </c:pt>
                <c:pt idx="46">
                  <c:v>1.14134483</c:v>
                </c:pt>
                <c:pt idx="47">
                  <c:v>1.16339892</c:v>
                </c:pt>
                <c:pt idx="48">
                  <c:v>1.18498075</c:v>
                </c:pt>
                <c:pt idx="49">
                  <c:v>1.20582164</c:v>
                </c:pt>
                <c:pt idx="50">
                  <c:v>1.2256893</c:v>
                </c:pt>
                <c:pt idx="51">
                  <c:v>1.2443958</c:v>
                </c:pt>
                <c:pt idx="52">
                  <c:v>1.26180365</c:v>
                </c:pt>
                <c:pt idx="53">
                  <c:v>1.27782979</c:v>
                </c:pt>
                <c:pt idx="54">
                  <c:v>1.29244722</c:v>
                </c:pt>
                <c:pt idx="55">
                  <c:v>1.30568454</c:v>
                </c:pt>
                <c:pt idx="56">
                  <c:v>1.31762306</c:v>
                </c:pt>
                <c:pt idx="57">
                  <c:v>1.32839177</c:v>
                </c:pt>
                <c:pt idx="58">
                  <c:v>1.33816033</c:v>
                </c:pt>
                <c:pt idx="59">
                  <c:v>1.34713016</c:v>
                </c:pt>
                <c:pt idx="60">
                  <c:v>1.35552412</c:v>
                </c:pt>
                <c:pt idx="61">
                  <c:v>1.36357491</c:v>
                </c:pt>
                <c:pt idx="62">
                  <c:v>1.3715129</c:v>
                </c:pt>
                <c:pt idx="63">
                  <c:v>1.37955352</c:v>
                </c:pt>
                <c:pt idx="64">
                  <c:v>1.38788502</c:v>
                </c:pt>
                <c:pt idx="65">
                  <c:v>1.39665691</c:v>
                </c:pt>
                <c:pt idx="66">
                  <c:v>1.40596982</c:v>
                </c:pt>
                <c:pt idx="67">
                  <c:v>1.41586723</c:v>
                </c:pt>
                <c:pt idx="68">
                  <c:v>1.42632968</c:v>
                </c:pt>
                <c:pt idx="69">
                  <c:v>1.43727199</c:v>
                </c:pt>
                <c:pt idx="70">
                  <c:v>1.44854389</c:v>
                </c:pt>
                <c:pt idx="71">
                  <c:v>1.45993462</c:v>
                </c:pt>
                <c:pt idx="72">
                  <c:v>1.47118172</c:v>
                </c:pt>
                <c:pt idx="73">
                  <c:v>1.48198408</c:v>
                </c:pt>
                <c:pt idx="74">
                  <c:v>1.49201962</c:v>
                </c:pt>
                <c:pt idx="75">
                  <c:v>1.50096705</c:v>
                </c:pt>
                <c:pt idx="76">
                  <c:v>1.50853169</c:v>
                </c:pt>
                <c:pt idx="77">
                  <c:v>1.51447451</c:v>
                </c:pt>
                <c:pt idx="78">
                  <c:v>1.51864354</c:v>
                </c:pt>
                <c:pt idx="79">
                  <c:v>1.52100647</c:v>
                </c:pt>
                <c:pt idx="80">
                  <c:v>1.52168267</c:v>
                </c:pt>
                <c:pt idx="81">
                  <c:v>1.52097268</c:v>
                </c:pt>
                <c:pt idx="82">
                  <c:v>1.51938261</c:v>
                </c:pt>
                <c:pt idx="83">
                  <c:v>1.51764022</c:v>
                </c:pt>
                <c:pt idx="84">
                  <c:v>1.5166993</c:v>
                </c:pt>
                <c:pt idx="85">
                  <c:v>1.51772765</c:v>
                </c:pt>
                <c:pt idx="86">
                  <c:v>1.52207397</c:v>
                </c:pt>
                <c:pt idx="87">
                  <c:v>1.53120757</c:v>
                </c:pt>
                <c:pt idx="88">
                  <c:v>1.54662438</c:v>
                </c:pt>
                <c:pt idx="89">
                  <c:v>1.5697115</c:v>
                </c:pt>
                <c:pt idx="90">
                  <c:v>1.60156185</c:v>
                </c:pt>
                <c:pt idx="91">
                  <c:v>1.64272903</c:v>
                </c:pt>
                <c:pt idx="92">
                  <c:v>1.69291172</c:v>
                </c:pt>
                <c:pt idx="93">
                  <c:v>1.75055524</c:v>
                </c:pt>
                <c:pt idx="94">
                  <c:v>1.81235699</c:v>
                </c:pt>
                <c:pt idx="95">
                  <c:v>1.8726608</c:v>
                </c:pt>
                <c:pt idx="96">
                  <c:v>1.92272356</c:v>
                </c:pt>
                <c:pt idx="97">
                  <c:v>1.94983622</c:v>
                </c:pt>
                <c:pt idx="98">
                  <c:v>1.93627903</c:v>
                </c:pt>
                <c:pt idx="99">
                  <c:v>1.85808953</c:v>
                </c:pt>
                <c:pt idx="100">
                  <c:v>1.68361921</c:v>
                </c:pt>
              </c:numCache>
            </c:numRef>
          </c:yVal>
        </c:ser>
        <c:ser>
          <c:idx val="2"/>
          <c:order val="2"/>
          <c:tx>
            <c:v>Curved model</c:v>
          </c:tx>
          <c:spPr>
            <a:ln xmlns:a="http://schemas.openxmlformats.org/drawingml/2006/main" w="23813">
              <a:solidFill>
                <a:srgbClr val="64748B"/>
              </a:solidFill>
            </a:ln>
          </c:spPr>
          <c:marker>
            <c:symbol val="none"/>
          </c:marker>
          <c:xVal>
            <c:numRef>
              <c:f>'Chart Data'!$E$2:$E$102</c:f>
              <c:numCache>
                <c:formatCode>General</c:formatCode>
                <c:ptCount val="101"/>
                <c:pt idx="0">
                  <c:v>0</c:v>
                </c:pt>
                <c:pt idx="1">
                  <c:v>0.01</c:v>
                </c:pt>
                <c:pt idx="2">
                  <c:v>0.02</c:v>
                </c:pt>
                <c:pt idx="3">
                  <c:v>0.03</c:v>
                </c:pt>
                <c:pt idx="4">
                  <c:v>0.04</c:v>
                </c:pt>
                <c:pt idx="5">
                  <c:v>0.05</c:v>
                </c:pt>
                <c:pt idx="6">
                  <c:v>0.06</c:v>
                </c:pt>
                <c:pt idx="7">
                  <c:v>0.07</c:v>
                </c:pt>
                <c:pt idx="8">
                  <c:v>0.08</c:v>
                </c:pt>
                <c:pt idx="9">
                  <c:v>0.09</c:v>
                </c:pt>
                <c:pt idx="10">
                  <c:v>0.1</c:v>
                </c:pt>
                <c:pt idx="11">
                  <c:v>0.11</c:v>
                </c:pt>
                <c:pt idx="12">
                  <c:v>0.12</c:v>
                </c:pt>
                <c:pt idx="13">
                  <c:v>0.13</c:v>
                </c:pt>
                <c:pt idx="14">
                  <c:v>0.14</c:v>
                </c:pt>
                <c:pt idx="15">
                  <c:v>0.15</c:v>
                </c:pt>
                <c:pt idx="16">
                  <c:v>0.16</c:v>
                </c:pt>
                <c:pt idx="17">
                  <c:v>0.17</c:v>
                </c:pt>
                <c:pt idx="18">
                  <c:v>0.18</c:v>
                </c:pt>
                <c:pt idx="19">
                  <c:v>0.19</c:v>
                </c:pt>
                <c:pt idx="20">
                  <c:v>0.2</c:v>
                </c:pt>
                <c:pt idx="21">
                  <c:v>0.21</c:v>
                </c:pt>
                <c:pt idx="22">
                  <c:v>0.22</c:v>
                </c:pt>
                <c:pt idx="23">
                  <c:v>0.23</c:v>
                </c:pt>
                <c:pt idx="24">
                  <c:v>0.24</c:v>
                </c:pt>
                <c:pt idx="25">
                  <c:v>0.25</c:v>
                </c:pt>
                <c:pt idx="26">
                  <c:v>0.26</c:v>
                </c:pt>
                <c:pt idx="27">
                  <c:v>0.27</c:v>
                </c:pt>
                <c:pt idx="28">
                  <c:v>0.28</c:v>
                </c:pt>
                <c:pt idx="29">
                  <c:v>0.29</c:v>
                </c:pt>
                <c:pt idx="30">
                  <c:v>0.3</c:v>
                </c:pt>
                <c:pt idx="31">
                  <c:v>0.31</c:v>
                </c:pt>
                <c:pt idx="32">
                  <c:v>0.32</c:v>
                </c:pt>
                <c:pt idx="33">
                  <c:v>0.33</c:v>
                </c:pt>
                <c:pt idx="34">
                  <c:v>0.34</c:v>
                </c:pt>
                <c:pt idx="35">
                  <c:v>0.35</c:v>
                </c:pt>
                <c:pt idx="36">
                  <c:v>0.36</c:v>
                </c:pt>
                <c:pt idx="37">
                  <c:v>0.37</c:v>
                </c:pt>
                <c:pt idx="38">
                  <c:v>0.38</c:v>
                </c:pt>
                <c:pt idx="39">
                  <c:v>0.39</c:v>
                </c:pt>
                <c:pt idx="40">
                  <c:v>0.4</c:v>
                </c:pt>
                <c:pt idx="41">
                  <c:v>0.41</c:v>
                </c:pt>
                <c:pt idx="42">
                  <c:v>0.42</c:v>
                </c:pt>
                <c:pt idx="43">
                  <c:v>0.43</c:v>
                </c:pt>
                <c:pt idx="44">
                  <c:v>0.44</c:v>
                </c:pt>
                <c:pt idx="45">
                  <c:v>0.45</c:v>
                </c:pt>
                <c:pt idx="46">
                  <c:v>0.46</c:v>
                </c:pt>
                <c:pt idx="47">
                  <c:v>0.47</c:v>
                </c:pt>
                <c:pt idx="48">
                  <c:v>0.48</c:v>
                </c:pt>
                <c:pt idx="49">
                  <c:v>0.49</c:v>
                </c:pt>
                <c:pt idx="50">
                  <c:v>0.5</c:v>
                </c:pt>
                <c:pt idx="51">
                  <c:v>0.51</c:v>
                </c:pt>
                <c:pt idx="52">
                  <c:v>0.52</c:v>
                </c:pt>
                <c:pt idx="53">
                  <c:v>0.53</c:v>
                </c:pt>
                <c:pt idx="54">
                  <c:v>0.54</c:v>
                </c:pt>
                <c:pt idx="55">
                  <c:v>0.55</c:v>
                </c:pt>
                <c:pt idx="56">
                  <c:v>0.56</c:v>
                </c:pt>
                <c:pt idx="57">
                  <c:v>0.57</c:v>
                </c:pt>
                <c:pt idx="58">
                  <c:v>0.58</c:v>
                </c:pt>
                <c:pt idx="59">
                  <c:v>0.59</c:v>
                </c:pt>
                <c:pt idx="60">
                  <c:v>0.6</c:v>
                </c:pt>
                <c:pt idx="61">
                  <c:v>0.61</c:v>
                </c:pt>
                <c:pt idx="62">
                  <c:v>0.62</c:v>
                </c:pt>
                <c:pt idx="63">
                  <c:v>0.63</c:v>
                </c:pt>
                <c:pt idx="64">
                  <c:v>0.64</c:v>
                </c:pt>
                <c:pt idx="65">
                  <c:v>0.65</c:v>
                </c:pt>
                <c:pt idx="66">
                  <c:v>0.66</c:v>
                </c:pt>
                <c:pt idx="67">
                  <c:v>0.67</c:v>
                </c:pt>
                <c:pt idx="68">
                  <c:v>0.68</c:v>
                </c:pt>
                <c:pt idx="69">
                  <c:v>0.69</c:v>
                </c:pt>
                <c:pt idx="70">
                  <c:v>0.7</c:v>
                </c:pt>
                <c:pt idx="71">
                  <c:v>0.71</c:v>
                </c:pt>
                <c:pt idx="72">
                  <c:v>0.72</c:v>
                </c:pt>
                <c:pt idx="73">
                  <c:v>0.73</c:v>
                </c:pt>
                <c:pt idx="74">
                  <c:v>0.74</c:v>
                </c:pt>
                <c:pt idx="75">
                  <c:v>0.75</c:v>
                </c:pt>
                <c:pt idx="76">
                  <c:v>0.76</c:v>
                </c:pt>
                <c:pt idx="77">
                  <c:v>0.77</c:v>
                </c:pt>
                <c:pt idx="78">
                  <c:v>0.78</c:v>
                </c:pt>
                <c:pt idx="79">
                  <c:v>0.79</c:v>
                </c:pt>
                <c:pt idx="80">
                  <c:v>0.8</c:v>
                </c:pt>
                <c:pt idx="81">
                  <c:v>0.81</c:v>
                </c:pt>
                <c:pt idx="82">
                  <c:v>0.82</c:v>
                </c:pt>
                <c:pt idx="83">
                  <c:v>0.83</c:v>
                </c:pt>
                <c:pt idx="84">
                  <c:v>0.84</c:v>
                </c:pt>
                <c:pt idx="85">
                  <c:v>0.85</c:v>
                </c:pt>
                <c:pt idx="86">
                  <c:v>0.86</c:v>
                </c:pt>
                <c:pt idx="87">
                  <c:v>0.87</c:v>
                </c:pt>
                <c:pt idx="88">
                  <c:v>0.88</c:v>
                </c:pt>
                <c:pt idx="89">
                  <c:v>0.89</c:v>
                </c:pt>
                <c:pt idx="90">
                  <c:v>0.9</c:v>
                </c:pt>
                <c:pt idx="91">
                  <c:v>0.91</c:v>
                </c:pt>
                <c:pt idx="92">
                  <c:v>0.92</c:v>
                </c:pt>
                <c:pt idx="93">
                  <c:v>0.93</c:v>
                </c:pt>
                <c:pt idx="94">
                  <c:v>0.94</c:v>
                </c:pt>
                <c:pt idx="95">
                  <c:v>0.95</c:v>
                </c:pt>
                <c:pt idx="96">
                  <c:v>0.96</c:v>
                </c:pt>
                <c:pt idx="97">
                  <c:v>0.97</c:v>
                </c:pt>
                <c:pt idx="98">
                  <c:v>0.98</c:v>
                </c:pt>
                <c:pt idx="99">
                  <c:v>0.99</c:v>
                </c:pt>
                <c:pt idx="100">
                  <c:v>1</c:v>
                </c:pt>
              </c:numCache>
            </c:numRef>
          </c:xVal>
          <c:yVal>
            <c:numRef>
              <c:f>'Chart Data'!$F$2:$F$102</c:f>
              <c:numCache>
                <c:formatCode>0.0</c:formatCode>
                <c:ptCount val="101"/>
                <c:pt idx="0">
                  <c:v>0.14872337</c:v>
                </c:pt>
                <c:pt idx="1">
                  <c:v>0.17644793</c:v>
                </c:pt>
                <c:pt idx="2">
                  <c:v>0.20391609</c:v>
                </c:pt>
                <c:pt idx="3">
                  <c:v>0.23112783</c:v>
                </c:pt>
                <c:pt idx="4">
                  <c:v>0.25808316</c:v>
                </c:pt>
                <c:pt idx="5">
                  <c:v>0.28478208</c:v>
                </c:pt>
                <c:pt idx="6">
                  <c:v>0.31122459</c:v>
                </c:pt>
                <c:pt idx="7">
                  <c:v>0.33741068</c:v>
                </c:pt>
                <c:pt idx="8">
                  <c:v>0.36334037</c:v>
                </c:pt>
                <c:pt idx="9">
                  <c:v>0.38901364</c:v>
                </c:pt>
                <c:pt idx="10">
                  <c:v>0.41443049</c:v>
                </c:pt>
                <c:pt idx="11">
                  <c:v>0.43959094</c:v>
                </c:pt>
                <c:pt idx="12">
                  <c:v>0.46449498</c:v>
                </c:pt>
                <c:pt idx="13">
                  <c:v>0.4891426</c:v>
                </c:pt>
                <c:pt idx="14">
                  <c:v>0.51353381</c:v>
                </c:pt>
                <c:pt idx="15">
                  <c:v>0.53766861</c:v>
                </c:pt>
                <c:pt idx="16">
                  <c:v>0.56154699</c:v>
                </c:pt>
                <c:pt idx="17">
                  <c:v>0.58516896</c:v>
                </c:pt>
                <c:pt idx="18">
                  <c:v>0.60853453</c:v>
                </c:pt>
                <c:pt idx="19">
                  <c:v>0.63164368</c:v>
                </c:pt>
                <c:pt idx="20">
                  <c:v>0.65449641</c:v>
                </c:pt>
                <c:pt idx="21">
                  <c:v>0.67709274</c:v>
                </c:pt>
                <c:pt idx="22">
                  <c:v>0.69943265</c:v>
                </c:pt>
                <c:pt idx="23">
                  <c:v>0.72151615</c:v>
                </c:pt>
                <c:pt idx="24">
                  <c:v>0.74334324</c:v>
                </c:pt>
                <c:pt idx="25">
                  <c:v>0.76491392</c:v>
                </c:pt>
                <c:pt idx="26">
                  <c:v>0.78622818</c:v>
                </c:pt>
                <c:pt idx="27">
                  <c:v>0.80728604</c:v>
                </c:pt>
                <c:pt idx="28">
                  <c:v>0.82808748</c:v>
                </c:pt>
                <c:pt idx="29">
                  <c:v>0.8486325</c:v>
                </c:pt>
                <c:pt idx="30">
                  <c:v>0.86892112</c:v>
                </c:pt>
                <c:pt idx="31">
                  <c:v>0.88895333</c:v>
                </c:pt>
                <c:pt idx="32">
                  <c:v>0.90872912</c:v>
                </c:pt>
                <c:pt idx="33">
                  <c:v>0.9282485</c:v>
                </c:pt>
                <c:pt idx="34">
                  <c:v>0.94751147</c:v>
                </c:pt>
                <c:pt idx="35">
                  <c:v>0.96651802</c:v>
                </c:pt>
                <c:pt idx="36">
                  <c:v>0.98526817</c:v>
                </c:pt>
                <c:pt idx="37">
                  <c:v>1.0037619</c:v>
                </c:pt>
                <c:pt idx="38">
                  <c:v>1.02199922</c:v>
                </c:pt>
                <c:pt idx="39">
                  <c:v>1.03998012</c:v>
                </c:pt>
                <c:pt idx="40">
                  <c:v>1.05770462</c:v>
                </c:pt>
                <c:pt idx="41">
                  <c:v>1.0751727</c:v>
                </c:pt>
                <c:pt idx="42">
                  <c:v>1.09238437</c:v>
                </c:pt>
                <c:pt idx="43">
                  <c:v>1.10933963</c:v>
                </c:pt>
                <c:pt idx="44">
                  <c:v>1.12603848</c:v>
                </c:pt>
                <c:pt idx="45">
                  <c:v>1.14248091</c:v>
                </c:pt>
                <c:pt idx="46">
                  <c:v>1.15866694</c:v>
                </c:pt>
                <c:pt idx="47">
                  <c:v>1.17459655</c:v>
                </c:pt>
                <c:pt idx="48">
                  <c:v>1.19026975</c:v>
                </c:pt>
                <c:pt idx="49">
                  <c:v>1.20568653</c:v>
                </c:pt>
                <c:pt idx="50">
                  <c:v>1.22084691</c:v>
                </c:pt>
                <c:pt idx="51">
                  <c:v>1.23575087</c:v>
                </c:pt>
                <c:pt idx="52">
                  <c:v>1.25039842</c:v>
                </c:pt>
                <c:pt idx="53">
                  <c:v>1.26478956</c:v>
                </c:pt>
                <c:pt idx="54">
                  <c:v>1.27892428</c:v>
                </c:pt>
                <c:pt idx="55">
                  <c:v>1.2928026</c:v>
                </c:pt>
                <c:pt idx="56">
                  <c:v>1.3064245</c:v>
                </c:pt>
                <c:pt idx="57">
                  <c:v>1.31978999</c:v>
                </c:pt>
                <c:pt idx="58">
                  <c:v>1.33289907</c:v>
                </c:pt>
                <c:pt idx="59">
                  <c:v>1.34575173</c:v>
                </c:pt>
                <c:pt idx="60">
                  <c:v>1.35834798</c:v>
                </c:pt>
                <c:pt idx="61">
                  <c:v>1.37068783</c:v>
                </c:pt>
                <c:pt idx="62">
                  <c:v>1.38277125</c:v>
                </c:pt>
                <c:pt idx="63">
                  <c:v>1.39459827</c:v>
                </c:pt>
                <c:pt idx="64">
                  <c:v>1.40616888</c:v>
                </c:pt>
                <c:pt idx="65">
                  <c:v>1.41748307</c:v>
                </c:pt>
                <c:pt idx="66">
                  <c:v>1.42854085</c:v>
                </c:pt>
                <c:pt idx="67">
                  <c:v>1.43934222</c:v>
                </c:pt>
                <c:pt idx="68">
                  <c:v>1.44988717</c:v>
                </c:pt>
                <c:pt idx="69">
                  <c:v>1.46017572</c:v>
                </c:pt>
                <c:pt idx="70">
                  <c:v>1.47020785</c:v>
                </c:pt>
                <c:pt idx="71">
                  <c:v>1.47998357</c:v>
                </c:pt>
                <c:pt idx="72">
                  <c:v>1.48950288</c:v>
                </c:pt>
                <c:pt idx="73">
                  <c:v>1.49876578</c:v>
                </c:pt>
                <c:pt idx="74">
                  <c:v>1.50777226</c:v>
                </c:pt>
                <c:pt idx="75">
                  <c:v>1.51652233</c:v>
                </c:pt>
                <c:pt idx="76">
                  <c:v>1.52501599</c:v>
                </c:pt>
                <c:pt idx="77">
                  <c:v>1.53325324</c:v>
                </c:pt>
                <c:pt idx="78">
                  <c:v>1.54123407</c:v>
                </c:pt>
                <c:pt idx="79">
                  <c:v>1.5489585</c:v>
                </c:pt>
                <c:pt idx="80">
                  <c:v>1.55642651</c:v>
                </c:pt>
                <c:pt idx="81">
                  <c:v>1.56363811</c:v>
                </c:pt>
                <c:pt idx="82">
                  <c:v>1.57059329</c:v>
                </c:pt>
                <c:pt idx="83">
                  <c:v>1.57729207</c:v>
                </c:pt>
                <c:pt idx="84">
                  <c:v>1.58373443</c:v>
                </c:pt>
                <c:pt idx="85">
                  <c:v>1.58992038</c:v>
                </c:pt>
                <c:pt idx="86">
                  <c:v>1.59584992</c:v>
                </c:pt>
                <c:pt idx="87">
                  <c:v>1.60152305</c:v>
                </c:pt>
                <c:pt idx="88">
                  <c:v>1.60693976</c:v>
                </c:pt>
                <c:pt idx="89">
                  <c:v>1.61210006</c:v>
                </c:pt>
                <c:pt idx="90">
                  <c:v>1.61700395</c:v>
                </c:pt>
                <c:pt idx="91">
                  <c:v>1.62165143</c:v>
                </c:pt>
                <c:pt idx="92">
                  <c:v>1.6260425</c:v>
                </c:pt>
                <c:pt idx="93">
                  <c:v>1.63017715</c:v>
                </c:pt>
                <c:pt idx="94">
                  <c:v>1.63405539</c:v>
                </c:pt>
                <c:pt idx="95">
                  <c:v>1.63767722</c:v>
                </c:pt>
                <c:pt idx="96">
                  <c:v>1.64104264</c:v>
                </c:pt>
                <c:pt idx="97">
                  <c:v>1.64415165</c:v>
                </c:pt>
                <c:pt idx="98">
                  <c:v>1.64700424</c:v>
                </c:pt>
                <c:pt idx="99">
                  <c:v>1.64960042</c:v>
                </c:pt>
                <c:pt idx="100">
                  <c:v>1.65194019</c:v>
                </c:pt>
              </c:numCache>
            </c:numRef>
          </c:yVal>
        </c:ser>
        <c:dLbls>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showLegendKey val="0"/>
          <c:showVal val="0"/>
          <c:showCatName val="0"/>
          <c:showSerName val="0"/>
          <c:showPercent val="0"/>
          <c:showBubbleSize val="0"/>
          <c:showLeaderLines val="0"/>
        </c:dLbls>
        <c:axId val="48650112"/>
        <c:axId val="48672768"/>
      </c:scatterChart>
      <c:valAx>
        <c:axId val="48672768"/>
        <c:scaling>
          <c:orientation val="minMax"/>
          <c:max val="2"/>
          <c:min val="0"/>
        </c:scaling>
        <c:delete val="0"/>
        <c:axPos val="l"/>
        <c:majorGridlines>
          <c:spPr>
            <a:ln xmlns:a="http://schemas.openxmlformats.org/drawingml/2006/main" w="6668">
              <a:solidFill>
                <a:srgbClr val="E2E8F0"/>
              </a:solidFill>
            </a:ln>
          </c:spPr>
        </c:majorGridlines>
        <c:title>
          <c:tx>
            <c:rich>
              <a:bodyPr xmlns:a="http://schemas.openxmlformats.org/drawingml/2006/main"/>
              <a:lstStyle xmlns:a="http://schemas.openxmlformats.org/drawingml/2006/main"/>
              <a:p xmlns:a="http://schemas.openxmlformats.org/drawingml/2006/main">
                <a:r>
                  <a:rPr sz="1275">
                    <a:latin typeface="Calibri"/>
                    <a:ea typeface="Calibri"/>
                    <a:cs typeface="Calibri"/>
                  </a:rPr>
                  <a:t>Detector response (a.u.)</a:t>
                </a:r>
              </a:p>
            </c:rich>
          </c:tx>
          <c:overlay val="0"/>
          <c:txPr>
            <a:bodyPr xmlns:a="http://schemas.openxmlformats.org/drawingml/2006/main" anchorCtr="1"/>
            <a:lstStyle xmlns:a="http://schemas.openxmlformats.org/drawingml/2006/main"/>
            <a:p xmlns:a="http://schemas.openxmlformats.org/drawingml/2006/main">
              <a:pPr>
                <a:defRPr sz="1275">
                  <a:latin typeface="Calibri"/>
                  <a:ea typeface="Calibri"/>
                  <a:cs typeface="Calibri"/>
                </a:defRPr>
              </a:pPr>
            </a:p>
          </c:txPr>
        </c:title>
        <c:numFmt formatCode="0.0"/>
        <c:majorTickMark val="none"/>
        <c:minorTickMark val="none"/>
        <c:spPr>
          <a:ln xmlns:a="http://schemas.openxmlformats.org/drawingml/2006/main" w="9525">
            <a:solidFill>
              <a:srgbClr val="64748B"/>
            </a:solidFill>
          </a:ln>
        </c:spPr>
        <c:txPr>
          <a:bodyPr xmlns:a="http://schemas.openxmlformats.org/drawingml/2006/main" anchorCtr="1"/>
          <a:lstStyle xmlns:a="http://schemas.openxmlformats.org/drawingml/2006/main"/>
          <a:p xmlns:a="http://schemas.openxmlformats.org/drawingml/2006/main">
            <a:pPr>
              <a:defRPr sz="1200">
                <a:solidFill>
                  <a:srgbClr val="64748B"/>
                </a:solidFill>
                <a:latin typeface="Calibri"/>
                <a:ea typeface="Calibri"/>
                <a:cs typeface="Calibri"/>
              </a:defRPr>
            </a:pPr>
          </a:p>
        </c:txPr>
        <c:crossAx val="48650112"/>
        <c:majorUnit val="0.5"/>
      </c:valAx>
      <c:valAx>
        <c:axId val="48650112"/>
        <c:scaling>
          <c:orientation val="minMax"/>
          <c:max val="1"/>
          <c:min val="0"/>
        </c:scaling>
        <c:delete val="0"/>
        <c:axPos val="b"/>
        <c:title>
          <c:tx>
            <c:rich>
              <a:bodyPr xmlns:a="http://schemas.openxmlformats.org/drawingml/2006/main"/>
              <a:lstStyle xmlns:a="http://schemas.openxmlformats.org/drawingml/2006/main"/>
              <a:p xmlns:a="http://schemas.openxmlformats.org/drawingml/2006/main">
                <a:r>
                  <a:rPr sz="1275">
                    <a:latin typeface="Calibri"/>
                    <a:ea typeface="Calibri"/>
                    <a:cs typeface="Calibri"/>
                  </a:rPr>
                  <a:t>Concentration (mg/L)</a:t>
                </a:r>
              </a:p>
            </c:rich>
          </c:tx>
          <c:overlay val="0"/>
          <c:txPr>
            <a:bodyPr xmlns:a="http://schemas.openxmlformats.org/drawingml/2006/main" anchorCtr="1"/>
            <a:lstStyle xmlns:a="http://schemas.openxmlformats.org/drawingml/2006/main"/>
            <a:p xmlns:a="http://schemas.openxmlformats.org/drawingml/2006/main">
              <a:pPr>
                <a:defRPr sz="1275">
                  <a:latin typeface="Calibri"/>
                  <a:ea typeface="Calibri"/>
                  <a:cs typeface="Calibri"/>
                </a:defRPr>
              </a:pPr>
            </a:p>
          </c:txPr>
        </c:title>
        <c:numFmt formatCode="0.0"/>
        <c:majorTickMark val="none"/>
        <c:minorTickMark val="none"/>
        <c:spPr>
          <a:ln xmlns:a="http://schemas.openxmlformats.org/drawingml/2006/main" w="9525">
            <a:solidFill>
              <a:srgbClr val="64748B"/>
            </a:solidFill>
          </a:ln>
        </c:spPr>
        <c:txPr>
          <a:bodyPr xmlns:a="http://schemas.openxmlformats.org/drawingml/2006/main" anchorCtr="1"/>
          <a:lstStyle xmlns:a="http://schemas.openxmlformats.org/drawingml/2006/main"/>
          <a:p xmlns:a="http://schemas.openxmlformats.org/drawingml/2006/main">
            <a:pPr>
              <a:defRPr sz="1200">
                <a:solidFill>
                  <a:srgbClr val="64748B"/>
                </a:solidFill>
                <a:latin typeface="Calibri"/>
                <a:ea typeface="Calibri"/>
                <a:cs typeface="Calibri"/>
              </a:defRPr>
            </a:pPr>
          </a:p>
        </c:txPr>
        <c:crossAx val="48672768"/>
        <c:majorUnit val="0.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200">
              <a:solidFill>
                <a:srgbClr val="1E293B"/>
              </a:solidFill>
              <a:latin typeface="Calibri"/>
              <a:ea typeface="Calibri"/>
              <a:cs typeface="Calibri"/>
            </a:defRPr>
          </a:pPr>
        </a:p>
      </c:txPr>
    </c:legend>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lineChart>
        <c:grouping val="standard"/>
        <c:varyColors val="0"/>
        <c:ser>
          <c:idx val="0"/>
          <c:order val="0"/>
          <c:tx>
            <c:v>Training</c:v>
          </c:tx>
          <c:spPr>
            <a:ln xmlns:a="http://schemas.openxmlformats.org/drawingml/2006/main" w="23813">
              <a:solidFill>
                <a:srgbClr val="028090"/>
              </a:solidFill>
            </a:ln>
          </c:spPr>
          <c:marker>
            <c:symbol val="circle"/>
            <c:size val="5"/>
            <c:spPr>
              <a:solidFill xmlns:a="http://schemas.openxmlformats.org/drawingml/2006/main">
                <a:srgbClr val="028090"/>
              </a:solidFill>
            </c:spPr>
          </c:marker>
          <c:cat>
            <c:numRef>
              <c:f>'Chart Data'!$A$2:$A$12</c:f>
              <c:numCache>
                <c:formatCode>General</c:formatCode>
                <c:ptCount val="11"/>
                <c:pt idx="0">
                  <c:v>1</c:v>
                </c:pt>
                <c:pt idx="1">
                  <c:v>2</c:v>
                </c:pt>
                <c:pt idx="2">
                  <c:v>3</c:v>
                </c:pt>
                <c:pt idx="3">
                  <c:v>4</c:v>
                </c:pt>
                <c:pt idx="4">
                  <c:v>5</c:v>
                </c:pt>
                <c:pt idx="5">
                  <c:v>6</c:v>
                </c:pt>
                <c:pt idx="6">
                  <c:v>7</c:v>
                </c:pt>
                <c:pt idx="7">
                  <c:v>8</c:v>
                </c:pt>
                <c:pt idx="8">
                  <c:v>9</c:v>
                </c:pt>
                <c:pt idx="9">
                  <c:v>10</c:v>
                </c:pt>
                <c:pt idx="10">
                  <c:v>11</c:v>
                </c:pt>
              </c:numCache>
            </c:numRef>
          </c:cat>
          <c:val>
            <c:numRef>
              <c:f>'Chart Data'!$B$2:$B$12</c:f>
              <c:numCache>
                <c:formatCode>0.00</c:formatCode>
                <c:ptCount val="11"/>
                <c:pt idx="0">
                  <c:v>0.11822425</c:v>
                </c:pt>
                <c:pt idx="1">
                  <c:v>0.03860769</c:v>
                </c:pt>
                <c:pt idx="2">
                  <c:v>0.02885081</c:v>
                </c:pt>
                <c:pt idx="3">
                  <c:v>0.02821092</c:v>
                </c:pt>
                <c:pt idx="4">
                  <c:v>0.02818139</c:v>
                </c:pt>
                <c:pt idx="5">
                  <c:v>0.02701845</c:v>
                </c:pt>
                <c:pt idx="6">
                  <c:v>0.01310869</c:v>
                </c:pt>
                <c:pt idx="7">
                  <c:v>0.01303524</c:v>
                </c:pt>
                <c:pt idx="8">
                  <c:v>0.01243797</c:v>
                </c:pt>
                <c:pt idx="9">
                  <c:v>0.00086679</c:v>
                </c:pt>
                <c:pt idx="10">
                  <c:v>0</c:v>
                </c:pt>
              </c:numCache>
            </c:numRef>
          </c:val>
          <c:smooth val="0"/>
        </c:ser>
        <c:ser>
          <c:idx val="1"/>
          <c:order val="1"/>
          <c:tx>
            <c:v>Validation</c:v>
          </c:tx>
          <c:spPr>
            <a:ln xmlns:a="http://schemas.openxmlformats.org/drawingml/2006/main" w="23813">
              <a:solidFill>
                <a:srgbClr val="C56B30"/>
              </a:solidFill>
            </a:ln>
          </c:spPr>
          <c:marker>
            <c:symbol val="circle"/>
            <c:size val="5"/>
            <c:spPr>
              <a:solidFill xmlns:a="http://schemas.openxmlformats.org/drawingml/2006/main">
                <a:srgbClr val="C56B30"/>
              </a:solidFill>
            </c:spPr>
          </c:marker>
          <c:cat>
            <c:numRef>
              <c:f>'Chart Data'!$C$2:$C$12</c:f>
              <c:numCache>
                <c:formatCode>General</c:formatCode>
                <c:ptCount val="11"/>
                <c:pt idx="0">
                  <c:v>1</c:v>
                </c:pt>
                <c:pt idx="1">
                  <c:v>2</c:v>
                </c:pt>
                <c:pt idx="2">
                  <c:v>3</c:v>
                </c:pt>
                <c:pt idx="3">
                  <c:v>4</c:v>
                </c:pt>
                <c:pt idx="4">
                  <c:v>5</c:v>
                </c:pt>
                <c:pt idx="5">
                  <c:v>6</c:v>
                </c:pt>
                <c:pt idx="6">
                  <c:v>7</c:v>
                </c:pt>
                <c:pt idx="7">
                  <c:v>8</c:v>
                </c:pt>
                <c:pt idx="8">
                  <c:v>9</c:v>
                </c:pt>
                <c:pt idx="9">
                  <c:v>10</c:v>
                </c:pt>
                <c:pt idx="10">
                  <c:v>11</c:v>
                </c:pt>
              </c:numCache>
            </c:numRef>
          </c:cat>
          <c:val>
            <c:numRef>
              <c:f>'Chart Data'!$D$2:$D$12</c:f>
              <c:numCache>
                <c:formatCode>0.00</c:formatCode>
                <c:ptCount val="11"/>
                <c:pt idx="0">
                  <c:v>0.11201251</c:v>
                </c:pt>
                <c:pt idx="1">
                  <c:v>0.03745912</c:v>
                </c:pt>
                <c:pt idx="2">
                  <c:v>0.02862952</c:v>
                </c:pt>
                <c:pt idx="3">
                  <c:v>0.02960733</c:v>
                </c:pt>
                <c:pt idx="4">
                  <c:v>0.02954092</c:v>
                </c:pt>
                <c:pt idx="5">
                  <c:v>0.0299514</c:v>
                </c:pt>
                <c:pt idx="6">
                  <c:v>0.04274925</c:v>
                </c:pt>
                <c:pt idx="7">
                  <c:v>0.04285239</c:v>
                </c:pt>
                <c:pt idx="8">
                  <c:v>0.04020697</c:v>
                </c:pt>
                <c:pt idx="9">
                  <c:v>0.07355271</c:v>
                </c:pt>
                <c:pt idx="10">
                  <c:v>0.07791017</c:v>
                </c:pt>
              </c:numCache>
            </c:numRef>
          </c:val>
          <c:smooth val="0"/>
        </c:ser>
        <c:dLbls>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275">
                    <a:latin typeface="Calibri"/>
                    <a:ea typeface="Calibri"/>
                    <a:cs typeface="Calibri"/>
                  </a:rPr>
                  <a:t>Polynomial degree (model flexibility)</a:t>
                </a:r>
              </a:p>
            </c:rich>
          </c:tx>
          <c:overlay val="0"/>
          <c:txPr>
            <a:bodyPr xmlns:a="http://schemas.openxmlformats.org/drawingml/2006/main" anchorCtr="1"/>
            <a:lstStyle xmlns:a="http://schemas.openxmlformats.org/drawingml/2006/main"/>
            <a:p xmlns:a="http://schemas.openxmlformats.org/drawingml/2006/main">
              <a:pPr>
                <a:defRPr sz="1275">
                  <a:latin typeface="Calibri"/>
                  <a:ea typeface="Calibri"/>
                  <a:cs typeface="Calibri"/>
                </a:defRPr>
              </a:pPr>
            </a:p>
          </c:txPr>
        </c:title>
        <c:numFmt formatCode="General"/>
        <c:majorTickMark val="none"/>
        <c:minorTickMark val="none"/>
        <c:spPr>
          <a:ln xmlns:a="http://schemas.openxmlformats.org/drawingml/2006/main" w="9525">
            <a:solidFill>
              <a:srgbClr val="64748B"/>
            </a:solidFill>
          </a:ln>
        </c:spPr>
        <c:txPr>
          <a:bodyPr xmlns:a="http://schemas.openxmlformats.org/drawingml/2006/main" anchorCtr="1"/>
          <a:lstStyle xmlns:a="http://schemas.openxmlformats.org/drawingml/2006/main"/>
          <a:p xmlns:a="http://schemas.openxmlformats.org/drawingml/2006/main">
            <a:pPr>
              <a:defRPr sz="1200">
                <a:solidFill>
                  <a:srgbClr val="64748B"/>
                </a:solidFill>
                <a:latin typeface="Calibri"/>
                <a:ea typeface="Calibri"/>
                <a:cs typeface="Calibri"/>
              </a:defRPr>
            </a:pPr>
          </a:p>
        </c:txPr>
        <c:crossAx val="48672768"/>
      </c:catAx>
      <c:valAx>
        <c:axId val="48672768"/>
        <c:scaling>
          <c:orientation val="minMax"/>
          <c:max val="0.14"/>
          <c:min val="0"/>
        </c:scaling>
        <c:delete val="0"/>
        <c:axPos val="l"/>
        <c:majorGridlines>
          <c:spPr>
            <a:ln xmlns:a="http://schemas.openxmlformats.org/drawingml/2006/main" w="6668">
              <a:solidFill>
                <a:srgbClr val="E2E8F0"/>
              </a:solidFill>
            </a:ln>
          </c:spPr>
        </c:majorGridlines>
        <c:title>
          <c:tx>
            <c:rich>
              <a:bodyPr xmlns:a="http://schemas.openxmlformats.org/drawingml/2006/main"/>
              <a:lstStyle xmlns:a="http://schemas.openxmlformats.org/drawingml/2006/main"/>
              <a:p xmlns:a="http://schemas.openxmlformats.org/drawingml/2006/main">
                <a:r>
                  <a:rPr sz="1275">
                    <a:latin typeface="Calibri"/>
                    <a:ea typeface="Calibri"/>
                    <a:cs typeface="Calibri"/>
                  </a:rPr>
                  <a:t>Prediction error (RMSE)</a:t>
                </a:r>
              </a:p>
            </c:rich>
          </c:tx>
          <c:overlay val="0"/>
          <c:txPr>
            <a:bodyPr xmlns:a="http://schemas.openxmlformats.org/drawingml/2006/main" anchorCtr="1"/>
            <a:lstStyle xmlns:a="http://schemas.openxmlformats.org/drawingml/2006/main"/>
            <a:p xmlns:a="http://schemas.openxmlformats.org/drawingml/2006/main">
              <a:pPr>
                <a:defRPr sz="1275">
                  <a:latin typeface="Calibri"/>
                  <a:ea typeface="Calibri"/>
                  <a:cs typeface="Calibri"/>
                </a:defRPr>
              </a:pPr>
            </a:p>
          </c:txPr>
        </c:title>
        <c:numFmt formatCode="0.00"/>
        <c:majorTickMark val="none"/>
        <c:minorTickMark val="none"/>
        <c:spPr>
          <a:ln xmlns:a="http://schemas.openxmlformats.org/drawingml/2006/main" w="9525">
            <a:solidFill>
              <a:srgbClr val="64748B"/>
            </a:solidFill>
          </a:ln>
        </c:spPr>
        <c:txPr>
          <a:bodyPr xmlns:a="http://schemas.openxmlformats.org/drawingml/2006/main" anchorCtr="1"/>
          <a:lstStyle xmlns:a="http://schemas.openxmlformats.org/drawingml/2006/main"/>
          <a:p xmlns:a="http://schemas.openxmlformats.org/drawingml/2006/main">
            <a:pPr>
              <a:defRPr sz="1200">
                <a:solidFill>
                  <a:srgbClr val="64748B"/>
                </a:solidFill>
                <a:latin typeface="Calibri"/>
                <a:ea typeface="Calibri"/>
                <a:cs typeface="Calibri"/>
              </a:defRPr>
            </a:pPr>
          </a:p>
        </c:txPr>
        <c:crossAx val="48650112"/>
        <c:crossBetween val="between"/>
        <c:majorUnit val="0.04"/>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200">
              <a:solidFill>
                <a:srgbClr val="1E293B"/>
              </a:solidFill>
              <a:latin typeface="Calibri"/>
              <a:ea typeface="Calibri"/>
              <a:cs typeface="Calibri"/>
            </a:defRPr>
          </a:pPr>
        </a:p>
      </c:txPr>
    </c:legend>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Correct predictions</c:v>
          </c:tx>
          <c:spPr>
            <a:solidFill xmlns:a="http://schemas.openxmlformats.org/drawingml/2006/main">
              <a:srgbClr val="028090"/>
            </a:solidFill>
          </c:spPr>
          <c:invertIfNegative val="0"/>
          <c:cat>
            <c:strRef>
              <c:f>'Chart Data'!$A$2:$A$3</c:f>
              <c:strCache>
                <c:ptCount val="2"/>
                <c:pt idx="0">
                  <c:v>Drinking water</c:v>
                </c:pt>
                <c:pt idx="1">
                  <c:v>River water</c:v>
                </c:pt>
              </c:strCache>
            </c:strRef>
          </c:cat>
          <c:val>
            <c:numRef>
              <c:f>'Chart Data'!$B$2:$B$3</c:f>
              <c:numCache>
                <c:formatCode>0%</c:formatCode>
                <c:ptCount val="2"/>
                <c:pt idx="0">
                  <c:v>0.95</c:v>
                </c:pt>
                <c:pt idx="1">
                  <c:v>0.5</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425">
                  <a:solidFill>
                    <a:srgbClr val="1E293B"/>
                  </a:solidFill>
                  <a:latin typeface="Calibri"/>
                  <a:ea typeface="Calibri"/>
                  <a:cs typeface="Calibri"/>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64748B"/>
            </a:solidFill>
          </a:ln>
        </c:spPr>
        <c:txPr>
          <a:bodyPr xmlns:a="http://schemas.openxmlformats.org/drawingml/2006/main" anchorCtr="1"/>
          <a:lstStyle xmlns:a="http://schemas.openxmlformats.org/drawingml/2006/main"/>
          <a:p xmlns:a="http://schemas.openxmlformats.org/drawingml/2006/main">
            <a:pPr>
              <a:defRPr sz="1350">
                <a:solidFill>
                  <a:srgbClr val="1E293B"/>
                </a:solidFill>
                <a:latin typeface="Calibri"/>
                <a:ea typeface="Calibri"/>
                <a:cs typeface="Calibri"/>
              </a:defRPr>
            </a:pPr>
          </a:p>
        </c:txPr>
        <c:crossAx val="48672768"/>
      </c:catAx>
      <c:valAx>
        <c:axId val="48672768"/>
        <c:scaling>
          <c:orientation val="minMax"/>
          <c:max val="1.05"/>
          <c:min val="0"/>
        </c:scaling>
        <c:delete val="0"/>
        <c:axPos val="l"/>
        <c:majorGridlines>
          <c:spPr>
            <a:ln xmlns:a="http://schemas.openxmlformats.org/drawingml/2006/main" w="6668">
              <a:solidFill>
                <a:srgbClr val="E2E8F0"/>
              </a:solidFill>
            </a:ln>
          </c:spPr>
        </c:majorGridlines>
        <c:title>
          <c:tx>
            <c:rich>
              <a:bodyPr xmlns:a="http://schemas.openxmlformats.org/drawingml/2006/main"/>
              <a:lstStyle xmlns:a="http://schemas.openxmlformats.org/drawingml/2006/main"/>
              <a:p xmlns:a="http://schemas.openxmlformats.org/drawingml/2006/main">
                <a:r>
                  <a:rPr sz="1275">
                    <a:latin typeface="Calibri"/>
                    <a:ea typeface="Calibri"/>
                    <a:cs typeface="Calibri"/>
                  </a:rPr>
                  <a:t>Accuracy within each matrix</a:t>
                </a:r>
              </a:p>
            </c:rich>
          </c:tx>
          <c:overlay val="0"/>
          <c:txPr>
            <a:bodyPr xmlns:a="http://schemas.openxmlformats.org/drawingml/2006/main" anchorCtr="1"/>
            <a:lstStyle xmlns:a="http://schemas.openxmlformats.org/drawingml/2006/main"/>
            <a:p xmlns:a="http://schemas.openxmlformats.org/drawingml/2006/main">
              <a:pPr>
                <a:defRPr sz="1275">
                  <a:latin typeface="Calibri"/>
                  <a:ea typeface="Calibri"/>
                  <a:cs typeface="Calibri"/>
                </a:defRPr>
              </a:pPr>
            </a:p>
          </c:txPr>
        </c:title>
        <c:numFmt formatCode="0%"/>
        <c:majorTickMark val="none"/>
        <c:minorTickMark val="none"/>
        <c:spPr>
          <a:ln xmlns:a="http://schemas.openxmlformats.org/drawingml/2006/main" w="9525">
            <a:solidFill>
              <a:srgbClr val="64748B"/>
            </a:solidFill>
          </a:ln>
        </c:spPr>
        <c:txPr>
          <a:bodyPr xmlns:a="http://schemas.openxmlformats.org/drawingml/2006/main" anchorCtr="1"/>
          <a:lstStyle xmlns:a="http://schemas.openxmlformats.org/drawingml/2006/main"/>
          <a:p xmlns:a="http://schemas.openxmlformats.org/drawingml/2006/main">
            <a:pPr>
              <a:defRPr sz="1200">
                <a:solidFill>
                  <a:srgbClr val="64748B"/>
                </a:solidFill>
                <a:latin typeface="Calibri"/>
                <a:ea typeface="Calibri"/>
                <a:cs typeface="Calibri"/>
              </a:defRPr>
            </a:pPr>
          </a:p>
        </c:txPr>
        <c:crossAx val="48650112"/>
        <c:crossBetween val="between"/>
        <c:majorUnit val="0.25"/>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scatterChart>
        <c:scatterStyle val="lineMarker"/>
        <c:varyColors val="0"/>
        <c:ser>
          <c:idx val="0"/>
          <c:order val="0"/>
          <c:tx>
            <c:v>Calibration standards</c:v>
          </c:tx>
          <c:spPr>
            <a:ln xmlns:a="http://schemas.openxmlformats.org/drawingml/2006/main" w="0">
              <a:noFill/>
            </a:ln>
          </c:spPr>
          <c:marker>
            <c:symbol val="circle"/>
            <c:size val="6"/>
            <c:spPr>
              <a:solidFill xmlns:a="http://schemas.openxmlformats.org/drawingml/2006/main">
                <a:srgbClr val="028090"/>
              </a:solidFill>
            </c:spPr>
          </c:marker>
          <c:xVal>
            <c:numRef>
              <c:f>'Chart Data'!$A$2:$A$13</c:f>
              <c:numCache>
                <c:formatCode>General</c:formatCode>
                <c:ptCount val="12"/>
                <c:pt idx="0">
                  <c:v>0</c:v>
                </c:pt>
                <c:pt idx="1">
                  <c:v>0.09090909</c:v>
                </c:pt>
                <c:pt idx="2">
                  <c:v>0.18181818</c:v>
                </c:pt>
                <c:pt idx="3">
                  <c:v>0.27272727</c:v>
                </c:pt>
                <c:pt idx="4">
                  <c:v>0.36363636</c:v>
                </c:pt>
                <c:pt idx="5">
                  <c:v>0.45454545</c:v>
                </c:pt>
                <c:pt idx="6">
                  <c:v>0.54545455</c:v>
                </c:pt>
                <c:pt idx="7">
                  <c:v>0.63636364</c:v>
                </c:pt>
                <c:pt idx="8">
                  <c:v>0.72727273</c:v>
                </c:pt>
                <c:pt idx="9">
                  <c:v>0.81818182</c:v>
                </c:pt>
                <c:pt idx="10">
                  <c:v>0.90909091</c:v>
                </c:pt>
                <c:pt idx="11">
                  <c:v>1</c:v>
                </c:pt>
              </c:numCache>
            </c:numRef>
          </c:xVal>
          <c:yVal>
            <c:numRef>
              <c:f>'Chart Data'!$B$2:$B$13</c:f>
              <c:numCache>
                <c:formatCode>0.0</c:formatCode>
                <c:ptCount val="12"/>
                <c:pt idx="0">
                  <c:v>0.1106651</c:v>
                </c:pt>
                <c:pt idx="1">
                  <c:v>0.3628453</c:v>
                </c:pt>
                <c:pt idx="2">
                  <c:v>0.67500672</c:v>
                </c:pt>
                <c:pt idx="3">
                  <c:v>0.88967886</c:v>
                </c:pt>
                <c:pt idx="4">
                  <c:v>0.96190862</c:v>
                </c:pt>
                <c:pt idx="5">
                  <c:v>1.12922114</c:v>
                </c:pt>
                <c:pt idx="6">
                  <c:v>1.29983465</c:v>
                </c:pt>
                <c:pt idx="7">
                  <c:v>1.38481134</c:v>
                </c:pt>
                <c:pt idx="8">
                  <c:v>1.4791003</c:v>
                </c:pt>
                <c:pt idx="9">
                  <c:v>1.51970739</c:v>
                </c:pt>
                <c:pt idx="10">
                  <c:v>1.63860183</c:v>
                </c:pt>
                <c:pt idx="11">
                  <c:v>1.68361921</c:v>
                </c:pt>
              </c:numCache>
            </c:numRef>
          </c:yVal>
        </c:ser>
        <c:ser>
          <c:idx val="1"/>
          <c:order val="1"/>
          <c:tx>
            <c:v>Model prediction</c:v>
          </c:tx>
          <c:spPr>
            <a:ln xmlns:a="http://schemas.openxmlformats.org/drawingml/2006/main" w="23813">
              <a:solidFill>
                <a:srgbClr val="C56B30"/>
              </a:solidFill>
            </a:ln>
          </c:spPr>
          <c:marker>
            <c:symbol val="none"/>
          </c:marker>
          <c:xVal>
            <c:numRef>
              <c:f>'Chart Data'!$C$2:$C$102</c:f>
              <c:numCache>
                <c:formatCode>General</c:formatCode>
                <c:ptCount val="101"/>
                <c:pt idx="0">
                  <c:v>0</c:v>
                </c:pt>
                <c:pt idx="1">
                  <c:v>0.02</c:v>
                </c:pt>
                <c:pt idx="2">
                  <c:v>0.04</c:v>
                </c:pt>
                <c:pt idx="3">
                  <c:v>0.06</c:v>
                </c:pt>
                <c:pt idx="4">
                  <c:v>0.08</c:v>
                </c:pt>
                <c:pt idx="5">
                  <c:v>0.1</c:v>
                </c:pt>
                <c:pt idx="6">
                  <c:v>0.12</c:v>
                </c:pt>
                <c:pt idx="7">
                  <c:v>0.14</c:v>
                </c:pt>
                <c:pt idx="8">
                  <c:v>0.16</c:v>
                </c:pt>
                <c:pt idx="9">
                  <c:v>0.18</c:v>
                </c:pt>
                <c:pt idx="10">
                  <c:v>0.2</c:v>
                </c:pt>
                <c:pt idx="11">
                  <c:v>0.22</c:v>
                </c:pt>
                <c:pt idx="12">
                  <c:v>0.24</c:v>
                </c:pt>
                <c:pt idx="13">
                  <c:v>0.26</c:v>
                </c:pt>
                <c:pt idx="14">
                  <c:v>0.28</c:v>
                </c:pt>
                <c:pt idx="15">
                  <c:v>0.3</c:v>
                </c:pt>
                <c:pt idx="16">
                  <c:v>0.32</c:v>
                </c:pt>
                <c:pt idx="17">
                  <c:v>0.34</c:v>
                </c:pt>
                <c:pt idx="18">
                  <c:v>0.36</c:v>
                </c:pt>
                <c:pt idx="19">
                  <c:v>0.38</c:v>
                </c:pt>
                <c:pt idx="20">
                  <c:v>0.4</c:v>
                </c:pt>
                <c:pt idx="21">
                  <c:v>0.42</c:v>
                </c:pt>
                <c:pt idx="22">
                  <c:v>0.44</c:v>
                </c:pt>
                <c:pt idx="23">
                  <c:v>0.46</c:v>
                </c:pt>
                <c:pt idx="24">
                  <c:v>0.48</c:v>
                </c:pt>
                <c:pt idx="25">
                  <c:v>0.5</c:v>
                </c:pt>
                <c:pt idx="26">
                  <c:v>0.52</c:v>
                </c:pt>
                <c:pt idx="27">
                  <c:v>0.54</c:v>
                </c:pt>
                <c:pt idx="28">
                  <c:v>0.56</c:v>
                </c:pt>
                <c:pt idx="29">
                  <c:v>0.58</c:v>
                </c:pt>
                <c:pt idx="30">
                  <c:v>0.6</c:v>
                </c:pt>
                <c:pt idx="31">
                  <c:v>0.62</c:v>
                </c:pt>
                <c:pt idx="32">
                  <c:v>0.64</c:v>
                </c:pt>
                <c:pt idx="33">
                  <c:v>0.66</c:v>
                </c:pt>
                <c:pt idx="34">
                  <c:v>0.68</c:v>
                </c:pt>
                <c:pt idx="35">
                  <c:v>0.7</c:v>
                </c:pt>
                <c:pt idx="36">
                  <c:v>0.72</c:v>
                </c:pt>
                <c:pt idx="37">
                  <c:v>0.74</c:v>
                </c:pt>
                <c:pt idx="38">
                  <c:v>0.76</c:v>
                </c:pt>
                <c:pt idx="39">
                  <c:v>0.78</c:v>
                </c:pt>
                <c:pt idx="40">
                  <c:v>0.8</c:v>
                </c:pt>
                <c:pt idx="41">
                  <c:v>0.82</c:v>
                </c:pt>
                <c:pt idx="42">
                  <c:v>0.84</c:v>
                </c:pt>
                <c:pt idx="43">
                  <c:v>0.86</c:v>
                </c:pt>
                <c:pt idx="44">
                  <c:v>0.88</c:v>
                </c:pt>
                <c:pt idx="45">
                  <c:v>0.9</c:v>
                </c:pt>
                <c:pt idx="46">
                  <c:v>0.92</c:v>
                </c:pt>
                <c:pt idx="47">
                  <c:v>0.94</c:v>
                </c:pt>
                <c:pt idx="48">
                  <c:v>0.96</c:v>
                </c:pt>
                <c:pt idx="49">
                  <c:v>0.98</c:v>
                </c:pt>
                <c:pt idx="50">
                  <c:v>1</c:v>
                </c:pt>
                <c:pt idx="51">
                  <c:v>1.02</c:v>
                </c:pt>
                <c:pt idx="52">
                  <c:v>1.04</c:v>
                </c:pt>
                <c:pt idx="53">
                  <c:v>1.06</c:v>
                </c:pt>
                <c:pt idx="54">
                  <c:v>1.08</c:v>
                </c:pt>
                <c:pt idx="55">
                  <c:v>1.1</c:v>
                </c:pt>
                <c:pt idx="56">
                  <c:v>1.12</c:v>
                </c:pt>
                <c:pt idx="57">
                  <c:v>1.14</c:v>
                </c:pt>
                <c:pt idx="58">
                  <c:v>1.16</c:v>
                </c:pt>
                <c:pt idx="59">
                  <c:v>1.18</c:v>
                </c:pt>
                <c:pt idx="60">
                  <c:v>1.2</c:v>
                </c:pt>
                <c:pt idx="61">
                  <c:v>1.22</c:v>
                </c:pt>
                <c:pt idx="62">
                  <c:v>1.24</c:v>
                </c:pt>
                <c:pt idx="63">
                  <c:v>1.26</c:v>
                </c:pt>
                <c:pt idx="64">
                  <c:v>1.28</c:v>
                </c:pt>
                <c:pt idx="65">
                  <c:v>1.3</c:v>
                </c:pt>
                <c:pt idx="66">
                  <c:v>1.32</c:v>
                </c:pt>
                <c:pt idx="67">
                  <c:v>1.34</c:v>
                </c:pt>
                <c:pt idx="68">
                  <c:v>1.36</c:v>
                </c:pt>
                <c:pt idx="69">
                  <c:v>1.38</c:v>
                </c:pt>
                <c:pt idx="70">
                  <c:v>1.4</c:v>
                </c:pt>
                <c:pt idx="71">
                  <c:v>1.42</c:v>
                </c:pt>
                <c:pt idx="72">
                  <c:v>1.44</c:v>
                </c:pt>
                <c:pt idx="73">
                  <c:v>1.46</c:v>
                </c:pt>
                <c:pt idx="74">
                  <c:v>1.48</c:v>
                </c:pt>
                <c:pt idx="75">
                  <c:v>1.5</c:v>
                </c:pt>
                <c:pt idx="76">
                  <c:v>1.52</c:v>
                </c:pt>
                <c:pt idx="77">
                  <c:v>1.54</c:v>
                </c:pt>
                <c:pt idx="78">
                  <c:v>1.56</c:v>
                </c:pt>
                <c:pt idx="79">
                  <c:v>1.58</c:v>
                </c:pt>
                <c:pt idx="80">
                  <c:v>1.6</c:v>
                </c:pt>
                <c:pt idx="81">
                  <c:v>1.62</c:v>
                </c:pt>
                <c:pt idx="82">
                  <c:v>1.64</c:v>
                </c:pt>
                <c:pt idx="83">
                  <c:v>1.66</c:v>
                </c:pt>
                <c:pt idx="84">
                  <c:v>1.68</c:v>
                </c:pt>
                <c:pt idx="85">
                  <c:v>1.7</c:v>
                </c:pt>
                <c:pt idx="86">
                  <c:v>1.72</c:v>
                </c:pt>
                <c:pt idx="87">
                  <c:v>1.74</c:v>
                </c:pt>
                <c:pt idx="88">
                  <c:v>1.76</c:v>
                </c:pt>
                <c:pt idx="89">
                  <c:v>1.78</c:v>
                </c:pt>
                <c:pt idx="90">
                  <c:v>1.8</c:v>
                </c:pt>
                <c:pt idx="91">
                  <c:v>1.82</c:v>
                </c:pt>
                <c:pt idx="92">
                  <c:v>1.84</c:v>
                </c:pt>
                <c:pt idx="93">
                  <c:v>1.86</c:v>
                </c:pt>
                <c:pt idx="94">
                  <c:v>1.88</c:v>
                </c:pt>
                <c:pt idx="95">
                  <c:v>1.9</c:v>
                </c:pt>
                <c:pt idx="96">
                  <c:v>1.92</c:v>
                </c:pt>
                <c:pt idx="97">
                  <c:v>1.94</c:v>
                </c:pt>
                <c:pt idx="98">
                  <c:v>1.96</c:v>
                </c:pt>
                <c:pt idx="99">
                  <c:v>1.98</c:v>
                </c:pt>
                <c:pt idx="100">
                  <c:v>2</c:v>
                </c:pt>
              </c:numCache>
            </c:numRef>
          </c:xVal>
          <c:yVal>
            <c:numRef>
              <c:f>'Chart Data'!$D$2:$D$102</c:f>
              <c:numCache>
                <c:formatCode>0.0</c:formatCode>
                <c:ptCount val="101"/>
                <c:pt idx="0">
                  <c:v>0.14872337</c:v>
                </c:pt>
                <c:pt idx="1">
                  <c:v>0.20391609</c:v>
                </c:pt>
                <c:pt idx="2">
                  <c:v>0.25808316</c:v>
                </c:pt>
                <c:pt idx="3">
                  <c:v>0.31122459</c:v>
                </c:pt>
                <c:pt idx="4">
                  <c:v>0.36334037</c:v>
                </c:pt>
                <c:pt idx="5">
                  <c:v>0.41443049</c:v>
                </c:pt>
                <c:pt idx="6">
                  <c:v>0.46449498</c:v>
                </c:pt>
                <c:pt idx="7">
                  <c:v>0.51353381</c:v>
                </c:pt>
                <c:pt idx="8">
                  <c:v>0.56154699</c:v>
                </c:pt>
                <c:pt idx="9">
                  <c:v>0.60853453</c:v>
                </c:pt>
                <c:pt idx="10">
                  <c:v>0.65449641</c:v>
                </c:pt>
                <c:pt idx="11">
                  <c:v>0.69943265</c:v>
                </c:pt>
                <c:pt idx="12">
                  <c:v>0.74334324</c:v>
                </c:pt>
                <c:pt idx="13">
                  <c:v>0.78622818</c:v>
                </c:pt>
                <c:pt idx="14">
                  <c:v>0.82808748</c:v>
                </c:pt>
                <c:pt idx="15">
                  <c:v>0.86892112</c:v>
                </c:pt>
                <c:pt idx="16">
                  <c:v>0.90872912</c:v>
                </c:pt>
                <c:pt idx="17">
                  <c:v>0.94751147</c:v>
                </c:pt>
                <c:pt idx="18">
                  <c:v>0.98526817</c:v>
                </c:pt>
                <c:pt idx="19">
                  <c:v>1.02199922</c:v>
                </c:pt>
                <c:pt idx="20">
                  <c:v>1.05770462</c:v>
                </c:pt>
                <c:pt idx="21">
                  <c:v>1.09238437</c:v>
                </c:pt>
                <c:pt idx="22">
                  <c:v>1.12603848</c:v>
                </c:pt>
                <c:pt idx="23">
                  <c:v>1.15866694</c:v>
                </c:pt>
                <c:pt idx="24">
                  <c:v>1.19026975</c:v>
                </c:pt>
                <c:pt idx="25">
                  <c:v>1.22084691</c:v>
                </c:pt>
                <c:pt idx="26">
                  <c:v>1.25039842</c:v>
                </c:pt>
                <c:pt idx="27">
                  <c:v>1.27892428</c:v>
                </c:pt>
                <c:pt idx="28">
                  <c:v>1.3064245</c:v>
                </c:pt>
                <c:pt idx="29">
                  <c:v>1.33289907</c:v>
                </c:pt>
                <c:pt idx="30">
                  <c:v>1.35834798</c:v>
                </c:pt>
                <c:pt idx="31">
                  <c:v>1.38277125</c:v>
                </c:pt>
                <c:pt idx="32">
                  <c:v>1.40616888</c:v>
                </c:pt>
                <c:pt idx="33">
                  <c:v>1.42854085</c:v>
                </c:pt>
                <c:pt idx="34">
                  <c:v>1.44988717</c:v>
                </c:pt>
                <c:pt idx="35">
                  <c:v>1.47020785</c:v>
                </c:pt>
                <c:pt idx="36">
                  <c:v>1.48950288</c:v>
                </c:pt>
                <c:pt idx="37">
                  <c:v>1.50777226</c:v>
                </c:pt>
                <c:pt idx="38">
                  <c:v>1.52501599</c:v>
                </c:pt>
                <c:pt idx="39">
                  <c:v>1.54123407</c:v>
                </c:pt>
                <c:pt idx="40">
                  <c:v>1.55642651</c:v>
                </c:pt>
                <c:pt idx="41">
                  <c:v>1.57059329</c:v>
                </c:pt>
                <c:pt idx="42">
                  <c:v>1.58373443</c:v>
                </c:pt>
                <c:pt idx="43">
                  <c:v>1.59584992</c:v>
                </c:pt>
                <c:pt idx="44">
                  <c:v>1.60693976</c:v>
                </c:pt>
                <c:pt idx="45">
                  <c:v>1.61700395</c:v>
                </c:pt>
                <c:pt idx="46">
                  <c:v>1.6260425</c:v>
                </c:pt>
                <c:pt idx="47">
                  <c:v>1.63405539</c:v>
                </c:pt>
                <c:pt idx="48">
                  <c:v>1.64104264</c:v>
                </c:pt>
                <c:pt idx="49">
                  <c:v>1.64700424</c:v>
                </c:pt>
                <c:pt idx="50">
                  <c:v>1.65194019</c:v>
                </c:pt>
                <c:pt idx="51">
                  <c:v>1.65585049</c:v>
                </c:pt>
                <c:pt idx="52">
                  <c:v>1.65873515</c:v>
                </c:pt>
                <c:pt idx="53">
                  <c:v>1.66059415</c:v>
                </c:pt>
                <c:pt idx="54">
                  <c:v>1.66142751</c:v>
                </c:pt>
                <c:pt idx="55">
                  <c:v>1.66123522</c:v>
                </c:pt>
                <c:pt idx="56">
                  <c:v>1.66001728</c:v>
                </c:pt>
                <c:pt idx="57">
                  <c:v>1.65777369</c:v>
                </c:pt>
                <c:pt idx="58">
                  <c:v>1.65450445</c:v>
                </c:pt>
                <c:pt idx="59">
                  <c:v>1.65020957</c:v>
                </c:pt>
                <c:pt idx="60">
                  <c:v>1.64488903</c:v>
                </c:pt>
                <c:pt idx="61">
                  <c:v>1.63854285</c:v>
                </c:pt>
                <c:pt idx="62">
                  <c:v>1.63117102</c:v>
                </c:pt>
                <c:pt idx="63">
                  <c:v>1.62277354</c:v>
                </c:pt>
                <c:pt idx="64">
                  <c:v>1.61335041</c:v>
                </c:pt>
                <c:pt idx="65">
                  <c:v>1.60290164</c:v>
                </c:pt>
                <c:pt idx="66">
                  <c:v>1.59142721</c:v>
                </c:pt>
                <c:pt idx="67">
                  <c:v>1.57892714</c:v>
                </c:pt>
                <c:pt idx="68">
                  <c:v>1.56540142</c:v>
                </c:pt>
                <c:pt idx="69">
                  <c:v>1.55085005</c:v>
                </c:pt>
                <c:pt idx="70">
                  <c:v>1.53527303</c:v>
                </c:pt>
                <c:pt idx="71">
                  <c:v>1.51867037</c:v>
                </c:pt>
                <c:pt idx="72">
                  <c:v>1.50104205</c:v>
                </c:pt>
                <c:pt idx="73">
                  <c:v>1.48238809</c:v>
                </c:pt>
                <c:pt idx="74">
                  <c:v>1.46270848</c:v>
                </c:pt>
                <c:pt idx="75">
                  <c:v>1.44200322</c:v>
                </c:pt>
                <c:pt idx="76">
                  <c:v>1.42027231</c:v>
                </c:pt>
                <c:pt idx="77">
                  <c:v>1.39751575</c:v>
                </c:pt>
                <c:pt idx="78">
                  <c:v>1.37373355</c:v>
                </c:pt>
                <c:pt idx="79">
                  <c:v>1.34892569</c:v>
                </c:pt>
                <c:pt idx="80">
                  <c:v>1.32309219</c:v>
                </c:pt>
                <c:pt idx="81">
                  <c:v>1.29623304</c:v>
                </c:pt>
                <c:pt idx="82">
                  <c:v>1.26834824</c:v>
                </c:pt>
                <c:pt idx="83">
                  <c:v>1.2394378</c:v>
                </c:pt>
                <c:pt idx="84">
                  <c:v>1.2095017</c:v>
                </c:pt>
                <c:pt idx="85">
                  <c:v>1.17853996</c:v>
                </c:pt>
                <c:pt idx="86">
                  <c:v>1.14655256</c:v>
                </c:pt>
                <c:pt idx="87">
                  <c:v>1.11353952</c:v>
                </c:pt>
                <c:pt idx="88">
                  <c:v>1.07950083</c:v>
                </c:pt>
                <c:pt idx="89">
                  <c:v>1.0444365</c:v>
                </c:pt>
                <c:pt idx="90">
                  <c:v>1.00834651</c:v>
                </c:pt>
                <c:pt idx="91">
                  <c:v>0.97123088</c:v>
                </c:pt>
                <c:pt idx="92">
                  <c:v>0.93308959</c:v>
                </c:pt>
                <c:pt idx="93">
                  <c:v>0.89392266</c:v>
                </c:pt>
                <c:pt idx="94">
                  <c:v>0.85373008</c:v>
                </c:pt>
                <c:pt idx="95">
                  <c:v>0.81251185</c:v>
                </c:pt>
                <c:pt idx="96">
                  <c:v>0.77026798</c:v>
                </c:pt>
                <c:pt idx="97">
                  <c:v>0.72699845</c:v>
                </c:pt>
                <c:pt idx="98">
                  <c:v>0.68270328</c:v>
                </c:pt>
                <c:pt idx="99">
                  <c:v>0.63738246</c:v>
                </c:pt>
                <c:pt idx="100">
                  <c:v>0.59103599</c:v>
                </c:pt>
              </c:numCache>
            </c:numRef>
          </c:yVal>
        </c:ser>
        <c:ser>
          <c:idx val="2"/>
          <c:order val="2"/>
          <c:tx>
            <c:v>New sample</c:v>
          </c:tx>
          <c:spPr>
            <a:ln xmlns:a="http://schemas.openxmlformats.org/drawingml/2006/main" w="0">
              <a:noFill/>
            </a:ln>
          </c:spPr>
          <c:marker>
            <c:symbol val="diamond"/>
            <c:size val="10"/>
            <c:spPr>
              <a:solidFill xmlns:a="http://schemas.openxmlformats.org/drawingml/2006/main">
                <a:srgbClr val="1E293B"/>
              </a:solidFill>
            </c:spPr>
          </c:marker>
          <c:xVal>
            <c:numRef>
              <c:f>'Chart Data'!$E$2:$E$2</c:f>
              <c:numCache>
                <c:formatCode>General</c:formatCode>
                <c:ptCount val="1"/>
                <c:pt idx="0">
                  <c:v>2</c:v>
                </c:pt>
              </c:numCache>
            </c:numRef>
          </c:xVal>
          <c:yVal>
            <c:numRef>
              <c:f>'Chart Data'!$F$2:$F$2</c:f>
              <c:numCache>
                <c:formatCode>0.0</c:formatCode>
                <c:ptCount val="1"/>
                <c:pt idx="0">
                  <c:v>0.59103599</c:v>
                </c:pt>
              </c:numCache>
            </c:numRef>
          </c:yVal>
        </c:ser>
        <c:dLbls>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showLegendKey val="0"/>
          <c:showVal val="0"/>
          <c:showCatName val="0"/>
          <c:showSerName val="0"/>
          <c:showPercent val="0"/>
          <c:showBubbleSize val="0"/>
          <c:showLeaderLines val="0"/>
        </c:dLbls>
        <c:axId val="48650112"/>
        <c:axId val="48672768"/>
      </c:scatterChart>
      <c:valAx>
        <c:axId val="48672768"/>
        <c:scaling>
          <c:orientation val="minMax"/>
          <c:max val="2"/>
          <c:min val="0"/>
        </c:scaling>
        <c:delete val="0"/>
        <c:axPos val="l"/>
        <c:majorGridlines>
          <c:spPr>
            <a:ln xmlns:a="http://schemas.openxmlformats.org/drawingml/2006/main" w="6668">
              <a:solidFill>
                <a:srgbClr val="E2E8F0"/>
              </a:solidFill>
            </a:ln>
          </c:spPr>
        </c:majorGridlines>
        <c:title>
          <c:tx>
            <c:rich>
              <a:bodyPr xmlns:a="http://schemas.openxmlformats.org/drawingml/2006/main"/>
              <a:lstStyle xmlns:a="http://schemas.openxmlformats.org/drawingml/2006/main"/>
              <a:p xmlns:a="http://schemas.openxmlformats.org/drawingml/2006/main">
                <a:r>
                  <a:rPr sz="1275">
                    <a:latin typeface="Calibri"/>
                    <a:ea typeface="Calibri"/>
                    <a:cs typeface="Calibri"/>
                  </a:rPr>
                  <a:t>Detector response (a.u.)</a:t>
                </a:r>
              </a:p>
            </c:rich>
          </c:tx>
          <c:overlay val="0"/>
          <c:txPr>
            <a:bodyPr xmlns:a="http://schemas.openxmlformats.org/drawingml/2006/main" anchorCtr="1"/>
            <a:lstStyle xmlns:a="http://schemas.openxmlformats.org/drawingml/2006/main"/>
            <a:p xmlns:a="http://schemas.openxmlformats.org/drawingml/2006/main">
              <a:pPr>
                <a:defRPr sz="1275">
                  <a:latin typeface="Calibri"/>
                  <a:ea typeface="Calibri"/>
                  <a:cs typeface="Calibri"/>
                </a:defRPr>
              </a:pPr>
            </a:p>
          </c:txPr>
        </c:title>
        <c:numFmt formatCode="0.0"/>
        <c:majorTickMark val="none"/>
        <c:minorTickMark val="none"/>
        <c:spPr>
          <a:ln xmlns:a="http://schemas.openxmlformats.org/drawingml/2006/main" w="9525">
            <a:solidFill>
              <a:srgbClr val="64748B"/>
            </a:solidFill>
          </a:ln>
        </c:spPr>
        <c:txPr>
          <a:bodyPr xmlns:a="http://schemas.openxmlformats.org/drawingml/2006/main" anchorCtr="1"/>
          <a:lstStyle xmlns:a="http://schemas.openxmlformats.org/drawingml/2006/main"/>
          <a:p xmlns:a="http://schemas.openxmlformats.org/drawingml/2006/main">
            <a:pPr>
              <a:defRPr sz="1200">
                <a:solidFill>
                  <a:srgbClr val="64748B"/>
                </a:solidFill>
                <a:latin typeface="Calibri"/>
                <a:ea typeface="Calibri"/>
                <a:cs typeface="Calibri"/>
              </a:defRPr>
            </a:pPr>
          </a:p>
        </c:txPr>
        <c:crossAx val="48650112"/>
        <c:majorUnit val="0.5"/>
      </c:valAx>
      <c:valAx>
        <c:axId val="48650112"/>
        <c:scaling>
          <c:orientation val="minMax"/>
          <c:max val="2.1"/>
          <c:min val="0"/>
        </c:scaling>
        <c:delete val="0"/>
        <c:axPos val="b"/>
        <c:title>
          <c:tx>
            <c:rich>
              <a:bodyPr xmlns:a="http://schemas.openxmlformats.org/drawingml/2006/main"/>
              <a:lstStyle xmlns:a="http://schemas.openxmlformats.org/drawingml/2006/main"/>
              <a:p xmlns:a="http://schemas.openxmlformats.org/drawingml/2006/main">
                <a:r>
                  <a:rPr sz="1275">
                    <a:latin typeface="Calibri"/>
                    <a:ea typeface="Calibri"/>
                    <a:cs typeface="Calibri"/>
                  </a:rPr>
                  <a:t>Concentration (mg/L)</a:t>
                </a:r>
              </a:p>
            </c:rich>
          </c:tx>
          <c:overlay val="0"/>
          <c:txPr>
            <a:bodyPr xmlns:a="http://schemas.openxmlformats.org/drawingml/2006/main" anchorCtr="1"/>
            <a:lstStyle xmlns:a="http://schemas.openxmlformats.org/drawingml/2006/main"/>
            <a:p xmlns:a="http://schemas.openxmlformats.org/drawingml/2006/main">
              <a:pPr>
                <a:defRPr sz="1275">
                  <a:latin typeface="Calibri"/>
                  <a:ea typeface="Calibri"/>
                  <a:cs typeface="Calibri"/>
                </a:defRPr>
              </a:pPr>
            </a:p>
          </c:txPr>
        </c:title>
        <c:numFmt formatCode="0.0"/>
        <c:majorTickMark val="none"/>
        <c:minorTickMark val="none"/>
        <c:spPr>
          <a:ln xmlns:a="http://schemas.openxmlformats.org/drawingml/2006/main" w="9525">
            <a:solidFill>
              <a:srgbClr val="64748B"/>
            </a:solidFill>
          </a:ln>
        </c:spPr>
        <c:txPr>
          <a:bodyPr xmlns:a="http://schemas.openxmlformats.org/drawingml/2006/main" anchorCtr="1"/>
          <a:lstStyle xmlns:a="http://schemas.openxmlformats.org/drawingml/2006/main"/>
          <a:p xmlns:a="http://schemas.openxmlformats.org/drawingml/2006/main">
            <a:pPr>
              <a:defRPr sz="1200">
                <a:solidFill>
                  <a:srgbClr val="64748B"/>
                </a:solidFill>
                <a:latin typeface="Calibri"/>
                <a:ea typeface="Calibri"/>
                <a:cs typeface="Calibri"/>
              </a:defRPr>
            </a:pPr>
          </a:p>
        </c:txPr>
        <c:crossAx val="48672768"/>
        <c:majorUnit val="0.5"/>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200">
              <a:solidFill>
                <a:srgbClr val="1E293B"/>
              </a:solidFill>
              <a:latin typeface="Calibri"/>
              <a:ea typeface="Calibri"/>
              <a:cs typeface="Calibri"/>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493501D-55D1-448C-82FB-ED3AA9AB17B2}"/>
              </a:ext>
            </a:extLst>
          </p:cNvPr>
          <p:cNvSpPr>
            <a:spLocks xmlns:a="http://schemas.openxmlformats.org/drawingml/2006/main" noGrp="1"/>
          </p:cNvSpPr>
          <p:nvPr/>
        </p:nvSpPr>
        <p:spPr>
          <a:xfrm xmlns:a="http://schemas.openxmlformats.org/drawingml/2006/main">
            <a:off x="457200" y="333375"/>
            <a:ext cx="8229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00" b="1">
                <a:solidFill>
                  <a:srgbClr val="028090"/>
                </a:solidFill>
                <a:latin typeface="Calibri"/>
                <a:ea typeface="Calibri"/>
                <a:cs typeface="Calibri"/>
              </a:defRPr>
            </a:defPPr>
          </a:lstStyle>
          <a:p xmlns:a="http://schemas.openxmlformats.org/drawingml/2006/main">
            <a:pPr>
              <a:defRPr sz="1100" b="1">
                <a:solidFill>
                  <a:srgbClr val="028090"/>
                </a:solidFill>
                <a:latin typeface="Calibri"/>
                <a:ea typeface="Calibri"/>
                <a:cs typeface="Calibri"/>
              </a:defRPr>
            </a:pPr>
            <a:r>
              <a:rPr sz="1100" b="1">
                <a:solidFill>
                  <a:srgbClr val="028090"/>
                </a:solidFill>
                <a:latin typeface="Calibri"/>
                <a:ea typeface="Calibri"/>
                <a:cs typeface="Calibri"/>
              </a:rPr>
              <a:t>FAILURE MODES</a:t>
            </a:r>
          </a:p>
        </p:txBody>
      </p:sp>
      <p:sp>
        <p:nvSpPr>
          <p:cNvPr id="2" name="">
            <a:extLst xmlns:a="http://schemas.openxmlformats.org/drawingml/2006/main">
              <a:ext uri="{FF2B5EF4-FFF2-40B4-BE49-F238E27FC236}">
                <a16:creationId xmlns:a16="http://schemas.microsoft.com/office/drawing/2014/main" id="{6FB38F05-6F89-4B2B-BEE6-36F56BC118A7}"/>
              </a:ext>
            </a:extLst>
          </p:cNvPr>
          <p:cNvSpPr>
            <a:spLocks xmlns:a="http://schemas.openxmlformats.org/drawingml/2006/main" noGrp="1"/>
          </p:cNvSpPr>
          <p:nvPr/>
        </p:nvSpPr>
        <p:spPr>
          <a:xfrm xmlns:a="http://schemas.openxmlformats.org/drawingml/2006/main">
            <a:off x="457200" y="742950"/>
            <a:ext cx="8229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00" b="1">
                <a:solidFill>
                  <a:srgbClr val="1E293B"/>
                </a:solidFill>
                <a:latin typeface="Cambria"/>
                <a:ea typeface="Cambria"/>
                <a:cs typeface="Cambria"/>
              </a:defRPr>
            </a:defPPr>
          </a:lstStyle>
          <a:p xmlns:a="http://schemas.openxmlformats.org/drawingml/2006/main">
            <a:pPr>
              <a:defRPr sz="2600" b="1">
                <a:solidFill>
                  <a:srgbClr val="1E293B"/>
                </a:solidFill>
                <a:latin typeface="Cambria"/>
                <a:ea typeface="Cambria"/>
                <a:cs typeface="Cambria"/>
              </a:defRPr>
            </a:pPr>
            <a:r>
              <a:rPr sz="2600" b="1">
                <a:solidFill>
                  <a:srgbClr val="1E293B"/>
                </a:solidFill>
                <a:latin typeface="Cambria"/>
                <a:ea typeface="Cambria"/>
                <a:cs typeface="Cambria"/>
              </a:rPr>
              <a:t>Five ways a model can fail</a:t>
            </a:r>
          </a:p>
        </p:txBody>
      </p:sp>
      <p:sp>
        <p:nvSpPr>
          <p:cNvPr id="3" name="">
            <a:extLst xmlns:a="http://schemas.openxmlformats.org/drawingml/2006/main">
              <a:ext uri="{FF2B5EF4-FFF2-40B4-BE49-F238E27FC236}">
                <a16:creationId xmlns:a16="http://schemas.microsoft.com/office/drawing/2014/main" id="{C996A2C7-412E-417C-AB8D-71211159F2D4}"/>
              </a:ext>
            </a:extLst>
          </p:cNvPr>
          <p:cNvSpPr>
            <a:spLocks xmlns:a="http://schemas.openxmlformats.org/drawingml/2006/main" noGrp="1"/>
          </p:cNvSpPr>
          <p:nvPr/>
        </p:nvSpPr>
        <p:spPr>
          <a:xfrm xmlns:a="http://schemas.openxmlformats.org/drawingml/2006/main">
            <a:off x="8620125" y="4848225"/>
            <a:ext cx="238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00" b="0">
                <a:solidFill>
                  <a:srgbClr val="64748B"/>
                </a:solidFill>
                <a:latin typeface="Calibri"/>
                <a:ea typeface="Calibri"/>
                <a:cs typeface="Calibri"/>
              </a:defRPr>
            </a:defPPr>
          </a:lstStyle>
          <a:p xmlns:a="http://schemas.openxmlformats.org/drawingml/2006/main">
            <a:pPr>
              <a:defRPr sz="900" b="0">
                <a:solidFill>
                  <a:srgbClr val="64748B"/>
                </a:solidFill>
                <a:latin typeface="Calibri"/>
                <a:ea typeface="Calibri"/>
                <a:cs typeface="Calibri"/>
              </a:defRPr>
            </a:pPr>
            <a:r>
              <a:rPr sz="900" b="0">
                <a:solidFill>
                  <a:srgbClr val="64748B"/>
                </a:solidFill>
                <a:latin typeface="Calibri"/>
                <a:ea typeface="Calibri"/>
                <a:cs typeface="Calibri"/>
              </a:rPr>
              <a:t>1</a:t>
            </a:r>
          </a:p>
        </p:txBody>
      </p:sp>
      <p:graphicFrame>
        <p:nvGraphicFramePr>
          <p:cNvPr id="4" name="">
            <a:extLst xmlns:a="http://schemas.openxmlformats.org/drawingml/2006/main">
              <a:ext uri="{FF2B5EF4-FFF2-40B4-BE49-F238E27FC236}">
                <a16:creationId xmlns:a16="http://schemas.microsoft.com/office/drawing/2014/main" id="{77F42141-0092-4534-9955-E36B6EFE8EF3}"/>
              </a:ext>
            </a:extLst>
          </p:cNvPr>
          <p:cNvGraphicFramePr/>
          <p:nvPr/>
        </p:nvGraphicFramePr>
        <p:xfrm>
          <a:off xmlns:a="http://schemas.openxmlformats.org/drawingml/2006/main" x="457200" y="1381125"/>
          <a:ext xmlns:a="http://schemas.openxmlformats.org/drawingml/2006/main" cx="8229600" cy="3028950"/>
        </p:xfrm>
        <a:graphic xmlns:a="http://schemas.openxmlformats.org/drawingml/2006/main">
          <a:graphicData uri="http://schemas.openxmlformats.org/drawingml/2006/table">
            <a:tbl>
              <a:tblPr/>
              <a:tblGrid>
                <a:gridCol w="1714500"/>
                <a:gridCol w="3238500"/>
                <a:gridCol w="3276600"/>
              </a:tblGrid>
              <a:tr h="504825">
                <a:tc>
                  <a:txBody>
                    <a:bodyPr/>
                    <a:lstStyle/>
                    <a:p>
                      <a:r>
                        <a:rPr sz="1400" b="0">
                          <a:solidFill>
                            <a:srgbClr val="FFFFFF"/>
                          </a:solidFill>
                          <a:latin typeface="Calibri"/>
                          <a:ea typeface="Calibri"/>
                          <a:cs typeface="Calibri"/>
                        </a:rPr>
                        <a:t>Failure mode</a:t>
                      </a:r>
                    </a:p>
                  </a:txBody>
                  <a:tcPr marL="114300" marR="114300" marT="28575" marB="28575">
                    <a:solidFill>
                      <a:srgbClr val="028090"/>
                    </a:solidFill>
                  </a:tcPr>
                </a:tc>
                <a:tc>
                  <a:txBody>
                    <a:bodyPr/>
                    <a:lstStyle/>
                    <a:p>
                      <a:r>
                        <a:rPr sz="1400" b="0">
                          <a:solidFill>
                            <a:srgbClr val="FFFFFF"/>
                          </a:solidFill>
                          <a:latin typeface="Calibri"/>
                          <a:ea typeface="Calibri"/>
                          <a:cs typeface="Calibri"/>
                        </a:rPr>
                        <a:t>What goes wrong?</a:t>
                      </a:r>
                    </a:p>
                  </a:txBody>
                  <a:tcPr marL="114300" marR="114300" marT="28575" marB="28575">
                    <a:solidFill>
                      <a:srgbClr val="028090"/>
                    </a:solidFill>
                  </a:tcPr>
                </a:tc>
                <a:tc>
                  <a:txBody>
                    <a:bodyPr/>
                    <a:lstStyle/>
                    <a:p>
                      <a:r>
                        <a:rPr sz="1400" b="0">
                          <a:solidFill>
                            <a:srgbClr val="FFFFFF"/>
                          </a:solidFill>
                          <a:latin typeface="Calibri"/>
                          <a:ea typeface="Calibri"/>
                          <a:cs typeface="Calibri"/>
                        </a:rPr>
                        <a:t>Useful check</a:t>
                      </a:r>
                    </a:p>
                  </a:txBody>
                  <a:tcPr marL="114300" marR="114300" marT="28575" marB="28575">
                    <a:solidFill>
                      <a:srgbClr val="028090"/>
                    </a:solidFill>
                  </a:tcPr>
                </a:tc>
              </a:tr>
              <a:tr h="504825">
                <a:tc>
                  <a:txBody>
                    <a:bodyPr/>
                    <a:lstStyle/>
                    <a:p>
                      <a:r>
                        <a:rPr sz="1400" b="0">
                          <a:solidFill>
                            <a:srgbClr val="1E293B"/>
                          </a:solidFill>
                          <a:latin typeface="Calibri"/>
                          <a:ea typeface="Calibri"/>
                          <a:cs typeface="Calibri"/>
                        </a:rPr>
                        <a:t>Underfitting</a:t>
                      </a:r>
                    </a:p>
                  </a:txBody>
                  <a:tcPr marL="114300" marR="114300" marT="28575" marB="28575">
                    <a:solidFill>
                      <a:srgbClr val="FFFFFF"/>
                    </a:solidFill>
                  </a:tcPr>
                </a:tc>
                <a:tc>
                  <a:txBody>
                    <a:bodyPr/>
                    <a:lstStyle/>
                    <a:p>
                      <a:r>
                        <a:rPr sz="1400" b="0">
                          <a:solidFill>
                            <a:srgbClr val="1E293B"/>
                          </a:solidFill>
                          <a:latin typeface="Calibri"/>
                          <a:ea typeface="Calibri"/>
                          <a:cs typeface="Calibri"/>
                        </a:rPr>
                        <a:t>The model misses a useful pattern.</a:t>
                      </a:r>
                    </a:p>
                  </a:txBody>
                  <a:tcPr marL="114300" marR="114300" marT="28575" marB="28575">
                    <a:solidFill>
                      <a:srgbClr val="FFFFFF"/>
                    </a:solidFill>
                  </a:tcPr>
                </a:tc>
                <a:tc>
                  <a:txBody>
                    <a:bodyPr/>
                    <a:lstStyle/>
                    <a:p>
                      <a:r>
                        <a:rPr sz="1400" b="0">
                          <a:solidFill>
                            <a:srgbClr val="1E293B"/>
                          </a:solidFill>
                          <a:latin typeface="Calibri"/>
                          <a:ea typeface="Calibri"/>
                          <a:cs typeface="Calibri"/>
                        </a:rPr>
                        <a:t>Training and validation performance</a:t>
                      </a:r>
                    </a:p>
                  </a:txBody>
                  <a:tcPr marL="114300" marR="114300" marT="28575" marB="28575">
                    <a:solidFill>
                      <a:srgbClr val="FFFFFF"/>
                    </a:solidFill>
                  </a:tcPr>
                </a:tc>
              </a:tr>
              <a:tr h="504825">
                <a:tc>
                  <a:txBody>
                    <a:bodyPr/>
                    <a:lstStyle/>
                    <a:p>
                      <a:r>
                        <a:rPr sz="1400" b="0">
                          <a:solidFill>
                            <a:srgbClr val="1E293B"/>
                          </a:solidFill>
                          <a:latin typeface="Calibri"/>
                          <a:ea typeface="Calibri"/>
                          <a:cs typeface="Calibri"/>
                        </a:rPr>
                        <a:t>Overfitting</a:t>
                      </a:r>
                    </a:p>
                  </a:txBody>
                  <a:tcPr marL="114300" marR="114300" marT="28575" marB="28575">
                    <a:solidFill>
                      <a:srgbClr val="FFFFFF"/>
                    </a:solidFill>
                  </a:tcPr>
                </a:tc>
                <a:tc>
                  <a:txBody>
                    <a:bodyPr/>
                    <a:lstStyle/>
                    <a:p>
                      <a:r>
                        <a:rPr sz="1400" b="0">
                          <a:solidFill>
                            <a:srgbClr val="1E293B"/>
                          </a:solidFill>
                          <a:latin typeface="Calibri"/>
                          <a:ea typeface="Calibri"/>
                          <a:cs typeface="Calibri"/>
                        </a:rPr>
                        <a:t>The model fits accidental details.</a:t>
                      </a:r>
                    </a:p>
                  </a:txBody>
                  <a:tcPr marL="114300" marR="114300" marT="28575" marB="28575">
                    <a:solidFill>
                      <a:srgbClr val="FFFFFF"/>
                    </a:solidFill>
                  </a:tcPr>
                </a:tc>
                <a:tc>
                  <a:txBody>
                    <a:bodyPr/>
                    <a:lstStyle/>
                    <a:p>
                      <a:r>
                        <a:rPr sz="1400" b="0">
                          <a:solidFill>
                            <a:srgbClr val="1E293B"/>
                          </a:solidFill>
                          <a:latin typeface="Calibri"/>
                          <a:ea typeface="Calibri"/>
                          <a:cs typeface="Calibri"/>
                        </a:rPr>
                        <a:t>The training–validation gap</a:t>
                      </a:r>
                    </a:p>
                  </a:txBody>
                  <a:tcPr marL="114300" marR="114300" marT="28575" marB="28575">
                    <a:solidFill>
                      <a:srgbClr val="FFFFFF"/>
                    </a:solidFill>
                  </a:tcPr>
                </a:tc>
              </a:tr>
              <a:tr h="504825">
                <a:tc>
                  <a:txBody>
                    <a:bodyPr/>
                    <a:lstStyle/>
                    <a:p>
                      <a:r>
                        <a:rPr sz="1400" b="0">
                          <a:solidFill>
                            <a:srgbClr val="1E293B"/>
                          </a:solidFill>
                          <a:latin typeface="Calibri"/>
                          <a:ea typeface="Calibri"/>
                          <a:cs typeface="Calibri"/>
                        </a:rPr>
                        <a:t>Bias in the data</a:t>
                      </a:r>
                    </a:p>
                  </a:txBody>
                  <a:tcPr marL="114300" marR="114300" marT="28575" marB="28575">
                    <a:solidFill>
                      <a:srgbClr val="FFFFFF"/>
                    </a:solidFill>
                  </a:tcPr>
                </a:tc>
                <a:tc>
                  <a:txBody>
                    <a:bodyPr/>
                    <a:lstStyle/>
                    <a:p>
                      <a:r>
                        <a:rPr sz="1400" b="0">
                          <a:solidFill>
                            <a:srgbClr val="1E293B"/>
                          </a:solidFill>
                          <a:latin typeface="Calibri"/>
                          <a:ea typeface="Calibri"/>
                          <a:cs typeface="Calibri"/>
                        </a:rPr>
                        <a:t>Some conditions have poor coverage.</a:t>
                      </a:r>
                    </a:p>
                  </a:txBody>
                  <a:tcPr marL="114300" marR="114300" marT="28575" marB="28575">
                    <a:solidFill>
                      <a:srgbClr val="FFFFFF"/>
                    </a:solidFill>
                  </a:tcPr>
                </a:tc>
                <a:tc>
                  <a:txBody>
                    <a:bodyPr/>
                    <a:lstStyle/>
                    <a:p>
                      <a:r>
                        <a:rPr sz="1400" b="0">
                          <a:solidFill>
                            <a:srgbClr val="1E293B"/>
                          </a:solidFill>
                          <a:latin typeface="Calibri"/>
                          <a:ea typeface="Calibri"/>
                          <a:cs typeface="Calibri"/>
                        </a:rPr>
                        <a:t>Sampling and performance by group</a:t>
                      </a:r>
                    </a:p>
                  </a:txBody>
                  <a:tcPr marL="114300" marR="114300" marT="28575" marB="28575">
                    <a:solidFill>
                      <a:srgbClr val="FFFFFF"/>
                    </a:solidFill>
                  </a:tcPr>
                </a:tc>
              </a:tr>
              <a:tr h="504825">
                <a:tc>
                  <a:txBody>
                    <a:bodyPr/>
                    <a:lstStyle/>
                    <a:p>
                      <a:r>
                        <a:rPr sz="1400" b="0">
                          <a:solidFill>
                            <a:srgbClr val="1E293B"/>
                          </a:solidFill>
                          <a:latin typeface="Calibri"/>
                          <a:ea typeface="Calibri"/>
                          <a:cs typeface="Calibri"/>
                        </a:rPr>
                        <a:t>Out of</a:t>
                      </a:r>
                    </a:p>
                    <a:p>
                      <a:r>
                        <a:rPr sz="1400" b="0">
                          <a:solidFill>
                            <a:srgbClr val="1E293B"/>
                          </a:solidFill>
                          <a:latin typeface="Calibri"/>
                          <a:ea typeface="Calibri"/>
                          <a:cs typeface="Calibri"/>
                        </a:rPr>
                        <a:t>distribution</a:t>
                      </a:r>
                    </a:p>
                  </a:txBody>
                  <a:tcPr marL="114300" marR="114300" marT="28575" marB="28575">
                    <a:solidFill>
                      <a:srgbClr val="FFFFFF"/>
                    </a:solidFill>
                  </a:tcPr>
                </a:tc>
                <a:tc>
                  <a:txBody>
                    <a:bodyPr/>
                    <a:lstStyle/>
                    <a:p>
                      <a:r>
                        <a:rPr sz="1400" b="0">
                          <a:solidFill>
                            <a:srgbClr val="1E293B"/>
                          </a:solidFill>
                          <a:latin typeface="Calibri"/>
                          <a:ea typeface="Calibri"/>
                          <a:cs typeface="Calibri"/>
                        </a:rPr>
                        <a:t>New conditions differ from those studied.</a:t>
                      </a:r>
                    </a:p>
                  </a:txBody>
                  <a:tcPr marL="114300" marR="114300" marT="28575" marB="28575">
                    <a:solidFill>
                      <a:srgbClr val="FFFFFF"/>
                    </a:solidFill>
                  </a:tcPr>
                </a:tc>
                <a:tc>
                  <a:txBody>
                    <a:bodyPr/>
                    <a:lstStyle/>
                    <a:p>
                      <a:r>
                        <a:rPr sz="1400" b="0">
                          <a:solidFill>
                            <a:srgbClr val="1E293B"/>
                          </a:solidFill>
                          <a:latin typeface="Calibri"/>
                          <a:ea typeface="Calibri"/>
                          <a:cs typeface="Calibri"/>
                        </a:rPr>
                        <a:t>The intended conditions of use</a:t>
                      </a:r>
                    </a:p>
                  </a:txBody>
                  <a:tcPr marL="114300" marR="114300" marT="28575" marB="28575">
                    <a:solidFill>
                      <a:srgbClr val="FFFFFF"/>
                    </a:solidFill>
                  </a:tcPr>
                </a:tc>
              </a:tr>
              <a:tr h="504825">
                <a:tc>
                  <a:txBody>
                    <a:bodyPr/>
                    <a:lstStyle/>
                    <a:p>
                      <a:r>
                        <a:rPr sz="1400" b="0">
                          <a:solidFill>
                            <a:srgbClr val="1E293B"/>
                          </a:solidFill>
                          <a:latin typeface="Calibri"/>
                          <a:ea typeface="Calibri"/>
                          <a:cs typeface="Calibri"/>
                        </a:rPr>
                        <a:t>Information</a:t>
                      </a:r>
                    </a:p>
                    <a:p>
                      <a:r>
                        <a:rPr sz="1400" b="0">
                          <a:solidFill>
                            <a:srgbClr val="1E293B"/>
                          </a:solidFill>
                          <a:latin typeface="Calibri"/>
                          <a:ea typeface="Calibri"/>
                          <a:cs typeface="Calibri"/>
                        </a:rPr>
                        <a:t>leakage</a:t>
                      </a:r>
                    </a:p>
                  </a:txBody>
                  <a:tcPr marL="114300" marR="114300" marT="28575" marB="28575">
                    <a:solidFill>
                      <a:srgbClr val="FFFFFF"/>
                    </a:solidFill>
                  </a:tcPr>
                </a:tc>
                <a:tc>
                  <a:txBody>
                    <a:bodyPr/>
                    <a:lstStyle/>
                    <a:p>
                      <a:r>
                        <a:rPr sz="1400" b="0">
                          <a:solidFill>
                            <a:srgbClr val="1E293B"/>
                          </a:solidFill>
                          <a:latin typeface="Calibri"/>
                          <a:ea typeface="Calibri"/>
                          <a:cs typeface="Calibri"/>
                        </a:rPr>
                        <a:t>Training and test information overlap.</a:t>
                      </a:r>
                    </a:p>
                  </a:txBody>
                  <a:tcPr marL="114300" marR="114300" marT="28575" marB="28575">
                    <a:solidFill>
                      <a:srgbClr val="FFFFFF"/>
                    </a:solidFill>
                  </a:tcPr>
                </a:tc>
                <a:tc>
                  <a:txBody>
                    <a:bodyPr/>
                    <a:lstStyle/>
                    <a:p>
                      <a:r>
                        <a:rPr sz="1400" b="0">
                          <a:solidFill>
                            <a:srgbClr val="1E293B"/>
                          </a:solidFill>
                          <a:latin typeface="Calibri"/>
                          <a:ea typeface="Calibri"/>
                          <a:cs typeface="Calibri"/>
                        </a:rPr>
                        <a:t>Split units and data preparation</a:t>
                      </a:r>
                    </a:p>
                  </a:txBody>
                  <a:tcPr marL="114300" marR="114300" marT="28575" marB="28575">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12E661F1-6C22-47FB-B019-3CD8BDE496B2}"/>
              </a:ext>
            </a:extLst>
          </p:cNvPr>
          <p:cNvSpPr>
            <a:spLocks xmlns:a="http://schemas.openxmlformats.org/drawingml/2006/main" noGrp="1"/>
          </p:cNvSpPr>
          <p:nvPr/>
        </p:nvSpPr>
        <p:spPr>
          <a:xfrm xmlns:a="http://schemas.openxmlformats.org/drawingml/2006/main">
            <a:off x="457200" y="4714875"/>
            <a:ext cx="8229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00" b="0">
                <a:solidFill>
                  <a:srgbClr val="028090"/>
                </a:solidFill>
                <a:latin typeface="Calibri"/>
                <a:ea typeface="Calibri"/>
                <a:cs typeface="Calibri"/>
              </a:defRPr>
            </a:defPPr>
          </a:lstStyle>
          <a:p xmlns:a="http://schemas.openxmlformats.org/drawingml/2006/main">
            <a:pPr>
              <a:defRPr sz="1400" b="0">
                <a:solidFill>
                  <a:srgbClr val="028090"/>
                </a:solidFill>
                <a:latin typeface="Calibri"/>
                <a:ea typeface="Calibri"/>
                <a:cs typeface="Calibri"/>
              </a:defRPr>
            </a:pPr>
            <a:r>
              <a:rPr sz="1400" b="0">
                <a:solidFill>
                  <a:srgbClr val="028090"/>
                </a:solidFill>
                <a:latin typeface="Calibri"/>
                <a:ea typeface="Calibri"/>
                <a:cs typeface="Calibri"/>
              </a:rPr>
              <a:t>Good predictions require an independent evaluation.</a:t>
            </a:r>
          </a:p>
        </p:txBody>
      </p:sp>
    </p:spTree>
    <p:extLst>
      <p:ext uri="{BB962C8B-B14F-4D97-AF65-F5344CB8AC3E}">
        <p14:creationId xmlns:p14="http://schemas.microsoft.com/office/powerpoint/2010/main" val="63472989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9F6BF95-6232-4F28-AD08-8A27DBE8800F}"/>
              </a:ext>
            </a:extLst>
          </p:cNvPr>
          <p:cNvSpPr>
            <a:spLocks xmlns:a="http://schemas.openxmlformats.org/drawingml/2006/main" noGrp="1"/>
          </p:cNvSpPr>
          <p:nvPr/>
        </p:nvSpPr>
        <p:spPr>
          <a:xfrm xmlns:a="http://schemas.openxmlformats.org/drawingml/2006/main">
            <a:off x="457200" y="333375"/>
            <a:ext cx="8229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00" b="1">
                <a:solidFill>
                  <a:srgbClr val="028090"/>
                </a:solidFill>
                <a:latin typeface="Calibri"/>
                <a:ea typeface="Calibri"/>
                <a:cs typeface="Calibri"/>
              </a:defRPr>
            </a:defPPr>
          </a:lstStyle>
          <a:p xmlns:a="http://schemas.openxmlformats.org/drawingml/2006/main">
            <a:pPr>
              <a:defRPr sz="1100" b="1">
                <a:solidFill>
                  <a:srgbClr val="028090"/>
                </a:solidFill>
                <a:latin typeface="Calibri"/>
                <a:ea typeface="Calibri"/>
                <a:cs typeface="Calibri"/>
              </a:defRPr>
            </a:pPr>
            <a:r>
              <a:rPr sz="1100" b="1">
                <a:solidFill>
                  <a:srgbClr val="028090"/>
                </a:solidFill>
                <a:latin typeface="Calibri"/>
                <a:ea typeface="Calibri"/>
                <a:cs typeface="Calibri"/>
              </a:rPr>
              <a:t>FAILURE MODES</a:t>
            </a:r>
          </a:p>
        </p:txBody>
      </p:sp>
      <p:sp>
        <p:nvSpPr>
          <p:cNvPr id="2" name="">
            <a:extLst xmlns:a="http://schemas.openxmlformats.org/drawingml/2006/main">
              <a:ext uri="{FF2B5EF4-FFF2-40B4-BE49-F238E27FC236}">
                <a16:creationId xmlns:a16="http://schemas.microsoft.com/office/drawing/2014/main" id="{9D0B77AF-4020-46CB-8281-5B4097906792}"/>
              </a:ext>
            </a:extLst>
          </p:cNvPr>
          <p:cNvSpPr>
            <a:spLocks xmlns:a="http://schemas.openxmlformats.org/drawingml/2006/main" noGrp="1"/>
          </p:cNvSpPr>
          <p:nvPr/>
        </p:nvSpPr>
        <p:spPr>
          <a:xfrm xmlns:a="http://schemas.openxmlformats.org/drawingml/2006/main">
            <a:off x="457200" y="742950"/>
            <a:ext cx="8229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00" b="1">
                <a:solidFill>
                  <a:srgbClr val="1E293B"/>
                </a:solidFill>
                <a:latin typeface="Cambria"/>
                <a:ea typeface="Cambria"/>
                <a:cs typeface="Cambria"/>
              </a:defRPr>
            </a:defPPr>
          </a:lstStyle>
          <a:p xmlns:a="http://schemas.openxmlformats.org/drawingml/2006/main">
            <a:pPr>
              <a:defRPr sz="2600" b="1">
                <a:solidFill>
                  <a:srgbClr val="1E293B"/>
                </a:solidFill>
                <a:latin typeface="Cambria"/>
                <a:ea typeface="Cambria"/>
                <a:cs typeface="Cambria"/>
              </a:defRPr>
            </a:pPr>
            <a:r>
              <a:rPr sz="2600" b="1">
                <a:solidFill>
                  <a:srgbClr val="1E293B"/>
                </a:solidFill>
                <a:latin typeface="Cambria"/>
                <a:ea typeface="Cambria"/>
                <a:cs typeface="Cambria"/>
              </a:rPr>
              <a:t>Underfitting</a:t>
            </a:r>
          </a:p>
        </p:txBody>
      </p:sp>
      <p:sp>
        <p:nvSpPr>
          <p:cNvPr id="3" name="">
            <a:extLst xmlns:a="http://schemas.openxmlformats.org/drawingml/2006/main">
              <a:ext uri="{FF2B5EF4-FFF2-40B4-BE49-F238E27FC236}">
                <a16:creationId xmlns:a16="http://schemas.microsoft.com/office/drawing/2014/main" id="{DFA1BD1E-3B7B-4E1F-9C97-E697AF35E99B}"/>
              </a:ext>
            </a:extLst>
          </p:cNvPr>
          <p:cNvSpPr>
            <a:spLocks xmlns:a="http://schemas.openxmlformats.org/drawingml/2006/main" noGrp="1"/>
          </p:cNvSpPr>
          <p:nvPr/>
        </p:nvSpPr>
        <p:spPr>
          <a:xfrm xmlns:a="http://schemas.openxmlformats.org/drawingml/2006/main">
            <a:off x="8620125" y="4848225"/>
            <a:ext cx="238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00" b="0">
                <a:solidFill>
                  <a:srgbClr val="64748B"/>
                </a:solidFill>
                <a:latin typeface="Calibri"/>
                <a:ea typeface="Calibri"/>
                <a:cs typeface="Calibri"/>
              </a:defRPr>
            </a:defPPr>
          </a:lstStyle>
          <a:p xmlns:a="http://schemas.openxmlformats.org/drawingml/2006/main">
            <a:pPr>
              <a:defRPr sz="900" b="0">
                <a:solidFill>
                  <a:srgbClr val="64748B"/>
                </a:solidFill>
                <a:latin typeface="Calibri"/>
                <a:ea typeface="Calibri"/>
                <a:cs typeface="Calibri"/>
              </a:defRPr>
            </a:pPr>
            <a:r>
              <a:rPr sz="900" b="0">
                <a:solidFill>
                  <a:srgbClr val="64748B"/>
                </a:solidFill>
                <a:latin typeface="Calibri"/>
                <a:ea typeface="Calibri"/>
                <a:cs typeface="Calibri"/>
              </a:rPr>
              <a:t>2</a:t>
            </a:r>
          </a:p>
        </p:txBody>
      </p:sp>
      <p:graphicFrame>
        <p:nvGraphicFramePr>
          <p:cNvPr id="4" name="Chart">
            <a:extLst xmlns:a="http://schemas.openxmlformats.org/drawingml/2006/main">
              <a:ext uri="{FF2B5EF4-FFF2-40B4-BE49-F238E27FC236}">
                <a16:creationId xmlns:a16="http://schemas.microsoft.com/office/drawing/2014/main" id="{5AD3149C-B6D4-4682-9FEC-D4D421BDCD58}"/>
              </a:ext>
            </a:extLst>
          </p:cNvPr>
          <p:cNvGraphicFramePr/>
          <p:nvPr/>
        </p:nvGraphicFramePr>
        <p:xfrm>
          <a:off xmlns:a="http://schemas.openxmlformats.org/drawingml/2006/main" x="361950" y="1476375"/>
          <a:ext xmlns:a="http://schemas.openxmlformats.org/drawingml/2006/main" cx="5219700" cy="2762250"/>
        </p:xfrm>
        <a:graphic xmlns:a="http://schemas.openxmlformats.org/drawingml/2006/main">
          <a:graphicData uri="http://schemas.openxmlformats.org/drawingml/2006/chart">
            <c:chart xmlns:r="http://schemas.openxmlformats.org/officeDocument/2006/relationships" xmlns:c="http://schemas.openxmlformats.org/drawingml/2006/chart" r:id="Rf141d976fd2848d2"/>
          </a:graphicData>
        </a:graphic>
      </p:graphicFrame>
      <p:sp>
        <p:nvSpPr>
          <p:cNvPr id="5" name="">
            <a:extLst xmlns:a="http://schemas.openxmlformats.org/drawingml/2006/main">
              <a:ext uri="{FF2B5EF4-FFF2-40B4-BE49-F238E27FC236}">
                <a16:creationId xmlns:a16="http://schemas.microsoft.com/office/drawing/2014/main" id="{A3F84B2A-6DA2-42AA-B0E9-51EE4D922D43}"/>
              </a:ext>
            </a:extLst>
          </p:cNvPr>
          <p:cNvSpPr>
            <a:spLocks xmlns:a="http://schemas.openxmlformats.org/drawingml/2006/main" noGrp="1"/>
          </p:cNvSpPr>
          <p:nvPr/>
        </p:nvSpPr>
        <p:spPr>
          <a:xfrm xmlns:a="http://schemas.openxmlformats.org/drawingml/2006/main">
            <a:off x="5886450" y="1590675"/>
            <a:ext cx="28003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98" b="0">
                <a:solidFill>
                  <a:srgbClr val="1E293B"/>
                </a:solidFill>
                <a:latin typeface="Calibri"/>
                <a:ea typeface="Calibri"/>
                <a:cs typeface="Calibri"/>
              </a:defRPr>
            </a:defPPr>
          </a:lstStyle>
          <a:p xmlns:a="http://schemas.openxmlformats.org/drawingml/2006/main">
            <a:pPr>
              <a:defRPr sz="1598" b="0">
                <a:solidFill>
                  <a:srgbClr val="1E293B"/>
                </a:solidFill>
                <a:latin typeface="Calibri"/>
                <a:ea typeface="Calibri"/>
                <a:cs typeface="Calibri"/>
              </a:defRPr>
            </a:pPr>
            <a:r>
              <a:rPr sz="1598" b="0">
                <a:solidFill>
                  <a:srgbClr val="1E293B"/>
                </a:solidFill>
                <a:latin typeface="Calibri"/>
                <a:ea typeface="Calibri"/>
                <a:cs typeface="Calibri"/>
              </a:rPr>
              <a:t>A straight line misses the bend as the detector approaches saturation.</a:t>
            </a:r>
          </a:p>
        </p:txBody>
      </p:sp>
      <p:sp>
        <p:nvSpPr>
          <p:cNvPr id="6" name="">
            <a:extLst xmlns:a="http://schemas.openxmlformats.org/drawingml/2006/main">
              <a:ext uri="{FF2B5EF4-FFF2-40B4-BE49-F238E27FC236}">
                <a16:creationId xmlns:a16="http://schemas.microsoft.com/office/drawing/2014/main" id="{AD113533-803D-436D-96ED-816806EFE7B9}"/>
              </a:ext>
            </a:extLst>
          </p:cNvPr>
          <p:cNvSpPr>
            <a:spLocks xmlns:a="http://schemas.openxmlformats.org/drawingml/2006/main" noGrp="1"/>
          </p:cNvSpPr>
          <p:nvPr/>
        </p:nvSpPr>
        <p:spPr>
          <a:xfrm xmlns:a="http://schemas.openxmlformats.org/drawingml/2006/main">
            <a:off x="5886450" y="2476500"/>
            <a:ext cx="28003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98" b="0">
                <a:solidFill>
                  <a:srgbClr val="1E293B"/>
                </a:solidFill>
                <a:latin typeface="Calibri"/>
                <a:ea typeface="Calibri"/>
                <a:cs typeface="Calibri"/>
              </a:defRPr>
            </a:defPPr>
          </a:lstStyle>
          <a:p xmlns:a="http://schemas.openxmlformats.org/drawingml/2006/main">
            <a:pPr>
              <a:defRPr sz="1598" b="0">
                <a:solidFill>
                  <a:srgbClr val="1E293B"/>
                </a:solidFill>
                <a:latin typeface="Calibri"/>
                <a:ea typeface="Calibri"/>
                <a:cs typeface="Calibri"/>
              </a:defRPr>
            </a:pPr>
            <a:r>
              <a:rPr sz="1598" b="0">
                <a:solidFill>
                  <a:srgbClr val="1E293B"/>
                </a:solidFill>
                <a:latin typeface="Calibri"/>
                <a:ea typeface="Calibri"/>
                <a:cs typeface="Calibri"/>
              </a:rPr>
              <a:t>Training and validation errors both exceed those of a suitable curved model.</a:t>
            </a:r>
          </a:p>
        </p:txBody>
      </p:sp>
      <p:sp>
        <p:nvSpPr>
          <p:cNvPr id="7" name="">
            <a:extLst xmlns:a="http://schemas.openxmlformats.org/drawingml/2006/main">
              <a:ext uri="{FF2B5EF4-FFF2-40B4-BE49-F238E27FC236}">
                <a16:creationId xmlns:a16="http://schemas.microsoft.com/office/drawing/2014/main" id="{C976CC06-3C0E-467C-8904-E340B2132129}"/>
              </a:ext>
            </a:extLst>
          </p:cNvPr>
          <p:cNvSpPr>
            <a:spLocks xmlns:a="http://schemas.openxmlformats.org/drawingml/2006/main" noGrp="1"/>
          </p:cNvSpPr>
          <p:nvPr/>
        </p:nvSpPr>
        <p:spPr>
          <a:xfrm xmlns:a="http://schemas.openxmlformats.org/drawingml/2006/main">
            <a:off x="5886450" y="3362325"/>
            <a:ext cx="28003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98" b="0">
                <a:solidFill>
                  <a:srgbClr val="1E293B"/>
                </a:solidFill>
                <a:latin typeface="Calibri"/>
                <a:ea typeface="Calibri"/>
                <a:cs typeface="Calibri"/>
              </a:defRPr>
            </a:defPPr>
          </a:lstStyle>
          <a:p xmlns:a="http://schemas.openxmlformats.org/drawingml/2006/main">
            <a:pPr>
              <a:defRPr sz="1598" b="0">
                <a:solidFill>
                  <a:srgbClr val="1E293B"/>
                </a:solidFill>
                <a:latin typeface="Calibri"/>
                <a:ea typeface="Calibri"/>
                <a:cs typeface="Calibri"/>
              </a:defRPr>
            </a:pPr>
            <a:r>
              <a:rPr sz="1598" b="0">
                <a:solidFill>
                  <a:srgbClr val="1E293B"/>
                </a:solidFill>
                <a:latin typeface="Calibri"/>
                <a:ea typeface="Calibri"/>
                <a:cs typeface="Calibri"/>
              </a:rPr>
              <a:t>A more suitable model can describe this pattern.</a:t>
            </a:r>
          </a:p>
        </p:txBody>
      </p:sp>
      <p:sp>
        <p:nvSpPr>
          <p:cNvPr id="8" name="">
            <a:extLst xmlns:a="http://schemas.openxmlformats.org/drawingml/2006/main">
              <a:ext uri="{FF2B5EF4-FFF2-40B4-BE49-F238E27FC236}">
                <a16:creationId xmlns:a16="http://schemas.microsoft.com/office/drawing/2014/main" id="{69DA5BD9-F92F-4DE9-8769-5E725C0F73EE}"/>
              </a:ext>
            </a:extLst>
          </p:cNvPr>
          <p:cNvSpPr>
            <a:spLocks xmlns:a="http://schemas.openxmlformats.org/drawingml/2006/main" noGrp="1"/>
          </p:cNvSpPr>
          <p:nvPr/>
        </p:nvSpPr>
        <p:spPr>
          <a:xfrm xmlns:a="http://schemas.openxmlformats.org/drawingml/2006/main">
            <a:off x="457200" y="4410075"/>
            <a:ext cx="8229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00" b="0">
                <a:solidFill>
                  <a:srgbClr val="028090"/>
                </a:solidFill>
                <a:latin typeface="Calibri"/>
                <a:ea typeface="Calibri"/>
                <a:cs typeface="Calibri"/>
              </a:defRPr>
            </a:defPPr>
          </a:lstStyle>
          <a:p xmlns:a="http://schemas.openxmlformats.org/drawingml/2006/main">
            <a:pPr>
              <a:defRPr sz="1400" b="0">
                <a:solidFill>
                  <a:srgbClr val="028090"/>
                </a:solidFill>
                <a:latin typeface="Calibri"/>
                <a:ea typeface="Calibri"/>
                <a:cs typeface="Calibri"/>
              </a:defRPr>
            </a:pPr>
            <a:r>
              <a:rPr sz="1400" b="0">
                <a:solidFill>
                  <a:srgbClr val="028090"/>
                </a:solidFill>
                <a:latin typeface="Calibri"/>
                <a:ea typeface="Calibri"/>
                <a:cs typeface="Calibri"/>
              </a:rPr>
              <a:t>Illustrative calibration data. Low error means better agreement with the measurements.</a:t>
            </a:r>
          </a:p>
        </p:txBody>
      </p:sp>
    </p:spTree>
    <p:extLst>
      <p:ext uri="{BB962C8B-B14F-4D97-AF65-F5344CB8AC3E}">
        <p14:creationId xmlns:p14="http://schemas.microsoft.com/office/powerpoint/2010/main" val="118339817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9EA22DF-0A68-484C-94DD-B2C57D4808D1}"/>
              </a:ext>
            </a:extLst>
          </p:cNvPr>
          <p:cNvSpPr>
            <a:spLocks xmlns:a="http://schemas.openxmlformats.org/drawingml/2006/main" noGrp="1"/>
          </p:cNvSpPr>
          <p:nvPr/>
        </p:nvSpPr>
        <p:spPr>
          <a:xfrm xmlns:a="http://schemas.openxmlformats.org/drawingml/2006/main">
            <a:off x="457200" y="333375"/>
            <a:ext cx="8229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00" b="1">
                <a:solidFill>
                  <a:srgbClr val="028090"/>
                </a:solidFill>
                <a:latin typeface="Calibri"/>
                <a:ea typeface="Calibri"/>
                <a:cs typeface="Calibri"/>
              </a:defRPr>
            </a:defPPr>
          </a:lstStyle>
          <a:p xmlns:a="http://schemas.openxmlformats.org/drawingml/2006/main">
            <a:pPr>
              <a:defRPr sz="1100" b="1">
                <a:solidFill>
                  <a:srgbClr val="028090"/>
                </a:solidFill>
                <a:latin typeface="Calibri"/>
                <a:ea typeface="Calibri"/>
                <a:cs typeface="Calibri"/>
              </a:defRPr>
            </a:pPr>
            <a:r>
              <a:rPr sz="1100" b="1">
                <a:solidFill>
                  <a:srgbClr val="028090"/>
                </a:solidFill>
                <a:latin typeface="Calibri"/>
                <a:ea typeface="Calibri"/>
                <a:cs typeface="Calibri"/>
              </a:rPr>
              <a:t>FAILURE MODES</a:t>
            </a:r>
          </a:p>
        </p:txBody>
      </p:sp>
      <p:sp>
        <p:nvSpPr>
          <p:cNvPr id="2" name="">
            <a:extLst xmlns:a="http://schemas.openxmlformats.org/drawingml/2006/main">
              <a:ext uri="{FF2B5EF4-FFF2-40B4-BE49-F238E27FC236}">
                <a16:creationId xmlns:a16="http://schemas.microsoft.com/office/drawing/2014/main" id="{07287D07-FDEF-4B47-98C4-D5504F2A8D6C}"/>
              </a:ext>
            </a:extLst>
          </p:cNvPr>
          <p:cNvSpPr>
            <a:spLocks xmlns:a="http://schemas.openxmlformats.org/drawingml/2006/main" noGrp="1"/>
          </p:cNvSpPr>
          <p:nvPr/>
        </p:nvSpPr>
        <p:spPr>
          <a:xfrm xmlns:a="http://schemas.openxmlformats.org/drawingml/2006/main">
            <a:off x="457200" y="742950"/>
            <a:ext cx="8229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00" b="1">
                <a:solidFill>
                  <a:srgbClr val="1E293B"/>
                </a:solidFill>
                <a:latin typeface="Cambria"/>
                <a:ea typeface="Cambria"/>
                <a:cs typeface="Cambria"/>
              </a:defRPr>
            </a:defPPr>
          </a:lstStyle>
          <a:p xmlns:a="http://schemas.openxmlformats.org/drawingml/2006/main">
            <a:pPr>
              <a:defRPr sz="2600" b="1">
                <a:solidFill>
                  <a:srgbClr val="1E293B"/>
                </a:solidFill>
                <a:latin typeface="Cambria"/>
                <a:ea typeface="Cambria"/>
                <a:cs typeface="Cambria"/>
              </a:defRPr>
            </a:pPr>
            <a:r>
              <a:rPr sz="2600" b="1">
                <a:solidFill>
                  <a:srgbClr val="1E293B"/>
                </a:solidFill>
                <a:latin typeface="Cambria"/>
                <a:ea typeface="Cambria"/>
                <a:cs typeface="Cambria"/>
              </a:rPr>
              <a:t>Overfitting</a:t>
            </a:r>
          </a:p>
        </p:txBody>
      </p:sp>
      <p:sp>
        <p:nvSpPr>
          <p:cNvPr id="3" name="">
            <a:extLst xmlns:a="http://schemas.openxmlformats.org/drawingml/2006/main">
              <a:ext uri="{FF2B5EF4-FFF2-40B4-BE49-F238E27FC236}">
                <a16:creationId xmlns:a16="http://schemas.microsoft.com/office/drawing/2014/main" id="{81E48F66-DDEE-4998-A482-2F388658265A}"/>
              </a:ext>
            </a:extLst>
          </p:cNvPr>
          <p:cNvSpPr>
            <a:spLocks xmlns:a="http://schemas.openxmlformats.org/drawingml/2006/main" noGrp="1"/>
          </p:cNvSpPr>
          <p:nvPr/>
        </p:nvSpPr>
        <p:spPr>
          <a:xfrm xmlns:a="http://schemas.openxmlformats.org/drawingml/2006/main">
            <a:off x="8620125" y="4848225"/>
            <a:ext cx="238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00" b="0">
                <a:solidFill>
                  <a:srgbClr val="64748B"/>
                </a:solidFill>
                <a:latin typeface="Calibri"/>
                <a:ea typeface="Calibri"/>
                <a:cs typeface="Calibri"/>
              </a:defRPr>
            </a:defPPr>
          </a:lstStyle>
          <a:p xmlns:a="http://schemas.openxmlformats.org/drawingml/2006/main">
            <a:pPr>
              <a:defRPr sz="900" b="0">
                <a:solidFill>
                  <a:srgbClr val="64748B"/>
                </a:solidFill>
                <a:latin typeface="Calibri"/>
                <a:ea typeface="Calibri"/>
                <a:cs typeface="Calibri"/>
              </a:defRPr>
            </a:pPr>
            <a:r>
              <a:rPr sz="900" b="0">
                <a:solidFill>
                  <a:srgbClr val="64748B"/>
                </a:solidFill>
                <a:latin typeface="Calibri"/>
                <a:ea typeface="Calibri"/>
                <a:cs typeface="Calibri"/>
              </a:rPr>
              <a:t>3</a:t>
            </a:r>
          </a:p>
        </p:txBody>
      </p:sp>
      <p:graphicFrame>
        <p:nvGraphicFramePr>
          <p:cNvPr id="4" name="Chart">
            <a:extLst xmlns:a="http://schemas.openxmlformats.org/drawingml/2006/main">
              <a:ext uri="{FF2B5EF4-FFF2-40B4-BE49-F238E27FC236}">
                <a16:creationId xmlns:a16="http://schemas.microsoft.com/office/drawing/2014/main" id="{6F151E5A-55E4-4C76-A982-649F0A40117F}"/>
              </a:ext>
            </a:extLst>
          </p:cNvPr>
          <p:cNvGraphicFramePr/>
          <p:nvPr/>
        </p:nvGraphicFramePr>
        <p:xfrm>
          <a:off xmlns:a="http://schemas.openxmlformats.org/drawingml/2006/main" x="361950" y="1476375"/>
          <a:ext xmlns:a="http://schemas.openxmlformats.org/drawingml/2006/main" cx="5219700" cy="2762250"/>
        </p:xfrm>
        <a:graphic xmlns:a="http://schemas.openxmlformats.org/drawingml/2006/main">
          <a:graphicData uri="http://schemas.openxmlformats.org/drawingml/2006/chart">
            <c:chart xmlns:r="http://schemas.openxmlformats.org/officeDocument/2006/relationships" xmlns:c="http://schemas.openxmlformats.org/drawingml/2006/chart" r:id="R934017a518c848e1"/>
          </a:graphicData>
        </a:graphic>
      </p:graphicFrame>
      <p:sp>
        <p:nvSpPr>
          <p:cNvPr id="5" name="">
            <a:extLst xmlns:a="http://schemas.openxmlformats.org/drawingml/2006/main">
              <a:ext uri="{FF2B5EF4-FFF2-40B4-BE49-F238E27FC236}">
                <a16:creationId xmlns:a16="http://schemas.microsoft.com/office/drawing/2014/main" id="{5572815E-98A3-4272-805B-E1FE211A10F8}"/>
              </a:ext>
            </a:extLst>
          </p:cNvPr>
          <p:cNvSpPr>
            <a:spLocks xmlns:a="http://schemas.openxmlformats.org/drawingml/2006/main" noGrp="1"/>
          </p:cNvSpPr>
          <p:nvPr/>
        </p:nvSpPr>
        <p:spPr>
          <a:xfrm xmlns:a="http://schemas.openxmlformats.org/drawingml/2006/main">
            <a:off x="5886450" y="1590675"/>
            <a:ext cx="28003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98" b="0">
                <a:solidFill>
                  <a:srgbClr val="1E293B"/>
                </a:solidFill>
                <a:latin typeface="Calibri"/>
                <a:ea typeface="Calibri"/>
                <a:cs typeface="Calibri"/>
              </a:defRPr>
            </a:defPPr>
          </a:lstStyle>
          <a:p xmlns:a="http://schemas.openxmlformats.org/drawingml/2006/main">
            <a:pPr>
              <a:defRPr sz="1598" b="0">
                <a:solidFill>
                  <a:srgbClr val="1E293B"/>
                </a:solidFill>
                <a:latin typeface="Calibri"/>
                <a:ea typeface="Calibri"/>
                <a:cs typeface="Calibri"/>
              </a:defRPr>
            </a:pPr>
            <a:r>
              <a:rPr sz="1598" b="0">
                <a:solidFill>
                  <a:srgbClr val="1E293B"/>
                </a:solidFill>
                <a:latin typeface="Calibri"/>
                <a:ea typeface="Calibri"/>
                <a:cs typeface="Calibri"/>
              </a:rPr>
              <a:t>The flexible curve passes through every training standard.</a:t>
            </a:r>
          </a:p>
        </p:txBody>
      </p:sp>
      <p:sp>
        <p:nvSpPr>
          <p:cNvPr id="6" name="">
            <a:extLst xmlns:a="http://schemas.openxmlformats.org/drawingml/2006/main">
              <a:ext uri="{FF2B5EF4-FFF2-40B4-BE49-F238E27FC236}">
                <a16:creationId xmlns:a16="http://schemas.microsoft.com/office/drawing/2014/main" id="{3EA110C6-9FF3-4B85-AEF0-72C7576CBFCD}"/>
              </a:ext>
            </a:extLst>
          </p:cNvPr>
          <p:cNvSpPr>
            <a:spLocks xmlns:a="http://schemas.openxmlformats.org/drawingml/2006/main" noGrp="1"/>
          </p:cNvSpPr>
          <p:nvPr/>
        </p:nvSpPr>
        <p:spPr>
          <a:xfrm xmlns:a="http://schemas.openxmlformats.org/drawingml/2006/main">
            <a:off x="5886450" y="2476500"/>
            <a:ext cx="28003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98" b="0">
                <a:solidFill>
                  <a:srgbClr val="1E293B"/>
                </a:solidFill>
                <a:latin typeface="Calibri"/>
                <a:ea typeface="Calibri"/>
                <a:cs typeface="Calibri"/>
              </a:defRPr>
            </a:defPPr>
          </a:lstStyle>
          <a:p xmlns:a="http://schemas.openxmlformats.org/drawingml/2006/main">
            <a:pPr>
              <a:defRPr sz="1598" b="0">
                <a:solidFill>
                  <a:srgbClr val="1E293B"/>
                </a:solidFill>
                <a:latin typeface="Calibri"/>
                <a:ea typeface="Calibri"/>
                <a:cs typeface="Calibri"/>
              </a:defRPr>
            </a:pPr>
            <a:r>
              <a:rPr sz="1598" b="0">
                <a:solidFill>
                  <a:srgbClr val="1E293B"/>
                </a:solidFill>
                <a:latin typeface="Calibri"/>
                <a:ea typeface="Calibri"/>
                <a:cs typeface="Calibri"/>
              </a:rPr>
              <a:t>Extra bends follow noise and increase error on new validation measurements.</a:t>
            </a:r>
          </a:p>
        </p:txBody>
      </p:sp>
      <p:sp>
        <p:nvSpPr>
          <p:cNvPr id="7" name="">
            <a:extLst xmlns:a="http://schemas.openxmlformats.org/drawingml/2006/main">
              <a:ext uri="{FF2B5EF4-FFF2-40B4-BE49-F238E27FC236}">
                <a16:creationId xmlns:a16="http://schemas.microsoft.com/office/drawing/2014/main" id="{07F17318-35C7-49B0-9E30-9263354991A4}"/>
              </a:ext>
            </a:extLst>
          </p:cNvPr>
          <p:cNvSpPr>
            <a:spLocks xmlns:a="http://schemas.openxmlformats.org/drawingml/2006/main" noGrp="1"/>
          </p:cNvSpPr>
          <p:nvPr/>
        </p:nvSpPr>
        <p:spPr>
          <a:xfrm xmlns:a="http://schemas.openxmlformats.org/drawingml/2006/main">
            <a:off x="5886450" y="3362325"/>
            <a:ext cx="28003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98" b="0">
                <a:solidFill>
                  <a:srgbClr val="1E293B"/>
                </a:solidFill>
                <a:latin typeface="Calibri"/>
                <a:ea typeface="Calibri"/>
                <a:cs typeface="Calibri"/>
              </a:defRPr>
            </a:defPPr>
          </a:lstStyle>
          <a:p xmlns:a="http://schemas.openxmlformats.org/drawingml/2006/main">
            <a:pPr>
              <a:defRPr sz="1598" b="0">
                <a:solidFill>
                  <a:srgbClr val="1E293B"/>
                </a:solidFill>
                <a:latin typeface="Calibri"/>
                <a:ea typeface="Calibri"/>
                <a:cs typeface="Calibri"/>
              </a:defRPr>
            </a:pPr>
            <a:r>
              <a:rPr sz="1598" b="0">
                <a:solidFill>
                  <a:srgbClr val="1E293B"/>
                </a:solidFill>
                <a:latin typeface="Calibri"/>
                <a:ea typeface="Calibri"/>
                <a:cs typeface="Calibri"/>
              </a:rPr>
              <a:t>Perfect training agreement can give poorer new predictions.</a:t>
            </a:r>
          </a:p>
        </p:txBody>
      </p:sp>
      <p:sp>
        <p:nvSpPr>
          <p:cNvPr id="8" name="">
            <a:extLst xmlns:a="http://schemas.openxmlformats.org/drawingml/2006/main">
              <a:ext uri="{FF2B5EF4-FFF2-40B4-BE49-F238E27FC236}">
                <a16:creationId xmlns:a16="http://schemas.microsoft.com/office/drawing/2014/main" id="{737146D1-AE51-4E2A-99A9-DBFF0DCD8CF5}"/>
              </a:ext>
            </a:extLst>
          </p:cNvPr>
          <p:cNvSpPr>
            <a:spLocks xmlns:a="http://schemas.openxmlformats.org/drawingml/2006/main" noGrp="1"/>
          </p:cNvSpPr>
          <p:nvPr/>
        </p:nvSpPr>
        <p:spPr>
          <a:xfrm xmlns:a="http://schemas.openxmlformats.org/drawingml/2006/main">
            <a:off x="457200" y="4410075"/>
            <a:ext cx="8229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00" b="0">
                <a:solidFill>
                  <a:srgbClr val="028090"/>
                </a:solidFill>
                <a:latin typeface="Calibri"/>
                <a:ea typeface="Calibri"/>
                <a:cs typeface="Calibri"/>
              </a:defRPr>
            </a:defPPr>
          </a:lstStyle>
          <a:p xmlns:a="http://schemas.openxmlformats.org/drawingml/2006/main">
            <a:pPr>
              <a:defRPr sz="1400" b="0">
                <a:solidFill>
                  <a:srgbClr val="028090"/>
                </a:solidFill>
                <a:latin typeface="Calibri"/>
                <a:ea typeface="Calibri"/>
                <a:cs typeface="Calibri"/>
              </a:defRPr>
            </a:pPr>
            <a:r>
              <a:rPr sz="1400" b="0">
                <a:solidFill>
                  <a:srgbClr val="028090"/>
                </a:solidFill>
                <a:latin typeface="Calibri"/>
                <a:ea typeface="Calibri"/>
                <a:cs typeface="Calibri"/>
              </a:rPr>
              <a:t>Same simulated standards. The flexible model has near-zero training error.</a:t>
            </a:r>
          </a:p>
        </p:txBody>
      </p:sp>
    </p:spTree>
    <p:extLst>
      <p:ext uri="{BB962C8B-B14F-4D97-AF65-F5344CB8AC3E}">
        <p14:creationId xmlns:p14="http://schemas.microsoft.com/office/powerpoint/2010/main" val="129589436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45DC005-980F-4D69-A9E3-D79DC6B9EB65}"/>
              </a:ext>
            </a:extLst>
          </p:cNvPr>
          <p:cNvSpPr>
            <a:spLocks xmlns:a="http://schemas.openxmlformats.org/drawingml/2006/main" noGrp="1"/>
          </p:cNvSpPr>
          <p:nvPr/>
        </p:nvSpPr>
        <p:spPr>
          <a:xfrm xmlns:a="http://schemas.openxmlformats.org/drawingml/2006/main">
            <a:off x="457200" y="333375"/>
            <a:ext cx="8229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00" b="1">
                <a:solidFill>
                  <a:srgbClr val="028090"/>
                </a:solidFill>
                <a:latin typeface="Calibri"/>
                <a:ea typeface="Calibri"/>
                <a:cs typeface="Calibri"/>
              </a:defRPr>
            </a:defPPr>
          </a:lstStyle>
          <a:p xmlns:a="http://schemas.openxmlformats.org/drawingml/2006/main">
            <a:pPr>
              <a:defRPr sz="1100" b="1">
                <a:solidFill>
                  <a:srgbClr val="028090"/>
                </a:solidFill>
                <a:latin typeface="Calibri"/>
                <a:ea typeface="Calibri"/>
                <a:cs typeface="Calibri"/>
              </a:defRPr>
            </a:pPr>
            <a:r>
              <a:rPr sz="1100" b="1">
                <a:solidFill>
                  <a:srgbClr val="028090"/>
                </a:solidFill>
                <a:latin typeface="Calibri"/>
                <a:ea typeface="Calibri"/>
                <a:cs typeface="Calibri"/>
              </a:rPr>
              <a:t>FAILURE MODES</a:t>
            </a:r>
          </a:p>
        </p:txBody>
      </p:sp>
      <p:sp>
        <p:nvSpPr>
          <p:cNvPr id="2" name="">
            <a:extLst xmlns:a="http://schemas.openxmlformats.org/drawingml/2006/main">
              <a:ext uri="{FF2B5EF4-FFF2-40B4-BE49-F238E27FC236}">
                <a16:creationId xmlns:a16="http://schemas.microsoft.com/office/drawing/2014/main" id="{2AB363D2-90C1-4B28-B6CA-B6BA3CA01448}"/>
              </a:ext>
            </a:extLst>
          </p:cNvPr>
          <p:cNvSpPr>
            <a:spLocks xmlns:a="http://schemas.openxmlformats.org/drawingml/2006/main" noGrp="1"/>
          </p:cNvSpPr>
          <p:nvPr/>
        </p:nvSpPr>
        <p:spPr>
          <a:xfrm xmlns:a="http://schemas.openxmlformats.org/drawingml/2006/main">
            <a:off x="457200" y="742950"/>
            <a:ext cx="8229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00" b="1">
                <a:solidFill>
                  <a:srgbClr val="1E293B"/>
                </a:solidFill>
                <a:latin typeface="Cambria"/>
                <a:ea typeface="Cambria"/>
                <a:cs typeface="Cambria"/>
              </a:defRPr>
            </a:defPPr>
          </a:lstStyle>
          <a:p xmlns:a="http://schemas.openxmlformats.org/drawingml/2006/main">
            <a:pPr>
              <a:defRPr sz="2600" b="1">
                <a:solidFill>
                  <a:srgbClr val="1E293B"/>
                </a:solidFill>
                <a:latin typeface="Cambria"/>
                <a:ea typeface="Cambria"/>
                <a:cs typeface="Cambria"/>
              </a:defRPr>
            </a:pPr>
            <a:r>
              <a:rPr sz="2600" b="1">
                <a:solidFill>
                  <a:srgbClr val="1E293B"/>
                </a:solidFill>
                <a:latin typeface="Cambria"/>
                <a:ea typeface="Cambria"/>
                <a:cs typeface="Cambria"/>
              </a:rPr>
              <a:t>Calibration complexity and validation</a:t>
            </a:r>
          </a:p>
        </p:txBody>
      </p:sp>
      <p:sp>
        <p:nvSpPr>
          <p:cNvPr id="3" name="">
            <a:extLst xmlns:a="http://schemas.openxmlformats.org/drawingml/2006/main">
              <a:ext uri="{FF2B5EF4-FFF2-40B4-BE49-F238E27FC236}">
                <a16:creationId xmlns:a16="http://schemas.microsoft.com/office/drawing/2014/main" id="{7EB6F135-AFE9-4C14-8148-549E55D89721}"/>
              </a:ext>
            </a:extLst>
          </p:cNvPr>
          <p:cNvSpPr>
            <a:spLocks xmlns:a="http://schemas.openxmlformats.org/drawingml/2006/main" noGrp="1"/>
          </p:cNvSpPr>
          <p:nvPr/>
        </p:nvSpPr>
        <p:spPr>
          <a:xfrm xmlns:a="http://schemas.openxmlformats.org/drawingml/2006/main">
            <a:off x="8620125" y="4848225"/>
            <a:ext cx="238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00" b="0">
                <a:solidFill>
                  <a:srgbClr val="64748B"/>
                </a:solidFill>
                <a:latin typeface="Calibri"/>
                <a:ea typeface="Calibri"/>
                <a:cs typeface="Calibri"/>
              </a:defRPr>
            </a:defPPr>
          </a:lstStyle>
          <a:p xmlns:a="http://schemas.openxmlformats.org/drawingml/2006/main">
            <a:pPr>
              <a:defRPr sz="900" b="0">
                <a:solidFill>
                  <a:srgbClr val="64748B"/>
                </a:solidFill>
                <a:latin typeface="Calibri"/>
                <a:ea typeface="Calibri"/>
                <a:cs typeface="Calibri"/>
              </a:defRPr>
            </a:pPr>
            <a:r>
              <a:rPr sz="900" b="0">
                <a:solidFill>
                  <a:srgbClr val="64748B"/>
                </a:solidFill>
                <a:latin typeface="Calibri"/>
                <a:ea typeface="Calibri"/>
                <a:cs typeface="Calibri"/>
              </a:rPr>
              <a:t>4</a:t>
            </a:r>
          </a:p>
        </p:txBody>
      </p:sp>
      <p:graphicFrame>
        <p:nvGraphicFramePr>
          <p:cNvPr id="4" name="Chart">
            <a:extLst xmlns:a="http://schemas.openxmlformats.org/drawingml/2006/main">
              <a:ext uri="{FF2B5EF4-FFF2-40B4-BE49-F238E27FC236}">
                <a16:creationId xmlns:a16="http://schemas.microsoft.com/office/drawing/2014/main" id="{6B6DDD5F-21DC-4DA0-9735-CE4FA8CDC24D}"/>
              </a:ext>
            </a:extLst>
          </p:cNvPr>
          <p:cNvGraphicFramePr/>
          <p:nvPr/>
        </p:nvGraphicFramePr>
        <p:xfrm>
          <a:off xmlns:a="http://schemas.openxmlformats.org/drawingml/2006/main" x="361950" y="1476375"/>
          <a:ext xmlns:a="http://schemas.openxmlformats.org/drawingml/2006/main" cx="5219700" cy="2762250"/>
        </p:xfrm>
        <a:graphic xmlns:a="http://schemas.openxmlformats.org/drawingml/2006/main">
          <a:graphicData uri="http://schemas.openxmlformats.org/drawingml/2006/chart">
            <c:chart xmlns:r="http://schemas.openxmlformats.org/officeDocument/2006/relationships" xmlns:c="http://schemas.openxmlformats.org/drawingml/2006/chart" r:id="Rd5461fbe207f4dc8"/>
          </a:graphicData>
        </a:graphic>
      </p:graphicFrame>
      <p:sp>
        <p:nvSpPr>
          <p:cNvPr id="5" name="">
            <a:extLst xmlns:a="http://schemas.openxmlformats.org/drawingml/2006/main">
              <a:ext uri="{FF2B5EF4-FFF2-40B4-BE49-F238E27FC236}">
                <a16:creationId xmlns:a16="http://schemas.microsoft.com/office/drawing/2014/main" id="{641F3114-8C7E-4D91-A10A-E1ED33CD8862}"/>
              </a:ext>
            </a:extLst>
          </p:cNvPr>
          <p:cNvSpPr>
            <a:spLocks xmlns:a="http://schemas.openxmlformats.org/drawingml/2006/main" noGrp="1"/>
          </p:cNvSpPr>
          <p:nvPr/>
        </p:nvSpPr>
        <p:spPr>
          <a:xfrm xmlns:a="http://schemas.openxmlformats.org/drawingml/2006/main">
            <a:off x="5886450" y="1590675"/>
            <a:ext cx="28003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98" b="0">
                <a:solidFill>
                  <a:srgbClr val="1E293B"/>
                </a:solidFill>
                <a:latin typeface="Calibri"/>
                <a:ea typeface="Calibri"/>
                <a:cs typeface="Calibri"/>
              </a:defRPr>
            </a:defPPr>
          </a:lstStyle>
          <a:p xmlns:a="http://schemas.openxmlformats.org/drawingml/2006/main">
            <a:pPr>
              <a:defRPr sz="1598" b="0">
                <a:solidFill>
                  <a:srgbClr val="1E293B"/>
                </a:solidFill>
                <a:latin typeface="Calibri"/>
                <a:ea typeface="Calibri"/>
                <a:cs typeface="Calibri"/>
              </a:defRPr>
            </a:pPr>
            <a:r>
              <a:rPr sz="1598" b="0">
                <a:solidFill>
                  <a:srgbClr val="1E293B"/>
                </a:solidFill>
                <a:latin typeface="Calibri"/>
                <a:ea typeface="Calibri"/>
                <a:cs typeface="Calibri"/>
              </a:rPr>
              <a:t>More flexibility keeps reducing training error.</a:t>
            </a:r>
          </a:p>
        </p:txBody>
      </p:sp>
      <p:sp>
        <p:nvSpPr>
          <p:cNvPr id="6" name="">
            <a:extLst xmlns:a="http://schemas.openxmlformats.org/drawingml/2006/main">
              <a:ext uri="{FF2B5EF4-FFF2-40B4-BE49-F238E27FC236}">
                <a16:creationId xmlns:a16="http://schemas.microsoft.com/office/drawing/2014/main" id="{8B39CA4F-D2D2-4D20-8BC2-329F6CF9E1C6}"/>
              </a:ext>
            </a:extLst>
          </p:cNvPr>
          <p:cNvSpPr>
            <a:spLocks xmlns:a="http://schemas.openxmlformats.org/drawingml/2006/main" noGrp="1"/>
          </p:cNvSpPr>
          <p:nvPr/>
        </p:nvSpPr>
        <p:spPr>
          <a:xfrm xmlns:a="http://schemas.openxmlformats.org/drawingml/2006/main">
            <a:off x="5886450" y="2476500"/>
            <a:ext cx="28003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98" b="0">
                <a:solidFill>
                  <a:srgbClr val="1E293B"/>
                </a:solidFill>
                <a:latin typeface="Calibri"/>
                <a:ea typeface="Calibri"/>
                <a:cs typeface="Calibri"/>
              </a:defRPr>
            </a:defPPr>
          </a:lstStyle>
          <a:p xmlns:a="http://schemas.openxmlformats.org/drawingml/2006/main">
            <a:pPr>
              <a:defRPr sz="1598" b="0">
                <a:solidFill>
                  <a:srgbClr val="1E293B"/>
                </a:solidFill>
                <a:latin typeface="Calibri"/>
                <a:ea typeface="Calibri"/>
                <a:cs typeface="Calibri"/>
              </a:defRPr>
            </a:pPr>
            <a:r>
              <a:rPr sz="1598" b="0">
                <a:solidFill>
                  <a:srgbClr val="1E293B"/>
                </a:solidFill>
                <a:latin typeface="Calibri"/>
                <a:ea typeface="Calibri"/>
                <a:cs typeface="Calibri"/>
              </a:rPr>
              <a:t>Validation error falls, then rises as the model follows measurement noise.</a:t>
            </a:r>
          </a:p>
        </p:txBody>
      </p:sp>
      <p:sp>
        <p:nvSpPr>
          <p:cNvPr id="7" name="">
            <a:extLst xmlns:a="http://schemas.openxmlformats.org/drawingml/2006/main">
              <a:ext uri="{FF2B5EF4-FFF2-40B4-BE49-F238E27FC236}">
                <a16:creationId xmlns:a16="http://schemas.microsoft.com/office/drawing/2014/main" id="{F348F037-0D30-4600-A9D0-BB0744CD307B}"/>
              </a:ext>
            </a:extLst>
          </p:cNvPr>
          <p:cNvSpPr>
            <a:spLocks xmlns:a="http://schemas.openxmlformats.org/drawingml/2006/main" noGrp="1"/>
          </p:cNvSpPr>
          <p:nvPr/>
        </p:nvSpPr>
        <p:spPr>
          <a:xfrm xmlns:a="http://schemas.openxmlformats.org/drawingml/2006/main">
            <a:off x="5886450" y="3362325"/>
            <a:ext cx="28003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98" b="0">
                <a:solidFill>
                  <a:srgbClr val="1E293B"/>
                </a:solidFill>
                <a:latin typeface="Calibri"/>
                <a:ea typeface="Calibri"/>
                <a:cs typeface="Calibri"/>
              </a:defRPr>
            </a:defPPr>
          </a:lstStyle>
          <a:p xmlns:a="http://schemas.openxmlformats.org/drawingml/2006/main">
            <a:pPr>
              <a:defRPr sz="1598" b="0">
                <a:solidFill>
                  <a:srgbClr val="1E293B"/>
                </a:solidFill>
                <a:latin typeface="Calibri"/>
                <a:ea typeface="Calibri"/>
                <a:cs typeface="Calibri"/>
              </a:defRPr>
            </a:pPr>
            <a:r>
              <a:rPr sz="1598" b="0">
                <a:solidFill>
                  <a:srgbClr val="1E293B"/>
                </a:solidFill>
                <a:latin typeface="Calibri"/>
                <a:ea typeface="Calibri"/>
                <a:cs typeface="Calibri"/>
              </a:rPr>
              <a:t>Choose with validation. A separate test checks the fixed choice.</a:t>
            </a:r>
          </a:p>
        </p:txBody>
      </p:sp>
      <p:sp>
        <p:nvSpPr>
          <p:cNvPr id="8" name="">
            <a:extLst xmlns:a="http://schemas.openxmlformats.org/drawingml/2006/main">
              <a:ext uri="{FF2B5EF4-FFF2-40B4-BE49-F238E27FC236}">
                <a16:creationId xmlns:a16="http://schemas.microsoft.com/office/drawing/2014/main" id="{25A38ED0-E7CF-4DC6-BECC-E74DCBFA373E}"/>
              </a:ext>
            </a:extLst>
          </p:cNvPr>
          <p:cNvSpPr>
            <a:spLocks xmlns:a="http://schemas.openxmlformats.org/drawingml/2006/main" noGrp="1"/>
          </p:cNvSpPr>
          <p:nvPr/>
        </p:nvSpPr>
        <p:spPr>
          <a:xfrm xmlns:a="http://schemas.openxmlformats.org/drawingml/2006/main">
            <a:off x="457200" y="4410075"/>
            <a:ext cx="8229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00" b="0">
                <a:solidFill>
                  <a:srgbClr val="028090"/>
                </a:solidFill>
                <a:latin typeface="Calibri"/>
                <a:ea typeface="Calibri"/>
                <a:cs typeface="Calibri"/>
              </a:defRPr>
            </a:defPPr>
          </a:lstStyle>
          <a:p xmlns:a="http://schemas.openxmlformats.org/drawingml/2006/main">
            <a:pPr>
              <a:defRPr sz="1400" b="0">
                <a:solidFill>
                  <a:srgbClr val="028090"/>
                </a:solidFill>
                <a:latin typeface="Calibri"/>
                <a:ea typeface="Calibri"/>
                <a:cs typeface="Calibri"/>
              </a:defRPr>
            </a:pPr>
            <a:r>
              <a:rPr sz="1400" b="0">
                <a:solidFill>
                  <a:srgbClr val="028090"/>
                </a:solidFill>
                <a:latin typeface="Calibri"/>
                <a:ea typeface="Calibri"/>
                <a:cs typeface="Calibri"/>
              </a:rPr>
              <a:t>Simulated calibration example. Lower is better. Real curves need not have a smooth U-shape.</a:t>
            </a:r>
          </a:p>
        </p:txBody>
      </p:sp>
    </p:spTree>
    <p:extLst>
      <p:ext uri="{BB962C8B-B14F-4D97-AF65-F5344CB8AC3E}">
        <p14:creationId xmlns:p14="http://schemas.microsoft.com/office/powerpoint/2010/main" val="62319676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9E2C338-A817-4100-9BB7-100CD9C25611}"/>
              </a:ext>
            </a:extLst>
          </p:cNvPr>
          <p:cNvSpPr>
            <a:spLocks xmlns:a="http://schemas.openxmlformats.org/drawingml/2006/main" noGrp="1"/>
          </p:cNvSpPr>
          <p:nvPr/>
        </p:nvSpPr>
        <p:spPr>
          <a:xfrm xmlns:a="http://schemas.openxmlformats.org/drawingml/2006/main">
            <a:off x="457200" y="333375"/>
            <a:ext cx="8229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00" b="1">
                <a:solidFill>
                  <a:srgbClr val="028090"/>
                </a:solidFill>
                <a:latin typeface="Calibri"/>
                <a:ea typeface="Calibri"/>
                <a:cs typeface="Calibri"/>
              </a:defRPr>
            </a:defPPr>
          </a:lstStyle>
          <a:p xmlns:a="http://schemas.openxmlformats.org/drawingml/2006/main">
            <a:pPr>
              <a:defRPr sz="1100" b="1">
                <a:solidFill>
                  <a:srgbClr val="028090"/>
                </a:solidFill>
                <a:latin typeface="Calibri"/>
                <a:ea typeface="Calibri"/>
                <a:cs typeface="Calibri"/>
              </a:defRPr>
            </a:pPr>
            <a:r>
              <a:rPr sz="1100" b="1">
                <a:solidFill>
                  <a:srgbClr val="028090"/>
                </a:solidFill>
                <a:latin typeface="Calibri"/>
                <a:ea typeface="Calibri"/>
                <a:cs typeface="Calibri"/>
              </a:rPr>
              <a:t>FAILURE MODES</a:t>
            </a:r>
          </a:p>
        </p:txBody>
      </p:sp>
      <p:sp>
        <p:nvSpPr>
          <p:cNvPr id="2" name="">
            <a:extLst xmlns:a="http://schemas.openxmlformats.org/drawingml/2006/main">
              <a:ext uri="{FF2B5EF4-FFF2-40B4-BE49-F238E27FC236}">
                <a16:creationId xmlns:a16="http://schemas.microsoft.com/office/drawing/2014/main" id="{3D0F9F17-1DF9-471E-9F8A-AD8243618BE7}"/>
              </a:ext>
            </a:extLst>
          </p:cNvPr>
          <p:cNvSpPr>
            <a:spLocks xmlns:a="http://schemas.openxmlformats.org/drawingml/2006/main" noGrp="1"/>
          </p:cNvSpPr>
          <p:nvPr/>
        </p:nvSpPr>
        <p:spPr>
          <a:xfrm xmlns:a="http://schemas.openxmlformats.org/drawingml/2006/main">
            <a:off x="457200" y="742950"/>
            <a:ext cx="8229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00" b="1">
                <a:solidFill>
                  <a:srgbClr val="1E293B"/>
                </a:solidFill>
                <a:latin typeface="Cambria"/>
                <a:ea typeface="Cambria"/>
                <a:cs typeface="Cambria"/>
              </a:defRPr>
            </a:defPPr>
          </a:lstStyle>
          <a:p xmlns:a="http://schemas.openxmlformats.org/drawingml/2006/main">
            <a:pPr>
              <a:defRPr sz="2600" b="1">
                <a:solidFill>
                  <a:srgbClr val="1E293B"/>
                </a:solidFill>
                <a:latin typeface="Cambria"/>
                <a:ea typeface="Cambria"/>
                <a:cs typeface="Cambria"/>
              </a:defRPr>
            </a:pPr>
            <a:r>
              <a:rPr sz="2600" b="1">
                <a:solidFill>
                  <a:srgbClr val="1E293B"/>
                </a:solidFill>
                <a:latin typeface="Cambria"/>
                <a:ea typeface="Cambria"/>
                <a:cs typeface="Cambria"/>
              </a:rPr>
              <a:t>Bias from uneven data coverage</a:t>
            </a:r>
          </a:p>
        </p:txBody>
      </p:sp>
      <p:sp>
        <p:nvSpPr>
          <p:cNvPr id="3" name="">
            <a:extLst xmlns:a="http://schemas.openxmlformats.org/drawingml/2006/main">
              <a:ext uri="{FF2B5EF4-FFF2-40B4-BE49-F238E27FC236}">
                <a16:creationId xmlns:a16="http://schemas.microsoft.com/office/drawing/2014/main" id="{F6487C73-359B-4081-91CC-24C46B7140C8}"/>
              </a:ext>
            </a:extLst>
          </p:cNvPr>
          <p:cNvSpPr>
            <a:spLocks xmlns:a="http://schemas.openxmlformats.org/drawingml/2006/main" noGrp="1"/>
          </p:cNvSpPr>
          <p:nvPr/>
        </p:nvSpPr>
        <p:spPr>
          <a:xfrm xmlns:a="http://schemas.openxmlformats.org/drawingml/2006/main">
            <a:off x="8620125" y="4848225"/>
            <a:ext cx="238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00" b="0">
                <a:solidFill>
                  <a:srgbClr val="64748B"/>
                </a:solidFill>
                <a:latin typeface="Calibri"/>
                <a:ea typeface="Calibri"/>
                <a:cs typeface="Calibri"/>
              </a:defRPr>
            </a:defPPr>
          </a:lstStyle>
          <a:p xmlns:a="http://schemas.openxmlformats.org/drawingml/2006/main">
            <a:pPr>
              <a:defRPr sz="900" b="0">
                <a:solidFill>
                  <a:srgbClr val="64748B"/>
                </a:solidFill>
                <a:latin typeface="Calibri"/>
                <a:ea typeface="Calibri"/>
                <a:cs typeface="Calibri"/>
              </a:defRPr>
            </a:pPr>
            <a:r>
              <a:rPr sz="900" b="0">
                <a:solidFill>
                  <a:srgbClr val="64748B"/>
                </a:solidFill>
                <a:latin typeface="Calibri"/>
                <a:ea typeface="Calibri"/>
                <a:cs typeface="Calibri"/>
              </a:rPr>
              <a:t>5</a:t>
            </a:r>
          </a:p>
        </p:txBody>
      </p:sp>
      <p:graphicFrame>
        <p:nvGraphicFramePr>
          <p:cNvPr id="4" name="Chart">
            <a:extLst xmlns:a="http://schemas.openxmlformats.org/drawingml/2006/main">
              <a:ext uri="{FF2B5EF4-FFF2-40B4-BE49-F238E27FC236}">
                <a16:creationId xmlns:a16="http://schemas.microsoft.com/office/drawing/2014/main" id="{AB972959-5634-4E71-8CF9-93B67C26206B}"/>
              </a:ext>
            </a:extLst>
          </p:cNvPr>
          <p:cNvGraphicFramePr/>
          <p:nvPr/>
        </p:nvGraphicFramePr>
        <p:xfrm>
          <a:off xmlns:a="http://schemas.openxmlformats.org/drawingml/2006/main" x="361950" y="1476375"/>
          <a:ext xmlns:a="http://schemas.openxmlformats.org/drawingml/2006/main" cx="5219700" cy="2762250"/>
        </p:xfrm>
        <a:graphic xmlns:a="http://schemas.openxmlformats.org/drawingml/2006/main">
          <a:graphicData uri="http://schemas.openxmlformats.org/drawingml/2006/chart">
            <c:chart xmlns:r="http://schemas.openxmlformats.org/officeDocument/2006/relationships" xmlns:c="http://schemas.openxmlformats.org/drawingml/2006/chart" r:id="R6b71d499b2b64737"/>
          </a:graphicData>
        </a:graphic>
      </p:graphicFrame>
      <p:sp>
        <p:nvSpPr>
          <p:cNvPr id="5" name="">
            <a:extLst xmlns:a="http://schemas.openxmlformats.org/drawingml/2006/main">
              <a:ext uri="{FF2B5EF4-FFF2-40B4-BE49-F238E27FC236}">
                <a16:creationId xmlns:a16="http://schemas.microsoft.com/office/drawing/2014/main" id="{78363AA0-F472-4B99-B543-763C2E00954A}"/>
              </a:ext>
            </a:extLst>
          </p:cNvPr>
          <p:cNvSpPr>
            <a:spLocks xmlns:a="http://schemas.openxmlformats.org/drawingml/2006/main" noGrp="1"/>
          </p:cNvSpPr>
          <p:nvPr/>
        </p:nvSpPr>
        <p:spPr>
          <a:xfrm xmlns:a="http://schemas.openxmlformats.org/drawingml/2006/main">
            <a:off x="5886450" y="1590675"/>
            <a:ext cx="28003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98" b="0">
                <a:solidFill>
                  <a:srgbClr val="1E293B"/>
                </a:solidFill>
                <a:latin typeface="Calibri"/>
                <a:ea typeface="Calibri"/>
                <a:cs typeface="Calibri"/>
              </a:defRPr>
            </a:defPPr>
          </a:lstStyle>
          <a:p xmlns:a="http://schemas.openxmlformats.org/drawingml/2006/main">
            <a:pPr>
              <a:defRPr sz="1598" b="0">
                <a:solidFill>
                  <a:srgbClr val="1E293B"/>
                </a:solidFill>
                <a:latin typeface="Calibri"/>
                <a:ea typeface="Calibri"/>
                <a:cs typeface="Calibri"/>
              </a:defRPr>
            </a:pPr>
            <a:r>
              <a:rPr sz="1598" b="0">
                <a:solidFill>
                  <a:srgbClr val="1E293B"/>
                </a:solidFill>
                <a:latin typeface="Calibri"/>
                <a:ea typeface="Calibri"/>
                <a:cs typeface="Calibri"/>
              </a:rPr>
              <a:t>A contaminant classifier learned mostly from drinking-water samples.</a:t>
            </a:r>
          </a:p>
        </p:txBody>
      </p:sp>
      <p:sp>
        <p:nvSpPr>
          <p:cNvPr id="6" name="">
            <a:extLst xmlns:a="http://schemas.openxmlformats.org/drawingml/2006/main">
              <a:ext uri="{FF2B5EF4-FFF2-40B4-BE49-F238E27FC236}">
                <a16:creationId xmlns:a16="http://schemas.microsoft.com/office/drawing/2014/main" id="{80C051A3-16BF-4D1B-9D62-A81811A1F1A9}"/>
              </a:ext>
            </a:extLst>
          </p:cNvPr>
          <p:cNvSpPr>
            <a:spLocks xmlns:a="http://schemas.openxmlformats.org/drawingml/2006/main" noGrp="1"/>
          </p:cNvSpPr>
          <p:nvPr/>
        </p:nvSpPr>
        <p:spPr>
          <a:xfrm xmlns:a="http://schemas.openxmlformats.org/drawingml/2006/main">
            <a:off x="5886450" y="2476500"/>
            <a:ext cx="28003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98" b="0">
                <a:solidFill>
                  <a:srgbClr val="1E293B"/>
                </a:solidFill>
                <a:latin typeface="Calibri"/>
                <a:ea typeface="Calibri"/>
                <a:cs typeface="Calibri"/>
              </a:defRPr>
            </a:defPPr>
          </a:lstStyle>
          <a:p xmlns:a="http://schemas.openxmlformats.org/drawingml/2006/main">
            <a:pPr>
              <a:defRPr sz="1598" b="0">
                <a:solidFill>
                  <a:srgbClr val="1E293B"/>
                </a:solidFill>
                <a:latin typeface="Calibri"/>
                <a:ea typeface="Calibri"/>
                <a:cs typeface="Calibri"/>
              </a:defRPr>
            </a:pPr>
            <a:r>
              <a:rPr sz="1598" b="0">
                <a:solidFill>
                  <a:srgbClr val="1E293B"/>
                </a:solidFill>
                <a:latin typeface="Calibri"/>
                <a:ea typeface="Calibri"/>
                <a:cs typeface="Calibri"/>
              </a:rPr>
              <a:t>Hypothetical test set:</a:t>
            </a:r>
          </a:p>
          <a:p xmlns:a="http://schemas.openxmlformats.org/drawingml/2006/main">
            <a:pPr>
              <a:defRPr sz="1598" b="0">
                <a:solidFill>
                  <a:srgbClr val="1E293B"/>
                </a:solidFill>
                <a:latin typeface="Calibri"/>
                <a:ea typeface="Calibri"/>
                <a:cs typeface="Calibri"/>
              </a:defRPr>
            </a:pPr>
            <a:r>
              <a:rPr sz="1598" b="0">
                <a:solidFill>
                  <a:srgbClr val="1E293B"/>
                </a:solidFill>
                <a:latin typeface="Calibri"/>
                <a:ea typeface="Calibri"/>
                <a:cs typeface="Calibri"/>
              </a:rPr>
              <a:t>900 drinking-water samples</a:t>
            </a:r>
          </a:p>
          <a:p xmlns:a="http://schemas.openxmlformats.org/drawingml/2006/main">
            <a:pPr>
              <a:defRPr sz="1598" b="0">
                <a:solidFill>
                  <a:srgbClr val="1E293B"/>
                </a:solidFill>
                <a:latin typeface="Calibri"/>
                <a:ea typeface="Calibri"/>
                <a:cs typeface="Calibri"/>
              </a:defRPr>
            </a:pPr>
            <a:r>
              <a:rPr sz="1598" b="0">
                <a:solidFill>
                  <a:srgbClr val="1E293B"/>
                </a:solidFill>
                <a:latin typeface="Calibri"/>
                <a:ea typeface="Calibri"/>
                <a:cs typeface="Calibri"/>
              </a:rPr>
              <a:t>100 river-water samples</a:t>
            </a:r>
          </a:p>
        </p:txBody>
      </p:sp>
      <p:sp>
        <p:nvSpPr>
          <p:cNvPr id="7" name="">
            <a:extLst xmlns:a="http://schemas.openxmlformats.org/drawingml/2006/main">
              <a:ext uri="{FF2B5EF4-FFF2-40B4-BE49-F238E27FC236}">
                <a16:creationId xmlns:a16="http://schemas.microsoft.com/office/drawing/2014/main" id="{B9581464-56C2-4445-BE84-836D71E1B823}"/>
              </a:ext>
            </a:extLst>
          </p:cNvPr>
          <p:cNvSpPr>
            <a:spLocks xmlns:a="http://schemas.openxmlformats.org/drawingml/2006/main" noGrp="1"/>
          </p:cNvSpPr>
          <p:nvPr/>
        </p:nvSpPr>
        <p:spPr>
          <a:xfrm xmlns:a="http://schemas.openxmlformats.org/drawingml/2006/main">
            <a:off x="5886450" y="3362325"/>
            <a:ext cx="28003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98" b="0">
                <a:solidFill>
                  <a:srgbClr val="1E293B"/>
                </a:solidFill>
                <a:latin typeface="Calibri"/>
                <a:ea typeface="Calibri"/>
                <a:cs typeface="Calibri"/>
              </a:defRPr>
            </a:defPPr>
          </a:lstStyle>
          <a:p xmlns:a="http://schemas.openxmlformats.org/drawingml/2006/main">
            <a:pPr>
              <a:defRPr sz="1598" b="0">
                <a:solidFill>
                  <a:srgbClr val="1E293B"/>
                </a:solidFill>
                <a:latin typeface="Calibri"/>
                <a:ea typeface="Calibri"/>
                <a:cs typeface="Calibri"/>
              </a:defRPr>
            </a:pPr>
            <a:r>
              <a:rPr sz="1598" b="0">
                <a:solidFill>
                  <a:srgbClr val="1E293B"/>
                </a:solidFill>
                <a:latin typeface="Calibri"/>
                <a:ea typeface="Calibri"/>
                <a:cs typeface="Calibri"/>
              </a:rPr>
              <a:t>Overall accuracy is 90.5%, although river-water accuracy is only 50%.</a:t>
            </a:r>
          </a:p>
        </p:txBody>
      </p:sp>
      <p:sp>
        <p:nvSpPr>
          <p:cNvPr id="8" name="">
            <a:extLst xmlns:a="http://schemas.openxmlformats.org/drawingml/2006/main">
              <a:ext uri="{FF2B5EF4-FFF2-40B4-BE49-F238E27FC236}">
                <a16:creationId xmlns:a16="http://schemas.microsoft.com/office/drawing/2014/main" id="{B4A5AA8E-6907-4A78-B609-1DB39BAC5B75}"/>
              </a:ext>
            </a:extLst>
          </p:cNvPr>
          <p:cNvSpPr>
            <a:spLocks xmlns:a="http://schemas.openxmlformats.org/drawingml/2006/main" noGrp="1"/>
          </p:cNvSpPr>
          <p:nvPr/>
        </p:nvSpPr>
        <p:spPr>
          <a:xfrm xmlns:a="http://schemas.openxmlformats.org/drawingml/2006/main">
            <a:off x="457200" y="4410075"/>
            <a:ext cx="8229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00" b="0">
                <a:solidFill>
                  <a:srgbClr val="028090"/>
                </a:solidFill>
                <a:latin typeface="Calibri"/>
                <a:ea typeface="Calibri"/>
                <a:cs typeface="Calibri"/>
              </a:defRPr>
            </a:defPPr>
          </a:lstStyle>
          <a:p xmlns:a="http://schemas.openxmlformats.org/drawingml/2006/main">
            <a:pPr>
              <a:defRPr sz="1400" b="0">
                <a:solidFill>
                  <a:srgbClr val="028090"/>
                </a:solidFill>
                <a:latin typeface="Calibri"/>
                <a:ea typeface="Calibri"/>
                <a:cs typeface="Calibri"/>
              </a:defRPr>
            </a:pPr>
            <a:r>
              <a:rPr sz="1400" b="0">
                <a:solidFill>
                  <a:srgbClr val="028090"/>
                </a:solidFill>
                <a:latin typeface="Calibri"/>
                <a:ea typeface="Calibri"/>
                <a:cs typeface="Calibri"/>
              </a:rPr>
              <a:t>Illustrative numbers. Performance for each matrix reveals what the overall score hides.</a:t>
            </a:r>
          </a:p>
        </p:txBody>
      </p:sp>
    </p:spTree>
    <p:extLst>
      <p:ext uri="{BB962C8B-B14F-4D97-AF65-F5344CB8AC3E}">
        <p14:creationId xmlns:p14="http://schemas.microsoft.com/office/powerpoint/2010/main" val="40006988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C405808-5755-4104-830F-B2236FF92720}"/>
              </a:ext>
            </a:extLst>
          </p:cNvPr>
          <p:cNvSpPr>
            <a:spLocks xmlns:a="http://schemas.openxmlformats.org/drawingml/2006/main" noGrp="1"/>
          </p:cNvSpPr>
          <p:nvPr/>
        </p:nvSpPr>
        <p:spPr>
          <a:xfrm xmlns:a="http://schemas.openxmlformats.org/drawingml/2006/main">
            <a:off x="457200" y="333375"/>
            <a:ext cx="8229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00" b="1">
                <a:solidFill>
                  <a:srgbClr val="028090"/>
                </a:solidFill>
                <a:latin typeface="Calibri"/>
                <a:ea typeface="Calibri"/>
                <a:cs typeface="Calibri"/>
              </a:defRPr>
            </a:defPPr>
          </a:lstStyle>
          <a:p xmlns:a="http://schemas.openxmlformats.org/drawingml/2006/main">
            <a:pPr>
              <a:defRPr sz="1100" b="1">
                <a:solidFill>
                  <a:srgbClr val="028090"/>
                </a:solidFill>
                <a:latin typeface="Calibri"/>
                <a:ea typeface="Calibri"/>
                <a:cs typeface="Calibri"/>
              </a:defRPr>
            </a:pPr>
            <a:r>
              <a:rPr sz="1100" b="1">
                <a:solidFill>
                  <a:srgbClr val="028090"/>
                </a:solidFill>
                <a:latin typeface="Calibri"/>
                <a:ea typeface="Calibri"/>
                <a:cs typeface="Calibri"/>
              </a:rPr>
              <a:t>FAILURE MODES</a:t>
            </a:r>
          </a:p>
        </p:txBody>
      </p:sp>
      <p:sp>
        <p:nvSpPr>
          <p:cNvPr id="2" name="">
            <a:extLst xmlns:a="http://schemas.openxmlformats.org/drawingml/2006/main">
              <a:ext uri="{FF2B5EF4-FFF2-40B4-BE49-F238E27FC236}">
                <a16:creationId xmlns:a16="http://schemas.microsoft.com/office/drawing/2014/main" id="{FB64C420-D4C8-4111-A04B-01267F14564C}"/>
              </a:ext>
            </a:extLst>
          </p:cNvPr>
          <p:cNvSpPr>
            <a:spLocks xmlns:a="http://schemas.openxmlformats.org/drawingml/2006/main" noGrp="1"/>
          </p:cNvSpPr>
          <p:nvPr/>
        </p:nvSpPr>
        <p:spPr>
          <a:xfrm xmlns:a="http://schemas.openxmlformats.org/drawingml/2006/main">
            <a:off x="457200" y="742950"/>
            <a:ext cx="8229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00" b="1">
                <a:solidFill>
                  <a:srgbClr val="1E293B"/>
                </a:solidFill>
                <a:latin typeface="Cambria"/>
                <a:ea typeface="Cambria"/>
                <a:cs typeface="Cambria"/>
              </a:defRPr>
            </a:defPPr>
          </a:lstStyle>
          <a:p xmlns:a="http://schemas.openxmlformats.org/drawingml/2006/main">
            <a:pPr>
              <a:defRPr sz="2600" b="1">
                <a:solidFill>
                  <a:srgbClr val="1E293B"/>
                </a:solidFill>
                <a:latin typeface="Cambria"/>
                <a:ea typeface="Cambria"/>
                <a:cs typeface="Cambria"/>
              </a:defRPr>
            </a:pPr>
            <a:r>
              <a:rPr sz="2600" b="1">
                <a:solidFill>
                  <a:srgbClr val="1E293B"/>
                </a:solidFill>
                <a:latin typeface="Cambria"/>
                <a:ea typeface="Cambria"/>
                <a:cs typeface="Cambria"/>
              </a:rPr>
              <a:t>Out-of-distribution predictions</a:t>
            </a:r>
          </a:p>
        </p:txBody>
      </p:sp>
      <p:sp>
        <p:nvSpPr>
          <p:cNvPr id="3" name="">
            <a:extLst xmlns:a="http://schemas.openxmlformats.org/drawingml/2006/main">
              <a:ext uri="{FF2B5EF4-FFF2-40B4-BE49-F238E27FC236}">
                <a16:creationId xmlns:a16="http://schemas.microsoft.com/office/drawing/2014/main" id="{F0BD2378-6101-48D5-B361-3CA6631A71A3}"/>
              </a:ext>
            </a:extLst>
          </p:cNvPr>
          <p:cNvSpPr>
            <a:spLocks xmlns:a="http://schemas.openxmlformats.org/drawingml/2006/main" noGrp="1"/>
          </p:cNvSpPr>
          <p:nvPr/>
        </p:nvSpPr>
        <p:spPr>
          <a:xfrm xmlns:a="http://schemas.openxmlformats.org/drawingml/2006/main">
            <a:off x="8620125" y="4848225"/>
            <a:ext cx="238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00" b="0">
                <a:solidFill>
                  <a:srgbClr val="64748B"/>
                </a:solidFill>
                <a:latin typeface="Calibri"/>
                <a:ea typeface="Calibri"/>
                <a:cs typeface="Calibri"/>
              </a:defRPr>
            </a:defPPr>
          </a:lstStyle>
          <a:p xmlns:a="http://schemas.openxmlformats.org/drawingml/2006/main">
            <a:pPr>
              <a:defRPr sz="900" b="0">
                <a:solidFill>
                  <a:srgbClr val="64748B"/>
                </a:solidFill>
                <a:latin typeface="Calibri"/>
                <a:ea typeface="Calibri"/>
                <a:cs typeface="Calibri"/>
              </a:defRPr>
            </a:pPr>
            <a:r>
              <a:rPr sz="900" b="0">
                <a:solidFill>
                  <a:srgbClr val="64748B"/>
                </a:solidFill>
                <a:latin typeface="Calibri"/>
                <a:ea typeface="Calibri"/>
                <a:cs typeface="Calibri"/>
              </a:rPr>
              <a:t>6</a:t>
            </a:r>
          </a:p>
        </p:txBody>
      </p:sp>
      <p:graphicFrame>
        <p:nvGraphicFramePr>
          <p:cNvPr id="4" name="Chart">
            <a:extLst xmlns:a="http://schemas.openxmlformats.org/drawingml/2006/main">
              <a:ext uri="{FF2B5EF4-FFF2-40B4-BE49-F238E27FC236}">
                <a16:creationId xmlns:a16="http://schemas.microsoft.com/office/drawing/2014/main" id="{984B52AD-8298-4FC0-AF89-05BCE7D27613}"/>
              </a:ext>
            </a:extLst>
          </p:cNvPr>
          <p:cNvGraphicFramePr/>
          <p:nvPr/>
        </p:nvGraphicFramePr>
        <p:xfrm>
          <a:off xmlns:a="http://schemas.openxmlformats.org/drawingml/2006/main" x="361950" y="1476375"/>
          <a:ext xmlns:a="http://schemas.openxmlformats.org/drawingml/2006/main" cx="5219700" cy="2762250"/>
        </p:xfrm>
        <a:graphic xmlns:a="http://schemas.openxmlformats.org/drawingml/2006/main">
          <a:graphicData uri="http://schemas.openxmlformats.org/drawingml/2006/chart">
            <c:chart xmlns:r="http://schemas.openxmlformats.org/officeDocument/2006/relationships" xmlns:c="http://schemas.openxmlformats.org/drawingml/2006/chart" r:id="R5d684fe970b743dd"/>
          </a:graphicData>
        </a:graphic>
      </p:graphicFrame>
      <p:sp>
        <p:nvSpPr>
          <p:cNvPr id="5" name="">
            <a:extLst xmlns:a="http://schemas.openxmlformats.org/drawingml/2006/main">
              <a:ext uri="{FF2B5EF4-FFF2-40B4-BE49-F238E27FC236}">
                <a16:creationId xmlns:a16="http://schemas.microsoft.com/office/drawing/2014/main" id="{FC074F65-89D4-47F3-AD38-E0F894278E48}"/>
              </a:ext>
            </a:extLst>
          </p:cNvPr>
          <p:cNvSpPr>
            <a:spLocks xmlns:a="http://schemas.openxmlformats.org/drawingml/2006/main" noGrp="1"/>
          </p:cNvSpPr>
          <p:nvPr/>
        </p:nvSpPr>
        <p:spPr>
          <a:xfrm xmlns:a="http://schemas.openxmlformats.org/drawingml/2006/main">
            <a:off x="5886450" y="1590675"/>
            <a:ext cx="28003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98" b="0">
                <a:solidFill>
                  <a:srgbClr val="1E293B"/>
                </a:solidFill>
                <a:latin typeface="Calibri"/>
                <a:ea typeface="Calibri"/>
                <a:cs typeface="Calibri"/>
              </a:defRPr>
            </a:defPPr>
          </a:lstStyle>
          <a:p xmlns:a="http://schemas.openxmlformats.org/drawingml/2006/main">
            <a:pPr>
              <a:defRPr sz="1598" b="0">
                <a:solidFill>
                  <a:srgbClr val="1E293B"/>
                </a:solidFill>
                <a:latin typeface="Calibri"/>
                <a:ea typeface="Calibri"/>
                <a:cs typeface="Calibri"/>
              </a:defRPr>
            </a:pPr>
            <a:r>
              <a:rPr sz="1598" b="0">
                <a:solidFill>
                  <a:srgbClr val="1E293B"/>
                </a:solidFill>
                <a:latin typeface="Calibri"/>
                <a:ea typeface="Calibri"/>
                <a:cs typeface="Calibri"/>
              </a:rPr>
              <a:t>Standards cover 0–1 mg/L. The new sample is at 2 mg/L.</a:t>
            </a:r>
          </a:p>
        </p:txBody>
      </p:sp>
      <p:sp>
        <p:nvSpPr>
          <p:cNvPr id="6" name="">
            <a:extLst xmlns:a="http://schemas.openxmlformats.org/drawingml/2006/main">
              <a:ext uri="{FF2B5EF4-FFF2-40B4-BE49-F238E27FC236}">
                <a16:creationId xmlns:a16="http://schemas.microsoft.com/office/drawing/2014/main" id="{DFD34BEA-F1DF-4A30-916B-EC78E6C6BAEA}"/>
              </a:ext>
            </a:extLst>
          </p:cNvPr>
          <p:cNvSpPr>
            <a:spLocks xmlns:a="http://schemas.openxmlformats.org/drawingml/2006/main" noGrp="1"/>
          </p:cNvSpPr>
          <p:nvPr/>
        </p:nvSpPr>
        <p:spPr>
          <a:xfrm xmlns:a="http://schemas.openxmlformats.org/drawingml/2006/main">
            <a:off x="5886450" y="2476500"/>
            <a:ext cx="28003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98" b="0">
                <a:solidFill>
                  <a:srgbClr val="1E293B"/>
                </a:solidFill>
                <a:latin typeface="Calibri"/>
                <a:ea typeface="Calibri"/>
                <a:cs typeface="Calibri"/>
              </a:defRPr>
            </a:defPPr>
          </a:lstStyle>
          <a:p xmlns:a="http://schemas.openxmlformats.org/drawingml/2006/main">
            <a:pPr>
              <a:defRPr sz="1598" b="0">
                <a:solidFill>
                  <a:srgbClr val="1E293B"/>
                </a:solidFill>
                <a:latin typeface="Calibri"/>
                <a:ea typeface="Calibri"/>
                <a:cs typeface="Calibri"/>
              </a:defRPr>
            </a:pPr>
            <a:r>
              <a:rPr sz="1598" b="0">
                <a:solidFill>
                  <a:srgbClr val="1E293B"/>
                </a:solidFill>
                <a:latin typeface="Calibri"/>
                <a:ea typeface="Calibri"/>
                <a:cs typeface="Calibri"/>
              </a:rPr>
              <a:t>Predictions at 2 mg/L have no validation measurements to support them.</a:t>
            </a:r>
          </a:p>
        </p:txBody>
      </p:sp>
      <p:sp>
        <p:nvSpPr>
          <p:cNvPr id="7" name="">
            <a:extLst xmlns:a="http://schemas.openxmlformats.org/drawingml/2006/main">
              <a:ext uri="{FF2B5EF4-FFF2-40B4-BE49-F238E27FC236}">
                <a16:creationId xmlns:a16="http://schemas.microsoft.com/office/drawing/2014/main" id="{C104CA72-053D-4038-B1DA-780AC112458A}"/>
              </a:ext>
            </a:extLst>
          </p:cNvPr>
          <p:cNvSpPr>
            <a:spLocks xmlns:a="http://schemas.openxmlformats.org/drawingml/2006/main" noGrp="1"/>
          </p:cNvSpPr>
          <p:nvPr/>
        </p:nvSpPr>
        <p:spPr>
          <a:xfrm xmlns:a="http://schemas.openxmlformats.org/drawingml/2006/main">
            <a:off x="5886450" y="3362325"/>
            <a:ext cx="28003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98" b="0">
                <a:solidFill>
                  <a:srgbClr val="1E293B"/>
                </a:solidFill>
                <a:latin typeface="Calibri"/>
                <a:ea typeface="Calibri"/>
                <a:cs typeface="Calibri"/>
              </a:defRPr>
            </a:defPPr>
          </a:lstStyle>
          <a:p xmlns:a="http://schemas.openxmlformats.org/drawingml/2006/main">
            <a:pPr>
              <a:defRPr sz="1598" b="0">
                <a:solidFill>
                  <a:srgbClr val="1E293B"/>
                </a:solidFill>
                <a:latin typeface="Calibri"/>
                <a:ea typeface="Calibri"/>
                <a:cs typeface="Calibri"/>
              </a:defRPr>
            </a:pPr>
            <a:r>
              <a:rPr sz="1598" b="0">
                <a:solidFill>
                  <a:srgbClr val="1E293B"/>
                </a:solidFill>
                <a:latin typeface="Calibri"/>
                <a:ea typeface="Calibri"/>
                <a:cs typeface="Calibri"/>
              </a:rPr>
              <a:t>New instruments or sample matrices can also change the conditions of use.</a:t>
            </a:r>
          </a:p>
        </p:txBody>
      </p:sp>
      <p:sp>
        <p:nvSpPr>
          <p:cNvPr id="8" name="">
            <a:extLst xmlns:a="http://schemas.openxmlformats.org/drawingml/2006/main">
              <a:ext uri="{FF2B5EF4-FFF2-40B4-BE49-F238E27FC236}">
                <a16:creationId xmlns:a16="http://schemas.microsoft.com/office/drawing/2014/main" id="{1DA0EB9B-F996-4297-842C-2195D5C669D8}"/>
              </a:ext>
            </a:extLst>
          </p:cNvPr>
          <p:cNvSpPr>
            <a:spLocks xmlns:a="http://schemas.openxmlformats.org/drawingml/2006/main" noGrp="1"/>
          </p:cNvSpPr>
          <p:nvPr/>
        </p:nvSpPr>
        <p:spPr>
          <a:xfrm xmlns:a="http://schemas.openxmlformats.org/drawingml/2006/main">
            <a:off x="457200" y="4410075"/>
            <a:ext cx="8229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00" b="0">
                <a:solidFill>
                  <a:srgbClr val="028090"/>
                </a:solidFill>
                <a:latin typeface="Calibri"/>
                <a:ea typeface="Calibri"/>
                <a:cs typeface="Calibri"/>
              </a:defRPr>
            </a:defPPr>
          </a:lstStyle>
          <a:p xmlns:a="http://schemas.openxmlformats.org/drawingml/2006/main">
            <a:pPr>
              <a:defRPr sz="1400" b="0">
                <a:solidFill>
                  <a:srgbClr val="028090"/>
                </a:solidFill>
                <a:latin typeface="Calibri"/>
                <a:ea typeface="Calibri"/>
                <a:cs typeface="Calibri"/>
              </a:defRPr>
            </a:pPr>
            <a:r>
              <a:rPr sz="1400" b="0">
                <a:solidFill>
                  <a:srgbClr val="028090"/>
                </a:solidFill>
                <a:latin typeface="Calibri"/>
                <a:ea typeface="Calibri"/>
                <a:cs typeface="Calibri"/>
              </a:rPr>
              <a:t>Extrapolation extends beyond the studied range. A prediction alone does not establish reliability.</a:t>
            </a:r>
          </a:p>
        </p:txBody>
      </p:sp>
    </p:spTree>
    <p:extLst>
      <p:ext uri="{BB962C8B-B14F-4D97-AF65-F5344CB8AC3E}">
        <p14:creationId xmlns:p14="http://schemas.microsoft.com/office/powerpoint/2010/main" val="91837620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B145C97-84CA-4728-91F6-C033EF147B50}"/>
              </a:ext>
            </a:extLst>
          </p:cNvPr>
          <p:cNvSpPr>
            <a:spLocks xmlns:a="http://schemas.openxmlformats.org/drawingml/2006/main" noGrp="1"/>
          </p:cNvSpPr>
          <p:nvPr/>
        </p:nvSpPr>
        <p:spPr>
          <a:xfrm xmlns:a="http://schemas.openxmlformats.org/drawingml/2006/main">
            <a:off x="457200" y="333375"/>
            <a:ext cx="8229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00" b="1">
                <a:solidFill>
                  <a:srgbClr val="028090"/>
                </a:solidFill>
                <a:latin typeface="Calibri"/>
                <a:ea typeface="Calibri"/>
                <a:cs typeface="Calibri"/>
              </a:defRPr>
            </a:defPPr>
          </a:lstStyle>
          <a:p xmlns:a="http://schemas.openxmlformats.org/drawingml/2006/main">
            <a:pPr>
              <a:defRPr sz="1100" b="1">
                <a:solidFill>
                  <a:srgbClr val="028090"/>
                </a:solidFill>
                <a:latin typeface="Calibri"/>
                <a:ea typeface="Calibri"/>
                <a:cs typeface="Calibri"/>
              </a:defRPr>
            </a:pPr>
            <a:r>
              <a:rPr sz="1100" b="1">
                <a:solidFill>
                  <a:srgbClr val="028090"/>
                </a:solidFill>
                <a:latin typeface="Calibri"/>
                <a:ea typeface="Calibri"/>
                <a:cs typeface="Calibri"/>
              </a:rPr>
              <a:t>FAILURE MODES</a:t>
            </a:r>
          </a:p>
        </p:txBody>
      </p:sp>
      <p:sp>
        <p:nvSpPr>
          <p:cNvPr id="2" name="">
            <a:extLst xmlns:a="http://schemas.openxmlformats.org/drawingml/2006/main">
              <a:ext uri="{FF2B5EF4-FFF2-40B4-BE49-F238E27FC236}">
                <a16:creationId xmlns:a16="http://schemas.microsoft.com/office/drawing/2014/main" id="{FC477C72-2C31-461D-9480-C15A64149713}"/>
              </a:ext>
            </a:extLst>
          </p:cNvPr>
          <p:cNvSpPr>
            <a:spLocks xmlns:a="http://schemas.openxmlformats.org/drawingml/2006/main" noGrp="1"/>
          </p:cNvSpPr>
          <p:nvPr/>
        </p:nvSpPr>
        <p:spPr>
          <a:xfrm xmlns:a="http://schemas.openxmlformats.org/drawingml/2006/main">
            <a:off x="457200" y="742950"/>
            <a:ext cx="8229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00" b="1">
                <a:solidFill>
                  <a:srgbClr val="1E293B"/>
                </a:solidFill>
                <a:latin typeface="Cambria"/>
                <a:ea typeface="Cambria"/>
                <a:cs typeface="Cambria"/>
              </a:defRPr>
            </a:defPPr>
          </a:lstStyle>
          <a:p xmlns:a="http://schemas.openxmlformats.org/drawingml/2006/main">
            <a:pPr>
              <a:defRPr sz="2600" b="1">
                <a:solidFill>
                  <a:srgbClr val="1E293B"/>
                </a:solidFill>
                <a:latin typeface="Cambria"/>
                <a:ea typeface="Cambria"/>
                <a:cs typeface="Cambria"/>
              </a:defRPr>
            </a:pPr>
            <a:r>
              <a:rPr sz="2600" b="1">
                <a:solidFill>
                  <a:srgbClr val="1E293B"/>
                </a:solidFill>
                <a:latin typeface="Cambria"/>
                <a:ea typeface="Cambria"/>
                <a:cs typeface="Cambria"/>
              </a:rPr>
              <a:t>A test sample already used for training</a:t>
            </a:r>
          </a:p>
        </p:txBody>
      </p:sp>
      <p:sp>
        <p:nvSpPr>
          <p:cNvPr id="3" name="">
            <a:extLst xmlns:a="http://schemas.openxmlformats.org/drawingml/2006/main">
              <a:ext uri="{FF2B5EF4-FFF2-40B4-BE49-F238E27FC236}">
                <a16:creationId xmlns:a16="http://schemas.microsoft.com/office/drawing/2014/main" id="{94447024-9386-4F74-9A26-7AB6A367C6A6}"/>
              </a:ext>
            </a:extLst>
          </p:cNvPr>
          <p:cNvSpPr>
            <a:spLocks xmlns:a="http://schemas.openxmlformats.org/drawingml/2006/main" noGrp="1"/>
          </p:cNvSpPr>
          <p:nvPr/>
        </p:nvSpPr>
        <p:spPr>
          <a:xfrm xmlns:a="http://schemas.openxmlformats.org/drawingml/2006/main">
            <a:off x="8620125" y="4848225"/>
            <a:ext cx="238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00" b="0">
                <a:solidFill>
                  <a:srgbClr val="64748B"/>
                </a:solidFill>
                <a:latin typeface="Calibri"/>
                <a:ea typeface="Calibri"/>
                <a:cs typeface="Calibri"/>
              </a:defRPr>
            </a:defPPr>
          </a:lstStyle>
          <a:p xmlns:a="http://schemas.openxmlformats.org/drawingml/2006/main">
            <a:pPr>
              <a:defRPr sz="900" b="0">
                <a:solidFill>
                  <a:srgbClr val="64748B"/>
                </a:solidFill>
                <a:latin typeface="Calibri"/>
                <a:ea typeface="Calibri"/>
                <a:cs typeface="Calibri"/>
              </a:defRPr>
            </a:pPr>
            <a:r>
              <a:rPr sz="900" b="0">
                <a:solidFill>
                  <a:srgbClr val="64748B"/>
                </a:solidFill>
                <a:latin typeface="Calibri"/>
                <a:ea typeface="Calibri"/>
                <a:cs typeface="Calibri"/>
              </a:rPr>
              <a:t>7</a:t>
            </a:r>
          </a:p>
        </p:txBody>
      </p:sp>
      <p:sp>
        <p:nvSpPr>
          <p:cNvPr id="4" name="">
            <a:extLst xmlns:a="http://schemas.openxmlformats.org/drawingml/2006/main">
              <a:ext uri="{FF2B5EF4-FFF2-40B4-BE49-F238E27FC236}">
                <a16:creationId xmlns:a16="http://schemas.microsoft.com/office/drawing/2014/main" id="{0CBAAE70-F4C7-4568-8D3A-F64392F55A7F}"/>
              </a:ext>
            </a:extLst>
          </p:cNvPr>
          <p:cNvSpPr>
            <a:spLocks xmlns:a="http://schemas.openxmlformats.org/drawingml/2006/main" noGrp="1"/>
          </p:cNvSpPr>
          <p:nvPr/>
        </p:nvSpPr>
        <p:spPr>
          <a:xfrm xmlns:a="http://schemas.openxmlformats.org/drawingml/2006/main">
            <a:off x="457200" y="1390650"/>
            <a:ext cx="8229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02" b="0">
                <a:solidFill>
                  <a:srgbClr val="1E293B"/>
                </a:solidFill>
                <a:latin typeface="Calibri"/>
                <a:ea typeface="Calibri"/>
                <a:cs typeface="Calibri"/>
              </a:defRPr>
            </a:defPPr>
          </a:lstStyle>
          <a:p xmlns:a="http://schemas.openxmlformats.org/drawingml/2006/main">
            <a:pPr>
              <a:defRPr sz="1702" b="0">
                <a:solidFill>
                  <a:srgbClr val="1E293B"/>
                </a:solidFill>
                <a:latin typeface="Calibri"/>
                <a:ea typeface="Calibri"/>
                <a:cs typeface="Calibri"/>
              </a:defRPr>
            </a:pPr>
            <a:r>
              <a:rPr sz="1702" b="0">
                <a:solidFill>
                  <a:srgbClr val="1E293B"/>
                </a:solidFill>
                <a:latin typeface="Calibri"/>
                <a:ea typeface="Calibri"/>
                <a:cs typeface="Calibri"/>
              </a:rPr>
              <a:t>Milk-powder screening: authentic or adulterated.</a:t>
            </a:r>
          </a:p>
        </p:txBody>
      </p:sp>
      <p:graphicFrame>
        <p:nvGraphicFramePr>
          <p:cNvPr id="5" name="">
            <a:extLst xmlns:a="http://schemas.openxmlformats.org/drawingml/2006/main">
              <a:ext uri="{FF2B5EF4-FFF2-40B4-BE49-F238E27FC236}">
                <a16:creationId xmlns:a16="http://schemas.microsoft.com/office/drawing/2014/main" id="{B2AD110E-E83F-4620-9C5C-C98A0D231A26}"/>
              </a:ext>
            </a:extLst>
          </p:cNvPr>
          <p:cNvGraphicFramePr/>
          <p:nvPr/>
        </p:nvGraphicFramePr>
        <p:xfrm>
          <a:off xmlns:a="http://schemas.openxmlformats.org/drawingml/2006/main" x="457200" y="1895475"/>
          <a:ext xmlns:a="http://schemas.openxmlformats.org/drawingml/2006/main" cx="8229600" cy="1809750"/>
        </p:xfrm>
        <a:graphic xmlns:a="http://schemas.openxmlformats.org/drawingml/2006/main">
          <a:graphicData uri="http://schemas.openxmlformats.org/drawingml/2006/table">
            <a:tbl>
              <a:tblPr/>
              <a:tblGrid>
                <a:gridCol w="1809750"/>
                <a:gridCol w="6419850"/>
              </a:tblGrid>
              <a:tr h="603250">
                <a:tc>
                  <a:txBody>
                    <a:bodyPr/>
                    <a:lstStyle/>
                    <a:p>
                      <a:r>
                        <a:rPr sz="1702" b="0">
                          <a:solidFill>
                            <a:srgbClr val="FFFFFF"/>
                          </a:solidFill>
                          <a:latin typeface="Calibri"/>
                          <a:ea typeface="Calibri"/>
                          <a:cs typeface="Calibri"/>
                        </a:rPr>
                        <a:t>Stage</a:t>
                      </a:r>
                    </a:p>
                  </a:txBody>
                  <a:tcPr marL="114300" marR="114300" marT="57150" marB="57150">
                    <a:solidFill>
                      <a:srgbClr val="028090"/>
                    </a:solidFill>
                  </a:tcPr>
                </a:tc>
                <a:tc>
                  <a:txBody>
                    <a:bodyPr/>
                    <a:lstStyle/>
                    <a:p>
                      <a:r>
                        <a:rPr sz="1702" b="0">
                          <a:solidFill>
                            <a:srgbClr val="FFFFFF"/>
                          </a:solidFill>
                          <a:latin typeface="Calibri"/>
                          <a:ea typeface="Calibri"/>
                          <a:cs typeface="Calibri"/>
                        </a:rPr>
                        <a:t>Example</a:t>
                      </a:r>
                    </a:p>
                  </a:txBody>
                  <a:tcPr marL="114300" marR="114300" marT="57150" marB="57150">
                    <a:solidFill>
                      <a:srgbClr val="028090"/>
                    </a:solidFill>
                  </a:tcPr>
                </a:tc>
              </a:tr>
              <a:tr h="603250">
                <a:tc>
                  <a:txBody>
                    <a:bodyPr/>
                    <a:lstStyle/>
                    <a:p>
                      <a:r>
                        <a:rPr sz="1702" b="0">
                          <a:solidFill>
                            <a:srgbClr val="1E293B"/>
                          </a:solidFill>
                          <a:latin typeface="Calibri"/>
                          <a:ea typeface="Calibri"/>
                          <a:cs typeface="Calibri"/>
                        </a:rPr>
                        <a:t>Training</a:t>
                      </a:r>
                    </a:p>
                  </a:txBody>
                  <a:tcPr marL="114300" marR="114300" marT="57150" marB="57150">
                    <a:solidFill>
                      <a:srgbClr val="FFFFFF"/>
                    </a:solidFill>
                  </a:tcPr>
                </a:tc>
                <a:tc>
                  <a:txBody>
                    <a:bodyPr/>
                    <a:lstStyle/>
                    <a:p>
                      <a:r>
                        <a:rPr sz="1702" b="0">
                          <a:solidFill>
                            <a:srgbClr val="1E293B"/>
                          </a:solidFill>
                          <a:latin typeface="Calibri"/>
                          <a:ea typeface="Calibri"/>
                          <a:cs typeface="Calibri"/>
                        </a:rPr>
                        <a:t>A: authentic, B: adulterated, C: authentic</a:t>
                      </a:r>
                    </a:p>
                  </a:txBody>
                  <a:tcPr marL="114300" marR="114300" marT="57150" marB="57150">
                    <a:solidFill>
                      <a:srgbClr val="FFFFFF"/>
                    </a:solidFill>
                  </a:tcPr>
                </a:tc>
              </a:tr>
              <a:tr h="603250">
                <a:tc>
                  <a:txBody>
                    <a:bodyPr/>
                    <a:lstStyle/>
                    <a:p>
                      <a:r>
                        <a:rPr sz="1702" b="0">
                          <a:solidFill>
                            <a:srgbClr val="1E293B"/>
                          </a:solidFill>
                          <a:latin typeface="Calibri"/>
                          <a:ea typeface="Calibri"/>
                          <a:cs typeface="Calibri"/>
                        </a:rPr>
                        <a:t>Claimed test</a:t>
                      </a:r>
                    </a:p>
                  </a:txBody>
                  <a:tcPr marL="114300" marR="114300" marT="57150" marB="57150">
                    <a:solidFill>
                      <a:srgbClr val="FFFFFF"/>
                    </a:solidFill>
                  </a:tcPr>
                </a:tc>
                <a:tc>
                  <a:txBody>
                    <a:bodyPr/>
                    <a:lstStyle/>
                    <a:p>
                      <a:r>
                        <a:rPr sz="1702" b="0">
                          <a:solidFill>
                            <a:srgbClr val="1E293B"/>
                          </a:solidFill>
                          <a:latin typeface="Calibri"/>
                          <a:ea typeface="Calibri"/>
                          <a:cs typeface="Calibri"/>
                        </a:rPr>
                        <a:t>Predict specimen B again, hiding its target.</a:t>
                      </a:r>
                    </a:p>
                  </a:txBody>
                  <a:tcPr marL="114300" marR="114300" marT="57150" marB="5715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7920C936-D6E7-4CD1-9230-CC0D633744DE}"/>
              </a:ext>
            </a:extLst>
          </p:cNvPr>
          <p:cNvSpPr>
            <a:spLocks xmlns:a="http://schemas.openxmlformats.org/drawingml/2006/main" noGrp="1"/>
          </p:cNvSpPr>
          <p:nvPr/>
        </p:nvSpPr>
        <p:spPr>
          <a:xfrm xmlns:a="http://schemas.openxmlformats.org/drawingml/2006/main">
            <a:off x="457200" y="3886200"/>
            <a:ext cx="8229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02" b="0">
                <a:solidFill>
                  <a:srgbClr val="1E293B"/>
                </a:solidFill>
                <a:latin typeface="Calibri"/>
                <a:ea typeface="Calibri"/>
                <a:cs typeface="Calibri"/>
              </a:defRPr>
            </a:defPPr>
          </a:lstStyle>
          <a:p xmlns:a="http://schemas.openxmlformats.org/drawingml/2006/main">
            <a:pPr>
              <a:defRPr sz="1702" b="0">
                <a:solidFill>
                  <a:srgbClr val="1E293B"/>
                </a:solidFill>
                <a:latin typeface="Calibri"/>
                <a:ea typeface="Calibri"/>
                <a:cs typeface="Calibri"/>
              </a:defRPr>
            </a:pPr>
            <a:r>
              <a:rPr sz="1702" b="0">
                <a:solidFill>
                  <a:srgbClr val="1E293B"/>
                </a:solidFill>
                <a:latin typeface="Calibri"/>
                <a:ea typeface="Calibri"/>
                <a:cs typeface="Calibri"/>
              </a:rPr>
              <a:t>The model has already seen B and its target. Getting B right measures fit to a known example.</a:t>
            </a:r>
          </a:p>
        </p:txBody>
      </p:sp>
      <p:sp>
        <p:nvSpPr>
          <p:cNvPr id="7" name="">
            <a:extLst xmlns:a="http://schemas.openxmlformats.org/drawingml/2006/main">
              <a:ext uri="{FF2B5EF4-FFF2-40B4-BE49-F238E27FC236}">
                <a16:creationId xmlns:a16="http://schemas.microsoft.com/office/drawing/2014/main" id="{58B78E0A-98AB-474D-9626-8315DA666D43}"/>
              </a:ext>
            </a:extLst>
          </p:cNvPr>
          <p:cNvSpPr>
            <a:spLocks xmlns:a="http://schemas.openxmlformats.org/drawingml/2006/main" noGrp="1"/>
          </p:cNvSpPr>
          <p:nvPr/>
        </p:nvSpPr>
        <p:spPr>
          <a:xfrm xmlns:a="http://schemas.openxmlformats.org/drawingml/2006/main">
            <a:off x="457200" y="4714875"/>
            <a:ext cx="8229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00" b="0">
                <a:solidFill>
                  <a:srgbClr val="028090"/>
                </a:solidFill>
                <a:latin typeface="Calibri"/>
                <a:ea typeface="Calibri"/>
                <a:cs typeface="Calibri"/>
              </a:defRPr>
            </a:defPPr>
          </a:lstStyle>
          <a:p xmlns:a="http://schemas.openxmlformats.org/drawingml/2006/main">
            <a:pPr>
              <a:defRPr sz="1400" b="0">
                <a:solidFill>
                  <a:srgbClr val="028090"/>
                </a:solidFill>
                <a:latin typeface="Calibri"/>
                <a:ea typeface="Calibri"/>
                <a:cs typeface="Calibri"/>
              </a:defRPr>
            </a:pPr>
            <a:r>
              <a:rPr sz="1400" b="0">
                <a:solidFill>
                  <a:srgbClr val="028090"/>
                </a:solidFill>
                <a:latin typeface="Calibri"/>
                <a:ea typeface="Calibri"/>
                <a:cs typeface="Calibri"/>
              </a:rPr>
              <a:t>New specimens are needed to test generalisation.</a:t>
            </a:r>
          </a:p>
        </p:txBody>
      </p:sp>
    </p:spTree>
    <p:extLst>
      <p:ext uri="{BB962C8B-B14F-4D97-AF65-F5344CB8AC3E}">
        <p14:creationId xmlns:p14="http://schemas.microsoft.com/office/powerpoint/2010/main" val="177200884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F235FB6-ADD8-422F-B59D-049790535E09}"/>
              </a:ext>
            </a:extLst>
          </p:cNvPr>
          <p:cNvSpPr>
            <a:spLocks xmlns:a="http://schemas.openxmlformats.org/drawingml/2006/main" noGrp="1"/>
          </p:cNvSpPr>
          <p:nvPr/>
        </p:nvSpPr>
        <p:spPr>
          <a:xfrm xmlns:a="http://schemas.openxmlformats.org/drawingml/2006/main">
            <a:off x="457200" y="333375"/>
            <a:ext cx="8229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00" b="1">
                <a:solidFill>
                  <a:srgbClr val="028090"/>
                </a:solidFill>
                <a:latin typeface="Calibri"/>
                <a:ea typeface="Calibri"/>
                <a:cs typeface="Calibri"/>
              </a:defRPr>
            </a:defPPr>
          </a:lstStyle>
          <a:p xmlns:a="http://schemas.openxmlformats.org/drawingml/2006/main">
            <a:pPr>
              <a:defRPr sz="1100" b="1">
                <a:solidFill>
                  <a:srgbClr val="028090"/>
                </a:solidFill>
                <a:latin typeface="Calibri"/>
                <a:ea typeface="Calibri"/>
                <a:cs typeface="Calibri"/>
              </a:defRPr>
            </a:pPr>
            <a:r>
              <a:rPr sz="1100" b="1">
                <a:solidFill>
                  <a:srgbClr val="028090"/>
                </a:solidFill>
                <a:latin typeface="Calibri"/>
                <a:ea typeface="Calibri"/>
                <a:cs typeface="Calibri"/>
              </a:rPr>
              <a:t>FAILURE MODES</a:t>
            </a:r>
          </a:p>
        </p:txBody>
      </p:sp>
      <p:sp>
        <p:nvSpPr>
          <p:cNvPr id="2" name="">
            <a:extLst xmlns:a="http://schemas.openxmlformats.org/drawingml/2006/main">
              <a:ext uri="{FF2B5EF4-FFF2-40B4-BE49-F238E27FC236}">
                <a16:creationId xmlns:a16="http://schemas.microsoft.com/office/drawing/2014/main" id="{03BB782C-1AD5-4B2F-ADF7-40827389A305}"/>
              </a:ext>
            </a:extLst>
          </p:cNvPr>
          <p:cNvSpPr>
            <a:spLocks xmlns:a="http://schemas.openxmlformats.org/drawingml/2006/main" noGrp="1"/>
          </p:cNvSpPr>
          <p:nvPr/>
        </p:nvSpPr>
        <p:spPr>
          <a:xfrm xmlns:a="http://schemas.openxmlformats.org/drawingml/2006/main">
            <a:off x="457200" y="742950"/>
            <a:ext cx="8229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00" b="1">
                <a:solidFill>
                  <a:srgbClr val="1E293B"/>
                </a:solidFill>
                <a:latin typeface="Cambria"/>
                <a:ea typeface="Cambria"/>
                <a:cs typeface="Cambria"/>
              </a:defRPr>
            </a:defPPr>
          </a:lstStyle>
          <a:p xmlns:a="http://schemas.openxmlformats.org/drawingml/2006/main">
            <a:pPr>
              <a:defRPr sz="2600" b="1">
                <a:solidFill>
                  <a:srgbClr val="1E293B"/>
                </a:solidFill>
                <a:latin typeface="Cambria"/>
                <a:ea typeface="Cambria"/>
                <a:cs typeface="Cambria"/>
              </a:defRPr>
            </a:pPr>
            <a:r>
              <a:rPr sz="2600" b="1">
                <a:solidFill>
                  <a:srgbClr val="1E293B"/>
                </a:solidFill>
                <a:latin typeface="Cambria"/>
                <a:ea typeface="Cambria"/>
                <a:cs typeface="Cambria"/>
              </a:rPr>
              <a:t>Replicate spectra across the split</a:t>
            </a:r>
          </a:p>
        </p:txBody>
      </p:sp>
      <p:sp>
        <p:nvSpPr>
          <p:cNvPr id="3" name="">
            <a:extLst xmlns:a="http://schemas.openxmlformats.org/drawingml/2006/main">
              <a:ext uri="{FF2B5EF4-FFF2-40B4-BE49-F238E27FC236}">
                <a16:creationId xmlns:a16="http://schemas.microsoft.com/office/drawing/2014/main" id="{47A81103-635F-4306-8CA3-B91A34CB362A}"/>
              </a:ext>
            </a:extLst>
          </p:cNvPr>
          <p:cNvSpPr>
            <a:spLocks xmlns:a="http://schemas.openxmlformats.org/drawingml/2006/main" noGrp="1"/>
          </p:cNvSpPr>
          <p:nvPr/>
        </p:nvSpPr>
        <p:spPr>
          <a:xfrm xmlns:a="http://schemas.openxmlformats.org/drawingml/2006/main">
            <a:off x="8620125" y="4848225"/>
            <a:ext cx="238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00" b="0">
                <a:solidFill>
                  <a:srgbClr val="64748B"/>
                </a:solidFill>
                <a:latin typeface="Calibri"/>
                <a:ea typeface="Calibri"/>
                <a:cs typeface="Calibri"/>
              </a:defRPr>
            </a:defPPr>
          </a:lstStyle>
          <a:p xmlns:a="http://schemas.openxmlformats.org/drawingml/2006/main">
            <a:pPr>
              <a:defRPr sz="900" b="0">
                <a:solidFill>
                  <a:srgbClr val="64748B"/>
                </a:solidFill>
                <a:latin typeface="Calibri"/>
                <a:ea typeface="Calibri"/>
                <a:cs typeface="Calibri"/>
              </a:defRPr>
            </a:pPr>
            <a:r>
              <a:rPr sz="900" b="0">
                <a:solidFill>
                  <a:srgbClr val="64748B"/>
                </a:solidFill>
                <a:latin typeface="Calibri"/>
                <a:ea typeface="Calibri"/>
                <a:cs typeface="Calibri"/>
              </a:rPr>
              <a:t>8</a:t>
            </a:r>
          </a:p>
        </p:txBody>
      </p:sp>
      <p:sp>
        <p:nvSpPr>
          <p:cNvPr id="4" name="">
            <a:extLst xmlns:a="http://schemas.openxmlformats.org/drawingml/2006/main">
              <a:ext uri="{FF2B5EF4-FFF2-40B4-BE49-F238E27FC236}">
                <a16:creationId xmlns:a16="http://schemas.microsoft.com/office/drawing/2014/main" id="{BD35C9EF-FDA8-46D0-849D-F9A2C185C834}"/>
              </a:ext>
            </a:extLst>
          </p:cNvPr>
          <p:cNvSpPr>
            <a:spLocks xmlns:a="http://schemas.openxmlformats.org/drawingml/2006/main" noGrp="1"/>
          </p:cNvSpPr>
          <p:nvPr/>
        </p:nvSpPr>
        <p:spPr>
          <a:xfrm xmlns:a="http://schemas.openxmlformats.org/drawingml/2006/main">
            <a:off x="457200" y="1390650"/>
            <a:ext cx="8229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02" b="0">
                <a:solidFill>
                  <a:srgbClr val="1E293B"/>
                </a:solidFill>
                <a:latin typeface="Calibri"/>
                <a:ea typeface="Calibri"/>
                <a:cs typeface="Calibri"/>
              </a:defRPr>
            </a:defPPr>
          </a:lstStyle>
          <a:p xmlns:a="http://schemas.openxmlformats.org/drawingml/2006/main">
            <a:pPr>
              <a:defRPr sz="1702" b="0">
                <a:solidFill>
                  <a:srgbClr val="1E293B"/>
                </a:solidFill>
                <a:latin typeface="Calibri"/>
                <a:ea typeface="Calibri"/>
                <a:cs typeface="Calibri"/>
              </a:defRPr>
            </a:pPr>
            <a:r>
              <a:rPr sz="1702" b="0">
                <a:solidFill>
                  <a:srgbClr val="1E293B"/>
                </a:solidFill>
                <a:latin typeface="Calibri"/>
                <a:ea typeface="Calibri"/>
                <a:cs typeface="Calibri"/>
              </a:rPr>
              <a:t>Task: screen new milk-powder specimens for adulteration using NIR.</a:t>
            </a:r>
          </a:p>
        </p:txBody>
      </p:sp>
      <p:graphicFrame>
        <p:nvGraphicFramePr>
          <p:cNvPr id="5" name="">
            <a:extLst xmlns:a="http://schemas.openxmlformats.org/drawingml/2006/main">
              <a:ext uri="{FF2B5EF4-FFF2-40B4-BE49-F238E27FC236}">
                <a16:creationId xmlns:a16="http://schemas.microsoft.com/office/drawing/2014/main" id="{B3AA2A86-C563-439C-96DD-07ADB9EED573}"/>
              </a:ext>
            </a:extLst>
          </p:cNvPr>
          <p:cNvGraphicFramePr/>
          <p:nvPr/>
        </p:nvGraphicFramePr>
        <p:xfrm>
          <a:off xmlns:a="http://schemas.openxmlformats.org/drawingml/2006/main" x="457200" y="1952625"/>
          <a:ext xmlns:a="http://schemas.openxmlformats.org/drawingml/2006/main" cx="8229600" cy="2152650"/>
        </p:xfrm>
        <a:graphic xmlns:a="http://schemas.openxmlformats.org/drawingml/2006/main">
          <a:graphicData uri="http://schemas.openxmlformats.org/drawingml/2006/table">
            <a:tbl>
              <a:tblPr/>
              <a:tblGrid>
                <a:gridCol w="1809750"/>
                <a:gridCol w="3209925"/>
                <a:gridCol w="3209925"/>
              </a:tblGrid>
              <a:tr h="717550">
                <a:tc>
                  <a:txBody>
                    <a:bodyPr/>
                    <a:lstStyle/>
                    <a:p>
                      <a:r>
                        <a:rPr sz="1598" b="0">
                          <a:solidFill>
                            <a:srgbClr val="FFFFFF"/>
                          </a:solidFill>
                          <a:latin typeface="Calibri"/>
                          <a:ea typeface="Calibri"/>
                          <a:cs typeface="Calibri"/>
                        </a:rPr>
                        <a:t>Split</a:t>
                      </a:r>
                    </a:p>
                  </a:txBody>
                  <a:tcPr marL="114300" marR="114300" marT="57150" marB="57150">
                    <a:solidFill>
                      <a:srgbClr val="028090"/>
                    </a:solidFill>
                  </a:tcPr>
                </a:tc>
                <a:tc>
                  <a:txBody>
                    <a:bodyPr/>
                    <a:lstStyle/>
                    <a:p>
                      <a:r>
                        <a:rPr sz="1598" b="0">
                          <a:solidFill>
                            <a:srgbClr val="FFFFFF"/>
                          </a:solidFill>
                          <a:latin typeface="Calibri"/>
                          <a:ea typeface="Calibri"/>
                          <a:cs typeface="Calibri"/>
                        </a:rPr>
                        <a:t>Training data</a:t>
                      </a:r>
                    </a:p>
                  </a:txBody>
                  <a:tcPr marL="114300" marR="114300" marT="57150" marB="57150">
                    <a:solidFill>
                      <a:srgbClr val="028090"/>
                    </a:solidFill>
                  </a:tcPr>
                </a:tc>
                <a:tc>
                  <a:txBody>
                    <a:bodyPr/>
                    <a:lstStyle/>
                    <a:p>
                      <a:r>
                        <a:rPr sz="1598" b="0">
                          <a:solidFill>
                            <a:srgbClr val="FFFFFF"/>
                          </a:solidFill>
                          <a:latin typeface="Calibri"/>
                          <a:ea typeface="Calibri"/>
                          <a:cs typeface="Calibri"/>
                        </a:rPr>
                        <a:t>Evaluation data</a:t>
                      </a:r>
                    </a:p>
                  </a:txBody>
                  <a:tcPr marL="114300" marR="114300" marT="57150" marB="57150">
                    <a:solidFill>
                      <a:srgbClr val="028090"/>
                    </a:solidFill>
                  </a:tcPr>
                </a:tc>
              </a:tr>
              <a:tr h="717550">
                <a:tc>
                  <a:txBody>
                    <a:bodyPr/>
                    <a:lstStyle/>
                    <a:p>
                      <a:r>
                        <a:rPr sz="1598" b="0">
                          <a:solidFill>
                            <a:srgbClr val="1E293B"/>
                          </a:solidFill>
                          <a:latin typeface="Calibri"/>
                          <a:ea typeface="Calibri"/>
                          <a:cs typeface="Calibri"/>
                        </a:rPr>
                        <a:t>By spectrum</a:t>
                      </a:r>
                    </a:p>
                  </a:txBody>
                  <a:tcPr marL="114300" marR="114300" marT="57150" marB="57150">
                    <a:solidFill>
                      <a:srgbClr val="FFFFFF"/>
                    </a:solidFill>
                  </a:tcPr>
                </a:tc>
                <a:tc>
                  <a:txBody>
                    <a:bodyPr/>
                    <a:lstStyle/>
                    <a:p>
                      <a:r>
                        <a:rPr sz="1598" b="0">
                          <a:solidFill>
                            <a:srgbClr val="1E293B"/>
                          </a:solidFill>
                          <a:latin typeface="Calibri"/>
                          <a:ea typeface="Calibri"/>
                          <a:cs typeface="Calibri"/>
                        </a:rPr>
                        <a:t>Specimen A: scans 1 and 2</a:t>
                      </a:r>
                    </a:p>
                    <a:p>
                      <a:r>
                        <a:rPr sz="1598" b="0">
                          <a:solidFill>
                            <a:srgbClr val="1E293B"/>
                          </a:solidFill>
                          <a:latin typeface="Calibri"/>
                          <a:ea typeface="Calibri"/>
                          <a:cs typeface="Calibri"/>
                        </a:rPr>
                        <a:t>Specimen B: scans 1 and 2</a:t>
                      </a:r>
                    </a:p>
                  </a:txBody>
                  <a:tcPr marL="114300" marR="114300" marT="57150" marB="57150">
                    <a:solidFill>
                      <a:srgbClr val="FFFFFF"/>
                    </a:solidFill>
                  </a:tcPr>
                </a:tc>
                <a:tc>
                  <a:txBody>
                    <a:bodyPr/>
                    <a:lstStyle/>
                    <a:p>
                      <a:r>
                        <a:rPr sz="1598" b="0">
                          <a:solidFill>
                            <a:srgbClr val="1E293B"/>
                          </a:solidFill>
                          <a:latin typeface="Calibri"/>
                          <a:ea typeface="Calibri"/>
                          <a:cs typeface="Calibri"/>
                        </a:rPr>
                        <a:t>Specimen A: scan 3</a:t>
                      </a:r>
                    </a:p>
                    <a:p>
                      <a:r>
                        <a:rPr sz="1598" b="0">
                          <a:solidFill>
                            <a:srgbClr val="1E293B"/>
                          </a:solidFill>
                          <a:latin typeface="Calibri"/>
                          <a:ea typeface="Calibri"/>
                          <a:cs typeface="Calibri"/>
                        </a:rPr>
                        <a:t>Specimen B: scan 3</a:t>
                      </a:r>
                    </a:p>
                  </a:txBody>
                  <a:tcPr marL="114300" marR="114300" marT="57150" marB="57150">
                    <a:solidFill>
                      <a:srgbClr val="FFFFFF"/>
                    </a:solidFill>
                  </a:tcPr>
                </a:tc>
              </a:tr>
              <a:tr h="717550">
                <a:tc>
                  <a:txBody>
                    <a:bodyPr/>
                    <a:lstStyle/>
                    <a:p>
                      <a:r>
                        <a:rPr sz="1598" b="0">
                          <a:solidFill>
                            <a:srgbClr val="1E293B"/>
                          </a:solidFill>
                          <a:latin typeface="Calibri"/>
                          <a:ea typeface="Calibri"/>
                          <a:cs typeface="Calibri"/>
                        </a:rPr>
                        <a:t>By physical</a:t>
                      </a:r>
                    </a:p>
                    <a:p>
                      <a:r>
                        <a:rPr sz="1598" b="0">
                          <a:solidFill>
                            <a:srgbClr val="1E293B"/>
                          </a:solidFill>
                          <a:latin typeface="Calibri"/>
                          <a:ea typeface="Calibri"/>
                          <a:cs typeface="Calibri"/>
                        </a:rPr>
                        <a:t>specimen</a:t>
                      </a:r>
                    </a:p>
                  </a:txBody>
                  <a:tcPr marL="114300" marR="114300" marT="57150" marB="57150">
                    <a:solidFill>
                      <a:srgbClr val="FFFFFF"/>
                    </a:solidFill>
                  </a:tcPr>
                </a:tc>
                <a:tc>
                  <a:txBody>
                    <a:bodyPr/>
                    <a:lstStyle/>
                    <a:p>
                      <a:r>
                        <a:rPr sz="1598" b="0">
                          <a:solidFill>
                            <a:srgbClr val="1E293B"/>
                          </a:solidFill>
                          <a:latin typeface="Calibri"/>
                          <a:ea typeface="Calibri"/>
                          <a:cs typeface="Calibri"/>
                        </a:rPr>
                        <a:t>All scans from specimens A and B</a:t>
                      </a:r>
                    </a:p>
                  </a:txBody>
                  <a:tcPr marL="114300" marR="114300" marT="57150" marB="57150">
                    <a:solidFill>
                      <a:srgbClr val="FFFFFF"/>
                    </a:solidFill>
                  </a:tcPr>
                </a:tc>
                <a:tc>
                  <a:txBody>
                    <a:bodyPr/>
                    <a:lstStyle/>
                    <a:p>
                      <a:r>
                        <a:rPr sz="1598" b="0">
                          <a:solidFill>
                            <a:srgbClr val="1E293B"/>
                          </a:solidFill>
                          <a:latin typeface="Calibri"/>
                          <a:ea typeface="Calibri"/>
                          <a:cs typeface="Calibri"/>
                        </a:rPr>
                        <a:t>All scans from specimens C and D</a:t>
                      </a:r>
                    </a:p>
                  </a:txBody>
                  <a:tcPr marL="114300" marR="114300" marT="57150" marB="5715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4E25227A-3089-4E6C-860A-30114A117EA6}"/>
              </a:ext>
            </a:extLst>
          </p:cNvPr>
          <p:cNvSpPr>
            <a:spLocks xmlns:a="http://schemas.openxmlformats.org/drawingml/2006/main" noGrp="1"/>
          </p:cNvSpPr>
          <p:nvPr/>
        </p:nvSpPr>
        <p:spPr>
          <a:xfrm xmlns:a="http://schemas.openxmlformats.org/drawingml/2006/main">
            <a:off x="457200" y="4572000"/>
            <a:ext cx="8229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00" b="0">
                <a:solidFill>
                  <a:srgbClr val="028090"/>
                </a:solidFill>
                <a:latin typeface="Calibri"/>
                <a:ea typeface="Calibri"/>
                <a:cs typeface="Calibri"/>
              </a:defRPr>
            </a:defPPr>
          </a:lstStyle>
          <a:p xmlns:a="http://schemas.openxmlformats.org/drawingml/2006/main">
            <a:pPr>
              <a:defRPr sz="1400" b="0">
                <a:solidFill>
                  <a:srgbClr val="028090"/>
                </a:solidFill>
                <a:latin typeface="Calibri"/>
                <a:ea typeface="Calibri"/>
                <a:cs typeface="Calibri"/>
              </a:defRPr>
            </a:pPr>
            <a:r>
              <a:rPr sz="1400" b="0">
                <a:solidFill>
                  <a:srgbClr val="028090"/>
                </a:solidFill>
                <a:latin typeface="Calibri"/>
                <a:ea typeface="Calibri"/>
                <a:cs typeface="Calibri"/>
              </a:rPr>
              <a:t>Replicate spectra share information about the same physical specimen.</a:t>
            </a:r>
          </a:p>
        </p:txBody>
      </p:sp>
    </p:spTree>
    <p:extLst>
      <p:ext uri="{BB962C8B-B14F-4D97-AF65-F5344CB8AC3E}">
        <p14:creationId xmlns:p14="http://schemas.microsoft.com/office/powerpoint/2010/main" val="141541403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5777A50-6CB9-49CC-A5E3-332D658824E5}"/>
              </a:ext>
            </a:extLst>
          </p:cNvPr>
          <p:cNvSpPr>
            <a:spLocks xmlns:a="http://schemas.openxmlformats.org/drawingml/2006/main" noGrp="1"/>
          </p:cNvSpPr>
          <p:nvPr/>
        </p:nvSpPr>
        <p:spPr>
          <a:xfrm xmlns:a="http://schemas.openxmlformats.org/drawingml/2006/main">
            <a:off x="457200" y="333375"/>
            <a:ext cx="8229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00" b="1">
                <a:solidFill>
                  <a:srgbClr val="028090"/>
                </a:solidFill>
                <a:latin typeface="Calibri"/>
                <a:ea typeface="Calibri"/>
                <a:cs typeface="Calibri"/>
              </a:defRPr>
            </a:defPPr>
          </a:lstStyle>
          <a:p xmlns:a="http://schemas.openxmlformats.org/drawingml/2006/main">
            <a:pPr>
              <a:defRPr sz="1100" b="1">
                <a:solidFill>
                  <a:srgbClr val="028090"/>
                </a:solidFill>
                <a:latin typeface="Calibri"/>
                <a:ea typeface="Calibri"/>
                <a:cs typeface="Calibri"/>
              </a:defRPr>
            </a:pPr>
            <a:r>
              <a:rPr sz="1100" b="1">
                <a:solidFill>
                  <a:srgbClr val="028090"/>
                </a:solidFill>
                <a:latin typeface="Calibri"/>
                <a:ea typeface="Calibri"/>
                <a:cs typeface="Calibri"/>
              </a:rPr>
              <a:t>FAILURE MODES</a:t>
            </a:r>
          </a:p>
        </p:txBody>
      </p:sp>
      <p:sp>
        <p:nvSpPr>
          <p:cNvPr id="2" name="">
            <a:extLst xmlns:a="http://schemas.openxmlformats.org/drawingml/2006/main">
              <a:ext uri="{FF2B5EF4-FFF2-40B4-BE49-F238E27FC236}">
                <a16:creationId xmlns:a16="http://schemas.microsoft.com/office/drawing/2014/main" id="{C8A3E69E-11ED-4BF5-80B0-E63250469EAF}"/>
              </a:ext>
            </a:extLst>
          </p:cNvPr>
          <p:cNvSpPr>
            <a:spLocks xmlns:a="http://schemas.openxmlformats.org/drawingml/2006/main" noGrp="1"/>
          </p:cNvSpPr>
          <p:nvPr/>
        </p:nvSpPr>
        <p:spPr>
          <a:xfrm xmlns:a="http://schemas.openxmlformats.org/drawingml/2006/main">
            <a:off x="457200" y="742950"/>
            <a:ext cx="8229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00" b="1">
                <a:solidFill>
                  <a:srgbClr val="1E293B"/>
                </a:solidFill>
                <a:latin typeface="Cambria"/>
                <a:ea typeface="Cambria"/>
                <a:cs typeface="Cambria"/>
              </a:defRPr>
            </a:defPPr>
          </a:lstStyle>
          <a:p xmlns:a="http://schemas.openxmlformats.org/drawingml/2006/main">
            <a:pPr>
              <a:defRPr sz="2600" b="1">
                <a:solidFill>
                  <a:srgbClr val="1E293B"/>
                </a:solidFill>
                <a:latin typeface="Cambria"/>
                <a:ea typeface="Cambria"/>
                <a:cs typeface="Cambria"/>
              </a:defRPr>
            </a:pPr>
            <a:r>
              <a:rPr sz="2600" b="1">
                <a:solidFill>
                  <a:srgbClr val="1E293B"/>
                </a:solidFill>
                <a:latin typeface="Cambria"/>
                <a:ea typeface="Cambria"/>
                <a:cs typeface="Cambria"/>
              </a:rPr>
              <a:t>Preparation can leak information</a:t>
            </a:r>
          </a:p>
        </p:txBody>
      </p:sp>
      <p:sp>
        <p:nvSpPr>
          <p:cNvPr id="3" name="">
            <a:extLst xmlns:a="http://schemas.openxmlformats.org/drawingml/2006/main">
              <a:ext uri="{FF2B5EF4-FFF2-40B4-BE49-F238E27FC236}">
                <a16:creationId xmlns:a16="http://schemas.microsoft.com/office/drawing/2014/main" id="{3BE0A608-4F8E-4070-AF4B-5A77ED136D4D}"/>
              </a:ext>
            </a:extLst>
          </p:cNvPr>
          <p:cNvSpPr>
            <a:spLocks xmlns:a="http://schemas.openxmlformats.org/drawingml/2006/main" noGrp="1"/>
          </p:cNvSpPr>
          <p:nvPr/>
        </p:nvSpPr>
        <p:spPr>
          <a:xfrm xmlns:a="http://schemas.openxmlformats.org/drawingml/2006/main">
            <a:off x="8620125" y="4848225"/>
            <a:ext cx="238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00" b="0">
                <a:solidFill>
                  <a:srgbClr val="64748B"/>
                </a:solidFill>
                <a:latin typeface="Calibri"/>
                <a:ea typeface="Calibri"/>
                <a:cs typeface="Calibri"/>
              </a:defRPr>
            </a:defPPr>
          </a:lstStyle>
          <a:p xmlns:a="http://schemas.openxmlformats.org/drawingml/2006/main">
            <a:pPr>
              <a:defRPr sz="900" b="0">
                <a:solidFill>
                  <a:srgbClr val="64748B"/>
                </a:solidFill>
                <a:latin typeface="Calibri"/>
                <a:ea typeface="Calibri"/>
                <a:cs typeface="Calibri"/>
              </a:defRPr>
            </a:pPr>
            <a:r>
              <a:rPr sz="900" b="0">
                <a:solidFill>
                  <a:srgbClr val="64748B"/>
                </a:solidFill>
                <a:latin typeface="Calibri"/>
                <a:ea typeface="Calibri"/>
                <a:cs typeface="Calibri"/>
              </a:rPr>
              <a:t>9</a:t>
            </a:r>
          </a:p>
        </p:txBody>
      </p:sp>
      <p:sp>
        <p:nvSpPr>
          <p:cNvPr id="4" name="">
            <a:extLst xmlns:a="http://schemas.openxmlformats.org/drawingml/2006/main">
              <a:ext uri="{FF2B5EF4-FFF2-40B4-BE49-F238E27FC236}">
                <a16:creationId xmlns:a16="http://schemas.microsoft.com/office/drawing/2014/main" id="{183C4943-3363-4523-A73F-840C6338CEB1}"/>
              </a:ext>
            </a:extLst>
          </p:cNvPr>
          <p:cNvSpPr>
            <a:spLocks xmlns:a="http://schemas.openxmlformats.org/drawingml/2006/main" noGrp="1"/>
          </p:cNvSpPr>
          <p:nvPr/>
        </p:nvSpPr>
        <p:spPr>
          <a:xfrm xmlns:a="http://schemas.openxmlformats.org/drawingml/2006/main">
            <a:off x="457200" y="1390650"/>
            <a:ext cx="8229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02" b="0">
                <a:solidFill>
                  <a:srgbClr val="1E293B"/>
                </a:solidFill>
                <a:latin typeface="Calibri"/>
                <a:ea typeface="Calibri"/>
                <a:cs typeface="Calibri"/>
              </a:defRPr>
            </a:defPPr>
          </a:lstStyle>
          <a:p xmlns:a="http://schemas.openxmlformats.org/drawingml/2006/main">
            <a:pPr>
              <a:defRPr sz="1702" b="0">
                <a:solidFill>
                  <a:srgbClr val="1E293B"/>
                </a:solidFill>
                <a:latin typeface="Calibri"/>
                <a:ea typeface="Calibri"/>
                <a:cs typeface="Calibri"/>
              </a:defRPr>
            </a:pPr>
            <a:r>
              <a:rPr sz="1702" b="0">
                <a:solidFill>
                  <a:srgbClr val="1E293B"/>
                </a:solidFill>
                <a:latin typeface="Calibri"/>
                <a:ea typeface="Calibri"/>
                <a:cs typeface="Calibri"/>
              </a:rPr>
              <a:t>Data preparation can learn from test samples before the model sees them.</a:t>
            </a:r>
          </a:p>
        </p:txBody>
      </p:sp>
      <p:graphicFrame>
        <p:nvGraphicFramePr>
          <p:cNvPr id="5" name="">
            <a:extLst xmlns:a="http://schemas.openxmlformats.org/drawingml/2006/main">
              <a:ext uri="{FF2B5EF4-FFF2-40B4-BE49-F238E27FC236}">
                <a16:creationId xmlns:a16="http://schemas.microsoft.com/office/drawing/2014/main" id="{E643B54F-79A7-4E95-B987-27B7ADF5585D}"/>
              </a:ext>
            </a:extLst>
          </p:cNvPr>
          <p:cNvGraphicFramePr/>
          <p:nvPr/>
        </p:nvGraphicFramePr>
        <p:xfrm>
          <a:off xmlns:a="http://schemas.openxmlformats.org/drawingml/2006/main" x="457200" y="1895475"/>
          <a:ext xmlns:a="http://schemas.openxmlformats.org/drawingml/2006/main" cx="8229600" cy="2324100"/>
        </p:xfrm>
        <a:graphic xmlns:a="http://schemas.openxmlformats.org/drawingml/2006/main">
          <a:graphicData uri="http://schemas.openxmlformats.org/drawingml/2006/table">
            <a:tbl>
              <a:tblPr/>
              <a:tblGrid>
                <a:gridCol w="1638300"/>
                <a:gridCol w="3295650"/>
                <a:gridCol w="3295650"/>
              </a:tblGrid>
              <a:tr h="581025">
                <a:tc>
                  <a:txBody>
                    <a:bodyPr/>
                    <a:lstStyle/>
                    <a:p>
                      <a:r>
                        <a:rPr sz="1448" b="0">
                          <a:solidFill>
                            <a:srgbClr val="FFFFFF"/>
                          </a:solidFill>
                          <a:latin typeface="Calibri"/>
                          <a:ea typeface="Calibri"/>
                          <a:cs typeface="Calibri"/>
                        </a:rPr>
                        <a:t>Step</a:t>
                      </a:r>
                    </a:p>
                  </a:txBody>
                  <a:tcPr marL="114300" marR="114300" marT="57150" marB="57150">
                    <a:solidFill>
                      <a:srgbClr val="028090"/>
                    </a:solidFill>
                  </a:tcPr>
                </a:tc>
                <a:tc>
                  <a:txBody>
                    <a:bodyPr/>
                    <a:lstStyle/>
                    <a:p>
                      <a:r>
                        <a:rPr sz="1448" b="0">
                          <a:solidFill>
                            <a:srgbClr val="FFFFFF"/>
                          </a:solidFill>
                          <a:latin typeface="Calibri"/>
                          <a:ea typeface="Calibri"/>
                          <a:cs typeface="Calibri"/>
                        </a:rPr>
                        <a:t>Leaking approach</a:t>
                      </a:r>
                    </a:p>
                  </a:txBody>
                  <a:tcPr marL="114300" marR="114300" marT="57150" marB="57150">
                    <a:solidFill>
                      <a:srgbClr val="028090"/>
                    </a:solidFill>
                  </a:tcPr>
                </a:tc>
                <a:tc>
                  <a:txBody>
                    <a:bodyPr/>
                    <a:lstStyle/>
                    <a:p>
                      <a:r>
                        <a:rPr sz="1448" b="0">
                          <a:solidFill>
                            <a:srgbClr val="FFFFFF"/>
                          </a:solidFill>
                          <a:latin typeface="Calibri"/>
                          <a:ea typeface="Calibri"/>
                          <a:cs typeface="Calibri"/>
                        </a:rPr>
                        <a:t>Independent check</a:t>
                      </a:r>
                    </a:p>
                  </a:txBody>
                  <a:tcPr marL="114300" marR="114300" marT="57150" marB="57150">
                    <a:solidFill>
                      <a:srgbClr val="028090"/>
                    </a:solidFill>
                  </a:tcPr>
                </a:tc>
              </a:tr>
              <a:tr h="581025">
                <a:tc>
                  <a:txBody>
                    <a:bodyPr/>
                    <a:lstStyle/>
                    <a:p>
                      <a:r>
                        <a:rPr sz="1448" b="0">
                          <a:solidFill>
                            <a:srgbClr val="1E293B"/>
                          </a:solidFill>
                          <a:latin typeface="Calibri"/>
                          <a:ea typeface="Calibri"/>
                          <a:cs typeface="Calibri"/>
                        </a:rPr>
                        <a:t>Choose bands</a:t>
                      </a:r>
                    </a:p>
                  </a:txBody>
                  <a:tcPr marL="114300" marR="114300" marT="57150" marB="57150">
                    <a:solidFill>
                      <a:srgbClr val="FFFFFF"/>
                    </a:solidFill>
                  </a:tcPr>
                </a:tc>
                <a:tc>
                  <a:txBody>
                    <a:bodyPr/>
                    <a:lstStyle/>
                    <a:p>
                      <a:r>
                        <a:rPr sz="1448" b="0">
                          <a:solidFill>
                            <a:srgbClr val="1E293B"/>
                          </a:solidFill>
                          <a:latin typeface="Calibri"/>
                          <a:ea typeface="Calibri"/>
                          <a:cs typeface="Calibri"/>
                        </a:rPr>
                        <a:t>Select bands using targets from the complete dataset.</a:t>
                      </a:r>
                    </a:p>
                  </a:txBody>
                  <a:tcPr marL="114300" marR="114300" marT="57150" marB="57150">
                    <a:solidFill>
                      <a:srgbClr val="FFFFFF"/>
                    </a:solidFill>
                  </a:tcPr>
                </a:tc>
                <a:tc>
                  <a:txBody>
                    <a:bodyPr/>
                    <a:lstStyle/>
                    <a:p>
                      <a:r>
                        <a:rPr sz="1448" b="0">
                          <a:solidFill>
                            <a:srgbClr val="1E293B"/>
                          </a:solidFill>
                          <a:latin typeface="Calibri"/>
                          <a:ea typeface="Calibri"/>
                          <a:cs typeface="Calibri"/>
                        </a:rPr>
                        <a:t>Select bands using training targets.</a:t>
                      </a:r>
                    </a:p>
                  </a:txBody>
                  <a:tcPr marL="114300" marR="114300" marT="57150" marB="57150">
                    <a:solidFill>
                      <a:srgbClr val="FFFFFF"/>
                    </a:solidFill>
                  </a:tcPr>
                </a:tc>
              </a:tr>
              <a:tr h="581025">
                <a:tc>
                  <a:txBody>
                    <a:bodyPr/>
                    <a:lstStyle/>
                    <a:p>
                      <a:r>
                        <a:rPr sz="1448" b="0">
                          <a:solidFill>
                            <a:srgbClr val="1E293B"/>
                          </a:solidFill>
                          <a:latin typeface="Calibri"/>
                          <a:ea typeface="Calibri"/>
                          <a:cs typeface="Calibri"/>
                        </a:rPr>
                        <a:t>Scale features</a:t>
                      </a:r>
                    </a:p>
                  </a:txBody>
                  <a:tcPr marL="114300" marR="114300" marT="57150" marB="57150">
                    <a:solidFill>
                      <a:srgbClr val="FFFFFF"/>
                    </a:solidFill>
                  </a:tcPr>
                </a:tc>
                <a:tc>
                  <a:txBody>
                    <a:bodyPr/>
                    <a:lstStyle/>
                    <a:p>
                      <a:r>
                        <a:rPr sz="1448" b="0">
                          <a:solidFill>
                            <a:srgbClr val="1E293B"/>
                          </a:solidFill>
                          <a:latin typeface="Calibri"/>
                          <a:ea typeface="Calibri"/>
                          <a:cs typeface="Calibri"/>
                        </a:rPr>
                        <a:t>Calculate means and spreads using every sample.</a:t>
                      </a:r>
                    </a:p>
                  </a:txBody>
                  <a:tcPr marL="114300" marR="114300" marT="57150" marB="57150">
                    <a:solidFill>
                      <a:srgbClr val="FFFFFF"/>
                    </a:solidFill>
                  </a:tcPr>
                </a:tc>
                <a:tc>
                  <a:txBody>
                    <a:bodyPr/>
                    <a:lstStyle/>
                    <a:p>
                      <a:r>
                        <a:rPr sz="1448" b="0">
                          <a:solidFill>
                            <a:srgbClr val="1E293B"/>
                          </a:solidFill>
                          <a:latin typeface="Calibri"/>
                          <a:ea typeface="Calibri"/>
                          <a:cs typeface="Calibri"/>
                        </a:rPr>
                        <a:t>Learn from training samples. Apply unchanged to others.</a:t>
                      </a:r>
                    </a:p>
                  </a:txBody>
                  <a:tcPr marL="114300" marR="114300" marT="57150" marB="57150">
                    <a:solidFill>
                      <a:srgbClr val="FFFFFF"/>
                    </a:solidFill>
                  </a:tcPr>
                </a:tc>
              </a:tr>
              <a:tr h="581025">
                <a:tc>
                  <a:txBody>
                    <a:bodyPr/>
                    <a:lstStyle/>
                    <a:p>
                      <a:r>
                        <a:rPr sz="1448" b="0">
                          <a:solidFill>
                            <a:srgbClr val="1E293B"/>
                          </a:solidFill>
                          <a:latin typeface="Calibri"/>
                          <a:ea typeface="Calibri"/>
                          <a:cs typeface="Calibri"/>
                        </a:rPr>
                        <a:t>Fill missing</a:t>
                      </a:r>
                    </a:p>
                    <a:p>
                      <a:r>
                        <a:rPr sz="1448" b="0">
                          <a:solidFill>
                            <a:srgbClr val="1E293B"/>
                          </a:solidFill>
                          <a:latin typeface="Calibri"/>
                          <a:ea typeface="Calibri"/>
                          <a:cs typeface="Calibri"/>
                        </a:rPr>
                        <a:t>signals</a:t>
                      </a:r>
                    </a:p>
                  </a:txBody>
                  <a:tcPr marL="114300" marR="114300" marT="57150" marB="57150">
                    <a:solidFill>
                      <a:srgbClr val="FFFFFF"/>
                    </a:solidFill>
                  </a:tcPr>
                </a:tc>
                <a:tc>
                  <a:txBody>
                    <a:bodyPr/>
                    <a:lstStyle/>
                    <a:p>
                      <a:r>
                        <a:rPr sz="1448" b="0">
                          <a:solidFill>
                            <a:srgbClr val="1E293B"/>
                          </a:solidFill>
                          <a:latin typeface="Calibri"/>
                          <a:ea typeface="Calibri"/>
                          <a:cs typeface="Calibri"/>
                        </a:rPr>
                        <a:t>Use every sample to estimate replacement values.</a:t>
                      </a:r>
                    </a:p>
                  </a:txBody>
                  <a:tcPr marL="114300" marR="114300" marT="57150" marB="57150">
                    <a:solidFill>
                      <a:srgbClr val="FFFFFF"/>
                    </a:solidFill>
                  </a:tcPr>
                </a:tc>
                <a:tc>
                  <a:txBody>
                    <a:bodyPr/>
                    <a:lstStyle/>
                    <a:p>
                      <a:r>
                        <a:rPr sz="1448" b="0">
                          <a:solidFill>
                            <a:srgbClr val="1E293B"/>
                          </a:solidFill>
                          <a:latin typeface="Calibri"/>
                          <a:ea typeface="Calibri"/>
                          <a:cs typeface="Calibri"/>
                        </a:rPr>
                        <a:t>Estimate replacements from training samples.</a:t>
                      </a:r>
                    </a:p>
                  </a:txBody>
                  <a:tcPr marL="114300" marR="114300" marT="57150" marB="5715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E4BDB34A-25E1-4F7F-8503-504FC95EC971}"/>
              </a:ext>
            </a:extLst>
          </p:cNvPr>
          <p:cNvSpPr>
            <a:spLocks xmlns:a="http://schemas.openxmlformats.org/drawingml/2006/main" noGrp="1"/>
          </p:cNvSpPr>
          <p:nvPr/>
        </p:nvSpPr>
        <p:spPr>
          <a:xfrm xmlns:a="http://schemas.openxmlformats.org/drawingml/2006/main">
            <a:off x="457200" y="4572000"/>
            <a:ext cx="8229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00" b="0">
                <a:solidFill>
                  <a:srgbClr val="028090"/>
                </a:solidFill>
                <a:latin typeface="Calibri"/>
                <a:ea typeface="Calibri"/>
                <a:cs typeface="Calibri"/>
              </a:defRPr>
            </a:defPPr>
          </a:lstStyle>
          <a:p xmlns:a="http://schemas.openxmlformats.org/drawingml/2006/main">
            <a:pPr>
              <a:defRPr sz="1400" b="0">
                <a:solidFill>
                  <a:srgbClr val="028090"/>
                </a:solidFill>
                <a:latin typeface="Calibri"/>
                <a:ea typeface="Calibri"/>
                <a:cs typeface="Calibri"/>
              </a:defRPr>
            </a:pPr>
            <a:r>
              <a:rPr sz="1400" b="0">
                <a:solidFill>
                  <a:srgbClr val="028090"/>
                </a:solidFill>
                <a:latin typeface="Calibri"/>
                <a:ea typeface="Calibri"/>
                <a:cs typeface="Calibri"/>
              </a:rPr>
              <a:t>The final test checks the complete, fixed workflow.</a:t>
            </a:r>
          </a:p>
        </p:txBody>
      </p:sp>
    </p:spTree>
    <p:extLst>
      <p:ext uri="{BB962C8B-B14F-4D97-AF65-F5344CB8AC3E}">
        <p14:creationId xmlns:p14="http://schemas.microsoft.com/office/powerpoint/2010/main" val="17960459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98298F8-3C02-4497-B22B-BD1750F72488}"/>
              </a:ext>
            </a:extLst>
          </p:cNvPr>
          <p:cNvSpPr>
            <a:spLocks xmlns:a="http://schemas.openxmlformats.org/drawingml/2006/main" noGrp="1"/>
          </p:cNvSpPr>
          <p:nvPr/>
        </p:nvSpPr>
        <p:spPr>
          <a:xfrm xmlns:a="http://schemas.openxmlformats.org/drawingml/2006/main">
            <a:off x="457200" y="333375"/>
            <a:ext cx="8229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00" b="1">
                <a:solidFill>
                  <a:srgbClr val="028090"/>
                </a:solidFill>
                <a:latin typeface="Calibri"/>
                <a:ea typeface="Calibri"/>
                <a:cs typeface="Calibri"/>
              </a:defRPr>
            </a:defPPr>
          </a:lstStyle>
          <a:p xmlns:a="http://schemas.openxmlformats.org/drawingml/2006/main">
            <a:pPr>
              <a:defRPr sz="1100" b="1">
                <a:solidFill>
                  <a:srgbClr val="028090"/>
                </a:solidFill>
                <a:latin typeface="Calibri"/>
                <a:ea typeface="Calibri"/>
                <a:cs typeface="Calibri"/>
              </a:defRPr>
            </a:pPr>
            <a:r>
              <a:rPr sz="1100" b="1">
                <a:solidFill>
                  <a:srgbClr val="028090"/>
                </a:solidFill>
                <a:latin typeface="Calibri"/>
                <a:ea typeface="Calibri"/>
                <a:cs typeface="Calibri"/>
              </a:rPr>
              <a:t>FAILURE MODES</a:t>
            </a:r>
          </a:p>
        </p:txBody>
      </p:sp>
      <p:sp>
        <p:nvSpPr>
          <p:cNvPr id="2" name="">
            <a:extLst xmlns:a="http://schemas.openxmlformats.org/drawingml/2006/main">
              <a:ext uri="{FF2B5EF4-FFF2-40B4-BE49-F238E27FC236}">
                <a16:creationId xmlns:a16="http://schemas.microsoft.com/office/drawing/2014/main" id="{1EBC9F08-0157-4219-9120-AD9B94F471B9}"/>
              </a:ext>
            </a:extLst>
          </p:cNvPr>
          <p:cNvSpPr>
            <a:spLocks xmlns:a="http://schemas.openxmlformats.org/drawingml/2006/main" noGrp="1"/>
          </p:cNvSpPr>
          <p:nvPr/>
        </p:nvSpPr>
        <p:spPr>
          <a:xfrm xmlns:a="http://schemas.openxmlformats.org/drawingml/2006/main">
            <a:off x="457200" y="742950"/>
            <a:ext cx="8229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00" b="1">
                <a:solidFill>
                  <a:srgbClr val="1E293B"/>
                </a:solidFill>
                <a:latin typeface="Cambria"/>
                <a:ea typeface="Cambria"/>
                <a:cs typeface="Cambria"/>
              </a:defRPr>
            </a:defPPr>
          </a:lstStyle>
          <a:p xmlns:a="http://schemas.openxmlformats.org/drawingml/2006/main">
            <a:pPr>
              <a:defRPr sz="2600" b="1">
                <a:solidFill>
                  <a:srgbClr val="1E293B"/>
                </a:solidFill>
                <a:latin typeface="Cambria"/>
                <a:ea typeface="Cambria"/>
                <a:cs typeface="Cambria"/>
              </a:defRPr>
            </a:pPr>
            <a:r>
              <a:rPr sz="2600" b="1">
                <a:solidFill>
                  <a:srgbClr val="1E293B"/>
                </a:solidFill>
                <a:latin typeface="Cambria"/>
                <a:ea typeface="Cambria"/>
                <a:cs typeface="Cambria"/>
              </a:rPr>
              <a:t>The failure determines the next check</a:t>
            </a:r>
          </a:p>
        </p:txBody>
      </p:sp>
      <p:sp>
        <p:nvSpPr>
          <p:cNvPr id="3" name="">
            <a:extLst xmlns:a="http://schemas.openxmlformats.org/drawingml/2006/main">
              <a:ext uri="{FF2B5EF4-FFF2-40B4-BE49-F238E27FC236}">
                <a16:creationId xmlns:a16="http://schemas.microsoft.com/office/drawing/2014/main" id="{2EDFF6D3-BBDF-4FE5-82C8-E198BC415486}"/>
              </a:ext>
            </a:extLst>
          </p:cNvPr>
          <p:cNvSpPr>
            <a:spLocks xmlns:a="http://schemas.openxmlformats.org/drawingml/2006/main" noGrp="1"/>
          </p:cNvSpPr>
          <p:nvPr/>
        </p:nvSpPr>
        <p:spPr>
          <a:xfrm xmlns:a="http://schemas.openxmlformats.org/drawingml/2006/main">
            <a:off x="8620125" y="4848225"/>
            <a:ext cx="238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00" b="0">
                <a:solidFill>
                  <a:srgbClr val="64748B"/>
                </a:solidFill>
                <a:latin typeface="Calibri"/>
                <a:ea typeface="Calibri"/>
                <a:cs typeface="Calibri"/>
              </a:defRPr>
            </a:defPPr>
          </a:lstStyle>
          <a:p xmlns:a="http://schemas.openxmlformats.org/drawingml/2006/main">
            <a:pPr>
              <a:defRPr sz="900" b="0">
                <a:solidFill>
                  <a:srgbClr val="64748B"/>
                </a:solidFill>
                <a:latin typeface="Calibri"/>
                <a:ea typeface="Calibri"/>
                <a:cs typeface="Calibri"/>
              </a:defRPr>
            </a:pPr>
            <a:r>
              <a:rPr sz="900" b="0">
                <a:solidFill>
                  <a:srgbClr val="64748B"/>
                </a:solidFill>
                <a:latin typeface="Calibri"/>
                <a:ea typeface="Calibri"/>
                <a:cs typeface="Calibri"/>
              </a:rPr>
              <a:t>10</a:t>
            </a:r>
          </a:p>
        </p:txBody>
      </p:sp>
      <p:graphicFrame>
        <p:nvGraphicFramePr>
          <p:cNvPr id="4" name="">
            <a:extLst xmlns:a="http://schemas.openxmlformats.org/drawingml/2006/main">
              <a:ext uri="{FF2B5EF4-FFF2-40B4-BE49-F238E27FC236}">
                <a16:creationId xmlns:a16="http://schemas.microsoft.com/office/drawing/2014/main" id="{C00D6634-C16D-4B37-A620-3AE7180B7F74}"/>
              </a:ext>
            </a:extLst>
          </p:cNvPr>
          <p:cNvGraphicFramePr/>
          <p:nvPr/>
        </p:nvGraphicFramePr>
        <p:xfrm>
          <a:off xmlns:a="http://schemas.openxmlformats.org/drawingml/2006/main" x="457200" y="1381125"/>
          <a:ext xmlns:a="http://schemas.openxmlformats.org/drawingml/2006/main" cx="8229600" cy="3028950"/>
        </p:xfrm>
        <a:graphic xmlns:a="http://schemas.openxmlformats.org/drawingml/2006/main">
          <a:graphicData uri="http://schemas.openxmlformats.org/drawingml/2006/table">
            <a:tbl>
              <a:tblPr/>
              <a:tblGrid>
                <a:gridCol w="1714500"/>
                <a:gridCol w="3143250"/>
                <a:gridCol w="3371850"/>
              </a:tblGrid>
              <a:tr h="504825">
                <a:tc>
                  <a:txBody>
                    <a:bodyPr/>
                    <a:lstStyle/>
                    <a:p>
                      <a:r>
                        <a:rPr sz="1400" b="0">
                          <a:solidFill>
                            <a:srgbClr val="FFFFFF"/>
                          </a:solidFill>
                          <a:latin typeface="Calibri"/>
                          <a:ea typeface="Calibri"/>
                          <a:cs typeface="Calibri"/>
                        </a:rPr>
                        <a:t>Failure mode</a:t>
                      </a:r>
                    </a:p>
                  </a:txBody>
                  <a:tcPr marL="114300" marR="114300" marT="28575" marB="28575">
                    <a:solidFill>
                      <a:srgbClr val="028090"/>
                    </a:solidFill>
                  </a:tcPr>
                </a:tc>
                <a:tc>
                  <a:txBody>
                    <a:bodyPr/>
                    <a:lstStyle/>
                    <a:p>
                      <a:r>
                        <a:rPr sz="1400" b="0">
                          <a:solidFill>
                            <a:srgbClr val="FFFFFF"/>
                          </a:solidFill>
                          <a:latin typeface="Calibri"/>
                          <a:ea typeface="Calibri"/>
                          <a:cs typeface="Calibri"/>
                        </a:rPr>
                        <a:t>Useful evidence</a:t>
                      </a:r>
                    </a:p>
                  </a:txBody>
                  <a:tcPr marL="114300" marR="114300" marT="28575" marB="28575">
                    <a:solidFill>
                      <a:srgbClr val="028090"/>
                    </a:solidFill>
                  </a:tcPr>
                </a:tc>
                <a:tc>
                  <a:txBody>
                    <a:bodyPr/>
                    <a:lstStyle/>
                    <a:p>
                      <a:r>
                        <a:rPr sz="1400" b="0">
                          <a:solidFill>
                            <a:srgbClr val="FFFFFF"/>
                          </a:solidFill>
                          <a:latin typeface="Calibri"/>
                          <a:ea typeface="Calibri"/>
                          <a:cs typeface="Calibri"/>
                        </a:rPr>
                        <a:t>Possible next step</a:t>
                      </a:r>
                    </a:p>
                  </a:txBody>
                  <a:tcPr marL="114300" marR="114300" marT="28575" marB="28575">
                    <a:solidFill>
                      <a:srgbClr val="028090"/>
                    </a:solidFill>
                  </a:tcPr>
                </a:tc>
              </a:tr>
              <a:tr h="504825">
                <a:tc>
                  <a:txBody>
                    <a:bodyPr/>
                    <a:lstStyle/>
                    <a:p>
                      <a:r>
                        <a:rPr sz="1400" b="0">
                          <a:solidFill>
                            <a:srgbClr val="1E293B"/>
                          </a:solidFill>
                          <a:latin typeface="Calibri"/>
                          <a:ea typeface="Calibri"/>
                          <a:cs typeface="Calibri"/>
                        </a:rPr>
                        <a:t>Underfitting</a:t>
                      </a:r>
                    </a:p>
                  </a:txBody>
                  <a:tcPr marL="114300" marR="114300" marT="28575" marB="28575">
                    <a:solidFill>
                      <a:srgbClr val="FFFFFF"/>
                    </a:solidFill>
                  </a:tcPr>
                </a:tc>
                <a:tc>
                  <a:txBody>
                    <a:bodyPr/>
                    <a:lstStyle/>
                    <a:p>
                      <a:r>
                        <a:rPr sz="1400" b="0">
                          <a:solidFill>
                            <a:srgbClr val="1E293B"/>
                          </a:solidFill>
                          <a:latin typeface="Calibri"/>
                          <a:ea typeface="Calibri"/>
                          <a:cs typeface="Calibri"/>
                        </a:rPr>
                        <a:t>The model misses training structure.</a:t>
                      </a:r>
                    </a:p>
                  </a:txBody>
                  <a:tcPr marL="114300" marR="114300" marT="28575" marB="28575">
                    <a:solidFill>
                      <a:srgbClr val="FFFFFF"/>
                    </a:solidFill>
                  </a:tcPr>
                </a:tc>
                <a:tc>
                  <a:txBody>
                    <a:bodyPr/>
                    <a:lstStyle/>
                    <a:p>
                      <a:r>
                        <a:rPr sz="1400" b="0">
                          <a:solidFill>
                            <a:srgbClr val="1E293B"/>
                          </a:solidFill>
                          <a:latin typeface="Calibri"/>
                          <a:ea typeface="Calibri"/>
                          <a:cs typeface="Calibri"/>
                        </a:rPr>
                        <a:t>Try a suitable model or informative inputs.</a:t>
                      </a:r>
                    </a:p>
                  </a:txBody>
                  <a:tcPr marL="114300" marR="114300" marT="28575" marB="28575">
                    <a:solidFill>
                      <a:srgbClr val="FFFFFF"/>
                    </a:solidFill>
                  </a:tcPr>
                </a:tc>
              </a:tr>
              <a:tr h="504825">
                <a:tc>
                  <a:txBody>
                    <a:bodyPr/>
                    <a:lstStyle/>
                    <a:p>
                      <a:r>
                        <a:rPr sz="1400" b="0">
                          <a:solidFill>
                            <a:srgbClr val="1E293B"/>
                          </a:solidFill>
                          <a:latin typeface="Calibri"/>
                          <a:ea typeface="Calibri"/>
                          <a:cs typeface="Calibri"/>
                        </a:rPr>
                        <a:t>Overfitting</a:t>
                      </a:r>
                    </a:p>
                  </a:txBody>
                  <a:tcPr marL="114300" marR="114300" marT="28575" marB="28575">
                    <a:solidFill>
                      <a:srgbClr val="FFFFFF"/>
                    </a:solidFill>
                  </a:tcPr>
                </a:tc>
                <a:tc>
                  <a:txBody>
                    <a:bodyPr/>
                    <a:lstStyle/>
                    <a:p>
                      <a:r>
                        <a:rPr sz="1400" b="0">
                          <a:solidFill>
                            <a:srgbClr val="1E293B"/>
                          </a:solidFill>
                          <a:latin typeface="Calibri"/>
                          <a:ea typeface="Calibri"/>
                          <a:cs typeface="Calibri"/>
                        </a:rPr>
                        <a:t>Training improves much more than validation.</a:t>
                      </a:r>
                    </a:p>
                  </a:txBody>
                  <a:tcPr marL="114300" marR="114300" marT="28575" marB="28575">
                    <a:solidFill>
                      <a:srgbClr val="FFFFFF"/>
                    </a:solidFill>
                  </a:tcPr>
                </a:tc>
                <a:tc>
                  <a:txBody>
                    <a:bodyPr/>
                    <a:lstStyle/>
                    <a:p>
                      <a:r>
                        <a:rPr sz="1400" b="0">
                          <a:solidFill>
                            <a:srgbClr val="1E293B"/>
                          </a:solidFill>
                          <a:latin typeface="Calibri"/>
                          <a:ea typeface="Calibri"/>
                          <a:cs typeface="Calibri"/>
                        </a:rPr>
                        <a:t>Choose model flexibility with validation.</a:t>
                      </a:r>
                    </a:p>
                  </a:txBody>
                  <a:tcPr marL="114300" marR="114300" marT="28575" marB="28575">
                    <a:solidFill>
                      <a:srgbClr val="FFFFFF"/>
                    </a:solidFill>
                  </a:tcPr>
                </a:tc>
              </a:tr>
              <a:tr h="504825">
                <a:tc>
                  <a:txBody>
                    <a:bodyPr/>
                    <a:lstStyle/>
                    <a:p>
                      <a:r>
                        <a:rPr sz="1400" b="0">
                          <a:solidFill>
                            <a:srgbClr val="1E293B"/>
                          </a:solidFill>
                          <a:latin typeface="Calibri"/>
                          <a:ea typeface="Calibri"/>
                          <a:cs typeface="Calibri"/>
                        </a:rPr>
                        <a:t>Bias in the data</a:t>
                      </a:r>
                    </a:p>
                  </a:txBody>
                  <a:tcPr marL="114300" marR="114300" marT="28575" marB="28575">
                    <a:solidFill>
                      <a:srgbClr val="FFFFFF"/>
                    </a:solidFill>
                  </a:tcPr>
                </a:tc>
                <a:tc>
                  <a:txBody>
                    <a:bodyPr/>
                    <a:lstStyle/>
                    <a:p>
                      <a:r>
                        <a:rPr sz="1400" b="0">
                          <a:solidFill>
                            <a:srgbClr val="1E293B"/>
                          </a:solidFill>
                          <a:latin typeface="Calibri"/>
                          <a:ea typeface="Calibri"/>
                          <a:cs typeface="Calibri"/>
                        </a:rPr>
                        <a:t>Errors differ across sample groups.</a:t>
                      </a:r>
                    </a:p>
                  </a:txBody>
                  <a:tcPr marL="114300" marR="114300" marT="28575" marB="28575">
                    <a:solidFill>
                      <a:srgbClr val="FFFFFF"/>
                    </a:solidFill>
                  </a:tcPr>
                </a:tc>
                <a:tc>
                  <a:txBody>
                    <a:bodyPr/>
                    <a:lstStyle/>
                    <a:p>
                      <a:r>
                        <a:rPr sz="1400" b="0">
                          <a:solidFill>
                            <a:srgbClr val="1E293B"/>
                          </a:solidFill>
                          <a:latin typeface="Calibri"/>
                          <a:ea typeface="Calibri"/>
                          <a:cs typeface="Calibri"/>
                        </a:rPr>
                        <a:t>Check sampling and fill coverage gaps.</a:t>
                      </a:r>
                    </a:p>
                  </a:txBody>
                  <a:tcPr marL="114300" marR="114300" marT="28575" marB="28575">
                    <a:solidFill>
                      <a:srgbClr val="FFFFFF"/>
                    </a:solidFill>
                  </a:tcPr>
                </a:tc>
              </a:tr>
              <a:tr h="504825">
                <a:tc>
                  <a:txBody>
                    <a:bodyPr/>
                    <a:lstStyle/>
                    <a:p>
                      <a:r>
                        <a:rPr sz="1400" b="0">
                          <a:solidFill>
                            <a:srgbClr val="1E293B"/>
                          </a:solidFill>
                          <a:latin typeface="Calibri"/>
                          <a:ea typeface="Calibri"/>
                          <a:cs typeface="Calibri"/>
                        </a:rPr>
                        <a:t>Out of</a:t>
                      </a:r>
                    </a:p>
                    <a:p>
                      <a:r>
                        <a:rPr sz="1400" b="0">
                          <a:solidFill>
                            <a:srgbClr val="1E293B"/>
                          </a:solidFill>
                          <a:latin typeface="Calibri"/>
                          <a:ea typeface="Calibri"/>
                          <a:cs typeface="Calibri"/>
                        </a:rPr>
                        <a:t>distribution</a:t>
                      </a:r>
                    </a:p>
                  </a:txBody>
                  <a:tcPr marL="114300" marR="114300" marT="28575" marB="28575">
                    <a:solidFill>
                      <a:srgbClr val="FFFFFF"/>
                    </a:solidFill>
                  </a:tcPr>
                </a:tc>
                <a:tc>
                  <a:txBody>
                    <a:bodyPr/>
                    <a:lstStyle/>
                    <a:p>
                      <a:r>
                        <a:rPr sz="1400" b="0">
                          <a:solidFill>
                            <a:srgbClr val="1E293B"/>
                          </a:solidFill>
                          <a:latin typeface="Calibri"/>
                          <a:ea typeface="Calibri"/>
                          <a:cs typeface="Calibri"/>
                        </a:rPr>
                        <a:t>New conditions differ from those studied.</a:t>
                      </a:r>
                    </a:p>
                  </a:txBody>
                  <a:tcPr marL="114300" marR="114300" marT="28575" marB="28575">
                    <a:solidFill>
                      <a:srgbClr val="FFFFFF"/>
                    </a:solidFill>
                  </a:tcPr>
                </a:tc>
                <a:tc>
                  <a:txBody>
                    <a:bodyPr/>
                    <a:lstStyle/>
                    <a:p>
                      <a:r>
                        <a:rPr sz="1400" b="0">
                          <a:solidFill>
                            <a:srgbClr val="1E293B"/>
                          </a:solidFill>
                          <a:latin typeface="Calibri"/>
                          <a:ea typeface="Calibri"/>
                          <a:cs typeface="Calibri"/>
                        </a:rPr>
                        <a:t>Validate under the new conditions.</a:t>
                      </a:r>
                    </a:p>
                  </a:txBody>
                  <a:tcPr marL="114300" marR="114300" marT="28575" marB="28575">
                    <a:solidFill>
                      <a:srgbClr val="FFFFFF"/>
                    </a:solidFill>
                  </a:tcPr>
                </a:tc>
              </a:tr>
              <a:tr h="504825">
                <a:tc>
                  <a:txBody>
                    <a:bodyPr/>
                    <a:lstStyle/>
                    <a:p>
                      <a:r>
                        <a:rPr sz="1400" b="0">
                          <a:solidFill>
                            <a:srgbClr val="1E293B"/>
                          </a:solidFill>
                          <a:latin typeface="Calibri"/>
                          <a:ea typeface="Calibri"/>
                          <a:cs typeface="Calibri"/>
                        </a:rPr>
                        <a:t>Information</a:t>
                      </a:r>
                    </a:p>
                    <a:p>
                      <a:r>
                        <a:rPr sz="1400" b="0">
                          <a:solidFill>
                            <a:srgbClr val="1E293B"/>
                          </a:solidFill>
                          <a:latin typeface="Calibri"/>
                          <a:ea typeface="Calibri"/>
                          <a:cs typeface="Calibri"/>
                        </a:rPr>
                        <a:t>leakage</a:t>
                      </a:r>
                    </a:p>
                  </a:txBody>
                  <a:tcPr marL="114300" marR="114300" marT="28575" marB="28575">
                    <a:solidFill>
                      <a:srgbClr val="FFFFFF"/>
                    </a:solidFill>
                  </a:tcPr>
                </a:tc>
                <a:tc>
                  <a:txBody>
                    <a:bodyPr/>
                    <a:lstStyle/>
                    <a:p>
                      <a:r>
                        <a:rPr sz="1400" b="0">
                          <a:solidFill>
                            <a:srgbClr val="1E293B"/>
                          </a:solidFill>
                          <a:latin typeface="Calibri"/>
                          <a:ea typeface="Calibri"/>
                          <a:cs typeface="Calibri"/>
                        </a:rPr>
                        <a:t>Training and test information overlap.</a:t>
                      </a:r>
                    </a:p>
                  </a:txBody>
                  <a:tcPr marL="114300" marR="114300" marT="28575" marB="28575">
                    <a:solidFill>
                      <a:srgbClr val="FFFFFF"/>
                    </a:solidFill>
                  </a:tcPr>
                </a:tc>
                <a:tc>
                  <a:txBody>
                    <a:bodyPr/>
                    <a:lstStyle/>
                    <a:p>
                      <a:r>
                        <a:rPr sz="1400" b="0">
                          <a:solidFill>
                            <a:srgbClr val="1E293B"/>
                          </a:solidFill>
                          <a:latin typeface="Calibri"/>
                          <a:ea typeface="Calibri"/>
                          <a:cs typeface="Calibri"/>
                        </a:rPr>
                        <a:t>Rebuild and evaluate with independent data.</a:t>
                      </a:r>
                    </a:p>
                  </a:txBody>
                  <a:tcPr marL="114300" marR="114300" marT="28575" marB="28575">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F205CC9D-A9DA-4452-9334-24636D94879A}"/>
              </a:ext>
            </a:extLst>
          </p:cNvPr>
          <p:cNvSpPr>
            <a:spLocks xmlns:a="http://schemas.openxmlformats.org/drawingml/2006/main" noGrp="1"/>
          </p:cNvSpPr>
          <p:nvPr/>
        </p:nvSpPr>
        <p:spPr>
          <a:xfrm xmlns:a="http://schemas.openxmlformats.org/drawingml/2006/main">
            <a:off x="457200" y="4714875"/>
            <a:ext cx="8229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00" b="0">
                <a:solidFill>
                  <a:srgbClr val="028090"/>
                </a:solidFill>
                <a:latin typeface="Calibri"/>
                <a:ea typeface="Calibri"/>
                <a:cs typeface="Calibri"/>
              </a:defRPr>
            </a:defPPr>
          </a:lstStyle>
          <a:p xmlns:a="http://schemas.openxmlformats.org/drawingml/2006/main">
            <a:pPr>
              <a:defRPr sz="1400" b="0">
                <a:solidFill>
                  <a:srgbClr val="028090"/>
                </a:solidFill>
                <a:latin typeface="Calibri"/>
                <a:ea typeface="Calibri"/>
                <a:cs typeface="Calibri"/>
              </a:defRPr>
            </a:pPr>
            <a:r>
              <a:rPr sz="1400" b="0">
                <a:solidFill>
                  <a:srgbClr val="028090"/>
                </a:solidFill>
                <a:latin typeface="Calibri"/>
                <a:ea typeface="Calibri"/>
                <a:cs typeface="Calibri"/>
              </a:rPr>
              <a:t>The same symptoms can have different causes.</a:t>
            </a:r>
          </a:p>
        </p:txBody>
      </p:sp>
    </p:spTree>
    <p:extLst>
      <p:ext uri="{BB962C8B-B14F-4D97-AF65-F5344CB8AC3E}">
        <p14:creationId xmlns:p14="http://schemas.microsoft.com/office/powerpoint/2010/main" val="144865742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F869971-4638-4FD6-952C-9D4795DE65E4}"/>
              </a:ext>
            </a:extLst>
          </p:cNvPr>
          <p:cNvSpPr>
            <a:spLocks xmlns:a="http://schemas.openxmlformats.org/drawingml/2006/main" noGrp="1"/>
          </p:cNvSpPr>
          <p:nvPr/>
        </p:nvSpPr>
        <p:spPr>
          <a:xfrm xmlns:a="http://schemas.openxmlformats.org/drawingml/2006/main">
            <a:off x="457200" y="333375"/>
            <a:ext cx="8229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00" b="1">
                <a:solidFill>
                  <a:srgbClr val="028090"/>
                </a:solidFill>
                <a:latin typeface="Calibri"/>
                <a:ea typeface="Calibri"/>
                <a:cs typeface="Calibri"/>
              </a:defRPr>
            </a:defPPr>
          </a:lstStyle>
          <a:p xmlns:a="http://schemas.openxmlformats.org/drawingml/2006/main">
            <a:pPr>
              <a:defRPr sz="1100" b="1">
                <a:solidFill>
                  <a:srgbClr val="028090"/>
                </a:solidFill>
                <a:latin typeface="Calibri"/>
                <a:ea typeface="Calibri"/>
                <a:cs typeface="Calibri"/>
              </a:defRPr>
            </a:pPr>
            <a:r>
              <a:rPr sz="1100" b="1">
                <a:solidFill>
                  <a:srgbClr val="028090"/>
                </a:solidFill>
                <a:latin typeface="Calibri"/>
                <a:ea typeface="Calibri"/>
                <a:cs typeface="Calibri"/>
              </a:rPr>
              <a:t>FAILURE MODES</a:t>
            </a:r>
          </a:p>
        </p:txBody>
      </p:sp>
      <p:sp>
        <p:nvSpPr>
          <p:cNvPr id="2" name="">
            <a:extLst xmlns:a="http://schemas.openxmlformats.org/drawingml/2006/main">
              <a:ext uri="{FF2B5EF4-FFF2-40B4-BE49-F238E27FC236}">
                <a16:creationId xmlns:a16="http://schemas.microsoft.com/office/drawing/2014/main" id="{94E80509-2AFA-49B3-A4BF-EA54C47508F1}"/>
              </a:ext>
            </a:extLst>
          </p:cNvPr>
          <p:cNvSpPr>
            <a:spLocks xmlns:a="http://schemas.openxmlformats.org/drawingml/2006/main" noGrp="1"/>
          </p:cNvSpPr>
          <p:nvPr/>
        </p:nvSpPr>
        <p:spPr>
          <a:xfrm xmlns:a="http://schemas.openxmlformats.org/drawingml/2006/main">
            <a:off x="457200" y="742950"/>
            <a:ext cx="8229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00" b="1">
                <a:solidFill>
                  <a:srgbClr val="1E293B"/>
                </a:solidFill>
                <a:latin typeface="Cambria"/>
                <a:ea typeface="Cambria"/>
                <a:cs typeface="Cambria"/>
              </a:defRPr>
            </a:defPPr>
          </a:lstStyle>
          <a:p xmlns:a="http://schemas.openxmlformats.org/drawingml/2006/main">
            <a:pPr>
              <a:defRPr sz="2600" b="1">
                <a:solidFill>
                  <a:srgbClr val="1E293B"/>
                </a:solidFill>
                <a:latin typeface="Cambria"/>
                <a:ea typeface="Cambria"/>
                <a:cs typeface="Cambria"/>
              </a:defRPr>
            </a:pPr>
            <a:r>
              <a:rPr sz="2600" b="1">
                <a:solidFill>
                  <a:srgbClr val="1E293B"/>
                </a:solidFill>
                <a:latin typeface="Cambria"/>
                <a:ea typeface="Cambria"/>
                <a:cs typeface="Cambria"/>
              </a:rPr>
              <a:t>Five short cases</a:t>
            </a:r>
          </a:p>
        </p:txBody>
      </p:sp>
      <p:sp>
        <p:nvSpPr>
          <p:cNvPr id="3" name="">
            <a:extLst xmlns:a="http://schemas.openxmlformats.org/drawingml/2006/main">
              <a:ext uri="{FF2B5EF4-FFF2-40B4-BE49-F238E27FC236}">
                <a16:creationId xmlns:a16="http://schemas.microsoft.com/office/drawing/2014/main" id="{E0AF4C90-C79D-4D87-95A3-6292E06E0F9F}"/>
              </a:ext>
            </a:extLst>
          </p:cNvPr>
          <p:cNvSpPr>
            <a:spLocks xmlns:a="http://schemas.openxmlformats.org/drawingml/2006/main" noGrp="1"/>
          </p:cNvSpPr>
          <p:nvPr/>
        </p:nvSpPr>
        <p:spPr>
          <a:xfrm xmlns:a="http://schemas.openxmlformats.org/drawingml/2006/main">
            <a:off x="8620125" y="4848225"/>
            <a:ext cx="238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00" b="0">
                <a:solidFill>
                  <a:srgbClr val="64748B"/>
                </a:solidFill>
                <a:latin typeface="Calibri"/>
                <a:ea typeface="Calibri"/>
                <a:cs typeface="Calibri"/>
              </a:defRPr>
            </a:defPPr>
          </a:lstStyle>
          <a:p xmlns:a="http://schemas.openxmlformats.org/drawingml/2006/main">
            <a:pPr>
              <a:defRPr sz="900" b="0">
                <a:solidFill>
                  <a:srgbClr val="64748B"/>
                </a:solidFill>
                <a:latin typeface="Calibri"/>
                <a:ea typeface="Calibri"/>
                <a:cs typeface="Calibri"/>
              </a:defRPr>
            </a:pPr>
            <a:r>
              <a:rPr sz="900" b="0">
                <a:solidFill>
                  <a:srgbClr val="64748B"/>
                </a:solidFill>
                <a:latin typeface="Calibri"/>
                <a:ea typeface="Calibri"/>
                <a:cs typeface="Calibri"/>
              </a:rPr>
              <a:t>11</a:t>
            </a:r>
          </a:p>
        </p:txBody>
      </p:sp>
      <p:sp>
        <p:nvSpPr>
          <p:cNvPr id="4" name="">
            <a:extLst xmlns:a="http://schemas.openxmlformats.org/drawingml/2006/main">
              <a:ext uri="{FF2B5EF4-FFF2-40B4-BE49-F238E27FC236}">
                <a16:creationId xmlns:a16="http://schemas.microsoft.com/office/drawing/2014/main" id="{8DCA6550-208E-4EF6-824F-E4700CE76BB6}"/>
              </a:ext>
            </a:extLst>
          </p:cNvPr>
          <p:cNvSpPr>
            <a:spLocks xmlns:a="http://schemas.openxmlformats.org/drawingml/2006/main" noGrp="1"/>
          </p:cNvSpPr>
          <p:nvPr/>
        </p:nvSpPr>
        <p:spPr>
          <a:xfrm xmlns:a="http://schemas.openxmlformats.org/drawingml/2006/main">
            <a:off x="457200" y="1428750"/>
            <a:ext cx="8229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02" b="0">
                <a:solidFill>
                  <a:srgbClr val="1E293B"/>
                </a:solidFill>
                <a:latin typeface="Calibri"/>
                <a:ea typeface="Calibri"/>
                <a:cs typeface="Calibri"/>
              </a:defRPr>
            </a:defPPr>
          </a:lstStyle>
          <a:p xmlns:a="http://schemas.openxmlformats.org/drawingml/2006/main">
            <a:pPr>
              <a:defRPr sz="1702" b="0">
                <a:solidFill>
                  <a:srgbClr val="1E293B"/>
                </a:solidFill>
                <a:latin typeface="Calibri"/>
                <a:ea typeface="Calibri"/>
                <a:cs typeface="Calibri"/>
              </a:defRPr>
            </a:pPr>
            <a:r>
              <a:rPr sz="1702" b="0">
                <a:solidFill>
                  <a:srgbClr val="1E293B"/>
                </a:solidFill>
                <a:latin typeface="Calibri"/>
                <a:ea typeface="Calibri"/>
                <a:cs typeface="Calibri"/>
              </a:rPr>
              <a:t>1. A straight calibration line misses a consistent bend, even for its training standards.</a:t>
            </a:r>
          </a:p>
        </p:txBody>
      </p:sp>
      <p:sp>
        <p:nvSpPr>
          <p:cNvPr id="5" name="">
            <a:extLst xmlns:a="http://schemas.openxmlformats.org/drawingml/2006/main">
              <a:ext uri="{FF2B5EF4-FFF2-40B4-BE49-F238E27FC236}">
                <a16:creationId xmlns:a16="http://schemas.microsoft.com/office/drawing/2014/main" id="{CCBF14A8-E5EA-4127-9C54-3F7AD2DE4F5D}"/>
              </a:ext>
            </a:extLst>
          </p:cNvPr>
          <p:cNvSpPr>
            <a:spLocks xmlns:a="http://schemas.openxmlformats.org/drawingml/2006/main" noGrp="1"/>
          </p:cNvSpPr>
          <p:nvPr/>
        </p:nvSpPr>
        <p:spPr>
          <a:xfrm xmlns:a="http://schemas.openxmlformats.org/drawingml/2006/main">
            <a:off x="457200" y="2000250"/>
            <a:ext cx="8229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02" b="0">
                <a:solidFill>
                  <a:srgbClr val="1E293B"/>
                </a:solidFill>
                <a:latin typeface="Calibri"/>
                <a:ea typeface="Calibri"/>
                <a:cs typeface="Calibri"/>
              </a:defRPr>
            </a:defPPr>
          </a:lstStyle>
          <a:p xmlns:a="http://schemas.openxmlformats.org/drawingml/2006/main">
            <a:pPr>
              <a:defRPr sz="1702" b="0">
                <a:solidFill>
                  <a:srgbClr val="1E293B"/>
                </a:solidFill>
                <a:latin typeface="Calibri"/>
                <a:ea typeface="Calibri"/>
                <a:cs typeface="Calibri"/>
              </a:defRPr>
            </a:pPr>
            <a:r>
              <a:rPr sz="1702" b="0">
                <a:solidFill>
                  <a:srgbClr val="1E293B"/>
                </a:solidFill>
                <a:latin typeface="Calibri"/>
                <a:ea typeface="Calibri"/>
                <a:cs typeface="Calibri"/>
              </a:rPr>
              <a:t>2. A flexible calibration curve fits every standard but predicts new standards less well.</a:t>
            </a:r>
          </a:p>
        </p:txBody>
      </p:sp>
      <p:sp>
        <p:nvSpPr>
          <p:cNvPr id="6" name="">
            <a:extLst xmlns:a="http://schemas.openxmlformats.org/drawingml/2006/main">
              <a:ext uri="{FF2B5EF4-FFF2-40B4-BE49-F238E27FC236}">
                <a16:creationId xmlns:a16="http://schemas.microsoft.com/office/drawing/2014/main" id="{25F2D47F-8846-44E1-AFB3-892F62A04E1B}"/>
              </a:ext>
            </a:extLst>
          </p:cNvPr>
          <p:cNvSpPr>
            <a:spLocks xmlns:a="http://schemas.openxmlformats.org/drawingml/2006/main" noGrp="1"/>
          </p:cNvSpPr>
          <p:nvPr/>
        </p:nvSpPr>
        <p:spPr>
          <a:xfrm xmlns:a="http://schemas.openxmlformats.org/drawingml/2006/main">
            <a:off x="457200" y="2571750"/>
            <a:ext cx="8229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02" b="0">
                <a:solidFill>
                  <a:srgbClr val="1E293B"/>
                </a:solidFill>
                <a:latin typeface="Calibri"/>
                <a:ea typeface="Calibri"/>
                <a:cs typeface="Calibri"/>
              </a:defRPr>
            </a:defPPr>
          </a:lstStyle>
          <a:p xmlns:a="http://schemas.openxmlformats.org/drawingml/2006/main">
            <a:pPr>
              <a:defRPr sz="1702" b="0">
                <a:solidFill>
                  <a:srgbClr val="1E293B"/>
                </a:solidFill>
                <a:latin typeface="Calibri"/>
                <a:ea typeface="Calibri"/>
                <a:cs typeface="Calibri"/>
              </a:defRPr>
            </a:pPr>
            <a:r>
              <a:rPr sz="1702" b="0">
                <a:solidFill>
                  <a:srgbClr val="1E293B"/>
                </a:solidFill>
                <a:latin typeface="Calibri"/>
                <a:ea typeface="Calibri"/>
                <a:cs typeface="Calibri"/>
              </a:rPr>
              <a:t>3. Overall accuracy looks good, but samples from one water matrix perform much worse.</a:t>
            </a:r>
          </a:p>
        </p:txBody>
      </p:sp>
      <p:sp>
        <p:nvSpPr>
          <p:cNvPr id="7" name="">
            <a:extLst xmlns:a="http://schemas.openxmlformats.org/drawingml/2006/main">
              <a:ext uri="{FF2B5EF4-FFF2-40B4-BE49-F238E27FC236}">
                <a16:creationId xmlns:a16="http://schemas.microsoft.com/office/drawing/2014/main" id="{8178450F-2F3C-4DC5-9DC2-A232AF813DE4}"/>
              </a:ext>
            </a:extLst>
          </p:cNvPr>
          <p:cNvSpPr>
            <a:spLocks xmlns:a="http://schemas.openxmlformats.org/drawingml/2006/main" noGrp="1"/>
          </p:cNvSpPr>
          <p:nvPr/>
        </p:nvSpPr>
        <p:spPr>
          <a:xfrm xmlns:a="http://schemas.openxmlformats.org/drawingml/2006/main">
            <a:off x="457200" y="3143250"/>
            <a:ext cx="8229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02" b="0">
                <a:solidFill>
                  <a:srgbClr val="1E293B"/>
                </a:solidFill>
                <a:latin typeface="Calibri"/>
                <a:ea typeface="Calibri"/>
                <a:cs typeface="Calibri"/>
              </a:defRPr>
            </a:defPPr>
          </a:lstStyle>
          <a:p xmlns:a="http://schemas.openxmlformats.org/drawingml/2006/main">
            <a:pPr>
              <a:defRPr sz="1702" b="0">
                <a:solidFill>
                  <a:srgbClr val="1E293B"/>
                </a:solidFill>
                <a:latin typeface="Calibri"/>
                <a:ea typeface="Calibri"/>
                <a:cs typeface="Calibri"/>
              </a:defRPr>
            </a:pPr>
            <a:r>
              <a:rPr sz="1702" b="0">
                <a:solidFill>
                  <a:srgbClr val="1E293B"/>
                </a:solidFill>
                <a:latin typeface="Calibri"/>
                <a:ea typeface="Calibri"/>
                <a:cs typeface="Calibri"/>
              </a:rPr>
              <a:t>4. A calibration model predicts samples at concentrations beyond the range studied.</a:t>
            </a:r>
          </a:p>
        </p:txBody>
      </p:sp>
      <p:sp>
        <p:nvSpPr>
          <p:cNvPr id="8" name="">
            <a:extLst xmlns:a="http://schemas.openxmlformats.org/drawingml/2006/main">
              <a:ext uri="{FF2B5EF4-FFF2-40B4-BE49-F238E27FC236}">
                <a16:creationId xmlns:a16="http://schemas.microsoft.com/office/drawing/2014/main" id="{D2E9C684-1E70-417A-AFC5-49E83E7305AF}"/>
              </a:ext>
            </a:extLst>
          </p:cNvPr>
          <p:cNvSpPr>
            <a:spLocks xmlns:a="http://schemas.openxmlformats.org/drawingml/2006/main" noGrp="1"/>
          </p:cNvSpPr>
          <p:nvPr/>
        </p:nvSpPr>
        <p:spPr>
          <a:xfrm xmlns:a="http://schemas.openxmlformats.org/drawingml/2006/main">
            <a:off x="457200" y="3714750"/>
            <a:ext cx="8229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02" b="0">
                <a:solidFill>
                  <a:srgbClr val="1E293B"/>
                </a:solidFill>
                <a:latin typeface="Calibri"/>
                <a:ea typeface="Calibri"/>
                <a:cs typeface="Calibri"/>
              </a:defRPr>
            </a:defPPr>
          </a:lstStyle>
          <a:p xmlns:a="http://schemas.openxmlformats.org/drawingml/2006/main">
            <a:pPr>
              <a:defRPr sz="1702" b="0">
                <a:solidFill>
                  <a:srgbClr val="1E293B"/>
                </a:solidFill>
                <a:latin typeface="Calibri"/>
                <a:ea typeface="Calibri"/>
                <a:cs typeface="Calibri"/>
              </a:defRPr>
            </a:pPr>
            <a:r>
              <a:rPr sz="1702" b="0">
                <a:solidFill>
                  <a:srgbClr val="1E293B"/>
                </a:solidFill>
                <a:latin typeface="Calibri"/>
                <a:ea typeface="Calibri"/>
                <a:cs typeface="Calibri"/>
              </a:rPr>
              <a:t>5. A model trains on milk specimens A, B and C. Its reported test uses specimen B.</a:t>
            </a:r>
          </a:p>
        </p:txBody>
      </p:sp>
      <p:sp>
        <p:nvSpPr>
          <p:cNvPr id="9" name="">
            <a:extLst xmlns:a="http://schemas.openxmlformats.org/drawingml/2006/main">
              <a:ext uri="{FF2B5EF4-FFF2-40B4-BE49-F238E27FC236}">
                <a16:creationId xmlns:a16="http://schemas.microsoft.com/office/drawing/2014/main" id="{7151684D-515D-4B4F-88E5-82E3AA5D8202}"/>
              </a:ext>
            </a:extLst>
          </p:cNvPr>
          <p:cNvSpPr>
            <a:spLocks xmlns:a="http://schemas.openxmlformats.org/drawingml/2006/main" noGrp="1"/>
          </p:cNvSpPr>
          <p:nvPr/>
        </p:nvSpPr>
        <p:spPr>
          <a:xfrm xmlns:a="http://schemas.openxmlformats.org/drawingml/2006/main">
            <a:off x="457200" y="4410075"/>
            <a:ext cx="8229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00" b="0">
                <a:solidFill>
                  <a:srgbClr val="028090"/>
                </a:solidFill>
                <a:latin typeface="Calibri"/>
                <a:ea typeface="Calibri"/>
                <a:cs typeface="Calibri"/>
              </a:defRPr>
            </a:defPPr>
          </a:lstStyle>
          <a:p xmlns:a="http://schemas.openxmlformats.org/drawingml/2006/main">
            <a:pPr>
              <a:defRPr sz="1400" b="0">
                <a:solidFill>
                  <a:srgbClr val="028090"/>
                </a:solidFill>
                <a:latin typeface="Calibri"/>
                <a:ea typeface="Calibri"/>
                <a:cs typeface="Calibri"/>
              </a:defRPr>
            </a:pPr>
            <a:r>
              <a:rPr sz="1400" b="0">
                <a:solidFill>
                  <a:srgbClr val="028090"/>
                </a:solidFill>
                <a:latin typeface="Calibri"/>
                <a:ea typeface="Calibri"/>
                <a:cs typeface="Calibri"/>
              </a:rPr>
              <a:t>Which failure would you investigate first, and what would you check next?</a:t>
            </a:r>
          </a:p>
        </p:txBody>
      </p:sp>
    </p:spTree>
    <p:extLst>
      <p:ext uri="{BB962C8B-B14F-4D97-AF65-F5344CB8AC3E}">
        <p14:creationId xmlns:p14="http://schemas.microsoft.com/office/powerpoint/2010/main" val="200782472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2026-10-18T08:52:16.2240000Z</dcterms:created>
  <dcterms:modified xsi:type="dcterms:W3CDTF">2026-10-18T08:52:16.2240000Z</dcterms:modified>
</coreProperties>
</file>