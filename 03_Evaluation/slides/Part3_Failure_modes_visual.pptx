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0f50f2a01ad432f" /><Relationship Type="http://schemas.openxmlformats.org/officeDocument/2006/relationships/extended-properties" Target="/docProps/app.xml" Id="R288a66e118464ad0" /><Relationship Type="http://schemas.openxmlformats.org/officeDocument/2006/relationships/officeDocument" Target="/ppt/presentation.xml" Id="R74a12ea45bdf46e4" /></Relationships>
</file>

<file path=ppt/presentation.xml><?xml version="1.0" encoding="utf-8"?>
<p:presentation xmlns:p="http://schemas.openxmlformats.org/presentationml/2006/main">
  <p:sldMasterIdLst>
    <p:sldMasterId xmlns:r="http://schemas.openxmlformats.org/officeDocument/2006/relationships" id="2147483648" r:id="Rf37f16ed5f3549a9"/>
  </p:sldMasterIdLst>
  <p:notesMasterIdLst>
    <p:notesMasterId xmlns:r="http://schemas.openxmlformats.org/officeDocument/2006/relationships" r:id="R2e21266e458a4360"/>
  </p:notesMasterIdLst>
  <p:sldIdLst>
    <p:sldId xmlns:r="http://schemas.openxmlformats.org/officeDocument/2006/relationships" id="256" r:id="R0c9c7c255c51420d"/>
    <p:sldId xmlns:r="http://schemas.openxmlformats.org/officeDocument/2006/relationships" id="257" r:id="R31c9e119b1594772"/>
    <p:sldId xmlns:r="http://schemas.openxmlformats.org/officeDocument/2006/relationships" id="258" r:id="R43f6025240004543"/>
    <p:sldId xmlns:r="http://schemas.openxmlformats.org/officeDocument/2006/relationships" id="259" r:id="Rc671ef0cb5f64ebf"/>
    <p:sldId xmlns:r="http://schemas.openxmlformats.org/officeDocument/2006/relationships" id="260" r:id="Rdaf474e627b142bc"/>
    <p:sldId xmlns:r="http://schemas.openxmlformats.org/officeDocument/2006/relationships" id="261" r:id="R277c6d24a3c1425d"/>
    <p:sldId xmlns:r="http://schemas.openxmlformats.org/officeDocument/2006/relationships" id="262" r:id="R740cffd6fdff404f"/>
    <p:sldId xmlns:r="http://schemas.openxmlformats.org/officeDocument/2006/relationships" id="263" r:id="R8a5b3fe723444f73"/>
    <p:sldId xmlns:r="http://schemas.openxmlformats.org/officeDocument/2006/relationships" id="264" r:id="Raee81b357b71427f"/>
    <p:sldId xmlns:r="http://schemas.openxmlformats.org/officeDocument/2006/relationships" id="265" r:id="R83f29204261e4a24"/>
    <p:sldId xmlns:r="http://schemas.openxmlformats.org/officeDocument/2006/relationships" id="266" r:id="R2c7ba540efb94e1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a4882451144e72" /><Relationship Type="http://schemas.openxmlformats.org/officeDocument/2006/relationships/slideMaster" Target="/ppt/slideMasters/slideMaster1.xml" Id="Rf37f16ed5f3549a9" /><Relationship Type="http://schemas.openxmlformats.org/officeDocument/2006/relationships/notesMaster" Target="/ppt/notesMasters/notesMaster1.xml" Id="R2e21266e458a4360" /><Relationship Type="http://schemas.openxmlformats.org/officeDocument/2006/relationships/presProps" Target="/ppt/presProps.xml" Id="R6437a22fed5c4f57" /><Relationship Type="http://schemas.openxmlformats.org/officeDocument/2006/relationships/tableStyles" Target="/ppt/tableStyles.xml" Id="R1d4dbf10c7cf443d" /><Relationship Type="http://schemas.openxmlformats.org/officeDocument/2006/relationships/slide" Target="/ppt/slides/slide1.xml" Id="R0c9c7c255c51420d" /><Relationship Type="http://schemas.openxmlformats.org/officeDocument/2006/relationships/slide" Target="/ppt/slides/slide2.xml" Id="R31c9e119b1594772" /><Relationship Type="http://schemas.openxmlformats.org/officeDocument/2006/relationships/slide" Target="/ppt/slides/slide3.xml" Id="R43f6025240004543" /><Relationship Type="http://schemas.openxmlformats.org/officeDocument/2006/relationships/slide" Target="/ppt/slides/slide4.xml" Id="Rc671ef0cb5f64ebf" /><Relationship Type="http://schemas.openxmlformats.org/officeDocument/2006/relationships/slide" Target="/ppt/slides/slide5.xml" Id="Rdaf474e627b142bc" /><Relationship Type="http://schemas.openxmlformats.org/officeDocument/2006/relationships/slide" Target="/ppt/slides/slide6.xml" Id="R277c6d24a3c1425d" /><Relationship Type="http://schemas.openxmlformats.org/officeDocument/2006/relationships/slide" Target="/ppt/slides/slide7.xml" Id="R740cffd6fdff404f" /><Relationship Type="http://schemas.openxmlformats.org/officeDocument/2006/relationships/slide" Target="/ppt/slides/slide8.xml" Id="R8a5b3fe723444f73" /><Relationship Type="http://schemas.openxmlformats.org/officeDocument/2006/relationships/slide" Target="/ppt/slides/slide9.xml" Id="Raee81b357b71427f" /><Relationship Type="http://schemas.openxmlformats.org/officeDocument/2006/relationships/slide" Target="/ppt/slides/slide10.xml" Id="R83f29204261e4a24" /><Relationship Type="http://schemas.openxmlformats.org/officeDocument/2006/relationships/slide" Target="/ppt/slides/slide11.xml" Id="R2c7ba540efb94e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de5f3667f541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483e6c823b468a" /><Relationship Type="http://schemas.openxmlformats.org/officeDocument/2006/relationships/notesMaster" Target="/ppt/notesMasters/notesMaster1.xml" Id="Rd4de857f4a5742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7f63e59682405b" /><Relationship Type="http://schemas.openxmlformats.org/officeDocument/2006/relationships/notesMaster" Target="/ppt/notesMasters/notesMaster1.xml" Id="R93acafd6d4e245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9a8f07967b43b3" /><Relationship Type="http://schemas.openxmlformats.org/officeDocument/2006/relationships/notesMaster" Target="/ppt/notesMasters/notesMaster1.xml" Id="Rdc14ed125df8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548a818dc14363" /><Relationship Type="http://schemas.openxmlformats.org/officeDocument/2006/relationships/notesMaster" Target="/ppt/notesMasters/notesMaster1.xml" Id="Rf22c729009eb4e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6481631e464da5" /><Relationship Type="http://schemas.openxmlformats.org/officeDocument/2006/relationships/notesMaster" Target="/ppt/notesMasters/notesMaster1.xml" Id="Rd7768058842343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5d05c93db9489a" /><Relationship Type="http://schemas.openxmlformats.org/officeDocument/2006/relationships/notesMaster" Target="/ppt/notesMasters/notesMaster1.xml" Id="R3f57356be20240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ec6615aa804bfe" /><Relationship Type="http://schemas.openxmlformats.org/officeDocument/2006/relationships/notesMaster" Target="/ppt/notesMasters/notesMaster1.xml" Id="Rc08c8f345ec443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12f3b010bc4525" /><Relationship Type="http://schemas.openxmlformats.org/officeDocument/2006/relationships/notesMaster" Target="/ppt/notesMasters/notesMaster1.xml" Id="R4ef69309b25b49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f1097948cb47e3" /><Relationship Type="http://schemas.openxmlformats.org/officeDocument/2006/relationships/notesMaster" Target="/ppt/notesMasters/notesMaster1.xml" Id="Rbe7aeebd77f747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0dc58b939941f6" /><Relationship Type="http://schemas.openxmlformats.org/officeDocument/2006/relationships/notesMaster" Target="/ppt/notesMasters/notesMaster1.xml" Id="R2a86982b02384c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4f2661f3974fe9" /><Relationship Type="http://schemas.openxmlformats.org/officeDocument/2006/relationships/notesMaster" Target="/ppt/notesMasters/notesMaster1.xml" Id="Rda2d54e8e5464b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five concrete questions: can the model describe the training pattern, does the pattern transfer, whose samples does the dataset represent, do new samples match the conditions studied, and was the final evaluation independent? Here bias means systematic problems in sampling, measurement or targets. Statistical bias in the bias–variance discussion is a different use of the word and connects to underfitting. Poor coverage does not inevitably cause poor performance, but it limits the evidence for performance in that group. A gap alone cannot diagnose every cause. Validation-based model selection is an intended part of development. Leakage compromises data intended to provide an independent check, or introduces information unavailable under the intended prediction conditions.</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https://doi.org/10.6028/NIST.SP.1270</a:t>
            </a:r>
          </a:p>
          <a:p xmlns:a="http://schemas.openxmlformats.org/drawingml/2006/main">
            <a:r>
              <a:t>https://doi.org/10.1038/s43246-024-00731-w</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calibration data in this insert are simulated, not experimental observations. The response follows 0.1 + 1.8(1 − exp(−2c)) plus independent Gaussian noise with SD 0.035 arbitrary units. Twelve evenly spaced training standards span 0–1 mg/L. Eighty independent validation measurements span 0.015–0.985 mg/L. Random seed 42 fixes the illustration. Compare model degrees 1 and 2. Root mean squared error is a typical error magnitude, in response units, so lower is better. Degree 1: Training error 0.118</a:t>
            </a:r>
          </a:p>
          <a:p xmlns:a="http://schemas.openxmlformats.org/drawingml/2006/main">
            <a:r>
              <a:t>Validation error 0.112. Degree 2: Training error 0.039</a:t>
            </a:r>
          </a:p>
          <a:p xmlns:a="http://schemas.openxmlformats.org/drawingml/2006/main">
            <a:r>
              <a:t>Validation error 0.037. Do not interpret low training and validation performance as proof of underfitting in every study: weak features, noisy targets and measurement problems can also cause it. A real laboratory may dilute samples or use a validated narrower linear range rather than fit a curve.</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https://scikit-learn.org/stable/modules/learning_curve.html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degree-11 polynomial interpolates the twelve training observations. Its training error is approximately zero and its validation error is 0.078 response units. The degree-2 model has validation error 0.037. The very flexible model therefore predicts the independent validation observations less well despite fitting training almost perfectly. The curves use the same standards and axis meaning as the preceding slide. Underfitting and overfitting describe failure to transfer useful structure, not simply a universal threshold for model size. The known noise-free response exists only because this is a simulation.</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https://scikit-learn.org/stable/modules/learning_curve.html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curve fits each polynomial to the same twelve training standards and evaluates the same eighty independent validation measurements. It uses no practical notebook data. Degree 3 gives the lowest validation error in this particular simulation. Treat the selected setting as fixed before a new independent test. Validation performance after searching several degrees is not an unbiased final performance estimate. The slide does not show a final test score. A broad U-shape is an illustration rather than a universal law. Do not equate more complex models automatically with worse generalisation.</a:t>
            </a:r>
          </a:p>
          <a:p xmlns:a="http://schemas.openxmlformats.org/drawingml/2006/main">
            <a:r>
              <a:t/>
            </a:r>
          </a:p>
          <a:p xmlns:a="http://schemas.openxmlformats.org/drawingml/2006/main">
            <a:r>
              <a:t>Sources</a:t>
            </a:r>
          </a:p>
          <a:p xmlns:a="http://schemas.openxmlformats.org/drawingml/2006/main">
            <a:r>
              <a:t>https://scikit-learn.org/stable/modules/learning_curve.html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analytical-chemistry scenario, not a measured result from strawberry or Tox21. Assume the training collection covers drinking water much more thoroughly than river water. Matrix-dependent interferences are a plausible concern, not an experimentally established cause in this illustration. The test example contains 855 correct drinking-water predictions and 50 correct river-water predictions, giving 905/1000 = 90.5% overall. Unequal performance alone does not identify its cause. Inspect sampling, measurement methods and target quality for each matrix, and obtain representative labelled measurements. A more complex model or class weights cannot supply missing matrix coverage. Here bias means systematic data or measurement problems, not the mathematical high-bias description of an overly restrictive model. Matrix groups are not target classes.</a:t>
            </a:r>
          </a:p>
          <a:p xmlns:a="http://schemas.openxmlformats.org/drawingml/2006/main">
            <a:r>
              <a:t/>
            </a:r>
          </a:p>
          <a:p xmlns:a="http://schemas.openxmlformats.org/drawingml/2006/main">
            <a:r>
              <a:t>Sources</a:t>
            </a:r>
          </a:p>
          <a:p xmlns:a="http://schemas.openxmlformats.org/drawingml/2006/main">
            <a:r>
              <a:t>https://doi.org/10.6028/NIST.SP.1270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new sample is a hypothetical model prediction, not a measured response. The original degree-2 calibration model now extends beyond the 0–1 mg/L range used for training and validation. In this illustration concentration is the known input to a forward response model, as with calibration standards. Quantifying an unknown sample from its measured response would require the appropriate inverse calibration procedure. Out-of-distribution means a change relative to the joint conditions and examples represented during development. A fresh sample is not automatically OOD merely because it was not in training. OOD samples can also involve unfamiliar combinations while individual feature values remain inside their old ranges. A random split within the original conditions does not establish performance after a shift. Check the new conditions experimentally, dilute into a validated range when appropriate, or extend and revalidate the method. An outlier flag can request review but cannot guarantee detection of all OOD cases.</a:t>
            </a:r>
          </a:p>
          <a:p xmlns:a="http://schemas.openxmlformats.org/drawingml/2006/main">
            <a:r>
              <a:t/>
            </a:r>
          </a:p>
          <a:p xmlns:a="http://schemas.openxmlformats.org/drawingml/2006/main">
            <a:r>
              <a:t>Sources</a:t>
            </a:r>
          </a:p>
          <a:p xmlns:a="http://schemas.openxmlformats.org/drawingml/2006/main">
            <a:r>
              <a:t>https://doi.org/10.1038/s43246-024-00731-w</a:t>
            </a:r>
          </a:p>
          <a:p xmlns:a="http://schemas.openxmlformats.org/drawingml/2006/main">
            <a:r>
              <a:t>https://doi.org/10.1038/s41467-020-17112-9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Hypothetical molecular-property prediction example, with no measured targets or performance claims. Structures identify compounds. A model normally receives a numerical representation or measured features rather than the compound names. Phenol in the second row is exactly the training compound. Reusing its training record and target cannot support an independent test. Distinct measurements of the same compound may also share compound-specific information, as the next slide illustrates. 4-Methylphenol in the third row differs by one para methyl substituent. It is not identical and is not automatically a leakage case. If the intended use is predicting close analogues within familiar chemical families, this can be a relevant test, provided its observations and targets stayed outside all development. If the intended use is generalisation to new chemical families, splitting close analogues across partitions gives limited evidence for that claim and can make the reported result optimistic. Grouping by chemical series, scaffold or similarity can help align the split with the scientific question. A scaffold split is one grouping rule, not a guarantee that every test compound is dissimilar or that all distribution shifts are covered. No equal toxicity, similar activity or guaranteed prediction is implied by visual similarity.</a:t>
            </a:r>
          </a:p>
          <a:p xmlns:a="http://schemas.openxmlformats.org/drawingml/2006/main">
            <a:r>
              <a:t/>
            </a:r>
          </a:p>
          <a:p xmlns:a="http://schemas.openxmlformats.org/drawingml/2006/main">
            <a:r>
              <a:t>Molecular graph and coordinates: RDKit 2025.09.6. Native editable PowerPoint bonds and atom labels. SMILES: aniline Nc1ccccc1; phenol Oc1ccccc1; chlorobenzene Clc1ccccc1; 4-methylphenol Oc1ccc(C)cc1. Coordinates for phenol and 4-methylphenol share an aligned phenol core. The diagrams are schematic chemical structures, not generated artwork or results from the practicals.</a:t>
            </a:r>
          </a:p>
          <a:p xmlns:a="http://schemas.openxmlformats.org/drawingml/2006/main">
            <a:r>
              <a:t/>
            </a:r>
          </a:p>
          <a:p xmlns:a="http://schemas.openxmlformats.org/drawingml/2006/main">
            <a:r>
              <a:t>Sources</a:t>
            </a:r>
          </a:p>
          <a:p xmlns:a="http://schemas.openxmlformats.org/drawingml/2006/main">
            <a:r>
              <a:t>https://scikit-learn.org/stable/modules/cross_validation.html</a:t>
            </a:r>
          </a:p>
          <a:p xmlns:a="http://schemas.openxmlformats.org/drawingml/2006/main">
            <a:r>
              <a:t>https://doi.org/10.1016/j.patter.2023.100804</a:t>
            </a:r>
          </a:p>
          <a:p xmlns:a="http://schemas.openxmlformats.org/drawingml/2006/main">
            <a:r>
              <a:t>https://deepchem.readthedocs.io/en/2.8.0/api_reference/splitters.html#scaffoldsplitter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Hypothetical sampling diagram, with no claimed accuracy. The three traces are invented schematic sequences. They are not measured spectra of phenol and show no genuine peak assignments or spectral axis values. The structure identifies the compound only. All scans here measure the same physical specimen, so composition, preparation and instrument effects can be shared. Different rows alone do not establish independence. Group repeats of a specimen together before splitting and throughout cross-validation. If the scientific claim concerns new compounds, group all measurements of each compound too. If the claim concerns new chemical families, consider larger chemical groups as discussed on the preceding slide. Many scans do not replace enough independent groups. Molecular structure: phenol, SMILES Oc1ccccc1, with RDKit coordinates and editable PowerPoint bonds and labels.</a:t>
            </a:r>
          </a:p>
          <a:p xmlns:a="http://schemas.openxmlformats.org/drawingml/2006/main">
            <a:r>
              <a:t/>
            </a:r>
          </a:p>
          <a:p xmlns:a="http://schemas.openxmlformats.org/drawingml/2006/main">
            <a:r>
              <a:t>Sources</a:t>
            </a:r>
          </a:p>
          <a:p xmlns:a="http://schemas.openxmlformats.org/drawingml/2006/main">
            <a:r>
              <a:t>https://scikit-learn.org/stable/modules/cross_validation.html#cross-validation-iterators-for-grouped-data</a:t>
            </a:r>
          </a:p>
          <a:p xmlns:a="http://schemas.openxmlformats.org/drawingml/2006/main">
            <a:r>
              <a:t>https://doi.org/10.1016/j.patter.2023.100804</a:t>
            </a:r>
          </a:p>
          <a:p xmlns:a="http://schemas.openxmlformats.org/drawingml/2006/main">
            <a:r>
              <a:t>https://deepchem.readthedocs.io/en/2.8.0/api_reference/splitters.html#scaffoldsplitter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workflow diagram. A–D identify example records, not predictor columns. The top flow learns preparation rules from the complete dataset and then claims an independent check on D. For supervised band selection, using D’s target leaks outcome information. For scaling, D can influence the feature distribution even without its target. The lower flow keeps D outside all learning steps and applies the fixed rules and fitted model to it afterwards. Estimate missing-value replacements within training too. Within cross-validation, learn each transformation only from that fold’s training partition. Validation may compare candidate workflows, while a final test checks the fixed choice. For visual simplicity these flows omit the validation branch. A fixed operation on a single spectrum using only its own measurements does not automatically leak information. Pipelines help with learned transformations but do not fix overlap between physical specimens.</a:t>
            </a:r>
          </a:p>
          <a:p xmlns:a="http://schemas.openxmlformats.org/drawingml/2006/main">
            <a:r>
              <a:t/>
            </a:r>
          </a:p>
          <a:p xmlns:a="http://schemas.openxmlformats.org/drawingml/2006/main">
            <a:r>
              <a:t>Sources</a:t>
            </a:r>
          </a:p>
          <a:p xmlns:a="http://schemas.openxmlformats.org/drawingml/2006/main">
            <a:r>
              <a:t>https://scikit-learn.org/stable/common_pitfalls.html#data-leakage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useful warning signs rather than definitive diagnostic tests. Check a meaningful baseline and the quality of features and targets. Leakage may produce very good reported scores without a conspicuous training–validation gap. Audit specimen identities, feature selection and preprocessing even when the scores agree. If test information influenced development, redesign the workflow and obtain an independent final check. Biased coverage and distribution shift often overlap: a matrix may be underrepresented during development and more common during deployment. They describe different aspects of the problem, so several answers can be relevant. Keep model choice within training/validation roles and reserve independent testing for the fixed choice.</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https://scikit-learn.org/stable/modules/learning_curve.html</a:t>
            </a:r>
          </a:p>
          <a:p xmlns:a="http://schemas.openxmlformats.org/drawingml/2006/main">
            <a:r>
              <a:t>https://doi.org/10.6028/NIST.SP.1270</a:t>
            </a:r>
          </a:p>
          <a:p xmlns:a="http://schemas.openxmlformats.org/drawingml/2006/main">
            <a:r>
              <a:t>https://doi.org/10.1038/s43246-024-00731-w</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answers. 1: underfitting is plausible because the straight-line model cannot describe the consistent curvature. Compare a suitable curve or a narrower validated linear range. 2: overfitting. Compare training and validation errors and choose a simpler model through validation. 3: investigate bias or coverage and measurement differences across matrices. The gap alone does not prove a particular cause, and a deployment shift may overlap. Inspect per-matrix sample counts, interferences, reference measurements and errors. 4: out-of-distribution extrapolation. Obtain independent measurements at the new range or bring samples into a validated range. 5: the phenol record already entered training. Its prediction measures training fit and cannot serve as an independent test. Use observations excluded from model development and group replicate measurements together. For a claim about new compounds, also keep each compound in one partition. For a claim about new chemical families, consider grouping related structures. A close analogue is not automatically leakage, but it answers a different question from transfer to unfamiliar chemistry. These cases assess interpretation rather than coding. Ask for a reason with each answer and accept well-supported overlapping failure modes.</a:t>
            </a:r>
          </a:p>
          <a:p xmlns:a="http://schemas.openxmlformats.org/drawingml/2006/main">
            <a:r>
              <a:t/>
            </a:r>
          </a:p>
          <a:p xmlns:a="http://schemas.openxmlformats.org/drawingml/2006/main">
            <a:r>
              <a:t>Sources</a:t>
            </a:r>
          </a:p>
          <a:p xmlns:a="http://schemas.openxmlformats.org/drawingml/2006/main">
            <a:r>
              <a:t>https://scikit-learn.org/stable/auto_examples/model_selection/plot_underfitting_overfitting.html</a:t>
            </a:r>
          </a:p>
          <a:p xmlns:a="http://schemas.openxmlformats.org/drawingml/2006/main">
            <a:r>
              <a:t>https://doi.org/10.6028/NIST.SP.1270</a:t>
            </a:r>
          </a:p>
          <a:p xmlns:a="http://schemas.openxmlformats.org/drawingml/2006/main">
            <a:r>
              <a:t>https://doi.org/10.1038/s43246-024-00731-w</a:t>
            </a:r>
          </a:p>
          <a:p xmlns:a="http://schemas.openxmlformats.org/drawingml/2006/main">
            <a:r>
              <a:t>https://scikit-learn.org/stable/modules/cross_validation.html</a:t>
            </a:r>
          </a:p>
          <a:p xmlns:a="http://schemas.openxmlformats.org/drawingml/2006/main">
            <a:r>
              <a:t>https://doi.org/10.1016/j.patter.2023.100804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ee2810e51b45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0615d3986744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3f18244dc146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a9a6d39b1441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f21d28024a4ca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64a70435cf42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130774-CF9D-4F10-9398-3A86C16875D0}"/>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632E88-B88D-4494-96DF-3E9C1FFED83B}"/>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47E8D6-99E9-4750-8E1B-75D20140A1B1}"/>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CDB9FA-1C09-4729-A242-19D2465F9FE8}"/>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D15F33-4658-47A8-A1C9-975B19854330}"/>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0AF3FF-6F28-4701-8AA5-EB9639A57A5F}"/>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62F7E9-33ED-4C16-A7DD-8F53DCF67884}"/>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EBD1ED1-C911-48A5-9896-04B463561AD0}"/>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D26B61-9AF7-4996-8ADD-7C812A671166}"/>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1CBC26-224C-45E4-9FD9-5D58B47F9DAC}"/>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9b4881ab084c31" /><Relationship Type="http://schemas.openxmlformats.org/officeDocument/2006/relationships/slideLayout" Target="/ppt/slideLayouts/slideLayout1.xml" Id="Raf0666ed52ff45de" /><Relationship Type="http://schemas.openxmlformats.org/officeDocument/2006/relationships/slideLayout" Target="/ppt/slideLayouts/slideLayout2.xml" Id="Rca11ff1f22da417d" /><Relationship Type="http://schemas.openxmlformats.org/officeDocument/2006/relationships/slideLayout" Target="/ppt/slideLayouts/slideLayout3.xml" Id="Re4a8ef3edede4775" /><Relationship Type="http://schemas.openxmlformats.org/officeDocument/2006/relationships/slideLayout" Target="/ppt/slideLayouts/slideLayout4.xml" Id="R8476743ba96b4336" /><Relationship Type="http://schemas.openxmlformats.org/officeDocument/2006/relationships/slideLayout" Target="/ppt/slideLayouts/slideLayout5.xml" Id="R1d770607b400441f" /><Relationship Type="http://schemas.openxmlformats.org/officeDocument/2006/relationships/slideLayout" Target="/ppt/slideLayouts/slideLayout6.xml" Id="Rcb9b87dbd51240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0666ed52ff45de"/>
    <p:sldLayoutId xmlns:r="http://schemas.openxmlformats.org/officeDocument/2006/relationships" id="2147483650" r:id="Rca11ff1f22da417d"/>
    <p:sldLayoutId xmlns:r="http://schemas.openxmlformats.org/officeDocument/2006/relationships" id="2147483651" r:id="Re4a8ef3edede4775"/>
    <p:sldLayoutId xmlns:r="http://schemas.openxmlformats.org/officeDocument/2006/relationships" id="2147483652" r:id="R8476743ba96b4336"/>
    <p:sldLayoutId xmlns:r="http://schemas.openxmlformats.org/officeDocument/2006/relationships" id="2147483653" r:id="R1d770607b400441f"/>
    <p:sldLayoutId xmlns:r="http://schemas.openxmlformats.org/officeDocument/2006/relationships" id="2147483654" r:id="Rcb9b87dbd51240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553c3237724bb2" /><Relationship Type="http://schemas.openxmlformats.org/officeDocument/2006/relationships/notesSlide" Target="/ppt/notesSlides/notesSlide1.xml" Id="Re3e2f4a07f1847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3dc7dee5e746b0" /><Relationship Type="http://schemas.openxmlformats.org/officeDocument/2006/relationships/chart" Target="/ppt/slides/charts/chart1.xml" Id="R683557c31d7447b8" /><Relationship Type="http://schemas.openxmlformats.org/officeDocument/2006/relationships/notesSlide" Target="/ppt/notesSlides/notesSlide2.xml" Id="R35b4fd24ac7345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afb39f6fb94c75" /><Relationship Type="http://schemas.openxmlformats.org/officeDocument/2006/relationships/chart" Target="/ppt/slides/charts/chart2.xml" Id="Rb9db4038b9b54daf" /><Relationship Type="http://schemas.openxmlformats.org/officeDocument/2006/relationships/notesSlide" Target="/ppt/notesSlides/notesSlide3.xml" Id="R4e13745db83741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40cdc70fb44fd3" /><Relationship Type="http://schemas.openxmlformats.org/officeDocument/2006/relationships/chart" Target="/ppt/slides/charts/chart3.xml" Id="R4fcbfe1dcfd448fd" /><Relationship Type="http://schemas.openxmlformats.org/officeDocument/2006/relationships/notesSlide" Target="/ppt/notesSlides/notesSlide4.xml" Id="R91350e0e6e1042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8c07ae82d04c8f" /><Relationship Type="http://schemas.openxmlformats.org/officeDocument/2006/relationships/chart" Target="/ppt/slides/charts/chart4.xml" Id="R760e70ae65804569" /><Relationship Type="http://schemas.openxmlformats.org/officeDocument/2006/relationships/notesSlide" Target="/ppt/notesSlides/notesSlide5.xml" Id="Rcf2ab02b2ded49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dac1a508ec546f6" /><Relationship Type="http://schemas.openxmlformats.org/officeDocument/2006/relationships/chart" Target="/ppt/slides/charts/chart5.xml" Id="Rac217b5979d1433b" /><Relationship Type="http://schemas.openxmlformats.org/officeDocument/2006/relationships/notesSlide" Target="/ppt/notesSlides/notesSlide6.xml" Id="Rf0067bd190424c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40bd3a131864a77" /><Relationship Type="http://schemas.openxmlformats.org/officeDocument/2006/relationships/notesSlide" Target="/ppt/notesSlides/notesSlide7.xml" Id="R63069484ca7f48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e647b004124fc8" /><Relationship Type="http://schemas.openxmlformats.org/officeDocument/2006/relationships/chart" Target="/ppt/slides/charts/chart6.xml" Id="R0ee23765d03b42d2" /><Relationship Type="http://schemas.openxmlformats.org/officeDocument/2006/relationships/chart" Target="/ppt/slides/charts/chart7.xml" Id="Rd7f509b1a71b4e82" /><Relationship Type="http://schemas.openxmlformats.org/officeDocument/2006/relationships/chart" Target="/ppt/slides/charts/chart8.xml" Id="R73507ed10bad415b" /><Relationship Type="http://schemas.openxmlformats.org/officeDocument/2006/relationships/notesSlide" Target="/ppt/notesSlides/notesSlide8.xml" Id="Rd1eabdea992742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3a6a3fd10648cb" /><Relationship Type="http://schemas.openxmlformats.org/officeDocument/2006/relationships/notesSlide" Target="/ppt/notesSlides/notesSlide9.xml" Id="R0bd5f7ad5d6848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96b201e4e84c43" /><Relationship Type="http://schemas.openxmlformats.org/officeDocument/2006/relationships/notesSlide" Target="/ppt/notesSlides/notesSlide10.xml" Id="R1ed775efd9a046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4532ea822f4aec" /><Relationship Type="http://schemas.openxmlformats.org/officeDocument/2006/relationships/notesSlide" Target="/ppt/notesSlides/notesSlide11.xml" Id="Red109b82024047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Calibration standards</c:v>
          </c:tx>
          <c:spPr>
            <a:ln xmlns:a="http://schemas.openxmlformats.org/drawingml/2006/main" w="0">
              <a:noFill/>
            </a:ln>
          </c:spPr>
          <c:marker>
            <c:symbol val="circle"/>
            <c:size val="6"/>
            <c:spPr>
              <a:solidFill xmlns:a="http://schemas.openxmlformats.org/drawingml/2006/main">
                <a:srgbClr val="028090"/>
              </a:solidFill>
            </c:spPr>
          </c:marker>
          <c:xVal>
            <c:numRef>
              <c:f>'Chart Data'!$A$2:$A$13</c:f>
              <c:numCache>
                <c:formatCode>General</c:formatCode>
                <c:ptCount val="12"/>
                <c:pt idx="0">
                  <c:v>0</c:v>
                </c:pt>
                <c:pt idx="1">
                  <c:v>0.09090909</c:v>
                </c:pt>
                <c:pt idx="2">
                  <c:v>0.18181818</c:v>
                </c:pt>
                <c:pt idx="3">
                  <c:v>0.27272727</c:v>
                </c:pt>
                <c:pt idx="4">
                  <c:v>0.36363636</c:v>
                </c:pt>
                <c:pt idx="5">
                  <c:v>0.45454545</c:v>
                </c:pt>
                <c:pt idx="6">
                  <c:v>0.54545455</c:v>
                </c:pt>
                <c:pt idx="7">
                  <c:v>0.63636364</c:v>
                </c:pt>
                <c:pt idx="8">
                  <c:v>0.72727273</c:v>
                </c:pt>
                <c:pt idx="9">
                  <c:v>0.81818182</c:v>
                </c:pt>
                <c:pt idx="10">
                  <c:v>0.90909091</c:v>
                </c:pt>
                <c:pt idx="11">
                  <c:v>1</c:v>
                </c:pt>
              </c:numCache>
            </c:numRef>
          </c:xVal>
          <c:yVal>
            <c:numRef>
              <c:f>'Chart Data'!$B$2:$B$13</c:f>
              <c:numCache>
                <c:formatCode>0.0</c:formatCode>
                <c:ptCount val="12"/>
                <c:pt idx="0">
                  <c:v>0.1106651</c:v>
                </c:pt>
                <c:pt idx="1">
                  <c:v>0.3628453</c:v>
                </c:pt>
                <c:pt idx="2">
                  <c:v>0.67500672</c:v>
                </c:pt>
                <c:pt idx="3">
                  <c:v>0.88967886</c:v>
                </c:pt>
                <c:pt idx="4">
                  <c:v>0.96190862</c:v>
                </c:pt>
                <c:pt idx="5">
                  <c:v>1.12922114</c:v>
                </c:pt>
                <c:pt idx="6">
                  <c:v>1.29983465</c:v>
                </c:pt>
                <c:pt idx="7">
                  <c:v>1.38481134</c:v>
                </c:pt>
                <c:pt idx="8">
                  <c:v>1.4791003</c:v>
                </c:pt>
                <c:pt idx="9">
                  <c:v>1.51970739</c:v>
                </c:pt>
                <c:pt idx="10">
                  <c:v>1.63860183</c:v>
                </c:pt>
                <c:pt idx="11">
                  <c:v>1.68361921</c:v>
                </c:pt>
              </c:numCache>
            </c:numRef>
          </c:yVal>
        </c:ser>
        <c:ser>
          <c:idx val="1"/>
          <c:order val="1"/>
          <c:tx>
            <c:v>Straight line</c:v>
          </c:tx>
          <c:spPr>
            <a:ln xmlns:a="http://schemas.openxmlformats.org/drawingml/2006/main" w="23813">
              <a:solidFill>
                <a:srgbClr val="C56B30"/>
              </a:solidFill>
            </a:ln>
          </c:spPr>
          <c:marker>
            <c:symbol val="none"/>
          </c:marker>
          <c:xVal>
            <c:numRef>
              <c:f>'Chart Data'!$C$2:$C$102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Data'!$D$2:$D$102</c:f>
              <c:numCache>
                <c:formatCode>0.0</c:formatCode>
                <c:ptCount val="101"/>
                <c:pt idx="0">
                  <c:v>0.34297496</c:v>
                </c:pt>
                <c:pt idx="1">
                  <c:v>0.35800713</c:v>
                </c:pt>
                <c:pt idx="2">
                  <c:v>0.3730393</c:v>
                </c:pt>
                <c:pt idx="3">
                  <c:v>0.38807146</c:v>
                </c:pt>
                <c:pt idx="4">
                  <c:v>0.40310363</c:v>
                </c:pt>
                <c:pt idx="5">
                  <c:v>0.4181358</c:v>
                </c:pt>
                <c:pt idx="6">
                  <c:v>0.43316797</c:v>
                </c:pt>
                <c:pt idx="7">
                  <c:v>0.44820014</c:v>
                </c:pt>
                <c:pt idx="8">
                  <c:v>0.4632323</c:v>
                </c:pt>
                <c:pt idx="9">
                  <c:v>0.47826447</c:v>
                </c:pt>
                <c:pt idx="10">
                  <c:v>0.49329664</c:v>
                </c:pt>
                <c:pt idx="11">
                  <c:v>0.50832881</c:v>
                </c:pt>
                <c:pt idx="12">
                  <c:v>0.52336098</c:v>
                </c:pt>
                <c:pt idx="13">
                  <c:v>0.53839315</c:v>
                </c:pt>
                <c:pt idx="14">
                  <c:v>0.55342531</c:v>
                </c:pt>
                <c:pt idx="15">
                  <c:v>0.56845748</c:v>
                </c:pt>
                <c:pt idx="16">
                  <c:v>0.58348965</c:v>
                </c:pt>
                <c:pt idx="17">
                  <c:v>0.59852182</c:v>
                </c:pt>
                <c:pt idx="18">
                  <c:v>0.61355399</c:v>
                </c:pt>
                <c:pt idx="19">
                  <c:v>0.62858616</c:v>
                </c:pt>
                <c:pt idx="20">
                  <c:v>0.64361832</c:v>
                </c:pt>
                <c:pt idx="21">
                  <c:v>0.65865049</c:v>
                </c:pt>
                <c:pt idx="22">
                  <c:v>0.67368266</c:v>
                </c:pt>
                <c:pt idx="23">
                  <c:v>0.68871483</c:v>
                </c:pt>
                <c:pt idx="24">
                  <c:v>0.703747</c:v>
                </c:pt>
                <c:pt idx="25">
                  <c:v>0.71877917</c:v>
                </c:pt>
                <c:pt idx="26">
                  <c:v>0.73381133</c:v>
                </c:pt>
                <c:pt idx="27">
                  <c:v>0.7488435</c:v>
                </c:pt>
                <c:pt idx="28">
                  <c:v>0.76387567</c:v>
                </c:pt>
                <c:pt idx="29">
                  <c:v>0.77890784</c:v>
                </c:pt>
                <c:pt idx="30">
                  <c:v>0.79394001</c:v>
                </c:pt>
                <c:pt idx="31">
                  <c:v>0.80897217</c:v>
                </c:pt>
                <c:pt idx="32">
                  <c:v>0.82400434</c:v>
                </c:pt>
                <c:pt idx="33">
                  <c:v>0.83903651</c:v>
                </c:pt>
                <c:pt idx="34">
                  <c:v>0.85406868</c:v>
                </c:pt>
                <c:pt idx="35">
                  <c:v>0.86910085</c:v>
                </c:pt>
                <c:pt idx="36">
                  <c:v>0.88413302</c:v>
                </c:pt>
                <c:pt idx="37">
                  <c:v>0.89916518</c:v>
                </c:pt>
                <c:pt idx="38">
                  <c:v>0.91419735</c:v>
                </c:pt>
                <c:pt idx="39">
                  <c:v>0.92922952</c:v>
                </c:pt>
                <c:pt idx="40">
                  <c:v>0.94426169</c:v>
                </c:pt>
                <c:pt idx="41">
                  <c:v>0.95929386</c:v>
                </c:pt>
                <c:pt idx="42">
                  <c:v>0.97432603</c:v>
                </c:pt>
                <c:pt idx="43">
                  <c:v>0.98935819</c:v>
                </c:pt>
                <c:pt idx="44">
                  <c:v>1.00439036</c:v>
                </c:pt>
                <c:pt idx="45">
                  <c:v>1.01942253</c:v>
                </c:pt>
                <c:pt idx="46">
                  <c:v>1.0344547</c:v>
                </c:pt>
                <c:pt idx="47">
                  <c:v>1.04948687</c:v>
                </c:pt>
                <c:pt idx="48">
                  <c:v>1.06451903</c:v>
                </c:pt>
                <c:pt idx="49">
                  <c:v>1.0795512</c:v>
                </c:pt>
                <c:pt idx="50">
                  <c:v>1.09458337</c:v>
                </c:pt>
                <c:pt idx="51">
                  <c:v>1.10961554</c:v>
                </c:pt>
                <c:pt idx="52">
                  <c:v>1.12464771</c:v>
                </c:pt>
                <c:pt idx="53">
                  <c:v>1.13967988</c:v>
                </c:pt>
                <c:pt idx="54">
                  <c:v>1.15471204</c:v>
                </c:pt>
                <c:pt idx="55">
                  <c:v>1.16974421</c:v>
                </c:pt>
                <c:pt idx="56">
                  <c:v>1.18477638</c:v>
                </c:pt>
                <c:pt idx="57">
                  <c:v>1.19980855</c:v>
                </c:pt>
                <c:pt idx="58">
                  <c:v>1.21484072</c:v>
                </c:pt>
                <c:pt idx="59">
                  <c:v>1.22987289</c:v>
                </c:pt>
                <c:pt idx="60">
                  <c:v>1.24490505</c:v>
                </c:pt>
                <c:pt idx="61">
                  <c:v>1.25993722</c:v>
                </c:pt>
                <c:pt idx="62">
                  <c:v>1.27496939</c:v>
                </c:pt>
                <c:pt idx="63">
                  <c:v>1.29000156</c:v>
                </c:pt>
                <c:pt idx="64">
                  <c:v>1.30503373</c:v>
                </c:pt>
                <c:pt idx="65">
                  <c:v>1.32006589</c:v>
                </c:pt>
                <c:pt idx="66">
                  <c:v>1.33509806</c:v>
                </c:pt>
                <c:pt idx="67">
                  <c:v>1.35013023</c:v>
                </c:pt>
                <c:pt idx="68">
                  <c:v>1.3651624</c:v>
                </c:pt>
                <c:pt idx="69">
                  <c:v>1.38019457</c:v>
                </c:pt>
                <c:pt idx="70">
                  <c:v>1.39522674</c:v>
                </c:pt>
                <c:pt idx="71">
                  <c:v>1.4102589</c:v>
                </c:pt>
                <c:pt idx="72">
                  <c:v>1.42529107</c:v>
                </c:pt>
                <c:pt idx="73">
                  <c:v>1.44032324</c:v>
                </c:pt>
                <c:pt idx="74">
                  <c:v>1.45535541</c:v>
                </c:pt>
                <c:pt idx="75">
                  <c:v>1.47038758</c:v>
                </c:pt>
                <c:pt idx="76">
                  <c:v>1.48541975</c:v>
                </c:pt>
                <c:pt idx="77">
                  <c:v>1.50045191</c:v>
                </c:pt>
                <c:pt idx="78">
                  <c:v>1.51548408</c:v>
                </c:pt>
                <c:pt idx="79">
                  <c:v>1.53051625</c:v>
                </c:pt>
                <c:pt idx="80">
                  <c:v>1.54554842</c:v>
                </c:pt>
                <c:pt idx="81">
                  <c:v>1.56058059</c:v>
                </c:pt>
                <c:pt idx="82">
                  <c:v>1.57561276</c:v>
                </c:pt>
                <c:pt idx="83">
                  <c:v>1.59064492</c:v>
                </c:pt>
                <c:pt idx="84">
                  <c:v>1.60567709</c:v>
                </c:pt>
                <c:pt idx="85">
                  <c:v>1.62070926</c:v>
                </c:pt>
                <c:pt idx="86">
                  <c:v>1.63574143</c:v>
                </c:pt>
                <c:pt idx="87">
                  <c:v>1.6507736</c:v>
                </c:pt>
                <c:pt idx="88">
                  <c:v>1.66580576</c:v>
                </c:pt>
                <c:pt idx="89">
                  <c:v>1.68083793</c:v>
                </c:pt>
                <c:pt idx="90">
                  <c:v>1.6958701</c:v>
                </c:pt>
                <c:pt idx="91">
                  <c:v>1.71090227</c:v>
                </c:pt>
                <c:pt idx="92">
                  <c:v>1.72593444</c:v>
                </c:pt>
                <c:pt idx="93">
                  <c:v>1.74096661</c:v>
                </c:pt>
                <c:pt idx="94">
                  <c:v>1.75599877</c:v>
                </c:pt>
                <c:pt idx="95">
                  <c:v>1.77103094</c:v>
                </c:pt>
                <c:pt idx="96">
                  <c:v>1.78606311</c:v>
                </c:pt>
                <c:pt idx="97">
                  <c:v>1.80109528</c:v>
                </c:pt>
                <c:pt idx="98">
                  <c:v>1.81612745</c:v>
                </c:pt>
                <c:pt idx="99">
                  <c:v>1.83115962</c:v>
                </c:pt>
                <c:pt idx="100">
                  <c:v>1.84619178</c:v>
                </c:pt>
              </c:numCache>
            </c:numRef>
          </c:yVal>
        </c:ser>
        <c:ser>
          <c:idx val="2"/>
          <c:order val="2"/>
          <c:tx>
            <c:v>Curved model</c:v>
          </c:tx>
          <c:spPr>
            <a:ln xmlns:a="http://schemas.openxmlformats.org/drawingml/2006/main" w="23813">
              <a:solidFill>
                <a:srgbClr val="64748B"/>
              </a:solidFill>
            </a:ln>
          </c:spPr>
          <c:marker>
            <c:symbol val="none"/>
          </c:marker>
          <c:xVal>
            <c:numRef>
              <c:f>'Chart Data'!$E$2:$E$102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Data'!$F$2:$F$102</c:f>
              <c:numCache>
                <c:formatCode>0.0</c:formatCode>
                <c:ptCount val="101"/>
                <c:pt idx="0">
                  <c:v>0.14872337</c:v>
                </c:pt>
                <c:pt idx="1">
                  <c:v>0.17644793</c:v>
                </c:pt>
                <c:pt idx="2">
                  <c:v>0.20391609</c:v>
                </c:pt>
                <c:pt idx="3">
                  <c:v>0.23112783</c:v>
                </c:pt>
                <c:pt idx="4">
                  <c:v>0.25808316</c:v>
                </c:pt>
                <c:pt idx="5">
                  <c:v>0.28478208</c:v>
                </c:pt>
                <c:pt idx="6">
                  <c:v>0.31122459</c:v>
                </c:pt>
                <c:pt idx="7">
                  <c:v>0.33741068</c:v>
                </c:pt>
                <c:pt idx="8">
                  <c:v>0.36334037</c:v>
                </c:pt>
                <c:pt idx="9">
                  <c:v>0.38901364</c:v>
                </c:pt>
                <c:pt idx="10">
                  <c:v>0.41443049</c:v>
                </c:pt>
                <c:pt idx="11">
                  <c:v>0.43959094</c:v>
                </c:pt>
                <c:pt idx="12">
                  <c:v>0.46449498</c:v>
                </c:pt>
                <c:pt idx="13">
                  <c:v>0.4891426</c:v>
                </c:pt>
                <c:pt idx="14">
                  <c:v>0.51353381</c:v>
                </c:pt>
                <c:pt idx="15">
                  <c:v>0.53766861</c:v>
                </c:pt>
                <c:pt idx="16">
                  <c:v>0.56154699</c:v>
                </c:pt>
                <c:pt idx="17">
                  <c:v>0.58516896</c:v>
                </c:pt>
                <c:pt idx="18">
                  <c:v>0.60853453</c:v>
                </c:pt>
                <c:pt idx="19">
                  <c:v>0.63164368</c:v>
                </c:pt>
                <c:pt idx="20">
                  <c:v>0.65449641</c:v>
                </c:pt>
                <c:pt idx="21">
                  <c:v>0.67709274</c:v>
                </c:pt>
                <c:pt idx="22">
                  <c:v>0.69943265</c:v>
                </c:pt>
                <c:pt idx="23">
                  <c:v>0.72151615</c:v>
                </c:pt>
                <c:pt idx="24">
                  <c:v>0.74334324</c:v>
                </c:pt>
                <c:pt idx="25">
                  <c:v>0.76491392</c:v>
                </c:pt>
                <c:pt idx="26">
                  <c:v>0.78622818</c:v>
                </c:pt>
                <c:pt idx="27">
                  <c:v>0.80728604</c:v>
                </c:pt>
                <c:pt idx="28">
                  <c:v>0.82808748</c:v>
                </c:pt>
                <c:pt idx="29">
                  <c:v>0.8486325</c:v>
                </c:pt>
                <c:pt idx="30">
                  <c:v>0.86892112</c:v>
                </c:pt>
                <c:pt idx="31">
                  <c:v>0.88895333</c:v>
                </c:pt>
                <c:pt idx="32">
                  <c:v>0.90872912</c:v>
                </c:pt>
                <c:pt idx="33">
                  <c:v>0.9282485</c:v>
                </c:pt>
                <c:pt idx="34">
                  <c:v>0.94751147</c:v>
                </c:pt>
                <c:pt idx="35">
                  <c:v>0.96651802</c:v>
                </c:pt>
                <c:pt idx="36">
                  <c:v>0.98526817</c:v>
                </c:pt>
                <c:pt idx="37">
                  <c:v>1.0037619</c:v>
                </c:pt>
                <c:pt idx="38">
                  <c:v>1.02199922</c:v>
                </c:pt>
                <c:pt idx="39">
                  <c:v>1.03998012</c:v>
                </c:pt>
                <c:pt idx="40">
                  <c:v>1.05770462</c:v>
                </c:pt>
                <c:pt idx="41">
                  <c:v>1.0751727</c:v>
                </c:pt>
                <c:pt idx="42">
                  <c:v>1.09238437</c:v>
                </c:pt>
                <c:pt idx="43">
                  <c:v>1.10933963</c:v>
                </c:pt>
                <c:pt idx="44">
                  <c:v>1.12603848</c:v>
                </c:pt>
                <c:pt idx="45">
                  <c:v>1.14248091</c:v>
                </c:pt>
                <c:pt idx="46">
                  <c:v>1.15866694</c:v>
                </c:pt>
                <c:pt idx="47">
                  <c:v>1.17459655</c:v>
                </c:pt>
                <c:pt idx="48">
                  <c:v>1.19026975</c:v>
                </c:pt>
                <c:pt idx="49">
                  <c:v>1.20568653</c:v>
                </c:pt>
                <c:pt idx="50">
                  <c:v>1.22084691</c:v>
                </c:pt>
                <c:pt idx="51">
                  <c:v>1.23575087</c:v>
                </c:pt>
                <c:pt idx="52">
                  <c:v>1.25039842</c:v>
                </c:pt>
                <c:pt idx="53">
                  <c:v>1.26478956</c:v>
                </c:pt>
                <c:pt idx="54">
                  <c:v>1.27892428</c:v>
                </c:pt>
                <c:pt idx="55">
                  <c:v>1.2928026</c:v>
                </c:pt>
                <c:pt idx="56">
                  <c:v>1.3064245</c:v>
                </c:pt>
                <c:pt idx="57">
                  <c:v>1.31978999</c:v>
                </c:pt>
                <c:pt idx="58">
                  <c:v>1.33289907</c:v>
                </c:pt>
                <c:pt idx="59">
                  <c:v>1.34575173</c:v>
                </c:pt>
                <c:pt idx="60">
                  <c:v>1.35834798</c:v>
                </c:pt>
                <c:pt idx="61">
                  <c:v>1.37068783</c:v>
                </c:pt>
                <c:pt idx="62">
                  <c:v>1.38277125</c:v>
                </c:pt>
                <c:pt idx="63">
                  <c:v>1.39459827</c:v>
                </c:pt>
                <c:pt idx="64">
                  <c:v>1.40616888</c:v>
                </c:pt>
                <c:pt idx="65">
                  <c:v>1.41748307</c:v>
                </c:pt>
                <c:pt idx="66">
                  <c:v>1.42854085</c:v>
                </c:pt>
                <c:pt idx="67">
                  <c:v>1.43934222</c:v>
                </c:pt>
                <c:pt idx="68">
                  <c:v>1.44988717</c:v>
                </c:pt>
                <c:pt idx="69">
                  <c:v>1.46017572</c:v>
                </c:pt>
                <c:pt idx="70">
                  <c:v>1.47020785</c:v>
                </c:pt>
                <c:pt idx="71">
                  <c:v>1.47998357</c:v>
                </c:pt>
                <c:pt idx="72">
                  <c:v>1.48950288</c:v>
                </c:pt>
                <c:pt idx="73">
                  <c:v>1.49876578</c:v>
                </c:pt>
                <c:pt idx="74">
                  <c:v>1.50777226</c:v>
                </c:pt>
                <c:pt idx="75">
                  <c:v>1.51652233</c:v>
                </c:pt>
                <c:pt idx="76">
                  <c:v>1.52501599</c:v>
                </c:pt>
                <c:pt idx="77">
                  <c:v>1.53325324</c:v>
                </c:pt>
                <c:pt idx="78">
                  <c:v>1.54123407</c:v>
                </c:pt>
                <c:pt idx="79">
                  <c:v>1.5489585</c:v>
                </c:pt>
                <c:pt idx="80">
                  <c:v>1.55642651</c:v>
                </c:pt>
                <c:pt idx="81">
                  <c:v>1.56363811</c:v>
                </c:pt>
                <c:pt idx="82">
                  <c:v>1.57059329</c:v>
                </c:pt>
                <c:pt idx="83">
                  <c:v>1.57729207</c:v>
                </c:pt>
                <c:pt idx="84">
                  <c:v>1.58373443</c:v>
                </c:pt>
                <c:pt idx="85">
                  <c:v>1.58992038</c:v>
                </c:pt>
                <c:pt idx="86">
                  <c:v>1.59584992</c:v>
                </c:pt>
                <c:pt idx="87">
                  <c:v>1.60152305</c:v>
                </c:pt>
                <c:pt idx="88">
                  <c:v>1.60693976</c:v>
                </c:pt>
                <c:pt idx="89">
                  <c:v>1.61210006</c:v>
                </c:pt>
                <c:pt idx="90">
                  <c:v>1.61700395</c:v>
                </c:pt>
                <c:pt idx="91">
                  <c:v>1.62165143</c:v>
                </c:pt>
                <c:pt idx="92">
                  <c:v>1.6260425</c:v>
                </c:pt>
                <c:pt idx="93">
                  <c:v>1.63017715</c:v>
                </c:pt>
                <c:pt idx="94">
                  <c:v>1.63405539</c:v>
                </c:pt>
                <c:pt idx="95">
                  <c:v>1.63767722</c:v>
                </c:pt>
                <c:pt idx="96">
                  <c:v>1.64104264</c:v>
                </c:pt>
                <c:pt idx="97">
                  <c:v>1.64415165</c:v>
                </c:pt>
                <c:pt idx="98">
                  <c:v>1.64700424</c:v>
                </c:pt>
                <c:pt idx="99">
                  <c:v>1.64960042</c:v>
                </c:pt>
                <c:pt idx="100">
                  <c:v>1.65194019</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Detector response (a.u.)</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Concentration (mg/L)</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Calibration standards</c:v>
          </c:tx>
          <c:spPr>
            <a:ln xmlns:a="http://schemas.openxmlformats.org/drawingml/2006/main" w="0">
              <a:noFill/>
            </a:ln>
          </c:spPr>
          <c:marker>
            <c:symbol val="circle"/>
            <c:size val="6"/>
            <c:spPr>
              <a:solidFill xmlns:a="http://schemas.openxmlformats.org/drawingml/2006/main">
                <a:srgbClr val="028090"/>
              </a:solidFill>
            </c:spPr>
          </c:marker>
          <c:xVal>
            <c:numRef>
              <c:f>'Chart Data'!$A$2:$A$13</c:f>
              <c:numCache>
                <c:formatCode>General</c:formatCode>
                <c:ptCount val="12"/>
                <c:pt idx="0">
                  <c:v>0</c:v>
                </c:pt>
                <c:pt idx="1">
                  <c:v>0.09090909</c:v>
                </c:pt>
                <c:pt idx="2">
                  <c:v>0.18181818</c:v>
                </c:pt>
                <c:pt idx="3">
                  <c:v>0.27272727</c:v>
                </c:pt>
                <c:pt idx="4">
                  <c:v>0.36363636</c:v>
                </c:pt>
                <c:pt idx="5">
                  <c:v>0.45454545</c:v>
                </c:pt>
                <c:pt idx="6">
                  <c:v>0.54545455</c:v>
                </c:pt>
                <c:pt idx="7">
                  <c:v>0.63636364</c:v>
                </c:pt>
                <c:pt idx="8">
                  <c:v>0.72727273</c:v>
                </c:pt>
                <c:pt idx="9">
                  <c:v>0.81818182</c:v>
                </c:pt>
                <c:pt idx="10">
                  <c:v>0.90909091</c:v>
                </c:pt>
                <c:pt idx="11">
                  <c:v>1</c:v>
                </c:pt>
              </c:numCache>
            </c:numRef>
          </c:xVal>
          <c:yVal>
            <c:numRef>
              <c:f>'Chart Data'!$B$2:$B$13</c:f>
              <c:numCache>
                <c:formatCode>0.0</c:formatCode>
                <c:ptCount val="12"/>
                <c:pt idx="0">
                  <c:v>0.1106651</c:v>
                </c:pt>
                <c:pt idx="1">
                  <c:v>0.3628453</c:v>
                </c:pt>
                <c:pt idx="2">
                  <c:v>0.67500672</c:v>
                </c:pt>
                <c:pt idx="3">
                  <c:v>0.88967886</c:v>
                </c:pt>
                <c:pt idx="4">
                  <c:v>0.96190862</c:v>
                </c:pt>
                <c:pt idx="5">
                  <c:v>1.12922114</c:v>
                </c:pt>
                <c:pt idx="6">
                  <c:v>1.29983465</c:v>
                </c:pt>
                <c:pt idx="7">
                  <c:v>1.38481134</c:v>
                </c:pt>
                <c:pt idx="8">
                  <c:v>1.4791003</c:v>
                </c:pt>
                <c:pt idx="9">
                  <c:v>1.51970739</c:v>
                </c:pt>
                <c:pt idx="10">
                  <c:v>1.63860183</c:v>
                </c:pt>
                <c:pt idx="11">
                  <c:v>1.68361921</c:v>
                </c:pt>
              </c:numCache>
            </c:numRef>
          </c:yVal>
        </c:ser>
        <c:ser>
          <c:idx val="1"/>
          <c:order val="1"/>
          <c:tx>
            <c:v>Very flexible model</c:v>
          </c:tx>
          <c:spPr>
            <a:ln xmlns:a="http://schemas.openxmlformats.org/drawingml/2006/main" w="23813">
              <a:solidFill>
                <a:srgbClr val="C56B30"/>
              </a:solidFill>
            </a:ln>
          </c:spPr>
          <c:marker>
            <c:symbol val="none"/>
          </c:marker>
          <c:xVal>
            <c:numRef>
              <c:f>'Chart Data'!$C$2:$C$102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Data'!$D$2:$D$102</c:f>
              <c:numCache>
                <c:formatCode>0.0</c:formatCode>
                <c:ptCount val="101"/>
                <c:pt idx="0">
                  <c:v>0.1106651</c:v>
                </c:pt>
                <c:pt idx="1">
                  <c:v>0.22657224</c:v>
                </c:pt>
                <c:pt idx="2">
                  <c:v>0.29324835</c:v>
                </c:pt>
                <c:pt idx="3">
                  <c:v>0.32718258</c:v>
                </c:pt>
                <c:pt idx="4">
                  <c:v>0.34107935</c:v>
                </c:pt>
                <c:pt idx="5">
                  <c:v>0.34447271</c:v>
                </c:pt>
                <c:pt idx="6">
                  <c:v>0.34427181</c:v>
                </c:pt>
                <c:pt idx="7">
                  <c:v>0.34524217</c:v>
                </c:pt>
                <c:pt idx="8">
                  <c:v>0.35042736</c:v>
                </c:pt>
                <c:pt idx="9">
                  <c:v>0.3615154</c:v>
                </c:pt>
                <c:pt idx="10">
                  <c:v>0.37915451</c:v>
                </c:pt>
                <c:pt idx="11">
                  <c:v>0.40322233</c:v>
                </c:pt>
                <c:pt idx="12">
                  <c:v>0.43305286</c:v>
                </c:pt>
                <c:pt idx="13">
                  <c:v>0.46762506</c:v>
                </c:pt>
                <c:pt idx="14">
                  <c:v>0.5057171</c:v>
                </c:pt>
                <c:pt idx="15">
                  <c:v>0.5460298</c:v>
                </c:pt>
                <c:pt idx="16">
                  <c:v>0.58728287</c:v>
                </c:pt>
                <c:pt idx="17">
                  <c:v>0.6282873</c:v>
                </c:pt>
                <c:pt idx="18">
                  <c:v>0.6679969</c:v>
                </c:pt>
                <c:pt idx="19">
                  <c:v>0.70554216</c:v>
                </c:pt>
                <c:pt idx="20">
                  <c:v>0.74024891</c:v>
                </c:pt>
                <c:pt idx="21">
                  <c:v>0.77164451</c:v>
                </c:pt>
                <c:pt idx="22">
                  <c:v>0.79945384</c:v>
                </c:pt>
                <c:pt idx="23">
                  <c:v>0.82358719</c:v>
                </c:pt>
                <c:pt idx="24">
                  <c:v>0.84412205</c:v>
                </c:pt>
                <c:pt idx="25">
                  <c:v>0.86128043</c:v>
                </c:pt>
                <c:pt idx="26">
                  <c:v>0.87540342</c:v>
                </c:pt>
                <c:pt idx="27">
                  <c:v>0.88692415</c:v>
                </c:pt>
                <c:pt idx="28">
                  <c:v>0.89634046</c:v>
                </c:pt>
                <c:pt idx="29">
                  <c:v>0.90418825</c:v>
                </c:pt>
                <c:pt idx="30">
                  <c:v>0.91101628</c:v>
                </c:pt>
                <c:pt idx="31">
                  <c:v>0.91736313</c:v>
                </c:pt>
                <c:pt idx="32">
                  <c:v>0.92373693</c:v>
                </c:pt>
                <c:pt idx="33">
                  <c:v>0.93059801</c:v>
                </c:pt>
                <c:pt idx="34">
                  <c:v>0.93834502</c:v>
                </c:pt>
                <c:pt idx="35">
                  <c:v>0.9473044</c:v>
                </c:pt>
                <c:pt idx="36">
                  <c:v>0.95772334</c:v>
                </c:pt>
                <c:pt idx="37">
                  <c:v>0.96976615</c:v>
                </c:pt>
                <c:pt idx="38">
                  <c:v>0.98351383</c:v>
                </c:pt>
                <c:pt idx="39">
                  <c:v>0.99896669</c:v>
                </c:pt>
                <c:pt idx="40">
                  <c:v>1.0160496</c:v>
                </c:pt>
                <c:pt idx="41">
                  <c:v>1.03461963</c:v>
                </c:pt>
                <c:pt idx="42">
                  <c:v>1.05447561</c:v>
                </c:pt>
                <c:pt idx="43">
                  <c:v>1.07536921</c:v>
                </c:pt>
                <c:pt idx="44">
                  <c:v>1.09701712</c:v>
                </c:pt>
                <c:pt idx="45">
                  <c:v>1.11911387</c:v>
                </c:pt>
                <c:pt idx="46">
                  <c:v>1.14134483</c:v>
                </c:pt>
                <c:pt idx="47">
                  <c:v>1.16339892</c:v>
                </c:pt>
                <c:pt idx="48">
                  <c:v>1.18498075</c:v>
                </c:pt>
                <c:pt idx="49">
                  <c:v>1.20582164</c:v>
                </c:pt>
                <c:pt idx="50">
                  <c:v>1.2256893</c:v>
                </c:pt>
                <c:pt idx="51">
                  <c:v>1.2443958</c:v>
                </c:pt>
                <c:pt idx="52">
                  <c:v>1.26180365</c:v>
                </c:pt>
                <c:pt idx="53">
                  <c:v>1.27782979</c:v>
                </c:pt>
                <c:pt idx="54">
                  <c:v>1.29244722</c:v>
                </c:pt>
                <c:pt idx="55">
                  <c:v>1.30568454</c:v>
                </c:pt>
                <c:pt idx="56">
                  <c:v>1.31762306</c:v>
                </c:pt>
                <c:pt idx="57">
                  <c:v>1.32839177</c:v>
                </c:pt>
                <c:pt idx="58">
                  <c:v>1.33816033</c:v>
                </c:pt>
                <c:pt idx="59">
                  <c:v>1.34713016</c:v>
                </c:pt>
                <c:pt idx="60">
                  <c:v>1.35552412</c:v>
                </c:pt>
                <c:pt idx="61">
                  <c:v>1.36357491</c:v>
                </c:pt>
                <c:pt idx="62">
                  <c:v>1.3715129</c:v>
                </c:pt>
                <c:pt idx="63">
                  <c:v>1.37955352</c:v>
                </c:pt>
                <c:pt idx="64">
                  <c:v>1.38788502</c:v>
                </c:pt>
                <c:pt idx="65">
                  <c:v>1.39665691</c:v>
                </c:pt>
                <c:pt idx="66">
                  <c:v>1.40596982</c:v>
                </c:pt>
                <c:pt idx="67">
                  <c:v>1.41586723</c:v>
                </c:pt>
                <c:pt idx="68">
                  <c:v>1.42632968</c:v>
                </c:pt>
                <c:pt idx="69">
                  <c:v>1.43727199</c:v>
                </c:pt>
                <c:pt idx="70">
                  <c:v>1.44854389</c:v>
                </c:pt>
                <c:pt idx="71">
                  <c:v>1.45993462</c:v>
                </c:pt>
                <c:pt idx="72">
                  <c:v>1.47118172</c:v>
                </c:pt>
                <c:pt idx="73">
                  <c:v>1.48198408</c:v>
                </c:pt>
                <c:pt idx="74">
                  <c:v>1.49201962</c:v>
                </c:pt>
                <c:pt idx="75">
                  <c:v>1.50096705</c:v>
                </c:pt>
                <c:pt idx="76">
                  <c:v>1.50853169</c:v>
                </c:pt>
                <c:pt idx="77">
                  <c:v>1.51447451</c:v>
                </c:pt>
                <c:pt idx="78">
                  <c:v>1.51864354</c:v>
                </c:pt>
                <c:pt idx="79">
                  <c:v>1.52100647</c:v>
                </c:pt>
                <c:pt idx="80">
                  <c:v>1.52168267</c:v>
                </c:pt>
                <c:pt idx="81">
                  <c:v>1.52097268</c:v>
                </c:pt>
                <c:pt idx="82">
                  <c:v>1.51938261</c:v>
                </c:pt>
                <c:pt idx="83">
                  <c:v>1.51764022</c:v>
                </c:pt>
                <c:pt idx="84">
                  <c:v>1.5166993</c:v>
                </c:pt>
                <c:pt idx="85">
                  <c:v>1.51772765</c:v>
                </c:pt>
                <c:pt idx="86">
                  <c:v>1.52207397</c:v>
                </c:pt>
                <c:pt idx="87">
                  <c:v>1.53120757</c:v>
                </c:pt>
                <c:pt idx="88">
                  <c:v>1.54662438</c:v>
                </c:pt>
                <c:pt idx="89">
                  <c:v>1.5697115</c:v>
                </c:pt>
                <c:pt idx="90">
                  <c:v>1.60156185</c:v>
                </c:pt>
                <c:pt idx="91">
                  <c:v>1.64272903</c:v>
                </c:pt>
                <c:pt idx="92">
                  <c:v>1.69291172</c:v>
                </c:pt>
                <c:pt idx="93">
                  <c:v>1.75055524</c:v>
                </c:pt>
                <c:pt idx="94">
                  <c:v>1.81235699</c:v>
                </c:pt>
                <c:pt idx="95">
                  <c:v>1.8726608</c:v>
                </c:pt>
                <c:pt idx="96">
                  <c:v>1.92272356</c:v>
                </c:pt>
                <c:pt idx="97">
                  <c:v>1.94983622</c:v>
                </c:pt>
                <c:pt idx="98">
                  <c:v>1.93627903</c:v>
                </c:pt>
                <c:pt idx="99">
                  <c:v>1.85808953</c:v>
                </c:pt>
                <c:pt idx="100">
                  <c:v>1.68361921</c:v>
                </c:pt>
              </c:numCache>
            </c:numRef>
          </c:yVal>
        </c:ser>
        <c:ser>
          <c:idx val="2"/>
          <c:order val="2"/>
          <c:tx>
            <c:v>Curved model</c:v>
          </c:tx>
          <c:spPr>
            <a:ln xmlns:a="http://schemas.openxmlformats.org/drawingml/2006/main" w="23813">
              <a:solidFill>
                <a:srgbClr val="64748B"/>
              </a:solidFill>
            </a:ln>
          </c:spPr>
          <c:marker>
            <c:symbol val="none"/>
          </c:marker>
          <c:xVal>
            <c:numRef>
              <c:f>'Chart Data'!$E$2:$E$102</c:f>
              <c:numCache>
                <c:formatCode>General</c:formatCode>
                <c:ptCount val="101"/>
                <c:pt idx="0">
                  <c:v>0</c:v>
                </c:pt>
                <c:pt idx="1">
                  <c:v>0.01</c:v>
                </c:pt>
                <c:pt idx="2">
                  <c:v>0.02</c:v>
                </c:pt>
                <c:pt idx="3">
                  <c:v>0.03</c:v>
                </c:pt>
                <c:pt idx="4">
                  <c:v>0.04</c:v>
                </c:pt>
                <c:pt idx="5">
                  <c:v>0.05</c:v>
                </c:pt>
                <c:pt idx="6">
                  <c:v>0.06</c:v>
                </c:pt>
                <c:pt idx="7">
                  <c:v>0.07</c:v>
                </c:pt>
                <c:pt idx="8">
                  <c:v>0.08</c:v>
                </c:pt>
                <c:pt idx="9">
                  <c:v>0.09</c:v>
                </c:pt>
                <c:pt idx="10">
                  <c:v>0.1</c:v>
                </c:pt>
                <c:pt idx="11">
                  <c:v>0.11</c:v>
                </c:pt>
                <c:pt idx="12">
                  <c:v>0.12</c:v>
                </c:pt>
                <c:pt idx="13">
                  <c:v>0.13</c:v>
                </c:pt>
                <c:pt idx="14">
                  <c:v>0.14</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c:v>
                </c:pt>
                <c:pt idx="29">
                  <c:v>0.29</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c:v>
                </c:pt>
                <c:pt idx="56">
                  <c:v>0.56</c:v>
                </c:pt>
                <c:pt idx="57">
                  <c:v>0.57</c:v>
                </c:pt>
                <c:pt idx="58">
                  <c:v>0.58</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'Chart Data'!$F$2:$F$102</c:f>
              <c:numCache>
                <c:formatCode>0.0</c:formatCode>
                <c:ptCount val="101"/>
                <c:pt idx="0">
                  <c:v>0.14872337</c:v>
                </c:pt>
                <c:pt idx="1">
                  <c:v>0.17644793</c:v>
                </c:pt>
                <c:pt idx="2">
                  <c:v>0.20391609</c:v>
                </c:pt>
                <c:pt idx="3">
                  <c:v>0.23112783</c:v>
                </c:pt>
                <c:pt idx="4">
                  <c:v>0.25808316</c:v>
                </c:pt>
                <c:pt idx="5">
                  <c:v>0.28478208</c:v>
                </c:pt>
                <c:pt idx="6">
                  <c:v>0.31122459</c:v>
                </c:pt>
                <c:pt idx="7">
                  <c:v>0.33741068</c:v>
                </c:pt>
                <c:pt idx="8">
                  <c:v>0.36334037</c:v>
                </c:pt>
                <c:pt idx="9">
                  <c:v>0.38901364</c:v>
                </c:pt>
                <c:pt idx="10">
                  <c:v>0.41443049</c:v>
                </c:pt>
                <c:pt idx="11">
                  <c:v>0.43959094</c:v>
                </c:pt>
                <c:pt idx="12">
                  <c:v>0.46449498</c:v>
                </c:pt>
                <c:pt idx="13">
                  <c:v>0.4891426</c:v>
                </c:pt>
                <c:pt idx="14">
                  <c:v>0.51353381</c:v>
                </c:pt>
                <c:pt idx="15">
                  <c:v>0.53766861</c:v>
                </c:pt>
                <c:pt idx="16">
                  <c:v>0.56154699</c:v>
                </c:pt>
                <c:pt idx="17">
                  <c:v>0.58516896</c:v>
                </c:pt>
                <c:pt idx="18">
                  <c:v>0.60853453</c:v>
                </c:pt>
                <c:pt idx="19">
                  <c:v>0.63164368</c:v>
                </c:pt>
                <c:pt idx="20">
                  <c:v>0.65449641</c:v>
                </c:pt>
                <c:pt idx="21">
                  <c:v>0.67709274</c:v>
                </c:pt>
                <c:pt idx="22">
                  <c:v>0.69943265</c:v>
                </c:pt>
                <c:pt idx="23">
                  <c:v>0.72151615</c:v>
                </c:pt>
                <c:pt idx="24">
                  <c:v>0.74334324</c:v>
                </c:pt>
                <c:pt idx="25">
                  <c:v>0.76491392</c:v>
                </c:pt>
                <c:pt idx="26">
                  <c:v>0.78622818</c:v>
                </c:pt>
                <c:pt idx="27">
                  <c:v>0.80728604</c:v>
                </c:pt>
                <c:pt idx="28">
                  <c:v>0.82808748</c:v>
                </c:pt>
                <c:pt idx="29">
                  <c:v>0.8486325</c:v>
                </c:pt>
                <c:pt idx="30">
                  <c:v>0.86892112</c:v>
                </c:pt>
                <c:pt idx="31">
                  <c:v>0.88895333</c:v>
                </c:pt>
                <c:pt idx="32">
                  <c:v>0.90872912</c:v>
                </c:pt>
                <c:pt idx="33">
                  <c:v>0.9282485</c:v>
                </c:pt>
                <c:pt idx="34">
                  <c:v>0.94751147</c:v>
                </c:pt>
                <c:pt idx="35">
                  <c:v>0.96651802</c:v>
                </c:pt>
                <c:pt idx="36">
                  <c:v>0.98526817</c:v>
                </c:pt>
                <c:pt idx="37">
                  <c:v>1.0037619</c:v>
                </c:pt>
                <c:pt idx="38">
                  <c:v>1.02199922</c:v>
                </c:pt>
                <c:pt idx="39">
                  <c:v>1.03998012</c:v>
                </c:pt>
                <c:pt idx="40">
                  <c:v>1.05770462</c:v>
                </c:pt>
                <c:pt idx="41">
                  <c:v>1.0751727</c:v>
                </c:pt>
                <c:pt idx="42">
                  <c:v>1.09238437</c:v>
                </c:pt>
                <c:pt idx="43">
                  <c:v>1.10933963</c:v>
                </c:pt>
                <c:pt idx="44">
                  <c:v>1.12603848</c:v>
                </c:pt>
                <c:pt idx="45">
                  <c:v>1.14248091</c:v>
                </c:pt>
                <c:pt idx="46">
                  <c:v>1.15866694</c:v>
                </c:pt>
                <c:pt idx="47">
                  <c:v>1.17459655</c:v>
                </c:pt>
                <c:pt idx="48">
                  <c:v>1.19026975</c:v>
                </c:pt>
                <c:pt idx="49">
                  <c:v>1.20568653</c:v>
                </c:pt>
                <c:pt idx="50">
                  <c:v>1.22084691</c:v>
                </c:pt>
                <c:pt idx="51">
                  <c:v>1.23575087</c:v>
                </c:pt>
                <c:pt idx="52">
                  <c:v>1.25039842</c:v>
                </c:pt>
                <c:pt idx="53">
                  <c:v>1.26478956</c:v>
                </c:pt>
                <c:pt idx="54">
                  <c:v>1.27892428</c:v>
                </c:pt>
                <c:pt idx="55">
                  <c:v>1.2928026</c:v>
                </c:pt>
                <c:pt idx="56">
                  <c:v>1.3064245</c:v>
                </c:pt>
                <c:pt idx="57">
                  <c:v>1.31978999</c:v>
                </c:pt>
                <c:pt idx="58">
                  <c:v>1.33289907</c:v>
                </c:pt>
                <c:pt idx="59">
                  <c:v>1.34575173</c:v>
                </c:pt>
                <c:pt idx="60">
                  <c:v>1.35834798</c:v>
                </c:pt>
                <c:pt idx="61">
                  <c:v>1.37068783</c:v>
                </c:pt>
                <c:pt idx="62">
                  <c:v>1.38277125</c:v>
                </c:pt>
                <c:pt idx="63">
                  <c:v>1.39459827</c:v>
                </c:pt>
                <c:pt idx="64">
                  <c:v>1.40616888</c:v>
                </c:pt>
                <c:pt idx="65">
                  <c:v>1.41748307</c:v>
                </c:pt>
                <c:pt idx="66">
                  <c:v>1.42854085</c:v>
                </c:pt>
                <c:pt idx="67">
                  <c:v>1.43934222</c:v>
                </c:pt>
                <c:pt idx="68">
                  <c:v>1.44988717</c:v>
                </c:pt>
                <c:pt idx="69">
                  <c:v>1.46017572</c:v>
                </c:pt>
                <c:pt idx="70">
                  <c:v>1.47020785</c:v>
                </c:pt>
                <c:pt idx="71">
                  <c:v>1.47998357</c:v>
                </c:pt>
                <c:pt idx="72">
                  <c:v>1.48950288</c:v>
                </c:pt>
                <c:pt idx="73">
                  <c:v>1.49876578</c:v>
                </c:pt>
                <c:pt idx="74">
                  <c:v>1.50777226</c:v>
                </c:pt>
                <c:pt idx="75">
                  <c:v>1.51652233</c:v>
                </c:pt>
                <c:pt idx="76">
                  <c:v>1.52501599</c:v>
                </c:pt>
                <c:pt idx="77">
                  <c:v>1.53325324</c:v>
                </c:pt>
                <c:pt idx="78">
                  <c:v>1.54123407</c:v>
                </c:pt>
                <c:pt idx="79">
                  <c:v>1.5489585</c:v>
                </c:pt>
                <c:pt idx="80">
                  <c:v>1.55642651</c:v>
                </c:pt>
                <c:pt idx="81">
                  <c:v>1.56363811</c:v>
                </c:pt>
                <c:pt idx="82">
                  <c:v>1.57059329</c:v>
                </c:pt>
                <c:pt idx="83">
                  <c:v>1.57729207</c:v>
                </c:pt>
                <c:pt idx="84">
                  <c:v>1.58373443</c:v>
                </c:pt>
                <c:pt idx="85">
                  <c:v>1.58992038</c:v>
                </c:pt>
                <c:pt idx="86">
                  <c:v>1.59584992</c:v>
                </c:pt>
                <c:pt idx="87">
                  <c:v>1.60152305</c:v>
                </c:pt>
                <c:pt idx="88">
                  <c:v>1.60693976</c:v>
                </c:pt>
                <c:pt idx="89">
                  <c:v>1.61210006</c:v>
                </c:pt>
                <c:pt idx="90">
                  <c:v>1.61700395</c:v>
                </c:pt>
                <c:pt idx="91">
                  <c:v>1.62165143</c:v>
                </c:pt>
                <c:pt idx="92">
                  <c:v>1.6260425</c:v>
                </c:pt>
                <c:pt idx="93">
                  <c:v>1.63017715</c:v>
                </c:pt>
                <c:pt idx="94">
                  <c:v>1.63405539</c:v>
                </c:pt>
                <c:pt idx="95">
                  <c:v>1.63767722</c:v>
                </c:pt>
                <c:pt idx="96">
                  <c:v>1.64104264</c:v>
                </c:pt>
                <c:pt idx="97">
                  <c:v>1.64415165</c:v>
                </c:pt>
                <c:pt idx="98">
                  <c:v>1.64700424</c:v>
                </c:pt>
                <c:pt idx="99">
                  <c:v>1.64960042</c:v>
                </c:pt>
                <c:pt idx="100">
                  <c:v>1.65194019</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Detector response (a.u.)</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Concentration (mg/L)</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c:v>
          </c:tx>
          <c:spPr>
            <a:ln xmlns:a="http://schemas.openxmlformats.org/drawingml/2006/main" w="23813">
              <a:solidFill>
                <a:srgbClr val="028090"/>
              </a:solidFill>
            </a:ln>
          </c:spPr>
          <c:marker>
            <c:symbol val="circle"/>
            <c:size val="5"/>
            <c:spPr>
              <a:solidFill xmlns:a="http://schemas.openxmlformats.org/drawingml/2006/main">
                <a:srgbClr val="028090"/>
              </a:solidFill>
            </c:spPr>
          </c:marker>
          <c:cat>
            <c:numRef>
              <c:f>'Chart Data'!$A$2:$A$12</c:f>
              <c:numCache>
                <c:formatCode>General</c:formatCode>
                <c:ptCount val="11"/>
                <c:pt idx="0">
                  <c:v>1</c:v>
                </c:pt>
                <c:pt idx="1">
                  <c:v>2</c:v>
                </c:pt>
                <c:pt idx="2">
                  <c:v>3</c:v>
                </c:pt>
                <c:pt idx="3">
                  <c:v>4</c:v>
                </c:pt>
                <c:pt idx="4">
                  <c:v>5</c:v>
                </c:pt>
                <c:pt idx="5">
                  <c:v>6</c:v>
                </c:pt>
                <c:pt idx="6">
                  <c:v>7</c:v>
                </c:pt>
                <c:pt idx="7">
                  <c:v>8</c:v>
                </c:pt>
                <c:pt idx="8">
                  <c:v>9</c:v>
                </c:pt>
                <c:pt idx="9">
                  <c:v>10</c:v>
                </c:pt>
                <c:pt idx="10">
                  <c:v>11</c:v>
                </c:pt>
              </c:numCache>
            </c:numRef>
          </c:cat>
          <c:val>
            <c:numRef>
              <c:f>'Chart Data'!$B$2:$B$12</c:f>
              <c:numCache>
                <c:formatCode>0.00</c:formatCode>
                <c:ptCount val="11"/>
                <c:pt idx="0">
                  <c:v>0.11822425</c:v>
                </c:pt>
                <c:pt idx="1">
                  <c:v>0.03860769</c:v>
                </c:pt>
                <c:pt idx="2">
                  <c:v>0.02885081</c:v>
                </c:pt>
                <c:pt idx="3">
                  <c:v>0.02821092</c:v>
                </c:pt>
                <c:pt idx="4">
                  <c:v>0.02818139</c:v>
                </c:pt>
                <c:pt idx="5">
                  <c:v>0.02701845</c:v>
                </c:pt>
                <c:pt idx="6">
                  <c:v>0.01310869</c:v>
                </c:pt>
                <c:pt idx="7">
                  <c:v>0.01303524</c:v>
                </c:pt>
                <c:pt idx="8">
                  <c:v>0.01243797</c:v>
                </c:pt>
                <c:pt idx="9">
                  <c:v>0.00086679</c:v>
                </c:pt>
                <c:pt idx="10">
                  <c:v>0</c:v>
                </c:pt>
              </c:numCache>
            </c:numRef>
          </c:val>
          <c:smooth val="0"/>
        </c:ser>
        <c:ser>
          <c:idx val="1"/>
          <c:order val="1"/>
          <c:tx>
            <c:v>Validation</c:v>
          </c:tx>
          <c:spPr>
            <a:ln xmlns:a="http://schemas.openxmlformats.org/drawingml/2006/main" w="23813">
              <a:solidFill>
                <a:srgbClr val="C56B30"/>
              </a:solidFill>
            </a:ln>
          </c:spPr>
          <c:marker>
            <c:symbol val="circle"/>
            <c:size val="5"/>
            <c:spPr>
              <a:solidFill xmlns:a="http://schemas.openxmlformats.org/drawingml/2006/main">
                <a:srgbClr val="C56B30"/>
              </a:solidFill>
            </c:spPr>
          </c:marker>
          <c:cat>
            <c:numRef>
              <c:f>'Chart Data'!$C$2:$C$12</c:f>
              <c:numCache>
                <c:formatCode>General</c:formatCode>
                <c:ptCount val="11"/>
                <c:pt idx="0">
                  <c:v>1</c:v>
                </c:pt>
                <c:pt idx="1">
                  <c:v>2</c:v>
                </c:pt>
                <c:pt idx="2">
                  <c:v>3</c:v>
                </c:pt>
                <c:pt idx="3">
                  <c:v>4</c:v>
                </c:pt>
                <c:pt idx="4">
                  <c:v>5</c:v>
                </c:pt>
                <c:pt idx="5">
                  <c:v>6</c:v>
                </c:pt>
                <c:pt idx="6">
                  <c:v>7</c:v>
                </c:pt>
                <c:pt idx="7">
                  <c:v>8</c:v>
                </c:pt>
                <c:pt idx="8">
                  <c:v>9</c:v>
                </c:pt>
                <c:pt idx="9">
                  <c:v>10</c:v>
                </c:pt>
                <c:pt idx="10">
                  <c:v>11</c:v>
                </c:pt>
              </c:numCache>
            </c:numRef>
          </c:cat>
          <c:val>
            <c:numRef>
              <c:f>'Chart Data'!$D$2:$D$12</c:f>
              <c:numCache>
                <c:formatCode>0.00</c:formatCode>
                <c:ptCount val="11"/>
                <c:pt idx="0">
                  <c:v>0.11201251</c:v>
                </c:pt>
                <c:pt idx="1">
                  <c:v>0.03745912</c:v>
                </c:pt>
                <c:pt idx="2">
                  <c:v>0.02862952</c:v>
                </c:pt>
                <c:pt idx="3">
                  <c:v>0.02960733</c:v>
                </c:pt>
                <c:pt idx="4">
                  <c:v>0.02954092</c:v>
                </c:pt>
                <c:pt idx="5">
                  <c:v>0.0299514</c:v>
                </c:pt>
                <c:pt idx="6">
                  <c:v>0.04274925</c:v>
                </c:pt>
                <c:pt idx="7">
                  <c:v>0.04285239</c:v>
                </c:pt>
                <c:pt idx="8">
                  <c:v>0.04020697</c:v>
                </c:pt>
                <c:pt idx="9">
                  <c:v>0.07355271</c:v>
                </c:pt>
                <c:pt idx="10">
                  <c:v>0.07791017</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Polynomial degree (model flexibility)</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General"/>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catAx>
      <c:valAx>
        <c:axId val="48672768"/>
        <c:scaling>
          <c:orientation val="minMax"/>
          <c:max val="0.14"/>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Prediction error (RMSE)</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crossBetween val="between"/>
        <c:majorUnit val="0.0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predictions</c:v>
          </c:tx>
          <c:spPr>
            <a:solidFill xmlns:a="http://schemas.openxmlformats.org/drawingml/2006/main">
              <a:srgbClr val="028090"/>
            </a:solidFill>
          </c:spPr>
          <c:invertIfNegative val="0"/>
          <c:cat>
            <c:strRef>
              <c:f>'Chart Data'!$A$2:$A$3</c:f>
              <c:strCache>
                <c:ptCount val="2"/>
                <c:pt idx="0">
                  <c:v>Drinking water</c:v>
                </c:pt>
                <c:pt idx="1">
                  <c:v>River water</c:v>
                </c:pt>
              </c:strCache>
            </c:strRef>
          </c:cat>
          <c:val>
            <c:numRef>
              <c:f>'Chart Data'!$B$2:$B$3</c:f>
              <c:numCache>
                <c:formatCode>0%</c:formatCode>
                <c:ptCount val="2"/>
                <c:pt idx="0">
                  <c:v>0.95</c:v>
                </c:pt>
                <c:pt idx="1">
                  <c:v>0.5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350">
                <a:solidFill>
                  <a:srgbClr val="1E293B"/>
                </a:solidFill>
                <a:latin typeface="Calibri"/>
                <a:ea typeface="Calibri"/>
                <a:cs typeface="Calibri"/>
              </a:defRPr>
            </a:pPr>
          </a:p>
        </c:txPr>
        <c:crossAx val="48672768"/>
      </c:catAx>
      <c:valAx>
        <c:axId val="48672768"/>
        <c:scaling>
          <c:orientation val="minMax"/>
          <c:max val="1.05"/>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Accuracy within each matrix</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Calibration standards</c:v>
          </c:tx>
          <c:spPr>
            <a:ln xmlns:a="http://schemas.openxmlformats.org/drawingml/2006/main" w="0">
              <a:noFill/>
            </a:ln>
          </c:spPr>
          <c:marker>
            <c:symbol val="circle"/>
            <c:size val="6"/>
            <c:spPr>
              <a:solidFill xmlns:a="http://schemas.openxmlformats.org/drawingml/2006/main">
                <a:srgbClr val="028090"/>
              </a:solidFill>
            </c:spPr>
          </c:marker>
          <c:xVal>
            <c:numRef>
              <c:f>'Chart Data'!$A$2:$A$13</c:f>
              <c:numCache>
                <c:formatCode>General</c:formatCode>
                <c:ptCount val="12"/>
                <c:pt idx="0">
                  <c:v>0</c:v>
                </c:pt>
                <c:pt idx="1">
                  <c:v>0.09090909</c:v>
                </c:pt>
                <c:pt idx="2">
                  <c:v>0.18181818</c:v>
                </c:pt>
                <c:pt idx="3">
                  <c:v>0.27272727</c:v>
                </c:pt>
                <c:pt idx="4">
                  <c:v>0.36363636</c:v>
                </c:pt>
                <c:pt idx="5">
                  <c:v>0.45454545</c:v>
                </c:pt>
                <c:pt idx="6">
                  <c:v>0.54545455</c:v>
                </c:pt>
                <c:pt idx="7">
                  <c:v>0.63636364</c:v>
                </c:pt>
                <c:pt idx="8">
                  <c:v>0.72727273</c:v>
                </c:pt>
                <c:pt idx="9">
                  <c:v>0.81818182</c:v>
                </c:pt>
                <c:pt idx="10">
                  <c:v>0.90909091</c:v>
                </c:pt>
                <c:pt idx="11">
                  <c:v>1</c:v>
                </c:pt>
              </c:numCache>
            </c:numRef>
          </c:xVal>
          <c:yVal>
            <c:numRef>
              <c:f>'Chart Data'!$B$2:$B$13</c:f>
              <c:numCache>
                <c:formatCode>0.0</c:formatCode>
                <c:ptCount val="12"/>
                <c:pt idx="0">
                  <c:v>0.1106651</c:v>
                </c:pt>
                <c:pt idx="1">
                  <c:v>0.3628453</c:v>
                </c:pt>
                <c:pt idx="2">
                  <c:v>0.67500672</c:v>
                </c:pt>
                <c:pt idx="3">
                  <c:v>0.88967886</c:v>
                </c:pt>
                <c:pt idx="4">
                  <c:v>0.96190862</c:v>
                </c:pt>
                <c:pt idx="5">
                  <c:v>1.12922114</c:v>
                </c:pt>
                <c:pt idx="6">
                  <c:v>1.29983465</c:v>
                </c:pt>
                <c:pt idx="7">
                  <c:v>1.38481134</c:v>
                </c:pt>
                <c:pt idx="8">
                  <c:v>1.4791003</c:v>
                </c:pt>
                <c:pt idx="9">
                  <c:v>1.51970739</c:v>
                </c:pt>
                <c:pt idx="10">
                  <c:v>1.63860183</c:v>
                </c:pt>
                <c:pt idx="11">
                  <c:v>1.68361921</c:v>
                </c:pt>
              </c:numCache>
            </c:numRef>
          </c:yVal>
        </c:ser>
        <c:ser>
          <c:idx val="1"/>
          <c:order val="1"/>
          <c:tx>
            <c:v>Model prediction</c:v>
          </c:tx>
          <c:spPr>
            <a:ln xmlns:a="http://schemas.openxmlformats.org/drawingml/2006/main" w="23813">
              <a:solidFill>
                <a:srgbClr val="C56B30"/>
              </a:solidFill>
            </a:ln>
          </c:spPr>
          <c:marker>
            <c:symbol val="none"/>
          </c:marker>
          <c:xVal>
            <c:numRef>
              <c:f>'Chart Data'!$C$2:$C$102</c:f>
              <c:numCache>
                <c:formatCode>General</c:formatCode>
                <c:ptCount val="10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numCache>
            </c:numRef>
          </c:xVal>
          <c:yVal>
            <c:numRef>
              <c:f>'Chart Data'!$D$2:$D$102</c:f>
              <c:numCache>
                <c:formatCode>0.0</c:formatCode>
                <c:ptCount val="101"/>
                <c:pt idx="0">
                  <c:v>0.14872337</c:v>
                </c:pt>
                <c:pt idx="1">
                  <c:v>0.20391609</c:v>
                </c:pt>
                <c:pt idx="2">
                  <c:v>0.25808316</c:v>
                </c:pt>
                <c:pt idx="3">
                  <c:v>0.31122459</c:v>
                </c:pt>
                <c:pt idx="4">
                  <c:v>0.36334037</c:v>
                </c:pt>
                <c:pt idx="5">
                  <c:v>0.41443049</c:v>
                </c:pt>
                <c:pt idx="6">
                  <c:v>0.46449498</c:v>
                </c:pt>
                <c:pt idx="7">
                  <c:v>0.51353381</c:v>
                </c:pt>
                <c:pt idx="8">
                  <c:v>0.56154699</c:v>
                </c:pt>
                <c:pt idx="9">
                  <c:v>0.60853453</c:v>
                </c:pt>
                <c:pt idx="10">
                  <c:v>0.65449641</c:v>
                </c:pt>
                <c:pt idx="11">
                  <c:v>0.69943265</c:v>
                </c:pt>
                <c:pt idx="12">
                  <c:v>0.74334324</c:v>
                </c:pt>
                <c:pt idx="13">
                  <c:v>0.78622818</c:v>
                </c:pt>
                <c:pt idx="14">
                  <c:v>0.82808748</c:v>
                </c:pt>
                <c:pt idx="15">
                  <c:v>0.86892112</c:v>
                </c:pt>
                <c:pt idx="16">
                  <c:v>0.90872912</c:v>
                </c:pt>
                <c:pt idx="17">
                  <c:v>0.94751147</c:v>
                </c:pt>
                <c:pt idx="18">
                  <c:v>0.98526817</c:v>
                </c:pt>
                <c:pt idx="19">
                  <c:v>1.02199922</c:v>
                </c:pt>
                <c:pt idx="20">
                  <c:v>1.05770462</c:v>
                </c:pt>
                <c:pt idx="21">
                  <c:v>1.09238437</c:v>
                </c:pt>
                <c:pt idx="22">
                  <c:v>1.12603848</c:v>
                </c:pt>
                <c:pt idx="23">
                  <c:v>1.15866694</c:v>
                </c:pt>
                <c:pt idx="24">
                  <c:v>1.19026975</c:v>
                </c:pt>
                <c:pt idx="25">
                  <c:v>1.22084691</c:v>
                </c:pt>
                <c:pt idx="26">
                  <c:v>1.25039842</c:v>
                </c:pt>
                <c:pt idx="27">
                  <c:v>1.27892428</c:v>
                </c:pt>
                <c:pt idx="28">
                  <c:v>1.3064245</c:v>
                </c:pt>
                <c:pt idx="29">
                  <c:v>1.33289907</c:v>
                </c:pt>
                <c:pt idx="30">
                  <c:v>1.35834798</c:v>
                </c:pt>
                <c:pt idx="31">
                  <c:v>1.38277125</c:v>
                </c:pt>
                <c:pt idx="32">
                  <c:v>1.40616888</c:v>
                </c:pt>
                <c:pt idx="33">
                  <c:v>1.42854085</c:v>
                </c:pt>
                <c:pt idx="34">
                  <c:v>1.44988717</c:v>
                </c:pt>
                <c:pt idx="35">
                  <c:v>1.47020785</c:v>
                </c:pt>
                <c:pt idx="36">
                  <c:v>1.48950288</c:v>
                </c:pt>
                <c:pt idx="37">
                  <c:v>1.50777226</c:v>
                </c:pt>
                <c:pt idx="38">
                  <c:v>1.52501599</c:v>
                </c:pt>
                <c:pt idx="39">
                  <c:v>1.54123407</c:v>
                </c:pt>
                <c:pt idx="40">
                  <c:v>1.55642651</c:v>
                </c:pt>
                <c:pt idx="41">
                  <c:v>1.57059329</c:v>
                </c:pt>
                <c:pt idx="42">
                  <c:v>1.58373443</c:v>
                </c:pt>
                <c:pt idx="43">
                  <c:v>1.59584992</c:v>
                </c:pt>
                <c:pt idx="44">
                  <c:v>1.60693976</c:v>
                </c:pt>
                <c:pt idx="45">
                  <c:v>1.61700395</c:v>
                </c:pt>
                <c:pt idx="46">
                  <c:v>1.6260425</c:v>
                </c:pt>
                <c:pt idx="47">
                  <c:v>1.63405539</c:v>
                </c:pt>
                <c:pt idx="48">
                  <c:v>1.64104264</c:v>
                </c:pt>
                <c:pt idx="49">
                  <c:v>1.64700424</c:v>
                </c:pt>
                <c:pt idx="50">
                  <c:v>1.65194019</c:v>
                </c:pt>
                <c:pt idx="51">
                  <c:v>1.65585049</c:v>
                </c:pt>
                <c:pt idx="52">
                  <c:v>1.65873515</c:v>
                </c:pt>
                <c:pt idx="53">
                  <c:v>1.66059415</c:v>
                </c:pt>
                <c:pt idx="54">
                  <c:v>1.66142751</c:v>
                </c:pt>
                <c:pt idx="55">
                  <c:v>1.66123522</c:v>
                </c:pt>
                <c:pt idx="56">
                  <c:v>1.66001728</c:v>
                </c:pt>
                <c:pt idx="57">
                  <c:v>1.65777369</c:v>
                </c:pt>
                <c:pt idx="58">
                  <c:v>1.65450445</c:v>
                </c:pt>
                <c:pt idx="59">
                  <c:v>1.65020957</c:v>
                </c:pt>
                <c:pt idx="60">
                  <c:v>1.64488903</c:v>
                </c:pt>
                <c:pt idx="61">
                  <c:v>1.63854285</c:v>
                </c:pt>
                <c:pt idx="62">
                  <c:v>1.63117102</c:v>
                </c:pt>
                <c:pt idx="63">
                  <c:v>1.62277354</c:v>
                </c:pt>
                <c:pt idx="64">
                  <c:v>1.61335041</c:v>
                </c:pt>
                <c:pt idx="65">
                  <c:v>1.60290164</c:v>
                </c:pt>
                <c:pt idx="66">
                  <c:v>1.59142721</c:v>
                </c:pt>
                <c:pt idx="67">
                  <c:v>1.57892714</c:v>
                </c:pt>
                <c:pt idx="68">
                  <c:v>1.56540142</c:v>
                </c:pt>
                <c:pt idx="69">
                  <c:v>1.55085005</c:v>
                </c:pt>
                <c:pt idx="70">
                  <c:v>1.53527303</c:v>
                </c:pt>
                <c:pt idx="71">
                  <c:v>1.51867037</c:v>
                </c:pt>
                <c:pt idx="72">
                  <c:v>1.50104205</c:v>
                </c:pt>
                <c:pt idx="73">
                  <c:v>1.48238809</c:v>
                </c:pt>
                <c:pt idx="74">
                  <c:v>1.46270848</c:v>
                </c:pt>
                <c:pt idx="75">
                  <c:v>1.44200322</c:v>
                </c:pt>
                <c:pt idx="76">
                  <c:v>1.42027231</c:v>
                </c:pt>
                <c:pt idx="77">
                  <c:v>1.39751575</c:v>
                </c:pt>
                <c:pt idx="78">
                  <c:v>1.37373355</c:v>
                </c:pt>
                <c:pt idx="79">
                  <c:v>1.34892569</c:v>
                </c:pt>
                <c:pt idx="80">
                  <c:v>1.32309219</c:v>
                </c:pt>
                <c:pt idx="81">
                  <c:v>1.29623304</c:v>
                </c:pt>
                <c:pt idx="82">
                  <c:v>1.26834824</c:v>
                </c:pt>
                <c:pt idx="83">
                  <c:v>1.2394378</c:v>
                </c:pt>
                <c:pt idx="84">
                  <c:v>1.2095017</c:v>
                </c:pt>
                <c:pt idx="85">
                  <c:v>1.17853996</c:v>
                </c:pt>
                <c:pt idx="86">
                  <c:v>1.14655256</c:v>
                </c:pt>
                <c:pt idx="87">
                  <c:v>1.11353952</c:v>
                </c:pt>
                <c:pt idx="88">
                  <c:v>1.07950083</c:v>
                </c:pt>
                <c:pt idx="89">
                  <c:v>1.0444365</c:v>
                </c:pt>
                <c:pt idx="90">
                  <c:v>1.00834651</c:v>
                </c:pt>
                <c:pt idx="91">
                  <c:v>0.97123088</c:v>
                </c:pt>
                <c:pt idx="92">
                  <c:v>0.93308959</c:v>
                </c:pt>
                <c:pt idx="93">
                  <c:v>0.89392266</c:v>
                </c:pt>
                <c:pt idx="94">
                  <c:v>0.85373008</c:v>
                </c:pt>
                <c:pt idx="95">
                  <c:v>0.81251185</c:v>
                </c:pt>
                <c:pt idx="96">
                  <c:v>0.77026798</c:v>
                </c:pt>
                <c:pt idx="97">
                  <c:v>0.72699845</c:v>
                </c:pt>
                <c:pt idx="98">
                  <c:v>0.68270328</c:v>
                </c:pt>
                <c:pt idx="99">
                  <c:v>0.63738246</c:v>
                </c:pt>
                <c:pt idx="100">
                  <c:v>0.59103599</c:v>
                </c:pt>
              </c:numCache>
            </c:numRef>
          </c:yVal>
        </c:ser>
        <c:ser>
          <c:idx val="2"/>
          <c:order val="2"/>
          <c:tx>
            <c:v>New sample</c:v>
          </c:tx>
          <c:spPr>
            <a:ln xmlns:a="http://schemas.openxmlformats.org/drawingml/2006/main" w="0">
              <a:noFill/>
            </a:ln>
          </c:spPr>
          <c:marker>
            <c:symbol val="diamond"/>
            <c:size val="10"/>
            <c:spPr>
              <a:solidFill xmlns:a="http://schemas.openxmlformats.org/drawingml/2006/main">
                <a:srgbClr val="1E293B"/>
              </a:solidFill>
            </c:spPr>
          </c:marker>
          <c:xVal>
            <c:numRef>
              <c:f>'Chart Data'!$E$2:$E$2</c:f>
              <c:numCache>
                <c:formatCode>General</c:formatCode>
                <c:ptCount val="1"/>
                <c:pt idx="0">
                  <c:v>2</c:v>
                </c:pt>
              </c:numCache>
            </c:numRef>
          </c:xVal>
          <c:yVal>
            <c:numRef>
              <c:f>'Chart Data'!$F$2:$F$2</c:f>
              <c:numCache>
                <c:formatCode>0.0</c:formatCode>
                <c:ptCount val="1"/>
                <c:pt idx="0">
                  <c:v>0.59103599</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majorGridlines>
          <c:spPr>
            <a:ln xmlns:a="http://schemas.openxmlformats.org/drawingml/2006/main" w="6668">
              <a:solidFill>
                <a:srgbClr val="E2E8F0"/>
              </a:solidFill>
            </a:ln>
          </c:spPr>
        </c:majorGridlines>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Detector response (a.u.)</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50112"/>
        <c:majorUnit val="0.5"/>
      </c:valAx>
      <c:valAx>
        <c:axId val="48650112"/>
        <c:scaling>
          <c:orientation val="minMax"/>
          <c:max val="2.1"/>
          <c:min val="0"/>
        </c:scaling>
        <c:delete val="0"/>
        <c:axPos val="b"/>
        <c:title>
          <c:tx>
            <c:rich>
              <a:bodyPr xmlns:a="http://schemas.openxmlformats.org/drawingml/2006/main"/>
              <a:lstStyle xmlns:a="http://schemas.openxmlformats.org/drawingml/2006/main"/>
              <a:p xmlns:a="http://schemas.openxmlformats.org/drawingml/2006/main">
                <a:r>
                  <a:rPr sz="1275">
                    <a:latin typeface="Calibri"/>
                    <a:ea typeface="Calibri"/>
                    <a:cs typeface="Calibri"/>
                  </a:rPr>
                  <a:t>Concentration (mg/L)</a:t>
                </a:r>
              </a:p>
            </c:rich>
          </c:tx>
          <c:overlay val="0"/>
          <c:txPr>
            <a:bodyPr xmlns:a="http://schemas.openxmlformats.org/drawingml/2006/main" anchorCtr="1"/>
            <a:lstStyle xmlns:a="http://schemas.openxmlformats.org/drawingml/2006/main"/>
            <a:p xmlns:a="http://schemas.openxmlformats.org/drawingml/2006/main">
              <a:pPr>
                <a:defRPr sz="1275">
                  <a:latin typeface="Calibri"/>
                  <a:ea typeface="Calibri"/>
                  <a:cs typeface="Calibri"/>
                </a:defRPr>
              </a:pPr>
            </a:p>
          </c:txPr>
        </c:title>
        <c:numFmt formatCode="0.0"/>
        <c:majorTickMark val="none"/>
        <c:minorTickMark val="none"/>
        <c:spPr>
          <a:ln xmlns:a="http://schemas.openxmlformats.org/drawingml/2006/main" w="9525">
            <a:solidFill>
              <a:srgbClr val="64748B"/>
            </a:solidFill>
          </a:ln>
        </c:spPr>
        <c:txPr>
          <a:bodyPr xmlns:a="http://schemas.openxmlformats.org/drawingml/2006/main" anchorCtr="1"/>
          <a:lstStyle xmlns:a="http://schemas.openxmlformats.org/drawingml/2006/main"/>
          <a:p xmlns:a="http://schemas.openxmlformats.org/drawingml/2006/main">
            <a:pPr>
              <a:defRPr sz="1200">
                <a:solidFill>
                  <a:srgbClr val="64748B"/>
                </a:solidFill>
                <a:latin typeface="Calibri"/>
                <a:ea typeface="Calibri"/>
                <a:cs typeface="Calibri"/>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E29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Specimen B, scan 1</c:v>
          </c:tx>
          <c:spPr>
            <a:ln xmlns:a="http://schemas.openxmlformats.org/drawingml/2006/main" w="22860">
              <a:solidFill>
                <a:srgbClr val="C56B30"/>
              </a:solidFill>
            </a:ln>
          </c:spPr>
          <c:marker>
            <c:symbol val="none"/>
          </c:marke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General</c:formatCode>
                <c:ptCount val="7"/>
                <c:pt idx="0">
                  <c:v>0.05</c:v>
                </c:pt>
                <c:pt idx="1">
                  <c:v>0.12</c:v>
                </c:pt>
                <c:pt idx="2">
                  <c:v>0.48</c:v>
                </c:pt>
                <c:pt idx="3">
                  <c:v>1</c:v>
                </c:pt>
                <c:pt idx="4">
                  <c:v>0.44</c:v>
                </c:pt>
                <c:pt idx="5">
                  <c:v>0.13</c:v>
                </c:pt>
                <c:pt idx="6">
                  <c:v>0.05</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1.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Specimen B, scan 2</c:v>
          </c:tx>
          <c:spPr>
            <a:ln xmlns:a="http://schemas.openxmlformats.org/drawingml/2006/main" w="22860">
              <a:solidFill>
                <a:srgbClr val="C56B30"/>
              </a:solidFill>
            </a:ln>
          </c:spPr>
          <c:marker>
            <c:symbol val="none"/>
          </c:marke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General</c:formatCode>
                <c:ptCount val="7"/>
                <c:pt idx="0">
                  <c:v>0.06</c:v>
                </c:pt>
                <c:pt idx="1">
                  <c:v>0.13</c:v>
                </c:pt>
                <c:pt idx="2">
                  <c:v>0.46</c:v>
                </c:pt>
                <c:pt idx="3">
                  <c:v>0.98</c:v>
                </c:pt>
                <c:pt idx="4">
                  <c:v>0.47</c:v>
                </c:pt>
                <c:pt idx="5">
                  <c:v>0.14</c:v>
                </c:pt>
                <c:pt idx="6">
                  <c:v>0.04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1.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Specimen B, scan 3</c:v>
          </c:tx>
          <c:spPr>
            <a:ln xmlns:a="http://schemas.openxmlformats.org/drawingml/2006/main" w="22860">
              <a:solidFill>
                <a:srgbClr val="C56B30"/>
              </a:solidFill>
            </a:ln>
          </c:spPr>
          <c:marker>
            <c:symbol val="none"/>
          </c:marke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General</c:formatCode>
                <c:ptCount val="7"/>
                <c:pt idx="0">
                  <c:v>0.05</c:v>
                </c:pt>
                <c:pt idx="1">
                  <c:v>0.11</c:v>
                </c:pt>
                <c:pt idx="2">
                  <c:v>0.49</c:v>
                </c:pt>
                <c:pt idx="3">
                  <c:v>1.02</c:v>
                </c:pt>
                <c:pt idx="4">
                  <c:v>0.46</c:v>
                </c:pt>
                <c:pt idx="5">
                  <c:v>0.13</c:v>
                </c:pt>
                <c:pt idx="6">
                  <c:v>0.06</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1.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AF2BB9-9BAA-49EE-83F1-4CB8220DF763}"/>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D10559D5-F25B-4921-BDEE-3EDA6E19923F}"/>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Five ways a model can fail</a:t>
            </a:r>
          </a:p>
        </p:txBody>
      </p:sp>
      <p:sp>
        <p:nvSpPr>
          <p:cNvPr id="3" name="">
            <a:extLst xmlns:a="http://schemas.openxmlformats.org/drawingml/2006/main">
              <a:ext uri="{FF2B5EF4-FFF2-40B4-BE49-F238E27FC236}">
                <a16:creationId xmlns:a16="http://schemas.microsoft.com/office/drawing/2014/main" id="{41EB5408-3820-4617-AF6D-3250E75575B5}"/>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1</a:t>
            </a:r>
          </a:p>
        </p:txBody>
      </p:sp>
      <p:graphicFrame>
        <p:nvGraphicFramePr>
          <p:cNvPr id="4" name="">
            <a:extLst xmlns:a="http://schemas.openxmlformats.org/drawingml/2006/main">
              <a:ext uri="{FF2B5EF4-FFF2-40B4-BE49-F238E27FC236}">
                <a16:creationId xmlns:a16="http://schemas.microsoft.com/office/drawing/2014/main" id="{8D2B1C24-A399-4560-A8D8-FB4DA1A5194E}"/>
              </a:ext>
            </a:extLst>
          </p:cNvPr>
          <p:cNvGraphicFramePr/>
          <p:nvPr/>
        </p:nvGraphicFramePr>
        <p:xfrm>
          <a:off xmlns:a="http://schemas.openxmlformats.org/drawingml/2006/main" x="457200" y="1381125"/>
          <a:ext xmlns:a="http://schemas.openxmlformats.org/drawingml/2006/main" cx="8229600" cy="3028950"/>
        </p:xfrm>
        <a:graphic xmlns:a="http://schemas.openxmlformats.org/drawingml/2006/main">
          <a:graphicData uri="http://schemas.openxmlformats.org/drawingml/2006/table">
            <a:tbl>
              <a:tblPr/>
              <a:tblGrid>
                <a:gridCol w="1714500"/>
                <a:gridCol w="3238500"/>
                <a:gridCol w="3276600"/>
              </a:tblGrid>
              <a:tr h="504825">
                <a:tc>
                  <a:txBody>
                    <a:bodyPr/>
                    <a:lstStyle/>
                    <a:p>
                      <a:r>
                        <a:rPr sz="1400" b="0">
                          <a:solidFill>
                            <a:srgbClr val="FFFFFF"/>
                          </a:solidFill>
                          <a:latin typeface="Calibri"/>
                          <a:ea typeface="Calibri"/>
                          <a:cs typeface="Calibri"/>
                        </a:rPr>
                        <a:t>Failure mode</a:t>
                      </a:r>
                    </a:p>
                  </a:txBody>
                  <a:tcPr marL="114300" marR="114300" marT="28575" marB="28575">
                    <a:solidFill>
                      <a:srgbClr val="028090"/>
                    </a:solidFill>
                  </a:tcPr>
                </a:tc>
                <a:tc>
                  <a:txBody>
                    <a:bodyPr/>
                    <a:lstStyle/>
                    <a:p>
                      <a:r>
                        <a:rPr sz="1400" b="0">
                          <a:solidFill>
                            <a:srgbClr val="FFFFFF"/>
                          </a:solidFill>
                          <a:latin typeface="Calibri"/>
                          <a:ea typeface="Calibri"/>
                          <a:cs typeface="Calibri"/>
                        </a:rPr>
                        <a:t>What goes wrong?</a:t>
                      </a:r>
                    </a:p>
                  </a:txBody>
                  <a:tcPr marL="114300" marR="114300" marT="28575" marB="28575">
                    <a:solidFill>
                      <a:srgbClr val="028090"/>
                    </a:solidFill>
                  </a:tcPr>
                </a:tc>
                <a:tc>
                  <a:txBody>
                    <a:bodyPr/>
                    <a:lstStyle/>
                    <a:p>
                      <a:r>
                        <a:rPr sz="1400" b="0">
                          <a:solidFill>
                            <a:srgbClr val="FFFFFF"/>
                          </a:solidFill>
                          <a:latin typeface="Calibri"/>
                          <a:ea typeface="Calibri"/>
                          <a:cs typeface="Calibri"/>
                        </a:rPr>
                        <a:t>Useful check</a:t>
                      </a:r>
                    </a:p>
                  </a:txBody>
                  <a:tcPr marL="114300" marR="114300" marT="28575" marB="28575">
                    <a:solidFill>
                      <a:srgbClr val="028090"/>
                    </a:solidFill>
                  </a:tcPr>
                </a:tc>
              </a:tr>
              <a:tr h="504825">
                <a:tc>
                  <a:txBody>
                    <a:bodyPr/>
                    <a:lstStyle/>
                    <a:p>
                      <a:r>
                        <a:rPr sz="1400" b="0">
                          <a:solidFill>
                            <a:srgbClr val="1E293B"/>
                          </a:solidFill>
                          <a:latin typeface="Calibri"/>
                          <a:ea typeface="Calibri"/>
                          <a:cs typeface="Calibri"/>
                        </a:rPr>
                        <a:t>Underfitting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model misses a useful pattern.</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and validation performance</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Overfitting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model fits accidental details.</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training–validation gap</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Bias in the data</a:t>
                      </a:r>
                    </a:p>
                  </a:txBody>
                  <a:tcPr marL="114300" marR="114300" marT="28575" marB="28575">
                    <a:solidFill>
                      <a:srgbClr val="FFFFFF"/>
                    </a:solidFill>
                  </a:tcPr>
                </a:tc>
                <a:tc>
                  <a:txBody>
                    <a:bodyPr/>
                    <a:lstStyle/>
                    <a:p>
                      <a:r>
                        <a:rPr sz="1400" b="0">
                          <a:solidFill>
                            <a:srgbClr val="1E293B"/>
                          </a:solidFill>
                          <a:latin typeface="Calibri"/>
                          <a:ea typeface="Calibri"/>
                          <a:cs typeface="Calibri"/>
                        </a:rPr>
                        <a:t>Some conditions have poor coverage.</a:t>
                      </a:r>
                    </a:p>
                  </a:txBody>
                  <a:tcPr marL="114300" marR="114300" marT="28575" marB="28575">
                    <a:solidFill>
                      <a:srgbClr val="FFFFFF"/>
                    </a:solidFill>
                  </a:tcPr>
                </a:tc>
                <a:tc>
                  <a:txBody>
                    <a:bodyPr/>
                    <a:lstStyle/>
                    <a:p>
                      <a:r>
                        <a:rPr sz="1400" b="0">
                          <a:solidFill>
                            <a:srgbClr val="1E293B"/>
                          </a:solidFill>
                          <a:latin typeface="Calibri"/>
                          <a:ea typeface="Calibri"/>
                          <a:cs typeface="Calibri"/>
                        </a:rPr>
                        <a:t>Sampling and performance by group</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Out of</a:t>
                      </a:r>
                    </a:p>
                    <a:p>
                      <a:r>
                        <a:rPr sz="1400" b="0">
                          <a:solidFill>
                            <a:srgbClr val="1E293B"/>
                          </a:solidFill>
                          <a:latin typeface="Calibri"/>
                          <a:ea typeface="Calibri"/>
                          <a:cs typeface="Calibri"/>
                        </a:rPr>
                        <a:t>distribution</a:t>
                      </a:r>
                    </a:p>
                  </a:txBody>
                  <a:tcPr marL="114300" marR="114300" marT="28575" marB="28575">
                    <a:solidFill>
                      <a:srgbClr val="FFFFFF"/>
                    </a:solidFill>
                  </a:tcPr>
                </a:tc>
                <a:tc>
                  <a:txBody>
                    <a:bodyPr/>
                    <a:lstStyle/>
                    <a:p>
                      <a:r>
                        <a:rPr sz="1400" b="0">
                          <a:solidFill>
                            <a:srgbClr val="1E293B"/>
                          </a:solidFill>
                          <a:latin typeface="Calibri"/>
                          <a:ea typeface="Calibri"/>
                          <a:cs typeface="Calibri"/>
                        </a:rPr>
                        <a:t>New conditions differ from those studied.</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intended conditions of use</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Information</a:t>
                      </a:r>
                    </a:p>
                    <a:p>
                      <a:r>
                        <a:rPr sz="1400" b="0">
                          <a:solidFill>
                            <a:srgbClr val="1E293B"/>
                          </a:solidFill>
                          <a:latin typeface="Calibri"/>
                          <a:ea typeface="Calibri"/>
                          <a:cs typeface="Calibri"/>
                        </a:rPr>
                        <a:t>leakage</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and test information overlap.</a:t>
                      </a:r>
                    </a:p>
                  </a:txBody>
                  <a:tcPr marL="114300" marR="114300" marT="28575" marB="28575">
                    <a:solidFill>
                      <a:srgbClr val="FFFFFF"/>
                    </a:solidFill>
                  </a:tcPr>
                </a:tc>
                <a:tc>
                  <a:txBody>
                    <a:bodyPr/>
                    <a:lstStyle/>
                    <a:p>
                      <a:r>
                        <a:rPr sz="1400" b="0">
                          <a:solidFill>
                            <a:srgbClr val="1E293B"/>
                          </a:solidFill>
                          <a:latin typeface="Calibri"/>
                          <a:ea typeface="Calibri"/>
                          <a:cs typeface="Calibri"/>
                        </a:rPr>
                        <a:t>Split units and data preparation</a:t>
                      </a:r>
                    </a:p>
                  </a:txBody>
                  <a:tcPr marL="114300" marR="114300" marT="28575" marB="2857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C75F81C-9CE8-4087-8BF3-014F6883F2BE}"/>
              </a:ext>
            </a:extLst>
          </p:cNvPr>
          <p:cNvSpPr>
            <a:spLocks xmlns:a="http://schemas.openxmlformats.org/drawingml/2006/main" noGrp="1"/>
          </p:cNvSpPr>
          <p:nvPr/>
        </p:nvSpPr>
        <p:spPr>
          <a:xfrm xmlns:a="http://schemas.openxmlformats.org/drawingml/2006/main">
            <a:off x="457200" y="47148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Good predictions require an independent evaluation.</a:t>
            </a:r>
          </a:p>
        </p:txBody>
      </p:sp>
    </p:spTree>
    <p:extLst>
      <p:ext uri="{BB962C8B-B14F-4D97-AF65-F5344CB8AC3E}">
        <p14:creationId xmlns:p14="http://schemas.microsoft.com/office/powerpoint/2010/main" val="1716639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C326DC-446D-4827-A3E6-D68B2F66CACB}"/>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7462F6A7-DB7B-4335-BBA7-D7082AEC121D}"/>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Underfitting</a:t>
            </a:r>
          </a:p>
        </p:txBody>
      </p:sp>
      <p:sp>
        <p:nvSpPr>
          <p:cNvPr id="3" name="">
            <a:extLst xmlns:a="http://schemas.openxmlformats.org/drawingml/2006/main">
              <a:ext uri="{FF2B5EF4-FFF2-40B4-BE49-F238E27FC236}">
                <a16:creationId xmlns:a16="http://schemas.microsoft.com/office/drawing/2014/main" id="{2497A4C0-7D12-40F8-9409-106FB67F0D3D}"/>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2</a:t>
            </a:r>
          </a:p>
        </p:txBody>
      </p:sp>
      <p:graphicFrame>
        <p:nvGraphicFramePr>
          <p:cNvPr id="4" name="Chart">
            <a:extLst xmlns:a="http://schemas.openxmlformats.org/drawingml/2006/main">
              <a:ext uri="{FF2B5EF4-FFF2-40B4-BE49-F238E27FC236}">
                <a16:creationId xmlns:a16="http://schemas.microsoft.com/office/drawing/2014/main" id="{EDCE6365-2D25-4AA0-AF74-A6D679FD8BD7}"/>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683557c31d7447b8"/>
          </a:graphicData>
        </a:graphic>
      </p:graphicFrame>
      <p:sp>
        <p:nvSpPr>
          <p:cNvPr id="5" name="">
            <a:extLst xmlns:a="http://schemas.openxmlformats.org/drawingml/2006/main">
              <a:ext uri="{FF2B5EF4-FFF2-40B4-BE49-F238E27FC236}">
                <a16:creationId xmlns:a16="http://schemas.microsoft.com/office/drawing/2014/main" id="{84C22C3E-5D19-4AF7-AE2C-AA1F39F64A5E}"/>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A straight line misses the bend as the detector approaches saturation.</a:t>
            </a:r>
          </a:p>
        </p:txBody>
      </p:sp>
      <p:sp>
        <p:nvSpPr>
          <p:cNvPr id="6" name="">
            <a:extLst xmlns:a="http://schemas.openxmlformats.org/drawingml/2006/main">
              <a:ext uri="{FF2B5EF4-FFF2-40B4-BE49-F238E27FC236}">
                <a16:creationId xmlns:a16="http://schemas.microsoft.com/office/drawing/2014/main" id="{B93DBC6E-A775-41C9-8D7A-93D3843C61AC}"/>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Training and validation errors both exceed those of a suitable curved model.</a:t>
            </a:r>
          </a:p>
        </p:txBody>
      </p:sp>
      <p:sp>
        <p:nvSpPr>
          <p:cNvPr id="7" name="">
            <a:extLst xmlns:a="http://schemas.openxmlformats.org/drawingml/2006/main">
              <a:ext uri="{FF2B5EF4-FFF2-40B4-BE49-F238E27FC236}">
                <a16:creationId xmlns:a16="http://schemas.microsoft.com/office/drawing/2014/main" id="{372393A9-F8A1-40D9-AEC9-11AF44EE638E}"/>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A more suitable model can describe this pattern.</a:t>
            </a:r>
          </a:p>
        </p:txBody>
      </p:sp>
      <p:sp>
        <p:nvSpPr>
          <p:cNvPr id="8" name="">
            <a:extLst xmlns:a="http://schemas.openxmlformats.org/drawingml/2006/main">
              <a:ext uri="{FF2B5EF4-FFF2-40B4-BE49-F238E27FC236}">
                <a16:creationId xmlns:a16="http://schemas.microsoft.com/office/drawing/2014/main" id="{785BA5E8-8971-4F17-88C7-0A96EBAB6058}"/>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Illustrative calibration data. Low error means better agreement with the measurements.</a:t>
            </a:r>
          </a:p>
        </p:txBody>
      </p:sp>
    </p:spTree>
    <p:extLst>
      <p:ext uri="{BB962C8B-B14F-4D97-AF65-F5344CB8AC3E}">
        <p14:creationId xmlns:p14="http://schemas.microsoft.com/office/powerpoint/2010/main" val="709529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3D3998-C437-4C30-923E-D54876584858}"/>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EFE94661-B3A4-44F0-9DAD-C26380CDF05A}"/>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Overfitting</a:t>
            </a:r>
          </a:p>
        </p:txBody>
      </p:sp>
      <p:sp>
        <p:nvSpPr>
          <p:cNvPr id="3" name="">
            <a:extLst xmlns:a="http://schemas.openxmlformats.org/drawingml/2006/main">
              <a:ext uri="{FF2B5EF4-FFF2-40B4-BE49-F238E27FC236}">
                <a16:creationId xmlns:a16="http://schemas.microsoft.com/office/drawing/2014/main" id="{8E1BB467-D3BB-4F33-B0FD-C497DB847326}"/>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3</a:t>
            </a:r>
          </a:p>
        </p:txBody>
      </p:sp>
      <p:graphicFrame>
        <p:nvGraphicFramePr>
          <p:cNvPr id="4" name="Chart">
            <a:extLst xmlns:a="http://schemas.openxmlformats.org/drawingml/2006/main">
              <a:ext uri="{FF2B5EF4-FFF2-40B4-BE49-F238E27FC236}">
                <a16:creationId xmlns:a16="http://schemas.microsoft.com/office/drawing/2014/main" id="{E6D7B94F-D533-479D-B48E-153FD141F4D6}"/>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b9db4038b9b54daf"/>
          </a:graphicData>
        </a:graphic>
      </p:graphicFrame>
      <p:sp>
        <p:nvSpPr>
          <p:cNvPr id="5" name="">
            <a:extLst xmlns:a="http://schemas.openxmlformats.org/drawingml/2006/main">
              <a:ext uri="{FF2B5EF4-FFF2-40B4-BE49-F238E27FC236}">
                <a16:creationId xmlns:a16="http://schemas.microsoft.com/office/drawing/2014/main" id="{71280F77-5312-4D87-8897-AE27DECF592C}"/>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The flexible curve passes through every training standard.</a:t>
            </a:r>
          </a:p>
        </p:txBody>
      </p:sp>
      <p:sp>
        <p:nvSpPr>
          <p:cNvPr id="6" name="">
            <a:extLst xmlns:a="http://schemas.openxmlformats.org/drawingml/2006/main">
              <a:ext uri="{FF2B5EF4-FFF2-40B4-BE49-F238E27FC236}">
                <a16:creationId xmlns:a16="http://schemas.microsoft.com/office/drawing/2014/main" id="{64B8EDF2-02CD-4659-AD2F-8D59ABF225AB}"/>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Extra bends follow noise and increase error on new validation measurements.</a:t>
            </a:r>
          </a:p>
        </p:txBody>
      </p:sp>
      <p:sp>
        <p:nvSpPr>
          <p:cNvPr id="7" name="">
            <a:extLst xmlns:a="http://schemas.openxmlformats.org/drawingml/2006/main">
              <a:ext uri="{FF2B5EF4-FFF2-40B4-BE49-F238E27FC236}">
                <a16:creationId xmlns:a16="http://schemas.microsoft.com/office/drawing/2014/main" id="{89E1445D-45B6-4ECD-BCF7-48ACDC573362}"/>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Perfect training agreement can give poorer new predictions.</a:t>
            </a:r>
          </a:p>
        </p:txBody>
      </p:sp>
      <p:sp>
        <p:nvSpPr>
          <p:cNvPr id="8" name="">
            <a:extLst xmlns:a="http://schemas.openxmlformats.org/drawingml/2006/main">
              <a:ext uri="{FF2B5EF4-FFF2-40B4-BE49-F238E27FC236}">
                <a16:creationId xmlns:a16="http://schemas.microsoft.com/office/drawing/2014/main" id="{9AC34A14-31D1-404F-AF58-023218693833}"/>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Same simulated standards. The flexible model has near-zero training error.</a:t>
            </a:r>
          </a:p>
        </p:txBody>
      </p:sp>
    </p:spTree>
    <p:extLst>
      <p:ext uri="{BB962C8B-B14F-4D97-AF65-F5344CB8AC3E}">
        <p14:creationId xmlns:p14="http://schemas.microsoft.com/office/powerpoint/2010/main" val="17442393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729517-8130-4C80-98C9-7AF8D067F296}"/>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6602B83A-CAF6-455A-B3E8-83A0572B6E5B}"/>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Calibration complexity and validation</a:t>
            </a:r>
          </a:p>
        </p:txBody>
      </p:sp>
      <p:sp>
        <p:nvSpPr>
          <p:cNvPr id="3" name="">
            <a:extLst xmlns:a="http://schemas.openxmlformats.org/drawingml/2006/main">
              <a:ext uri="{FF2B5EF4-FFF2-40B4-BE49-F238E27FC236}">
                <a16:creationId xmlns:a16="http://schemas.microsoft.com/office/drawing/2014/main" id="{4A4A3223-3E52-4471-8D48-207D1F73369A}"/>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4</a:t>
            </a:r>
          </a:p>
        </p:txBody>
      </p:sp>
      <p:graphicFrame>
        <p:nvGraphicFramePr>
          <p:cNvPr id="4" name="Chart">
            <a:extLst xmlns:a="http://schemas.openxmlformats.org/drawingml/2006/main">
              <a:ext uri="{FF2B5EF4-FFF2-40B4-BE49-F238E27FC236}">
                <a16:creationId xmlns:a16="http://schemas.microsoft.com/office/drawing/2014/main" id="{569B1D61-C3EB-42CE-885F-57516D8E0EFD}"/>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4fcbfe1dcfd448fd"/>
          </a:graphicData>
        </a:graphic>
      </p:graphicFrame>
      <p:sp>
        <p:nvSpPr>
          <p:cNvPr id="5" name="">
            <a:extLst xmlns:a="http://schemas.openxmlformats.org/drawingml/2006/main">
              <a:ext uri="{FF2B5EF4-FFF2-40B4-BE49-F238E27FC236}">
                <a16:creationId xmlns:a16="http://schemas.microsoft.com/office/drawing/2014/main" id="{5BECD6AC-B304-4416-A17B-35254E1A41B4}"/>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More flexibility keeps reducing training error.</a:t>
            </a:r>
          </a:p>
        </p:txBody>
      </p:sp>
      <p:sp>
        <p:nvSpPr>
          <p:cNvPr id="6" name="">
            <a:extLst xmlns:a="http://schemas.openxmlformats.org/drawingml/2006/main">
              <a:ext uri="{FF2B5EF4-FFF2-40B4-BE49-F238E27FC236}">
                <a16:creationId xmlns:a16="http://schemas.microsoft.com/office/drawing/2014/main" id="{D682474A-907C-403D-8EA8-9A90BAC70E1A}"/>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Validation error falls, then rises as the model follows measurement noise.</a:t>
            </a:r>
          </a:p>
        </p:txBody>
      </p:sp>
      <p:sp>
        <p:nvSpPr>
          <p:cNvPr id="7" name="">
            <a:extLst xmlns:a="http://schemas.openxmlformats.org/drawingml/2006/main">
              <a:ext uri="{FF2B5EF4-FFF2-40B4-BE49-F238E27FC236}">
                <a16:creationId xmlns:a16="http://schemas.microsoft.com/office/drawing/2014/main" id="{027EAC59-8D87-40B3-B393-0DF8E5ABF995}"/>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Choose with validation. A separate test checks the fixed choice.</a:t>
            </a:r>
          </a:p>
        </p:txBody>
      </p:sp>
      <p:sp>
        <p:nvSpPr>
          <p:cNvPr id="8" name="">
            <a:extLst xmlns:a="http://schemas.openxmlformats.org/drawingml/2006/main">
              <a:ext uri="{FF2B5EF4-FFF2-40B4-BE49-F238E27FC236}">
                <a16:creationId xmlns:a16="http://schemas.microsoft.com/office/drawing/2014/main" id="{710596A0-E16B-467B-8D35-34AA44B415D1}"/>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Simulated calibration example. Lower is better. Real curves need not have a smooth U-shape.</a:t>
            </a:r>
          </a:p>
        </p:txBody>
      </p:sp>
    </p:spTree>
    <p:extLst>
      <p:ext uri="{BB962C8B-B14F-4D97-AF65-F5344CB8AC3E}">
        <p14:creationId xmlns:p14="http://schemas.microsoft.com/office/powerpoint/2010/main" val="17655580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18F96F-BAFA-4F27-A2D2-C2DA821F1ECD}"/>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9F234B43-B00C-4849-B541-3C82445013E6}"/>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Bias from uneven data coverage</a:t>
            </a:r>
          </a:p>
        </p:txBody>
      </p:sp>
      <p:sp>
        <p:nvSpPr>
          <p:cNvPr id="3" name="">
            <a:extLst xmlns:a="http://schemas.openxmlformats.org/drawingml/2006/main">
              <a:ext uri="{FF2B5EF4-FFF2-40B4-BE49-F238E27FC236}">
                <a16:creationId xmlns:a16="http://schemas.microsoft.com/office/drawing/2014/main" id="{B1EE5A6A-3D6A-4949-A2A3-4EBB44C5CAD8}"/>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5</a:t>
            </a:r>
          </a:p>
        </p:txBody>
      </p:sp>
      <p:graphicFrame>
        <p:nvGraphicFramePr>
          <p:cNvPr id="4" name="Chart">
            <a:extLst xmlns:a="http://schemas.openxmlformats.org/drawingml/2006/main">
              <a:ext uri="{FF2B5EF4-FFF2-40B4-BE49-F238E27FC236}">
                <a16:creationId xmlns:a16="http://schemas.microsoft.com/office/drawing/2014/main" id="{27F0AFFA-82EE-48F1-BD70-4BAB9F83B839}"/>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760e70ae65804569"/>
          </a:graphicData>
        </a:graphic>
      </p:graphicFrame>
      <p:sp>
        <p:nvSpPr>
          <p:cNvPr id="5" name="">
            <a:extLst xmlns:a="http://schemas.openxmlformats.org/drawingml/2006/main">
              <a:ext uri="{FF2B5EF4-FFF2-40B4-BE49-F238E27FC236}">
                <a16:creationId xmlns:a16="http://schemas.microsoft.com/office/drawing/2014/main" id="{9D584676-7A98-4DFB-AFCA-5A27926D4E21}"/>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A contaminant classifier learned mostly from drinking-water samples.</a:t>
            </a:r>
          </a:p>
        </p:txBody>
      </p:sp>
      <p:sp>
        <p:nvSpPr>
          <p:cNvPr id="6" name="">
            <a:extLst xmlns:a="http://schemas.openxmlformats.org/drawingml/2006/main">
              <a:ext uri="{FF2B5EF4-FFF2-40B4-BE49-F238E27FC236}">
                <a16:creationId xmlns:a16="http://schemas.microsoft.com/office/drawing/2014/main" id="{AD5AAFF2-5A51-480E-A8BD-8512371851AF}"/>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Hypothetical test set:</a:t>
            </a:r>
          </a:p>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900 drinking-water samples</a:t>
            </a:r>
          </a:p>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100 river-water samples</a:t>
            </a:r>
          </a:p>
        </p:txBody>
      </p:sp>
      <p:sp>
        <p:nvSpPr>
          <p:cNvPr id="7" name="">
            <a:extLst xmlns:a="http://schemas.openxmlformats.org/drawingml/2006/main">
              <a:ext uri="{FF2B5EF4-FFF2-40B4-BE49-F238E27FC236}">
                <a16:creationId xmlns:a16="http://schemas.microsoft.com/office/drawing/2014/main" id="{12E65F70-8AFD-4970-847F-09BCB589A1A1}"/>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Overall accuracy is 90.5%, although river-water accuracy is only 50%.</a:t>
            </a:r>
          </a:p>
        </p:txBody>
      </p:sp>
      <p:sp>
        <p:nvSpPr>
          <p:cNvPr id="8" name="">
            <a:extLst xmlns:a="http://schemas.openxmlformats.org/drawingml/2006/main">
              <a:ext uri="{FF2B5EF4-FFF2-40B4-BE49-F238E27FC236}">
                <a16:creationId xmlns:a16="http://schemas.microsoft.com/office/drawing/2014/main" id="{E1576A96-0EA2-40C8-AC8A-472F2EDCCEC8}"/>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Illustrative numbers. Performance for each matrix reveals what the overall score hides.</a:t>
            </a:r>
          </a:p>
        </p:txBody>
      </p:sp>
    </p:spTree>
    <p:extLst>
      <p:ext uri="{BB962C8B-B14F-4D97-AF65-F5344CB8AC3E}">
        <p14:creationId xmlns:p14="http://schemas.microsoft.com/office/powerpoint/2010/main" val="13178182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50B097-6BCC-49E8-AC43-A4CA1B081573}"/>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FF98A4F3-CB4A-4347-BE0A-B08F25FAB606}"/>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Out-of-distribution predictions</a:t>
            </a:r>
          </a:p>
        </p:txBody>
      </p:sp>
      <p:sp>
        <p:nvSpPr>
          <p:cNvPr id="3" name="">
            <a:extLst xmlns:a="http://schemas.openxmlformats.org/drawingml/2006/main">
              <a:ext uri="{FF2B5EF4-FFF2-40B4-BE49-F238E27FC236}">
                <a16:creationId xmlns:a16="http://schemas.microsoft.com/office/drawing/2014/main" id="{A747150C-A34E-4522-9E14-7F07EA9ED383}"/>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6</a:t>
            </a:r>
          </a:p>
        </p:txBody>
      </p:sp>
      <p:graphicFrame>
        <p:nvGraphicFramePr>
          <p:cNvPr id="4" name="Chart">
            <a:extLst xmlns:a="http://schemas.openxmlformats.org/drawingml/2006/main">
              <a:ext uri="{FF2B5EF4-FFF2-40B4-BE49-F238E27FC236}">
                <a16:creationId xmlns:a16="http://schemas.microsoft.com/office/drawing/2014/main" id="{1EF8A9D0-ACE3-45C3-9F94-1A7272B6D98E}"/>
              </a:ext>
            </a:extLst>
          </p:cNvPr>
          <p:cNvGraphicFramePr/>
          <p:nvPr/>
        </p:nvGraphicFramePr>
        <p:xfrm>
          <a:off xmlns:a="http://schemas.openxmlformats.org/drawingml/2006/main" x="361950" y="1476375"/>
          <a:ext xmlns:a="http://schemas.openxmlformats.org/drawingml/2006/main" cx="5219700" cy="2762250"/>
        </p:xfrm>
        <a:graphic xmlns:a="http://schemas.openxmlformats.org/drawingml/2006/main">
          <a:graphicData uri="http://schemas.openxmlformats.org/drawingml/2006/chart">
            <c:chart xmlns:r="http://schemas.openxmlformats.org/officeDocument/2006/relationships" xmlns:c="http://schemas.openxmlformats.org/drawingml/2006/chart" r:id="Rac217b5979d1433b"/>
          </a:graphicData>
        </a:graphic>
      </p:graphicFrame>
      <p:sp>
        <p:nvSpPr>
          <p:cNvPr id="5" name="">
            <a:extLst xmlns:a="http://schemas.openxmlformats.org/drawingml/2006/main">
              <a:ext uri="{FF2B5EF4-FFF2-40B4-BE49-F238E27FC236}">
                <a16:creationId xmlns:a16="http://schemas.microsoft.com/office/drawing/2014/main" id="{0FE6D908-8F70-4498-BECD-940D518C529E}"/>
              </a:ext>
            </a:extLst>
          </p:cNvPr>
          <p:cNvSpPr>
            <a:spLocks xmlns:a="http://schemas.openxmlformats.org/drawingml/2006/main" noGrp="1"/>
          </p:cNvSpPr>
          <p:nvPr/>
        </p:nvSpPr>
        <p:spPr>
          <a:xfrm xmlns:a="http://schemas.openxmlformats.org/drawingml/2006/main">
            <a:off x="5886450" y="159067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Standards cover 0–1 mg/L. The new sample is at 2 mg/L.</a:t>
            </a:r>
          </a:p>
        </p:txBody>
      </p:sp>
      <p:sp>
        <p:nvSpPr>
          <p:cNvPr id="6" name="">
            <a:extLst xmlns:a="http://schemas.openxmlformats.org/drawingml/2006/main">
              <a:ext uri="{FF2B5EF4-FFF2-40B4-BE49-F238E27FC236}">
                <a16:creationId xmlns:a16="http://schemas.microsoft.com/office/drawing/2014/main" id="{ABE929D4-A9A6-4123-BCDD-779822CB7174}"/>
              </a:ext>
            </a:extLst>
          </p:cNvPr>
          <p:cNvSpPr>
            <a:spLocks xmlns:a="http://schemas.openxmlformats.org/drawingml/2006/main" noGrp="1"/>
          </p:cNvSpPr>
          <p:nvPr/>
        </p:nvSpPr>
        <p:spPr>
          <a:xfrm xmlns:a="http://schemas.openxmlformats.org/drawingml/2006/main">
            <a:off x="5886450" y="2476500"/>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Predictions at 2 mg/L have no validation measurements to support them.</a:t>
            </a:r>
          </a:p>
        </p:txBody>
      </p:sp>
      <p:sp>
        <p:nvSpPr>
          <p:cNvPr id="7" name="">
            <a:extLst xmlns:a="http://schemas.openxmlformats.org/drawingml/2006/main">
              <a:ext uri="{FF2B5EF4-FFF2-40B4-BE49-F238E27FC236}">
                <a16:creationId xmlns:a16="http://schemas.microsoft.com/office/drawing/2014/main" id="{F054D8E4-86BB-4A00-B0A2-AA09C73C6AB8}"/>
              </a:ext>
            </a:extLst>
          </p:cNvPr>
          <p:cNvSpPr>
            <a:spLocks xmlns:a="http://schemas.openxmlformats.org/drawingml/2006/main" noGrp="1"/>
          </p:cNvSpPr>
          <p:nvPr/>
        </p:nvSpPr>
        <p:spPr>
          <a:xfrm xmlns:a="http://schemas.openxmlformats.org/drawingml/2006/main">
            <a:off x="5886450" y="3362325"/>
            <a:ext cx="2800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New instruments or sample matrices can also change the conditions of use.</a:t>
            </a:r>
          </a:p>
        </p:txBody>
      </p:sp>
      <p:sp>
        <p:nvSpPr>
          <p:cNvPr id="8" name="">
            <a:extLst xmlns:a="http://schemas.openxmlformats.org/drawingml/2006/main">
              <a:ext uri="{FF2B5EF4-FFF2-40B4-BE49-F238E27FC236}">
                <a16:creationId xmlns:a16="http://schemas.microsoft.com/office/drawing/2014/main" id="{9A4D6D18-5C7D-49F0-8FCB-A28643012FD6}"/>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Extrapolation extends beyond the studied range. A prediction alone does not establish reliability.</a:t>
            </a:r>
          </a:p>
        </p:txBody>
      </p:sp>
    </p:spTree>
    <p:extLst>
      <p:ext uri="{BB962C8B-B14F-4D97-AF65-F5344CB8AC3E}">
        <p14:creationId xmlns:p14="http://schemas.microsoft.com/office/powerpoint/2010/main" val="15747389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
            <a:extLst xmlns:a="http://schemas.openxmlformats.org/drawingml/2006/main">
              <a:ext uri="{FF2B5EF4-FFF2-40B4-BE49-F238E27FC236}">
                <a16:creationId xmlns:a16="http://schemas.microsoft.com/office/drawing/2014/main" id="{BBC69297-2B5F-4B97-85C9-893E61AE4087}"/>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195D5194-BB98-4A8C-AFF3-BF5F56F68B00}"/>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Familiar molecules in the test set</a:t>
            </a:r>
          </a:p>
        </p:txBody>
      </p:sp>
      <p:sp>
        <p:nvSpPr>
          <p:cNvPr id="3" name="">
            <a:extLst xmlns:a="http://schemas.openxmlformats.org/drawingml/2006/main">
              <a:ext uri="{FF2B5EF4-FFF2-40B4-BE49-F238E27FC236}">
                <a16:creationId xmlns:a16="http://schemas.microsoft.com/office/drawing/2014/main" id="{3A522981-8B4F-4552-A92A-B7956DDF6E6A}"/>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7</a:t>
            </a:r>
          </a:p>
        </p:txBody>
      </p:sp>
      <p:sp>
        <p:nvSpPr>
          <p:cNvPr id="4" name="">
            <a:extLst xmlns:a="http://schemas.openxmlformats.org/drawingml/2006/main">
              <a:ext uri="{FF2B5EF4-FFF2-40B4-BE49-F238E27FC236}">
                <a16:creationId xmlns:a16="http://schemas.microsoft.com/office/drawing/2014/main" id="{B4841C9B-6FBD-42B6-BAB9-C8286E73AF31}"/>
              </a:ext>
            </a:extLst>
          </p:cNvPr>
          <p:cNvSpPr>
            <a:spLocks xmlns:a="http://schemas.openxmlformats.org/drawingml/2006/main" noGrp="1"/>
          </p:cNvSpPr>
          <p:nvPr/>
        </p:nvSpPr>
        <p:spPr>
          <a:xfrm xmlns:a="http://schemas.openxmlformats.org/drawingml/2006/main">
            <a:off x="457200" y="1714500"/>
            <a:ext cx="1190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028090"/>
                </a:solidFill>
                <a:latin typeface="Calibri"/>
                <a:ea typeface="Calibri"/>
                <a:cs typeface="Calibri"/>
              </a:defRPr>
            </a:defPPr>
          </a:lstStyle>
          <a:p xmlns:a="http://schemas.openxmlformats.org/drawingml/2006/main">
            <a:pPr>
              <a:defRPr sz="1598" b="0">
                <a:solidFill>
                  <a:srgbClr val="028090"/>
                </a:solidFill>
                <a:latin typeface="Calibri"/>
                <a:ea typeface="Calibri"/>
                <a:cs typeface="Calibri"/>
              </a:defRPr>
            </a:pPr>
            <a:r>
              <a:rPr sz="1598" b="0">
                <a:solidFill>
                  <a:srgbClr val="028090"/>
                </a:solidFill>
                <a:latin typeface="Calibri"/>
                <a:ea typeface="Calibri"/>
                <a:cs typeface="Calibri"/>
              </a:rPr>
              <a:t>Training</a:t>
            </a:r>
          </a:p>
        </p:txBody>
      </p:sp>
      <p:sp>
        <p:nvSpPr>
          <p:cNvPr id="5" name="">
            <a:extLst xmlns:a="http://schemas.openxmlformats.org/drawingml/2006/main">
              <a:ext uri="{FF2B5EF4-FFF2-40B4-BE49-F238E27FC236}">
                <a16:creationId xmlns:a16="http://schemas.microsoft.com/office/drawing/2014/main" id="{D2E7676C-1178-4B7C-9545-B4C92F994BB1}"/>
              </a:ext>
            </a:extLst>
          </p:cNvPr>
          <p:cNvSpPr>
            <a:spLocks xmlns:a="http://schemas.openxmlformats.org/drawingml/2006/main" noGrp="1"/>
          </p:cNvSpPr>
          <p:nvPr/>
        </p:nvSpPr>
        <p:spPr>
          <a:xfrm xmlns:a="http://schemas.openxmlformats.org/drawingml/2006/main">
            <a:off x="457200" y="2781300"/>
            <a:ext cx="1190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C56B30"/>
                </a:solidFill>
                <a:latin typeface="Calibri"/>
                <a:ea typeface="Calibri"/>
                <a:cs typeface="Calibri"/>
              </a:defRPr>
            </a:defPPr>
          </a:lstStyle>
          <a:p xmlns:a="http://schemas.openxmlformats.org/drawingml/2006/main">
            <a:pPr>
              <a:defRPr sz="1598" b="0">
                <a:solidFill>
                  <a:srgbClr val="C56B30"/>
                </a:solidFill>
                <a:latin typeface="Calibri"/>
                <a:ea typeface="Calibri"/>
                <a:cs typeface="Calibri"/>
              </a:defRPr>
            </a:pPr>
            <a:r>
              <a:rPr sz="1598" b="0">
                <a:solidFill>
                  <a:srgbClr val="C56B30"/>
                </a:solidFill>
                <a:latin typeface="Calibri"/>
                <a:ea typeface="Calibri"/>
                <a:cs typeface="Calibri"/>
              </a:rPr>
              <a:t>Same molecule</a:t>
            </a:r>
          </a:p>
        </p:txBody>
      </p:sp>
      <p:sp>
        <p:nvSpPr>
          <p:cNvPr id="6" name="">
            <a:extLst xmlns:a="http://schemas.openxmlformats.org/drawingml/2006/main">
              <a:ext uri="{FF2B5EF4-FFF2-40B4-BE49-F238E27FC236}">
                <a16:creationId xmlns:a16="http://schemas.microsoft.com/office/drawing/2014/main" id="{314EED1A-3DE4-4BDC-94CD-7ECC8CD41F3C}"/>
              </a:ext>
            </a:extLst>
          </p:cNvPr>
          <p:cNvSpPr>
            <a:spLocks xmlns:a="http://schemas.openxmlformats.org/drawingml/2006/main" noGrp="1"/>
          </p:cNvSpPr>
          <p:nvPr/>
        </p:nvSpPr>
        <p:spPr>
          <a:xfrm xmlns:a="http://schemas.openxmlformats.org/drawingml/2006/main">
            <a:off x="457200" y="3848100"/>
            <a:ext cx="1190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C56B30"/>
                </a:solidFill>
                <a:latin typeface="Calibri"/>
                <a:ea typeface="Calibri"/>
                <a:cs typeface="Calibri"/>
              </a:defRPr>
            </a:defPPr>
          </a:lstStyle>
          <a:p xmlns:a="http://schemas.openxmlformats.org/drawingml/2006/main">
            <a:pPr>
              <a:defRPr sz="1598" b="0">
                <a:solidFill>
                  <a:srgbClr val="C56B30"/>
                </a:solidFill>
                <a:latin typeface="Calibri"/>
                <a:ea typeface="Calibri"/>
                <a:cs typeface="Calibri"/>
              </a:defRPr>
            </a:pPr>
            <a:r>
              <a:rPr sz="1598" b="0">
                <a:solidFill>
                  <a:srgbClr val="C56B30"/>
                </a:solidFill>
                <a:latin typeface="Calibri"/>
                <a:ea typeface="Calibri"/>
                <a:cs typeface="Calibri"/>
              </a:rPr>
              <a:t>Similar molecule</a:t>
            </a:r>
          </a:p>
        </p:txBody>
      </p:sp>
      <p:sp>
        <p:nvSpPr>
          <p:cNvPr id="7" name="">
            <a:extLst xmlns:a="http://schemas.openxmlformats.org/drawingml/2006/main">
              <a:ext uri="{FF2B5EF4-FFF2-40B4-BE49-F238E27FC236}">
                <a16:creationId xmlns:a16="http://schemas.microsoft.com/office/drawing/2014/main" id="{E914C468-FE87-4685-9E60-E42342C51A7E}"/>
              </a:ext>
            </a:extLst>
          </p:cNvPr>
          <p:cNvSpPr>
            <a:spLocks xmlns:a="http://schemas.openxmlformats.org/drawingml/2006/main" noGrp="1"/>
          </p:cNvSpPr>
          <p:nvPr/>
        </p:nvSpPr>
        <p:spPr>
          <a:xfrm xmlns:a="http://schemas.openxmlformats.org/drawingml/2006/main">
            <a:off x="457200" y="207645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Calibri"/>
                <a:ea typeface="Calibri"/>
                <a:cs typeface="Calibri"/>
              </a:defRPr>
            </a:defPPr>
          </a:lstStyle>
          <a:p xmlns:a="http://schemas.openxmlformats.org/drawingml/2006/main">
            <a:pPr>
              <a:defRPr sz="1200" b="0">
                <a:solidFill>
                  <a:srgbClr val="64748B"/>
                </a:solidFill>
                <a:latin typeface="Calibri"/>
                <a:ea typeface="Calibri"/>
                <a:cs typeface="Calibri"/>
              </a:defRPr>
            </a:pPr>
            <a:r>
              <a:rPr sz="1200" b="0">
                <a:solidFill>
                  <a:srgbClr val="64748B"/>
                </a:solidFill>
                <a:latin typeface="Calibri"/>
                <a:ea typeface="Calibri"/>
                <a:cs typeface="Calibri"/>
              </a:rPr>
              <a:t>Known targets</a:t>
            </a:r>
          </a:p>
        </p:txBody>
      </p:sp>
      <p:sp>
        <p:nvSpPr>
          <p:cNvPr id="8" name="Aniline bond">
            <a:extLst xmlns:a="http://schemas.openxmlformats.org/drawingml/2006/main">
              <a:ext uri="{FF2B5EF4-FFF2-40B4-BE49-F238E27FC236}">
                <a16:creationId xmlns:a16="http://schemas.microsoft.com/office/drawing/2014/main" id="{BA915C9D-75D0-45B2-8378-7AA25F43BF98}"/>
              </a:ext>
            </a:extLst>
          </p:cNvPr>
          <p:cNvSpPr>
            <a:spLocks xmlns:a="http://schemas.openxmlformats.org/drawingml/2006/main" noGrp="1"/>
          </p:cNvSpPr>
          <p:nvPr/>
        </p:nvSpPr>
        <p:spPr>
          <a:xfrm xmlns:a="http://schemas.openxmlformats.org/drawingml/2006/main">
            <a:off x="2276475" y="1828800"/>
            <a:ext cx="142875" cy="953"/>
          </a:xfrm>
          <a:custGeom xmlns:a="http://schemas.openxmlformats.org/drawingml/2006/main">
            <a:pathLst>
              <a:path w="142875" h="953">
                <a:moveTo>
                  <a:pt x="142875" y="0"/>
                </a:moveTo>
                <a:lnTo>
                  <a:pt x="0" y="0"/>
                </a:lnTo>
              </a:path>
            </a:pathLst>
          </a:custGeom>
          <a:noFill xmlns:a="http://schemas.openxmlformats.org/drawingml/2006/main"/>
          <a:ln xmlns:a="http://schemas.openxmlformats.org/drawingml/2006/main" w="16193">
            <a:solidFill>
              <a:srgbClr val="1E293B"/>
            </a:solidFill>
          </a:ln>
        </p:spPr>
      </p:sp>
      <p:sp>
        <p:nvSpPr>
          <p:cNvPr id="9" name="Aniline bond">
            <a:extLst xmlns:a="http://schemas.openxmlformats.org/drawingml/2006/main">
              <a:ext uri="{FF2B5EF4-FFF2-40B4-BE49-F238E27FC236}">
                <a16:creationId xmlns:a16="http://schemas.microsoft.com/office/drawing/2014/main" id="{329FF328-9022-45B7-8044-D8FC5269DEF7}"/>
              </a:ext>
            </a:extLst>
          </p:cNvPr>
          <p:cNvSpPr>
            <a:spLocks xmlns:a="http://schemas.openxmlformats.org/drawingml/2006/main" noGrp="1"/>
          </p:cNvSpPr>
          <p:nvPr/>
        </p:nvSpPr>
        <p:spPr>
          <a:xfrm xmlns:a="http://schemas.openxmlformats.org/drawingml/2006/main">
            <a:off x="2162175" y="1828800"/>
            <a:ext cx="114300" cy="197973"/>
          </a:xfrm>
          <a:custGeom xmlns:a="http://schemas.openxmlformats.org/drawingml/2006/main">
            <a:pathLst>
              <a:path w="114300" h="197973">
                <a:moveTo>
                  <a:pt x="114300" y="0"/>
                </a:moveTo>
                <a:lnTo>
                  <a:pt x="0" y="197973"/>
                </a:lnTo>
              </a:path>
            </a:pathLst>
          </a:custGeom>
          <a:noFill xmlns:a="http://schemas.openxmlformats.org/drawingml/2006/main"/>
          <a:ln xmlns:a="http://schemas.openxmlformats.org/drawingml/2006/main" w="16193">
            <a:solidFill>
              <a:srgbClr val="1E293B"/>
            </a:solidFill>
          </a:ln>
        </p:spPr>
      </p:sp>
      <p:sp>
        <p:nvSpPr>
          <p:cNvPr id="10" name="Aniline bond">
            <a:extLst xmlns:a="http://schemas.openxmlformats.org/drawingml/2006/main">
              <a:ext uri="{FF2B5EF4-FFF2-40B4-BE49-F238E27FC236}">
                <a16:creationId xmlns:a16="http://schemas.microsoft.com/office/drawing/2014/main" id="{FB381EDB-78FA-4D15-BE6A-C60A1717F487}"/>
              </a:ext>
            </a:extLst>
          </p:cNvPr>
          <p:cNvSpPr>
            <a:spLocks xmlns:a="http://schemas.openxmlformats.org/drawingml/2006/main" noGrp="1"/>
          </p:cNvSpPr>
          <p:nvPr/>
        </p:nvSpPr>
        <p:spPr>
          <a:xfrm xmlns:a="http://schemas.openxmlformats.org/drawingml/2006/main">
            <a:off x="2148229" y="1842746"/>
            <a:ext cx="76200" cy="131982"/>
          </a:xfrm>
          <a:custGeom xmlns:a="http://schemas.openxmlformats.org/drawingml/2006/main">
            <a:pathLst>
              <a:path w="76200" h="131982">
                <a:moveTo>
                  <a:pt x="76200" y="0"/>
                </a:moveTo>
                <a:lnTo>
                  <a:pt x="0" y="131982"/>
                </a:lnTo>
              </a:path>
            </a:pathLst>
          </a:custGeom>
          <a:noFill xmlns:a="http://schemas.openxmlformats.org/drawingml/2006/main"/>
          <a:ln xmlns:a="http://schemas.openxmlformats.org/drawingml/2006/main" w="16193">
            <a:solidFill>
              <a:srgbClr val="1E293B"/>
            </a:solidFill>
          </a:ln>
        </p:spPr>
      </p:sp>
      <p:sp>
        <p:nvSpPr>
          <p:cNvPr id="11" name="Aniline bond">
            <a:extLst xmlns:a="http://schemas.openxmlformats.org/drawingml/2006/main">
              <a:ext uri="{FF2B5EF4-FFF2-40B4-BE49-F238E27FC236}">
                <a16:creationId xmlns:a16="http://schemas.microsoft.com/office/drawing/2014/main" id="{82418E05-28C6-492F-8EAA-FD500DD6EC73}"/>
              </a:ext>
            </a:extLst>
          </p:cNvPr>
          <p:cNvSpPr>
            <a:spLocks xmlns:a="http://schemas.openxmlformats.org/drawingml/2006/main" noGrp="1"/>
          </p:cNvSpPr>
          <p:nvPr/>
        </p:nvSpPr>
        <p:spPr>
          <a:xfrm xmlns:a="http://schemas.openxmlformats.org/drawingml/2006/main">
            <a:off x="1933575" y="2026773"/>
            <a:ext cx="228600" cy="953"/>
          </a:xfrm>
          <a:custGeom xmlns:a="http://schemas.openxmlformats.org/drawingml/2006/main">
            <a:pathLst>
              <a:path w="228600" h="953">
                <a:moveTo>
                  <a:pt x="228600" y="0"/>
                </a:moveTo>
                <a:lnTo>
                  <a:pt x="0" y="0"/>
                </a:lnTo>
              </a:path>
            </a:pathLst>
          </a:custGeom>
          <a:noFill xmlns:a="http://schemas.openxmlformats.org/drawingml/2006/main"/>
          <a:ln xmlns:a="http://schemas.openxmlformats.org/drawingml/2006/main" w="16193">
            <a:solidFill>
              <a:srgbClr val="1E293B"/>
            </a:solidFill>
          </a:ln>
        </p:spPr>
      </p:sp>
      <p:sp>
        <p:nvSpPr>
          <p:cNvPr id="12" name="Aniline bond">
            <a:extLst xmlns:a="http://schemas.openxmlformats.org/drawingml/2006/main">
              <a:ext uri="{FF2B5EF4-FFF2-40B4-BE49-F238E27FC236}">
                <a16:creationId xmlns:a16="http://schemas.microsoft.com/office/drawing/2014/main" id="{0E637F10-7F99-4A5D-A82F-75E69B3D868A}"/>
              </a:ext>
            </a:extLst>
          </p:cNvPr>
          <p:cNvSpPr>
            <a:spLocks xmlns:a="http://schemas.openxmlformats.org/drawingml/2006/main" noGrp="1"/>
          </p:cNvSpPr>
          <p:nvPr/>
        </p:nvSpPr>
        <p:spPr>
          <a:xfrm xmlns:a="http://schemas.openxmlformats.org/drawingml/2006/main">
            <a:off x="1819275" y="1828800"/>
            <a:ext cx="114300" cy="197973"/>
          </a:xfrm>
          <a:custGeom xmlns:a="http://schemas.openxmlformats.org/drawingml/2006/main">
            <a:pathLst>
              <a:path w="114300" h="197973">
                <a:moveTo>
                  <a:pt x="114300" y="197973"/>
                </a:moveTo>
                <a:lnTo>
                  <a:pt x="0" y="0"/>
                </a:lnTo>
              </a:path>
            </a:pathLst>
          </a:custGeom>
          <a:noFill xmlns:a="http://schemas.openxmlformats.org/drawingml/2006/main"/>
          <a:ln xmlns:a="http://schemas.openxmlformats.org/drawingml/2006/main" w="16193">
            <a:solidFill>
              <a:srgbClr val="1E293B"/>
            </a:solidFill>
          </a:ln>
        </p:spPr>
      </p:sp>
      <p:sp>
        <p:nvSpPr>
          <p:cNvPr id="13" name="Aniline bond">
            <a:extLst xmlns:a="http://schemas.openxmlformats.org/drawingml/2006/main">
              <a:ext uri="{FF2B5EF4-FFF2-40B4-BE49-F238E27FC236}">
                <a16:creationId xmlns:a16="http://schemas.microsoft.com/office/drawing/2014/main" id="{14DC84B4-E335-48C2-B706-E428605F66B9}"/>
              </a:ext>
            </a:extLst>
          </p:cNvPr>
          <p:cNvSpPr>
            <a:spLocks xmlns:a="http://schemas.openxmlformats.org/drawingml/2006/main" noGrp="1"/>
          </p:cNvSpPr>
          <p:nvPr/>
        </p:nvSpPr>
        <p:spPr>
          <a:xfrm xmlns:a="http://schemas.openxmlformats.org/drawingml/2006/main">
            <a:off x="1871321" y="1842746"/>
            <a:ext cx="76200" cy="131982"/>
          </a:xfrm>
          <a:custGeom xmlns:a="http://schemas.openxmlformats.org/drawingml/2006/main">
            <a:pathLst>
              <a:path w="76200" h="131982">
                <a:moveTo>
                  <a:pt x="76200" y="131982"/>
                </a:moveTo>
                <a:lnTo>
                  <a:pt x="0" y="0"/>
                </a:lnTo>
              </a:path>
            </a:pathLst>
          </a:custGeom>
          <a:noFill xmlns:a="http://schemas.openxmlformats.org/drawingml/2006/main"/>
          <a:ln xmlns:a="http://schemas.openxmlformats.org/drawingml/2006/main" w="16193">
            <a:solidFill>
              <a:srgbClr val="1E293B"/>
            </a:solidFill>
          </a:ln>
        </p:spPr>
      </p:sp>
      <p:sp>
        <p:nvSpPr>
          <p:cNvPr id="14" name="Aniline bond">
            <a:extLst xmlns:a="http://schemas.openxmlformats.org/drawingml/2006/main">
              <a:ext uri="{FF2B5EF4-FFF2-40B4-BE49-F238E27FC236}">
                <a16:creationId xmlns:a16="http://schemas.microsoft.com/office/drawing/2014/main" id="{EADCF4C3-C759-4B74-94DF-67B8F74B9EE0}"/>
              </a:ext>
            </a:extLst>
          </p:cNvPr>
          <p:cNvSpPr>
            <a:spLocks xmlns:a="http://schemas.openxmlformats.org/drawingml/2006/main" noGrp="1"/>
          </p:cNvSpPr>
          <p:nvPr/>
        </p:nvSpPr>
        <p:spPr>
          <a:xfrm xmlns:a="http://schemas.openxmlformats.org/drawingml/2006/main">
            <a:off x="1819275" y="1630827"/>
            <a:ext cx="114300" cy="197973"/>
          </a:xfrm>
          <a:custGeom xmlns:a="http://schemas.openxmlformats.org/drawingml/2006/main">
            <a:pathLst>
              <a:path w="114300" h="197973">
                <a:moveTo>
                  <a:pt x="0" y="197973"/>
                </a:moveTo>
                <a:lnTo>
                  <a:pt x="114300" y="0"/>
                </a:lnTo>
              </a:path>
            </a:pathLst>
          </a:custGeom>
          <a:noFill xmlns:a="http://schemas.openxmlformats.org/drawingml/2006/main"/>
          <a:ln xmlns:a="http://schemas.openxmlformats.org/drawingml/2006/main" w="16193">
            <a:solidFill>
              <a:srgbClr val="1E293B"/>
            </a:solidFill>
          </a:ln>
        </p:spPr>
      </p:sp>
      <p:sp>
        <p:nvSpPr>
          <p:cNvPr id="15" name="Aniline bond">
            <a:extLst xmlns:a="http://schemas.openxmlformats.org/drawingml/2006/main">
              <a:ext uri="{FF2B5EF4-FFF2-40B4-BE49-F238E27FC236}">
                <a16:creationId xmlns:a16="http://schemas.microsoft.com/office/drawing/2014/main" id="{D5A20E4F-7393-4785-A7E0-F2B939742531}"/>
              </a:ext>
            </a:extLst>
          </p:cNvPr>
          <p:cNvSpPr>
            <a:spLocks xmlns:a="http://schemas.openxmlformats.org/drawingml/2006/main" noGrp="1"/>
          </p:cNvSpPr>
          <p:nvPr/>
        </p:nvSpPr>
        <p:spPr>
          <a:xfrm xmlns:a="http://schemas.openxmlformats.org/drawingml/2006/main">
            <a:off x="1933575" y="1630827"/>
            <a:ext cx="228600" cy="953"/>
          </a:xfrm>
          <a:custGeom xmlns:a="http://schemas.openxmlformats.org/drawingml/2006/main">
            <a:pathLst>
              <a:path w="228600" h="953">
                <a:moveTo>
                  <a:pt x="0" y="0"/>
                </a:moveTo>
                <a:lnTo>
                  <a:pt x="228600" y="0"/>
                </a:lnTo>
              </a:path>
            </a:pathLst>
          </a:custGeom>
          <a:noFill xmlns:a="http://schemas.openxmlformats.org/drawingml/2006/main"/>
          <a:ln xmlns:a="http://schemas.openxmlformats.org/drawingml/2006/main" w="16193">
            <a:solidFill>
              <a:srgbClr val="1E293B"/>
            </a:solidFill>
          </a:ln>
        </p:spPr>
      </p:sp>
      <p:sp>
        <p:nvSpPr>
          <p:cNvPr id="16" name="Aniline bond">
            <a:extLst xmlns:a="http://schemas.openxmlformats.org/drawingml/2006/main">
              <a:ext uri="{FF2B5EF4-FFF2-40B4-BE49-F238E27FC236}">
                <a16:creationId xmlns:a16="http://schemas.microsoft.com/office/drawing/2014/main" id="{DB2AF73B-894C-481B-977C-CE947D7880EC}"/>
              </a:ext>
            </a:extLst>
          </p:cNvPr>
          <p:cNvSpPr>
            <a:spLocks xmlns:a="http://schemas.openxmlformats.org/drawingml/2006/main" noGrp="1"/>
          </p:cNvSpPr>
          <p:nvPr/>
        </p:nvSpPr>
        <p:spPr>
          <a:xfrm xmlns:a="http://schemas.openxmlformats.org/drawingml/2006/main">
            <a:off x="1971675" y="1668927"/>
            <a:ext cx="152400" cy="953"/>
          </a:xfrm>
          <a:custGeom xmlns:a="http://schemas.openxmlformats.org/drawingml/2006/main">
            <a:pathLst>
              <a:path w="152400" h="953">
                <a:moveTo>
                  <a:pt x="0" y="0"/>
                </a:moveTo>
                <a:lnTo>
                  <a:pt x="152400" y="0"/>
                </a:lnTo>
              </a:path>
            </a:pathLst>
          </a:custGeom>
          <a:noFill xmlns:a="http://schemas.openxmlformats.org/drawingml/2006/main"/>
          <a:ln xmlns:a="http://schemas.openxmlformats.org/drawingml/2006/main" w="16193">
            <a:solidFill>
              <a:srgbClr val="1E293B"/>
            </a:solidFill>
          </a:ln>
        </p:spPr>
      </p:sp>
      <p:sp>
        <p:nvSpPr>
          <p:cNvPr id="17" name="Aniline bond">
            <a:extLst xmlns:a="http://schemas.openxmlformats.org/drawingml/2006/main">
              <a:ext uri="{FF2B5EF4-FFF2-40B4-BE49-F238E27FC236}">
                <a16:creationId xmlns:a16="http://schemas.microsoft.com/office/drawing/2014/main" id="{2402A319-8822-4B7E-BD26-2F7ECEF2DA83}"/>
              </a:ext>
            </a:extLst>
          </p:cNvPr>
          <p:cNvSpPr>
            <a:spLocks xmlns:a="http://schemas.openxmlformats.org/drawingml/2006/main" noGrp="1"/>
          </p:cNvSpPr>
          <p:nvPr/>
        </p:nvSpPr>
        <p:spPr>
          <a:xfrm xmlns:a="http://schemas.openxmlformats.org/drawingml/2006/main">
            <a:off x="2162175" y="1630827"/>
            <a:ext cx="114300" cy="197973"/>
          </a:xfrm>
          <a:custGeom xmlns:a="http://schemas.openxmlformats.org/drawingml/2006/main">
            <a:pathLst>
              <a:path w="114300" h="197973">
                <a:moveTo>
                  <a:pt x="0" y="0"/>
                </a:moveTo>
                <a:lnTo>
                  <a:pt x="114300" y="197973"/>
                </a:lnTo>
              </a:path>
            </a:pathLst>
          </a:custGeom>
          <a:noFill xmlns:a="http://schemas.openxmlformats.org/drawingml/2006/main"/>
          <a:ln xmlns:a="http://schemas.openxmlformats.org/drawingml/2006/main" w="16193">
            <a:solidFill>
              <a:srgbClr val="1E293B"/>
            </a:solidFill>
          </a:ln>
        </p:spPr>
      </p:sp>
      <p:sp>
        <p:nvSpPr>
          <p:cNvPr id="18" name="">
            <a:extLst xmlns:a="http://schemas.openxmlformats.org/drawingml/2006/main">
              <a:ext uri="{FF2B5EF4-FFF2-40B4-BE49-F238E27FC236}">
                <a16:creationId xmlns:a16="http://schemas.microsoft.com/office/drawing/2014/main" id="{A4CF39CC-3C54-47C3-86C5-DCA362C49E56}"/>
              </a:ext>
            </a:extLst>
          </p:cNvPr>
          <p:cNvSpPr>
            <a:spLocks xmlns:a="http://schemas.openxmlformats.org/drawingml/2006/main" noGrp="1"/>
          </p:cNvSpPr>
          <p:nvPr/>
        </p:nvSpPr>
        <p:spPr>
          <a:xfrm xmlns:a="http://schemas.openxmlformats.org/drawingml/2006/main">
            <a:off x="2447925" y="172402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2" b="0">
                <a:solidFill>
                  <a:srgbClr val="1E293B"/>
                </a:solidFill>
                <a:latin typeface="Calibri"/>
                <a:ea typeface="Calibri"/>
                <a:cs typeface="Calibri"/>
              </a:defRPr>
            </a:defPPr>
          </a:lstStyle>
          <a:p xmlns:a="http://schemas.openxmlformats.org/drawingml/2006/main">
            <a:pPr>
              <a:defRPr sz="1402" b="0">
                <a:solidFill>
                  <a:srgbClr val="1E293B"/>
                </a:solidFill>
                <a:latin typeface="Calibri"/>
                <a:ea typeface="Calibri"/>
                <a:cs typeface="Calibri"/>
              </a:defRPr>
            </a:pPr>
            <a:r>
              <a:rPr sz="1402" b="0">
                <a:solidFill>
                  <a:srgbClr val="1E293B"/>
                </a:solidFill>
                <a:latin typeface="Calibri"/>
                <a:ea typeface="Calibri"/>
                <a:cs typeface="Calibri"/>
              </a:rPr>
              <a:t>NH₂</a:t>
            </a:r>
          </a:p>
        </p:txBody>
      </p:sp>
      <p:sp>
        <p:nvSpPr>
          <p:cNvPr id="19" name="">
            <a:extLst xmlns:a="http://schemas.openxmlformats.org/drawingml/2006/main">
              <a:ext uri="{FF2B5EF4-FFF2-40B4-BE49-F238E27FC236}">
                <a16:creationId xmlns:a16="http://schemas.microsoft.com/office/drawing/2014/main" id="{9A8DF08E-1BF6-4833-97CF-2D084F36D920}"/>
              </a:ext>
            </a:extLst>
          </p:cNvPr>
          <p:cNvSpPr>
            <a:spLocks xmlns:a="http://schemas.openxmlformats.org/drawingml/2006/main" noGrp="1"/>
          </p:cNvSpPr>
          <p:nvPr/>
        </p:nvSpPr>
        <p:spPr>
          <a:xfrm xmlns:a="http://schemas.openxmlformats.org/drawingml/2006/main">
            <a:off x="1504950" y="2228850"/>
            <a:ext cx="1314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64748B"/>
                </a:solidFill>
                <a:latin typeface="Calibri"/>
                <a:ea typeface="Calibri"/>
                <a:cs typeface="Calibri"/>
              </a:defRPr>
            </a:defPPr>
          </a:lstStyle>
          <a:p xmlns:a="http://schemas.openxmlformats.org/drawingml/2006/main">
            <a:pPr algn="ctr">
              <a:defRPr sz="1200" b="0">
                <a:solidFill>
                  <a:srgbClr val="64748B"/>
                </a:solidFill>
                <a:latin typeface="Calibri"/>
                <a:ea typeface="Calibri"/>
                <a:cs typeface="Calibri"/>
              </a:defRPr>
            </a:pPr>
            <a:r>
              <a:rPr sz="1200" b="0">
                <a:solidFill>
                  <a:srgbClr val="64748B"/>
                </a:solidFill>
                <a:latin typeface="Calibri"/>
                <a:ea typeface="Calibri"/>
                <a:cs typeface="Calibri"/>
              </a:rPr>
              <a:t>Aniline</a:t>
            </a:r>
          </a:p>
        </p:txBody>
      </p:sp>
      <p:sp>
        <p:nvSpPr>
          <p:cNvPr id="20" name="Phenol bond">
            <a:extLst xmlns:a="http://schemas.openxmlformats.org/drawingml/2006/main">
              <a:ext uri="{FF2B5EF4-FFF2-40B4-BE49-F238E27FC236}">
                <a16:creationId xmlns:a16="http://schemas.microsoft.com/office/drawing/2014/main" id="{C6085CA7-67F1-4C34-B7A0-ED20492AE58B}"/>
              </a:ext>
            </a:extLst>
          </p:cNvPr>
          <p:cNvSpPr>
            <a:spLocks xmlns:a="http://schemas.openxmlformats.org/drawingml/2006/main" noGrp="1"/>
          </p:cNvSpPr>
          <p:nvPr/>
        </p:nvSpPr>
        <p:spPr>
          <a:xfrm xmlns:a="http://schemas.openxmlformats.org/drawingml/2006/main">
            <a:off x="3381375" y="1828800"/>
            <a:ext cx="142875" cy="953"/>
          </a:xfrm>
          <a:custGeom xmlns:a="http://schemas.openxmlformats.org/drawingml/2006/main">
            <a:pathLst>
              <a:path w="142875" h="953">
                <a:moveTo>
                  <a:pt x="142875" y="0"/>
                </a:moveTo>
                <a:lnTo>
                  <a:pt x="0" y="0"/>
                </a:lnTo>
              </a:path>
            </a:pathLst>
          </a:custGeom>
          <a:noFill xmlns:a="http://schemas.openxmlformats.org/drawingml/2006/main"/>
          <a:ln xmlns:a="http://schemas.openxmlformats.org/drawingml/2006/main" w="16193">
            <a:solidFill>
              <a:srgbClr val="1E293B"/>
            </a:solidFill>
          </a:ln>
        </p:spPr>
      </p:sp>
      <p:sp>
        <p:nvSpPr>
          <p:cNvPr id="21" name="Phenol bond">
            <a:extLst xmlns:a="http://schemas.openxmlformats.org/drawingml/2006/main">
              <a:ext uri="{FF2B5EF4-FFF2-40B4-BE49-F238E27FC236}">
                <a16:creationId xmlns:a16="http://schemas.microsoft.com/office/drawing/2014/main" id="{A2B33FA3-D303-402D-B779-C062167B0576}"/>
              </a:ext>
            </a:extLst>
          </p:cNvPr>
          <p:cNvSpPr>
            <a:spLocks xmlns:a="http://schemas.openxmlformats.org/drawingml/2006/main" noGrp="1"/>
          </p:cNvSpPr>
          <p:nvPr/>
        </p:nvSpPr>
        <p:spPr>
          <a:xfrm xmlns:a="http://schemas.openxmlformats.org/drawingml/2006/main">
            <a:off x="3267075" y="1828800"/>
            <a:ext cx="114300" cy="197973"/>
          </a:xfrm>
          <a:custGeom xmlns:a="http://schemas.openxmlformats.org/drawingml/2006/main">
            <a:pathLst>
              <a:path w="114300" h="197973">
                <a:moveTo>
                  <a:pt x="114300" y="0"/>
                </a:moveTo>
                <a:lnTo>
                  <a:pt x="0" y="197973"/>
                </a:lnTo>
              </a:path>
            </a:pathLst>
          </a:custGeom>
          <a:noFill xmlns:a="http://schemas.openxmlformats.org/drawingml/2006/main"/>
          <a:ln xmlns:a="http://schemas.openxmlformats.org/drawingml/2006/main" w="16193">
            <a:solidFill>
              <a:srgbClr val="1E293B"/>
            </a:solidFill>
          </a:ln>
        </p:spPr>
      </p:sp>
      <p:sp>
        <p:nvSpPr>
          <p:cNvPr id="22" name="Phenol bond">
            <a:extLst xmlns:a="http://schemas.openxmlformats.org/drawingml/2006/main">
              <a:ext uri="{FF2B5EF4-FFF2-40B4-BE49-F238E27FC236}">
                <a16:creationId xmlns:a16="http://schemas.microsoft.com/office/drawing/2014/main" id="{11571565-5502-45E2-844A-07C75C4CB0C3}"/>
              </a:ext>
            </a:extLst>
          </p:cNvPr>
          <p:cNvSpPr>
            <a:spLocks xmlns:a="http://schemas.openxmlformats.org/drawingml/2006/main" noGrp="1"/>
          </p:cNvSpPr>
          <p:nvPr/>
        </p:nvSpPr>
        <p:spPr>
          <a:xfrm xmlns:a="http://schemas.openxmlformats.org/drawingml/2006/main">
            <a:off x="3253129" y="1842746"/>
            <a:ext cx="76200" cy="131982"/>
          </a:xfrm>
          <a:custGeom xmlns:a="http://schemas.openxmlformats.org/drawingml/2006/main">
            <a:pathLst>
              <a:path w="76200" h="131982">
                <a:moveTo>
                  <a:pt x="76200" y="0"/>
                </a:moveTo>
                <a:lnTo>
                  <a:pt x="0" y="131982"/>
                </a:lnTo>
              </a:path>
            </a:pathLst>
          </a:custGeom>
          <a:noFill xmlns:a="http://schemas.openxmlformats.org/drawingml/2006/main"/>
          <a:ln xmlns:a="http://schemas.openxmlformats.org/drawingml/2006/main" w="16193">
            <a:solidFill>
              <a:srgbClr val="1E293B"/>
            </a:solidFill>
          </a:ln>
        </p:spPr>
      </p:sp>
      <p:sp>
        <p:nvSpPr>
          <p:cNvPr id="23" name="Phenol bond">
            <a:extLst xmlns:a="http://schemas.openxmlformats.org/drawingml/2006/main">
              <a:ext uri="{FF2B5EF4-FFF2-40B4-BE49-F238E27FC236}">
                <a16:creationId xmlns:a16="http://schemas.microsoft.com/office/drawing/2014/main" id="{B7A2BBC7-A34A-4261-9103-D9FA47A6B5BF}"/>
              </a:ext>
            </a:extLst>
          </p:cNvPr>
          <p:cNvSpPr>
            <a:spLocks xmlns:a="http://schemas.openxmlformats.org/drawingml/2006/main" noGrp="1"/>
          </p:cNvSpPr>
          <p:nvPr/>
        </p:nvSpPr>
        <p:spPr>
          <a:xfrm xmlns:a="http://schemas.openxmlformats.org/drawingml/2006/main">
            <a:off x="3038475" y="2026773"/>
            <a:ext cx="228600" cy="953"/>
          </a:xfrm>
          <a:custGeom xmlns:a="http://schemas.openxmlformats.org/drawingml/2006/main">
            <a:pathLst>
              <a:path w="228600" h="953">
                <a:moveTo>
                  <a:pt x="228600" y="0"/>
                </a:moveTo>
                <a:lnTo>
                  <a:pt x="0" y="0"/>
                </a:lnTo>
              </a:path>
            </a:pathLst>
          </a:custGeom>
          <a:noFill xmlns:a="http://schemas.openxmlformats.org/drawingml/2006/main"/>
          <a:ln xmlns:a="http://schemas.openxmlformats.org/drawingml/2006/main" w="16193">
            <a:solidFill>
              <a:srgbClr val="1E293B"/>
            </a:solidFill>
          </a:ln>
        </p:spPr>
      </p:sp>
      <p:sp>
        <p:nvSpPr>
          <p:cNvPr id="24" name="Phenol bond">
            <a:extLst xmlns:a="http://schemas.openxmlformats.org/drawingml/2006/main">
              <a:ext uri="{FF2B5EF4-FFF2-40B4-BE49-F238E27FC236}">
                <a16:creationId xmlns:a16="http://schemas.microsoft.com/office/drawing/2014/main" id="{6BE2AD7C-7CE3-48E2-8F91-A3908B1FBE85}"/>
              </a:ext>
            </a:extLst>
          </p:cNvPr>
          <p:cNvSpPr>
            <a:spLocks xmlns:a="http://schemas.openxmlformats.org/drawingml/2006/main" noGrp="1"/>
          </p:cNvSpPr>
          <p:nvPr/>
        </p:nvSpPr>
        <p:spPr>
          <a:xfrm xmlns:a="http://schemas.openxmlformats.org/drawingml/2006/main">
            <a:off x="2924175" y="1828800"/>
            <a:ext cx="114300" cy="197973"/>
          </a:xfrm>
          <a:custGeom xmlns:a="http://schemas.openxmlformats.org/drawingml/2006/main">
            <a:pathLst>
              <a:path w="114300" h="197973">
                <a:moveTo>
                  <a:pt x="114300" y="197973"/>
                </a:moveTo>
                <a:lnTo>
                  <a:pt x="0" y="0"/>
                </a:lnTo>
              </a:path>
            </a:pathLst>
          </a:custGeom>
          <a:noFill xmlns:a="http://schemas.openxmlformats.org/drawingml/2006/main"/>
          <a:ln xmlns:a="http://schemas.openxmlformats.org/drawingml/2006/main" w="16193">
            <a:solidFill>
              <a:srgbClr val="1E293B"/>
            </a:solidFill>
          </a:ln>
        </p:spPr>
      </p:sp>
      <p:sp>
        <p:nvSpPr>
          <p:cNvPr id="25" name="Phenol bond">
            <a:extLst xmlns:a="http://schemas.openxmlformats.org/drawingml/2006/main">
              <a:ext uri="{FF2B5EF4-FFF2-40B4-BE49-F238E27FC236}">
                <a16:creationId xmlns:a16="http://schemas.microsoft.com/office/drawing/2014/main" id="{C0EE4DB7-3A91-41E6-B182-BB150DCA5C5A}"/>
              </a:ext>
            </a:extLst>
          </p:cNvPr>
          <p:cNvSpPr>
            <a:spLocks xmlns:a="http://schemas.openxmlformats.org/drawingml/2006/main" noGrp="1"/>
          </p:cNvSpPr>
          <p:nvPr/>
        </p:nvSpPr>
        <p:spPr>
          <a:xfrm xmlns:a="http://schemas.openxmlformats.org/drawingml/2006/main">
            <a:off x="2976221" y="1842746"/>
            <a:ext cx="76200" cy="131982"/>
          </a:xfrm>
          <a:custGeom xmlns:a="http://schemas.openxmlformats.org/drawingml/2006/main">
            <a:pathLst>
              <a:path w="76200" h="131982">
                <a:moveTo>
                  <a:pt x="76200" y="131982"/>
                </a:moveTo>
                <a:lnTo>
                  <a:pt x="0" y="0"/>
                </a:lnTo>
              </a:path>
            </a:pathLst>
          </a:custGeom>
          <a:noFill xmlns:a="http://schemas.openxmlformats.org/drawingml/2006/main"/>
          <a:ln xmlns:a="http://schemas.openxmlformats.org/drawingml/2006/main" w="16193">
            <a:solidFill>
              <a:srgbClr val="1E293B"/>
            </a:solidFill>
          </a:ln>
        </p:spPr>
      </p:sp>
      <p:sp>
        <p:nvSpPr>
          <p:cNvPr id="26" name="Phenol bond">
            <a:extLst xmlns:a="http://schemas.openxmlformats.org/drawingml/2006/main">
              <a:ext uri="{FF2B5EF4-FFF2-40B4-BE49-F238E27FC236}">
                <a16:creationId xmlns:a16="http://schemas.microsoft.com/office/drawing/2014/main" id="{9B5D498E-B3D6-4098-99F7-F28DFC71C237}"/>
              </a:ext>
            </a:extLst>
          </p:cNvPr>
          <p:cNvSpPr>
            <a:spLocks xmlns:a="http://schemas.openxmlformats.org/drawingml/2006/main" noGrp="1"/>
          </p:cNvSpPr>
          <p:nvPr/>
        </p:nvSpPr>
        <p:spPr>
          <a:xfrm xmlns:a="http://schemas.openxmlformats.org/drawingml/2006/main">
            <a:off x="2924175" y="1630827"/>
            <a:ext cx="114300" cy="197973"/>
          </a:xfrm>
          <a:custGeom xmlns:a="http://schemas.openxmlformats.org/drawingml/2006/main">
            <a:pathLst>
              <a:path w="114300" h="197973">
                <a:moveTo>
                  <a:pt x="0" y="197973"/>
                </a:moveTo>
                <a:lnTo>
                  <a:pt x="114300" y="0"/>
                </a:lnTo>
              </a:path>
            </a:pathLst>
          </a:custGeom>
          <a:noFill xmlns:a="http://schemas.openxmlformats.org/drawingml/2006/main"/>
          <a:ln xmlns:a="http://schemas.openxmlformats.org/drawingml/2006/main" w="16193">
            <a:solidFill>
              <a:srgbClr val="1E293B"/>
            </a:solidFill>
          </a:ln>
        </p:spPr>
      </p:sp>
      <p:sp>
        <p:nvSpPr>
          <p:cNvPr id="27" name="Phenol bond">
            <a:extLst xmlns:a="http://schemas.openxmlformats.org/drawingml/2006/main">
              <a:ext uri="{FF2B5EF4-FFF2-40B4-BE49-F238E27FC236}">
                <a16:creationId xmlns:a16="http://schemas.microsoft.com/office/drawing/2014/main" id="{677DF587-A0D8-418C-801E-C31044216CD4}"/>
              </a:ext>
            </a:extLst>
          </p:cNvPr>
          <p:cNvSpPr>
            <a:spLocks xmlns:a="http://schemas.openxmlformats.org/drawingml/2006/main" noGrp="1"/>
          </p:cNvSpPr>
          <p:nvPr/>
        </p:nvSpPr>
        <p:spPr>
          <a:xfrm xmlns:a="http://schemas.openxmlformats.org/drawingml/2006/main">
            <a:off x="3038475" y="1630827"/>
            <a:ext cx="228600" cy="953"/>
          </a:xfrm>
          <a:custGeom xmlns:a="http://schemas.openxmlformats.org/drawingml/2006/main">
            <a:pathLst>
              <a:path w="228600" h="953">
                <a:moveTo>
                  <a:pt x="0" y="0"/>
                </a:moveTo>
                <a:lnTo>
                  <a:pt x="228600" y="0"/>
                </a:lnTo>
              </a:path>
            </a:pathLst>
          </a:custGeom>
          <a:noFill xmlns:a="http://schemas.openxmlformats.org/drawingml/2006/main"/>
          <a:ln xmlns:a="http://schemas.openxmlformats.org/drawingml/2006/main" w="16193">
            <a:solidFill>
              <a:srgbClr val="1E293B"/>
            </a:solidFill>
          </a:ln>
        </p:spPr>
      </p:sp>
      <p:sp>
        <p:nvSpPr>
          <p:cNvPr id="28" name="Phenol bond">
            <a:extLst xmlns:a="http://schemas.openxmlformats.org/drawingml/2006/main">
              <a:ext uri="{FF2B5EF4-FFF2-40B4-BE49-F238E27FC236}">
                <a16:creationId xmlns:a16="http://schemas.microsoft.com/office/drawing/2014/main" id="{D3E9D354-9EFE-4AEA-9FE0-15EA2520BBC9}"/>
              </a:ext>
            </a:extLst>
          </p:cNvPr>
          <p:cNvSpPr>
            <a:spLocks xmlns:a="http://schemas.openxmlformats.org/drawingml/2006/main" noGrp="1"/>
          </p:cNvSpPr>
          <p:nvPr/>
        </p:nvSpPr>
        <p:spPr>
          <a:xfrm xmlns:a="http://schemas.openxmlformats.org/drawingml/2006/main">
            <a:off x="3076575" y="1668927"/>
            <a:ext cx="152400" cy="953"/>
          </a:xfrm>
          <a:custGeom xmlns:a="http://schemas.openxmlformats.org/drawingml/2006/main">
            <a:pathLst>
              <a:path w="152400" h="953">
                <a:moveTo>
                  <a:pt x="0" y="0"/>
                </a:moveTo>
                <a:lnTo>
                  <a:pt x="152400" y="0"/>
                </a:lnTo>
              </a:path>
            </a:pathLst>
          </a:custGeom>
          <a:noFill xmlns:a="http://schemas.openxmlformats.org/drawingml/2006/main"/>
          <a:ln xmlns:a="http://schemas.openxmlformats.org/drawingml/2006/main" w="16193">
            <a:solidFill>
              <a:srgbClr val="1E293B"/>
            </a:solidFill>
          </a:ln>
        </p:spPr>
      </p:sp>
      <p:sp>
        <p:nvSpPr>
          <p:cNvPr id="29" name="Phenol bond">
            <a:extLst xmlns:a="http://schemas.openxmlformats.org/drawingml/2006/main">
              <a:ext uri="{FF2B5EF4-FFF2-40B4-BE49-F238E27FC236}">
                <a16:creationId xmlns:a16="http://schemas.microsoft.com/office/drawing/2014/main" id="{DA87C0FE-44C0-484E-8F26-2A107BDAECF7}"/>
              </a:ext>
            </a:extLst>
          </p:cNvPr>
          <p:cNvSpPr>
            <a:spLocks xmlns:a="http://schemas.openxmlformats.org/drawingml/2006/main" noGrp="1"/>
          </p:cNvSpPr>
          <p:nvPr/>
        </p:nvSpPr>
        <p:spPr>
          <a:xfrm xmlns:a="http://schemas.openxmlformats.org/drawingml/2006/main">
            <a:off x="3267075" y="1630827"/>
            <a:ext cx="114300" cy="197973"/>
          </a:xfrm>
          <a:custGeom xmlns:a="http://schemas.openxmlformats.org/drawingml/2006/main">
            <a:pathLst>
              <a:path w="114300" h="197973">
                <a:moveTo>
                  <a:pt x="0" y="0"/>
                </a:moveTo>
                <a:lnTo>
                  <a:pt x="114300" y="197973"/>
                </a:lnTo>
              </a:path>
            </a:pathLst>
          </a:custGeom>
          <a:noFill xmlns:a="http://schemas.openxmlformats.org/drawingml/2006/main"/>
          <a:ln xmlns:a="http://schemas.openxmlformats.org/drawingml/2006/main" w="16193">
            <a:solidFill>
              <a:srgbClr val="1E293B"/>
            </a:solidFill>
          </a:ln>
        </p:spPr>
      </p:sp>
      <p:sp>
        <p:nvSpPr>
          <p:cNvPr id="30" name="">
            <a:extLst xmlns:a="http://schemas.openxmlformats.org/drawingml/2006/main">
              <a:ext uri="{FF2B5EF4-FFF2-40B4-BE49-F238E27FC236}">
                <a16:creationId xmlns:a16="http://schemas.microsoft.com/office/drawing/2014/main" id="{2ECAAB16-689A-4E24-AF17-AE0B07BB49B1}"/>
              </a:ext>
            </a:extLst>
          </p:cNvPr>
          <p:cNvSpPr>
            <a:spLocks xmlns:a="http://schemas.openxmlformats.org/drawingml/2006/main" noGrp="1"/>
          </p:cNvSpPr>
          <p:nvPr/>
        </p:nvSpPr>
        <p:spPr>
          <a:xfrm xmlns:a="http://schemas.openxmlformats.org/drawingml/2006/main">
            <a:off x="3552825" y="1724025"/>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2" b="0">
                <a:solidFill>
                  <a:srgbClr val="1E293B"/>
                </a:solidFill>
                <a:latin typeface="Calibri"/>
                <a:ea typeface="Calibri"/>
                <a:cs typeface="Calibri"/>
              </a:defRPr>
            </a:defPPr>
          </a:lstStyle>
          <a:p xmlns:a="http://schemas.openxmlformats.org/drawingml/2006/main">
            <a:pPr>
              <a:defRPr sz="1402" b="0">
                <a:solidFill>
                  <a:srgbClr val="1E293B"/>
                </a:solidFill>
                <a:latin typeface="Calibri"/>
                <a:ea typeface="Calibri"/>
                <a:cs typeface="Calibri"/>
              </a:defRPr>
            </a:pPr>
            <a:r>
              <a:rPr sz="1402" b="0">
                <a:solidFill>
                  <a:srgbClr val="1E293B"/>
                </a:solidFill>
                <a:latin typeface="Calibri"/>
                <a:ea typeface="Calibri"/>
                <a:cs typeface="Calibri"/>
              </a:rPr>
              <a:t>OH</a:t>
            </a:r>
          </a:p>
        </p:txBody>
      </p:sp>
      <p:sp>
        <p:nvSpPr>
          <p:cNvPr id="31" name="">
            <a:extLst xmlns:a="http://schemas.openxmlformats.org/drawingml/2006/main">
              <a:ext uri="{FF2B5EF4-FFF2-40B4-BE49-F238E27FC236}">
                <a16:creationId xmlns:a16="http://schemas.microsoft.com/office/drawing/2014/main" id="{823D60CB-3ADB-4548-9E6E-FC47CEC70DBA}"/>
              </a:ext>
            </a:extLst>
          </p:cNvPr>
          <p:cNvSpPr>
            <a:spLocks xmlns:a="http://schemas.openxmlformats.org/drawingml/2006/main" noGrp="1"/>
          </p:cNvSpPr>
          <p:nvPr/>
        </p:nvSpPr>
        <p:spPr>
          <a:xfrm xmlns:a="http://schemas.openxmlformats.org/drawingml/2006/main">
            <a:off x="2609850" y="2228850"/>
            <a:ext cx="1314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64748B"/>
                </a:solidFill>
                <a:latin typeface="Calibri"/>
                <a:ea typeface="Calibri"/>
                <a:cs typeface="Calibri"/>
              </a:defRPr>
            </a:defPPr>
          </a:lstStyle>
          <a:p xmlns:a="http://schemas.openxmlformats.org/drawingml/2006/main">
            <a:pPr algn="ctr">
              <a:defRPr sz="1200" b="0">
                <a:solidFill>
                  <a:srgbClr val="64748B"/>
                </a:solidFill>
                <a:latin typeface="Calibri"/>
                <a:ea typeface="Calibri"/>
                <a:cs typeface="Calibri"/>
              </a:defRPr>
            </a:pPr>
            <a:r>
              <a:rPr sz="1200" b="0">
                <a:solidFill>
                  <a:srgbClr val="64748B"/>
                </a:solidFill>
                <a:latin typeface="Calibri"/>
                <a:ea typeface="Calibri"/>
                <a:cs typeface="Calibri"/>
              </a:rPr>
              <a:t>Phenol</a:t>
            </a:r>
          </a:p>
        </p:txBody>
      </p:sp>
      <p:sp>
        <p:nvSpPr>
          <p:cNvPr id="32" name="Chlorobenzene bond">
            <a:extLst xmlns:a="http://schemas.openxmlformats.org/drawingml/2006/main">
              <a:ext uri="{FF2B5EF4-FFF2-40B4-BE49-F238E27FC236}">
                <a16:creationId xmlns:a16="http://schemas.microsoft.com/office/drawing/2014/main" id="{A170CDD9-070F-49F2-8C00-28B8A13C7C1E}"/>
              </a:ext>
            </a:extLst>
          </p:cNvPr>
          <p:cNvSpPr>
            <a:spLocks xmlns:a="http://schemas.openxmlformats.org/drawingml/2006/main" noGrp="1"/>
          </p:cNvSpPr>
          <p:nvPr/>
        </p:nvSpPr>
        <p:spPr>
          <a:xfrm xmlns:a="http://schemas.openxmlformats.org/drawingml/2006/main">
            <a:off x="4486275" y="1828800"/>
            <a:ext cx="142875" cy="953"/>
          </a:xfrm>
          <a:custGeom xmlns:a="http://schemas.openxmlformats.org/drawingml/2006/main">
            <a:pathLst>
              <a:path w="142875" h="953">
                <a:moveTo>
                  <a:pt x="142875" y="0"/>
                </a:moveTo>
                <a:lnTo>
                  <a:pt x="0" y="0"/>
                </a:lnTo>
              </a:path>
            </a:pathLst>
          </a:custGeom>
          <a:noFill xmlns:a="http://schemas.openxmlformats.org/drawingml/2006/main"/>
          <a:ln xmlns:a="http://schemas.openxmlformats.org/drawingml/2006/main" w="16193">
            <a:solidFill>
              <a:srgbClr val="1E293B"/>
            </a:solidFill>
          </a:ln>
        </p:spPr>
      </p:sp>
      <p:sp>
        <p:nvSpPr>
          <p:cNvPr id="33" name="Chlorobenzene bond">
            <a:extLst xmlns:a="http://schemas.openxmlformats.org/drawingml/2006/main">
              <a:ext uri="{FF2B5EF4-FFF2-40B4-BE49-F238E27FC236}">
                <a16:creationId xmlns:a16="http://schemas.microsoft.com/office/drawing/2014/main" id="{89607FD4-DC74-4914-ABA8-4E0281E15E17}"/>
              </a:ext>
            </a:extLst>
          </p:cNvPr>
          <p:cNvSpPr>
            <a:spLocks xmlns:a="http://schemas.openxmlformats.org/drawingml/2006/main" noGrp="1"/>
          </p:cNvSpPr>
          <p:nvPr/>
        </p:nvSpPr>
        <p:spPr>
          <a:xfrm xmlns:a="http://schemas.openxmlformats.org/drawingml/2006/main">
            <a:off x="4371975" y="1828800"/>
            <a:ext cx="114300" cy="197973"/>
          </a:xfrm>
          <a:custGeom xmlns:a="http://schemas.openxmlformats.org/drawingml/2006/main">
            <a:pathLst>
              <a:path w="114300" h="197973">
                <a:moveTo>
                  <a:pt x="114300" y="0"/>
                </a:moveTo>
                <a:lnTo>
                  <a:pt x="0" y="197973"/>
                </a:lnTo>
              </a:path>
            </a:pathLst>
          </a:custGeom>
          <a:noFill xmlns:a="http://schemas.openxmlformats.org/drawingml/2006/main"/>
          <a:ln xmlns:a="http://schemas.openxmlformats.org/drawingml/2006/main" w="16193">
            <a:solidFill>
              <a:srgbClr val="1E293B"/>
            </a:solidFill>
          </a:ln>
        </p:spPr>
      </p:sp>
      <p:sp>
        <p:nvSpPr>
          <p:cNvPr id="34" name="Chlorobenzene bond">
            <a:extLst xmlns:a="http://schemas.openxmlformats.org/drawingml/2006/main">
              <a:ext uri="{FF2B5EF4-FFF2-40B4-BE49-F238E27FC236}">
                <a16:creationId xmlns:a16="http://schemas.microsoft.com/office/drawing/2014/main" id="{81056DE2-038C-4194-9F84-D8C7F958C5ED}"/>
              </a:ext>
            </a:extLst>
          </p:cNvPr>
          <p:cNvSpPr>
            <a:spLocks xmlns:a="http://schemas.openxmlformats.org/drawingml/2006/main" noGrp="1"/>
          </p:cNvSpPr>
          <p:nvPr/>
        </p:nvSpPr>
        <p:spPr>
          <a:xfrm xmlns:a="http://schemas.openxmlformats.org/drawingml/2006/main">
            <a:off x="4358029" y="1842746"/>
            <a:ext cx="76200" cy="131982"/>
          </a:xfrm>
          <a:custGeom xmlns:a="http://schemas.openxmlformats.org/drawingml/2006/main">
            <a:pathLst>
              <a:path w="76200" h="131982">
                <a:moveTo>
                  <a:pt x="76200" y="0"/>
                </a:moveTo>
                <a:lnTo>
                  <a:pt x="0" y="131982"/>
                </a:lnTo>
              </a:path>
            </a:pathLst>
          </a:custGeom>
          <a:noFill xmlns:a="http://schemas.openxmlformats.org/drawingml/2006/main"/>
          <a:ln xmlns:a="http://schemas.openxmlformats.org/drawingml/2006/main" w="16193">
            <a:solidFill>
              <a:srgbClr val="1E293B"/>
            </a:solidFill>
          </a:ln>
        </p:spPr>
      </p:sp>
      <p:sp>
        <p:nvSpPr>
          <p:cNvPr id="35" name="Chlorobenzene bond">
            <a:extLst xmlns:a="http://schemas.openxmlformats.org/drawingml/2006/main">
              <a:ext uri="{FF2B5EF4-FFF2-40B4-BE49-F238E27FC236}">
                <a16:creationId xmlns:a16="http://schemas.microsoft.com/office/drawing/2014/main" id="{A9FEA562-6884-4C67-BDC7-A0AE6EC3EB72}"/>
              </a:ext>
            </a:extLst>
          </p:cNvPr>
          <p:cNvSpPr>
            <a:spLocks xmlns:a="http://schemas.openxmlformats.org/drawingml/2006/main" noGrp="1"/>
          </p:cNvSpPr>
          <p:nvPr/>
        </p:nvSpPr>
        <p:spPr>
          <a:xfrm xmlns:a="http://schemas.openxmlformats.org/drawingml/2006/main">
            <a:off x="4143375" y="2026773"/>
            <a:ext cx="228600" cy="953"/>
          </a:xfrm>
          <a:custGeom xmlns:a="http://schemas.openxmlformats.org/drawingml/2006/main">
            <a:pathLst>
              <a:path w="228600" h="953">
                <a:moveTo>
                  <a:pt x="228600" y="0"/>
                </a:moveTo>
                <a:lnTo>
                  <a:pt x="0" y="0"/>
                </a:lnTo>
              </a:path>
            </a:pathLst>
          </a:custGeom>
          <a:noFill xmlns:a="http://schemas.openxmlformats.org/drawingml/2006/main"/>
          <a:ln xmlns:a="http://schemas.openxmlformats.org/drawingml/2006/main" w="16193">
            <a:solidFill>
              <a:srgbClr val="1E293B"/>
            </a:solidFill>
          </a:ln>
        </p:spPr>
      </p:sp>
      <p:sp>
        <p:nvSpPr>
          <p:cNvPr id="36" name="Chlorobenzene bond">
            <a:extLst xmlns:a="http://schemas.openxmlformats.org/drawingml/2006/main">
              <a:ext uri="{FF2B5EF4-FFF2-40B4-BE49-F238E27FC236}">
                <a16:creationId xmlns:a16="http://schemas.microsoft.com/office/drawing/2014/main" id="{615EFC8D-2B17-4881-9715-D7B2F25235A5}"/>
              </a:ext>
            </a:extLst>
          </p:cNvPr>
          <p:cNvSpPr>
            <a:spLocks xmlns:a="http://schemas.openxmlformats.org/drawingml/2006/main" noGrp="1"/>
          </p:cNvSpPr>
          <p:nvPr/>
        </p:nvSpPr>
        <p:spPr>
          <a:xfrm xmlns:a="http://schemas.openxmlformats.org/drawingml/2006/main">
            <a:off x="4029075" y="1828800"/>
            <a:ext cx="114300" cy="197973"/>
          </a:xfrm>
          <a:custGeom xmlns:a="http://schemas.openxmlformats.org/drawingml/2006/main">
            <a:pathLst>
              <a:path w="114300" h="197973">
                <a:moveTo>
                  <a:pt x="114300" y="197973"/>
                </a:moveTo>
                <a:lnTo>
                  <a:pt x="0" y="0"/>
                </a:lnTo>
              </a:path>
            </a:pathLst>
          </a:custGeom>
          <a:noFill xmlns:a="http://schemas.openxmlformats.org/drawingml/2006/main"/>
          <a:ln xmlns:a="http://schemas.openxmlformats.org/drawingml/2006/main" w="16193">
            <a:solidFill>
              <a:srgbClr val="1E293B"/>
            </a:solidFill>
          </a:ln>
        </p:spPr>
      </p:sp>
      <p:sp>
        <p:nvSpPr>
          <p:cNvPr id="37" name="Chlorobenzene bond">
            <a:extLst xmlns:a="http://schemas.openxmlformats.org/drawingml/2006/main">
              <a:ext uri="{FF2B5EF4-FFF2-40B4-BE49-F238E27FC236}">
                <a16:creationId xmlns:a16="http://schemas.microsoft.com/office/drawing/2014/main" id="{99F053D4-3E6F-440E-9B7B-3CD68C21AEDD}"/>
              </a:ext>
            </a:extLst>
          </p:cNvPr>
          <p:cNvSpPr>
            <a:spLocks xmlns:a="http://schemas.openxmlformats.org/drawingml/2006/main" noGrp="1"/>
          </p:cNvSpPr>
          <p:nvPr/>
        </p:nvSpPr>
        <p:spPr>
          <a:xfrm xmlns:a="http://schemas.openxmlformats.org/drawingml/2006/main">
            <a:off x="4081121" y="1842746"/>
            <a:ext cx="76200" cy="131982"/>
          </a:xfrm>
          <a:custGeom xmlns:a="http://schemas.openxmlformats.org/drawingml/2006/main">
            <a:pathLst>
              <a:path w="76200" h="131982">
                <a:moveTo>
                  <a:pt x="76200" y="131982"/>
                </a:moveTo>
                <a:lnTo>
                  <a:pt x="0" y="0"/>
                </a:lnTo>
              </a:path>
            </a:pathLst>
          </a:custGeom>
          <a:noFill xmlns:a="http://schemas.openxmlformats.org/drawingml/2006/main"/>
          <a:ln xmlns:a="http://schemas.openxmlformats.org/drawingml/2006/main" w="16193">
            <a:solidFill>
              <a:srgbClr val="1E293B"/>
            </a:solidFill>
          </a:ln>
        </p:spPr>
      </p:sp>
      <p:sp>
        <p:nvSpPr>
          <p:cNvPr id="38" name="Chlorobenzene bond">
            <a:extLst xmlns:a="http://schemas.openxmlformats.org/drawingml/2006/main">
              <a:ext uri="{FF2B5EF4-FFF2-40B4-BE49-F238E27FC236}">
                <a16:creationId xmlns:a16="http://schemas.microsoft.com/office/drawing/2014/main" id="{A97B3909-6EFA-4900-A8F4-F1FFAC5E61B4}"/>
              </a:ext>
            </a:extLst>
          </p:cNvPr>
          <p:cNvSpPr>
            <a:spLocks xmlns:a="http://schemas.openxmlformats.org/drawingml/2006/main" noGrp="1"/>
          </p:cNvSpPr>
          <p:nvPr/>
        </p:nvSpPr>
        <p:spPr>
          <a:xfrm xmlns:a="http://schemas.openxmlformats.org/drawingml/2006/main">
            <a:off x="4029075" y="1630827"/>
            <a:ext cx="114300" cy="197973"/>
          </a:xfrm>
          <a:custGeom xmlns:a="http://schemas.openxmlformats.org/drawingml/2006/main">
            <a:pathLst>
              <a:path w="114300" h="197973">
                <a:moveTo>
                  <a:pt x="0" y="197973"/>
                </a:moveTo>
                <a:lnTo>
                  <a:pt x="114300" y="0"/>
                </a:lnTo>
              </a:path>
            </a:pathLst>
          </a:custGeom>
          <a:noFill xmlns:a="http://schemas.openxmlformats.org/drawingml/2006/main"/>
          <a:ln xmlns:a="http://schemas.openxmlformats.org/drawingml/2006/main" w="16193">
            <a:solidFill>
              <a:srgbClr val="1E293B"/>
            </a:solidFill>
          </a:ln>
        </p:spPr>
      </p:sp>
      <p:sp>
        <p:nvSpPr>
          <p:cNvPr id="39" name="Chlorobenzene bond">
            <a:extLst xmlns:a="http://schemas.openxmlformats.org/drawingml/2006/main">
              <a:ext uri="{FF2B5EF4-FFF2-40B4-BE49-F238E27FC236}">
                <a16:creationId xmlns:a16="http://schemas.microsoft.com/office/drawing/2014/main" id="{2D0DB989-890E-4911-BDA3-BCB8302632F8}"/>
              </a:ext>
            </a:extLst>
          </p:cNvPr>
          <p:cNvSpPr>
            <a:spLocks xmlns:a="http://schemas.openxmlformats.org/drawingml/2006/main" noGrp="1"/>
          </p:cNvSpPr>
          <p:nvPr/>
        </p:nvSpPr>
        <p:spPr>
          <a:xfrm xmlns:a="http://schemas.openxmlformats.org/drawingml/2006/main">
            <a:off x="4143375" y="1630827"/>
            <a:ext cx="228600" cy="953"/>
          </a:xfrm>
          <a:custGeom xmlns:a="http://schemas.openxmlformats.org/drawingml/2006/main">
            <a:pathLst>
              <a:path w="228600" h="953">
                <a:moveTo>
                  <a:pt x="0" y="0"/>
                </a:moveTo>
                <a:lnTo>
                  <a:pt x="228600" y="0"/>
                </a:lnTo>
              </a:path>
            </a:pathLst>
          </a:custGeom>
          <a:noFill xmlns:a="http://schemas.openxmlformats.org/drawingml/2006/main"/>
          <a:ln xmlns:a="http://schemas.openxmlformats.org/drawingml/2006/main" w="16193">
            <a:solidFill>
              <a:srgbClr val="1E293B"/>
            </a:solidFill>
          </a:ln>
        </p:spPr>
      </p:sp>
      <p:sp>
        <p:nvSpPr>
          <p:cNvPr id="40" name="Chlorobenzene bond">
            <a:extLst xmlns:a="http://schemas.openxmlformats.org/drawingml/2006/main">
              <a:ext uri="{FF2B5EF4-FFF2-40B4-BE49-F238E27FC236}">
                <a16:creationId xmlns:a16="http://schemas.microsoft.com/office/drawing/2014/main" id="{8A06369C-5353-4D16-B81A-1B825BFA2DBA}"/>
              </a:ext>
            </a:extLst>
          </p:cNvPr>
          <p:cNvSpPr>
            <a:spLocks xmlns:a="http://schemas.openxmlformats.org/drawingml/2006/main" noGrp="1"/>
          </p:cNvSpPr>
          <p:nvPr/>
        </p:nvSpPr>
        <p:spPr>
          <a:xfrm xmlns:a="http://schemas.openxmlformats.org/drawingml/2006/main">
            <a:off x="4181475" y="1668927"/>
            <a:ext cx="152400" cy="953"/>
          </a:xfrm>
          <a:custGeom xmlns:a="http://schemas.openxmlformats.org/drawingml/2006/main">
            <a:pathLst>
              <a:path w="152400" h="953">
                <a:moveTo>
                  <a:pt x="0" y="0"/>
                </a:moveTo>
                <a:lnTo>
                  <a:pt x="152400" y="0"/>
                </a:lnTo>
              </a:path>
            </a:pathLst>
          </a:custGeom>
          <a:noFill xmlns:a="http://schemas.openxmlformats.org/drawingml/2006/main"/>
          <a:ln xmlns:a="http://schemas.openxmlformats.org/drawingml/2006/main" w="16193">
            <a:solidFill>
              <a:srgbClr val="1E293B"/>
            </a:solidFill>
          </a:ln>
        </p:spPr>
      </p:sp>
      <p:sp>
        <p:nvSpPr>
          <p:cNvPr id="41" name="Chlorobenzene bond">
            <a:extLst xmlns:a="http://schemas.openxmlformats.org/drawingml/2006/main">
              <a:ext uri="{FF2B5EF4-FFF2-40B4-BE49-F238E27FC236}">
                <a16:creationId xmlns:a16="http://schemas.microsoft.com/office/drawing/2014/main" id="{1668FC0A-5B12-4006-9AF8-51C966F2FFF5}"/>
              </a:ext>
            </a:extLst>
          </p:cNvPr>
          <p:cNvSpPr>
            <a:spLocks xmlns:a="http://schemas.openxmlformats.org/drawingml/2006/main" noGrp="1"/>
          </p:cNvSpPr>
          <p:nvPr/>
        </p:nvSpPr>
        <p:spPr>
          <a:xfrm xmlns:a="http://schemas.openxmlformats.org/drawingml/2006/main">
            <a:off x="4371975" y="1630827"/>
            <a:ext cx="114300" cy="197973"/>
          </a:xfrm>
          <a:custGeom xmlns:a="http://schemas.openxmlformats.org/drawingml/2006/main">
            <a:pathLst>
              <a:path w="114300" h="197973">
                <a:moveTo>
                  <a:pt x="0" y="0"/>
                </a:moveTo>
                <a:lnTo>
                  <a:pt x="114300" y="197973"/>
                </a:lnTo>
              </a:path>
            </a:pathLst>
          </a:custGeom>
          <a:noFill xmlns:a="http://schemas.openxmlformats.org/drawingml/2006/main"/>
          <a:ln xmlns:a="http://schemas.openxmlformats.org/drawingml/2006/main" w="16193">
            <a:solidFill>
              <a:srgbClr val="1E293B"/>
            </a:solidFill>
          </a:ln>
        </p:spPr>
      </p:sp>
      <p:sp>
        <p:nvSpPr>
          <p:cNvPr id="42" name="">
            <a:extLst xmlns:a="http://schemas.openxmlformats.org/drawingml/2006/main">
              <a:ext uri="{FF2B5EF4-FFF2-40B4-BE49-F238E27FC236}">
                <a16:creationId xmlns:a16="http://schemas.microsoft.com/office/drawing/2014/main" id="{AD0A21B7-3735-4808-AE3D-E9E9ED1EF2B4}"/>
              </a:ext>
            </a:extLst>
          </p:cNvPr>
          <p:cNvSpPr>
            <a:spLocks xmlns:a="http://schemas.openxmlformats.org/drawingml/2006/main" noGrp="1"/>
          </p:cNvSpPr>
          <p:nvPr/>
        </p:nvSpPr>
        <p:spPr>
          <a:xfrm xmlns:a="http://schemas.openxmlformats.org/drawingml/2006/main">
            <a:off x="4657725" y="1724025"/>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2" b="0">
                <a:solidFill>
                  <a:srgbClr val="1E293B"/>
                </a:solidFill>
                <a:latin typeface="Calibri"/>
                <a:ea typeface="Calibri"/>
                <a:cs typeface="Calibri"/>
              </a:defRPr>
            </a:defPPr>
          </a:lstStyle>
          <a:p xmlns:a="http://schemas.openxmlformats.org/drawingml/2006/main">
            <a:pPr>
              <a:defRPr sz="1402" b="0">
                <a:solidFill>
                  <a:srgbClr val="1E293B"/>
                </a:solidFill>
                <a:latin typeface="Calibri"/>
                <a:ea typeface="Calibri"/>
                <a:cs typeface="Calibri"/>
              </a:defRPr>
            </a:pPr>
            <a:r>
              <a:rPr sz="1402" b="0">
                <a:solidFill>
                  <a:srgbClr val="1E293B"/>
                </a:solidFill>
                <a:latin typeface="Calibri"/>
                <a:ea typeface="Calibri"/>
                <a:cs typeface="Calibri"/>
              </a:rPr>
              <a:t>Cl</a:t>
            </a:r>
          </a:p>
        </p:txBody>
      </p:sp>
      <p:sp>
        <p:nvSpPr>
          <p:cNvPr id="43" name="">
            <a:extLst xmlns:a="http://schemas.openxmlformats.org/drawingml/2006/main">
              <a:ext uri="{FF2B5EF4-FFF2-40B4-BE49-F238E27FC236}">
                <a16:creationId xmlns:a16="http://schemas.microsoft.com/office/drawing/2014/main" id="{DB5D583F-1A60-450A-90E7-EC1722CF0BB8}"/>
              </a:ext>
            </a:extLst>
          </p:cNvPr>
          <p:cNvSpPr>
            <a:spLocks xmlns:a="http://schemas.openxmlformats.org/drawingml/2006/main" noGrp="1"/>
          </p:cNvSpPr>
          <p:nvPr/>
        </p:nvSpPr>
        <p:spPr>
          <a:xfrm xmlns:a="http://schemas.openxmlformats.org/drawingml/2006/main">
            <a:off x="3714750" y="2228850"/>
            <a:ext cx="1314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64748B"/>
                </a:solidFill>
                <a:latin typeface="Calibri"/>
                <a:ea typeface="Calibri"/>
                <a:cs typeface="Calibri"/>
              </a:defRPr>
            </a:defPPr>
          </a:lstStyle>
          <a:p xmlns:a="http://schemas.openxmlformats.org/drawingml/2006/main">
            <a:pPr algn="ctr">
              <a:defRPr sz="1200" b="0">
                <a:solidFill>
                  <a:srgbClr val="64748B"/>
                </a:solidFill>
                <a:latin typeface="Calibri"/>
                <a:ea typeface="Calibri"/>
                <a:cs typeface="Calibri"/>
              </a:defRPr>
            </a:pPr>
            <a:r>
              <a:rPr sz="1200" b="0">
                <a:solidFill>
                  <a:srgbClr val="64748B"/>
                </a:solidFill>
                <a:latin typeface="Calibri"/>
                <a:ea typeface="Calibri"/>
                <a:cs typeface="Calibri"/>
              </a:rPr>
              <a:t>Chlorobenzene</a:t>
            </a:r>
          </a:p>
        </p:txBody>
      </p:sp>
      <p:sp>
        <p:nvSpPr>
          <p:cNvPr id="44" name="Phenol bond">
            <a:extLst xmlns:a="http://schemas.openxmlformats.org/drawingml/2006/main">
              <a:ext uri="{FF2B5EF4-FFF2-40B4-BE49-F238E27FC236}">
                <a16:creationId xmlns:a16="http://schemas.microsoft.com/office/drawing/2014/main" id="{0B268701-8E6B-4E11-B200-6078CC362588}"/>
              </a:ext>
            </a:extLst>
          </p:cNvPr>
          <p:cNvSpPr>
            <a:spLocks xmlns:a="http://schemas.openxmlformats.org/drawingml/2006/main" noGrp="1"/>
          </p:cNvSpPr>
          <p:nvPr/>
        </p:nvSpPr>
        <p:spPr>
          <a:xfrm xmlns:a="http://schemas.openxmlformats.org/drawingml/2006/main">
            <a:off x="3381375" y="2895600"/>
            <a:ext cx="142875" cy="953"/>
          </a:xfrm>
          <a:custGeom xmlns:a="http://schemas.openxmlformats.org/drawingml/2006/main">
            <a:pathLst>
              <a:path w="142875" h="953">
                <a:moveTo>
                  <a:pt x="142875" y="0"/>
                </a:moveTo>
                <a:lnTo>
                  <a:pt x="0" y="0"/>
                </a:lnTo>
              </a:path>
            </a:pathLst>
          </a:custGeom>
          <a:noFill xmlns:a="http://schemas.openxmlformats.org/drawingml/2006/main"/>
          <a:ln xmlns:a="http://schemas.openxmlformats.org/drawingml/2006/main" w="16193">
            <a:solidFill>
              <a:srgbClr val="1E293B"/>
            </a:solidFill>
          </a:ln>
        </p:spPr>
      </p:sp>
      <p:sp>
        <p:nvSpPr>
          <p:cNvPr id="45" name="Phenol bond">
            <a:extLst xmlns:a="http://schemas.openxmlformats.org/drawingml/2006/main">
              <a:ext uri="{FF2B5EF4-FFF2-40B4-BE49-F238E27FC236}">
                <a16:creationId xmlns:a16="http://schemas.microsoft.com/office/drawing/2014/main" id="{AD5188C1-C527-45C5-A3D0-826560C37454}"/>
              </a:ext>
            </a:extLst>
          </p:cNvPr>
          <p:cNvSpPr>
            <a:spLocks xmlns:a="http://schemas.openxmlformats.org/drawingml/2006/main" noGrp="1"/>
          </p:cNvSpPr>
          <p:nvPr/>
        </p:nvSpPr>
        <p:spPr>
          <a:xfrm xmlns:a="http://schemas.openxmlformats.org/drawingml/2006/main">
            <a:off x="3267075" y="2895600"/>
            <a:ext cx="114300" cy="197973"/>
          </a:xfrm>
          <a:custGeom xmlns:a="http://schemas.openxmlformats.org/drawingml/2006/main">
            <a:pathLst>
              <a:path w="114300" h="197973">
                <a:moveTo>
                  <a:pt x="114300" y="0"/>
                </a:moveTo>
                <a:lnTo>
                  <a:pt x="0" y="197973"/>
                </a:lnTo>
              </a:path>
            </a:pathLst>
          </a:custGeom>
          <a:noFill xmlns:a="http://schemas.openxmlformats.org/drawingml/2006/main"/>
          <a:ln xmlns:a="http://schemas.openxmlformats.org/drawingml/2006/main" w="16193">
            <a:solidFill>
              <a:srgbClr val="1E293B"/>
            </a:solidFill>
          </a:ln>
        </p:spPr>
      </p:sp>
      <p:sp>
        <p:nvSpPr>
          <p:cNvPr id="46" name="Phenol bond">
            <a:extLst xmlns:a="http://schemas.openxmlformats.org/drawingml/2006/main">
              <a:ext uri="{FF2B5EF4-FFF2-40B4-BE49-F238E27FC236}">
                <a16:creationId xmlns:a16="http://schemas.microsoft.com/office/drawing/2014/main" id="{6F339469-0AB7-4907-A92E-AEC602FD2F5A}"/>
              </a:ext>
            </a:extLst>
          </p:cNvPr>
          <p:cNvSpPr>
            <a:spLocks xmlns:a="http://schemas.openxmlformats.org/drawingml/2006/main" noGrp="1"/>
          </p:cNvSpPr>
          <p:nvPr/>
        </p:nvSpPr>
        <p:spPr>
          <a:xfrm xmlns:a="http://schemas.openxmlformats.org/drawingml/2006/main">
            <a:off x="3253129" y="2909546"/>
            <a:ext cx="76200" cy="131982"/>
          </a:xfrm>
          <a:custGeom xmlns:a="http://schemas.openxmlformats.org/drawingml/2006/main">
            <a:pathLst>
              <a:path w="76200" h="131982">
                <a:moveTo>
                  <a:pt x="76200" y="0"/>
                </a:moveTo>
                <a:lnTo>
                  <a:pt x="0" y="131982"/>
                </a:lnTo>
              </a:path>
            </a:pathLst>
          </a:custGeom>
          <a:noFill xmlns:a="http://schemas.openxmlformats.org/drawingml/2006/main"/>
          <a:ln xmlns:a="http://schemas.openxmlformats.org/drawingml/2006/main" w="16193">
            <a:solidFill>
              <a:srgbClr val="1E293B"/>
            </a:solidFill>
          </a:ln>
        </p:spPr>
      </p:sp>
      <p:sp>
        <p:nvSpPr>
          <p:cNvPr id="47" name="Phenol bond">
            <a:extLst xmlns:a="http://schemas.openxmlformats.org/drawingml/2006/main">
              <a:ext uri="{FF2B5EF4-FFF2-40B4-BE49-F238E27FC236}">
                <a16:creationId xmlns:a16="http://schemas.microsoft.com/office/drawing/2014/main" id="{0731938F-5035-48F7-B8EA-98133D7D9E00}"/>
              </a:ext>
            </a:extLst>
          </p:cNvPr>
          <p:cNvSpPr>
            <a:spLocks xmlns:a="http://schemas.openxmlformats.org/drawingml/2006/main" noGrp="1"/>
          </p:cNvSpPr>
          <p:nvPr/>
        </p:nvSpPr>
        <p:spPr>
          <a:xfrm xmlns:a="http://schemas.openxmlformats.org/drawingml/2006/main">
            <a:off x="3038475" y="3093573"/>
            <a:ext cx="228600" cy="953"/>
          </a:xfrm>
          <a:custGeom xmlns:a="http://schemas.openxmlformats.org/drawingml/2006/main">
            <a:pathLst>
              <a:path w="228600" h="953">
                <a:moveTo>
                  <a:pt x="228600" y="0"/>
                </a:moveTo>
                <a:lnTo>
                  <a:pt x="0" y="0"/>
                </a:lnTo>
              </a:path>
            </a:pathLst>
          </a:custGeom>
          <a:noFill xmlns:a="http://schemas.openxmlformats.org/drawingml/2006/main"/>
          <a:ln xmlns:a="http://schemas.openxmlformats.org/drawingml/2006/main" w="16193">
            <a:solidFill>
              <a:srgbClr val="1E293B"/>
            </a:solidFill>
          </a:ln>
        </p:spPr>
      </p:sp>
      <p:sp>
        <p:nvSpPr>
          <p:cNvPr id="48" name="Phenol bond">
            <a:extLst xmlns:a="http://schemas.openxmlformats.org/drawingml/2006/main">
              <a:ext uri="{FF2B5EF4-FFF2-40B4-BE49-F238E27FC236}">
                <a16:creationId xmlns:a16="http://schemas.microsoft.com/office/drawing/2014/main" id="{BB5D67A7-B3BB-4320-A606-3537845F7D74}"/>
              </a:ext>
            </a:extLst>
          </p:cNvPr>
          <p:cNvSpPr>
            <a:spLocks xmlns:a="http://schemas.openxmlformats.org/drawingml/2006/main" noGrp="1"/>
          </p:cNvSpPr>
          <p:nvPr/>
        </p:nvSpPr>
        <p:spPr>
          <a:xfrm xmlns:a="http://schemas.openxmlformats.org/drawingml/2006/main">
            <a:off x="2924175" y="2895600"/>
            <a:ext cx="114300" cy="197973"/>
          </a:xfrm>
          <a:custGeom xmlns:a="http://schemas.openxmlformats.org/drawingml/2006/main">
            <a:pathLst>
              <a:path w="114300" h="197973">
                <a:moveTo>
                  <a:pt x="114300" y="197973"/>
                </a:moveTo>
                <a:lnTo>
                  <a:pt x="0" y="0"/>
                </a:lnTo>
              </a:path>
            </a:pathLst>
          </a:custGeom>
          <a:noFill xmlns:a="http://schemas.openxmlformats.org/drawingml/2006/main"/>
          <a:ln xmlns:a="http://schemas.openxmlformats.org/drawingml/2006/main" w="16193">
            <a:solidFill>
              <a:srgbClr val="1E293B"/>
            </a:solidFill>
          </a:ln>
        </p:spPr>
      </p:sp>
      <p:sp>
        <p:nvSpPr>
          <p:cNvPr id="49" name="Phenol bond">
            <a:extLst xmlns:a="http://schemas.openxmlformats.org/drawingml/2006/main">
              <a:ext uri="{FF2B5EF4-FFF2-40B4-BE49-F238E27FC236}">
                <a16:creationId xmlns:a16="http://schemas.microsoft.com/office/drawing/2014/main" id="{96EA37D6-7C5C-4E7B-86A1-A97C80B19F77}"/>
              </a:ext>
            </a:extLst>
          </p:cNvPr>
          <p:cNvSpPr>
            <a:spLocks xmlns:a="http://schemas.openxmlformats.org/drawingml/2006/main" noGrp="1"/>
          </p:cNvSpPr>
          <p:nvPr/>
        </p:nvSpPr>
        <p:spPr>
          <a:xfrm xmlns:a="http://schemas.openxmlformats.org/drawingml/2006/main">
            <a:off x="2976221" y="2909546"/>
            <a:ext cx="76200" cy="131982"/>
          </a:xfrm>
          <a:custGeom xmlns:a="http://schemas.openxmlformats.org/drawingml/2006/main">
            <a:pathLst>
              <a:path w="76200" h="131982">
                <a:moveTo>
                  <a:pt x="76200" y="131982"/>
                </a:moveTo>
                <a:lnTo>
                  <a:pt x="0" y="0"/>
                </a:lnTo>
              </a:path>
            </a:pathLst>
          </a:custGeom>
          <a:noFill xmlns:a="http://schemas.openxmlformats.org/drawingml/2006/main"/>
          <a:ln xmlns:a="http://schemas.openxmlformats.org/drawingml/2006/main" w="16193">
            <a:solidFill>
              <a:srgbClr val="1E293B"/>
            </a:solidFill>
          </a:ln>
        </p:spPr>
      </p:sp>
      <p:sp>
        <p:nvSpPr>
          <p:cNvPr id="50" name="Phenol bond">
            <a:extLst xmlns:a="http://schemas.openxmlformats.org/drawingml/2006/main">
              <a:ext uri="{FF2B5EF4-FFF2-40B4-BE49-F238E27FC236}">
                <a16:creationId xmlns:a16="http://schemas.microsoft.com/office/drawing/2014/main" id="{69B3F870-3E99-43A7-A65D-DFB6D078FB06}"/>
              </a:ext>
            </a:extLst>
          </p:cNvPr>
          <p:cNvSpPr>
            <a:spLocks xmlns:a="http://schemas.openxmlformats.org/drawingml/2006/main" noGrp="1"/>
          </p:cNvSpPr>
          <p:nvPr/>
        </p:nvSpPr>
        <p:spPr>
          <a:xfrm xmlns:a="http://schemas.openxmlformats.org/drawingml/2006/main">
            <a:off x="2924175" y="2697627"/>
            <a:ext cx="114300" cy="197973"/>
          </a:xfrm>
          <a:custGeom xmlns:a="http://schemas.openxmlformats.org/drawingml/2006/main">
            <a:pathLst>
              <a:path w="114300" h="197973">
                <a:moveTo>
                  <a:pt x="0" y="197973"/>
                </a:moveTo>
                <a:lnTo>
                  <a:pt x="114300" y="0"/>
                </a:lnTo>
              </a:path>
            </a:pathLst>
          </a:custGeom>
          <a:noFill xmlns:a="http://schemas.openxmlformats.org/drawingml/2006/main"/>
          <a:ln xmlns:a="http://schemas.openxmlformats.org/drawingml/2006/main" w="16193">
            <a:solidFill>
              <a:srgbClr val="1E293B"/>
            </a:solidFill>
          </a:ln>
        </p:spPr>
      </p:sp>
      <p:sp>
        <p:nvSpPr>
          <p:cNvPr id="51" name="Phenol bond">
            <a:extLst xmlns:a="http://schemas.openxmlformats.org/drawingml/2006/main">
              <a:ext uri="{FF2B5EF4-FFF2-40B4-BE49-F238E27FC236}">
                <a16:creationId xmlns:a16="http://schemas.microsoft.com/office/drawing/2014/main" id="{7742403D-ACD6-4A92-8E72-6CF9F1F450C4}"/>
              </a:ext>
            </a:extLst>
          </p:cNvPr>
          <p:cNvSpPr>
            <a:spLocks xmlns:a="http://schemas.openxmlformats.org/drawingml/2006/main" noGrp="1"/>
          </p:cNvSpPr>
          <p:nvPr/>
        </p:nvSpPr>
        <p:spPr>
          <a:xfrm xmlns:a="http://schemas.openxmlformats.org/drawingml/2006/main">
            <a:off x="3038475" y="2697627"/>
            <a:ext cx="228600" cy="953"/>
          </a:xfrm>
          <a:custGeom xmlns:a="http://schemas.openxmlformats.org/drawingml/2006/main">
            <a:pathLst>
              <a:path w="228600" h="953">
                <a:moveTo>
                  <a:pt x="0" y="0"/>
                </a:moveTo>
                <a:lnTo>
                  <a:pt x="228600" y="0"/>
                </a:lnTo>
              </a:path>
            </a:pathLst>
          </a:custGeom>
          <a:noFill xmlns:a="http://schemas.openxmlformats.org/drawingml/2006/main"/>
          <a:ln xmlns:a="http://schemas.openxmlformats.org/drawingml/2006/main" w="16193">
            <a:solidFill>
              <a:srgbClr val="1E293B"/>
            </a:solidFill>
          </a:ln>
        </p:spPr>
      </p:sp>
      <p:sp>
        <p:nvSpPr>
          <p:cNvPr id="52" name="Phenol bond">
            <a:extLst xmlns:a="http://schemas.openxmlformats.org/drawingml/2006/main">
              <a:ext uri="{FF2B5EF4-FFF2-40B4-BE49-F238E27FC236}">
                <a16:creationId xmlns:a16="http://schemas.microsoft.com/office/drawing/2014/main" id="{A12F9DE3-6BC8-46D2-BD18-F5BD4116DF62}"/>
              </a:ext>
            </a:extLst>
          </p:cNvPr>
          <p:cNvSpPr>
            <a:spLocks xmlns:a="http://schemas.openxmlformats.org/drawingml/2006/main" noGrp="1"/>
          </p:cNvSpPr>
          <p:nvPr/>
        </p:nvSpPr>
        <p:spPr>
          <a:xfrm xmlns:a="http://schemas.openxmlformats.org/drawingml/2006/main">
            <a:off x="3076575" y="2735727"/>
            <a:ext cx="152400" cy="953"/>
          </a:xfrm>
          <a:custGeom xmlns:a="http://schemas.openxmlformats.org/drawingml/2006/main">
            <a:pathLst>
              <a:path w="152400" h="953">
                <a:moveTo>
                  <a:pt x="0" y="0"/>
                </a:moveTo>
                <a:lnTo>
                  <a:pt x="152400" y="0"/>
                </a:lnTo>
              </a:path>
            </a:pathLst>
          </a:custGeom>
          <a:noFill xmlns:a="http://schemas.openxmlformats.org/drawingml/2006/main"/>
          <a:ln xmlns:a="http://schemas.openxmlformats.org/drawingml/2006/main" w="16193">
            <a:solidFill>
              <a:srgbClr val="1E293B"/>
            </a:solidFill>
          </a:ln>
        </p:spPr>
      </p:sp>
      <p:sp>
        <p:nvSpPr>
          <p:cNvPr id="53" name="Phenol bond">
            <a:extLst xmlns:a="http://schemas.openxmlformats.org/drawingml/2006/main">
              <a:ext uri="{FF2B5EF4-FFF2-40B4-BE49-F238E27FC236}">
                <a16:creationId xmlns:a16="http://schemas.microsoft.com/office/drawing/2014/main" id="{DB1017D5-595F-448D-8513-93AFDEC38475}"/>
              </a:ext>
            </a:extLst>
          </p:cNvPr>
          <p:cNvSpPr>
            <a:spLocks xmlns:a="http://schemas.openxmlformats.org/drawingml/2006/main" noGrp="1"/>
          </p:cNvSpPr>
          <p:nvPr/>
        </p:nvSpPr>
        <p:spPr>
          <a:xfrm xmlns:a="http://schemas.openxmlformats.org/drawingml/2006/main">
            <a:off x="3267075" y="2697627"/>
            <a:ext cx="114300" cy="197973"/>
          </a:xfrm>
          <a:custGeom xmlns:a="http://schemas.openxmlformats.org/drawingml/2006/main">
            <a:pathLst>
              <a:path w="114300" h="197973">
                <a:moveTo>
                  <a:pt x="0" y="0"/>
                </a:moveTo>
                <a:lnTo>
                  <a:pt x="114300" y="197973"/>
                </a:lnTo>
              </a:path>
            </a:pathLst>
          </a:custGeom>
          <a:noFill xmlns:a="http://schemas.openxmlformats.org/drawingml/2006/main"/>
          <a:ln xmlns:a="http://schemas.openxmlformats.org/drawingml/2006/main" w="16193">
            <a:solidFill>
              <a:srgbClr val="1E293B"/>
            </a:solidFill>
          </a:ln>
        </p:spPr>
      </p:sp>
      <p:sp>
        <p:nvSpPr>
          <p:cNvPr id="54" name="">
            <a:extLst xmlns:a="http://schemas.openxmlformats.org/drawingml/2006/main">
              <a:ext uri="{FF2B5EF4-FFF2-40B4-BE49-F238E27FC236}">
                <a16:creationId xmlns:a16="http://schemas.microsoft.com/office/drawing/2014/main" id="{0CBA0276-D0D1-43AA-B34D-B45C4806B8D6}"/>
              </a:ext>
            </a:extLst>
          </p:cNvPr>
          <p:cNvSpPr>
            <a:spLocks xmlns:a="http://schemas.openxmlformats.org/drawingml/2006/main" noGrp="1"/>
          </p:cNvSpPr>
          <p:nvPr/>
        </p:nvSpPr>
        <p:spPr>
          <a:xfrm xmlns:a="http://schemas.openxmlformats.org/drawingml/2006/main">
            <a:off x="3552825" y="2790825"/>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2" b="0">
                <a:solidFill>
                  <a:srgbClr val="1E293B"/>
                </a:solidFill>
                <a:latin typeface="Calibri"/>
                <a:ea typeface="Calibri"/>
                <a:cs typeface="Calibri"/>
              </a:defRPr>
            </a:defPPr>
          </a:lstStyle>
          <a:p xmlns:a="http://schemas.openxmlformats.org/drawingml/2006/main">
            <a:pPr>
              <a:defRPr sz="1402" b="0">
                <a:solidFill>
                  <a:srgbClr val="1E293B"/>
                </a:solidFill>
                <a:latin typeface="Calibri"/>
                <a:ea typeface="Calibri"/>
                <a:cs typeface="Calibri"/>
              </a:defRPr>
            </a:pPr>
            <a:r>
              <a:rPr sz="1402" b="0">
                <a:solidFill>
                  <a:srgbClr val="1E293B"/>
                </a:solidFill>
                <a:latin typeface="Calibri"/>
                <a:ea typeface="Calibri"/>
                <a:cs typeface="Calibri"/>
              </a:rPr>
              <a:t>OH</a:t>
            </a:r>
          </a:p>
        </p:txBody>
      </p:sp>
      <p:sp>
        <p:nvSpPr>
          <p:cNvPr id="55" name="">
            <a:extLst xmlns:a="http://schemas.openxmlformats.org/drawingml/2006/main">
              <a:ext uri="{FF2B5EF4-FFF2-40B4-BE49-F238E27FC236}">
                <a16:creationId xmlns:a16="http://schemas.microsoft.com/office/drawing/2014/main" id="{C3027524-2747-40C1-B166-5ACE6493BBB4}"/>
              </a:ext>
            </a:extLst>
          </p:cNvPr>
          <p:cNvSpPr>
            <a:spLocks xmlns:a="http://schemas.openxmlformats.org/drawingml/2006/main" noGrp="1"/>
          </p:cNvSpPr>
          <p:nvPr/>
        </p:nvSpPr>
        <p:spPr>
          <a:xfrm xmlns:a="http://schemas.openxmlformats.org/drawingml/2006/main">
            <a:off x="2609850" y="3295650"/>
            <a:ext cx="1314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64748B"/>
                </a:solidFill>
                <a:latin typeface="Calibri"/>
                <a:ea typeface="Calibri"/>
                <a:cs typeface="Calibri"/>
              </a:defRPr>
            </a:defPPr>
          </a:lstStyle>
          <a:p xmlns:a="http://schemas.openxmlformats.org/drawingml/2006/main">
            <a:pPr algn="ctr">
              <a:defRPr sz="1200" b="0">
                <a:solidFill>
                  <a:srgbClr val="64748B"/>
                </a:solidFill>
                <a:latin typeface="Calibri"/>
                <a:ea typeface="Calibri"/>
                <a:cs typeface="Calibri"/>
              </a:defRPr>
            </a:pPr>
            <a:r>
              <a:rPr sz="1200" b="0">
                <a:solidFill>
                  <a:srgbClr val="64748B"/>
                </a:solidFill>
                <a:latin typeface="Calibri"/>
                <a:ea typeface="Calibri"/>
                <a:cs typeface="Calibri"/>
              </a:rPr>
              <a:t>Phenol</a:t>
            </a:r>
          </a:p>
        </p:txBody>
      </p:sp>
      <p:sp>
        <p:nvSpPr>
          <p:cNvPr id="56" name="4-Methylphenol bond">
            <a:extLst xmlns:a="http://schemas.openxmlformats.org/drawingml/2006/main">
              <a:ext uri="{FF2B5EF4-FFF2-40B4-BE49-F238E27FC236}">
                <a16:creationId xmlns:a16="http://schemas.microsoft.com/office/drawing/2014/main" id="{02D17D95-189C-4FAD-99E9-E302DDE0729B}"/>
              </a:ext>
            </a:extLst>
          </p:cNvPr>
          <p:cNvSpPr>
            <a:spLocks xmlns:a="http://schemas.openxmlformats.org/drawingml/2006/main" noGrp="1"/>
          </p:cNvSpPr>
          <p:nvPr/>
        </p:nvSpPr>
        <p:spPr>
          <a:xfrm xmlns:a="http://schemas.openxmlformats.org/drawingml/2006/main">
            <a:off x="3486150" y="3962400"/>
            <a:ext cx="133350" cy="953"/>
          </a:xfrm>
          <a:custGeom xmlns:a="http://schemas.openxmlformats.org/drawingml/2006/main">
            <a:pathLst>
              <a:path w="133350" h="953">
                <a:moveTo>
                  <a:pt x="133350" y="0"/>
                </a:moveTo>
                <a:lnTo>
                  <a:pt x="0" y="0"/>
                </a:lnTo>
              </a:path>
            </a:pathLst>
          </a:custGeom>
          <a:noFill xmlns:a="http://schemas.openxmlformats.org/drawingml/2006/main"/>
          <a:ln xmlns:a="http://schemas.openxmlformats.org/drawingml/2006/main" w="16193">
            <a:solidFill>
              <a:srgbClr val="1E293B"/>
            </a:solidFill>
          </a:ln>
        </p:spPr>
      </p:sp>
      <p:sp>
        <p:nvSpPr>
          <p:cNvPr id="57" name="4-Methylphenol bond">
            <a:extLst xmlns:a="http://schemas.openxmlformats.org/drawingml/2006/main">
              <a:ext uri="{FF2B5EF4-FFF2-40B4-BE49-F238E27FC236}">
                <a16:creationId xmlns:a16="http://schemas.microsoft.com/office/drawing/2014/main" id="{02610BE0-DE53-4B5F-84C1-D9963C3E7601}"/>
              </a:ext>
            </a:extLst>
          </p:cNvPr>
          <p:cNvSpPr>
            <a:spLocks xmlns:a="http://schemas.openxmlformats.org/drawingml/2006/main" noGrp="1"/>
          </p:cNvSpPr>
          <p:nvPr/>
        </p:nvSpPr>
        <p:spPr>
          <a:xfrm xmlns:a="http://schemas.openxmlformats.org/drawingml/2006/main">
            <a:off x="3376613" y="3962400"/>
            <a:ext cx="109538" cy="189725"/>
          </a:xfrm>
          <a:custGeom xmlns:a="http://schemas.openxmlformats.org/drawingml/2006/main">
            <a:pathLst>
              <a:path w="109538" h="189725">
                <a:moveTo>
                  <a:pt x="109538" y="0"/>
                </a:moveTo>
                <a:lnTo>
                  <a:pt x="0" y="189725"/>
                </a:lnTo>
              </a:path>
            </a:pathLst>
          </a:custGeom>
          <a:noFill xmlns:a="http://schemas.openxmlformats.org/drawingml/2006/main"/>
          <a:ln xmlns:a="http://schemas.openxmlformats.org/drawingml/2006/main" w="16193">
            <a:solidFill>
              <a:srgbClr val="1E293B"/>
            </a:solidFill>
          </a:ln>
        </p:spPr>
      </p:sp>
      <p:sp>
        <p:nvSpPr>
          <p:cNvPr id="58" name="4-Methylphenol bond">
            <a:extLst xmlns:a="http://schemas.openxmlformats.org/drawingml/2006/main">
              <a:ext uri="{FF2B5EF4-FFF2-40B4-BE49-F238E27FC236}">
                <a16:creationId xmlns:a16="http://schemas.microsoft.com/office/drawing/2014/main" id="{CA4273E1-5F6D-44BA-8A99-815575A763D7}"/>
              </a:ext>
            </a:extLst>
          </p:cNvPr>
          <p:cNvSpPr>
            <a:spLocks xmlns:a="http://schemas.openxmlformats.org/drawingml/2006/main" noGrp="1"/>
          </p:cNvSpPr>
          <p:nvPr/>
        </p:nvSpPr>
        <p:spPr>
          <a:xfrm xmlns:a="http://schemas.openxmlformats.org/drawingml/2006/main">
            <a:off x="3362667" y="3976346"/>
            <a:ext cx="71438" cy="123733"/>
          </a:xfrm>
          <a:custGeom xmlns:a="http://schemas.openxmlformats.org/drawingml/2006/main">
            <a:pathLst>
              <a:path w="71438" h="123733">
                <a:moveTo>
                  <a:pt x="71438" y="0"/>
                </a:moveTo>
                <a:lnTo>
                  <a:pt x="0" y="123733"/>
                </a:lnTo>
              </a:path>
            </a:pathLst>
          </a:custGeom>
          <a:noFill xmlns:a="http://schemas.openxmlformats.org/drawingml/2006/main"/>
          <a:ln xmlns:a="http://schemas.openxmlformats.org/drawingml/2006/main" w="16193">
            <a:solidFill>
              <a:srgbClr val="1E293B"/>
            </a:solidFill>
          </a:ln>
        </p:spPr>
      </p:sp>
      <p:sp>
        <p:nvSpPr>
          <p:cNvPr id="59" name="4-Methylphenol bond">
            <a:extLst xmlns:a="http://schemas.openxmlformats.org/drawingml/2006/main">
              <a:ext uri="{FF2B5EF4-FFF2-40B4-BE49-F238E27FC236}">
                <a16:creationId xmlns:a16="http://schemas.microsoft.com/office/drawing/2014/main" id="{72DD9A8C-B76F-4D34-BFB6-BB9BF3294A87}"/>
              </a:ext>
            </a:extLst>
          </p:cNvPr>
          <p:cNvSpPr>
            <a:spLocks xmlns:a="http://schemas.openxmlformats.org/drawingml/2006/main" noGrp="1"/>
          </p:cNvSpPr>
          <p:nvPr/>
        </p:nvSpPr>
        <p:spPr>
          <a:xfrm xmlns:a="http://schemas.openxmlformats.org/drawingml/2006/main">
            <a:off x="3157538" y="4152125"/>
            <a:ext cx="219075" cy="953"/>
          </a:xfrm>
          <a:custGeom xmlns:a="http://schemas.openxmlformats.org/drawingml/2006/main">
            <a:pathLst>
              <a:path w="219075" h="953">
                <a:moveTo>
                  <a:pt x="219075" y="0"/>
                </a:moveTo>
                <a:lnTo>
                  <a:pt x="0" y="0"/>
                </a:lnTo>
              </a:path>
            </a:pathLst>
          </a:custGeom>
          <a:noFill xmlns:a="http://schemas.openxmlformats.org/drawingml/2006/main"/>
          <a:ln xmlns:a="http://schemas.openxmlformats.org/drawingml/2006/main" w="16193">
            <a:solidFill>
              <a:srgbClr val="1E293B"/>
            </a:solidFill>
          </a:ln>
        </p:spPr>
      </p:sp>
      <p:sp>
        <p:nvSpPr>
          <p:cNvPr id="60" name="4-Methylphenol bond">
            <a:extLst xmlns:a="http://schemas.openxmlformats.org/drawingml/2006/main">
              <a:ext uri="{FF2B5EF4-FFF2-40B4-BE49-F238E27FC236}">
                <a16:creationId xmlns:a16="http://schemas.microsoft.com/office/drawing/2014/main" id="{D1A215AC-7CF4-4378-9108-915CD71A4442}"/>
              </a:ext>
            </a:extLst>
          </p:cNvPr>
          <p:cNvSpPr>
            <a:spLocks xmlns:a="http://schemas.openxmlformats.org/drawingml/2006/main" noGrp="1"/>
          </p:cNvSpPr>
          <p:nvPr/>
        </p:nvSpPr>
        <p:spPr>
          <a:xfrm xmlns:a="http://schemas.openxmlformats.org/drawingml/2006/main">
            <a:off x="3048000" y="3962400"/>
            <a:ext cx="109538" cy="189725"/>
          </a:xfrm>
          <a:custGeom xmlns:a="http://schemas.openxmlformats.org/drawingml/2006/main">
            <a:pathLst>
              <a:path w="109538" h="189725">
                <a:moveTo>
                  <a:pt x="109538" y="189725"/>
                </a:moveTo>
                <a:lnTo>
                  <a:pt x="0" y="0"/>
                </a:lnTo>
              </a:path>
            </a:pathLst>
          </a:custGeom>
          <a:noFill xmlns:a="http://schemas.openxmlformats.org/drawingml/2006/main"/>
          <a:ln xmlns:a="http://schemas.openxmlformats.org/drawingml/2006/main" w="16193">
            <a:solidFill>
              <a:srgbClr val="1E293B"/>
            </a:solidFill>
          </a:ln>
        </p:spPr>
      </p:sp>
      <p:sp>
        <p:nvSpPr>
          <p:cNvPr id="61" name="4-Methylphenol bond">
            <a:extLst xmlns:a="http://schemas.openxmlformats.org/drawingml/2006/main">
              <a:ext uri="{FF2B5EF4-FFF2-40B4-BE49-F238E27FC236}">
                <a16:creationId xmlns:a16="http://schemas.microsoft.com/office/drawing/2014/main" id="{6BFAA77F-FFCC-40B4-995B-4A1230269437}"/>
              </a:ext>
            </a:extLst>
          </p:cNvPr>
          <p:cNvSpPr>
            <a:spLocks xmlns:a="http://schemas.openxmlformats.org/drawingml/2006/main" noGrp="1"/>
          </p:cNvSpPr>
          <p:nvPr/>
        </p:nvSpPr>
        <p:spPr>
          <a:xfrm xmlns:a="http://schemas.openxmlformats.org/drawingml/2006/main">
            <a:off x="3100046" y="3976346"/>
            <a:ext cx="71438" cy="123733"/>
          </a:xfrm>
          <a:custGeom xmlns:a="http://schemas.openxmlformats.org/drawingml/2006/main">
            <a:pathLst>
              <a:path w="71438" h="123733">
                <a:moveTo>
                  <a:pt x="71438" y="123733"/>
                </a:moveTo>
                <a:lnTo>
                  <a:pt x="0" y="0"/>
                </a:lnTo>
              </a:path>
            </a:pathLst>
          </a:custGeom>
          <a:noFill xmlns:a="http://schemas.openxmlformats.org/drawingml/2006/main"/>
          <a:ln xmlns:a="http://schemas.openxmlformats.org/drawingml/2006/main" w="16193">
            <a:solidFill>
              <a:srgbClr val="1E293B"/>
            </a:solidFill>
          </a:ln>
        </p:spPr>
      </p:sp>
      <p:sp>
        <p:nvSpPr>
          <p:cNvPr id="62" name="4-Methylphenol bond">
            <a:extLst xmlns:a="http://schemas.openxmlformats.org/drawingml/2006/main">
              <a:ext uri="{FF2B5EF4-FFF2-40B4-BE49-F238E27FC236}">
                <a16:creationId xmlns:a16="http://schemas.microsoft.com/office/drawing/2014/main" id="{3F317F14-27B5-4338-8C2E-5F309D03ECE8}"/>
              </a:ext>
            </a:extLst>
          </p:cNvPr>
          <p:cNvSpPr>
            <a:spLocks xmlns:a="http://schemas.openxmlformats.org/drawingml/2006/main" noGrp="1"/>
          </p:cNvSpPr>
          <p:nvPr/>
        </p:nvSpPr>
        <p:spPr>
          <a:xfrm xmlns:a="http://schemas.openxmlformats.org/drawingml/2006/main">
            <a:off x="2914650" y="3962400"/>
            <a:ext cx="133350" cy="953"/>
          </a:xfrm>
          <a:custGeom xmlns:a="http://schemas.openxmlformats.org/drawingml/2006/main">
            <a:pathLst>
              <a:path w="133350" h="953">
                <a:moveTo>
                  <a:pt x="133350" y="0"/>
                </a:moveTo>
                <a:lnTo>
                  <a:pt x="0" y="0"/>
                </a:lnTo>
              </a:path>
            </a:pathLst>
          </a:custGeom>
          <a:noFill xmlns:a="http://schemas.openxmlformats.org/drawingml/2006/main"/>
          <a:ln xmlns:a="http://schemas.openxmlformats.org/drawingml/2006/main" w="16193">
            <a:solidFill>
              <a:srgbClr val="C56B30"/>
            </a:solidFill>
          </a:ln>
        </p:spPr>
      </p:sp>
      <p:sp>
        <p:nvSpPr>
          <p:cNvPr id="63" name="4-Methylphenol bond">
            <a:extLst xmlns:a="http://schemas.openxmlformats.org/drawingml/2006/main">
              <a:ext uri="{FF2B5EF4-FFF2-40B4-BE49-F238E27FC236}">
                <a16:creationId xmlns:a16="http://schemas.microsoft.com/office/drawing/2014/main" id="{3856BC68-10B6-44B2-91B5-BE9AD3A18160}"/>
              </a:ext>
            </a:extLst>
          </p:cNvPr>
          <p:cNvSpPr>
            <a:spLocks xmlns:a="http://schemas.openxmlformats.org/drawingml/2006/main" noGrp="1"/>
          </p:cNvSpPr>
          <p:nvPr/>
        </p:nvSpPr>
        <p:spPr>
          <a:xfrm xmlns:a="http://schemas.openxmlformats.org/drawingml/2006/main">
            <a:off x="3048000" y="3772675"/>
            <a:ext cx="109538" cy="189725"/>
          </a:xfrm>
          <a:custGeom xmlns:a="http://schemas.openxmlformats.org/drawingml/2006/main">
            <a:pathLst>
              <a:path w="109538" h="189725">
                <a:moveTo>
                  <a:pt x="0" y="189725"/>
                </a:moveTo>
                <a:lnTo>
                  <a:pt x="109538" y="0"/>
                </a:lnTo>
              </a:path>
            </a:pathLst>
          </a:custGeom>
          <a:noFill xmlns:a="http://schemas.openxmlformats.org/drawingml/2006/main"/>
          <a:ln xmlns:a="http://schemas.openxmlformats.org/drawingml/2006/main" w="16193">
            <a:solidFill>
              <a:srgbClr val="1E293B"/>
            </a:solidFill>
          </a:ln>
        </p:spPr>
      </p:sp>
      <p:sp>
        <p:nvSpPr>
          <p:cNvPr id="64" name="4-Methylphenol bond">
            <a:extLst xmlns:a="http://schemas.openxmlformats.org/drawingml/2006/main">
              <a:ext uri="{FF2B5EF4-FFF2-40B4-BE49-F238E27FC236}">
                <a16:creationId xmlns:a16="http://schemas.microsoft.com/office/drawing/2014/main" id="{7D3D7524-95E4-4FED-B225-AAF04C0D64F9}"/>
              </a:ext>
            </a:extLst>
          </p:cNvPr>
          <p:cNvSpPr>
            <a:spLocks xmlns:a="http://schemas.openxmlformats.org/drawingml/2006/main" noGrp="1"/>
          </p:cNvSpPr>
          <p:nvPr/>
        </p:nvSpPr>
        <p:spPr>
          <a:xfrm xmlns:a="http://schemas.openxmlformats.org/drawingml/2006/main">
            <a:off x="3157538" y="3772675"/>
            <a:ext cx="219075" cy="953"/>
          </a:xfrm>
          <a:custGeom xmlns:a="http://schemas.openxmlformats.org/drawingml/2006/main">
            <a:pathLst>
              <a:path w="219075" h="953">
                <a:moveTo>
                  <a:pt x="0" y="0"/>
                </a:moveTo>
                <a:lnTo>
                  <a:pt x="219075" y="0"/>
                </a:lnTo>
              </a:path>
            </a:pathLst>
          </a:custGeom>
          <a:noFill xmlns:a="http://schemas.openxmlformats.org/drawingml/2006/main"/>
          <a:ln xmlns:a="http://schemas.openxmlformats.org/drawingml/2006/main" w="16193">
            <a:solidFill>
              <a:srgbClr val="1E293B"/>
            </a:solidFill>
          </a:ln>
        </p:spPr>
      </p:sp>
      <p:sp>
        <p:nvSpPr>
          <p:cNvPr id="65" name="4-Methylphenol bond">
            <a:extLst xmlns:a="http://schemas.openxmlformats.org/drawingml/2006/main">
              <a:ext uri="{FF2B5EF4-FFF2-40B4-BE49-F238E27FC236}">
                <a16:creationId xmlns:a16="http://schemas.microsoft.com/office/drawing/2014/main" id="{7C2ADD20-2EFF-4EE8-AC99-0F2181F1C9BB}"/>
              </a:ext>
            </a:extLst>
          </p:cNvPr>
          <p:cNvSpPr>
            <a:spLocks xmlns:a="http://schemas.openxmlformats.org/drawingml/2006/main" noGrp="1"/>
          </p:cNvSpPr>
          <p:nvPr/>
        </p:nvSpPr>
        <p:spPr>
          <a:xfrm xmlns:a="http://schemas.openxmlformats.org/drawingml/2006/main">
            <a:off x="3195638" y="3810775"/>
            <a:ext cx="142875" cy="953"/>
          </a:xfrm>
          <a:custGeom xmlns:a="http://schemas.openxmlformats.org/drawingml/2006/main">
            <a:pathLst>
              <a:path w="142875" h="953">
                <a:moveTo>
                  <a:pt x="0" y="0"/>
                </a:moveTo>
                <a:lnTo>
                  <a:pt x="142875" y="0"/>
                </a:lnTo>
              </a:path>
            </a:pathLst>
          </a:custGeom>
          <a:noFill xmlns:a="http://schemas.openxmlformats.org/drawingml/2006/main"/>
          <a:ln xmlns:a="http://schemas.openxmlformats.org/drawingml/2006/main" w="16193">
            <a:solidFill>
              <a:srgbClr val="1E293B"/>
            </a:solidFill>
          </a:ln>
        </p:spPr>
      </p:sp>
      <p:sp>
        <p:nvSpPr>
          <p:cNvPr id="66" name="4-Methylphenol bond">
            <a:extLst xmlns:a="http://schemas.openxmlformats.org/drawingml/2006/main">
              <a:ext uri="{FF2B5EF4-FFF2-40B4-BE49-F238E27FC236}">
                <a16:creationId xmlns:a16="http://schemas.microsoft.com/office/drawing/2014/main" id="{084BE867-6955-4FBC-BB31-F67E14D73D67}"/>
              </a:ext>
            </a:extLst>
          </p:cNvPr>
          <p:cNvSpPr>
            <a:spLocks xmlns:a="http://schemas.openxmlformats.org/drawingml/2006/main" noGrp="1"/>
          </p:cNvSpPr>
          <p:nvPr/>
        </p:nvSpPr>
        <p:spPr>
          <a:xfrm xmlns:a="http://schemas.openxmlformats.org/drawingml/2006/main">
            <a:off x="3376613" y="3772675"/>
            <a:ext cx="109538" cy="189725"/>
          </a:xfrm>
          <a:custGeom xmlns:a="http://schemas.openxmlformats.org/drawingml/2006/main">
            <a:pathLst>
              <a:path w="109538" h="189725">
                <a:moveTo>
                  <a:pt x="0" y="0"/>
                </a:moveTo>
                <a:lnTo>
                  <a:pt x="109538" y="189725"/>
                </a:lnTo>
              </a:path>
            </a:pathLst>
          </a:custGeom>
          <a:noFill xmlns:a="http://schemas.openxmlformats.org/drawingml/2006/main"/>
          <a:ln xmlns:a="http://schemas.openxmlformats.org/drawingml/2006/main" w="16193">
            <a:solidFill>
              <a:srgbClr val="1E293B"/>
            </a:solidFill>
          </a:ln>
        </p:spPr>
      </p:sp>
      <p:sp>
        <p:nvSpPr>
          <p:cNvPr id="67" name="">
            <a:extLst xmlns:a="http://schemas.openxmlformats.org/drawingml/2006/main">
              <a:ext uri="{FF2B5EF4-FFF2-40B4-BE49-F238E27FC236}">
                <a16:creationId xmlns:a16="http://schemas.microsoft.com/office/drawing/2014/main" id="{FEFD9546-1FCE-4A3C-9471-94EBBFE4DF90}"/>
              </a:ext>
            </a:extLst>
          </p:cNvPr>
          <p:cNvSpPr>
            <a:spLocks xmlns:a="http://schemas.openxmlformats.org/drawingml/2006/main" noGrp="1"/>
          </p:cNvSpPr>
          <p:nvPr/>
        </p:nvSpPr>
        <p:spPr>
          <a:xfrm xmlns:a="http://schemas.openxmlformats.org/drawingml/2006/main">
            <a:off x="3648075" y="3857625"/>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2" b="0">
                <a:solidFill>
                  <a:srgbClr val="1E293B"/>
                </a:solidFill>
                <a:latin typeface="Calibri"/>
                <a:ea typeface="Calibri"/>
                <a:cs typeface="Calibri"/>
              </a:defRPr>
            </a:defPPr>
          </a:lstStyle>
          <a:p xmlns:a="http://schemas.openxmlformats.org/drawingml/2006/main">
            <a:pPr>
              <a:defRPr sz="1402" b="0">
                <a:solidFill>
                  <a:srgbClr val="1E293B"/>
                </a:solidFill>
                <a:latin typeface="Calibri"/>
                <a:ea typeface="Calibri"/>
                <a:cs typeface="Calibri"/>
              </a:defRPr>
            </a:pPr>
            <a:r>
              <a:rPr sz="1402" b="0">
                <a:solidFill>
                  <a:srgbClr val="1E293B"/>
                </a:solidFill>
                <a:latin typeface="Calibri"/>
                <a:ea typeface="Calibri"/>
                <a:cs typeface="Calibri"/>
              </a:rPr>
              <a:t>OH</a:t>
            </a:r>
          </a:p>
        </p:txBody>
      </p:sp>
      <p:sp>
        <p:nvSpPr>
          <p:cNvPr id="68" name="">
            <a:extLst xmlns:a="http://schemas.openxmlformats.org/drawingml/2006/main">
              <a:ext uri="{FF2B5EF4-FFF2-40B4-BE49-F238E27FC236}">
                <a16:creationId xmlns:a16="http://schemas.microsoft.com/office/drawing/2014/main" id="{7AEC118B-468A-4003-A756-A86AFD6EF596}"/>
              </a:ext>
            </a:extLst>
          </p:cNvPr>
          <p:cNvSpPr>
            <a:spLocks xmlns:a="http://schemas.openxmlformats.org/drawingml/2006/main" noGrp="1"/>
          </p:cNvSpPr>
          <p:nvPr/>
        </p:nvSpPr>
        <p:spPr>
          <a:xfrm xmlns:a="http://schemas.openxmlformats.org/drawingml/2006/main">
            <a:off x="2581275" y="385762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2" b="0">
                <a:solidFill>
                  <a:srgbClr val="C56B30"/>
                </a:solidFill>
                <a:latin typeface="Calibri"/>
                <a:ea typeface="Calibri"/>
                <a:cs typeface="Calibri"/>
              </a:defRPr>
            </a:defPPr>
          </a:lstStyle>
          <a:p xmlns:a="http://schemas.openxmlformats.org/drawingml/2006/main">
            <a:pPr>
              <a:defRPr sz="1402" b="0">
                <a:solidFill>
                  <a:srgbClr val="C56B30"/>
                </a:solidFill>
                <a:latin typeface="Calibri"/>
                <a:ea typeface="Calibri"/>
                <a:cs typeface="Calibri"/>
              </a:defRPr>
            </a:pPr>
            <a:r>
              <a:rPr sz="1402" b="0">
                <a:solidFill>
                  <a:srgbClr val="C56B30"/>
                </a:solidFill>
                <a:latin typeface="Calibri"/>
                <a:ea typeface="Calibri"/>
                <a:cs typeface="Calibri"/>
              </a:rPr>
              <a:t>H₃C</a:t>
            </a:r>
          </a:p>
        </p:txBody>
      </p:sp>
      <p:sp>
        <p:nvSpPr>
          <p:cNvPr id="69" name="">
            <a:extLst xmlns:a="http://schemas.openxmlformats.org/drawingml/2006/main">
              <a:ext uri="{FF2B5EF4-FFF2-40B4-BE49-F238E27FC236}">
                <a16:creationId xmlns:a16="http://schemas.microsoft.com/office/drawing/2014/main" id="{A9664D8F-7584-4CFA-9BA8-4563A1838A98}"/>
              </a:ext>
            </a:extLst>
          </p:cNvPr>
          <p:cNvSpPr>
            <a:spLocks xmlns:a="http://schemas.openxmlformats.org/drawingml/2006/main" noGrp="1"/>
          </p:cNvSpPr>
          <p:nvPr/>
        </p:nvSpPr>
        <p:spPr>
          <a:xfrm xmlns:a="http://schemas.openxmlformats.org/drawingml/2006/main">
            <a:off x="2514600" y="4362450"/>
            <a:ext cx="1504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64748B"/>
                </a:solidFill>
                <a:latin typeface="Calibri"/>
                <a:ea typeface="Calibri"/>
                <a:cs typeface="Calibri"/>
              </a:defRPr>
            </a:defPPr>
          </a:lstStyle>
          <a:p xmlns:a="http://schemas.openxmlformats.org/drawingml/2006/main">
            <a:pPr algn="ctr">
              <a:defRPr sz="1200" b="0">
                <a:solidFill>
                  <a:srgbClr val="64748B"/>
                </a:solidFill>
                <a:latin typeface="Calibri"/>
                <a:ea typeface="Calibri"/>
                <a:cs typeface="Calibri"/>
              </a:defRPr>
            </a:pPr>
            <a:r>
              <a:rPr sz="1200" b="0">
                <a:solidFill>
                  <a:srgbClr val="64748B"/>
                </a:solidFill>
                <a:latin typeface="Calibri"/>
                <a:ea typeface="Calibri"/>
                <a:cs typeface="Calibri"/>
              </a:rPr>
              <a:t>4-Methylphenol</a:t>
            </a:r>
          </a:p>
        </p:txBody>
      </p:sp>
      <p:sp>
        <p:nvSpPr>
          <p:cNvPr id="70" name="Train model">
            <a:extLst xmlns:a="http://schemas.openxmlformats.org/drawingml/2006/main">
              <a:ext uri="{FF2B5EF4-FFF2-40B4-BE49-F238E27FC236}">
                <a16:creationId xmlns:a16="http://schemas.microsoft.com/office/drawing/2014/main" id="{96F68BCC-EAD4-4AC7-94FE-0311CC24BFD7}"/>
              </a:ext>
            </a:extLst>
          </p:cNvPr>
          <p:cNvSpPr>
            <a:spLocks xmlns:a="http://schemas.openxmlformats.org/drawingml/2006/main" noGrp="1"/>
          </p:cNvSpPr>
          <p:nvPr/>
        </p:nvSpPr>
        <p:spPr>
          <a:xfrm xmlns:a="http://schemas.openxmlformats.org/drawingml/2006/main">
            <a:off x="5334000" y="1628775"/>
            <a:ext cx="1476375" cy="533400"/>
          </a:xfrm>
          <a:prstGeom xmlns:a="http://schemas.openxmlformats.org/drawingml/2006/main" prst="rect">
            <a:avLst/>
          </a:prstGeom>
          <a:solidFill xmlns:a="http://schemas.openxmlformats.org/drawingml/2006/main">
            <a:srgbClr val="EAF6F6"/>
          </a:solidFill>
          <a:ln xmlns:a="http://schemas.openxmlformats.org/drawingml/2006/main" w="14288">
            <a:solidFill>
              <a:srgbClr val="028090"/>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Train model</a:t>
            </a:r>
          </a:p>
        </p:txBody>
      </p:sp>
      <p:sp>
        <p:nvSpPr>
          <p:cNvPr id="71" name="Same fixed model">
            <a:extLst xmlns:a="http://schemas.openxmlformats.org/drawingml/2006/main">
              <a:ext uri="{FF2B5EF4-FFF2-40B4-BE49-F238E27FC236}">
                <a16:creationId xmlns:a16="http://schemas.microsoft.com/office/drawing/2014/main" id="{69F5F00F-18C5-40A4-A0B4-FDDD902726AD}"/>
              </a:ext>
            </a:extLst>
          </p:cNvPr>
          <p:cNvSpPr>
            <a:spLocks xmlns:a="http://schemas.openxmlformats.org/drawingml/2006/main" noGrp="1"/>
          </p:cNvSpPr>
          <p:nvPr/>
        </p:nvSpPr>
        <p:spPr>
          <a:xfrm xmlns:a="http://schemas.openxmlformats.org/drawingml/2006/main">
            <a:off x="5334000" y="2695575"/>
            <a:ext cx="1476375" cy="533400"/>
          </a:xfrm>
          <a:prstGeom xmlns:a="http://schemas.openxmlformats.org/drawingml/2006/main" prst="rect">
            <a:avLst/>
          </a:prstGeom>
          <a:solidFill xmlns:a="http://schemas.openxmlformats.org/drawingml/2006/main">
            <a:srgbClr val="EAF6F6"/>
          </a:solidFill>
          <a:ln xmlns:a="http://schemas.openxmlformats.org/drawingml/2006/main" w="14288">
            <a:solidFill>
              <a:srgbClr val="028090"/>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Same fixed</a:t>
            </a:r>
          </a:p>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model</a:t>
            </a:r>
          </a:p>
        </p:txBody>
      </p:sp>
      <p:sp>
        <p:nvSpPr>
          <p:cNvPr id="72" name="Same fixed model">
            <a:extLst xmlns:a="http://schemas.openxmlformats.org/drawingml/2006/main">
              <a:ext uri="{FF2B5EF4-FFF2-40B4-BE49-F238E27FC236}">
                <a16:creationId xmlns:a16="http://schemas.microsoft.com/office/drawing/2014/main" id="{C3D6954C-5C83-49FB-97AA-8AFB88B40A77}"/>
              </a:ext>
            </a:extLst>
          </p:cNvPr>
          <p:cNvSpPr>
            <a:spLocks xmlns:a="http://schemas.openxmlformats.org/drawingml/2006/main" noGrp="1"/>
          </p:cNvSpPr>
          <p:nvPr/>
        </p:nvSpPr>
        <p:spPr>
          <a:xfrm xmlns:a="http://schemas.openxmlformats.org/drawingml/2006/main">
            <a:off x="5334000" y="3762375"/>
            <a:ext cx="1476375" cy="533400"/>
          </a:xfrm>
          <a:prstGeom xmlns:a="http://schemas.openxmlformats.org/drawingml/2006/main" prst="rect">
            <a:avLst/>
          </a:prstGeom>
          <a:solidFill xmlns:a="http://schemas.openxmlformats.org/drawingml/2006/main">
            <a:srgbClr val="EAF6F6"/>
          </a:solidFill>
          <a:ln xmlns:a="http://schemas.openxmlformats.org/drawingml/2006/main" w="14288">
            <a:solidFill>
              <a:srgbClr val="028090"/>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Same fixed</a:t>
            </a:r>
          </a:p>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model</a:t>
            </a:r>
          </a:p>
        </p:txBody>
      </p:sp>
      <p:cxnSp>
        <p:nvCxnSpPr>
          <p:cNvPr id="73" name="">
            <a:extLst xmlns:a="http://schemas.openxmlformats.org/drawingml/2006/main">
              <a:ext uri="{FF2B5EF4-FFF2-40B4-BE49-F238E27FC236}">
                <a16:creationId xmlns:a16="http://schemas.microsoft.com/office/drawing/2014/main" id="{34BA44ED-5857-4429-97D8-81EC7F913A54}"/>
              </a:ext>
            </a:extLst>
          </p:cNvPr>
          <p:cNvCxnSpPr/>
          <p:nvPr/>
        </p:nvCxnSpPr>
        <p:spPr>
          <a:xfrm xmlns:a="http://schemas.openxmlformats.org/drawingml/2006/main">
            <a:off x="5067300" y="1895475"/>
            <a:ext cx="266700" cy="0"/>
          </a:xfrm>
          <a:prstGeom xmlns:a="http://schemas.openxmlformats.org/drawingml/2006/main" prst="straightConnector1">
            <a:avLst/>
          </a:prstGeom>
          <a:ln xmlns:a="http://schemas.openxmlformats.org/drawingml/2006/main" w="22860">
            <a:solidFill>
              <a:srgbClr val="028090"/>
            </a:solidFill>
            <a:tailEnd type="triangle" w="med" len="med"/>
          </a:ln>
        </p:spPr>
      </p:cxnSp>
      <p:cxnSp>
        <p:nvCxnSpPr>
          <p:cNvPr id="74" name="">
            <a:extLst xmlns:a="http://schemas.openxmlformats.org/drawingml/2006/main">
              <a:ext uri="{FF2B5EF4-FFF2-40B4-BE49-F238E27FC236}">
                <a16:creationId xmlns:a16="http://schemas.microsoft.com/office/drawing/2014/main" id="{FCC4C5B7-07C1-449A-88BF-C67EA30DFF66}"/>
              </a:ext>
            </a:extLst>
          </p:cNvPr>
          <p:cNvCxnSpPr/>
          <p:nvPr/>
        </p:nvCxnSpPr>
        <p:spPr>
          <a:xfrm xmlns:a="http://schemas.openxmlformats.org/drawingml/2006/main">
            <a:off x="4143375" y="2962275"/>
            <a:ext cx="1190625" cy="0"/>
          </a:xfrm>
          <a:prstGeom xmlns:a="http://schemas.openxmlformats.org/drawingml/2006/main" prst="straightConnector1">
            <a:avLst/>
          </a:prstGeom>
          <a:ln xmlns:a="http://schemas.openxmlformats.org/drawingml/2006/main" w="22860">
            <a:solidFill>
              <a:srgbClr val="C56B30"/>
            </a:solidFill>
            <a:tailEnd type="triangle" w="med" len="med"/>
          </a:ln>
        </p:spPr>
      </p:cxnSp>
      <p:cxnSp>
        <p:nvCxnSpPr>
          <p:cNvPr id="75" name="">
            <a:extLst xmlns:a="http://schemas.openxmlformats.org/drawingml/2006/main">
              <a:ext uri="{FF2B5EF4-FFF2-40B4-BE49-F238E27FC236}">
                <a16:creationId xmlns:a16="http://schemas.microsoft.com/office/drawing/2014/main" id="{D19C6C2D-BFE4-4F21-8187-C92F69507A96}"/>
              </a:ext>
            </a:extLst>
          </p:cNvPr>
          <p:cNvCxnSpPr/>
          <p:nvPr/>
        </p:nvCxnSpPr>
        <p:spPr>
          <a:xfrm xmlns:a="http://schemas.openxmlformats.org/drawingml/2006/main">
            <a:off x="4143375" y="4029075"/>
            <a:ext cx="1190625" cy="0"/>
          </a:xfrm>
          <a:prstGeom xmlns:a="http://schemas.openxmlformats.org/drawingml/2006/main" prst="straightConnector1">
            <a:avLst/>
          </a:prstGeom>
          <a:ln xmlns:a="http://schemas.openxmlformats.org/drawingml/2006/main" w="22860">
            <a:solidFill>
              <a:srgbClr val="C56B30"/>
            </a:solidFill>
            <a:tailEnd type="triangle" w="med" len="med"/>
          </a:ln>
        </p:spPr>
      </p:cxnSp>
      <p:cxnSp>
        <p:nvCxnSpPr>
          <p:cNvPr id="76" name="">
            <a:extLst xmlns:a="http://schemas.openxmlformats.org/drawingml/2006/main">
              <a:ext uri="{FF2B5EF4-FFF2-40B4-BE49-F238E27FC236}">
                <a16:creationId xmlns:a16="http://schemas.microsoft.com/office/drawing/2014/main" id="{C519171D-7243-4FDF-900B-963FF471A6A8}"/>
              </a:ext>
            </a:extLst>
          </p:cNvPr>
          <p:cNvCxnSpPr/>
          <p:nvPr/>
        </p:nvCxnSpPr>
        <p:spPr>
          <a:xfrm xmlns:a="http://schemas.openxmlformats.org/drawingml/2006/main">
            <a:off x="6810375" y="1895475"/>
            <a:ext cx="333375" cy="0"/>
          </a:xfrm>
          <a:prstGeom xmlns:a="http://schemas.openxmlformats.org/drawingml/2006/main" prst="straightConnector1">
            <a:avLst/>
          </a:prstGeom>
          <a:ln xmlns:a="http://schemas.openxmlformats.org/drawingml/2006/main" w="22860">
            <a:solidFill>
              <a:srgbClr val="64748B"/>
            </a:solidFill>
            <a:tailEnd type="triangle" w="med" len="med"/>
          </a:ln>
        </p:spPr>
      </p:cxnSp>
      <p:cxnSp>
        <p:nvCxnSpPr>
          <p:cNvPr id="77" name="">
            <a:extLst xmlns:a="http://schemas.openxmlformats.org/drawingml/2006/main">
              <a:ext uri="{FF2B5EF4-FFF2-40B4-BE49-F238E27FC236}">
                <a16:creationId xmlns:a16="http://schemas.microsoft.com/office/drawing/2014/main" id="{0FF8AC2B-724D-4952-A829-444BBD1EAC17}"/>
              </a:ext>
            </a:extLst>
          </p:cNvPr>
          <p:cNvCxnSpPr/>
          <p:nvPr/>
        </p:nvCxnSpPr>
        <p:spPr>
          <a:xfrm xmlns:a="http://schemas.openxmlformats.org/drawingml/2006/main">
            <a:off x="6810375" y="2962275"/>
            <a:ext cx="333375" cy="0"/>
          </a:xfrm>
          <a:prstGeom xmlns:a="http://schemas.openxmlformats.org/drawingml/2006/main" prst="straightConnector1">
            <a:avLst/>
          </a:prstGeom>
          <a:ln xmlns:a="http://schemas.openxmlformats.org/drawingml/2006/main" w="22860">
            <a:solidFill>
              <a:srgbClr val="64748B"/>
            </a:solidFill>
            <a:tailEnd type="triangle" w="med" len="med"/>
          </a:ln>
        </p:spPr>
      </p:cxnSp>
      <p:cxnSp>
        <p:nvCxnSpPr>
          <p:cNvPr id="78" name="">
            <a:extLst xmlns:a="http://schemas.openxmlformats.org/drawingml/2006/main">
              <a:ext uri="{FF2B5EF4-FFF2-40B4-BE49-F238E27FC236}">
                <a16:creationId xmlns:a16="http://schemas.microsoft.com/office/drawing/2014/main" id="{BC549B08-8E56-4123-BE57-495874461D1F}"/>
              </a:ext>
            </a:extLst>
          </p:cNvPr>
          <p:cNvCxnSpPr/>
          <p:nvPr/>
        </p:nvCxnSpPr>
        <p:spPr>
          <a:xfrm xmlns:a="http://schemas.openxmlformats.org/drawingml/2006/main">
            <a:off x="6810375" y="4029075"/>
            <a:ext cx="333375" cy="0"/>
          </a:xfrm>
          <a:prstGeom xmlns:a="http://schemas.openxmlformats.org/drawingml/2006/main" prst="straightConnector1">
            <a:avLst/>
          </a:prstGeom>
          <a:ln xmlns:a="http://schemas.openxmlformats.org/drawingml/2006/main" w="22860">
            <a:solidFill>
              <a:srgbClr val="64748B"/>
            </a:solidFill>
            <a:tailEnd type="triangle" w="med" len="med"/>
          </a:ln>
        </p:spPr>
      </p:cxnSp>
      <p:sp>
        <p:nvSpPr>
          <p:cNvPr id="79" name="">
            <a:extLst xmlns:a="http://schemas.openxmlformats.org/drawingml/2006/main">
              <a:ext uri="{FF2B5EF4-FFF2-40B4-BE49-F238E27FC236}">
                <a16:creationId xmlns:a16="http://schemas.microsoft.com/office/drawing/2014/main" id="{AFDF360C-5260-4D94-A1A1-E4A3B6BB187D}"/>
              </a:ext>
            </a:extLst>
          </p:cNvPr>
          <p:cNvSpPr>
            <a:spLocks xmlns:a="http://schemas.openxmlformats.org/drawingml/2006/main" noGrp="1"/>
          </p:cNvSpPr>
          <p:nvPr/>
        </p:nvSpPr>
        <p:spPr>
          <a:xfrm xmlns:a="http://schemas.openxmlformats.org/drawingml/2006/main">
            <a:off x="7286625" y="1676400"/>
            <a:ext cx="142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Known</a:t>
            </a:r>
          </a:p>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examples</a:t>
            </a:r>
          </a:p>
        </p:txBody>
      </p:sp>
      <p:sp>
        <p:nvSpPr>
          <p:cNvPr id="80" name="">
            <a:extLst xmlns:a="http://schemas.openxmlformats.org/drawingml/2006/main">
              <a:ext uri="{FF2B5EF4-FFF2-40B4-BE49-F238E27FC236}">
                <a16:creationId xmlns:a16="http://schemas.microsoft.com/office/drawing/2014/main" id="{1AA6D5A1-A3CA-48A1-B3CB-AD4289420D8F}"/>
              </a:ext>
            </a:extLst>
          </p:cNvPr>
          <p:cNvSpPr>
            <a:spLocks xmlns:a="http://schemas.openxmlformats.org/drawingml/2006/main" noGrp="1"/>
          </p:cNvSpPr>
          <p:nvPr/>
        </p:nvSpPr>
        <p:spPr>
          <a:xfrm xmlns:a="http://schemas.openxmlformats.org/drawingml/2006/main">
            <a:off x="7286625" y="2743200"/>
            <a:ext cx="142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C56B30"/>
                </a:solidFill>
                <a:latin typeface="Calibri"/>
                <a:ea typeface="Calibri"/>
                <a:cs typeface="Calibri"/>
              </a:defRPr>
            </a:defPPr>
          </a:lstStyle>
          <a:p xmlns:a="http://schemas.openxmlformats.org/drawingml/2006/main">
            <a:pPr>
              <a:defRPr sz="1702" b="0">
                <a:solidFill>
                  <a:srgbClr val="C56B30"/>
                </a:solidFill>
                <a:latin typeface="Calibri"/>
                <a:ea typeface="Calibri"/>
                <a:cs typeface="Calibri"/>
              </a:defRPr>
            </a:pPr>
            <a:r>
              <a:rPr sz="1702" b="0">
                <a:solidFill>
                  <a:srgbClr val="C56B30"/>
                </a:solidFill>
                <a:latin typeface="Calibri"/>
                <a:ea typeface="Calibri"/>
                <a:cs typeface="Calibri"/>
              </a:rPr>
              <a:t>Already in</a:t>
            </a:r>
          </a:p>
          <a:p xmlns:a="http://schemas.openxmlformats.org/drawingml/2006/main">
            <a:pPr>
              <a:defRPr sz="1702" b="0">
                <a:solidFill>
                  <a:srgbClr val="C56B30"/>
                </a:solidFill>
                <a:latin typeface="Calibri"/>
                <a:ea typeface="Calibri"/>
                <a:cs typeface="Calibri"/>
              </a:defRPr>
            </a:pPr>
            <a:r>
              <a:rPr sz="1702" b="0">
                <a:solidFill>
                  <a:srgbClr val="C56B30"/>
                </a:solidFill>
                <a:latin typeface="Calibri"/>
                <a:ea typeface="Calibri"/>
                <a:cs typeface="Calibri"/>
              </a:rPr>
              <a:t>training</a:t>
            </a:r>
          </a:p>
        </p:txBody>
      </p:sp>
      <p:sp>
        <p:nvSpPr>
          <p:cNvPr id="81" name="">
            <a:extLst xmlns:a="http://schemas.openxmlformats.org/drawingml/2006/main">
              <a:ext uri="{FF2B5EF4-FFF2-40B4-BE49-F238E27FC236}">
                <a16:creationId xmlns:a16="http://schemas.microsoft.com/office/drawing/2014/main" id="{E6900D7C-3A3F-4762-B422-15CCD6069865}"/>
              </a:ext>
            </a:extLst>
          </p:cNvPr>
          <p:cNvSpPr>
            <a:spLocks xmlns:a="http://schemas.openxmlformats.org/drawingml/2006/main" noGrp="1"/>
          </p:cNvSpPr>
          <p:nvPr/>
        </p:nvSpPr>
        <p:spPr>
          <a:xfrm xmlns:a="http://schemas.openxmlformats.org/drawingml/2006/main">
            <a:off x="7286625" y="3810000"/>
            <a:ext cx="1428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C56B30"/>
                </a:solidFill>
                <a:latin typeface="Calibri"/>
                <a:ea typeface="Calibri"/>
                <a:cs typeface="Calibri"/>
              </a:defRPr>
            </a:defPPr>
          </a:lstStyle>
          <a:p xmlns:a="http://schemas.openxmlformats.org/drawingml/2006/main">
            <a:pPr>
              <a:defRPr sz="1702" b="0">
                <a:solidFill>
                  <a:srgbClr val="C56B30"/>
                </a:solidFill>
                <a:latin typeface="Calibri"/>
                <a:ea typeface="Calibri"/>
                <a:cs typeface="Calibri"/>
              </a:defRPr>
            </a:pPr>
            <a:r>
              <a:rPr sz="1702" b="0">
                <a:solidFill>
                  <a:srgbClr val="C56B30"/>
                </a:solidFill>
                <a:latin typeface="Calibri"/>
                <a:ea typeface="Calibri"/>
                <a:cs typeface="Calibri"/>
              </a:rPr>
              <a:t>New, but</a:t>
            </a:r>
          </a:p>
          <a:p xmlns:a="http://schemas.openxmlformats.org/drawingml/2006/main">
            <a:pPr>
              <a:defRPr sz="1702" b="0">
                <a:solidFill>
                  <a:srgbClr val="C56B30"/>
                </a:solidFill>
                <a:latin typeface="Calibri"/>
                <a:ea typeface="Calibri"/>
                <a:cs typeface="Calibri"/>
              </a:defRPr>
            </a:pPr>
            <a:r>
              <a:rPr sz="1702" b="0">
                <a:solidFill>
                  <a:srgbClr val="C56B30"/>
                </a:solidFill>
                <a:latin typeface="Calibri"/>
                <a:ea typeface="Calibri"/>
                <a:cs typeface="Calibri"/>
              </a:rPr>
              <a:t>related</a:t>
            </a:r>
          </a:p>
        </p:txBody>
      </p:sp>
      <p:sp>
        <p:nvSpPr>
          <p:cNvPr id="82" name="">
            <a:extLst xmlns:a="http://schemas.openxmlformats.org/drawingml/2006/main">
              <a:ext uri="{FF2B5EF4-FFF2-40B4-BE49-F238E27FC236}">
                <a16:creationId xmlns:a16="http://schemas.microsoft.com/office/drawing/2014/main" id="{D396565D-438F-4ACE-AFAF-AEFFE0CED847}"/>
              </a:ext>
            </a:extLst>
          </p:cNvPr>
          <p:cNvSpPr>
            <a:spLocks xmlns:a="http://schemas.openxmlformats.org/drawingml/2006/main" noGrp="1"/>
          </p:cNvSpPr>
          <p:nvPr/>
        </p:nvSpPr>
        <p:spPr>
          <a:xfrm xmlns:a="http://schemas.openxmlformats.org/drawingml/2006/main">
            <a:off x="457200" y="4610100"/>
            <a:ext cx="8229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1E293B"/>
                </a:solidFill>
                <a:latin typeface="Calibri"/>
                <a:ea typeface="Calibri"/>
                <a:cs typeface="Calibri"/>
              </a:defRPr>
            </a:defPPr>
          </a:lstStyle>
          <a:p xmlns:a="http://schemas.openxmlformats.org/drawingml/2006/main">
            <a:pPr>
              <a:defRPr sz="1400" b="0">
                <a:solidFill>
                  <a:srgbClr val="1E293B"/>
                </a:solidFill>
                <a:latin typeface="Calibri"/>
                <a:ea typeface="Calibri"/>
                <a:cs typeface="Calibri"/>
              </a:defRPr>
            </a:pPr>
            <a:r>
              <a:rPr sz="1400" b="0">
                <a:solidFill>
                  <a:srgbClr val="1E293B"/>
                </a:solidFill>
                <a:latin typeface="Calibri"/>
                <a:ea typeface="Calibri"/>
                <a:cs typeface="Calibri"/>
              </a:rPr>
              <a:t>Similarity alone is not leakage.</a:t>
            </a:r>
          </a:p>
        </p:txBody>
      </p:sp>
      <p:sp>
        <p:nvSpPr>
          <p:cNvPr id="83" name="">
            <a:extLst xmlns:a="http://schemas.openxmlformats.org/drawingml/2006/main">
              <a:ext uri="{FF2B5EF4-FFF2-40B4-BE49-F238E27FC236}">
                <a16:creationId xmlns:a16="http://schemas.microsoft.com/office/drawing/2014/main" id="{FDC49C1C-EF1D-4009-B477-6E301907CC7F}"/>
              </a:ext>
            </a:extLst>
          </p:cNvPr>
          <p:cNvSpPr>
            <a:spLocks xmlns:a="http://schemas.openxmlformats.org/drawingml/2006/main" noGrp="1"/>
          </p:cNvSpPr>
          <p:nvPr/>
        </p:nvSpPr>
        <p:spPr>
          <a:xfrm xmlns:a="http://schemas.openxmlformats.org/drawingml/2006/main">
            <a:off x="457200" y="4857750"/>
            <a:ext cx="790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To test new chemical families, keep close analogues together.</a:t>
            </a:r>
          </a:p>
        </p:txBody>
      </p:sp>
    </p:spTree>
    <p:extLst>
      <p:ext uri="{BB962C8B-B14F-4D97-AF65-F5344CB8AC3E}">
        <p14:creationId xmlns:p14="http://schemas.microsoft.com/office/powerpoint/2010/main" val="17759626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8C73870-D8F2-40FF-8540-399966DE69DB}"/>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00FAB6FF-E557-41B1-A99A-4A95E9FB8095}"/>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Replicate spectra across the split</a:t>
            </a:r>
          </a:p>
        </p:txBody>
      </p:sp>
      <p:sp>
        <p:nvSpPr>
          <p:cNvPr id="3" name="">
            <a:extLst xmlns:a="http://schemas.openxmlformats.org/drawingml/2006/main">
              <a:ext uri="{FF2B5EF4-FFF2-40B4-BE49-F238E27FC236}">
                <a16:creationId xmlns:a16="http://schemas.microsoft.com/office/drawing/2014/main" id="{65EB95CE-B853-4DE9-9D8B-BC8A3A7B746B}"/>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8</a:t>
            </a:r>
          </a:p>
        </p:txBody>
      </p:sp>
      <p:sp>
        <p:nvSpPr>
          <p:cNvPr id="4" name="Phenol bond">
            <a:extLst xmlns:a="http://schemas.openxmlformats.org/drawingml/2006/main">
              <a:ext uri="{FF2B5EF4-FFF2-40B4-BE49-F238E27FC236}">
                <a16:creationId xmlns:a16="http://schemas.microsoft.com/office/drawing/2014/main" id="{DEBBC5A5-1448-41BA-ABAE-513ED3CF586F}"/>
              </a:ext>
            </a:extLst>
          </p:cNvPr>
          <p:cNvSpPr>
            <a:spLocks xmlns:a="http://schemas.openxmlformats.org/drawingml/2006/main" noGrp="1"/>
          </p:cNvSpPr>
          <p:nvPr/>
        </p:nvSpPr>
        <p:spPr>
          <a:xfrm xmlns:a="http://schemas.openxmlformats.org/drawingml/2006/main">
            <a:off x="1266825" y="2914650"/>
            <a:ext cx="266700" cy="953"/>
          </a:xfrm>
          <a:custGeom xmlns:a="http://schemas.openxmlformats.org/drawingml/2006/main">
            <a:pathLst>
              <a:path w="266700" h="953">
                <a:moveTo>
                  <a:pt x="266700" y="0"/>
                </a:moveTo>
                <a:lnTo>
                  <a:pt x="0" y="0"/>
                </a:lnTo>
              </a:path>
            </a:pathLst>
          </a:custGeom>
          <a:noFill xmlns:a="http://schemas.openxmlformats.org/drawingml/2006/main"/>
          <a:ln xmlns:a="http://schemas.openxmlformats.org/drawingml/2006/main" w="16193">
            <a:solidFill>
              <a:srgbClr val="1E293B"/>
            </a:solidFill>
          </a:ln>
        </p:spPr>
      </p:sp>
      <p:sp>
        <p:nvSpPr>
          <p:cNvPr id="5" name="Phenol bond">
            <a:extLst xmlns:a="http://schemas.openxmlformats.org/drawingml/2006/main">
              <a:ext uri="{FF2B5EF4-FFF2-40B4-BE49-F238E27FC236}">
                <a16:creationId xmlns:a16="http://schemas.microsoft.com/office/drawing/2014/main" id="{CE64A85D-9760-455E-A992-C92AC2BCB627}"/>
              </a:ext>
            </a:extLst>
          </p:cNvPr>
          <p:cNvSpPr>
            <a:spLocks xmlns:a="http://schemas.openxmlformats.org/drawingml/2006/main" noGrp="1"/>
          </p:cNvSpPr>
          <p:nvPr/>
        </p:nvSpPr>
        <p:spPr>
          <a:xfrm xmlns:a="http://schemas.openxmlformats.org/drawingml/2006/main">
            <a:off x="1090612" y="2914650"/>
            <a:ext cx="176213" cy="305209"/>
          </a:xfrm>
          <a:custGeom xmlns:a="http://schemas.openxmlformats.org/drawingml/2006/main">
            <a:pathLst>
              <a:path w="176213" h="305209">
                <a:moveTo>
                  <a:pt x="176213" y="0"/>
                </a:moveTo>
                <a:lnTo>
                  <a:pt x="0" y="305209"/>
                </a:lnTo>
              </a:path>
            </a:pathLst>
          </a:custGeom>
          <a:noFill xmlns:a="http://schemas.openxmlformats.org/drawingml/2006/main"/>
          <a:ln xmlns:a="http://schemas.openxmlformats.org/drawingml/2006/main" w="16193">
            <a:solidFill>
              <a:srgbClr val="1E293B"/>
            </a:solidFill>
          </a:ln>
        </p:spPr>
      </p:sp>
      <p:sp>
        <p:nvSpPr>
          <p:cNvPr id="6" name="Phenol bond">
            <a:extLst xmlns:a="http://schemas.openxmlformats.org/drawingml/2006/main">
              <a:ext uri="{FF2B5EF4-FFF2-40B4-BE49-F238E27FC236}">
                <a16:creationId xmlns:a16="http://schemas.microsoft.com/office/drawing/2014/main" id="{53925DEF-E675-467A-9B46-C2608897E70A}"/>
              </a:ext>
            </a:extLst>
          </p:cNvPr>
          <p:cNvSpPr>
            <a:spLocks xmlns:a="http://schemas.openxmlformats.org/drawingml/2006/main" noGrp="1"/>
          </p:cNvSpPr>
          <p:nvPr/>
        </p:nvSpPr>
        <p:spPr>
          <a:xfrm xmlns:a="http://schemas.openxmlformats.org/drawingml/2006/main">
            <a:off x="1076667" y="2928596"/>
            <a:ext cx="138113" cy="239218"/>
          </a:xfrm>
          <a:custGeom xmlns:a="http://schemas.openxmlformats.org/drawingml/2006/main">
            <a:pathLst>
              <a:path w="138113" h="239218">
                <a:moveTo>
                  <a:pt x="138113" y="0"/>
                </a:moveTo>
                <a:lnTo>
                  <a:pt x="0" y="239218"/>
                </a:lnTo>
              </a:path>
            </a:pathLst>
          </a:custGeom>
          <a:noFill xmlns:a="http://schemas.openxmlformats.org/drawingml/2006/main"/>
          <a:ln xmlns:a="http://schemas.openxmlformats.org/drawingml/2006/main" w="16193">
            <a:solidFill>
              <a:srgbClr val="1E293B"/>
            </a:solidFill>
          </a:ln>
        </p:spPr>
      </p:sp>
      <p:sp>
        <p:nvSpPr>
          <p:cNvPr id="7" name="Phenol bond">
            <a:extLst xmlns:a="http://schemas.openxmlformats.org/drawingml/2006/main">
              <a:ext uri="{FF2B5EF4-FFF2-40B4-BE49-F238E27FC236}">
                <a16:creationId xmlns:a16="http://schemas.microsoft.com/office/drawing/2014/main" id="{E2BB2F00-47B1-41F8-8857-1DC2663C1868}"/>
              </a:ext>
            </a:extLst>
          </p:cNvPr>
          <p:cNvSpPr>
            <a:spLocks xmlns:a="http://schemas.openxmlformats.org/drawingml/2006/main" noGrp="1"/>
          </p:cNvSpPr>
          <p:nvPr/>
        </p:nvSpPr>
        <p:spPr>
          <a:xfrm xmlns:a="http://schemas.openxmlformats.org/drawingml/2006/main">
            <a:off x="738187" y="3219859"/>
            <a:ext cx="352425" cy="953"/>
          </a:xfrm>
          <a:custGeom xmlns:a="http://schemas.openxmlformats.org/drawingml/2006/main">
            <a:pathLst>
              <a:path w="352425" h="953">
                <a:moveTo>
                  <a:pt x="352425" y="0"/>
                </a:moveTo>
                <a:lnTo>
                  <a:pt x="0" y="0"/>
                </a:lnTo>
              </a:path>
            </a:pathLst>
          </a:custGeom>
          <a:noFill xmlns:a="http://schemas.openxmlformats.org/drawingml/2006/main"/>
          <a:ln xmlns:a="http://schemas.openxmlformats.org/drawingml/2006/main" w="16193">
            <a:solidFill>
              <a:srgbClr val="1E293B"/>
            </a:solidFill>
          </a:ln>
        </p:spPr>
      </p:sp>
      <p:sp>
        <p:nvSpPr>
          <p:cNvPr id="8" name="Phenol bond">
            <a:extLst xmlns:a="http://schemas.openxmlformats.org/drawingml/2006/main">
              <a:ext uri="{FF2B5EF4-FFF2-40B4-BE49-F238E27FC236}">
                <a16:creationId xmlns:a16="http://schemas.microsoft.com/office/drawing/2014/main" id="{A53C17F1-26EB-46A8-A34A-38915ACC02D5}"/>
              </a:ext>
            </a:extLst>
          </p:cNvPr>
          <p:cNvSpPr>
            <a:spLocks xmlns:a="http://schemas.openxmlformats.org/drawingml/2006/main" noGrp="1"/>
          </p:cNvSpPr>
          <p:nvPr/>
        </p:nvSpPr>
        <p:spPr>
          <a:xfrm xmlns:a="http://schemas.openxmlformats.org/drawingml/2006/main">
            <a:off x="561975" y="2914650"/>
            <a:ext cx="176212" cy="305209"/>
          </a:xfrm>
          <a:custGeom xmlns:a="http://schemas.openxmlformats.org/drawingml/2006/main">
            <a:pathLst>
              <a:path w="176212" h="305209">
                <a:moveTo>
                  <a:pt x="176212" y="305209"/>
                </a:moveTo>
                <a:lnTo>
                  <a:pt x="0" y="0"/>
                </a:lnTo>
              </a:path>
            </a:pathLst>
          </a:custGeom>
          <a:noFill xmlns:a="http://schemas.openxmlformats.org/drawingml/2006/main"/>
          <a:ln xmlns:a="http://schemas.openxmlformats.org/drawingml/2006/main" w="16193">
            <a:solidFill>
              <a:srgbClr val="1E293B"/>
            </a:solidFill>
          </a:ln>
        </p:spPr>
      </p:sp>
      <p:sp>
        <p:nvSpPr>
          <p:cNvPr id="9" name="Phenol bond">
            <a:extLst xmlns:a="http://schemas.openxmlformats.org/drawingml/2006/main">
              <a:ext uri="{FF2B5EF4-FFF2-40B4-BE49-F238E27FC236}">
                <a16:creationId xmlns:a16="http://schemas.microsoft.com/office/drawing/2014/main" id="{1C68AE27-95C5-4C9F-B5F6-6A5586EC77DC}"/>
              </a:ext>
            </a:extLst>
          </p:cNvPr>
          <p:cNvSpPr>
            <a:spLocks xmlns:a="http://schemas.openxmlformats.org/drawingml/2006/main" noGrp="1"/>
          </p:cNvSpPr>
          <p:nvPr/>
        </p:nvSpPr>
        <p:spPr>
          <a:xfrm xmlns:a="http://schemas.openxmlformats.org/drawingml/2006/main">
            <a:off x="614021" y="2928596"/>
            <a:ext cx="138112" cy="239218"/>
          </a:xfrm>
          <a:custGeom xmlns:a="http://schemas.openxmlformats.org/drawingml/2006/main">
            <a:pathLst>
              <a:path w="138112" h="239218">
                <a:moveTo>
                  <a:pt x="138112" y="239218"/>
                </a:moveTo>
                <a:lnTo>
                  <a:pt x="0" y="0"/>
                </a:lnTo>
              </a:path>
            </a:pathLst>
          </a:custGeom>
          <a:noFill xmlns:a="http://schemas.openxmlformats.org/drawingml/2006/main"/>
          <a:ln xmlns:a="http://schemas.openxmlformats.org/drawingml/2006/main" w="16193">
            <a:solidFill>
              <a:srgbClr val="1E293B"/>
            </a:solidFill>
          </a:ln>
        </p:spPr>
      </p:sp>
      <p:sp>
        <p:nvSpPr>
          <p:cNvPr id="10" name="Phenol bond">
            <a:extLst xmlns:a="http://schemas.openxmlformats.org/drawingml/2006/main">
              <a:ext uri="{FF2B5EF4-FFF2-40B4-BE49-F238E27FC236}">
                <a16:creationId xmlns:a16="http://schemas.microsoft.com/office/drawing/2014/main" id="{D4176273-8BF4-4808-A08E-5A72CD30711F}"/>
              </a:ext>
            </a:extLst>
          </p:cNvPr>
          <p:cNvSpPr>
            <a:spLocks xmlns:a="http://schemas.openxmlformats.org/drawingml/2006/main" noGrp="1"/>
          </p:cNvSpPr>
          <p:nvPr/>
        </p:nvSpPr>
        <p:spPr>
          <a:xfrm xmlns:a="http://schemas.openxmlformats.org/drawingml/2006/main">
            <a:off x="561975" y="2609441"/>
            <a:ext cx="176213" cy="305209"/>
          </a:xfrm>
          <a:custGeom xmlns:a="http://schemas.openxmlformats.org/drawingml/2006/main">
            <a:pathLst>
              <a:path w="176213" h="305209">
                <a:moveTo>
                  <a:pt x="0" y="305209"/>
                </a:moveTo>
                <a:lnTo>
                  <a:pt x="176213" y="0"/>
                </a:lnTo>
              </a:path>
            </a:pathLst>
          </a:custGeom>
          <a:noFill xmlns:a="http://schemas.openxmlformats.org/drawingml/2006/main"/>
          <a:ln xmlns:a="http://schemas.openxmlformats.org/drawingml/2006/main" w="16193">
            <a:solidFill>
              <a:srgbClr val="1E293B"/>
            </a:solidFill>
          </a:ln>
        </p:spPr>
      </p:sp>
      <p:sp>
        <p:nvSpPr>
          <p:cNvPr id="11" name="Phenol bond">
            <a:extLst xmlns:a="http://schemas.openxmlformats.org/drawingml/2006/main">
              <a:ext uri="{FF2B5EF4-FFF2-40B4-BE49-F238E27FC236}">
                <a16:creationId xmlns:a16="http://schemas.microsoft.com/office/drawing/2014/main" id="{3ECDB9E1-6808-4877-9878-8F87CD02F2F6}"/>
              </a:ext>
            </a:extLst>
          </p:cNvPr>
          <p:cNvSpPr>
            <a:spLocks xmlns:a="http://schemas.openxmlformats.org/drawingml/2006/main" noGrp="1"/>
          </p:cNvSpPr>
          <p:nvPr/>
        </p:nvSpPr>
        <p:spPr>
          <a:xfrm xmlns:a="http://schemas.openxmlformats.org/drawingml/2006/main">
            <a:off x="738188" y="2609441"/>
            <a:ext cx="352425" cy="953"/>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16193">
            <a:solidFill>
              <a:srgbClr val="1E293B"/>
            </a:solidFill>
          </a:ln>
        </p:spPr>
      </p:sp>
      <p:sp>
        <p:nvSpPr>
          <p:cNvPr id="12" name="Phenol bond">
            <a:extLst xmlns:a="http://schemas.openxmlformats.org/drawingml/2006/main">
              <a:ext uri="{FF2B5EF4-FFF2-40B4-BE49-F238E27FC236}">
                <a16:creationId xmlns:a16="http://schemas.microsoft.com/office/drawing/2014/main" id="{222C451D-6F6F-4C00-8299-227A9922EBD3}"/>
              </a:ext>
            </a:extLst>
          </p:cNvPr>
          <p:cNvSpPr>
            <a:spLocks xmlns:a="http://schemas.openxmlformats.org/drawingml/2006/main" noGrp="1"/>
          </p:cNvSpPr>
          <p:nvPr/>
        </p:nvSpPr>
        <p:spPr>
          <a:xfrm xmlns:a="http://schemas.openxmlformats.org/drawingml/2006/main">
            <a:off x="776288" y="2647541"/>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16193">
            <a:solidFill>
              <a:srgbClr val="1E293B"/>
            </a:solidFill>
          </a:ln>
        </p:spPr>
      </p:sp>
      <p:sp>
        <p:nvSpPr>
          <p:cNvPr id="13" name="Phenol bond">
            <a:extLst xmlns:a="http://schemas.openxmlformats.org/drawingml/2006/main">
              <a:ext uri="{FF2B5EF4-FFF2-40B4-BE49-F238E27FC236}">
                <a16:creationId xmlns:a16="http://schemas.microsoft.com/office/drawing/2014/main" id="{00FE3EFA-94AD-474B-B3EC-EAB5DCE80862}"/>
              </a:ext>
            </a:extLst>
          </p:cNvPr>
          <p:cNvSpPr>
            <a:spLocks xmlns:a="http://schemas.openxmlformats.org/drawingml/2006/main" noGrp="1"/>
          </p:cNvSpPr>
          <p:nvPr/>
        </p:nvSpPr>
        <p:spPr>
          <a:xfrm xmlns:a="http://schemas.openxmlformats.org/drawingml/2006/main">
            <a:off x="1090613" y="2609441"/>
            <a:ext cx="176212" cy="305209"/>
          </a:xfrm>
          <a:custGeom xmlns:a="http://schemas.openxmlformats.org/drawingml/2006/main">
            <a:pathLst>
              <a:path w="176212" h="305209">
                <a:moveTo>
                  <a:pt x="0" y="0"/>
                </a:moveTo>
                <a:lnTo>
                  <a:pt x="176212" y="305209"/>
                </a:lnTo>
              </a:path>
            </a:pathLst>
          </a:custGeom>
          <a:noFill xmlns:a="http://schemas.openxmlformats.org/drawingml/2006/main"/>
          <a:ln xmlns:a="http://schemas.openxmlformats.org/drawingml/2006/main" w="16193">
            <a:solidFill>
              <a:srgbClr val="1E293B"/>
            </a:solidFill>
          </a:ln>
        </p:spPr>
      </p:sp>
      <p:sp>
        <p:nvSpPr>
          <p:cNvPr id="14" name="">
            <a:extLst xmlns:a="http://schemas.openxmlformats.org/drawingml/2006/main">
              <a:ext uri="{FF2B5EF4-FFF2-40B4-BE49-F238E27FC236}">
                <a16:creationId xmlns:a16="http://schemas.microsoft.com/office/drawing/2014/main" id="{481D6F7D-430F-46FD-8E83-E35A23580BA7}"/>
              </a:ext>
            </a:extLst>
          </p:cNvPr>
          <p:cNvSpPr>
            <a:spLocks xmlns:a="http://schemas.openxmlformats.org/drawingml/2006/main" noGrp="1"/>
          </p:cNvSpPr>
          <p:nvPr/>
        </p:nvSpPr>
        <p:spPr>
          <a:xfrm xmlns:a="http://schemas.openxmlformats.org/drawingml/2006/main">
            <a:off x="1562100" y="2809875"/>
            <a:ext cx="266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2" b="0">
                <a:solidFill>
                  <a:srgbClr val="1E293B"/>
                </a:solidFill>
                <a:latin typeface="Calibri"/>
                <a:ea typeface="Calibri"/>
                <a:cs typeface="Calibri"/>
              </a:defRPr>
            </a:defPPr>
          </a:lstStyle>
          <a:p xmlns:a="http://schemas.openxmlformats.org/drawingml/2006/main">
            <a:pPr>
              <a:defRPr sz="1402" b="0">
                <a:solidFill>
                  <a:srgbClr val="1E293B"/>
                </a:solidFill>
                <a:latin typeface="Calibri"/>
                <a:ea typeface="Calibri"/>
                <a:cs typeface="Calibri"/>
              </a:defRPr>
            </a:pPr>
            <a:r>
              <a:rPr sz="1402" b="0">
                <a:solidFill>
                  <a:srgbClr val="1E293B"/>
                </a:solidFill>
                <a:latin typeface="Calibri"/>
                <a:ea typeface="Calibri"/>
                <a:cs typeface="Calibri"/>
              </a:rPr>
              <a:t>OH</a:t>
            </a:r>
          </a:p>
        </p:txBody>
      </p:sp>
      <p:sp>
        <p:nvSpPr>
          <p:cNvPr id="15" name="">
            <a:extLst xmlns:a="http://schemas.openxmlformats.org/drawingml/2006/main">
              <a:ext uri="{FF2B5EF4-FFF2-40B4-BE49-F238E27FC236}">
                <a16:creationId xmlns:a16="http://schemas.microsoft.com/office/drawing/2014/main" id="{4B2B4B41-F8C3-46C3-A7EB-B13D03617C98}"/>
              </a:ext>
            </a:extLst>
          </p:cNvPr>
          <p:cNvSpPr>
            <a:spLocks xmlns:a="http://schemas.openxmlformats.org/drawingml/2006/main" noGrp="1"/>
          </p:cNvSpPr>
          <p:nvPr/>
        </p:nvSpPr>
        <p:spPr>
          <a:xfrm xmlns:a="http://schemas.openxmlformats.org/drawingml/2006/main">
            <a:off x="247650" y="3476625"/>
            <a:ext cx="1685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64748B"/>
                </a:solidFill>
                <a:latin typeface="Calibri"/>
                <a:ea typeface="Calibri"/>
                <a:cs typeface="Calibri"/>
              </a:defRPr>
            </a:defPPr>
          </a:lstStyle>
          <a:p xmlns:a="http://schemas.openxmlformats.org/drawingml/2006/main">
            <a:pPr algn="ctr">
              <a:defRPr sz="1200" b="0">
                <a:solidFill>
                  <a:srgbClr val="64748B"/>
                </a:solidFill>
                <a:latin typeface="Calibri"/>
                <a:ea typeface="Calibri"/>
                <a:cs typeface="Calibri"/>
              </a:defRPr>
            </a:pPr>
            <a:r>
              <a:rPr sz="1200" b="0">
                <a:solidFill>
                  <a:srgbClr val="64748B"/>
                </a:solidFill>
                <a:latin typeface="Calibri"/>
                <a:ea typeface="Calibri"/>
                <a:cs typeface="Calibri"/>
              </a:rPr>
              <a:t>Phenol</a:t>
            </a:r>
          </a:p>
        </p:txBody>
      </p:sp>
      <p:sp>
        <p:nvSpPr>
          <p:cNvPr id="16" name="">
            <a:extLst xmlns:a="http://schemas.openxmlformats.org/drawingml/2006/main">
              <a:ext uri="{FF2B5EF4-FFF2-40B4-BE49-F238E27FC236}">
                <a16:creationId xmlns:a16="http://schemas.microsoft.com/office/drawing/2014/main" id="{2DED6309-62FD-46F3-9066-F1DBCF890358}"/>
              </a:ext>
            </a:extLst>
          </p:cNvPr>
          <p:cNvSpPr>
            <a:spLocks xmlns:a="http://schemas.openxmlformats.org/drawingml/2006/main" noGrp="1"/>
          </p:cNvSpPr>
          <p:nvPr/>
        </p:nvSpPr>
        <p:spPr>
          <a:xfrm xmlns:a="http://schemas.openxmlformats.org/drawingml/2006/main">
            <a:off x="457200" y="1562100"/>
            <a:ext cx="1504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98" b="0">
                <a:solidFill>
                  <a:srgbClr val="1E293B"/>
                </a:solidFill>
                <a:latin typeface="Calibri"/>
                <a:ea typeface="Calibri"/>
                <a:cs typeface="Calibri"/>
              </a:defRPr>
            </a:defPPr>
          </a:lstStyle>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One specimen</a:t>
            </a:r>
          </a:p>
          <a:p xmlns:a="http://schemas.openxmlformats.org/drawingml/2006/main">
            <a:pPr>
              <a:defRPr sz="1598" b="0">
                <a:solidFill>
                  <a:srgbClr val="1E293B"/>
                </a:solidFill>
                <a:latin typeface="Calibri"/>
                <a:ea typeface="Calibri"/>
                <a:cs typeface="Calibri"/>
              </a:defRPr>
            </a:pPr>
            <a:r>
              <a:rPr sz="1598" b="0">
                <a:solidFill>
                  <a:srgbClr val="1E293B"/>
                </a:solidFill>
                <a:latin typeface="Calibri"/>
                <a:ea typeface="Calibri"/>
                <a:cs typeface="Calibri"/>
              </a:rPr>
              <a:t>of phenol</a:t>
            </a:r>
          </a:p>
        </p:txBody>
      </p:sp>
      <p:sp>
        <p:nvSpPr>
          <p:cNvPr id="17" name="">
            <a:extLst xmlns:a="http://schemas.openxmlformats.org/drawingml/2006/main">
              <a:ext uri="{FF2B5EF4-FFF2-40B4-BE49-F238E27FC236}">
                <a16:creationId xmlns:a16="http://schemas.microsoft.com/office/drawing/2014/main" id="{2E5E4DB7-98EF-46F7-9970-96AB802C9038}"/>
              </a:ext>
            </a:extLst>
          </p:cNvPr>
          <p:cNvSpPr>
            <a:spLocks xmlns:a="http://schemas.openxmlformats.org/drawingml/2006/main" noGrp="1"/>
          </p:cNvSpPr>
          <p:nvPr/>
        </p:nvSpPr>
        <p:spPr>
          <a:xfrm xmlns:a="http://schemas.openxmlformats.org/drawingml/2006/main">
            <a:off x="2952750" y="1438275"/>
            <a:ext cx="5334000" cy="1809750"/>
          </a:xfrm>
          <a:prstGeom xmlns:a="http://schemas.openxmlformats.org/drawingml/2006/main" prst="rect">
            <a:avLst/>
          </a:prstGeom>
          <a:noFill xmlns:a="http://schemas.openxmlformats.org/drawingml/2006/main"/>
          <a:ln xmlns:a="http://schemas.openxmlformats.org/drawingml/2006/main" w="14288">
            <a:solidFill>
              <a:srgbClr val="028090"/>
            </a:solidFill>
          </a:ln>
        </p:spPr>
      </p:sp>
      <p:sp>
        <p:nvSpPr>
          <p:cNvPr id="18" name="">
            <a:extLst xmlns:a="http://schemas.openxmlformats.org/drawingml/2006/main">
              <a:ext uri="{FF2B5EF4-FFF2-40B4-BE49-F238E27FC236}">
                <a16:creationId xmlns:a16="http://schemas.microsoft.com/office/drawing/2014/main" id="{C052CF3A-413C-4F7C-93FF-35CD1614E6CC}"/>
              </a:ext>
            </a:extLst>
          </p:cNvPr>
          <p:cNvSpPr>
            <a:spLocks xmlns:a="http://schemas.openxmlformats.org/drawingml/2006/main" noGrp="1"/>
          </p:cNvSpPr>
          <p:nvPr/>
        </p:nvSpPr>
        <p:spPr>
          <a:xfrm xmlns:a="http://schemas.openxmlformats.org/drawingml/2006/main">
            <a:off x="2952750" y="3409950"/>
            <a:ext cx="5334000" cy="866775"/>
          </a:xfrm>
          <a:prstGeom xmlns:a="http://schemas.openxmlformats.org/drawingml/2006/main" prst="rect">
            <a:avLst/>
          </a:prstGeom>
          <a:noFill xmlns:a="http://schemas.openxmlformats.org/drawingml/2006/main"/>
          <a:ln xmlns:a="http://schemas.openxmlformats.org/drawingml/2006/main" w="14288">
            <a:solidFill>
              <a:srgbClr val="C56B30"/>
            </a:solidFill>
          </a:ln>
        </p:spPr>
      </p:sp>
      <p:sp>
        <p:nvSpPr>
          <p:cNvPr id="19" name="">
            <a:extLst xmlns:a="http://schemas.openxmlformats.org/drawingml/2006/main">
              <a:ext uri="{FF2B5EF4-FFF2-40B4-BE49-F238E27FC236}">
                <a16:creationId xmlns:a16="http://schemas.microsoft.com/office/drawing/2014/main" id="{3C26C2F4-F775-4CD7-8139-1A5DF41E48C5}"/>
              </a:ext>
            </a:extLst>
          </p:cNvPr>
          <p:cNvSpPr>
            <a:spLocks xmlns:a="http://schemas.openxmlformats.org/drawingml/2006/main" noGrp="1"/>
          </p:cNvSpPr>
          <p:nvPr/>
        </p:nvSpPr>
        <p:spPr>
          <a:xfrm xmlns:a="http://schemas.openxmlformats.org/drawingml/2006/main">
            <a:off x="5572125" y="1600200"/>
            <a:ext cx="2428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28090"/>
                </a:solidFill>
                <a:latin typeface="Calibri"/>
                <a:ea typeface="Calibri"/>
                <a:cs typeface="Calibri"/>
              </a:defRPr>
            </a:defPPr>
          </a:lstStyle>
          <a:p xmlns:a="http://schemas.openxmlformats.org/drawingml/2006/main">
            <a:pPr>
              <a:defRPr sz="1800" b="0">
                <a:solidFill>
                  <a:srgbClr val="028090"/>
                </a:solidFill>
                <a:latin typeface="Calibri"/>
                <a:ea typeface="Calibri"/>
                <a:cs typeface="Calibri"/>
              </a:defRPr>
            </a:pPr>
            <a:r>
              <a:rPr sz="1800" b="0">
                <a:solidFill>
                  <a:srgbClr val="028090"/>
                </a:solidFill>
                <a:latin typeface="Calibri"/>
                <a:ea typeface="Calibri"/>
                <a:cs typeface="Calibri"/>
              </a:rPr>
              <a:t>Training set</a:t>
            </a:r>
          </a:p>
        </p:txBody>
      </p:sp>
      <p:sp>
        <p:nvSpPr>
          <p:cNvPr id="20" name="">
            <a:extLst xmlns:a="http://schemas.openxmlformats.org/drawingml/2006/main">
              <a:ext uri="{FF2B5EF4-FFF2-40B4-BE49-F238E27FC236}">
                <a16:creationId xmlns:a16="http://schemas.microsoft.com/office/drawing/2014/main" id="{F30E387B-ED8F-417D-B17F-5F0FB3A16634}"/>
              </a:ext>
            </a:extLst>
          </p:cNvPr>
          <p:cNvSpPr>
            <a:spLocks xmlns:a="http://schemas.openxmlformats.org/drawingml/2006/main" noGrp="1"/>
          </p:cNvSpPr>
          <p:nvPr/>
        </p:nvSpPr>
        <p:spPr>
          <a:xfrm xmlns:a="http://schemas.openxmlformats.org/drawingml/2006/main">
            <a:off x="5572125" y="2028825"/>
            <a:ext cx="2428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Scans 1 and 2</a:t>
            </a:r>
          </a:p>
        </p:txBody>
      </p:sp>
      <p:sp>
        <p:nvSpPr>
          <p:cNvPr id="21" name="">
            <a:extLst xmlns:a="http://schemas.openxmlformats.org/drawingml/2006/main">
              <a:ext uri="{FF2B5EF4-FFF2-40B4-BE49-F238E27FC236}">
                <a16:creationId xmlns:a16="http://schemas.microsoft.com/office/drawing/2014/main" id="{89B55A21-123E-4D94-95FD-B93C3290DFEB}"/>
              </a:ext>
            </a:extLst>
          </p:cNvPr>
          <p:cNvSpPr>
            <a:spLocks xmlns:a="http://schemas.openxmlformats.org/drawingml/2006/main" noGrp="1"/>
          </p:cNvSpPr>
          <p:nvPr/>
        </p:nvSpPr>
        <p:spPr>
          <a:xfrm xmlns:a="http://schemas.openxmlformats.org/drawingml/2006/main">
            <a:off x="5572125" y="3533775"/>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56B30"/>
                </a:solidFill>
                <a:latin typeface="Calibri"/>
                <a:ea typeface="Calibri"/>
                <a:cs typeface="Calibri"/>
              </a:defRPr>
            </a:defPPr>
          </a:lstStyle>
          <a:p xmlns:a="http://schemas.openxmlformats.org/drawingml/2006/main">
            <a:pPr>
              <a:defRPr sz="1800" b="0">
                <a:solidFill>
                  <a:srgbClr val="C56B30"/>
                </a:solidFill>
                <a:latin typeface="Calibri"/>
                <a:ea typeface="Calibri"/>
                <a:cs typeface="Calibri"/>
              </a:defRPr>
            </a:pPr>
            <a:r>
              <a:rPr sz="1800" b="0">
                <a:solidFill>
                  <a:srgbClr val="C56B30"/>
                </a:solidFill>
                <a:latin typeface="Calibri"/>
                <a:ea typeface="Calibri"/>
                <a:cs typeface="Calibri"/>
              </a:rPr>
              <a:t>Claimed test</a:t>
            </a:r>
          </a:p>
        </p:txBody>
      </p:sp>
      <p:sp>
        <p:nvSpPr>
          <p:cNvPr id="22" name="">
            <a:extLst xmlns:a="http://schemas.openxmlformats.org/drawingml/2006/main">
              <a:ext uri="{FF2B5EF4-FFF2-40B4-BE49-F238E27FC236}">
                <a16:creationId xmlns:a16="http://schemas.microsoft.com/office/drawing/2014/main" id="{FD0F1AE2-AD3C-47B9-BD11-67F120115541}"/>
              </a:ext>
            </a:extLst>
          </p:cNvPr>
          <p:cNvSpPr>
            <a:spLocks xmlns:a="http://schemas.openxmlformats.org/drawingml/2006/main" noGrp="1"/>
          </p:cNvSpPr>
          <p:nvPr/>
        </p:nvSpPr>
        <p:spPr>
          <a:xfrm xmlns:a="http://schemas.openxmlformats.org/drawingml/2006/main">
            <a:off x="5572125" y="3924300"/>
            <a:ext cx="2428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Same specimen</a:t>
            </a:r>
          </a:p>
        </p:txBody>
      </p:sp>
      <p:cxnSp>
        <p:nvCxnSpPr>
          <p:cNvPr id="23" name="">
            <a:extLst xmlns:a="http://schemas.openxmlformats.org/drawingml/2006/main">
              <a:ext uri="{FF2B5EF4-FFF2-40B4-BE49-F238E27FC236}">
                <a16:creationId xmlns:a16="http://schemas.microsoft.com/office/drawing/2014/main" id="{5A6EEDD6-1F54-45D1-9A26-0B400E4B5B6D}"/>
              </a:ext>
            </a:extLst>
          </p:cNvPr>
          <p:cNvCxnSpPr/>
          <p:nvPr/>
        </p:nvCxnSpPr>
        <p:spPr>
          <a:xfrm xmlns:a="http://schemas.openxmlformats.org/drawingml/2006/main">
            <a:off x="2047875" y="2914650"/>
            <a:ext cx="409575" cy="0"/>
          </a:xfrm>
          <a:prstGeom xmlns:a="http://schemas.openxmlformats.org/drawingml/2006/main" prst="straightConnector1">
            <a:avLst/>
          </a:prstGeom>
          <a:ln xmlns:a="http://schemas.openxmlformats.org/drawingml/2006/main" w="22860">
            <a:solidFill>
              <a:srgbClr val="C56B30"/>
            </a:solidFill>
            <a:tailEnd type="triangle" w="med" len="med"/>
          </a:ln>
        </p:spPr>
      </p:cxnSp>
      <p:cxnSp>
        <p:nvCxnSpPr>
          <p:cNvPr id="24" name="">
            <a:extLst xmlns:a="http://schemas.openxmlformats.org/drawingml/2006/main">
              <a:ext uri="{FF2B5EF4-FFF2-40B4-BE49-F238E27FC236}">
                <a16:creationId xmlns:a16="http://schemas.microsoft.com/office/drawing/2014/main" id="{9FB080A0-30CD-4A2B-9771-10D34335BBF3}"/>
              </a:ext>
            </a:extLst>
          </p:cNvPr>
          <p:cNvCxnSpPr/>
          <p:nvPr/>
        </p:nvCxnSpPr>
        <p:spPr>
          <a:xfrm xmlns:a="http://schemas.openxmlformats.org/drawingml/2006/main">
            <a:off x="2457450" y="2047875"/>
            <a:ext cx="0" cy="1866900"/>
          </a:xfrm>
          <a:prstGeom xmlns:a="http://schemas.openxmlformats.org/drawingml/2006/main" prst="straightConnector1">
            <a:avLst/>
          </a:prstGeom>
          <a:ln xmlns:a="http://schemas.openxmlformats.org/drawingml/2006/main" w="22860">
            <a:solidFill>
              <a:srgbClr val="C56B30"/>
            </a:solidFill>
            <a:tailEnd type="none" w="med" len="med"/>
          </a:ln>
        </p:spPr>
      </p:cxnSp>
      <p:sp>
        <p:nvSpPr>
          <p:cNvPr id="25" name="">
            <a:extLst xmlns:a="http://schemas.openxmlformats.org/drawingml/2006/main">
              <a:ext uri="{FF2B5EF4-FFF2-40B4-BE49-F238E27FC236}">
                <a16:creationId xmlns:a16="http://schemas.microsoft.com/office/drawing/2014/main" id="{55E2F15C-29E6-44D8-A275-59A5CA1C1142}"/>
              </a:ext>
            </a:extLst>
          </p:cNvPr>
          <p:cNvSpPr>
            <a:spLocks xmlns:a="http://schemas.openxmlformats.org/drawingml/2006/main" noGrp="1"/>
          </p:cNvSpPr>
          <p:nvPr/>
        </p:nvSpPr>
        <p:spPr>
          <a:xfrm xmlns:a="http://schemas.openxmlformats.org/drawingml/2006/main">
            <a:off x="3171825" y="15716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Calibri"/>
                <a:ea typeface="Calibri"/>
                <a:cs typeface="Calibri"/>
              </a:defRPr>
            </a:defPPr>
          </a:lstStyle>
          <a:p xmlns:a="http://schemas.openxmlformats.org/drawingml/2006/main">
            <a:pPr>
              <a:defRPr sz="1200" b="0">
                <a:solidFill>
                  <a:srgbClr val="64748B"/>
                </a:solidFill>
                <a:latin typeface="Calibri"/>
                <a:ea typeface="Calibri"/>
                <a:cs typeface="Calibri"/>
              </a:defRPr>
            </a:pPr>
            <a:r>
              <a:rPr sz="1200" b="0">
                <a:solidFill>
                  <a:srgbClr val="64748B"/>
                </a:solidFill>
                <a:latin typeface="Calibri"/>
                <a:ea typeface="Calibri"/>
                <a:cs typeface="Calibri"/>
              </a:rPr>
              <a:t>Scan 1</a:t>
            </a:r>
          </a:p>
        </p:txBody>
      </p:sp>
      <p:graphicFrame>
        <p:nvGraphicFramePr>
          <p:cNvPr id="26" name="Chart">
            <a:extLst xmlns:a="http://schemas.openxmlformats.org/drawingml/2006/main">
              <a:ext uri="{FF2B5EF4-FFF2-40B4-BE49-F238E27FC236}">
                <a16:creationId xmlns:a16="http://schemas.microsoft.com/office/drawing/2014/main" id="{03E9B9F2-A126-403A-AB26-4EBD082FF605}"/>
              </a:ext>
            </a:extLst>
          </p:cNvPr>
          <p:cNvGraphicFramePr/>
          <p:nvPr/>
        </p:nvGraphicFramePr>
        <p:xfrm>
          <a:off xmlns:a="http://schemas.openxmlformats.org/drawingml/2006/main" x="3143250" y="1733550"/>
          <a:ext xmlns:a="http://schemas.openxmlformats.org/drawingml/2006/main" cx="1952625" cy="619125"/>
        </p:xfrm>
        <a:graphic xmlns:a="http://schemas.openxmlformats.org/drawingml/2006/main">
          <a:graphicData uri="http://schemas.openxmlformats.org/drawingml/2006/chart">
            <c:chart xmlns:r="http://schemas.openxmlformats.org/officeDocument/2006/relationships" xmlns:c="http://schemas.openxmlformats.org/drawingml/2006/chart" r:id="R0ee23765d03b42d2"/>
          </a:graphicData>
        </a:graphic>
      </p:graphicFrame>
      <p:cxnSp>
        <p:nvCxnSpPr>
          <p:cNvPr id="27" name="">
            <a:extLst xmlns:a="http://schemas.openxmlformats.org/drawingml/2006/main">
              <a:ext uri="{FF2B5EF4-FFF2-40B4-BE49-F238E27FC236}">
                <a16:creationId xmlns:a16="http://schemas.microsoft.com/office/drawing/2014/main" id="{CC15B8D8-E495-4C1A-9DC2-FFD44FBAC6CB}"/>
              </a:ext>
            </a:extLst>
          </p:cNvPr>
          <p:cNvCxnSpPr/>
          <p:nvPr/>
        </p:nvCxnSpPr>
        <p:spPr>
          <a:xfrm xmlns:a="http://schemas.openxmlformats.org/drawingml/2006/main">
            <a:off x="2457450" y="2047875"/>
            <a:ext cx="495300" cy="0"/>
          </a:xfrm>
          <a:prstGeom xmlns:a="http://schemas.openxmlformats.org/drawingml/2006/main" prst="straightConnector1">
            <a:avLst/>
          </a:prstGeom>
          <a:ln xmlns:a="http://schemas.openxmlformats.org/drawingml/2006/main" w="22860">
            <a:solidFill>
              <a:srgbClr val="C56B30"/>
            </a:solidFill>
            <a:tailEnd type="triangle" w="med" len="med"/>
          </a:ln>
        </p:spPr>
      </p:cxnSp>
      <p:sp>
        <p:nvSpPr>
          <p:cNvPr id="28" name="">
            <a:extLst xmlns:a="http://schemas.openxmlformats.org/drawingml/2006/main">
              <a:ext uri="{FF2B5EF4-FFF2-40B4-BE49-F238E27FC236}">
                <a16:creationId xmlns:a16="http://schemas.microsoft.com/office/drawing/2014/main" id="{D9B27309-152F-45EB-84E3-9CEF603FB7B0}"/>
              </a:ext>
            </a:extLst>
          </p:cNvPr>
          <p:cNvSpPr>
            <a:spLocks xmlns:a="http://schemas.openxmlformats.org/drawingml/2006/main" noGrp="1"/>
          </p:cNvSpPr>
          <p:nvPr/>
        </p:nvSpPr>
        <p:spPr>
          <a:xfrm xmlns:a="http://schemas.openxmlformats.org/drawingml/2006/main">
            <a:off x="3171825" y="23717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Calibri"/>
                <a:ea typeface="Calibri"/>
                <a:cs typeface="Calibri"/>
              </a:defRPr>
            </a:defPPr>
          </a:lstStyle>
          <a:p xmlns:a="http://schemas.openxmlformats.org/drawingml/2006/main">
            <a:pPr>
              <a:defRPr sz="1200" b="0">
                <a:solidFill>
                  <a:srgbClr val="64748B"/>
                </a:solidFill>
                <a:latin typeface="Calibri"/>
                <a:ea typeface="Calibri"/>
                <a:cs typeface="Calibri"/>
              </a:defRPr>
            </a:pPr>
            <a:r>
              <a:rPr sz="1200" b="0">
                <a:solidFill>
                  <a:srgbClr val="64748B"/>
                </a:solidFill>
                <a:latin typeface="Calibri"/>
                <a:ea typeface="Calibri"/>
                <a:cs typeface="Calibri"/>
              </a:rPr>
              <a:t>Scan 2</a:t>
            </a:r>
          </a:p>
        </p:txBody>
      </p:sp>
      <p:graphicFrame>
        <p:nvGraphicFramePr>
          <p:cNvPr id="29" name="Chart">
            <a:extLst xmlns:a="http://schemas.openxmlformats.org/drawingml/2006/main">
              <a:ext uri="{FF2B5EF4-FFF2-40B4-BE49-F238E27FC236}">
                <a16:creationId xmlns:a16="http://schemas.microsoft.com/office/drawing/2014/main" id="{DA397960-8D6E-4713-ADEE-02AD4B4B20E8}"/>
              </a:ext>
            </a:extLst>
          </p:cNvPr>
          <p:cNvGraphicFramePr/>
          <p:nvPr/>
        </p:nvGraphicFramePr>
        <p:xfrm>
          <a:off xmlns:a="http://schemas.openxmlformats.org/drawingml/2006/main" x="3143250" y="2533650"/>
          <a:ext xmlns:a="http://schemas.openxmlformats.org/drawingml/2006/main" cx="1952625" cy="619125"/>
        </p:xfrm>
        <a:graphic xmlns:a="http://schemas.openxmlformats.org/drawingml/2006/main">
          <a:graphicData uri="http://schemas.openxmlformats.org/drawingml/2006/chart">
            <c:chart xmlns:r="http://schemas.openxmlformats.org/officeDocument/2006/relationships" xmlns:c="http://schemas.openxmlformats.org/drawingml/2006/chart" r:id="Rd7f509b1a71b4e82"/>
          </a:graphicData>
        </a:graphic>
      </p:graphicFrame>
      <p:cxnSp>
        <p:nvCxnSpPr>
          <p:cNvPr id="30" name="">
            <a:extLst xmlns:a="http://schemas.openxmlformats.org/drawingml/2006/main">
              <a:ext uri="{FF2B5EF4-FFF2-40B4-BE49-F238E27FC236}">
                <a16:creationId xmlns:a16="http://schemas.microsoft.com/office/drawing/2014/main" id="{AB5D7903-74F0-47F9-A979-423967C1E945}"/>
              </a:ext>
            </a:extLst>
          </p:cNvPr>
          <p:cNvCxnSpPr/>
          <p:nvPr/>
        </p:nvCxnSpPr>
        <p:spPr>
          <a:xfrm xmlns:a="http://schemas.openxmlformats.org/drawingml/2006/main">
            <a:off x="2457450" y="2847975"/>
            <a:ext cx="495300" cy="0"/>
          </a:xfrm>
          <a:prstGeom xmlns:a="http://schemas.openxmlformats.org/drawingml/2006/main" prst="straightConnector1">
            <a:avLst/>
          </a:prstGeom>
          <a:ln xmlns:a="http://schemas.openxmlformats.org/drawingml/2006/main" w="22860">
            <a:solidFill>
              <a:srgbClr val="C56B30"/>
            </a:solidFill>
            <a:tailEnd type="triangle" w="med" len="med"/>
          </a:ln>
        </p:spPr>
      </p:cxnSp>
      <p:sp>
        <p:nvSpPr>
          <p:cNvPr id="31" name="">
            <a:extLst xmlns:a="http://schemas.openxmlformats.org/drawingml/2006/main">
              <a:ext uri="{FF2B5EF4-FFF2-40B4-BE49-F238E27FC236}">
                <a16:creationId xmlns:a16="http://schemas.microsoft.com/office/drawing/2014/main" id="{694F783C-68EE-44F4-A09F-E9F3AE7861EE}"/>
              </a:ext>
            </a:extLst>
          </p:cNvPr>
          <p:cNvSpPr>
            <a:spLocks xmlns:a="http://schemas.openxmlformats.org/drawingml/2006/main" noGrp="1"/>
          </p:cNvSpPr>
          <p:nvPr/>
        </p:nvSpPr>
        <p:spPr>
          <a:xfrm xmlns:a="http://schemas.openxmlformats.org/drawingml/2006/main">
            <a:off x="3171825" y="34480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8B"/>
                </a:solidFill>
                <a:latin typeface="Calibri"/>
                <a:ea typeface="Calibri"/>
                <a:cs typeface="Calibri"/>
              </a:defRPr>
            </a:defPPr>
          </a:lstStyle>
          <a:p xmlns:a="http://schemas.openxmlformats.org/drawingml/2006/main">
            <a:pPr>
              <a:defRPr sz="1200" b="0">
                <a:solidFill>
                  <a:srgbClr val="64748B"/>
                </a:solidFill>
                <a:latin typeface="Calibri"/>
                <a:ea typeface="Calibri"/>
                <a:cs typeface="Calibri"/>
              </a:defRPr>
            </a:pPr>
            <a:r>
              <a:rPr sz="1200" b="0">
                <a:solidFill>
                  <a:srgbClr val="64748B"/>
                </a:solidFill>
                <a:latin typeface="Calibri"/>
                <a:ea typeface="Calibri"/>
                <a:cs typeface="Calibri"/>
              </a:rPr>
              <a:t>Scan 3</a:t>
            </a:r>
          </a:p>
        </p:txBody>
      </p:sp>
      <p:graphicFrame>
        <p:nvGraphicFramePr>
          <p:cNvPr id="32" name="Chart">
            <a:extLst xmlns:a="http://schemas.openxmlformats.org/drawingml/2006/main">
              <a:ext uri="{FF2B5EF4-FFF2-40B4-BE49-F238E27FC236}">
                <a16:creationId xmlns:a16="http://schemas.microsoft.com/office/drawing/2014/main" id="{1724C22B-780F-4AE8-8195-3E2F96CF7F3D}"/>
              </a:ext>
            </a:extLst>
          </p:cNvPr>
          <p:cNvGraphicFramePr/>
          <p:nvPr/>
        </p:nvGraphicFramePr>
        <p:xfrm>
          <a:off xmlns:a="http://schemas.openxmlformats.org/drawingml/2006/main" x="3143250" y="3609975"/>
          <a:ext xmlns:a="http://schemas.openxmlformats.org/drawingml/2006/main" cx="1952625" cy="619125"/>
        </p:xfrm>
        <a:graphic xmlns:a="http://schemas.openxmlformats.org/drawingml/2006/main">
          <a:graphicData uri="http://schemas.openxmlformats.org/drawingml/2006/chart">
            <c:chart xmlns:r="http://schemas.openxmlformats.org/officeDocument/2006/relationships" xmlns:c="http://schemas.openxmlformats.org/drawingml/2006/chart" r:id="R73507ed10bad415b"/>
          </a:graphicData>
        </a:graphic>
      </p:graphicFrame>
      <p:cxnSp>
        <p:nvCxnSpPr>
          <p:cNvPr id="33" name="">
            <a:extLst xmlns:a="http://schemas.openxmlformats.org/drawingml/2006/main">
              <a:ext uri="{FF2B5EF4-FFF2-40B4-BE49-F238E27FC236}">
                <a16:creationId xmlns:a16="http://schemas.microsoft.com/office/drawing/2014/main" id="{84477B32-164D-4105-B47C-4D63E27F60D3}"/>
              </a:ext>
            </a:extLst>
          </p:cNvPr>
          <p:cNvCxnSpPr/>
          <p:nvPr/>
        </p:nvCxnSpPr>
        <p:spPr>
          <a:xfrm xmlns:a="http://schemas.openxmlformats.org/drawingml/2006/main">
            <a:off x="2457450" y="3914775"/>
            <a:ext cx="495300" cy="0"/>
          </a:xfrm>
          <a:prstGeom xmlns:a="http://schemas.openxmlformats.org/drawingml/2006/main" prst="straightConnector1">
            <a:avLst/>
          </a:prstGeom>
          <a:ln xmlns:a="http://schemas.openxmlformats.org/drawingml/2006/main" w="22860">
            <a:solidFill>
              <a:srgbClr val="C56B30"/>
            </a:solidFill>
            <a:tailEnd type="triangle" w="med" len="med"/>
          </a:ln>
        </p:spPr>
      </p:cxnSp>
      <p:sp>
        <p:nvSpPr>
          <p:cNvPr id="34" name="">
            <a:extLst xmlns:a="http://schemas.openxmlformats.org/drawingml/2006/main">
              <a:ext uri="{FF2B5EF4-FFF2-40B4-BE49-F238E27FC236}">
                <a16:creationId xmlns:a16="http://schemas.microsoft.com/office/drawing/2014/main" id="{5340F7FA-9506-40D0-B60F-57E4B31D6600}"/>
              </a:ext>
            </a:extLst>
          </p:cNvPr>
          <p:cNvSpPr>
            <a:spLocks xmlns:a="http://schemas.openxmlformats.org/drawingml/2006/main" noGrp="1"/>
          </p:cNvSpPr>
          <p:nvPr/>
        </p:nvSpPr>
        <p:spPr>
          <a:xfrm xmlns:a="http://schemas.openxmlformats.org/drawingml/2006/main">
            <a:off x="457200" y="47148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Different scans can still share the same specimen and compound.</a:t>
            </a:r>
          </a:p>
        </p:txBody>
      </p:sp>
    </p:spTree>
    <p:extLst>
      <p:ext uri="{BB962C8B-B14F-4D97-AF65-F5344CB8AC3E}">
        <p14:creationId xmlns:p14="http://schemas.microsoft.com/office/powerpoint/2010/main" val="16570438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364217A-0953-4248-8A95-E094A430F302}"/>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3B8CB6C4-106B-40F1-921C-A5F81B77316B}"/>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Preparation can leak information</a:t>
            </a:r>
          </a:p>
        </p:txBody>
      </p:sp>
      <p:sp>
        <p:nvSpPr>
          <p:cNvPr id="3" name="">
            <a:extLst xmlns:a="http://schemas.openxmlformats.org/drawingml/2006/main">
              <a:ext uri="{FF2B5EF4-FFF2-40B4-BE49-F238E27FC236}">
                <a16:creationId xmlns:a16="http://schemas.microsoft.com/office/drawing/2014/main" id="{117000C5-5502-44B0-89AC-C0BB628A0543}"/>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9</a:t>
            </a:r>
          </a:p>
        </p:txBody>
      </p:sp>
      <p:sp>
        <p:nvSpPr>
          <p:cNvPr id="4" name="">
            <a:extLst xmlns:a="http://schemas.openxmlformats.org/drawingml/2006/main">
              <a:ext uri="{FF2B5EF4-FFF2-40B4-BE49-F238E27FC236}">
                <a16:creationId xmlns:a16="http://schemas.microsoft.com/office/drawing/2014/main" id="{6D502EB4-DCFA-4DB3-9370-45151CA4FDEB}"/>
              </a:ext>
            </a:extLst>
          </p:cNvPr>
          <p:cNvSpPr>
            <a:spLocks xmlns:a="http://schemas.openxmlformats.org/drawingml/2006/main" noGrp="1"/>
          </p:cNvSpPr>
          <p:nvPr/>
        </p:nvSpPr>
        <p:spPr>
          <a:xfrm xmlns:a="http://schemas.openxmlformats.org/drawingml/2006/main">
            <a:off x="457200" y="1381125"/>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C56B30"/>
                </a:solidFill>
                <a:latin typeface="Calibri"/>
                <a:ea typeface="Calibri"/>
                <a:cs typeface="Calibri"/>
              </a:defRPr>
            </a:defPPr>
          </a:lstStyle>
          <a:p xmlns:a="http://schemas.openxmlformats.org/drawingml/2006/main">
            <a:pPr>
              <a:defRPr sz="1702" b="0">
                <a:solidFill>
                  <a:srgbClr val="C56B30"/>
                </a:solidFill>
                <a:latin typeface="Calibri"/>
                <a:ea typeface="Calibri"/>
                <a:cs typeface="Calibri"/>
              </a:defRPr>
            </a:pPr>
            <a:r>
              <a:rPr sz="1702" b="0">
                <a:solidFill>
                  <a:srgbClr val="C56B30"/>
                </a:solidFill>
                <a:latin typeface="Calibri"/>
                <a:ea typeface="Calibri"/>
                <a:cs typeface="Calibri"/>
              </a:rPr>
              <a:t>Leaking workflow</a:t>
            </a:r>
          </a:p>
        </p:txBody>
      </p:sp>
      <p:sp>
        <p:nvSpPr>
          <p:cNvPr id="5" name="All samples A B C D">
            <a:extLst xmlns:a="http://schemas.openxmlformats.org/drawingml/2006/main">
              <a:ext uri="{FF2B5EF4-FFF2-40B4-BE49-F238E27FC236}">
                <a16:creationId xmlns:a16="http://schemas.microsoft.com/office/drawing/2014/main" id="{472E8E4E-2908-4B8A-847E-42D8E9E6C43D}"/>
              </a:ext>
            </a:extLst>
          </p:cNvPr>
          <p:cNvSpPr>
            <a:spLocks xmlns:a="http://schemas.openxmlformats.org/drawingml/2006/main" noGrp="1"/>
          </p:cNvSpPr>
          <p:nvPr/>
        </p:nvSpPr>
        <p:spPr>
          <a:xfrm xmlns:a="http://schemas.openxmlformats.org/drawingml/2006/main">
            <a:off x="457200" y="1762125"/>
            <a:ext cx="144780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64748B"/>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All samples</a:t>
            </a:r>
          </a:p>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A B C D</a:t>
            </a:r>
          </a:p>
        </p:txBody>
      </p:sp>
      <p:sp>
        <p:nvSpPr>
          <p:cNvPr id="6" name="Learn bands and scaling">
            <a:extLst xmlns:a="http://schemas.openxmlformats.org/drawingml/2006/main">
              <a:ext uri="{FF2B5EF4-FFF2-40B4-BE49-F238E27FC236}">
                <a16:creationId xmlns:a16="http://schemas.microsoft.com/office/drawing/2014/main" id="{EA5CB032-32D3-4C98-90ED-0F675764492C}"/>
              </a:ext>
            </a:extLst>
          </p:cNvPr>
          <p:cNvSpPr>
            <a:spLocks xmlns:a="http://schemas.openxmlformats.org/drawingml/2006/main" noGrp="1"/>
          </p:cNvSpPr>
          <p:nvPr/>
        </p:nvSpPr>
        <p:spPr>
          <a:xfrm xmlns:a="http://schemas.openxmlformats.org/drawingml/2006/main">
            <a:off x="2667000" y="1762125"/>
            <a:ext cx="2076450" cy="628650"/>
          </a:xfrm>
          <a:prstGeom xmlns:a="http://schemas.openxmlformats.org/drawingml/2006/main" prst="rect">
            <a:avLst/>
          </a:prstGeom>
          <a:solidFill xmlns:a="http://schemas.openxmlformats.org/drawingml/2006/main">
            <a:srgbClr val="FFF3E9"/>
          </a:solidFill>
          <a:ln xmlns:a="http://schemas.openxmlformats.org/drawingml/2006/main" w="14288">
            <a:solidFill>
              <a:srgbClr val="C56B30"/>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Learn bands</a:t>
            </a:r>
          </a:p>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and scaling</a:t>
            </a:r>
          </a:p>
        </p:txBody>
      </p:sp>
      <p:sp>
        <p:nvSpPr>
          <p:cNvPr id="7" name="Split">
            <a:extLst xmlns:a="http://schemas.openxmlformats.org/drawingml/2006/main">
              <a:ext uri="{FF2B5EF4-FFF2-40B4-BE49-F238E27FC236}">
                <a16:creationId xmlns:a16="http://schemas.microsoft.com/office/drawing/2014/main" id="{1A273059-F803-4946-B9B4-90E164E903AD}"/>
              </a:ext>
            </a:extLst>
          </p:cNvPr>
          <p:cNvSpPr>
            <a:spLocks xmlns:a="http://schemas.openxmlformats.org/drawingml/2006/main" noGrp="1"/>
          </p:cNvSpPr>
          <p:nvPr/>
        </p:nvSpPr>
        <p:spPr>
          <a:xfrm xmlns:a="http://schemas.openxmlformats.org/drawingml/2006/main">
            <a:off x="5429250" y="1762125"/>
            <a:ext cx="10477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64748B"/>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Split</a:t>
            </a:r>
          </a:p>
        </p:txBody>
      </p:sp>
      <p:sp>
        <p:nvSpPr>
          <p:cNvPr id="8" name="Test D">
            <a:extLst xmlns:a="http://schemas.openxmlformats.org/drawingml/2006/main">
              <a:ext uri="{FF2B5EF4-FFF2-40B4-BE49-F238E27FC236}">
                <a16:creationId xmlns:a16="http://schemas.microsoft.com/office/drawing/2014/main" id="{500B73F4-7561-4F25-A47C-6ACC932AE824}"/>
              </a:ext>
            </a:extLst>
          </p:cNvPr>
          <p:cNvSpPr>
            <a:spLocks xmlns:a="http://schemas.openxmlformats.org/drawingml/2006/main" noGrp="1"/>
          </p:cNvSpPr>
          <p:nvPr/>
        </p:nvSpPr>
        <p:spPr>
          <a:xfrm xmlns:a="http://schemas.openxmlformats.org/drawingml/2006/main">
            <a:off x="7239000" y="1762125"/>
            <a:ext cx="1428750" cy="628650"/>
          </a:xfrm>
          <a:prstGeom xmlns:a="http://schemas.openxmlformats.org/drawingml/2006/main" prst="rect">
            <a:avLst/>
          </a:prstGeom>
          <a:solidFill xmlns:a="http://schemas.openxmlformats.org/drawingml/2006/main">
            <a:srgbClr val="FFF3E9"/>
          </a:solidFill>
          <a:ln xmlns:a="http://schemas.openxmlformats.org/drawingml/2006/main" w="14288">
            <a:solidFill>
              <a:srgbClr val="C56B30"/>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Test D</a:t>
            </a:r>
          </a:p>
        </p:txBody>
      </p:sp>
      <p:cxnSp>
        <p:nvCxnSpPr>
          <p:cNvPr id="9" name="">
            <a:extLst xmlns:a="http://schemas.openxmlformats.org/drawingml/2006/main">
              <a:ext uri="{FF2B5EF4-FFF2-40B4-BE49-F238E27FC236}">
                <a16:creationId xmlns:a16="http://schemas.microsoft.com/office/drawing/2014/main" id="{2930DF23-3321-46FC-9625-7A235AC86C55}"/>
              </a:ext>
            </a:extLst>
          </p:cNvPr>
          <p:cNvCxnSpPr/>
          <p:nvPr/>
        </p:nvCxnSpPr>
        <p:spPr>
          <a:xfrm xmlns:a="http://schemas.openxmlformats.org/drawingml/2006/main">
            <a:off x="1905000" y="2076450"/>
            <a:ext cx="762000" cy="0"/>
          </a:xfrm>
          <a:prstGeom xmlns:a="http://schemas.openxmlformats.org/drawingml/2006/main" prst="straightConnector1">
            <a:avLst/>
          </a:prstGeom>
          <a:ln xmlns:a="http://schemas.openxmlformats.org/drawingml/2006/main" w="22860">
            <a:solidFill>
              <a:srgbClr val="C56B30"/>
            </a:solidFill>
            <a:tailEnd type="triangle" w="med" len="med"/>
          </a:ln>
        </p:spPr>
      </p:cxnSp>
      <p:cxnSp>
        <p:nvCxnSpPr>
          <p:cNvPr id="10" name="">
            <a:extLst xmlns:a="http://schemas.openxmlformats.org/drawingml/2006/main">
              <a:ext uri="{FF2B5EF4-FFF2-40B4-BE49-F238E27FC236}">
                <a16:creationId xmlns:a16="http://schemas.microsoft.com/office/drawing/2014/main" id="{CE1B17FA-2470-4BB1-AED4-CDDF87FA83C0}"/>
              </a:ext>
            </a:extLst>
          </p:cNvPr>
          <p:cNvCxnSpPr/>
          <p:nvPr/>
        </p:nvCxnSpPr>
        <p:spPr>
          <a:xfrm xmlns:a="http://schemas.openxmlformats.org/drawingml/2006/main">
            <a:off x="4743450" y="2076450"/>
            <a:ext cx="685800" cy="0"/>
          </a:xfrm>
          <a:prstGeom xmlns:a="http://schemas.openxmlformats.org/drawingml/2006/main" prst="straightConnector1">
            <a:avLst/>
          </a:prstGeom>
          <a:ln xmlns:a="http://schemas.openxmlformats.org/drawingml/2006/main" w="22860">
            <a:solidFill>
              <a:srgbClr val="C56B30"/>
            </a:solidFill>
            <a:tailEnd type="triangle" w="med" len="med"/>
          </a:ln>
        </p:spPr>
      </p:cxnSp>
      <p:cxnSp>
        <p:nvCxnSpPr>
          <p:cNvPr id="11" name="">
            <a:extLst xmlns:a="http://schemas.openxmlformats.org/drawingml/2006/main">
              <a:ext uri="{FF2B5EF4-FFF2-40B4-BE49-F238E27FC236}">
                <a16:creationId xmlns:a16="http://schemas.microsoft.com/office/drawing/2014/main" id="{4BE031D2-A082-4123-BC6E-C7E37F4EB02A}"/>
              </a:ext>
            </a:extLst>
          </p:cNvPr>
          <p:cNvCxnSpPr/>
          <p:nvPr/>
        </p:nvCxnSpPr>
        <p:spPr>
          <a:xfrm xmlns:a="http://schemas.openxmlformats.org/drawingml/2006/main">
            <a:off x="6477000" y="2076450"/>
            <a:ext cx="762000" cy="0"/>
          </a:xfrm>
          <a:prstGeom xmlns:a="http://schemas.openxmlformats.org/drawingml/2006/main" prst="straightConnector1">
            <a:avLst/>
          </a:prstGeom>
          <a:ln xmlns:a="http://schemas.openxmlformats.org/drawingml/2006/main" w="22860">
            <a:solidFill>
              <a:srgbClr val="C56B30"/>
            </a:solidFill>
            <a:tailEnd type="triangle" w="med" len="med"/>
          </a:ln>
        </p:spPr>
      </p:cxnSp>
      <p:sp>
        <p:nvSpPr>
          <p:cNvPr id="12" name="">
            <a:extLst xmlns:a="http://schemas.openxmlformats.org/drawingml/2006/main">
              <a:ext uri="{FF2B5EF4-FFF2-40B4-BE49-F238E27FC236}">
                <a16:creationId xmlns:a16="http://schemas.microsoft.com/office/drawing/2014/main" id="{53D47017-70B4-460C-95D2-9B88F21044C6}"/>
              </a:ext>
            </a:extLst>
          </p:cNvPr>
          <p:cNvSpPr>
            <a:spLocks xmlns:a="http://schemas.openxmlformats.org/drawingml/2006/main" noGrp="1"/>
          </p:cNvSpPr>
          <p:nvPr/>
        </p:nvSpPr>
        <p:spPr>
          <a:xfrm xmlns:a="http://schemas.openxmlformats.org/drawingml/2006/main">
            <a:off x="2667000" y="25050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C56B30"/>
                </a:solidFill>
                <a:latin typeface="Calibri"/>
                <a:ea typeface="Calibri"/>
                <a:cs typeface="Calibri"/>
              </a:defRPr>
            </a:defPPr>
          </a:lstStyle>
          <a:p xmlns:a="http://schemas.openxmlformats.org/drawingml/2006/main">
            <a:pPr>
              <a:defRPr sz="1400" b="0">
                <a:solidFill>
                  <a:srgbClr val="C56B30"/>
                </a:solidFill>
                <a:latin typeface="Calibri"/>
                <a:ea typeface="Calibri"/>
                <a:cs typeface="Calibri"/>
              </a:defRPr>
            </a:pPr>
            <a:r>
              <a:rPr sz="1400" b="0">
                <a:solidFill>
                  <a:srgbClr val="C56B30"/>
                </a:solidFill>
                <a:latin typeface="Calibri"/>
                <a:ea typeface="Calibri"/>
                <a:cs typeface="Calibri"/>
              </a:rPr>
              <a:t>D already influenced preparation</a:t>
            </a:r>
          </a:p>
        </p:txBody>
      </p:sp>
      <p:sp>
        <p:nvSpPr>
          <p:cNvPr id="13" name="">
            <a:extLst xmlns:a="http://schemas.openxmlformats.org/drawingml/2006/main">
              <a:ext uri="{FF2B5EF4-FFF2-40B4-BE49-F238E27FC236}">
                <a16:creationId xmlns:a16="http://schemas.microsoft.com/office/drawing/2014/main" id="{F3EB333A-5185-46C1-BDEA-E86CA7ED3467}"/>
              </a:ext>
            </a:extLst>
          </p:cNvPr>
          <p:cNvSpPr>
            <a:spLocks xmlns:a="http://schemas.openxmlformats.org/drawingml/2006/main" noGrp="1"/>
          </p:cNvSpPr>
          <p:nvPr/>
        </p:nvSpPr>
        <p:spPr>
          <a:xfrm xmlns:a="http://schemas.openxmlformats.org/drawingml/2006/main">
            <a:off x="457200" y="2867025"/>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028090"/>
                </a:solidFill>
                <a:latin typeface="Calibri"/>
                <a:ea typeface="Calibri"/>
                <a:cs typeface="Calibri"/>
              </a:defRPr>
            </a:defPPr>
          </a:lstStyle>
          <a:p xmlns:a="http://schemas.openxmlformats.org/drawingml/2006/main">
            <a:pPr>
              <a:defRPr sz="1702" b="0">
                <a:solidFill>
                  <a:srgbClr val="028090"/>
                </a:solidFill>
                <a:latin typeface="Calibri"/>
                <a:ea typeface="Calibri"/>
                <a:cs typeface="Calibri"/>
              </a:defRPr>
            </a:pPr>
            <a:r>
              <a:rPr sz="1702" b="0">
                <a:solidFill>
                  <a:srgbClr val="028090"/>
                </a:solidFill>
                <a:latin typeface="Calibri"/>
                <a:ea typeface="Calibri"/>
                <a:cs typeface="Calibri"/>
              </a:rPr>
              <a:t>Independent workflow</a:t>
            </a:r>
          </a:p>
        </p:txBody>
      </p:sp>
      <p:sp>
        <p:nvSpPr>
          <p:cNvPr id="14" name="All samples A B C D">
            <a:extLst xmlns:a="http://schemas.openxmlformats.org/drawingml/2006/main">
              <a:ext uri="{FF2B5EF4-FFF2-40B4-BE49-F238E27FC236}">
                <a16:creationId xmlns:a16="http://schemas.microsoft.com/office/drawing/2014/main" id="{C4451174-711D-4F8A-ACBB-234A5C46A69A}"/>
              </a:ext>
            </a:extLst>
          </p:cNvPr>
          <p:cNvSpPr>
            <a:spLocks xmlns:a="http://schemas.openxmlformats.org/drawingml/2006/main" noGrp="1"/>
          </p:cNvSpPr>
          <p:nvPr/>
        </p:nvSpPr>
        <p:spPr>
          <a:xfrm xmlns:a="http://schemas.openxmlformats.org/drawingml/2006/main">
            <a:off x="457200" y="3381375"/>
            <a:ext cx="1285875"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64748B"/>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All samples</a:t>
            </a:r>
          </a:p>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A B C D</a:t>
            </a:r>
          </a:p>
        </p:txBody>
      </p:sp>
      <p:sp>
        <p:nvSpPr>
          <p:cNvPr id="15" name="Split">
            <a:extLst xmlns:a="http://schemas.openxmlformats.org/drawingml/2006/main">
              <a:ext uri="{FF2B5EF4-FFF2-40B4-BE49-F238E27FC236}">
                <a16:creationId xmlns:a16="http://schemas.microsoft.com/office/drawing/2014/main" id="{4BC5ECF0-9262-4945-8B78-EEBFC10E40C0}"/>
              </a:ext>
            </a:extLst>
          </p:cNvPr>
          <p:cNvSpPr>
            <a:spLocks xmlns:a="http://schemas.openxmlformats.org/drawingml/2006/main" noGrp="1"/>
          </p:cNvSpPr>
          <p:nvPr/>
        </p:nvSpPr>
        <p:spPr>
          <a:xfrm xmlns:a="http://schemas.openxmlformats.org/drawingml/2006/main">
            <a:off x="2286000" y="3381375"/>
            <a:ext cx="76200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64748B"/>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Split</a:t>
            </a:r>
          </a:p>
        </p:txBody>
      </p:sp>
      <p:sp>
        <p:nvSpPr>
          <p:cNvPr id="16" name="Training A B C Learn rules + model">
            <a:extLst xmlns:a="http://schemas.openxmlformats.org/drawingml/2006/main">
              <a:ext uri="{FF2B5EF4-FFF2-40B4-BE49-F238E27FC236}">
                <a16:creationId xmlns:a16="http://schemas.microsoft.com/office/drawing/2014/main" id="{4F78BE8F-8AB7-488E-BC8B-53D917C7D647}"/>
              </a:ext>
            </a:extLst>
          </p:cNvPr>
          <p:cNvSpPr>
            <a:spLocks xmlns:a="http://schemas.openxmlformats.org/drawingml/2006/main" noGrp="1"/>
          </p:cNvSpPr>
          <p:nvPr/>
        </p:nvSpPr>
        <p:spPr>
          <a:xfrm xmlns:a="http://schemas.openxmlformats.org/drawingml/2006/main">
            <a:off x="4095750" y="3190875"/>
            <a:ext cx="1952625" cy="609600"/>
          </a:xfrm>
          <a:prstGeom xmlns:a="http://schemas.openxmlformats.org/drawingml/2006/main" prst="rect">
            <a:avLst/>
          </a:prstGeom>
          <a:solidFill xmlns:a="http://schemas.openxmlformats.org/drawingml/2006/main">
            <a:srgbClr val="EAF6F6"/>
          </a:solidFill>
          <a:ln xmlns:a="http://schemas.openxmlformats.org/drawingml/2006/main" w="14288">
            <a:solidFill>
              <a:srgbClr val="028090"/>
            </a:solidFill>
          </a:ln>
        </p:spPr>
        <p:txBody>
          <a:bodyPr xmlns:a="http://schemas.openxmlformats.org/drawingml/2006/main" lIns="76200" tIns="76200" rIns="76200" bIns="76200" anchor="ctr">
            <a:noAutofit/>
          </a:bodyPr>
          <a:lstStyle xmlns:a="http://schemas.openxmlformats.org/drawingml/2006/main">
            <a:defPPr algn="ctr">
              <a:defRPr sz="1500">
                <a:solidFill>
                  <a:srgbClr val="1E293B"/>
                </a:solidFill>
                <a:latin typeface="Calibri"/>
                <a:ea typeface="Calibri"/>
                <a:cs typeface="Calibri"/>
              </a:defRPr>
            </a:defPPr>
          </a:lstStyle>
          <a:p xmlns:a="http://schemas.openxmlformats.org/drawingml/2006/main">
            <a:pPr algn="ctr">
              <a:defRPr sz="1500">
                <a:solidFill>
                  <a:srgbClr val="1E293B"/>
                </a:solidFill>
                <a:latin typeface="Calibri"/>
                <a:ea typeface="Calibri"/>
                <a:cs typeface="Calibri"/>
              </a:defRPr>
            </a:pPr>
            <a:r>
              <a:rPr sz="1500">
                <a:solidFill>
                  <a:srgbClr val="1E293B"/>
                </a:solidFill>
                <a:latin typeface="Calibri"/>
                <a:ea typeface="Calibri"/>
                <a:cs typeface="Calibri"/>
              </a:rPr>
              <a:t>Training A B C</a:t>
            </a:r>
          </a:p>
          <a:p xmlns:a="http://schemas.openxmlformats.org/drawingml/2006/main">
            <a:pPr algn="ctr">
              <a:defRPr sz="1500">
                <a:solidFill>
                  <a:srgbClr val="1E293B"/>
                </a:solidFill>
                <a:latin typeface="Calibri"/>
                <a:ea typeface="Calibri"/>
                <a:cs typeface="Calibri"/>
              </a:defRPr>
            </a:pPr>
            <a:r>
              <a:rPr sz="1500">
                <a:solidFill>
                  <a:srgbClr val="1E293B"/>
                </a:solidFill>
                <a:latin typeface="Calibri"/>
                <a:ea typeface="Calibri"/>
                <a:cs typeface="Calibri"/>
              </a:rPr>
              <a:t>Learn rules + model</a:t>
            </a:r>
          </a:p>
        </p:txBody>
      </p:sp>
      <p:sp>
        <p:nvSpPr>
          <p:cNvPr id="17" name="Test D kept aside">
            <a:extLst xmlns:a="http://schemas.openxmlformats.org/drawingml/2006/main">
              <a:ext uri="{FF2B5EF4-FFF2-40B4-BE49-F238E27FC236}">
                <a16:creationId xmlns:a16="http://schemas.microsoft.com/office/drawing/2014/main" id="{AFFE9D07-5CE6-4B3A-A6FA-01F4AED62270}"/>
              </a:ext>
            </a:extLst>
          </p:cNvPr>
          <p:cNvSpPr>
            <a:spLocks xmlns:a="http://schemas.openxmlformats.org/drawingml/2006/main" noGrp="1"/>
          </p:cNvSpPr>
          <p:nvPr/>
        </p:nvSpPr>
        <p:spPr>
          <a:xfrm xmlns:a="http://schemas.openxmlformats.org/drawingml/2006/main">
            <a:off x="4095750" y="3981450"/>
            <a:ext cx="1952625" cy="409575"/>
          </a:xfrm>
          <a:prstGeom xmlns:a="http://schemas.openxmlformats.org/drawingml/2006/main" prst="rect">
            <a:avLst/>
          </a:prstGeom>
          <a:solidFill xmlns:a="http://schemas.openxmlformats.org/drawingml/2006/main">
            <a:srgbClr val="FFFFFF"/>
          </a:solidFill>
          <a:ln xmlns:a="http://schemas.openxmlformats.org/drawingml/2006/main" w="14288">
            <a:solidFill>
              <a:srgbClr val="3679A8"/>
            </a:solidFill>
          </a:ln>
        </p:spPr>
        <p:txBody>
          <a:bodyPr xmlns:a="http://schemas.openxmlformats.org/drawingml/2006/main" lIns="76200" tIns="76200" rIns="76200" bIns="76200" anchor="ctr">
            <a:noAutofit/>
          </a:bodyPr>
          <a:lstStyle xmlns:a="http://schemas.openxmlformats.org/drawingml/2006/main">
            <a:defPPr algn="ctr">
              <a:defRPr sz="1448">
                <a:solidFill>
                  <a:srgbClr val="1E293B"/>
                </a:solidFill>
                <a:latin typeface="Calibri"/>
                <a:ea typeface="Calibri"/>
                <a:cs typeface="Calibri"/>
              </a:defRPr>
            </a:defPPr>
          </a:lstStyle>
          <a:p xmlns:a="http://schemas.openxmlformats.org/drawingml/2006/main">
            <a:pPr algn="ctr">
              <a:defRPr sz="1448">
                <a:solidFill>
                  <a:srgbClr val="1E293B"/>
                </a:solidFill>
                <a:latin typeface="Calibri"/>
                <a:ea typeface="Calibri"/>
                <a:cs typeface="Calibri"/>
              </a:defRPr>
            </a:pPr>
            <a:r>
              <a:rPr sz="1448">
                <a:solidFill>
                  <a:srgbClr val="1E293B"/>
                </a:solidFill>
                <a:latin typeface="Calibri"/>
                <a:ea typeface="Calibri"/>
                <a:cs typeface="Calibri"/>
              </a:rPr>
              <a:t>Test D kept aside</a:t>
            </a:r>
          </a:p>
        </p:txBody>
      </p:sp>
      <p:sp>
        <p:nvSpPr>
          <p:cNvPr id="18" name="Predict D Apply fixed rules + model">
            <a:extLst xmlns:a="http://schemas.openxmlformats.org/drawingml/2006/main">
              <a:ext uri="{FF2B5EF4-FFF2-40B4-BE49-F238E27FC236}">
                <a16:creationId xmlns:a16="http://schemas.microsoft.com/office/drawing/2014/main" id="{5E0060DF-83BA-406D-A011-093A9F7B1628}"/>
              </a:ext>
            </a:extLst>
          </p:cNvPr>
          <p:cNvSpPr>
            <a:spLocks xmlns:a="http://schemas.openxmlformats.org/drawingml/2006/main" noGrp="1"/>
          </p:cNvSpPr>
          <p:nvPr/>
        </p:nvSpPr>
        <p:spPr>
          <a:xfrm xmlns:a="http://schemas.openxmlformats.org/drawingml/2006/main">
            <a:off x="7000875" y="3190875"/>
            <a:ext cx="1666875" cy="1200150"/>
          </a:xfrm>
          <a:prstGeom xmlns:a="http://schemas.openxmlformats.org/drawingml/2006/main" prst="rect">
            <a:avLst/>
          </a:prstGeom>
          <a:solidFill xmlns:a="http://schemas.openxmlformats.org/drawingml/2006/main">
            <a:srgbClr val="EAF6F6"/>
          </a:solidFill>
          <a:ln xmlns:a="http://schemas.openxmlformats.org/drawingml/2006/main" w="14288">
            <a:solidFill>
              <a:srgbClr val="028090"/>
            </a:solidFill>
          </a:ln>
        </p:spPr>
        <p:txBody>
          <a:bodyPr xmlns:a="http://schemas.openxmlformats.org/drawingml/2006/main" lIns="76200" tIns="76200" rIns="76200" bIns="76200" anchor="ctr">
            <a:noAutofit/>
          </a:bodyPr>
          <a:lstStyle xmlns:a="http://schemas.openxmlformats.org/drawingml/2006/main">
            <a:defPPr algn="ctr">
              <a:defRPr sz="1552">
                <a:solidFill>
                  <a:srgbClr val="1E293B"/>
                </a:solidFill>
                <a:latin typeface="Calibri"/>
                <a:ea typeface="Calibri"/>
                <a:cs typeface="Calibri"/>
              </a:defRPr>
            </a:defPPr>
          </a:lstStyle>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Predict D</a:t>
            </a:r>
          </a:p>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Apply fixed</a:t>
            </a:r>
          </a:p>
          <a:p xmlns:a="http://schemas.openxmlformats.org/drawingml/2006/main">
            <a:pPr algn="ctr">
              <a:defRPr sz="1552">
                <a:solidFill>
                  <a:srgbClr val="1E293B"/>
                </a:solidFill>
                <a:latin typeface="Calibri"/>
                <a:ea typeface="Calibri"/>
                <a:cs typeface="Calibri"/>
              </a:defRPr>
            </a:pPr>
            <a:r>
              <a:rPr sz="1552">
                <a:solidFill>
                  <a:srgbClr val="1E293B"/>
                </a:solidFill>
                <a:latin typeface="Calibri"/>
                <a:ea typeface="Calibri"/>
                <a:cs typeface="Calibri"/>
              </a:rPr>
              <a:t>rules + model</a:t>
            </a:r>
          </a:p>
        </p:txBody>
      </p:sp>
      <p:cxnSp>
        <p:nvCxnSpPr>
          <p:cNvPr id="19" name="">
            <a:extLst xmlns:a="http://schemas.openxmlformats.org/drawingml/2006/main">
              <a:ext uri="{FF2B5EF4-FFF2-40B4-BE49-F238E27FC236}">
                <a16:creationId xmlns:a16="http://schemas.microsoft.com/office/drawing/2014/main" id="{7D52BFFA-A6AE-4C81-8757-6B6CA8A3CCCA}"/>
              </a:ext>
            </a:extLst>
          </p:cNvPr>
          <p:cNvCxnSpPr/>
          <p:nvPr/>
        </p:nvCxnSpPr>
        <p:spPr>
          <a:xfrm xmlns:a="http://schemas.openxmlformats.org/drawingml/2006/main">
            <a:off x="1743075" y="3695700"/>
            <a:ext cx="542925" cy="0"/>
          </a:xfrm>
          <a:prstGeom xmlns:a="http://schemas.openxmlformats.org/drawingml/2006/main" prst="straightConnector1">
            <a:avLst/>
          </a:prstGeom>
          <a:ln xmlns:a="http://schemas.openxmlformats.org/drawingml/2006/main" w="22860">
            <a:solidFill>
              <a:srgbClr val="64748B"/>
            </a:solidFill>
            <a:tailEnd type="triangle" w="med" len="med"/>
          </a:ln>
        </p:spPr>
      </p:cxnSp>
      <p:cxnSp>
        <p:nvCxnSpPr>
          <p:cNvPr id="20" name="">
            <a:extLst xmlns:a="http://schemas.openxmlformats.org/drawingml/2006/main">
              <a:ext uri="{FF2B5EF4-FFF2-40B4-BE49-F238E27FC236}">
                <a16:creationId xmlns:a16="http://schemas.microsoft.com/office/drawing/2014/main" id="{127C68F7-0766-473D-AE29-DA11494B2FD1}"/>
              </a:ext>
            </a:extLst>
          </p:cNvPr>
          <p:cNvCxnSpPr/>
          <p:nvPr/>
        </p:nvCxnSpPr>
        <p:spPr>
          <a:xfrm xmlns:a="http://schemas.openxmlformats.org/drawingml/2006/main">
            <a:off x="3048000" y="3695700"/>
            <a:ext cx="523875" cy="0"/>
          </a:xfrm>
          <a:prstGeom xmlns:a="http://schemas.openxmlformats.org/drawingml/2006/main" prst="straightConnector1">
            <a:avLst/>
          </a:prstGeom>
          <a:ln xmlns:a="http://schemas.openxmlformats.org/drawingml/2006/main" w="22860">
            <a:solidFill>
              <a:srgbClr val="64748B"/>
            </a:solidFill>
            <a:tailEnd type="triangle" w="med" len="med"/>
          </a:ln>
        </p:spPr>
      </p:cxnSp>
      <p:cxnSp>
        <p:nvCxnSpPr>
          <p:cNvPr id="21" name="">
            <a:extLst xmlns:a="http://schemas.openxmlformats.org/drawingml/2006/main">
              <a:ext uri="{FF2B5EF4-FFF2-40B4-BE49-F238E27FC236}">
                <a16:creationId xmlns:a16="http://schemas.microsoft.com/office/drawing/2014/main" id="{4DCE0424-39FE-435C-A84B-6FAE3A88672D}"/>
              </a:ext>
            </a:extLst>
          </p:cNvPr>
          <p:cNvCxnSpPr/>
          <p:nvPr/>
        </p:nvCxnSpPr>
        <p:spPr>
          <a:xfrm xmlns:a="http://schemas.openxmlformats.org/drawingml/2006/main">
            <a:off x="3571875" y="3495675"/>
            <a:ext cx="0" cy="695325"/>
          </a:xfrm>
          <a:prstGeom xmlns:a="http://schemas.openxmlformats.org/drawingml/2006/main" prst="straightConnector1">
            <a:avLst/>
          </a:prstGeom>
          <a:ln xmlns:a="http://schemas.openxmlformats.org/drawingml/2006/main" w="22860">
            <a:solidFill>
              <a:srgbClr val="64748B"/>
            </a:solidFill>
            <a:tailEnd type="none" w="med" len="med"/>
          </a:ln>
        </p:spPr>
      </p:cxnSp>
      <p:cxnSp>
        <p:nvCxnSpPr>
          <p:cNvPr id="22" name="">
            <a:extLst xmlns:a="http://schemas.openxmlformats.org/drawingml/2006/main">
              <a:ext uri="{FF2B5EF4-FFF2-40B4-BE49-F238E27FC236}">
                <a16:creationId xmlns:a16="http://schemas.microsoft.com/office/drawing/2014/main" id="{433DCF94-927B-450C-B0BB-52006D5C6695}"/>
              </a:ext>
            </a:extLst>
          </p:cNvPr>
          <p:cNvCxnSpPr/>
          <p:nvPr/>
        </p:nvCxnSpPr>
        <p:spPr>
          <a:xfrm xmlns:a="http://schemas.openxmlformats.org/drawingml/2006/main">
            <a:off x="3571875" y="3495675"/>
            <a:ext cx="523875" cy="0"/>
          </a:xfrm>
          <a:prstGeom xmlns:a="http://schemas.openxmlformats.org/drawingml/2006/main" prst="straightConnector1">
            <a:avLst/>
          </a:prstGeom>
          <a:ln xmlns:a="http://schemas.openxmlformats.org/drawingml/2006/main" w="22860">
            <a:solidFill>
              <a:srgbClr val="028090"/>
            </a:solidFill>
            <a:tailEnd type="triangle" w="med" len="med"/>
          </a:ln>
        </p:spPr>
      </p:cxnSp>
      <p:cxnSp>
        <p:nvCxnSpPr>
          <p:cNvPr id="23" name="">
            <a:extLst xmlns:a="http://schemas.openxmlformats.org/drawingml/2006/main">
              <a:ext uri="{FF2B5EF4-FFF2-40B4-BE49-F238E27FC236}">
                <a16:creationId xmlns:a16="http://schemas.microsoft.com/office/drawing/2014/main" id="{6AA8B270-FC36-45ED-A0C6-7CDA5A9F989E}"/>
              </a:ext>
            </a:extLst>
          </p:cNvPr>
          <p:cNvCxnSpPr/>
          <p:nvPr/>
        </p:nvCxnSpPr>
        <p:spPr>
          <a:xfrm xmlns:a="http://schemas.openxmlformats.org/drawingml/2006/main">
            <a:off x="3571875" y="4191000"/>
            <a:ext cx="523875" cy="0"/>
          </a:xfrm>
          <a:prstGeom xmlns:a="http://schemas.openxmlformats.org/drawingml/2006/main" prst="straightConnector1">
            <a:avLst/>
          </a:prstGeom>
          <a:ln xmlns:a="http://schemas.openxmlformats.org/drawingml/2006/main" w="22860">
            <a:solidFill>
              <a:srgbClr val="3679A8"/>
            </a:solidFill>
            <a:tailEnd type="triangle" w="med" len="med"/>
          </a:ln>
        </p:spPr>
      </p:cxnSp>
      <p:cxnSp>
        <p:nvCxnSpPr>
          <p:cNvPr id="24" name="">
            <a:extLst xmlns:a="http://schemas.openxmlformats.org/drawingml/2006/main">
              <a:ext uri="{FF2B5EF4-FFF2-40B4-BE49-F238E27FC236}">
                <a16:creationId xmlns:a16="http://schemas.microsoft.com/office/drawing/2014/main" id="{0AC1EF95-CB6A-4BC5-97F4-55B3993171BB}"/>
              </a:ext>
            </a:extLst>
          </p:cNvPr>
          <p:cNvCxnSpPr/>
          <p:nvPr/>
        </p:nvCxnSpPr>
        <p:spPr>
          <a:xfrm xmlns:a="http://schemas.openxmlformats.org/drawingml/2006/main">
            <a:off x="6048375" y="3495675"/>
            <a:ext cx="952500" cy="0"/>
          </a:xfrm>
          <a:prstGeom xmlns:a="http://schemas.openxmlformats.org/drawingml/2006/main" prst="straightConnector1">
            <a:avLst/>
          </a:prstGeom>
          <a:ln xmlns:a="http://schemas.openxmlformats.org/drawingml/2006/main" w="22860">
            <a:solidFill>
              <a:srgbClr val="028090"/>
            </a:solidFill>
            <a:tailEnd type="triangle" w="med" len="med"/>
          </a:ln>
        </p:spPr>
      </p:cxnSp>
      <p:cxnSp>
        <p:nvCxnSpPr>
          <p:cNvPr id="25" name="">
            <a:extLst xmlns:a="http://schemas.openxmlformats.org/drawingml/2006/main">
              <a:ext uri="{FF2B5EF4-FFF2-40B4-BE49-F238E27FC236}">
                <a16:creationId xmlns:a16="http://schemas.microsoft.com/office/drawing/2014/main" id="{DC38757E-7A58-4E79-B588-FC9CE6FEE29E}"/>
              </a:ext>
            </a:extLst>
          </p:cNvPr>
          <p:cNvCxnSpPr/>
          <p:nvPr/>
        </p:nvCxnSpPr>
        <p:spPr>
          <a:xfrm xmlns:a="http://schemas.openxmlformats.org/drawingml/2006/main">
            <a:off x="6048375" y="4191000"/>
            <a:ext cx="952500" cy="0"/>
          </a:xfrm>
          <a:prstGeom xmlns:a="http://schemas.openxmlformats.org/drawingml/2006/main" prst="straightConnector1">
            <a:avLst/>
          </a:prstGeom>
          <a:ln xmlns:a="http://schemas.openxmlformats.org/drawingml/2006/main" w="22860">
            <a:solidFill>
              <a:srgbClr val="3679A8"/>
            </a:solidFill>
            <a:tailEnd type="triangle" w="med" len="med"/>
          </a:ln>
        </p:spPr>
      </p:cxnSp>
      <p:sp>
        <p:nvSpPr>
          <p:cNvPr id="26" name="">
            <a:extLst xmlns:a="http://schemas.openxmlformats.org/drawingml/2006/main">
              <a:ext uri="{FF2B5EF4-FFF2-40B4-BE49-F238E27FC236}">
                <a16:creationId xmlns:a16="http://schemas.microsoft.com/office/drawing/2014/main" id="{B31AD7D0-CECC-49BC-8533-CB63BDFBB2FC}"/>
              </a:ext>
            </a:extLst>
          </p:cNvPr>
          <p:cNvSpPr>
            <a:spLocks xmlns:a="http://schemas.openxmlformats.org/drawingml/2006/main" noGrp="1"/>
          </p:cNvSpPr>
          <p:nvPr/>
        </p:nvSpPr>
        <p:spPr>
          <a:xfrm xmlns:a="http://schemas.openxmlformats.org/drawingml/2006/main">
            <a:off x="457200" y="47148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Test D stays outside every learning step.</a:t>
            </a:r>
          </a:p>
        </p:txBody>
      </p:sp>
    </p:spTree>
    <p:extLst>
      <p:ext uri="{BB962C8B-B14F-4D97-AF65-F5344CB8AC3E}">
        <p14:creationId xmlns:p14="http://schemas.microsoft.com/office/powerpoint/2010/main" val="16197910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B8AD70-70A4-4EF7-960B-1361A011C7D1}"/>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734457C4-3263-40C7-9CE6-374353A0DD67}"/>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The failure determines the next check</a:t>
            </a:r>
          </a:p>
        </p:txBody>
      </p:sp>
      <p:sp>
        <p:nvSpPr>
          <p:cNvPr id="3" name="">
            <a:extLst xmlns:a="http://schemas.openxmlformats.org/drawingml/2006/main">
              <a:ext uri="{FF2B5EF4-FFF2-40B4-BE49-F238E27FC236}">
                <a16:creationId xmlns:a16="http://schemas.microsoft.com/office/drawing/2014/main" id="{BDC8EA76-A487-4406-9840-F640B51F11DD}"/>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10</a:t>
            </a:r>
          </a:p>
        </p:txBody>
      </p:sp>
      <p:graphicFrame>
        <p:nvGraphicFramePr>
          <p:cNvPr id="4" name="">
            <a:extLst xmlns:a="http://schemas.openxmlformats.org/drawingml/2006/main">
              <a:ext uri="{FF2B5EF4-FFF2-40B4-BE49-F238E27FC236}">
                <a16:creationId xmlns:a16="http://schemas.microsoft.com/office/drawing/2014/main" id="{92AD045C-06FB-448E-99E5-D8744216C586}"/>
              </a:ext>
            </a:extLst>
          </p:cNvPr>
          <p:cNvGraphicFramePr/>
          <p:nvPr/>
        </p:nvGraphicFramePr>
        <p:xfrm>
          <a:off xmlns:a="http://schemas.openxmlformats.org/drawingml/2006/main" x="457200" y="1381125"/>
          <a:ext xmlns:a="http://schemas.openxmlformats.org/drawingml/2006/main" cx="8229600" cy="3028950"/>
        </p:xfrm>
        <a:graphic xmlns:a="http://schemas.openxmlformats.org/drawingml/2006/main">
          <a:graphicData uri="http://schemas.openxmlformats.org/drawingml/2006/table">
            <a:tbl>
              <a:tblPr/>
              <a:tblGrid>
                <a:gridCol w="1714500"/>
                <a:gridCol w="3143250"/>
                <a:gridCol w="3371850"/>
              </a:tblGrid>
              <a:tr h="504825">
                <a:tc>
                  <a:txBody>
                    <a:bodyPr/>
                    <a:lstStyle/>
                    <a:p>
                      <a:r>
                        <a:rPr sz="1400" b="0">
                          <a:solidFill>
                            <a:srgbClr val="FFFFFF"/>
                          </a:solidFill>
                          <a:latin typeface="Calibri"/>
                          <a:ea typeface="Calibri"/>
                          <a:cs typeface="Calibri"/>
                        </a:rPr>
                        <a:t>Failure mode</a:t>
                      </a:r>
                    </a:p>
                  </a:txBody>
                  <a:tcPr marL="114300" marR="114300" marT="28575" marB="28575">
                    <a:solidFill>
                      <a:srgbClr val="028090"/>
                    </a:solidFill>
                  </a:tcPr>
                </a:tc>
                <a:tc>
                  <a:txBody>
                    <a:bodyPr/>
                    <a:lstStyle/>
                    <a:p>
                      <a:r>
                        <a:rPr sz="1400" b="0">
                          <a:solidFill>
                            <a:srgbClr val="FFFFFF"/>
                          </a:solidFill>
                          <a:latin typeface="Calibri"/>
                          <a:ea typeface="Calibri"/>
                          <a:cs typeface="Calibri"/>
                        </a:rPr>
                        <a:t>Useful evidence</a:t>
                      </a:r>
                    </a:p>
                  </a:txBody>
                  <a:tcPr marL="114300" marR="114300" marT="28575" marB="28575">
                    <a:solidFill>
                      <a:srgbClr val="028090"/>
                    </a:solidFill>
                  </a:tcPr>
                </a:tc>
                <a:tc>
                  <a:txBody>
                    <a:bodyPr/>
                    <a:lstStyle/>
                    <a:p>
                      <a:r>
                        <a:rPr sz="1400" b="0">
                          <a:solidFill>
                            <a:srgbClr val="FFFFFF"/>
                          </a:solidFill>
                          <a:latin typeface="Calibri"/>
                          <a:ea typeface="Calibri"/>
                          <a:cs typeface="Calibri"/>
                        </a:rPr>
                        <a:t>Possible next step</a:t>
                      </a:r>
                    </a:p>
                  </a:txBody>
                  <a:tcPr marL="114300" marR="114300" marT="28575" marB="28575">
                    <a:solidFill>
                      <a:srgbClr val="028090"/>
                    </a:solidFill>
                  </a:tcPr>
                </a:tc>
              </a:tr>
              <a:tr h="504825">
                <a:tc>
                  <a:txBody>
                    <a:bodyPr/>
                    <a:lstStyle/>
                    <a:p>
                      <a:r>
                        <a:rPr sz="1400" b="0">
                          <a:solidFill>
                            <a:srgbClr val="1E293B"/>
                          </a:solidFill>
                          <a:latin typeface="Calibri"/>
                          <a:ea typeface="Calibri"/>
                          <a:cs typeface="Calibri"/>
                        </a:rPr>
                        <a:t>Underfitting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The model misses training structure.</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Try a suitable model or informative inputs.</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Overfitting</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improves much more than validation.</a:t>
                      </a:r>
                    </a:p>
                  </a:txBody>
                  <a:tcPr marL="114300" marR="114300" marT="28575" marB="28575">
                    <a:solidFill>
                      <a:srgbClr val="FFFFFF"/>
                    </a:solidFill>
                  </a:tcPr>
                </a:tc>
                <a:tc>
                  <a:txBody>
                    <a:bodyPr/>
                    <a:lstStyle/>
                    <a:p>
                      <a:r>
                        <a:rPr sz="1400" b="0">
                          <a:solidFill>
                            <a:srgbClr val="1E293B"/>
                          </a:solidFill>
                          <a:latin typeface="Calibri"/>
                          <a:ea typeface="Calibri"/>
                          <a:cs typeface="Calibri"/>
                        </a:rPr>
                        <a:t>Choose model flexibility with validation.</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Bias in the data</a:t>
                      </a:r>
                    </a:p>
                  </a:txBody>
                  <a:tcPr marL="114300" marR="114300" marT="28575" marB="28575">
                    <a:solidFill>
                      <a:srgbClr val="FFFFFF"/>
                    </a:solidFill>
                  </a:tcPr>
                </a:tc>
                <a:tc>
                  <a:txBody>
                    <a:bodyPr/>
                    <a:lstStyle/>
                    <a:p>
                      <a:r>
                        <a:rPr sz="1400" b="0">
                          <a:solidFill>
                            <a:srgbClr val="1E293B"/>
                          </a:solidFill>
                          <a:latin typeface="Calibri"/>
                          <a:ea typeface="Calibri"/>
                          <a:cs typeface="Calibri"/>
                        </a:rPr>
                        <a:t>Errors differ across sample groups.</a:t>
                      </a:r>
                    </a:p>
                  </a:txBody>
                  <a:tcPr marL="114300" marR="114300" marT="28575" marB="28575">
                    <a:solidFill>
                      <a:srgbClr val="FFFFFF"/>
                    </a:solidFill>
                  </a:tcPr>
                </a:tc>
                <a:tc>
                  <a:txBody>
                    <a:bodyPr/>
                    <a:lstStyle/>
                    <a:p>
                      <a:r>
                        <a:rPr sz="1400" b="0">
                          <a:solidFill>
                            <a:srgbClr val="1E293B"/>
                          </a:solidFill>
                          <a:latin typeface="Calibri"/>
                          <a:ea typeface="Calibri"/>
                          <a:cs typeface="Calibri"/>
                        </a:rPr>
                        <a:t>Check sampling and fill coverage gaps.</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Out of</a:t>
                      </a:r>
                    </a:p>
                    <a:p>
                      <a:r>
                        <a:rPr sz="1400" b="0">
                          <a:solidFill>
                            <a:srgbClr val="1E293B"/>
                          </a:solidFill>
                          <a:latin typeface="Calibri"/>
                          <a:ea typeface="Calibri"/>
                          <a:cs typeface="Calibri"/>
                        </a:rPr>
                        <a:t>distribution</a:t>
                      </a:r>
                    </a:p>
                  </a:txBody>
                  <a:tcPr marL="114300" marR="114300" marT="28575" marB="28575">
                    <a:solidFill>
                      <a:srgbClr val="FFFFFF"/>
                    </a:solidFill>
                  </a:tcPr>
                </a:tc>
                <a:tc>
                  <a:txBody>
                    <a:bodyPr/>
                    <a:lstStyle/>
                    <a:p>
                      <a:r>
                        <a:rPr sz="1400" b="0">
                          <a:solidFill>
                            <a:srgbClr val="1E293B"/>
                          </a:solidFill>
                          <a:latin typeface="Calibri"/>
                          <a:ea typeface="Calibri"/>
                          <a:cs typeface="Calibri"/>
                        </a:rPr>
                        <a:t>New conditions differ from those studied.</a:t>
                      </a:r>
                    </a:p>
                  </a:txBody>
                  <a:tcPr marL="114300" marR="114300" marT="28575" marB="28575">
                    <a:solidFill>
                      <a:srgbClr val="FFFFFF"/>
                    </a:solidFill>
                  </a:tcPr>
                </a:tc>
                <a:tc>
                  <a:txBody>
                    <a:bodyPr/>
                    <a:lstStyle/>
                    <a:p>
                      <a:r>
                        <a:rPr sz="1400" b="0">
                          <a:solidFill>
                            <a:srgbClr val="1E293B"/>
                          </a:solidFill>
                          <a:latin typeface="Calibri"/>
                          <a:ea typeface="Calibri"/>
                          <a:cs typeface="Calibri"/>
                        </a:rPr>
                        <a:t>Validate under the new conditions.</a:t>
                      </a:r>
                    </a:p>
                  </a:txBody>
                  <a:tcPr marL="114300" marR="114300" marT="28575" marB="28575">
                    <a:solidFill>
                      <a:srgbClr val="FFFFFF"/>
                    </a:solidFill>
                  </a:tcPr>
                </a:tc>
              </a:tr>
              <a:tr h="504825">
                <a:tc>
                  <a:txBody>
                    <a:bodyPr/>
                    <a:lstStyle/>
                    <a:p>
                      <a:r>
                        <a:rPr sz="1400" b="0">
                          <a:solidFill>
                            <a:srgbClr val="1E293B"/>
                          </a:solidFill>
                          <a:latin typeface="Calibri"/>
                          <a:ea typeface="Calibri"/>
                          <a:cs typeface="Calibri"/>
                        </a:rPr>
                        <a:t>Information</a:t>
                      </a:r>
                    </a:p>
                    <a:p>
                      <a:r>
                        <a:rPr sz="1400" b="0">
                          <a:solidFill>
                            <a:srgbClr val="1E293B"/>
                          </a:solidFill>
                          <a:latin typeface="Calibri"/>
                          <a:ea typeface="Calibri"/>
                          <a:cs typeface="Calibri"/>
                        </a:rPr>
                        <a:t>leakage</a:t>
                      </a:r>
                    </a:p>
                  </a:txBody>
                  <a:tcPr marL="114300" marR="114300" marT="28575" marB="28575">
                    <a:solidFill>
                      <a:srgbClr val="FFFFFF"/>
                    </a:solidFill>
                  </a:tcPr>
                </a:tc>
                <a:tc>
                  <a:txBody>
                    <a:bodyPr/>
                    <a:lstStyle/>
                    <a:p>
                      <a:r>
                        <a:rPr sz="1400" b="0">
                          <a:solidFill>
                            <a:srgbClr val="1E293B"/>
                          </a:solidFill>
                          <a:latin typeface="Calibri"/>
                          <a:ea typeface="Calibri"/>
                          <a:cs typeface="Calibri"/>
                        </a:rPr>
                        <a:t>Training and test information overlap.</a:t>
                      </a:r>
                    </a:p>
                  </a:txBody>
                  <a:tcPr marL="114300" marR="114300" marT="28575" marB="28575">
                    <a:solidFill>
                      <a:srgbClr val="FFFFFF"/>
                    </a:solidFill>
                  </a:tcPr>
                </a:tc>
                <a:tc>
                  <a:txBody>
                    <a:bodyPr/>
                    <a:lstStyle/>
                    <a:p>
                      <a:r>
                        <a:rPr sz="1400" b="0">
                          <a:solidFill>
                            <a:srgbClr val="1E293B"/>
                          </a:solidFill>
                          <a:latin typeface="Calibri"/>
                          <a:ea typeface="Calibri"/>
                          <a:cs typeface="Calibri"/>
                        </a:rPr>
                        <a:t>Rebuild and evaluate with independent data.</a:t>
                      </a:r>
                    </a:p>
                  </a:txBody>
                  <a:tcPr marL="114300" marR="114300" marT="28575" marB="2857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A63C2C9-B8C2-475E-A9AF-CE973FFAE0EE}"/>
              </a:ext>
            </a:extLst>
          </p:cNvPr>
          <p:cNvSpPr>
            <a:spLocks xmlns:a="http://schemas.openxmlformats.org/drawingml/2006/main" noGrp="1"/>
          </p:cNvSpPr>
          <p:nvPr/>
        </p:nvSpPr>
        <p:spPr>
          <a:xfrm xmlns:a="http://schemas.openxmlformats.org/drawingml/2006/main">
            <a:off x="457200" y="47148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The same symptoms can have different causes.</a:t>
            </a:r>
          </a:p>
        </p:txBody>
      </p:sp>
    </p:spTree>
    <p:extLst>
      <p:ext uri="{BB962C8B-B14F-4D97-AF65-F5344CB8AC3E}">
        <p14:creationId xmlns:p14="http://schemas.microsoft.com/office/powerpoint/2010/main" val="18436134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83B41D-B2B3-4914-88FB-50A843B6EBD0}"/>
              </a:ext>
            </a:extLst>
          </p:cNvPr>
          <p:cNvSpPr>
            <a:spLocks xmlns:a="http://schemas.openxmlformats.org/drawingml/2006/main" noGrp="1"/>
          </p:cNvSpPr>
          <p:nvPr/>
        </p:nvSpPr>
        <p:spPr>
          <a:xfrm xmlns:a="http://schemas.openxmlformats.org/drawingml/2006/main">
            <a:off x="457200" y="333375"/>
            <a:ext cx="8229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00" b="1">
                <a:solidFill>
                  <a:srgbClr val="028090"/>
                </a:solidFill>
                <a:latin typeface="Calibri"/>
                <a:ea typeface="Calibri"/>
                <a:cs typeface="Calibri"/>
              </a:defRPr>
            </a:defPPr>
          </a:lstStyle>
          <a:p xmlns:a="http://schemas.openxmlformats.org/drawingml/2006/main">
            <a:pPr>
              <a:defRPr sz="1100" b="1">
                <a:solidFill>
                  <a:srgbClr val="028090"/>
                </a:solidFill>
                <a:latin typeface="Calibri"/>
                <a:ea typeface="Calibri"/>
                <a:cs typeface="Calibri"/>
              </a:defRPr>
            </a:pPr>
            <a:r>
              <a:rPr sz="1100" b="1">
                <a:solidFill>
                  <a:srgbClr val="028090"/>
                </a:solidFill>
                <a:latin typeface="Calibri"/>
                <a:ea typeface="Calibri"/>
                <a:cs typeface="Calibri"/>
              </a:rPr>
              <a:t>FAILURE MODES</a:t>
            </a:r>
          </a:p>
        </p:txBody>
      </p:sp>
      <p:sp>
        <p:nvSpPr>
          <p:cNvPr id="2" name="">
            <a:extLst xmlns:a="http://schemas.openxmlformats.org/drawingml/2006/main">
              <a:ext uri="{FF2B5EF4-FFF2-40B4-BE49-F238E27FC236}">
                <a16:creationId xmlns:a16="http://schemas.microsoft.com/office/drawing/2014/main" id="{FFBB51B9-F653-4E57-ACA8-169CDB5116C1}"/>
              </a:ext>
            </a:extLst>
          </p:cNvPr>
          <p:cNvSpPr>
            <a:spLocks xmlns:a="http://schemas.openxmlformats.org/drawingml/2006/main" noGrp="1"/>
          </p:cNvSpPr>
          <p:nvPr/>
        </p:nvSpPr>
        <p:spPr>
          <a:xfrm xmlns:a="http://schemas.openxmlformats.org/drawingml/2006/main">
            <a:off x="457200" y="742950"/>
            <a:ext cx="822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00" b="1">
                <a:solidFill>
                  <a:srgbClr val="1E293B"/>
                </a:solidFill>
                <a:latin typeface="Cambria"/>
                <a:ea typeface="Cambria"/>
                <a:cs typeface="Cambria"/>
              </a:defRPr>
            </a:defPPr>
          </a:lstStyle>
          <a:p xmlns:a="http://schemas.openxmlformats.org/drawingml/2006/main">
            <a:pPr>
              <a:defRPr sz="2600" b="1">
                <a:solidFill>
                  <a:srgbClr val="1E293B"/>
                </a:solidFill>
                <a:latin typeface="Cambria"/>
                <a:ea typeface="Cambria"/>
                <a:cs typeface="Cambria"/>
              </a:defRPr>
            </a:pPr>
            <a:r>
              <a:rPr sz="2600" b="1">
                <a:solidFill>
                  <a:srgbClr val="1E293B"/>
                </a:solidFill>
                <a:latin typeface="Cambria"/>
                <a:ea typeface="Cambria"/>
                <a:cs typeface="Cambria"/>
              </a:rPr>
              <a:t>Five short cases</a:t>
            </a:r>
          </a:p>
        </p:txBody>
      </p:sp>
      <p:sp>
        <p:nvSpPr>
          <p:cNvPr id="3" name="">
            <a:extLst xmlns:a="http://schemas.openxmlformats.org/drawingml/2006/main">
              <a:ext uri="{FF2B5EF4-FFF2-40B4-BE49-F238E27FC236}">
                <a16:creationId xmlns:a16="http://schemas.microsoft.com/office/drawing/2014/main" id="{18003378-8FD7-444D-941D-514BCE4B45FA}"/>
              </a:ext>
            </a:extLst>
          </p:cNvPr>
          <p:cNvSpPr>
            <a:spLocks xmlns:a="http://schemas.openxmlformats.org/drawingml/2006/main" noGrp="1"/>
          </p:cNvSpPr>
          <p:nvPr/>
        </p:nvSpPr>
        <p:spPr>
          <a:xfrm xmlns:a="http://schemas.openxmlformats.org/drawingml/2006/main">
            <a:off x="8620125" y="4848225"/>
            <a:ext cx="238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4748B"/>
                </a:solidFill>
                <a:latin typeface="Calibri"/>
                <a:ea typeface="Calibri"/>
                <a:cs typeface="Calibri"/>
              </a:defRPr>
            </a:defPPr>
          </a:lstStyle>
          <a:p xmlns:a="http://schemas.openxmlformats.org/drawingml/2006/main">
            <a:pPr>
              <a:defRPr sz="900" b="0">
                <a:solidFill>
                  <a:srgbClr val="64748B"/>
                </a:solidFill>
                <a:latin typeface="Calibri"/>
                <a:ea typeface="Calibri"/>
                <a:cs typeface="Calibri"/>
              </a:defRPr>
            </a:pPr>
            <a:r>
              <a:rPr sz="900" b="0">
                <a:solidFill>
                  <a:srgbClr val="64748B"/>
                </a:solidFill>
                <a:latin typeface="Calibri"/>
                <a:ea typeface="Calibri"/>
                <a:cs typeface="Calibri"/>
              </a:rPr>
              <a:t>11</a:t>
            </a:r>
          </a:p>
        </p:txBody>
      </p:sp>
      <p:sp>
        <p:nvSpPr>
          <p:cNvPr id="4" name="">
            <a:extLst xmlns:a="http://schemas.openxmlformats.org/drawingml/2006/main">
              <a:ext uri="{FF2B5EF4-FFF2-40B4-BE49-F238E27FC236}">
                <a16:creationId xmlns:a16="http://schemas.microsoft.com/office/drawing/2014/main" id="{F7F2012C-FC60-4219-BCB0-0793957444AF}"/>
              </a:ext>
            </a:extLst>
          </p:cNvPr>
          <p:cNvSpPr>
            <a:spLocks xmlns:a="http://schemas.openxmlformats.org/drawingml/2006/main" noGrp="1"/>
          </p:cNvSpPr>
          <p:nvPr/>
        </p:nvSpPr>
        <p:spPr>
          <a:xfrm xmlns:a="http://schemas.openxmlformats.org/drawingml/2006/main">
            <a:off x="457200" y="14287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1. A straight calibration line misses a consistent bend, even for its training standards.</a:t>
            </a:r>
          </a:p>
        </p:txBody>
      </p:sp>
      <p:sp>
        <p:nvSpPr>
          <p:cNvPr id="5" name="">
            <a:extLst xmlns:a="http://schemas.openxmlformats.org/drawingml/2006/main">
              <a:ext uri="{FF2B5EF4-FFF2-40B4-BE49-F238E27FC236}">
                <a16:creationId xmlns:a16="http://schemas.microsoft.com/office/drawing/2014/main" id="{B8F6A5CC-552E-44AB-A88B-C4B07C6949AF}"/>
              </a:ext>
            </a:extLst>
          </p:cNvPr>
          <p:cNvSpPr>
            <a:spLocks xmlns:a="http://schemas.openxmlformats.org/drawingml/2006/main" noGrp="1"/>
          </p:cNvSpPr>
          <p:nvPr/>
        </p:nvSpPr>
        <p:spPr>
          <a:xfrm xmlns:a="http://schemas.openxmlformats.org/drawingml/2006/main">
            <a:off x="457200" y="20002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2. A flexible calibration curve fits every standard but predicts new standards less well.</a:t>
            </a:r>
          </a:p>
        </p:txBody>
      </p:sp>
      <p:sp>
        <p:nvSpPr>
          <p:cNvPr id="6" name="">
            <a:extLst xmlns:a="http://schemas.openxmlformats.org/drawingml/2006/main">
              <a:ext uri="{FF2B5EF4-FFF2-40B4-BE49-F238E27FC236}">
                <a16:creationId xmlns:a16="http://schemas.microsoft.com/office/drawing/2014/main" id="{4114242D-F490-4BA0-8093-A4A6A3CC0E8C}"/>
              </a:ext>
            </a:extLst>
          </p:cNvPr>
          <p:cNvSpPr>
            <a:spLocks xmlns:a="http://schemas.openxmlformats.org/drawingml/2006/main" noGrp="1"/>
          </p:cNvSpPr>
          <p:nvPr/>
        </p:nvSpPr>
        <p:spPr>
          <a:xfrm xmlns:a="http://schemas.openxmlformats.org/drawingml/2006/main">
            <a:off x="457200" y="25717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3. Overall accuracy looks good, but samples from one water matrix perform much worse.</a:t>
            </a:r>
          </a:p>
        </p:txBody>
      </p:sp>
      <p:sp>
        <p:nvSpPr>
          <p:cNvPr id="7" name="">
            <a:extLst xmlns:a="http://schemas.openxmlformats.org/drawingml/2006/main">
              <a:ext uri="{FF2B5EF4-FFF2-40B4-BE49-F238E27FC236}">
                <a16:creationId xmlns:a16="http://schemas.microsoft.com/office/drawing/2014/main" id="{BECAE980-2A3E-462F-A4D0-4B5392C86417}"/>
              </a:ext>
            </a:extLst>
          </p:cNvPr>
          <p:cNvSpPr>
            <a:spLocks xmlns:a="http://schemas.openxmlformats.org/drawingml/2006/main" noGrp="1"/>
          </p:cNvSpPr>
          <p:nvPr/>
        </p:nvSpPr>
        <p:spPr>
          <a:xfrm xmlns:a="http://schemas.openxmlformats.org/drawingml/2006/main">
            <a:off x="457200" y="31432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4. A calibration model predicts samples at concentrations beyond the range studied.</a:t>
            </a:r>
          </a:p>
        </p:txBody>
      </p:sp>
      <p:sp>
        <p:nvSpPr>
          <p:cNvPr id="8" name="">
            <a:extLst xmlns:a="http://schemas.openxmlformats.org/drawingml/2006/main">
              <a:ext uri="{FF2B5EF4-FFF2-40B4-BE49-F238E27FC236}">
                <a16:creationId xmlns:a16="http://schemas.microsoft.com/office/drawing/2014/main" id="{8F6EC7EB-B5DC-4810-B048-A91CB1281196}"/>
              </a:ext>
            </a:extLst>
          </p:cNvPr>
          <p:cNvSpPr>
            <a:spLocks xmlns:a="http://schemas.openxmlformats.org/drawingml/2006/main" noGrp="1"/>
          </p:cNvSpPr>
          <p:nvPr/>
        </p:nvSpPr>
        <p:spPr>
          <a:xfrm xmlns:a="http://schemas.openxmlformats.org/drawingml/2006/main">
            <a:off x="457200" y="3714750"/>
            <a:ext cx="822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02" b="0">
                <a:solidFill>
                  <a:srgbClr val="1E293B"/>
                </a:solidFill>
                <a:latin typeface="Calibri"/>
                <a:ea typeface="Calibri"/>
                <a:cs typeface="Calibri"/>
              </a:defRPr>
            </a:defPPr>
          </a:lstStyle>
          <a:p xmlns:a="http://schemas.openxmlformats.org/drawingml/2006/main">
            <a:pPr>
              <a:defRPr sz="1702" b="0">
                <a:solidFill>
                  <a:srgbClr val="1E293B"/>
                </a:solidFill>
                <a:latin typeface="Calibri"/>
                <a:ea typeface="Calibri"/>
                <a:cs typeface="Calibri"/>
              </a:defRPr>
            </a:pPr>
            <a:r>
              <a:rPr sz="1702" b="0">
                <a:solidFill>
                  <a:srgbClr val="1E293B"/>
                </a:solidFill>
                <a:latin typeface="Calibri"/>
                <a:ea typeface="Calibri"/>
                <a:cs typeface="Calibri"/>
              </a:rPr>
              <a:t>5. A model trains on phenol. Its reported independent test reuses the same phenol record.</a:t>
            </a:r>
          </a:p>
        </p:txBody>
      </p:sp>
      <p:sp>
        <p:nvSpPr>
          <p:cNvPr id="9" name="">
            <a:extLst xmlns:a="http://schemas.openxmlformats.org/drawingml/2006/main">
              <a:ext uri="{FF2B5EF4-FFF2-40B4-BE49-F238E27FC236}">
                <a16:creationId xmlns:a16="http://schemas.microsoft.com/office/drawing/2014/main" id="{68CC3CED-1724-4A8F-8E28-AB6F4CC22EE2}"/>
              </a:ext>
            </a:extLst>
          </p:cNvPr>
          <p:cNvSpPr>
            <a:spLocks xmlns:a="http://schemas.openxmlformats.org/drawingml/2006/main" noGrp="1"/>
          </p:cNvSpPr>
          <p:nvPr/>
        </p:nvSpPr>
        <p:spPr>
          <a:xfrm xmlns:a="http://schemas.openxmlformats.org/drawingml/2006/main">
            <a:off x="457200" y="4410075"/>
            <a:ext cx="822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a:solidFill>
                  <a:srgbClr val="028090"/>
                </a:solidFill>
                <a:latin typeface="Calibri"/>
                <a:ea typeface="Calibri"/>
                <a:cs typeface="Calibri"/>
              </a:defRPr>
            </a:defPPr>
          </a:lstStyle>
          <a:p xmlns:a="http://schemas.openxmlformats.org/drawingml/2006/main">
            <a:pPr>
              <a:defRPr sz="1400" b="0">
                <a:solidFill>
                  <a:srgbClr val="028090"/>
                </a:solidFill>
                <a:latin typeface="Calibri"/>
                <a:ea typeface="Calibri"/>
                <a:cs typeface="Calibri"/>
              </a:defRPr>
            </a:pPr>
            <a:r>
              <a:rPr sz="1400" b="0">
                <a:solidFill>
                  <a:srgbClr val="028090"/>
                </a:solidFill>
                <a:latin typeface="Calibri"/>
                <a:ea typeface="Calibri"/>
                <a:cs typeface="Calibri"/>
              </a:rPr>
              <a:t>Which failure would you investigate first, and what would you check next?</a:t>
            </a:r>
          </a:p>
        </p:txBody>
      </p:sp>
    </p:spTree>
    <p:extLst>
      <p:ext uri="{BB962C8B-B14F-4D97-AF65-F5344CB8AC3E}">
        <p14:creationId xmlns:p14="http://schemas.microsoft.com/office/powerpoint/2010/main" val="17305701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2026-10-18T09:28:33.4350000Z</dcterms:created>
  <dcterms:modified xsi:type="dcterms:W3CDTF">2026-10-18T09:28:33.4350000Z</dcterms:modified>
</coreProperties>
</file>