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544" r:id="rId2"/>
    <p:sldId id="257" r:id="rId3"/>
    <p:sldId id="545" r:id="rId4"/>
    <p:sldId id="273" r:id="rId5"/>
    <p:sldId id="277" r:id="rId6"/>
    <p:sldId id="562" r:id="rId7"/>
    <p:sldId id="275" r:id="rId8"/>
    <p:sldId id="276" r:id="rId9"/>
    <p:sldId id="278" r:id="rId10"/>
    <p:sldId id="261" r:id="rId11"/>
    <p:sldId id="262" r:id="rId12"/>
    <p:sldId id="263" r:id="rId13"/>
    <p:sldId id="264" r:id="rId14"/>
    <p:sldId id="265" r:id="rId15"/>
    <p:sldId id="266" r:id="rId16"/>
    <p:sldId id="563" r:id="rId17"/>
    <p:sldId id="270" r:id="rId18"/>
    <p:sldId id="564" r:id="rId19"/>
    <p:sldId id="272" r:id="rId20"/>
  </p:sldIdLst>
  <p:sldSz cx="12192000" cy="6858000"/>
  <p:notesSz cx="6797675" cy="987425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D84EC8-78AF-4B7A-9551-65D3E3EAE741}" v="3" dt="2026-10-22T08:03:05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3" autoAdjust="0"/>
    <p:restoredTop sz="72748" autoAdjust="0"/>
  </p:normalViewPr>
  <p:slideViewPr>
    <p:cSldViewPr snapToGrid="0">
      <p:cViewPr varScale="1">
        <p:scale>
          <a:sx n="69" d="100"/>
          <a:sy n="69" d="100"/>
        </p:scale>
        <p:origin x="11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bin Bouwmeester" userId="1dbfebabfc25a55a" providerId="LiveId" clId="{75D63595-F797-482E-A4A0-2F4889B74D4F}"/>
    <pc:docChg chg="undo custSel addSld delSld modSld sldOrd">
      <pc:chgData name="Robbin Bouwmeester" userId="1dbfebabfc25a55a" providerId="LiveId" clId="{75D63595-F797-482E-A4A0-2F4889B74D4F}" dt="2026-10-22T08:05:01.842" v="864" actId="20577"/>
      <pc:docMkLst>
        <pc:docMk/>
      </pc:docMkLst>
      <pc:sldChg chg="modSp mod">
        <pc:chgData name="Robbin Bouwmeester" userId="1dbfebabfc25a55a" providerId="LiveId" clId="{75D63595-F797-482E-A4A0-2F4889B74D4F}" dt="2026-10-22T07:26:06.514" v="199" actId="20577"/>
        <pc:sldMkLst>
          <pc:docMk/>
          <pc:sldMk cId="4071848948" sldId="257"/>
        </pc:sldMkLst>
        <pc:spChg chg="mod">
          <ac:chgData name="Robbin Bouwmeester" userId="1dbfebabfc25a55a" providerId="LiveId" clId="{75D63595-F797-482E-A4A0-2F4889B74D4F}" dt="2026-10-22T07:26:06.514" v="199" actId="20577"/>
          <ac:spMkLst>
            <pc:docMk/>
            <pc:sldMk cId="4071848948" sldId="257"/>
            <ac:spMk id="5" creationId="{0E2CB1A6-46E1-FE3F-5EB3-4EDF592FBD9E}"/>
          </ac:spMkLst>
        </pc:spChg>
      </pc:sldChg>
      <pc:sldChg chg="modSp">
        <pc:chgData name="Robbin Bouwmeester" userId="1dbfebabfc25a55a" providerId="LiveId" clId="{75D63595-F797-482E-A4A0-2F4889B74D4F}" dt="2026-10-22T08:01:25.516" v="597"/>
        <pc:sldMkLst>
          <pc:docMk/>
          <pc:sldMk cId="2553046411" sldId="261"/>
        </pc:sldMkLst>
        <pc:spChg chg="mod">
          <ac:chgData name="Robbin Bouwmeester" userId="1dbfebabfc25a55a" providerId="LiveId" clId="{75D63595-F797-482E-A4A0-2F4889B74D4F}" dt="2026-10-22T08:01:25.516" v="597"/>
          <ac:spMkLst>
            <pc:docMk/>
            <pc:sldMk cId="2553046411" sldId="261"/>
            <ac:spMk id="4" creationId="{C5F47A19-F1CE-AE6F-E5F3-864B4EB25650}"/>
          </ac:spMkLst>
        </pc:spChg>
      </pc:sldChg>
      <pc:sldChg chg="modSp mod">
        <pc:chgData name="Robbin Bouwmeester" userId="1dbfebabfc25a55a" providerId="LiveId" clId="{75D63595-F797-482E-A4A0-2F4889B74D4F}" dt="2026-10-22T08:02:02.185" v="687" actId="255"/>
        <pc:sldMkLst>
          <pc:docMk/>
          <pc:sldMk cId="3125656099" sldId="262"/>
        </pc:sldMkLst>
        <pc:spChg chg="mod">
          <ac:chgData name="Robbin Bouwmeester" userId="1dbfebabfc25a55a" providerId="LiveId" clId="{75D63595-F797-482E-A4A0-2F4889B74D4F}" dt="2026-10-22T08:02:02.185" v="687" actId="255"/>
          <ac:spMkLst>
            <pc:docMk/>
            <pc:sldMk cId="3125656099" sldId="262"/>
            <ac:spMk id="3" creationId="{5FF1FDA0-20F2-FF74-FD4B-21B1B82F32A5}"/>
          </ac:spMkLst>
        </pc:spChg>
      </pc:sldChg>
      <pc:sldChg chg="modSp mod">
        <pc:chgData name="Robbin Bouwmeester" userId="1dbfebabfc25a55a" providerId="LiveId" clId="{75D63595-F797-482E-A4A0-2F4889B74D4F}" dt="2026-10-22T08:02:56.435" v="789" actId="113"/>
        <pc:sldMkLst>
          <pc:docMk/>
          <pc:sldMk cId="2039997518" sldId="263"/>
        </pc:sldMkLst>
        <pc:spChg chg="mod">
          <ac:chgData name="Robbin Bouwmeester" userId="1dbfebabfc25a55a" providerId="LiveId" clId="{75D63595-F797-482E-A4A0-2F4889B74D4F}" dt="2026-10-22T08:02:56.435" v="789" actId="113"/>
          <ac:spMkLst>
            <pc:docMk/>
            <pc:sldMk cId="2039997518" sldId="263"/>
            <ac:spMk id="3" creationId="{601EFCC3-E053-4D11-0B65-292DD2846A6C}"/>
          </ac:spMkLst>
        </pc:spChg>
      </pc:sldChg>
      <pc:sldChg chg="modSp mod">
        <pc:chgData name="Robbin Bouwmeester" userId="1dbfebabfc25a55a" providerId="LiveId" clId="{75D63595-F797-482E-A4A0-2F4889B74D4F}" dt="2026-10-22T08:04:02.674" v="849" actId="255"/>
        <pc:sldMkLst>
          <pc:docMk/>
          <pc:sldMk cId="1423335593" sldId="264"/>
        </pc:sldMkLst>
        <pc:spChg chg="mod">
          <ac:chgData name="Robbin Bouwmeester" userId="1dbfebabfc25a55a" providerId="LiveId" clId="{75D63595-F797-482E-A4A0-2F4889B74D4F}" dt="2026-10-22T08:04:02.674" v="849" actId="255"/>
          <ac:spMkLst>
            <pc:docMk/>
            <pc:sldMk cId="1423335593" sldId="264"/>
            <ac:spMk id="3" creationId="{6ED126C6-BF52-3888-05E1-434D84BD3C9A}"/>
          </ac:spMkLst>
        </pc:spChg>
      </pc:sldChg>
      <pc:sldChg chg="modSp mod">
        <pc:chgData name="Robbin Bouwmeester" userId="1dbfebabfc25a55a" providerId="LiveId" clId="{75D63595-F797-482E-A4A0-2F4889B74D4F}" dt="2026-10-22T08:04:37.395" v="854" actId="113"/>
        <pc:sldMkLst>
          <pc:docMk/>
          <pc:sldMk cId="3549390794" sldId="265"/>
        </pc:sldMkLst>
        <pc:spChg chg="mod">
          <ac:chgData name="Robbin Bouwmeester" userId="1dbfebabfc25a55a" providerId="LiveId" clId="{75D63595-F797-482E-A4A0-2F4889B74D4F}" dt="2026-10-22T08:04:37.395" v="854" actId="113"/>
          <ac:spMkLst>
            <pc:docMk/>
            <pc:sldMk cId="3549390794" sldId="265"/>
            <ac:spMk id="4" creationId="{7AD5F254-81F9-CD11-65A8-2A12C0406247}"/>
          </ac:spMkLst>
        </pc:spChg>
      </pc:sldChg>
      <pc:sldChg chg="modSp mod">
        <pc:chgData name="Robbin Bouwmeester" userId="1dbfebabfc25a55a" providerId="LiveId" clId="{75D63595-F797-482E-A4A0-2F4889B74D4F}" dt="2026-10-22T08:03:40.776" v="844" actId="255"/>
        <pc:sldMkLst>
          <pc:docMk/>
          <pc:sldMk cId="4121994623" sldId="266"/>
        </pc:sldMkLst>
        <pc:spChg chg="mod">
          <ac:chgData name="Robbin Bouwmeester" userId="1dbfebabfc25a55a" providerId="LiveId" clId="{75D63595-F797-482E-A4A0-2F4889B74D4F}" dt="2026-10-22T08:03:40.776" v="844" actId="255"/>
          <ac:spMkLst>
            <pc:docMk/>
            <pc:sldMk cId="4121994623" sldId="266"/>
            <ac:spMk id="3" creationId="{3EE2CA07-2C35-F83A-E2DD-2AD4C7A96593}"/>
          </ac:spMkLst>
        </pc:spChg>
      </pc:sldChg>
      <pc:sldChg chg="modSp mod">
        <pc:chgData name="Robbin Bouwmeester" userId="1dbfebabfc25a55a" providerId="LiveId" clId="{75D63595-F797-482E-A4A0-2F4889B74D4F}" dt="2026-10-22T08:04:50.684" v="859" actId="2711"/>
        <pc:sldMkLst>
          <pc:docMk/>
          <pc:sldMk cId="3449462475" sldId="270"/>
        </pc:sldMkLst>
        <pc:spChg chg="mod">
          <ac:chgData name="Robbin Bouwmeester" userId="1dbfebabfc25a55a" providerId="LiveId" clId="{75D63595-F797-482E-A4A0-2F4889B74D4F}" dt="2026-10-22T08:04:50.684" v="859" actId="2711"/>
          <ac:spMkLst>
            <pc:docMk/>
            <pc:sldMk cId="3449462475" sldId="270"/>
            <ac:spMk id="3" creationId="{3B19C350-F358-21B9-E1FA-A4ABA8DA6F2B}"/>
          </ac:spMkLst>
        </pc:spChg>
      </pc:sldChg>
      <pc:sldChg chg="modSp mod">
        <pc:chgData name="Robbin Bouwmeester" userId="1dbfebabfc25a55a" providerId="LiveId" clId="{75D63595-F797-482E-A4A0-2F4889B74D4F}" dt="2026-10-22T08:05:01.842" v="864" actId="20577"/>
        <pc:sldMkLst>
          <pc:docMk/>
          <pc:sldMk cId="1548010638" sldId="272"/>
        </pc:sldMkLst>
        <pc:spChg chg="mod">
          <ac:chgData name="Robbin Bouwmeester" userId="1dbfebabfc25a55a" providerId="LiveId" clId="{75D63595-F797-482E-A4A0-2F4889B74D4F}" dt="2026-10-22T08:05:01.842" v="864" actId="20577"/>
          <ac:spMkLst>
            <pc:docMk/>
            <pc:sldMk cId="1548010638" sldId="272"/>
            <ac:spMk id="3" creationId="{4B87DC9D-53B6-0167-04FA-661E59C2D835}"/>
          </ac:spMkLst>
        </pc:spChg>
      </pc:sldChg>
      <pc:sldChg chg="modSp mod">
        <pc:chgData name="Robbin Bouwmeester" userId="1dbfebabfc25a55a" providerId="LiveId" clId="{75D63595-F797-482E-A4A0-2F4889B74D4F}" dt="2026-10-22T07:27:50.447" v="371" actId="255"/>
        <pc:sldMkLst>
          <pc:docMk/>
          <pc:sldMk cId="1442676706" sldId="273"/>
        </pc:sldMkLst>
        <pc:spChg chg="mod">
          <ac:chgData name="Robbin Bouwmeester" userId="1dbfebabfc25a55a" providerId="LiveId" clId="{75D63595-F797-482E-A4A0-2F4889B74D4F}" dt="2026-10-22T07:27:50.447" v="371" actId="255"/>
          <ac:spMkLst>
            <pc:docMk/>
            <pc:sldMk cId="1442676706" sldId="273"/>
            <ac:spMk id="4" creationId="{61CBF3B4-3D25-A8D2-9AFA-2BAA3D38C33F}"/>
          </ac:spMkLst>
        </pc:spChg>
      </pc:sldChg>
      <pc:sldChg chg="modSp mod">
        <pc:chgData name="Robbin Bouwmeester" userId="1dbfebabfc25a55a" providerId="LiveId" clId="{75D63595-F797-482E-A4A0-2F4889B74D4F}" dt="2026-10-22T07:59:57.193" v="434" actId="255"/>
        <pc:sldMkLst>
          <pc:docMk/>
          <pc:sldMk cId="416481786" sldId="275"/>
        </pc:sldMkLst>
        <pc:spChg chg="mod">
          <ac:chgData name="Robbin Bouwmeester" userId="1dbfebabfc25a55a" providerId="LiveId" clId="{75D63595-F797-482E-A4A0-2F4889B74D4F}" dt="2026-10-22T07:59:57.193" v="434" actId="255"/>
          <ac:spMkLst>
            <pc:docMk/>
            <pc:sldMk cId="416481786" sldId="275"/>
            <ac:spMk id="4" creationId="{61CBF3B4-3D25-A8D2-9AFA-2BAA3D38C33F}"/>
          </ac:spMkLst>
        </pc:spChg>
      </pc:sldChg>
      <pc:sldChg chg="modSp mod">
        <pc:chgData name="Robbin Bouwmeester" userId="1dbfebabfc25a55a" providerId="LiveId" clId="{75D63595-F797-482E-A4A0-2F4889B74D4F}" dt="2026-10-22T08:00:36.323" v="501" actId="255"/>
        <pc:sldMkLst>
          <pc:docMk/>
          <pc:sldMk cId="559918975" sldId="276"/>
        </pc:sldMkLst>
        <pc:spChg chg="mod">
          <ac:chgData name="Robbin Bouwmeester" userId="1dbfebabfc25a55a" providerId="LiveId" clId="{75D63595-F797-482E-A4A0-2F4889B74D4F}" dt="2026-10-22T08:00:36.323" v="501" actId="255"/>
          <ac:spMkLst>
            <pc:docMk/>
            <pc:sldMk cId="559918975" sldId="276"/>
            <ac:spMk id="4" creationId="{5DAFD78D-D39C-76AC-2A82-A046D751AC06}"/>
          </ac:spMkLst>
        </pc:spChg>
      </pc:sldChg>
      <pc:sldChg chg="modSp mod">
        <pc:chgData name="Robbin Bouwmeester" userId="1dbfebabfc25a55a" providerId="LiveId" clId="{75D63595-F797-482E-A4A0-2F4889B74D4F}" dt="2026-10-22T07:37:28.724" v="380" actId="255"/>
        <pc:sldMkLst>
          <pc:docMk/>
          <pc:sldMk cId="4146636672" sldId="277"/>
        </pc:sldMkLst>
        <pc:spChg chg="mod">
          <ac:chgData name="Robbin Bouwmeester" userId="1dbfebabfc25a55a" providerId="LiveId" clId="{75D63595-F797-482E-A4A0-2F4889B74D4F}" dt="2026-10-22T07:37:28.724" v="380" actId="255"/>
          <ac:spMkLst>
            <pc:docMk/>
            <pc:sldMk cId="4146636672" sldId="277"/>
            <ac:spMk id="5" creationId="{0C69F2B5-76E4-E544-9063-3A41B6136987}"/>
          </ac:spMkLst>
        </pc:spChg>
      </pc:sldChg>
      <pc:sldChg chg="modSp mod">
        <pc:chgData name="Robbin Bouwmeester" userId="1dbfebabfc25a55a" providerId="LiveId" clId="{75D63595-F797-482E-A4A0-2F4889B74D4F}" dt="2026-10-22T08:01:18.286" v="596" actId="2711"/>
        <pc:sldMkLst>
          <pc:docMk/>
          <pc:sldMk cId="4034051223" sldId="278"/>
        </pc:sldMkLst>
        <pc:spChg chg="mod">
          <ac:chgData name="Robbin Bouwmeester" userId="1dbfebabfc25a55a" providerId="LiveId" clId="{75D63595-F797-482E-A4A0-2F4889B74D4F}" dt="2026-10-22T08:01:18.286" v="596" actId="2711"/>
          <ac:spMkLst>
            <pc:docMk/>
            <pc:sldMk cId="4034051223" sldId="278"/>
            <ac:spMk id="2" creationId="{76DBF4D3-3E4E-965E-1E3A-DA46F42CD933}"/>
          </ac:spMkLst>
        </pc:spChg>
      </pc:sldChg>
      <pc:sldChg chg="modSp mod">
        <pc:chgData name="Robbin Bouwmeester" userId="1dbfebabfc25a55a" providerId="LiveId" clId="{75D63595-F797-482E-A4A0-2F4889B74D4F}" dt="2026-10-22T07:25:22.005" v="184" actId="113"/>
        <pc:sldMkLst>
          <pc:docMk/>
          <pc:sldMk cId="3754802310" sldId="544"/>
        </pc:sldMkLst>
        <pc:spChg chg="mod">
          <ac:chgData name="Robbin Bouwmeester" userId="1dbfebabfc25a55a" providerId="LiveId" clId="{75D63595-F797-482E-A4A0-2F4889B74D4F}" dt="2026-10-22T07:25:22.005" v="184" actId="113"/>
          <ac:spMkLst>
            <pc:docMk/>
            <pc:sldMk cId="3754802310" sldId="544"/>
            <ac:spMk id="5" creationId="{F6487672-A4DC-A86C-D42B-E9A23FB90054}"/>
          </ac:spMkLst>
        </pc:spChg>
      </pc:sldChg>
      <pc:sldChg chg="modSp mod">
        <pc:chgData name="Robbin Bouwmeester" userId="1dbfebabfc25a55a" providerId="LiveId" clId="{75D63595-F797-482E-A4A0-2F4889B74D4F}" dt="2026-10-22T07:26:50.068" v="280" actId="20577"/>
        <pc:sldMkLst>
          <pc:docMk/>
          <pc:sldMk cId="3679395829" sldId="545"/>
        </pc:sldMkLst>
        <pc:spChg chg="mod">
          <ac:chgData name="Robbin Bouwmeester" userId="1dbfebabfc25a55a" providerId="LiveId" clId="{75D63595-F797-482E-A4A0-2F4889B74D4F}" dt="2026-10-22T07:26:50.068" v="280" actId="20577"/>
          <ac:spMkLst>
            <pc:docMk/>
            <pc:sldMk cId="3679395829" sldId="545"/>
            <ac:spMk id="4" creationId="{61CBF3B4-3D25-A8D2-9AFA-2BAA3D38C33F}"/>
          </ac:spMkLst>
        </pc:spChg>
      </pc:sldChg>
      <pc:sldChg chg="modSp mod">
        <pc:chgData name="Robbin Bouwmeester" userId="1dbfebabfc25a55a" providerId="LiveId" clId="{75D63595-F797-482E-A4A0-2F4889B74D4F}" dt="2026-10-22T07:37:41.636" v="383" actId="255"/>
        <pc:sldMkLst>
          <pc:docMk/>
          <pc:sldMk cId="3531563971" sldId="562"/>
        </pc:sldMkLst>
        <pc:spChg chg="mod">
          <ac:chgData name="Robbin Bouwmeester" userId="1dbfebabfc25a55a" providerId="LiveId" clId="{75D63595-F797-482E-A4A0-2F4889B74D4F}" dt="2026-10-22T07:37:41.636" v="383" actId="255"/>
          <ac:spMkLst>
            <pc:docMk/>
            <pc:sldMk cId="3531563971" sldId="562"/>
            <ac:spMk id="4" creationId="{E1417B48-0775-F429-4CD0-ED16DA297E7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0CED3-9D38-496E-A0C9-F8629E5A2A4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B183A-D8FB-4852-87C6-ADEF4AD7B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77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6A7747-0984-4E12-9222-F6AC1BF9321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C4827-840E-4EC5-B0B2-4EAAD0272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76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AD755-1991-F944-37FC-7DE90125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25A46-5B97-8F30-D6DC-81B17E20C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2F65C-FC5B-75F3-B281-8A2000A6B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0E7F8-C154-CD4A-5AC7-8692B1AAF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63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50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41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7C1C5-818D-FD3F-61D5-CB65735B7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5F7DE-3360-EE62-7B94-1305EC070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DB314-1269-A147-CF93-E301DAE80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1F4A5-375B-DCDA-1C26-9D0BE3B72E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6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32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9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17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99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42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11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17190-4A4C-6737-D129-2C5A9CB8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BD744-546A-8D39-0B0A-B966C7087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41E09-CC0B-1A80-12B2-9E05FAA23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2010F-3701-E000-0157-35AA007798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85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36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94508-DA6A-5D84-2DC5-19CBAAE1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2AA75-AC74-E8A8-4D0D-1EC19B85B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BA6DD-C5C7-EBCD-FEA1-377636C88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8D51B-DA21-3F44-C2E9-6F611AE726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85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33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38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28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32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36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86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26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436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00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68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A1531-9024-480F-9D7B-19915C1DCDF5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ogozhnikov.github.io/2016/06/24/gradient_boosting_explained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97EE-9EF7-91E2-E498-CE899707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487672-A4DC-A86C-D42B-E9A23FB90054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Ensemble methods can use overfitting and underfitting to their advantage</a:t>
            </a:r>
            <a:endParaRPr lang="en-GB" sz="28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B2A1EF-CA1C-F48F-829F-46839BB93947}"/>
              </a:ext>
            </a:extLst>
          </p:cNvPr>
          <p:cNvSpPr txBox="1"/>
          <p:nvPr/>
        </p:nvSpPr>
        <p:spPr>
          <a:xfrm>
            <a:off x="340912" y="1249165"/>
            <a:ext cx="110000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Decision trees serve as the foundation for </a:t>
            </a:r>
            <a:r>
              <a:rPr lang="en-GB" sz="2000" b="1" dirty="0"/>
              <a:t>ensemble methods </a:t>
            </a:r>
            <a:r>
              <a:rPr lang="en-GB" sz="2000" dirty="0"/>
              <a:t>like Random Forest and Gradient Boosting, which combine multiple trees to improve accuracy and robustness.</a:t>
            </a:r>
          </a:p>
          <a:p>
            <a:endParaRPr lang="en-GB" sz="2000" dirty="0"/>
          </a:p>
          <a:p>
            <a:r>
              <a:rPr lang="en-GB" sz="2000" dirty="0"/>
              <a:t>Ensemble learning reduces </a:t>
            </a:r>
            <a:r>
              <a:rPr lang="en-GB" sz="2000" b="1" dirty="0"/>
              <a:t>variance and bias</a:t>
            </a:r>
            <a:r>
              <a:rPr lang="en-GB" sz="2000" dirty="0"/>
              <a:t>, as bagging (e.g., Random Forest) decreases overfitting, while boosting (e.g., AdaBoost, </a:t>
            </a:r>
            <a:r>
              <a:rPr lang="en-GB" sz="2000" dirty="0" err="1"/>
              <a:t>XGBoost</a:t>
            </a:r>
            <a:r>
              <a:rPr lang="en-GB" sz="2000" dirty="0"/>
              <a:t>) enhances weak learners by correcting misclassified instances iteratively.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3754802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2CB1A6-46E1-FE3F-5EB3-4EDF592FBD9E}"/>
              </a:ext>
            </a:extLst>
          </p:cNvPr>
          <p:cNvSpPr txBox="1"/>
          <p:nvPr/>
        </p:nvSpPr>
        <p:spPr>
          <a:xfrm>
            <a:off x="241301" y="129804"/>
            <a:ext cx="11747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Decision tree models - recap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6F50F7-913E-E67D-09BF-3713A97EE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1" y="2156055"/>
            <a:ext cx="5894342" cy="417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tropy: How Decision Trees Make Decisions | by Sam T | Towards Data Science">
            <a:extLst>
              <a:ext uri="{FF2B5EF4-FFF2-40B4-BE49-F238E27FC236}">
                <a16:creationId xmlns:a16="http://schemas.microsoft.com/office/drawing/2014/main" id="{A72BE986-0CB7-19BC-8F2C-A96A4AC02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50" y="1084235"/>
            <a:ext cx="5108363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D51A179-2E1F-A646-2D29-E4A17F721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200" y="1178688"/>
            <a:ext cx="372427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Entropy: How Decision Trees Make Decisions | by Sam T | Towards Data Science">
            <a:extLst>
              <a:ext uri="{FF2B5EF4-FFF2-40B4-BE49-F238E27FC236}">
                <a16:creationId xmlns:a16="http://schemas.microsoft.com/office/drawing/2014/main" id="{C1545E87-DE42-8760-8B88-D6A16C5599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2746" r="38682" b="83617"/>
          <a:stretch/>
        </p:blipFill>
        <p:spPr bwMode="auto">
          <a:xfrm>
            <a:off x="9159172" y="5919125"/>
            <a:ext cx="19499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84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539427" y="1524098"/>
            <a:ext cx="532386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</a:rPr>
              <a:t>advantages:</a:t>
            </a: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</a:rPr>
              <a:t>ease of interpretation</a:t>
            </a:r>
          </a:p>
          <a:p>
            <a:r>
              <a:rPr lang="en-US" sz="2000" dirty="0">
                <a:latin typeface="Calibri" panose="020F0502020204030204" pitchFamily="34" charset="0"/>
              </a:rPr>
              <a:t>handles continuous and discrete features</a:t>
            </a:r>
          </a:p>
          <a:p>
            <a:r>
              <a:rPr lang="en-US" sz="2000" dirty="0">
                <a:latin typeface="Calibri" panose="020F0502020204030204" pitchFamily="34" charset="0"/>
              </a:rPr>
              <a:t>invariant to monotone transformation of features</a:t>
            </a:r>
          </a:p>
          <a:p>
            <a:r>
              <a:rPr lang="en-US" sz="2000" dirty="0">
                <a:latin typeface="Calibri" panose="020F0502020204030204" pitchFamily="34" charset="0"/>
              </a:rPr>
              <a:t>variable selection automated</a:t>
            </a:r>
          </a:p>
          <a:p>
            <a:r>
              <a:rPr lang="nl-BE" sz="2000" b="1" dirty="0">
                <a:latin typeface="Calibri" panose="020F0502020204030204" pitchFamily="34" charset="0"/>
              </a:rPr>
              <a:t>low bias </a:t>
            </a:r>
            <a:r>
              <a:rPr lang="nl-BE" sz="2000" dirty="0">
                <a:latin typeface="Calibri" panose="020F0502020204030204" pitchFamily="34" charset="0"/>
              </a:rPr>
              <a:t>(deep trees)</a:t>
            </a:r>
            <a:endParaRPr lang="en-US" sz="2000" dirty="0">
              <a:latin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</a:rPr>
              <a:t>disadvantages:</a:t>
            </a: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</a:rPr>
              <a:t>high variance</a:t>
            </a:r>
          </a:p>
          <a:p>
            <a:r>
              <a:rPr lang="en-US" sz="2000" dirty="0" err="1">
                <a:latin typeface="Calibri" panose="020F0502020204030204" pitchFamily="34" charset="0"/>
              </a:rPr>
              <a:t>overfitting</a:t>
            </a:r>
            <a:endParaRPr lang="en-US" sz="2000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BF3B4-3D25-A8D2-9AFA-2BAA3D38C33F}"/>
              </a:ext>
            </a:extLst>
          </p:cNvPr>
          <p:cNvSpPr txBox="1"/>
          <p:nvPr/>
        </p:nvSpPr>
        <p:spPr>
          <a:xfrm>
            <a:off x="241301" y="129804"/>
            <a:ext cx="11747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Single decision trees have several advantages and disadvantages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074" name="Picture 2" descr="1: Visualisation for a decision tree, trained on the Iris dataset... |  Download Scientific Diagram">
            <a:extLst>
              <a:ext uri="{FF2B5EF4-FFF2-40B4-BE49-F238E27FC236}">
                <a16:creationId xmlns:a16="http://schemas.microsoft.com/office/drawing/2014/main" id="{45C103CF-E0FE-A6E4-2F48-7FFFA452B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80" y="1239320"/>
            <a:ext cx="5807015" cy="426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395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CBF3B4-3D25-A8D2-9AFA-2BAA3D38C33F}"/>
              </a:ext>
            </a:extLst>
          </p:cNvPr>
          <p:cNvSpPr txBox="1"/>
          <p:nvPr/>
        </p:nvSpPr>
        <p:spPr>
          <a:xfrm>
            <a:off x="241301" y="129804"/>
            <a:ext cx="11747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Model hyperparameter optimization on unseen data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F3EEDA8-5557-622F-CC77-B509FCFB5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408" y="1000539"/>
            <a:ext cx="6864474" cy="516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676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757" y="1435219"/>
            <a:ext cx="4266521" cy="40436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69F2B5-76E4-E544-9063-3A41B6136987}"/>
              </a:ext>
            </a:extLst>
          </p:cNvPr>
          <p:cNvSpPr txBox="1"/>
          <p:nvPr/>
        </p:nvSpPr>
        <p:spPr>
          <a:xfrm>
            <a:off x="241301" y="129804"/>
            <a:ext cx="11747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Regularized regression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6927CD-4603-4AEA-6417-655A51BEB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20501"/>
            <a:ext cx="6864350" cy="441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36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39212-834D-E113-E31B-426385CFB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417B48-0775-F429-4CD0-ED16DA297E73}"/>
              </a:ext>
            </a:extLst>
          </p:cNvPr>
          <p:cNvSpPr txBox="1"/>
          <p:nvPr/>
        </p:nvSpPr>
        <p:spPr>
          <a:xfrm>
            <a:off x="241301" y="129804"/>
            <a:ext cx="11747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Validation hold-out set</a:t>
            </a: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E835276C-B480-20F7-1B45-9955A9F2B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562"/>
          <a:stretch>
            <a:fillRect/>
          </a:stretch>
        </p:blipFill>
        <p:spPr>
          <a:xfrm>
            <a:off x="1809065" y="922952"/>
            <a:ext cx="7633396" cy="12392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FD6532-F626-F555-6003-0D243397DC53}"/>
              </a:ext>
            </a:extLst>
          </p:cNvPr>
          <p:cNvSpPr/>
          <p:nvPr/>
        </p:nvSpPr>
        <p:spPr>
          <a:xfrm>
            <a:off x="6276975" y="1533525"/>
            <a:ext cx="895350" cy="4095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E7AF2-6C7E-CF01-12F1-7F840A758478}"/>
              </a:ext>
            </a:extLst>
          </p:cNvPr>
          <p:cNvSpPr txBox="1"/>
          <p:nvPr/>
        </p:nvSpPr>
        <p:spPr>
          <a:xfrm>
            <a:off x="5625763" y="2264807"/>
            <a:ext cx="220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Validation data</a:t>
            </a:r>
            <a:endParaRPr lang="en-N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A99BA1-86C3-FADD-41C0-29C02CDD9027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6724650" y="1943100"/>
            <a:ext cx="1251" cy="321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563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CBF3B4-3D25-A8D2-9AFA-2BAA3D38C33F}"/>
              </a:ext>
            </a:extLst>
          </p:cNvPr>
          <p:cNvSpPr txBox="1"/>
          <p:nvPr/>
        </p:nvSpPr>
        <p:spPr>
          <a:xfrm>
            <a:off x="241301" y="129804"/>
            <a:ext cx="11747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i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5</a:t>
            </a:r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-fold cross-validation; mostly when not sufficient data is available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55C45B61-9BFC-2413-6085-8E13F8762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065" y="922952"/>
            <a:ext cx="7633396" cy="528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1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A269-5081-527F-ECB3-A9F0CDF7E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AFD78D-D39C-76AC-2A82-A046D751AC06}"/>
              </a:ext>
            </a:extLst>
          </p:cNvPr>
          <p:cNvSpPr txBox="1"/>
          <p:nvPr/>
        </p:nvSpPr>
        <p:spPr>
          <a:xfrm>
            <a:off x="241301" y="129804"/>
            <a:ext cx="11747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Where do we want to sit in terms of underfitting and overfitting</a:t>
            </a:r>
          </a:p>
        </p:txBody>
      </p:sp>
      <p:pic>
        <p:nvPicPr>
          <p:cNvPr id="3074" name="Picture 2" descr="Cross-validation-assessing network's generalization ability. | Download  Scientific Diagram">
            <a:extLst>
              <a:ext uri="{FF2B5EF4-FFF2-40B4-BE49-F238E27FC236}">
                <a16:creationId xmlns:a16="http://schemas.microsoft.com/office/drawing/2014/main" id="{7325D19C-404C-8C6A-0962-E35CE9BBB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295400"/>
            <a:ext cx="809625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68C9273-778F-A4A4-1318-ABF7351E06DE}"/>
              </a:ext>
            </a:extLst>
          </p:cNvPr>
          <p:cNvSpPr/>
          <p:nvPr/>
        </p:nvSpPr>
        <p:spPr>
          <a:xfrm>
            <a:off x="8727440" y="5232400"/>
            <a:ext cx="1005840" cy="497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CDA352-6DCB-1F03-6503-272470545AAD}"/>
              </a:ext>
            </a:extLst>
          </p:cNvPr>
          <p:cNvSpPr/>
          <p:nvPr/>
        </p:nvSpPr>
        <p:spPr>
          <a:xfrm>
            <a:off x="5801360" y="5161280"/>
            <a:ext cx="1564640" cy="568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B1BBB-9408-E253-FC75-B2B49BC1CE86}"/>
              </a:ext>
            </a:extLst>
          </p:cNvPr>
          <p:cNvSpPr txBox="1"/>
          <p:nvPr/>
        </p:nvSpPr>
        <p:spPr>
          <a:xfrm>
            <a:off x="4216400" y="5240496"/>
            <a:ext cx="344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Maximum depth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559918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15E7-BA7A-1F8F-AA1A-1CC4891B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60FD75AE-5908-D4DC-FB8B-4244FD5D4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137" y="653024"/>
            <a:ext cx="7382800" cy="562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850351-B665-1124-9850-141925650539}"/>
              </a:ext>
            </a:extLst>
          </p:cNvPr>
          <p:cNvSpPr txBox="1"/>
          <p:nvPr/>
        </p:nvSpPr>
        <p:spPr>
          <a:xfrm>
            <a:off x="757451" y="1745682"/>
            <a:ext cx="287562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latin typeface="Calibri" panose="020F0502020204030204" pitchFamily="34" charset="0"/>
              </a:rPr>
              <a:t>Error due to bias</a:t>
            </a:r>
          </a:p>
          <a:p>
            <a:r>
              <a:rPr lang="nl-BE" sz="2400" dirty="0">
                <a:latin typeface="Calibri" panose="020F0502020204030204" pitchFamily="34" charset="0"/>
              </a:rPr>
              <a:t>(systematic errors,</a:t>
            </a:r>
          </a:p>
          <a:p>
            <a:r>
              <a:rPr lang="nl-BE" sz="2400" dirty="0">
                <a:latin typeface="Calibri" panose="020F0502020204030204" pitchFamily="34" charset="0"/>
              </a:rPr>
              <a:t>oversimplification)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Error due to variance</a:t>
            </a:r>
          </a:p>
          <a:p>
            <a:r>
              <a:rPr lang="nl-BE" sz="2400" dirty="0">
                <a:latin typeface="Calibri" panose="020F0502020204030204" pitchFamily="34" charset="0"/>
              </a:rPr>
              <a:t>(sensitivity due to flexibility,</a:t>
            </a:r>
          </a:p>
          <a:p>
            <a:r>
              <a:rPr lang="nl-BE" sz="2400" dirty="0">
                <a:latin typeface="Calibri" panose="020F0502020204030204" pitchFamily="34" charset="0"/>
              </a:rPr>
              <a:t>overcomplification)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Irreducible error </a:t>
            </a:r>
            <a:endParaRPr lang="en-US" sz="2400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DBF4D3-3E4E-965E-1E3A-DA46F42CD933}"/>
              </a:ext>
            </a:extLst>
          </p:cNvPr>
          <p:cNvSpPr txBox="1"/>
          <p:nvPr/>
        </p:nvSpPr>
        <p:spPr>
          <a:xfrm>
            <a:off x="241301" y="129804"/>
            <a:ext cx="11747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Concept of bias and variance is a foundation of fitting models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051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256A8B-B416-4CA9-8771-48392FEF3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37" y="1642214"/>
            <a:ext cx="6635437" cy="41673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987E28-1D05-52C4-D0F5-0A1B810B0689}"/>
              </a:ext>
            </a:extLst>
          </p:cNvPr>
          <p:cNvSpPr txBox="1"/>
          <p:nvPr/>
        </p:nvSpPr>
        <p:spPr>
          <a:xfrm>
            <a:off x="729720" y="2485910"/>
            <a:ext cx="4055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latin typeface="Calibri" panose="020F0502020204030204" pitchFamily="34" charset="0"/>
              </a:rPr>
              <a:t>Error due to bias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Error due to variance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Irreducible error </a:t>
            </a:r>
            <a:endParaRPr lang="en-US" sz="2400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47A19-F1CE-AE6F-E5F3-864B4EB25650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Concept of bias and variance is a foundation of fitting models</a:t>
            </a:r>
            <a:endParaRPr lang="en-GB" sz="28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046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05CE624E-428B-4EEF-B623-B7958FFB9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219" y="1133853"/>
            <a:ext cx="6892593" cy="525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6CC7FD9-370E-4A18-99A5-08AD5B7FFA93}"/>
              </a:ext>
            </a:extLst>
          </p:cNvPr>
          <p:cNvSpPr/>
          <p:nvPr/>
        </p:nvSpPr>
        <p:spPr>
          <a:xfrm rot="16200000">
            <a:off x="4074546" y="3808214"/>
            <a:ext cx="1679029" cy="40033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04A7BC4-D9C3-4283-AEF0-AC8E83FF44A2}"/>
              </a:ext>
            </a:extLst>
          </p:cNvPr>
          <p:cNvSpPr/>
          <p:nvPr/>
        </p:nvSpPr>
        <p:spPr>
          <a:xfrm rot="10800000">
            <a:off x="5535484" y="2707256"/>
            <a:ext cx="1679029" cy="40033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5EAFEC-505F-40C0-AE44-A1698E0909D4}"/>
              </a:ext>
            </a:extLst>
          </p:cNvPr>
          <p:cNvSpPr txBox="1"/>
          <p:nvPr/>
        </p:nvSpPr>
        <p:spPr>
          <a:xfrm>
            <a:off x="4390697" y="3759444"/>
            <a:ext cx="1797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/>
              <a:t>bagging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D9E6B6-2390-4BE6-AF89-C4B9B110FCAF}"/>
              </a:ext>
            </a:extLst>
          </p:cNvPr>
          <p:cNvSpPr txBox="1"/>
          <p:nvPr/>
        </p:nvSpPr>
        <p:spPr>
          <a:xfrm>
            <a:off x="5741277" y="2645928"/>
            <a:ext cx="1797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/>
              <a:t>boosting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1FDA0-20F2-FF74-FD4B-21B1B82F32A5}"/>
              </a:ext>
            </a:extLst>
          </p:cNvPr>
          <p:cNvSpPr txBox="1"/>
          <p:nvPr/>
        </p:nvSpPr>
        <p:spPr>
          <a:xfrm>
            <a:off x="241301" y="129804"/>
            <a:ext cx="11747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Bagging and boosting use under- and overfitting to get more performant models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656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72211" y="1599995"/>
            <a:ext cx="91305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</a:rPr>
              <a:t>Simulate the notion of different train set samples: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latin typeface="Calibri" panose="020F0502020204030204" pitchFamily="34" charset="0"/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sample data points from train set to create new train set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fit low bias high variance model on new train set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repeat steps (1) and (2) </a:t>
            </a:r>
            <a:r>
              <a:rPr lang="en-US" sz="2000" i="1" dirty="0">
                <a:latin typeface="Calibri" panose="020F0502020204030204" pitchFamily="34" charset="0"/>
              </a:rPr>
              <a:t>T</a:t>
            </a:r>
            <a:r>
              <a:rPr lang="en-US" sz="2000" dirty="0">
                <a:latin typeface="Calibri" panose="020F0502020204030204" pitchFamily="34" charset="0"/>
              </a:rPr>
              <a:t> times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average the predictions of the </a:t>
            </a:r>
            <a:r>
              <a:rPr lang="en-US" sz="2000" i="1" dirty="0">
                <a:latin typeface="Calibri" panose="020F0502020204030204" pitchFamily="34" charset="0"/>
              </a:rPr>
              <a:t>T</a:t>
            </a:r>
            <a:r>
              <a:rPr lang="en-US" sz="2000" dirty="0">
                <a:latin typeface="Calibri" panose="020F0502020204030204" pitchFamily="34" charset="0"/>
              </a:rPr>
              <a:t> models  </a:t>
            </a:r>
          </a:p>
          <a:p>
            <a:endParaRPr lang="nl-BE" sz="2000" dirty="0"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9A3C4-5E88-4059-831F-EFBC517E5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906" y="3957123"/>
            <a:ext cx="3123164" cy="10989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1EFCC3-E053-4D11-0B65-292DD2846A6C}"/>
              </a:ext>
            </a:extLst>
          </p:cNvPr>
          <p:cNvSpPr txBox="1"/>
          <p:nvPr/>
        </p:nvSpPr>
        <p:spPr>
          <a:xfrm>
            <a:off x="241301" y="129804"/>
            <a:ext cx="11747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Bagging uses multiple overfitted (high variance) trees to reduce overfitting (low variance)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997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CBBB6A-936C-4DBC-9897-6E7F636B914D}"/>
              </a:ext>
            </a:extLst>
          </p:cNvPr>
          <p:cNvSpPr txBox="1"/>
          <p:nvPr/>
        </p:nvSpPr>
        <p:spPr>
          <a:xfrm>
            <a:off x="1489841" y="1529255"/>
            <a:ext cx="89942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Train set contains </a:t>
            </a:r>
            <a:r>
              <a:rPr lang="en-GB" i="1" dirty="0"/>
              <a:t>n</a:t>
            </a:r>
            <a:r>
              <a:rPr lang="en-GB" dirty="0"/>
              <a:t> data points with </a:t>
            </a:r>
            <a:r>
              <a:rPr lang="en-GB" i="1" dirty="0"/>
              <a:t>m</a:t>
            </a:r>
            <a:r>
              <a:rPr lang="en-GB" dirty="0"/>
              <a:t> features.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Construct  </a:t>
            </a:r>
            <a:r>
              <a:rPr lang="en-GB" i="1" dirty="0"/>
              <a:t>T</a:t>
            </a:r>
            <a:r>
              <a:rPr lang="en-GB" dirty="0"/>
              <a:t> low bias high variance decision trees by following these steps: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Sample </a:t>
            </a:r>
            <a:r>
              <a:rPr lang="en-GB" b="1" i="1" dirty="0"/>
              <a:t>n</a:t>
            </a:r>
            <a:r>
              <a:rPr lang="en-GB" dirty="0"/>
              <a:t> data points at random </a:t>
            </a:r>
            <a:r>
              <a:rPr lang="en-GB" b="1" dirty="0"/>
              <a:t>with replacement </a:t>
            </a:r>
            <a:r>
              <a:rPr lang="en-GB" dirty="0"/>
              <a:t>from the train set. 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At each node,  select </a:t>
            </a:r>
            <a:r>
              <a:rPr lang="en-GB" i="1" dirty="0"/>
              <a:t>h </a:t>
            </a:r>
            <a:r>
              <a:rPr lang="en-GB" dirty="0"/>
              <a:t>from </a:t>
            </a:r>
            <a:r>
              <a:rPr lang="en-GB" i="1" dirty="0"/>
              <a:t>m</a:t>
            </a:r>
            <a:r>
              <a:rPr lang="en-GB" dirty="0"/>
              <a:t>  features at random where </a:t>
            </a:r>
            <a:r>
              <a:rPr lang="en-GB" i="1" dirty="0"/>
              <a:t>(h&lt;&lt;m</a:t>
            </a:r>
            <a:r>
              <a:rPr lang="en-GB" dirty="0"/>
              <a:t>) and compute the best split using only these </a:t>
            </a:r>
            <a:r>
              <a:rPr lang="en-GB" i="1" dirty="0"/>
              <a:t>h</a:t>
            </a:r>
            <a:r>
              <a:rPr lang="en-GB" dirty="0"/>
              <a:t> features.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Each tree is grown to the largest extent possible. Or at least to a high-level complexity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Step 3 ensures that the bagged models are low bias by learning deep complex decision trees.</a:t>
            </a:r>
            <a:endParaRPr lang="nl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126C6-BF52-3888-05E1-434D84BD3C9A}"/>
              </a:ext>
            </a:extLst>
          </p:cNvPr>
          <p:cNvSpPr txBox="1"/>
          <p:nvPr/>
        </p:nvSpPr>
        <p:spPr>
          <a:xfrm>
            <a:off x="241301" y="129804"/>
            <a:ext cx="11747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Bagging: Random Forest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335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8DD253-EE09-4318-B362-F8DD895BE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4" y="1294814"/>
            <a:ext cx="12027811" cy="44625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D5F254-81F9-CD11-65A8-2A12C0406247}"/>
              </a:ext>
            </a:extLst>
          </p:cNvPr>
          <p:cNvSpPr txBox="1"/>
          <p:nvPr/>
        </p:nvSpPr>
        <p:spPr>
          <a:xfrm>
            <a:off x="241301" y="129804"/>
            <a:ext cx="11747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Bagging: Random Forest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057897-8C02-4BBA-0F63-80499DF85091}"/>
              </a:ext>
            </a:extLst>
          </p:cNvPr>
          <p:cNvSpPr/>
          <p:nvPr/>
        </p:nvSpPr>
        <p:spPr>
          <a:xfrm>
            <a:off x="82094" y="3180080"/>
            <a:ext cx="477520" cy="497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X2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C32A8A-89DD-861D-C233-5DDE05210810}"/>
              </a:ext>
            </a:extLst>
          </p:cNvPr>
          <p:cNvSpPr/>
          <p:nvPr/>
        </p:nvSpPr>
        <p:spPr>
          <a:xfrm>
            <a:off x="3181350" y="3310890"/>
            <a:ext cx="156210" cy="179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4FF766-6A5B-D430-E292-D68265078505}"/>
              </a:ext>
            </a:extLst>
          </p:cNvPr>
          <p:cNvSpPr/>
          <p:nvPr/>
        </p:nvSpPr>
        <p:spPr>
          <a:xfrm>
            <a:off x="6115051" y="3310890"/>
            <a:ext cx="156210" cy="179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22FD70-9EF8-83D6-D886-62C3534728DA}"/>
              </a:ext>
            </a:extLst>
          </p:cNvPr>
          <p:cNvSpPr/>
          <p:nvPr/>
        </p:nvSpPr>
        <p:spPr>
          <a:xfrm>
            <a:off x="9029702" y="3310890"/>
            <a:ext cx="156210" cy="179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9390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FD623F-C869-4B9E-84FA-5E7E9FE8A003}"/>
              </a:ext>
            </a:extLst>
          </p:cNvPr>
          <p:cNvSpPr txBox="1"/>
          <p:nvPr/>
        </p:nvSpPr>
        <p:spPr>
          <a:xfrm>
            <a:off x="1300655" y="1513490"/>
            <a:ext cx="95144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reduce the bias of a high bias low variance model</a:t>
            </a:r>
          </a:p>
          <a:p>
            <a:endParaRPr lang="en-GB" sz="2000" dirty="0"/>
          </a:p>
          <a:p>
            <a:r>
              <a:rPr lang="en-GB" sz="2000" dirty="0"/>
              <a:t>turning an ensemble of weak learners into a strong learner</a:t>
            </a:r>
          </a:p>
          <a:p>
            <a:endParaRPr lang="en-GB" sz="2000" dirty="0"/>
          </a:p>
          <a:p>
            <a:r>
              <a:rPr lang="en-GB" sz="2000" dirty="0"/>
              <a:t>the meta-model is additive, i.e. </a:t>
            </a:r>
            <a:r>
              <a:rPr lang="en-GB" sz="2000" dirty="0" err="1"/>
              <a:t>Adaboost</a:t>
            </a:r>
            <a:r>
              <a:rPr lang="en-GB" sz="2000" dirty="0"/>
              <a:t>:</a:t>
            </a:r>
            <a:endParaRPr lang="nl-BE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D0E84-8F1D-491C-9DBC-9965F177F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614" y="3337413"/>
            <a:ext cx="2821276" cy="1180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E2CA07-2C35-F83A-E2DD-2AD4C7A96593}"/>
              </a:ext>
            </a:extLst>
          </p:cNvPr>
          <p:cNvSpPr txBox="1"/>
          <p:nvPr/>
        </p:nvSpPr>
        <p:spPr>
          <a:xfrm>
            <a:off x="241301" y="129804"/>
            <a:ext cx="11747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Boosting uses multiple underfitted (low variance; high bias) trees to reduce underfitting (low variance; low bias)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994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92D97-164B-F720-1969-7D702BBBB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FEE2F040-C3B7-0916-1222-4D093B772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219" y="1133853"/>
            <a:ext cx="6892593" cy="525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253FF282-5E3F-D8AA-66A0-A67E7B28C365}"/>
              </a:ext>
            </a:extLst>
          </p:cNvPr>
          <p:cNvSpPr/>
          <p:nvPr/>
        </p:nvSpPr>
        <p:spPr>
          <a:xfrm rot="16200000">
            <a:off x="4074546" y="3808214"/>
            <a:ext cx="1679029" cy="40033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9D93B44-60B4-45C7-442D-B491E1125F12}"/>
              </a:ext>
            </a:extLst>
          </p:cNvPr>
          <p:cNvSpPr/>
          <p:nvPr/>
        </p:nvSpPr>
        <p:spPr>
          <a:xfrm rot="10800000">
            <a:off x="5535484" y="2707256"/>
            <a:ext cx="1679029" cy="40033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276D5A-3B30-1D43-B443-1A579B32E1C2}"/>
              </a:ext>
            </a:extLst>
          </p:cNvPr>
          <p:cNvSpPr txBox="1"/>
          <p:nvPr/>
        </p:nvSpPr>
        <p:spPr>
          <a:xfrm>
            <a:off x="4390697" y="3759444"/>
            <a:ext cx="1797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/>
              <a:t>bagging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509D26-190C-1D84-C9DC-FB4383C5BB8F}"/>
              </a:ext>
            </a:extLst>
          </p:cNvPr>
          <p:cNvSpPr txBox="1"/>
          <p:nvPr/>
        </p:nvSpPr>
        <p:spPr>
          <a:xfrm>
            <a:off x="5741277" y="2645928"/>
            <a:ext cx="1797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/>
              <a:t>boosting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B2C7A-D1C3-BA3C-E8D0-A6439060BBFC}"/>
              </a:ext>
            </a:extLst>
          </p:cNvPr>
          <p:cNvSpPr txBox="1"/>
          <p:nvPr/>
        </p:nvSpPr>
        <p:spPr>
          <a:xfrm>
            <a:off x="241301" y="129804"/>
            <a:ext cx="11747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Bagging and boosting use under- and overfitting to get more performant models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643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F71C8B-C4A7-46E6-AE2B-10A2ED804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65" y="3470432"/>
            <a:ext cx="5509737" cy="1531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C46FF8-6123-4AB9-A32F-D6937C2B0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5404" y="3373459"/>
            <a:ext cx="2499577" cy="990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FF09F3-D5B7-46C3-8529-7B0C22068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8296" y="4364145"/>
            <a:ext cx="3749365" cy="7011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5E4845-4F5A-43E2-8080-797E76DF8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5252" y="1448616"/>
            <a:ext cx="2621507" cy="13717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19C350-F358-21B9-E1FA-A4ABA8DA6F2B}"/>
              </a:ext>
            </a:extLst>
          </p:cNvPr>
          <p:cNvSpPr txBox="1"/>
          <p:nvPr/>
        </p:nvSpPr>
        <p:spPr>
          <a:xfrm>
            <a:off x="241301" y="129804"/>
            <a:ext cx="11747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Boosting: Gradient boosting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462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E7657-3C44-627A-CF94-71AD6561F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AD9CC4-185E-291B-758F-A6CA1DCC2CE9}"/>
              </a:ext>
            </a:extLst>
          </p:cNvPr>
          <p:cNvSpPr txBox="1"/>
          <p:nvPr/>
        </p:nvSpPr>
        <p:spPr>
          <a:xfrm>
            <a:off x="241301" y="129804"/>
            <a:ext cx="11747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Random forest (top) compared to gradient boosting (bottom)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B25488-AFAB-8BFF-3A48-470EBB40B6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61" b="40455"/>
          <a:stretch>
            <a:fillRect/>
          </a:stretch>
        </p:blipFill>
        <p:spPr>
          <a:xfrm>
            <a:off x="2274849" y="3652813"/>
            <a:ext cx="7892053" cy="27133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F462D5-4AEC-DC39-E465-59FEAD527E22}"/>
              </a:ext>
            </a:extLst>
          </p:cNvPr>
          <p:cNvSpPr/>
          <p:nvPr/>
        </p:nvSpPr>
        <p:spPr>
          <a:xfrm>
            <a:off x="1794469" y="6217593"/>
            <a:ext cx="5262201" cy="5106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7133CE-7EA9-56A2-4B58-4349BE3F85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64" t="6166" r="1895" b="20625"/>
          <a:stretch>
            <a:fillRect/>
          </a:stretch>
        </p:blipFill>
        <p:spPr>
          <a:xfrm>
            <a:off x="1314451" y="836342"/>
            <a:ext cx="9601200" cy="32673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1999A1-E0C9-5ABD-28E1-B2053FB0E5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64" t="6166" r="88329" b="20625"/>
          <a:stretch>
            <a:fillRect/>
          </a:stretch>
        </p:blipFill>
        <p:spPr>
          <a:xfrm>
            <a:off x="1314451" y="3552454"/>
            <a:ext cx="960398" cy="326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882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37A307-D2C5-4D01-BF60-85871652E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76" y="1441161"/>
            <a:ext cx="11717248" cy="38385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87DC9D-53B6-0167-04FA-661E59C2D835}"/>
              </a:ext>
            </a:extLst>
          </p:cNvPr>
          <p:cNvSpPr txBox="1"/>
          <p:nvPr/>
        </p:nvSpPr>
        <p:spPr>
          <a:xfrm>
            <a:off x="241301" y="129804"/>
            <a:ext cx="11747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rbel" panose="020B0503020204020204" pitchFamily="34" charset="0"/>
                <a:ea typeface="Lato" panose="020B0604020202020204" pitchFamily="34" charset="0"/>
                <a:cs typeface="Helvetica" panose="020B0604020202020204" pitchFamily="34" charset="0"/>
              </a:rPr>
              <a:t>Boosting: Gradient boosting</a:t>
            </a:r>
            <a:endParaRPr lang="en-GB" sz="3000" b="1" dirty="0">
              <a:latin typeface="Corbel" panose="020B0503020204020204" pitchFamily="34" charset="0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FD8A4-8563-78B7-3318-05DC4D6C319C}"/>
              </a:ext>
            </a:extLst>
          </p:cNvPr>
          <p:cNvSpPr txBox="1"/>
          <p:nvPr/>
        </p:nvSpPr>
        <p:spPr>
          <a:xfrm>
            <a:off x="653143" y="58831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hlinkClick r:id="rId4"/>
              </a:rPr>
              <a:t>Gradient Boosting explained [demonstration]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48010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6684</TotalTime>
  <Words>504</Words>
  <Application>Microsoft Office PowerPoint</Application>
  <PresentationFormat>Widescreen</PresentationFormat>
  <Paragraphs>92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Corbel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Robbin Bouwmeester</cp:lastModifiedBy>
  <cp:revision>41</cp:revision>
  <cp:lastPrinted>2017-05-05T08:02:00Z</cp:lastPrinted>
  <dcterms:created xsi:type="dcterms:W3CDTF">2015-04-25T14:44:52Z</dcterms:created>
  <dcterms:modified xsi:type="dcterms:W3CDTF">2026-10-28T14:34:58Z</dcterms:modified>
</cp:coreProperties>
</file>