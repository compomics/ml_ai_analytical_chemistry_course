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544" r:id="rId2"/>
    <p:sldId id="257" r:id="rId3"/>
    <p:sldId id="545" r:id="rId4"/>
    <p:sldId id="273" r:id="rId5"/>
    <p:sldId id="277" r:id="rId6"/>
    <p:sldId id="562" r:id="rId7"/>
    <p:sldId id="275" r:id="rId8"/>
    <p:sldId id="276" r:id="rId9"/>
    <p:sldId id="278" r:id="rId10"/>
    <p:sldId id="261" r:id="rId11"/>
    <p:sldId id="262" r:id="rId12"/>
    <p:sldId id="263" r:id="rId13"/>
    <p:sldId id="264" r:id="rId14"/>
    <p:sldId id="265" r:id="rId15"/>
    <p:sldId id="266" r:id="rId16"/>
    <p:sldId id="270" r:id="rId17"/>
    <p:sldId id="272" r:id="rId18"/>
  </p:sldIdLst>
  <p:sldSz cx="12192000" cy="6858000"/>
  <p:notesSz cx="6797675" cy="987425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D84EC8-78AF-4B7A-9551-65D3E3EAE741}" v="3" dt="2026-10-22T08:03:05.3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3" autoAdjust="0"/>
    <p:restoredTop sz="72748" autoAdjust="0"/>
  </p:normalViewPr>
  <p:slideViewPr>
    <p:cSldViewPr snapToGrid="0">
      <p:cViewPr varScale="1">
        <p:scale>
          <a:sx n="115" d="100"/>
          <a:sy n="115" d="100"/>
        </p:scale>
        <p:origin x="41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bin Bouwmeester" userId="1dbfebabfc25a55a" providerId="LiveId" clId="{75D63595-F797-482E-A4A0-2F4889B74D4F}"/>
    <pc:docChg chg="undo custSel addSld delSld modSld sldOrd">
      <pc:chgData name="Robbin Bouwmeester" userId="1dbfebabfc25a55a" providerId="LiveId" clId="{75D63595-F797-482E-A4A0-2F4889B74D4F}" dt="2026-10-22T08:05:01.842" v="864" actId="20577"/>
      <pc:docMkLst>
        <pc:docMk/>
      </pc:docMkLst>
      <pc:sldChg chg="modSp mod">
        <pc:chgData name="Robbin Bouwmeester" userId="1dbfebabfc25a55a" providerId="LiveId" clId="{75D63595-F797-482E-A4A0-2F4889B74D4F}" dt="2026-10-22T07:26:06.514" v="199" actId="20577"/>
        <pc:sldMkLst>
          <pc:docMk/>
          <pc:sldMk cId="4071848948" sldId="257"/>
        </pc:sldMkLst>
        <pc:spChg chg="mod">
          <ac:chgData name="Robbin Bouwmeester" userId="1dbfebabfc25a55a" providerId="LiveId" clId="{75D63595-F797-482E-A4A0-2F4889B74D4F}" dt="2026-10-22T07:26:06.514" v="199" actId="20577"/>
          <ac:spMkLst>
            <pc:docMk/>
            <pc:sldMk cId="4071848948" sldId="257"/>
            <ac:spMk id="5" creationId="{0E2CB1A6-46E1-FE3F-5EB3-4EDF592FBD9E}"/>
          </ac:spMkLst>
        </pc:spChg>
      </pc:sldChg>
      <pc:sldChg chg="modSp">
        <pc:chgData name="Robbin Bouwmeester" userId="1dbfebabfc25a55a" providerId="LiveId" clId="{75D63595-F797-482E-A4A0-2F4889B74D4F}" dt="2026-10-22T08:01:25.516" v="597"/>
        <pc:sldMkLst>
          <pc:docMk/>
          <pc:sldMk cId="2553046411" sldId="261"/>
        </pc:sldMkLst>
        <pc:spChg chg="mod">
          <ac:chgData name="Robbin Bouwmeester" userId="1dbfebabfc25a55a" providerId="LiveId" clId="{75D63595-F797-482E-A4A0-2F4889B74D4F}" dt="2026-10-22T08:01:25.516" v="597"/>
          <ac:spMkLst>
            <pc:docMk/>
            <pc:sldMk cId="2553046411" sldId="261"/>
            <ac:spMk id="4" creationId="{C5F47A19-F1CE-AE6F-E5F3-864B4EB25650}"/>
          </ac:spMkLst>
        </pc:spChg>
      </pc:sldChg>
      <pc:sldChg chg="modSp mod">
        <pc:chgData name="Robbin Bouwmeester" userId="1dbfebabfc25a55a" providerId="LiveId" clId="{75D63595-F797-482E-A4A0-2F4889B74D4F}" dt="2026-10-22T08:02:02.185" v="687" actId="255"/>
        <pc:sldMkLst>
          <pc:docMk/>
          <pc:sldMk cId="3125656099" sldId="262"/>
        </pc:sldMkLst>
        <pc:spChg chg="mod">
          <ac:chgData name="Robbin Bouwmeester" userId="1dbfebabfc25a55a" providerId="LiveId" clId="{75D63595-F797-482E-A4A0-2F4889B74D4F}" dt="2026-10-22T08:02:02.185" v="687" actId="255"/>
          <ac:spMkLst>
            <pc:docMk/>
            <pc:sldMk cId="3125656099" sldId="262"/>
            <ac:spMk id="3" creationId="{5FF1FDA0-20F2-FF74-FD4B-21B1B82F32A5}"/>
          </ac:spMkLst>
        </pc:spChg>
      </pc:sldChg>
      <pc:sldChg chg="modSp mod">
        <pc:chgData name="Robbin Bouwmeester" userId="1dbfebabfc25a55a" providerId="LiveId" clId="{75D63595-F797-482E-A4A0-2F4889B74D4F}" dt="2026-10-22T08:02:56.435" v="789" actId="113"/>
        <pc:sldMkLst>
          <pc:docMk/>
          <pc:sldMk cId="2039997518" sldId="263"/>
        </pc:sldMkLst>
        <pc:spChg chg="mod">
          <ac:chgData name="Robbin Bouwmeester" userId="1dbfebabfc25a55a" providerId="LiveId" clId="{75D63595-F797-482E-A4A0-2F4889B74D4F}" dt="2026-10-22T08:02:56.435" v="789" actId="113"/>
          <ac:spMkLst>
            <pc:docMk/>
            <pc:sldMk cId="2039997518" sldId="263"/>
            <ac:spMk id="3" creationId="{601EFCC3-E053-4D11-0B65-292DD2846A6C}"/>
          </ac:spMkLst>
        </pc:spChg>
      </pc:sldChg>
      <pc:sldChg chg="modSp mod">
        <pc:chgData name="Robbin Bouwmeester" userId="1dbfebabfc25a55a" providerId="LiveId" clId="{75D63595-F797-482E-A4A0-2F4889B74D4F}" dt="2026-10-22T08:04:02.674" v="849" actId="255"/>
        <pc:sldMkLst>
          <pc:docMk/>
          <pc:sldMk cId="1423335593" sldId="264"/>
        </pc:sldMkLst>
        <pc:spChg chg="mod">
          <ac:chgData name="Robbin Bouwmeester" userId="1dbfebabfc25a55a" providerId="LiveId" clId="{75D63595-F797-482E-A4A0-2F4889B74D4F}" dt="2026-10-22T08:04:02.674" v="849" actId="255"/>
          <ac:spMkLst>
            <pc:docMk/>
            <pc:sldMk cId="1423335593" sldId="264"/>
            <ac:spMk id="3" creationId="{6ED126C6-BF52-3888-05E1-434D84BD3C9A}"/>
          </ac:spMkLst>
        </pc:spChg>
      </pc:sldChg>
      <pc:sldChg chg="modSp mod">
        <pc:chgData name="Robbin Bouwmeester" userId="1dbfebabfc25a55a" providerId="LiveId" clId="{75D63595-F797-482E-A4A0-2F4889B74D4F}" dt="2026-10-22T08:04:37.395" v="854" actId="113"/>
        <pc:sldMkLst>
          <pc:docMk/>
          <pc:sldMk cId="3549390794" sldId="265"/>
        </pc:sldMkLst>
        <pc:spChg chg="mod">
          <ac:chgData name="Robbin Bouwmeester" userId="1dbfebabfc25a55a" providerId="LiveId" clId="{75D63595-F797-482E-A4A0-2F4889B74D4F}" dt="2026-10-22T08:04:37.395" v="854" actId="113"/>
          <ac:spMkLst>
            <pc:docMk/>
            <pc:sldMk cId="3549390794" sldId="265"/>
            <ac:spMk id="4" creationId="{7AD5F254-81F9-CD11-65A8-2A12C0406247}"/>
          </ac:spMkLst>
        </pc:spChg>
      </pc:sldChg>
      <pc:sldChg chg="modSp mod">
        <pc:chgData name="Robbin Bouwmeester" userId="1dbfebabfc25a55a" providerId="LiveId" clId="{75D63595-F797-482E-A4A0-2F4889B74D4F}" dt="2026-10-22T08:03:40.776" v="844" actId="255"/>
        <pc:sldMkLst>
          <pc:docMk/>
          <pc:sldMk cId="4121994623" sldId="266"/>
        </pc:sldMkLst>
        <pc:spChg chg="mod">
          <ac:chgData name="Robbin Bouwmeester" userId="1dbfebabfc25a55a" providerId="LiveId" clId="{75D63595-F797-482E-A4A0-2F4889B74D4F}" dt="2026-10-22T08:03:40.776" v="844" actId="255"/>
          <ac:spMkLst>
            <pc:docMk/>
            <pc:sldMk cId="4121994623" sldId="266"/>
            <ac:spMk id="3" creationId="{3EE2CA07-2C35-F83A-E2DD-2AD4C7A96593}"/>
          </ac:spMkLst>
        </pc:spChg>
      </pc:sldChg>
      <pc:sldChg chg="modSp mod">
        <pc:chgData name="Robbin Bouwmeester" userId="1dbfebabfc25a55a" providerId="LiveId" clId="{75D63595-F797-482E-A4A0-2F4889B74D4F}" dt="2026-10-22T08:04:50.684" v="859" actId="2711"/>
        <pc:sldMkLst>
          <pc:docMk/>
          <pc:sldMk cId="3449462475" sldId="270"/>
        </pc:sldMkLst>
        <pc:spChg chg="mod">
          <ac:chgData name="Robbin Bouwmeester" userId="1dbfebabfc25a55a" providerId="LiveId" clId="{75D63595-F797-482E-A4A0-2F4889B74D4F}" dt="2026-10-22T08:04:50.684" v="859" actId="2711"/>
          <ac:spMkLst>
            <pc:docMk/>
            <pc:sldMk cId="3449462475" sldId="270"/>
            <ac:spMk id="3" creationId="{3B19C350-F358-21B9-E1FA-A4ABA8DA6F2B}"/>
          </ac:spMkLst>
        </pc:spChg>
      </pc:sldChg>
      <pc:sldChg chg="modSp mod">
        <pc:chgData name="Robbin Bouwmeester" userId="1dbfebabfc25a55a" providerId="LiveId" clId="{75D63595-F797-482E-A4A0-2F4889B74D4F}" dt="2026-10-22T08:05:01.842" v="864" actId="20577"/>
        <pc:sldMkLst>
          <pc:docMk/>
          <pc:sldMk cId="1548010638" sldId="272"/>
        </pc:sldMkLst>
        <pc:spChg chg="mod">
          <ac:chgData name="Robbin Bouwmeester" userId="1dbfebabfc25a55a" providerId="LiveId" clId="{75D63595-F797-482E-A4A0-2F4889B74D4F}" dt="2026-10-22T08:05:01.842" v="864" actId="20577"/>
          <ac:spMkLst>
            <pc:docMk/>
            <pc:sldMk cId="1548010638" sldId="272"/>
            <ac:spMk id="3" creationId="{4B87DC9D-53B6-0167-04FA-661E59C2D835}"/>
          </ac:spMkLst>
        </pc:spChg>
      </pc:sldChg>
      <pc:sldChg chg="modSp mod">
        <pc:chgData name="Robbin Bouwmeester" userId="1dbfebabfc25a55a" providerId="LiveId" clId="{75D63595-F797-482E-A4A0-2F4889B74D4F}" dt="2026-10-22T07:27:50.447" v="371" actId="255"/>
        <pc:sldMkLst>
          <pc:docMk/>
          <pc:sldMk cId="1442676706" sldId="273"/>
        </pc:sldMkLst>
        <pc:spChg chg="mod">
          <ac:chgData name="Robbin Bouwmeester" userId="1dbfebabfc25a55a" providerId="LiveId" clId="{75D63595-F797-482E-A4A0-2F4889B74D4F}" dt="2026-10-22T07:27:50.447" v="371" actId="255"/>
          <ac:spMkLst>
            <pc:docMk/>
            <pc:sldMk cId="1442676706" sldId="273"/>
            <ac:spMk id="4" creationId="{61CBF3B4-3D25-A8D2-9AFA-2BAA3D38C33F}"/>
          </ac:spMkLst>
        </pc:spChg>
      </pc:sldChg>
      <pc:sldChg chg="modSp mod">
        <pc:chgData name="Robbin Bouwmeester" userId="1dbfebabfc25a55a" providerId="LiveId" clId="{75D63595-F797-482E-A4A0-2F4889B74D4F}" dt="2026-10-22T07:59:57.193" v="434" actId="255"/>
        <pc:sldMkLst>
          <pc:docMk/>
          <pc:sldMk cId="416481786" sldId="275"/>
        </pc:sldMkLst>
        <pc:spChg chg="mod">
          <ac:chgData name="Robbin Bouwmeester" userId="1dbfebabfc25a55a" providerId="LiveId" clId="{75D63595-F797-482E-A4A0-2F4889B74D4F}" dt="2026-10-22T07:59:57.193" v="434" actId="255"/>
          <ac:spMkLst>
            <pc:docMk/>
            <pc:sldMk cId="416481786" sldId="275"/>
            <ac:spMk id="4" creationId="{61CBF3B4-3D25-A8D2-9AFA-2BAA3D38C33F}"/>
          </ac:spMkLst>
        </pc:spChg>
      </pc:sldChg>
      <pc:sldChg chg="modSp mod">
        <pc:chgData name="Robbin Bouwmeester" userId="1dbfebabfc25a55a" providerId="LiveId" clId="{75D63595-F797-482E-A4A0-2F4889B74D4F}" dt="2026-10-22T08:00:36.323" v="501" actId="255"/>
        <pc:sldMkLst>
          <pc:docMk/>
          <pc:sldMk cId="559918975" sldId="276"/>
        </pc:sldMkLst>
        <pc:spChg chg="mod">
          <ac:chgData name="Robbin Bouwmeester" userId="1dbfebabfc25a55a" providerId="LiveId" clId="{75D63595-F797-482E-A4A0-2F4889B74D4F}" dt="2026-10-22T08:00:36.323" v="501" actId="255"/>
          <ac:spMkLst>
            <pc:docMk/>
            <pc:sldMk cId="559918975" sldId="276"/>
            <ac:spMk id="4" creationId="{5DAFD78D-D39C-76AC-2A82-A046D751AC06}"/>
          </ac:spMkLst>
        </pc:spChg>
      </pc:sldChg>
      <pc:sldChg chg="modSp mod">
        <pc:chgData name="Robbin Bouwmeester" userId="1dbfebabfc25a55a" providerId="LiveId" clId="{75D63595-F797-482E-A4A0-2F4889B74D4F}" dt="2026-10-22T07:37:28.724" v="380" actId="255"/>
        <pc:sldMkLst>
          <pc:docMk/>
          <pc:sldMk cId="4146636672" sldId="277"/>
        </pc:sldMkLst>
        <pc:spChg chg="mod">
          <ac:chgData name="Robbin Bouwmeester" userId="1dbfebabfc25a55a" providerId="LiveId" clId="{75D63595-F797-482E-A4A0-2F4889B74D4F}" dt="2026-10-22T07:37:28.724" v="380" actId="255"/>
          <ac:spMkLst>
            <pc:docMk/>
            <pc:sldMk cId="4146636672" sldId="277"/>
            <ac:spMk id="5" creationId="{0C69F2B5-76E4-E544-9063-3A41B6136987}"/>
          </ac:spMkLst>
        </pc:spChg>
      </pc:sldChg>
      <pc:sldChg chg="modSp mod">
        <pc:chgData name="Robbin Bouwmeester" userId="1dbfebabfc25a55a" providerId="LiveId" clId="{75D63595-F797-482E-A4A0-2F4889B74D4F}" dt="2026-10-22T08:01:18.286" v="596" actId="2711"/>
        <pc:sldMkLst>
          <pc:docMk/>
          <pc:sldMk cId="4034051223" sldId="278"/>
        </pc:sldMkLst>
        <pc:spChg chg="mod">
          <ac:chgData name="Robbin Bouwmeester" userId="1dbfebabfc25a55a" providerId="LiveId" clId="{75D63595-F797-482E-A4A0-2F4889B74D4F}" dt="2026-10-22T08:01:18.286" v="596" actId="2711"/>
          <ac:spMkLst>
            <pc:docMk/>
            <pc:sldMk cId="4034051223" sldId="278"/>
            <ac:spMk id="2" creationId="{76DBF4D3-3E4E-965E-1E3A-DA46F42CD933}"/>
          </ac:spMkLst>
        </pc:spChg>
      </pc:sldChg>
      <pc:sldChg chg="modSp mod">
        <pc:chgData name="Robbin Bouwmeester" userId="1dbfebabfc25a55a" providerId="LiveId" clId="{75D63595-F797-482E-A4A0-2F4889B74D4F}" dt="2026-10-22T07:25:22.005" v="184" actId="113"/>
        <pc:sldMkLst>
          <pc:docMk/>
          <pc:sldMk cId="3754802310" sldId="544"/>
        </pc:sldMkLst>
        <pc:spChg chg="mod">
          <ac:chgData name="Robbin Bouwmeester" userId="1dbfebabfc25a55a" providerId="LiveId" clId="{75D63595-F797-482E-A4A0-2F4889B74D4F}" dt="2026-10-22T07:25:22.005" v="184" actId="113"/>
          <ac:spMkLst>
            <pc:docMk/>
            <pc:sldMk cId="3754802310" sldId="544"/>
            <ac:spMk id="5" creationId="{F6487672-A4DC-A86C-D42B-E9A23FB90054}"/>
          </ac:spMkLst>
        </pc:spChg>
      </pc:sldChg>
      <pc:sldChg chg="modSp mod">
        <pc:chgData name="Robbin Bouwmeester" userId="1dbfebabfc25a55a" providerId="LiveId" clId="{75D63595-F797-482E-A4A0-2F4889B74D4F}" dt="2026-10-22T07:26:50.068" v="280" actId="20577"/>
        <pc:sldMkLst>
          <pc:docMk/>
          <pc:sldMk cId="3679395829" sldId="545"/>
        </pc:sldMkLst>
        <pc:spChg chg="mod">
          <ac:chgData name="Robbin Bouwmeester" userId="1dbfebabfc25a55a" providerId="LiveId" clId="{75D63595-F797-482E-A4A0-2F4889B74D4F}" dt="2026-10-22T07:26:50.068" v="280" actId="20577"/>
          <ac:spMkLst>
            <pc:docMk/>
            <pc:sldMk cId="3679395829" sldId="545"/>
            <ac:spMk id="4" creationId="{61CBF3B4-3D25-A8D2-9AFA-2BAA3D38C33F}"/>
          </ac:spMkLst>
        </pc:spChg>
      </pc:sldChg>
      <pc:sldChg chg="modSp mod">
        <pc:chgData name="Robbin Bouwmeester" userId="1dbfebabfc25a55a" providerId="LiveId" clId="{75D63595-F797-482E-A4A0-2F4889B74D4F}" dt="2026-10-22T07:37:41.636" v="383" actId="255"/>
        <pc:sldMkLst>
          <pc:docMk/>
          <pc:sldMk cId="3531563971" sldId="562"/>
        </pc:sldMkLst>
        <pc:spChg chg="mod">
          <ac:chgData name="Robbin Bouwmeester" userId="1dbfebabfc25a55a" providerId="LiveId" clId="{75D63595-F797-482E-A4A0-2F4889B74D4F}" dt="2026-10-22T07:37:41.636" v="383" actId="255"/>
          <ac:spMkLst>
            <pc:docMk/>
            <pc:sldMk cId="3531563971" sldId="562"/>
            <ac:spMk id="4" creationId="{E1417B48-0775-F429-4CD0-ED16DA297E7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542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542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10CED3-9D38-496E-A0C9-F8629E5A2A41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378824"/>
            <a:ext cx="2945659" cy="4954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0443" y="9378824"/>
            <a:ext cx="2945659" cy="4954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4B183A-D8FB-4852-87C6-ADEF4AD7BD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1772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542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542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6A7747-0984-4E12-9222-F6AC1BF9321E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6563" y="1233488"/>
            <a:ext cx="5924550" cy="3333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51983"/>
            <a:ext cx="5438140" cy="3887986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78824"/>
            <a:ext cx="2945659" cy="4954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378824"/>
            <a:ext cx="2945659" cy="4954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6C4827-840E-4EC5-B0B2-4EAAD02724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9762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AD755-1991-F944-37FC-7DE901259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825A46-5B97-8F30-D6DC-81B17E20C5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E2F65C-FC5B-75F3-B281-8A2000A6B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00E7F8-C154-CD4A-5AC7-8692B1AAF5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2630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0504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0412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7C1C5-818D-FD3F-61D5-CB65735B7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35F7DE-3360-EE62-7B94-1305EC070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CDB314-1269-A147-CF93-E301DAE807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1F4A5-375B-DCDA-1C26-9D0BE3B72E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069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5329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1391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0174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5994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2426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9116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7363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C4827-840E-4EC5-B0B2-4EAAD02724F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7854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A1531-9024-480F-9D7B-19915C1DCDF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E3D5F-41D3-471E-8E90-CFF2704ECC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63338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A1531-9024-480F-9D7B-19915C1DCDF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E3D5F-41D3-471E-8E90-CFF2704ECC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138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A1531-9024-480F-9D7B-19915C1DCDF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E3D5F-41D3-471E-8E90-CFF2704ECC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0282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A1531-9024-480F-9D7B-19915C1DCDF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E3D5F-41D3-471E-8E90-CFF2704ECC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5320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A1531-9024-480F-9D7B-19915C1DCDF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E3D5F-41D3-471E-8E90-CFF2704ECC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662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A1531-9024-480F-9D7B-19915C1DCDF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E3D5F-41D3-471E-8E90-CFF2704ECC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36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A1531-9024-480F-9D7B-19915C1DCDF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E3D5F-41D3-471E-8E90-CFF2704ECC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28686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A1531-9024-480F-9D7B-19915C1DCDF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E3D5F-41D3-471E-8E90-CFF2704ECC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32648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A1531-9024-480F-9D7B-19915C1DCDF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E3D5F-41D3-471E-8E90-CFF2704ECC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2436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A1531-9024-480F-9D7B-19915C1DCDF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E3D5F-41D3-471E-8E90-CFF2704ECC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9006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7A1531-9024-480F-9D7B-19915C1DCDF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E3D5F-41D3-471E-8E90-CFF2704ECC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0687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7A1531-9024-480F-9D7B-19915C1DCDF5}" type="datetimeFigureOut">
              <a:rPr lang="en-GB" smtClean="0"/>
              <a:t>20/10/2026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6E3D5F-41D3-471E-8E90-CFF2704ECC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08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arogozhnikov.github.io/2016/06/24/gradient_boosting_explained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E97EE-9EF7-91E2-E498-CE899707D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6487672-A4DC-A86C-D42B-E9A23FB90054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Ensemble methods can use overfitting and underfitting to their advantage</a:t>
            </a:r>
            <a:endParaRPr lang="en-GB" sz="28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B2A1EF-CA1C-F48F-829F-46839BB93947}"/>
              </a:ext>
            </a:extLst>
          </p:cNvPr>
          <p:cNvSpPr txBox="1"/>
          <p:nvPr/>
        </p:nvSpPr>
        <p:spPr>
          <a:xfrm>
            <a:off x="340912" y="1249165"/>
            <a:ext cx="1100009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Decision trees serve as the foundation for </a:t>
            </a:r>
            <a:r>
              <a:rPr lang="en-GB" sz="2000" b="1" dirty="0"/>
              <a:t>ensemble methods </a:t>
            </a:r>
            <a:r>
              <a:rPr lang="en-GB" sz="2000" dirty="0"/>
              <a:t>like Random Forest and Gradient Boosting, which combine multiple trees to improve accuracy and robustness.</a:t>
            </a:r>
          </a:p>
          <a:p>
            <a:endParaRPr lang="en-GB" sz="2000" dirty="0"/>
          </a:p>
          <a:p>
            <a:r>
              <a:rPr lang="en-GB" sz="2000" dirty="0"/>
              <a:t>Ensemble learning reduces </a:t>
            </a:r>
            <a:r>
              <a:rPr lang="en-GB" sz="2000" b="1" dirty="0"/>
              <a:t>variance and bias</a:t>
            </a:r>
            <a:r>
              <a:rPr lang="en-GB" sz="2000" dirty="0"/>
              <a:t>, as bagging (e.g., Random Forest) decreases overfitting, while boosting (e.g., AdaBoost, </a:t>
            </a:r>
            <a:r>
              <a:rPr lang="en-GB" sz="2000" dirty="0" err="1"/>
              <a:t>XGBoost</a:t>
            </a:r>
            <a:r>
              <a:rPr lang="en-GB" sz="2000" dirty="0"/>
              <a:t>) enhances weak learners by correcting misclassified instances iteratively.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3754802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E2CB1A6-46E1-FE3F-5EB3-4EDF592FBD9E}"/>
              </a:ext>
            </a:extLst>
          </p:cNvPr>
          <p:cNvSpPr txBox="1"/>
          <p:nvPr/>
        </p:nvSpPr>
        <p:spPr>
          <a:xfrm>
            <a:off x="241301" y="129804"/>
            <a:ext cx="117475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Decision tree models - recap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66F50F7-913E-E67D-09BF-3713A97EE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051" y="2156055"/>
            <a:ext cx="5894342" cy="4172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ntropy: How Decision Trees Make Decisions | by Sam T | Towards Data Science">
            <a:extLst>
              <a:ext uri="{FF2B5EF4-FFF2-40B4-BE49-F238E27FC236}">
                <a16:creationId xmlns:a16="http://schemas.microsoft.com/office/drawing/2014/main" id="{A72BE986-0CB7-19BC-8F2C-A96A4AC020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350" y="1084235"/>
            <a:ext cx="5108363" cy="502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ED51A179-2E1F-A646-2D29-E4A17F7218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1200" y="1178688"/>
            <a:ext cx="3724275" cy="866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Entropy: How Decision Trees Make Decisions | by Sam T | Towards Data Science">
            <a:extLst>
              <a:ext uri="{FF2B5EF4-FFF2-40B4-BE49-F238E27FC236}">
                <a16:creationId xmlns:a16="http://schemas.microsoft.com/office/drawing/2014/main" id="{C1545E87-DE42-8760-8B88-D6A16C55990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501" t="12746" r="38682" b="83617"/>
          <a:stretch/>
        </p:blipFill>
        <p:spPr bwMode="auto">
          <a:xfrm>
            <a:off x="9159172" y="5919125"/>
            <a:ext cx="194990" cy="182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1848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539427" y="1524098"/>
            <a:ext cx="5323868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alibri" panose="020F0502020204030204" pitchFamily="34" charset="0"/>
              </a:rPr>
              <a:t>advantages:</a:t>
            </a:r>
          </a:p>
          <a:p>
            <a:endParaRPr lang="en-US" sz="2000" dirty="0">
              <a:latin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</a:rPr>
              <a:t>ease of interpretation</a:t>
            </a:r>
          </a:p>
          <a:p>
            <a:r>
              <a:rPr lang="en-US" sz="2000" dirty="0">
                <a:latin typeface="Calibri" panose="020F0502020204030204" pitchFamily="34" charset="0"/>
              </a:rPr>
              <a:t>handles continuous and discrete features</a:t>
            </a:r>
          </a:p>
          <a:p>
            <a:r>
              <a:rPr lang="en-US" sz="2000" dirty="0">
                <a:latin typeface="Calibri" panose="020F0502020204030204" pitchFamily="34" charset="0"/>
              </a:rPr>
              <a:t>invariant to monotone transformation of features</a:t>
            </a:r>
          </a:p>
          <a:p>
            <a:r>
              <a:rPr lang="en-US" sz="2000" dirty="0">
                <a:latin typeface="Calibri" panose="020F0502020204030204" pitchFamily="34" charset="0"/>
              </a:rPr>
              <a:t>variable selection automated</a:t>
            </a:r>
          </a:p>
          <a:p>
            <a:r>
              <a:rPr lang="nl-BE" sz="2000" b="1" dirty="0">
                <a:latin typeface="Calibri" panose="020F0502020204030204" pitchFamily="34" charset="0"/>
              </a:rPr>
              <a:t>low bias </a:t>
            </a:r>
            <a:r>
              <a:rPr lang="nl-BE" sz="2000" dirty="0">
                <a:latin typeface="Calibri" panose="020F0502020204030204" pitchFamily="34" charset="0"/>
              </a:rPr>
              <a:t>(deep trees)</a:t>
            </a:r>
            <a:endParaRPr lang="en-US" sz="2000" dirty="0">
              <a:latin typeface="Calibri" panose="020F0502020204030204" pitchFamily="34" charset="0"/>
            </a:endParaRPr>
          </a:p>
          <a:p>
            <a:endParaRPr lang="en-US" sz="2000" dirty="0">
              <a:latin typeface="Calibri" panose="020F0502020204030204" pitchFamily="34" charset="0"/>
            </a:endParaRPr>
          </a:p>
          <a:p>
            <a:r>
              <a:rPr lang="en-US" sz="2000" dirty="0">
                <a:latin typeface="Calibri" panose="020F0502020204030204" pitchFamily="34" charset="0"/>
              </a:rPr>
              <a:t>disadvantages:</a:t>
            </a:r>
          </a:p>
          <a:p>
            <a:endParaRPr lang="en-US" sz="2000" dirty="0">
              <a:latin typeface="Calibri" panose="020F0502020204030204" pitchFamily="34" charset="0"/>
            </a:endParaRPr>
          </a:p>
          <a:p>
            <a:r>
              <a:rPr lang="en-US" sz="2000" b="1" dirty="0">
                <a:latin typeface="Calibri" panose="020F0502020204030204" pitchFamily="34" charset="0"/>
              </a:rPr>
              <a:t>high variance</a:t>
            </a:r>
          </a:p>
          <a:p>
            <a:r>
              <a:rPr lang="en-US" sz="2000" dirty="0" err="1">
                <a:latin typeface="Calibri" panose="020F0502020204030204" pitchFamily="34" charset="0"/>
              </a:rPr>
              <a:t>overfitting</a:t>
            </a:r>
            <a:endParaRPr lang="en-US" sz="2000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CBF3B4-3D25-A8D2-9AFA-2BAA3D38C33F}"/>
              </a:ext>
            </a:extLst>
          </p:cNvPr>
          <p:cNvSpPr txBox="1"/>
          <p:nvPr/>
        </p:nvSpPr>
        <p:spPr>
          <a:xfrm>
            <a:off x="241301" y="129804"/>
            <a:ext cx="117475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Single decision trees have several advantages and disadvantages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3074" name="Picture 2" descr="1: Visualisation for a decision tree, trained on the Iris dataset... |  Download Scientific Diagram">
            <a:extLst>
              <a:ext uri="{FF2B5EF4-FFF2-40B4-BE49-F238E27FC236}">
                <a16:creationId xmlns:a16="http://schemas.microsoft.com/office/drawing/2014/main" id="{45C103CF-E0FE-A6E4-2F48-7FFFA452B5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0180" y="1239320"/>
            <a:ext cx="5807015" cy="4262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9395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1CBF3B4-3D25-A8D2-9AFA-2BAA3D38C33F}"/>
              </a:ext>
            </a:extLst>
          </p:cNvPr>
          <p:cNvSpPr txBox="1"/>
          <p:nvPr/>
        </p:nvSpPr>
        <p:spPr>
          <a:xfrm>
            <a:off x="241301" y="129804"/>
            <a:ext cx="117475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Model hyperparameter optimization on unseen data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 descr="Chart, line chart&#10;&#10;Description automatically generated">
            <a:extLst>
              <a:ext uri="{FF2B5EF4-FFF2-40B4-BE49-F238E27FC236}">
                <a16:creationId xmlns:a16="http://schemas.microsoft.com/office/drawing/2014/main" id="{BF3EEDA8-5557-622F-CC77-B509FCFB54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7408" y="1000539"/>
            <a:ext cx="6864474" cy="5166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6767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8757" y="1435219"/>
            <a:ext cx="4266521" cy="40436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C69F2B5-76E4-E544-9063-3A41B6136987}"/>
              </a:ext>
            </a:extLst>
          </p:cNvPr>
          <p:cNvSpPr txBox="1"/>
          <p:nvPr/>
        </p:nvSpPr>
        <p:spPr>
          <a:xfrm>
            <a:off x="241301" y="129804"/>
            <a:ext cx="117475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Regularized regression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6927CD-4603-4AEA-6417-655A51BEBA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1220501"/>
            <a:ext cx="6864350" cy="4416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6366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39212-834D-E113-E31B-426385CFB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417B48-0775-F429-4CD0-ED16DA297E73}"/>
              </a:ext>
            </a:extLst>
          </p:cNvPr>
          <p:cNvSpPr txBox="1"/>
          <p:nvPr/>
        </p:nvSpPr>
        <p:spPr>
          <a:xfrm>
            <a:off x="241301" y="129804"/>
            <a:ext cx="117475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Validation hold-out set</a:t>
            </a:r>
          </a:p>
        </p:txBody>
      </p:sp>
      <p:pic>
        <p:nvPicPr>
          <p:cNvPr id="6" name="Picture 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E835276C-B480-20F7-1B45-9955A9F2B2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6562"/>
          <a:stretch>
            <a:fillRect/>
          </a:stretch>
        </p:blipFill>
        <p:spPr>
          <a:xfrm>
            <a:off x="1809065" y="922952"/>
            <a:ext cx="7633396" cy="123922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DFD6532-F626-F555-6003-0D243397DC53}"/>
              </a:ext>
            </a:extLst>
          </p:cNvPr>
          <p:cNvSpPr/>
          <p:nvPr/>
        </p:nvSpPr>
        <p:spPr>
          <a:xfrm>
            <a:off x="6276975" y="1533525"/>
            <a:ext cx="895350" cy="40957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E7AF2-6C7E-CF01-12F1-7F840A758478}"/>
              </a:ext>
            </a:extLst>
          </p:cNvPr>
          <p:cNvSpPr txBox="1"/>
          <p:nvPr/>
        </p:nvSpPr>
        <p:spPr>
          <a:xfrm>
            <a:off x="5625763" y="2264807"/>
            <a:ext cx="2200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Validation data</a:t>
            </a:r>
            <a:endParaRPr lang="en-NL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A99BA1-86C3-FADD-41C0-29C02CDD9027}"/>
              </a:ext>
            </a:extLst>
          </p:cNvPr>
          <p:cNvCxnSpPr>
            <a:stCxn id="3" idx="0"/>
          </p:cNvCxnSpPr>
          <p:nvPr/>
        </p:nvCxnSpPr>
        <p:spPr>
          <a:xfrm flipH="1" flipV="1">
            <a:off x="6724650" y="1943100"/>
            <a:ext cx="1251" cy="321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1563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1CBF3B4-3D25-A8D2-9AFA-2BAA3D38C33F}"/>
              </a:ext>
            </a:extLst>
          </p:cNvPr>
          <p:cNvSpPr txBox="1"/>
          <p:nvPr/>
        </p:nvSpPr>
        <p:spPr>
          <a:xfrm>
            <a:off x="241301" y="129804"/>
            <a:ext cx="117475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i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5</a:t>
            </a:r>
            <a:r>
              <a:rPr lang="en-US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-fold cross-validation; mostly when not sufficient data is available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55C45B61-9BFC-2413-6085-8E13F87624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065" y="922952"/>
            <a:ext cx="7633396" cy="5287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81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9A269-5081-527F-ECB3-A9F0CDF7E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DAFD78D-D39C-76AC-2A82-A046D751AC06}"/>
              </a:ext>
            </a:extLst>
          </p:cNvPr>
          <p:cNvSpPr txBox="1"/>
          <p:nvPr/>
        </p:nvSpPr>
        <p:spPr>
          <a:xfrm>
            <a:off x="241301" y="129804"/>
            <a:ext cx="117475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Where do we want to sit in terms of underfitting and overfitting</a:t>
            </a:r>
          </a:p>
        </p:txBody>
      </p:sp>
      <p:pic>
        <p:nvPicPr>
          <p:cNvPr id="3074" name="Picture 2" descr="Cross-validation-assessing network's generalization ability. | Download  Scientific Diagram">
            <a:extLst>
              <a:ext uri="{FF2B5EF4-FFF2-40B4-BE49-F238E27FC236}">
                <a16:creationId xmlns:a16="http://schemas.microsoft.com/office/drawing/2014/main" id="{7325D19C-404C-8C6A-0962-E35CE9BBBD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875" y="1295400"/>
            <a:ext cx="8096250" cy="426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68C9273-778F-A4A4-1318-ABF7351E06DE}"/>
              </a:ext>
            </a:extLst>
          </p:cNvPr>
          <p:cNvSpPr/>
          <p:nvPr/>
        </p:nvSpPr>
        <p:spPr>
          <a:xfrm>
            <a:off x="8727440" y="5232400"/>
            <a:ext cx="1005840" cy="4978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2CDA352-6DCB-1F03-6503-272470545AAD}"/>
              </a:ext>
            </a:extLst>
          </p:cNvPr>
          <p:cNvSpPr/>
          <p:nvPr/>
        </p:nvSpPr>
        <p:spPr>
          <a:xfrm>
            <a:off x="5801360" y="5161280"/>
            <a:ext cx="1564640" cy="5689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5B1BBB-9408-E253-FC75-B2B49BC1CE86}"/>
              </a:ext>
            </a:extLst>
          </p:cNvPr>
          <p:cNvSpPr txBox="1"/>
          <p:nvPr/>
        </p:nvSpPr>
        <p:spPr>
          <a:xfrm>
            <a:off x="4216400" y="5240496"/>
            <a:ext cx="34442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Maximum depth</a:t>
            </a:r>
            <a:endParaRPr lang="en-NL" sz="2400" dirty="0"/>
          </a:p>
        </p:txBody>
      </p:sp>
    </p:spTree>
    <p:extLst>
      <p:ext uri="{BB962C8B-B14F-4D97-AF65-F5344CB8AC3E}">
        <p14:creationId xmlns:p14="http://schemas.microsoft.com/office/powerpoint/2010/main" val="5599189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915E7-BA7A-1F8F-AA1A-1CC4891BE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elated image">
            <a:extLst>
              <a:ext uri="{FF2B5EF4-FFF2-40B4-BE49-F238E27FC236}">
                <a16:creationId xmlns:a16="http://schemas.microsoft.com/office/drawing/2014/main" id="{60FD75AE-5908-D4DC-FB8B-4244FD5D4A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3137" y="653024"/>
            <a:ext cx="7382800" cy="5624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850351-B665-1124-9850-141925650539}"/>
              </a:ext>
            </a:extLst>
          </p:cNvPr>
          <p:cNvSpPr txBox="1"/>
          <p:nvPr/>
        </p:nvSpPr>
        <p:spPr>
          <a:xfrm>
            <a:off x="757451" y="1745682"/>
            <a:ext cx="2875629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sz="2400" dirty="0">
                <a:latin typeface="Calibri" panose="020F0502020204030204" pitchFamily="34" charset="0"/>
              </a:rPr>
              <a:t>Error due to bias</a:t>
            </a:r>
          </a:p>
          <a:p>
            <a:r>
              <a:rPr lang="nl-BE" sz="2400" dirty="0">
                <a:latin typeface="Calibri" panose="020F0502020204030204" pitchFamily="34" charset="0"/>
              </a:rPr>
              <a:t>(systematic errors,</a:t>
            </a:r>
          </a:p>
          <a:p>
            <a:r>
              <a:rPr lang="nl-BE" sz="2400" dirty="0">
                <a:latin typeface="Calibri" panose="020F0502020204030204" pitchFamily="34" charset="0"/>
              </a:rPr>
              <a:t>oversimplification)</a:t>
            </a:r>
          </a:p>
          <a:p>
            <a:endParaRPr lang="nl-BE" sz="2400" dirty="0">
              <a:latin typeface="Calibri" panose="020F0502020204030204" pitchFamily="34" charset="0"/>
            </a:endParaRPr>
          </a:p>
          <a:p>
            <a:r>
              <a:rPr lang="nl-BE" sz="2400" dirty="0">
                <a:latin typeface="Calibri" panose="020F0502020204030204" pitchFamily="34" charset="0"/>
              </a:rPr>
              <a:t>Error due to variance</a:t>
            </a:r>
          </a:p>
          <a:p>
            <a:r>
              <a:rPr lang="nl-BE" sz="2400" dirty="0">
                <a:latin typeface="Calibri" panose="020F0502020204030204" pitchFamily="34" charset="0"/>
              </a:rPr>
              <a:t>(sensitivity due to flexibility,</a:t>
            </a:r>
          </a:p>
          <a:p>
            <a:r>
              <a:rPr lang="nl-BE" sz="2400" dirty="0">
                <a:latin typeface="Calibri" panose="020F0502020204030204" pitchFamily="34" charset="0"/>
              </a:rPr>
              <a:t>overcomplification)</a:t>
            </a:r>
          </a:p>
          <a:p>
            <a:endParaRPr lang="nl-BE" sz="2400" dirty="0">
              <a:latin typeface="Calibri" panose="020F0502020204030204" pitchFamily="34" charset="0"/>
            </a:endParaRPr>
          </a:p>
          <a:p>
            <a:r>
              <a:rPr lang="nl-BE" sz="2400" dirty="0">
                <a:latin typeface="Calibri" panose="020F0502020204030204" pitchFamily="34" charset="0"/>
              </a:rPr>
              <a:t>Irreducible error </a:t>
            </a:r>
            <a:endParaRPr lang="en-US" sz="2400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DBF4D3-3E4E-965E-1E3A-DA46F42CD933}"/>
              </a:ext>
            </a:extLst>
          </p:cNvPr>
          <p:cNvSpPr txBox="1"/>
          <p:nvPr/>
        </p:nvSpPr>
        <p:spPr>
          <a:xfrm>
            <a:off x="241301" y="129804"/>
            <a:ext cx="117475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Concept of bias and variance is a foundation of fitting models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40512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B256A8B-B416-4CA9-8771-48392FEF3D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9837" y="1642214"/>
            <a:ext cx="6635437" cy="416737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A987E28-1D05-52C4-D0F5-0A1B810B0689}"/>
              </a:ext>
            </a:extLst>
          </p:cNvPr>
          <p:cNvSpPr txBox="1"/>
          <p:nvPr/>
        </p:nvSpPr>
        <p:spPr>
          <a:xfrm>
            <a:off x="729720" y="2485910"/>
            <a:ext cx="405500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sz="2400" dirty="0">
                <a:latin typeface="Calibri" panose="020F0502020204030204" pitchFamily="34" charset="0"/>
              </a:rPr>
              <a:t>Error due to bias</a:t>
            </a:r>
          </a:p>
          <a:p>
            <a:endParaRPr lang="nl-BE" sz="2400" dirty="0">
              <a:latin typeface="Calibri" panose="020F0502020204030204" pitchFamily="34" charset="0"/>
            </a:endParaRPr>
          </a:p>
          <a:p>
            <a:r>
              <a:rPr lang="nl-BE" sz="2400" dirty="0">
                <a:latin typeface="Calibri" panose="020F0502020204030204" pitchFamily="34" charset="0"/>
              </a:rPr>
              <a:t>Error due to variance</a:t>
            </a:r>
          </a:p>
          <a:p>
            <a:endParaRPr lang="nl-BE" sz="2400" dirty="0">
              <a:latin typeface="Calibri" panose="020F0502020204030204" pitchFamily="34" charset="0"/>
            </a:endParaRPr>
          </a:p>
          <a:p>
            <a:r>
              <a:rPr lang="nl-BE" sz="2400" dirty="0">
                <a:latin typeface="Calibri" panose="020F0502020204030204" pitchFamily="34" charset="0"/>
              </a:rPr>
              <a:t>Irreducible error </a:t>
            </a:r>
            <a:endParaRPr lang="en-US" sz="2400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US" dirty="0">
              <a:latin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F47A19-F1CE-AE6F-E5F3-864B4EB25650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Concept of bias and variance is a foundation of fitting models</a:t>
            </a:r>
            <a:endParaRPr lang="en-GB" sz="28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30464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 descr="Related image">
            <a:extLst>
              <a:ext uri="{FF2B5EF4-FFF2-40B4-BE49-F238E27FC236}">
                <a16:creationId xmlns:a16="http://schemas.microsoft.com/office/drawing/2014/main" id="{05CE624E-428B-4EEF-B623-B7958FFB9F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219" y="1133853"/>
            <a:ext cx="6892593" cy="5251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46CC7FD9-370E-4A18-99A5-08AD5B7FFA93}"/>
              </a:ext>
            </a:extLst>
          </p:cNvPr>
          <p:cNvSpPr/>
          <p:nvPr/>
        </p:nvSpPr>
        <p:spPr>
          <a:xfrm rot="16200000">
            <a:off x="4074546" y="3808214"/>
            <a:ext cx="1679029" cy="400337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04A7BC4-D9C3-4283-AEF0-AC8E83FF44A2}"/>
              </a:ext>
            </a:extLst>
          </p:cNvPr>
          <p:cNvSpPr/>
          <p:nvPr/>
        </p:nvSpPr>
        <p:spPr>
          <a:xfrm rot="10800000">
            <a:off x="5535484" y="2707256"/>
            <a:ext cx="1679029" cy="400337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5EAFEC-505F-40C0-AE44-A1698E0909D4}"/>
              </a:ext>
            </a:extLst>
          </p:cNvPr>
          <p:cNvSpPr txBox="1"/>
          <p:nvPr/>
        </p:nvSpPr>
        <p:spPr>
          <a:xfrm>
            <a:off x="4390697" y="3759444"/>
            <a:ext cx="17972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sz="2400" dirty="0"/>
              <a:t>bagging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D9E6B6-2390-4BE6-AF89-C4B9B110FCAF}"/>
              </a:ext>
            </a:extLst>
          </p:cNvPr>
          <p:cNvSpPr txBox="1"/>
          <p:nvPr/>
        </p:nvSpPr>
        <p:spPr>
          <a:xfrm>
            <a:off x="5741277" y="2645928"/>
            <a:ext cx="17972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sz="2400" dirty="0"/>
              <a:t>boosting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F1FDA0-20F2-FF74-FD4B-21B1B82F32A5}"/>
              </a:ext>
            </a:extLst>
          </p:cNvPr>
          <p:cNvSpPr txBox="1"/>
          <p:nvPr/>
        </p:nvSpPr>
        <p:spPr>
          <a:xfrm>
            <a:off x="241301" y="129804"/>
            <a:ext cx="11747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Bagging and boosting use under- and overfitting to get more performant models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56560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172211" y="1599995"/>
            <a:ext cx="913055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sz="2000" dirty="0">
                <a:latin typeface="Calibri" panose="020F0502020204030204" pitchFamily="34" charset="0"/>
              </a:rPr>
              <a:t>Simulate the notion of different train set samples: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US" sz="2000" dirty="0">
              <a:latin typeface="Calibri" panose="020F0502020204030204" pitchFamily="34" charset="0"/>
            </a:endParaRPr>
          </a:p>
          <a:p>
            <a:pPr marL="1371600" lvl="2" indent="-457200">
              <a:buFont typeface="+mj-lt"/>
              <a:buAutoNum type="arabicPeriod"/>
            </a:pPr>
            <a:r>
              <a:rPr lang="en-US" sz="2000" dirty="0">
                <a:latin typeface="Calibri" panose="020F0502020204030204" pitchFamily="34" charset="0"/>
              </a:rPr>
              <a:t>sample data points from train set to create new train set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sz="2000" dirty="0">
                <a:latin typeface="Calibri" panose="020F0502020204030204" pitchFamily="34" charset="0"/>
              </a:rPr>
              <a:t>fit low bias high variance model on new train set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sz="2000" dirty="0">
                <a:latin typeface="Calibri" panose="020F0502020204030204" pitchFamily="34" charset="0"/>
              </a:rPr>
              <a:t>repeat steps (1) and (2) </a:t>
            </a:r>
            <a:r>
              <a:rPr lang="en-US" sz="2000" i="1" dirty="0">
                <a:latin typeface="Calibri" panose="020F0502020204030204" pitchFamily="34" charset="0"/>
              </a:rPr>
              <a:t>T</a:t>
            </a:r>
            <a:r>
              <a:rPr lang="en-US" sz="2000" dirty="0">
                <a:latin typeface="Calibri" panose="020F0502020204030204" pitchFamily="34" charset="0"/>
              </a:rPr>
              <a:t> times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US" sz="2000" dirty="0">
                <a:latin typeface="Calibri" panose="020F0502020204030204" pitchFamily="34" charset="0"/>
              </a:rPr>
              <a:t>average the predictions of the </a:t>
            </a:r>
            <a:r>
              <a:rPr lang="en-US" sz="2000" i="1" dirty="0">
                <a:latin typeface="Calibri" panose="020F0502020204030204" pitchFamily="34" charset="0"/>
              </a:rPr>
              <a:t>T</a:t>
            </a:r>
            <a:r>
              <a:rPr lang="en-US" sz="2000" dirty="0">
                <a:latin typeface="Calibri" panose="020F0502020204030204" pitchFamily="34" charset="0"/>
              </a:rPr>
              <a:t> models  </a:t>
            </a:r>
          </a:p>
          <a:p>
            <a:endParaRPr lang="nl-BE" sz="2000" dirty="0">
              <a:latin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49A3C4-5E88-4059-831F-EFBC517E5A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5906" y="3957123"/>
            <a:ext cx="3123164" cy="109899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01EFCC3-E053-4D11-0B65-292DD2846A6C}"/>
              </a:ext>
            </a:extLst>
          </p:cNvPr>
          <p:cNvSpPr txBox="1"/>
          <p:nvPr/>
        </p:nvSpPr>
        <p:spPr>
          <a:xfrm>
            <a:off x="241301" y="129804"/>
            <a:ext cx="11747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Bagging uses multiple overfitted (high variance) trees to reduce overfitting (low variance)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99975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CCBBB6A-936C-4DBC-9897-6E7F636B914D}"/>
              </a:ext>
            </a:extLst>
          </p:cNvPr>
          <p:cNvSpPr txBox="1"/>
          <p:nvPr/>
        </p:nvSpPr>
        <p:spPr>
          <a:xfrm>
            <a:off x="1489841" y="1529255"/>
            <a:ext cx="899422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GB" dirty="0"/>
              <a:t>Train set contains </a:t>
            </a:r>
            <a:r>
              <a:rPr lang="en-GB" i="1" dirty="0"/>
              <a:t>n</a:t>
            </a:r>
            <a:r>
              <a:rPr lang="en-GB" dirty="0"/>
              <a:t> data points with </a:t>
            </a:r>
            <a:r>
              <a:rPr lang="en-GB" i="1" dirty="0"/>
              <a:t>m</a:t>
            </a:r>
            <a:r>
              <a:rPr lang="en-GB" dirty="0"/>
              <a:t> features.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GB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GB" dirty="0"/>
              <a:t>Construct  </a:t>
            </a:r>
            <a:r>
              <a:rPr lang="en-GB" i="1" dirty="0"/>
              <a:t>T</a:t>
            </a:r>
            <a:r>
              <a:rPr lang="en-GB" dirty="0"/>
              <a:t> low bias high variance decision trees by following these steps: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GB" dirty="0"/>
          </a:p>
          <a:p>
            <a:pPr marL="800100" lvl="1" indent="-342900">
              <a:buFont typeface="+mj-lt"/>
              <a:buAutoNum type="arabicPeriod"/>
            </a:pPr>
            <a:r>
              <a:rPr lang="en-GB" dirty="0"/>
              <a:t>Sample </a:t>
            </a:r>
            <a:r>
              <a:rPr lang="en-GB" b="1" i="1" dirty="0"/>
              <a:t>n</a:t>
            </a:r>
            <a:r>
              <a:rPr lang="en-GB" dirty="0"/>
              <a:t> data points at random </a:t>
            </a:r>
            <a:r>
              <a:rPr lang="en-GB" b="1" dirty="0"/>
              <a:t>with replacement </a:t>
            </a:r>
            <a:r>
              <a:rPr lang="en-GB" dirty="0"/>
              <a:t>from the train set. </a:t>
            </a:r>
          </a:p>
          <a:p>
            <a:pPr marL="800100" lvl="1" indent="-342900">
              <a:buFont typeface="+mj-lt"/>
              <a:buAutoNum type="arabicPeriod"/>
            </a:pPr>
            <a:endParaRPr lang="en-GB" dirty="0"/>
          </a:p>
          <a:p>
            <a:pPr marL="800100" lvl="1" indent="-342900">
              <a:buFont typeface="+mj-lt"/>
              <a:buAutoNum type="arabicPeriod"/>
            </a:pPr>
            <a:r>
              <a:rPr lang="en-GB" dirty="0"/>
              <a:t>At each node,  select </a:t>
            </a:r>
            <a:r>
              <a:rPr lang="en-GB" i="1" dirty="0"/>
              <a:t>h </a:t>
            </a:r>
            <a:r>
              <a:rPr lang="en-GB" dirty="0"/>
              <a:t>from </a:t>
            </a:r>
            <a:r>
              <a:rPr lang="en-GB" i="1" dirty="0"/>
              <a:t>m</a:t>
            </a:r>
            <a:r>
              <a:rPr lang="en-GB" dirty="0"/>
              <a:t>  features at random where </a:t>
            </a:r>
            <a:r>
              <a:rPr lang="en-GB" i="1" dirty="0"/>
              <a:t>(h&lt;&lt;m</a:t>
            </a:r>
            <a:r>
              <a:rPr lang="en-GB" dirty="0"/>
              <a:t>) and compute the best split using only these </a:t>
            </a:r>
            <a:r>
              <a:rPr lang="en-GB" i="1" dirty="0"/>
              <a:t>h</a:t>
            </a:r>
            <a:r>
              <a:rPr lang="en-GB" dirty="0"/>
              <a:t> features.</a:t>
            </a:r>
          </a:p>
          <a:p>
            <a:pPr marL="800100" lvl="1" indent="-342900">
              <a:buFont typeface="+mj-lt"/>
              <a:buAutoNum type="arabicPeriod"/>
            </a:pPr>
            <a:endParaRPr lang="en-GB" dirty="0"/>
          </a:p>
          <a:p>
            <a:pPr marL="800100" lvl="1" indent="-342900">
              <a:buFont typeface="+mj-lt"/>
              <a:buAutoNum type="arabicPeriod"/>
            </a:pPr>
            <a:r>
              <a:rPr lang="en-GB" dirty="0"/>
              <a:t>Each tree is grown to the largest extent possible. Or at least to a high-level complexity</a:t>
            </a:r>
          </a:p>
          <a:p>
            <a:pPr marL="342900" indent="-342900">
              <a:buFont typeface="+mj-lt"/>
              <a:buAutoNum type="arabicPeriod"/>
            </a:pPr>
            <a:endParaRPr lang="en-GB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GB" dirty="0"/>
              <a:t>Step 3 ensures that the bagged models are low bias by learning deep complex decision trees.</a:t>
            </a:r>
            <a:endParaRPr lang="nl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D126C6-BF52-3888-05E1-434D84BD3C9A}"/>
              </a:ext>
            </a:extLst>
          </p:cNvPr>
          <p:cNvSpPr txBox="1"/>
          <p:nvPr/>
        </p:nvSpPr>
        <p:spPr>
          <a:xfrm>
            <a:off x="241301" y="129804"/>
            <a:ext cx="117475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Bagging: Random Forest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33355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88DD253-EE09-4318-B362-F8DD895BE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94" y="1294814"/>
            <a:ext cx="12027811" cy="4462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D5F254-81F9-CD11-65A8-2A12C0406247}"/>
              </a:ext>
            </a:extLst>
          </p:cNvPr>
          <p:cNvSpPr txBox="1"/>
          <p:nvPr/>
        </p:nvSpPr>
        <p:spPr>
          <a:xfrm>
            <a:off x="241301" y="129804"/>
            <a:ext cx="117475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Bagging: Random Forest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057897-8C02-4BBA-0F63-80499DF85091}"/>
              </a:ext>
            </a:extLst>
          </p:cNvPr>
          <p:cNvSpPr/>
          <p:nvPr/>
        </p:nvSpPr>
        <p:spPr>
          <a:xfrm>
            <a:off x="82094" y="3180080"/>
            <a:ext cx="477520" cy="4978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X2</a:t>
            </a:r>
            <a:endParaRPr lang="en-NL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C32A8A-89DD-861D-C233-5DDE05210810}"/>
              </a:ext>
            </a:extLst>
          </p:cNvPr>
          <p:cNvSpPr/>
          <p:nvPr/>
        </p:nvSpPr>
        <p:spPr>
          <a:xfrm>
            <a:off x="3181350" y="3310890"/>
            <a:ext cx="156210" cy="179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4FF766-6A5B-D430-E292-D68265078505}"/>
              </a:ext>
            </a:extLst>
          </p:cNvPr>
          <p:cNvSpPr/>
          <p:nvPr/>
        </p:nvSpPr>
        <p:spPr>
          <a:xfrm>
            <a:off x="6115051" y="3310890"/>
            <a:ext cx="156210" cy="179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22FD70-9EF8-83D6-D886-62C3534728DA}"/>
              </a:ext>
            </a:extLst>
          </p:cNvPr>
          <p:cNvSpPr/>
          <p:nvPr/>
        </p:nvSpPr>
        <p:spPr>
          <a:xfrm>
            <a:off x="9029702" y="3310890"/>
            <a:ext cx="156210" cy="179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49390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FD623F-C869-4B9E-84FA-5E7E9FE8A003}"/>
              </a:ext>
            </a:extLst>
          </p:cNvPr>
          <p:cNvSpPr txBox="1"/>
          <p:nvPr/>
        </p:nvSpPr>
        <p:spPr>
          <a:xfrm>
            <a:off x="1300655" y="1513490"/>
            <a:ext cx="951449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reduce the bias of a high bias low variance model</a:t>
            </a:r>
          </a:p>
          <a:p>
            <a:endParaRPr lang="en-GB" sz="2000" dirty="0"/>
          </a:p>
          <a:p>
            <a:r>
              <a:rPr lang="en-GB" sz="2000" dirty="0"/>
              <a:t>turning an ensemble of weak learners into a strong learner</a:t>
            </a:r>
          </a:p>
          <a:p>
            <a:endParaRPr lang="en-GB" sz="2000" dirty="0"/>
          </a:p>
          <a:p>
            <a:r>
              <a:rPr lang="en-GB" sz="2000" dirty="0"/>
              <a:t>the meta-model is additive, i.e. </a:t>
            </a:r>
            <a:r>
              <a:rPr lang="en-GB" sz="2000" dirty="0" err="1"/>
              <a:t>Adaboost</a:t>
            </a:r>
            <a:r>
              <a:rPr lang="en-GB" sz="2000" dirty="0"/>
              <a:t>:</a:t>
            </a:r>
            <a:endParaRPr lang="nl-BE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6D0E84-8F1D-491C-9DBC-9965F177F0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614" y="3337413"/>
            <a:ext cx="2821276" cy="11808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EE2CA07-2C35-F83A-E2DD-2AD4C7A96593}"/>
              </a:ext>
            </a:extLst>
          </p:cNvPr>
          <p:cNvSpPr txBox="1"/>
          <p:nvPr/>
        </p:nvSpPr>
        <p:spPr>
          <a:xfrm>
            <a:off x="241301" y="129804"/>
            <a:ext cx="11747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Boosting uses multiple underfitted (low variance; high bias) trees to reduce underfitting (low variance; low bias)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19946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F71C8B-C4A7-46E6-AE2B-10A2ED804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765" y="3470432"/>
            <a:ext cx="5509737" cy="15317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1C46FF8-6123-4AB9-A32F-D6937C2B06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5404" y="3373459"/>
            <a:ext cx="2499577" cy="9906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FF09F3-D5B7-46C3-8529-7B0C220681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8296" y="4364145"/>
            <a:ext cx="3749365" cy="70110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C5E4845-4F5A-43E2-8080-797E76DF88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5252" y="1448616"/>
            <a:ext cx="2621507" cy="137171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19C350-F358-21B9-E1FA-A4ABA8DA6F2B}"/>
              </a:ext>
            </a:extLst>
          </p:cNvPr>
          <p:cNvSpPr txBox="1"/>
          <p:nvPr/>
        </p:nvSpPr>
        <p:spPr>
          <a:xfrm>
            <a:off x="241301" y="129804"/>
            <a:ext cx="117475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Boosting: Gradient boosting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94624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537A307-D2C5-4D01-BF60-85871652E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376" y="1441161"/>
            <a:ext cx="11717248" cy="383851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B87DC9D-53B6-0167-04FA-661E59C2D835}"/>
              </a:ext>
            </a:extLst>
          </p:cNvPr>
          <p:cNvSpPr txBox="1"/>
          <p:nvPr/>
        </p:nvSpPr>
        <p:spPr>
          <a:xfrm>
            <a:off x="241301" y="129804"/>
            <a:ext cx="117475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  <a:ea typeface="Lato" panose="020B0604020202020204" pitchFamily="34" charset="0"/>
                <a:cs typeface="Helvetica" panose="020B0604020202020204" pitchFamily="34" charset="0"/>
              </a:rPr>
              <a:t>Boosting: Gradient boosting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2FD8A4-8563-78B7-3318-05DC4D6C319C}"/>
              </a:ext>
            </a:extLst>
          </p:cNvPr>
          <p:cNvSpPr txBox="1"/>
          <p:nvPr/>
        </p:nvSpPr>
        <p:spPr>
          <a:xfrm>
            <a:off x="653143" y="588315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BE" dirty="0">
                <a:hlinkClick r:id="rId4"/>
              </a:rPr>
              <a:t>Gradient Boosting explained [demonstration]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5480106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6617</TotalTime>
  <Words>476</Words>
  <Application>Microsoft Office PowerPoint</Application>
  <PresentationFormat>Widescreen</PresentationFormat>
  <Paragraphs>86</Paragraphs>
  <Slides>17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Calibri Light</vt:lpstr>
      <vt:lpstr>Corbel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Robbin Bouwmeester</cp:lastModifiedBy>
  <cp:revision>39</cp:revision>
  <cp:lastPrinted>2017-05-05T08:02:00Z</cp:lastPrinted>
  <dcterms:created xsi:type="dcterms:W3CDTF">2015-04-25T14:44:52Z</dcterms:created>
  <dcterms:modified xsi:type="dcterms:W3CDTF">2026-10-22T08:05:04Z</dcterms:modified>
</cp:coreProperties>
</file>