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565" r:id="rId2"/>
    <p:sldId id="566" r:id="rId3"/>
    <p:sldId id="567" r:id="rId4"/>
    <p:sldId id="568" r:id="rId5"/>
    <p:sldId id="569" r:id="rId6"/>
    <p:sldId id="570" r:id="rId7"/>
    <p:sldId id="571" r:id="rId8"/>
    <p:sldId id="572" r:id="rId9"/>
    <p:sldId id="256" r:id="rId10"/>
    <p:sldId id="562" r:id="rId11"/>
    <p:sldId id="564" r:id="rId12"/>
    <p:sldId id="275" r:id="rId13"/>
    <p:sldId id="276" r:id="rId14"/>
    <p:sldId id="278" r:id="rId15"/>
    <p:sldId id="563" r:id="rId16"/>
    <p:sldId id="258" r:id="rId17"/>
    <p:sldId id="259" r:id="rId18"/>
    <p:sldId id="257" r:id="rId19"/>
    <p:sldId id="260" r:id="rId20"/>
    <p:sldId id="261" r:id="rId21"/>
    <p:sldId id="262" r:id="rId22"/>
  </p:sldIdLst>
  <p:sldSz cx="12192000" cy="6858000"/>
  <p:notesSz cx="6797675" cy="987425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947E30-7150-44D7-A78F-67D4AC156147}" v="7" dt="2026-10-20T12:43:39.3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3" autoAdjust="0"/>
    <p:restoredTop sz="81532" autoAdjust="0"/>
  </p:normalViewPr>
  <p:slideViewPr>
    <p:cSldViewPr snapToGrid="0">
      <p:cViewPr varScale="1">
        <p:scale>
          <a:sx n="131" d="100"/>
          <a:sy n="131" d="100"/>
        </p:scale>
        <p:origin x="1300"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bin Bouwmeester" userId="1dbfebabfc25a55a" providerId="LiveId" clId="{75D63595-F797-482E-A4A0-2F4889B74D4F}"/>
    <pc:docChg chg="undo custSel addSld modSld sldOrd">
      <pc:chgData name="Robbin Bouwmeester" userId="1dbfebabfc25a55a" providerId="LiveId" clId="{75D63595-F797-482E-A4A0-2F4889B74D4F}" dt="2026-10-20T12:43:39.303" v="164"/>
      <pc:docMkLst>
        <pc:docMk/>
      </pc:docMkLst>
      <pc:sldChg chg="ord">
        <pc:chgData name="Robbin Bouwmeester" userId="1dbfebabfc25a55a" providerId="LiveId" clId="{75D63595-F797-482E-A4A0-2F4889B74D4F}" dt="2026-10-20T12:35:02.510" v="6"/>
        <pc:sldMkLst>
          <pc:docMk/>
          <pc:sldMk cId="2685696956" sldId="256"/>
        </pc:sldMkLst>
      </pc:sldChg>
      <pc:sldChg chg="add">
        <pc:chgData name="Robbin Bouwmeester" userId="1dbfebabfc25a55a" providerId="LiveId" clId="{75D63595-F797-482E-A4A0-2F4889B74D4F}" dt="2026-10-20T12:32:23.052" v="0"/>
        <pc:sldMkLst>
          <pc:docMk/>
          <pc:sldMk cId="416481786" sldId="275"/>
        </pc:sldMkLst>
      </pc:sldChg>
      <pc:sldChg chg="add">
        <pc:chgData name="Robbin Bouwmeester" userId="1dbfebabfc25a55a" providerId="LiveId" clId="{75D63595-F797-482E-A4A0-2F4889B74D4F}" dt="2026-10-20T12:32:23.052" v="0"/>
        <pc:sldMkLst>
          <pc:docMk/>
          <pc:sldMk cId="559918975" sldId="276"/>
        </pc:sldMkLst>
      </pc:sldChg>
      <pc:sldChg chg="add">
        <pc:chgData name="Robbin Bouwmeester" userId="1dbfebabfc25a55a" providerId="LiveId" clId="{75D63595-F797-482E-A4A0-2F4889B74D4F}" dt="2026-10-20T12:32:36.919" v="1"/>
        <pc:sldMkLst>
          <pc:docMk/>
          <pc:sldMk cId="4034051223" sldId="278"/>
        </pc:sldMkLst>
      </pc:sldChg>
      <pc:sldChg chg="add">
        <pc:chgData name="Robbin Bouwmeester" userId="1dbfebabfc25a55a" providerId="LiveId" clId="{75D63595-F797-482E-A4A0-2F4889B74D4F}" dt="2026-10-20T12:32:23.052" v="0"/>
        <pc:sldMkLst>
          <pc:docMk/>
          <pc:sldMk cId="3531563971" sldId="562"/>
        </pc:sldMkLst>
      </pc:sldChg>
      <pc:sldChg chg="add">
        <pc:chgData name="Robbin Bouwmeester" userId="1dbfebabfc25a55a" providerId="LiveId" clId="{75D63595-F797-482E-A4A0-2F4889B74D4F}" dt="2026-10-20T12:32:36.919" v="1"/>
        <pc:sldMkLst>
          <pc:docMk/>
          <pc:sldMk cId="2553046411" sldId="563"/>
        </pc:sldMkLst>
      </pc:sldChg>
      <pc:sldChg chg="add">
        <pc:chgData name="Robbin Bouwmeester" userId="1dbfebabfc25a55a" providerId="LiveId" clId="{75D63595-F797-482E-A4A0-2F4889B74D4F}" dt="2026-10-20T12:33:03.935" v="4"/>
        <pc:sldMkLst>
          <pc:docMk/>
          <pc:sldMk cId="855041973" sldId="564"/>
        </pc:sldMkLst>
      </pc:sldChg>
      <pc:sldChg chg="addSp delSp modSp add mod setBg">
        <pc:chgData name="Robbin Bouwmeester" userId="1dbfebabfc25a55a" providerId="LiveId" clId="{75D63595-F797-482E-A4A0-2F4889B74D4F}" dt="2026-10-20T12:35:59.821" v="29" actId="1036"/>
        <pc:sldMkLst>
          <pc:docMk/>
          <pc:sldMk cId="171663991" sldId="565"/>
        </pc:sldMkLst>
        <pc:spChg chg="add del mod">
          <ac:chgData name="Robbin Bouwmeester" userId="1dbfebabfc25a55a" providerId="LiveId" clId="{75D63595-F797-482E-A4A0-2F4889B74D4F}" dt="2026-10-20T12:35:37.052" v="13" actId="478"/>
          <ac:spMkLst>
            <pc:docMk/>
            <pc:sldMk cId="171663991" sldId="565"/>
            <ac:spMk id="2" creationId="{D10559D5-F25B-4921-BDEE-3EDA6E19923F}"/>
          </ac:spMkLst>
        </pc:spChg>
        <pc:spChg chg="del">
          <ac:chgData name="Robbin Bouwmeester" userId="1dbfebabfc25a55a" providerId="LiveId" clId="{75D63595-F797-482E-A4A0-2F4889B74D4F}" dt="2026-10-20T12:35:52.803" v="16" actId="478"/>
          <ac:spMkLst>
            <pc:docMk/>
            <pc:sldMk cId="171663991" sldId="565"/>
            <ac:spMk id="5" creationId="{6C75F81C-9CE8-4087-8BF3-014F6883F2BE}"/>
          </ac:spMkLst>
        </pc:spChg>
        <pc:spChg chg="del mod">
          <ac:chgData name="Robbin Bouwmeester" userId="1dbfebabfc25a55a" providerId="LiveId" clId="{75D63595-F797-482E-A4A0-2F4889B74D4F}" dt="2026-10-20T12:35:39.722" v="14" actId="478"/>
          <ac:spMkLst>
            <pc:docMk/>
            <pc:sldMk cId="171663991" sldId="565"/>
            <ac:spMk id="6" creationId="{94AF2BB9-9BAA-49EE-83F1-4CB8220DF763}"/>
          </ac:spMkLst>
        </pc:spChg>
        <pc:spChg chg="add">
          <ac:chgData name="Robbin Bouwmeester" userId="1dbfebabfc25a55a" providerId="LiveId" clId="{75D63595-F797-482E-A4A0-2F4889B74D4F}" dt="2026-10-20T12:35:40.080" v="15" actId="22"/>
          <ac:spMkLst>
            <pc:docMk/>
            <pc:sldMk cId="171663991" sldId="565"/>
            <ac:spMk id="8" creationId="{86592D9F-8B4B-7AFE-4D77-9BEDDB38610D}"/>
          </ac:spMkLst>
        </pc:spChg>
        <pc:graphicFrameChg chg="mod">
          <ac:chgData name="Robbin Bouwmeester" userId="1dbfebabfc25a55a" providerId="LiveId" clId="{75D63595-F797-482E-A4A0-2F4889B74D4F}" dt="2026-10-20T12:35:59.821" v="29" actId="1036"/>
          <ac:graphicFrameMkLst>
            <pc:docMk/>
            <pc:sldMk cId="171663991" sldId="565"/>
            <ac:graphicFrameMk id="4" creationId="{8D2B1C24-A399-4560-A8D8-FB4DA1A5194E}"/>
          </ac:graphicFrameMkLst>
        </pc:graphicFrameChg>
      </pc:sldChg>
      <pc:sldChg chg="addSp delSp modSp add mod">
        <pc:chgData name="Robbin Bouwmeester" userId="1dbfebabfc25a55a" providerId="LiveId" clId="{75D63595-F797-482E-A4A0-2F4889B74D4F}" dt="2026-10-20T12:38:22.124" v="135" actId="20577"/>
        <pc:sldMkLst>
          <pc:docMk/>
          <pc:sldMk cId="1084503258" sldId="566"/>
        </pc:sldMkLst>
        <pc:spChg chg="add del">
          <ac:chgData name="Robbin Bouwmeester" userId="1dbfebabfc25a55a" providerId="LiveId" clId="{75D63595-F797-482E-A4A0-2F4889B74D4F}" dt="2026-10-20T12:36:26.975" v="33" actId="22"/>
          <ac:spMkLst>
            <pc:docMk/>
            <pc:sldMk cId="1084503258" sldId="566"/>
            <ac:spMk id="7" creationId="{4BED4813-344E-24AA-2D0D-AE6709A1B92E}"/>
          </ac:spMkLst>
        </pc:spChg>
        <pc:spChg chg="mod">
          <ac:chgData name="Robbin Bouwmeester" userId="1dbfebabfc25a55a" providerId="LiveId" clId="{75D63595-F797-482E-A4A0-2F4889B74D4F}" dt="2026-10-20T12:38:22.124" v="135" actId="20577"/>
          <ac:spMkLst>
            <pc:docMk/>
            <pc:sldMk cId="1084503258" sldId="566"/>
            <ac:spMk id="8" creationId="{119249DB-B9C2-F826-E5BC-F579681A3F7E}"/>
          </ac:spMkLst>
        </pc:spChg>
        <pc:spChg chg="add del">
          <ac:chgData name="Robbin Bouwmeester" userId="1dbfebabfc25a55a" providerId="LiveId" clId="{75D63595-F797-482E-A4A0-2F4889B74D4F}" dt="2026-10-20T12:36:26.975" v="33" actId="22"/>
          <ac:spMkLst>
            <pc:docMk/>
            <pc:sldMk cId="1084503258" sldId="566"/>
            <ac:spMk id="10" creationId="{2FCB4E0B-EBE2-8D89-AEC7-BD7EA213AABF}"/>
          </ac:spMkLst>
        </pc:spChg>
        <pc:spChg chg="add del">
          <ac:chgData name="Robbin Bouwmeester" userId="1dbfebabfc25a55a" providerId="LiveId" clId="{75D63595-F797-482E-A4A0-2F4889B74D4F}" dt="2026-10-20T12:36:26.975" v="33" actId="22"/>
          <ac:spMkLst>
            <pc:docMk/>
            <pc:sldMk cId="1084503258" sldId="566"/>
            <ac:spMk id="12" creationId="{8EDE377E-4F84-BC0D-C0FC-60221206BC9D}"/>
          </ac:spMkLst>
        </pc:spChg>
        <pc:spChg chg="add del mod">
          <ac:chgData name="Robbin Bouwmeester" userId="1dbfebabfc25a55a" providerId="LiveId" clId="{75D63595-F797-482E-A4A0-2F4889B74D4F}" dt="2026-10-20T12:37:05.483" v="37" actId="22"/>
          <ac:spMkLst>
            <pc:docMk/>
            <pc:sldMk cId="1084503258" sldId="566"/>
            <ac:spMk id="16" creationId="{96FCA59F-477C-92EA-2620-2B7E5522F2B6}"/>
          </ac:spMkLst>
        </pc:spChg>
        <pc:spChg chg="add del mod">
          <ac:chgData name="Robbin Bouwmeester" userId="1dbfebabfc25a55a" providerId="LiveId" clId="{75D63595-F797-482E-A4A0-2F4889B74D4F}" dt="2026-10-20T12:37:05.483" v="37" actId="22"/>
          <ac:spMkLst>
            <pc:docMk/>
            <pc:sldMk cId="1084503258" sldId="566"/>
            <ac:spMk id="18" creationId="{4A8E0B5E-5357-77AD-2290-CEE51715FDCD}"/>
          </ac:spMkLst>
        </pc:spChg>
        <pc:spChg chg="add del mod">
          <ac:chgData name="Robbin Bouwmeester" userId="1dbfebabfc25a55a" providerId="LiveId" clId="{75D63595-F797-482E-A4A0-2F4889B74D4F}" dt="2026-10-20T12:37:05.483" v="37" actId="22"/>
          <ac:spMkLst>
            <pc:docMk/>
            <pc:sldMk cId="1084503258" sldId="566"/>
            <ac:spMk id="20" creationId="{A582C733-E0D8-A405-A160-25EFDA4ADFB6}"/>
          </ac:spMkLst>
        </pc:spChg>
        <pc:graphicFrameChg chg="del">
          <ac:chgData name="Robbin Bouwmeester" userId="1dbfebabfc25a55a" providerId="LiveId" clId="{75D63595-F797-482E-A4A0-2F4889B74D4F}" dt="2026-10-20T12:36:25.114" v="31" actId="478"/>
          <ac:graphicFrameMkLst>
            <pc:docMk/>
            <pc:sldMk cId="1084503258" sldId="566"/>
            <ac:graphicFrameMk id="4" creationId="{48CAB2C9-6FCA-5E68-7F30-FFB8AE624C34}"/>
          </ac:graphicFrameMkLst>
        </pc:graphicFrameChg>
        <pc:graphicFrameChg chg="add del">
          <ac:chgData name="Robbin Bouwmeester" userId="1dbfebabfc25a55a" providerId="LiveId" clId="{75D63595-F797-482E-A4A0-2F4889B74D4F}" dt="2026-10-20T12:36:26.975" v="33" actId="22"/>
          <ac:graphicFrameMkLst>
            <pc:docMk/>
            <pc:sldMk cId="1084503258" sldId="566"/>
            <ac:graphicFrameMk id="5" creationId="{D574937E-0470-DB22-E83F-A2D3B404DA1B}"/>
          </ac:graphicFrameMkLst>
        </pc:graphicFrameChg>
        <pc:graphicFrameChg chg="add del mod">
          <ac:chgData name="Robbin Bouwmeester" userId="1dbfebabfc25a55a" providerId="LiveId" clId="{75D63595-F797-482E-A4A0-2F4889B74D4F}" dt="2026-10-20T12:37:05.483" v="37" actId="22"/>
          <ac:graphicFrameMkLst>
            <pc:docMk/>
            <pc:sldMk cId="1084503258" sldId="566"/>
            <ac:graphicFrameMk id="14" creationId="{6A225808-7D42-F73E-74EF-8E7A01634278}"/>
          </ac:graphicFrameMkLst>
        </pc:graphicFrameChg>
        <pc:picChg chg="add mod">
          <ac:chgData name="Robbin Bouwmeester" userId="1dbfebabfc25a55a" providerId="LiveId" clId="{75D63595-F797-482E-A4A0-2F4889B74D4F}" dt="2026-10-20T12:37:41.958" v="44" actId="1076"/>
          <ac:picMkLst>
            <pc:docMk/>
            <pc:sldMk cId="1084503258" sldId="566"/>
            <ac:picMk id="22" creationId="{CB3185B3-2DDD-AF7F-956D-ECCDA1D0D35F}"/>
          </ac:picMkLst>
        </pc:picChg>
      </pc:sldChg>
      <pc:sldChg chg="addSp delSp modSp add mod">
        <pc:chgData name="Robbin Bouwmeester" userId="1dbfebabfc25a55a" providerId="LiveId" clId="{75D63595-F797-482E-A4A0-2F4889B74D4F}" dt="2026-10-20T12:39:03.251" v="140" actId="1076"/>
        <pc:sldMkLst>
          <pc:docMk/>
          <pc:sldMk cId="990905693" sldId="567"/>
        </pc:sldMkLst>
        <pc:picChg chg="add mod">
          <ac:chgData name="Robbin Bouwmeester" userId="1dbfebabfc25a55a" providerId="LiveId" clId="{75D63595-F797-482E-A4A0-2F4889B74D4F}" dt="2026-10-20T12:39:03.251" v="140" actId="1076"/>
          <ac:picMkLst>
            <pc:docMk/>
            <pc:sldMk cId="990905693" sldId="567"/>
            <ac:picMk id="4" creationId="{7082301F-C054-848F-82EB-5CA5ACC6EB0B}"/>
          </ac:picMkLst>
        </pc:picChg>
        <pc:picChg chg="del">
          <ac:chgData name="Robbin Bouwmeester" userId="1dbfebabfc25a55a" providerId="LiveId" clId="{75D63595-F797-482E-A4A0-2F4889B74D4F}" dt="2026-10-20T12:38:37.287" v="137" actId="478"/>
          <ac:picMkLst>
            <pc:docMk/>
            <pc:sldMk cId="990905693" sldId="567"/>
            <ac:picMk id="22" creationId="{B84E28CF-09B4-9667-4B36-71B2E05C2825}"/>
          </ac:picMkLst>
        </pc:picChg>
      </pc:sldChg>
      <pc:sldChg chg="addSp delSp modSp add mod">
        <pc:chgData name="Robbin Bouwmeester" userId="1dbfebabfc25a55a" providerId="LiveId" clId="{75D63595-F797-482E-A4A0-2F4889B74D4F}" dt="2026-10-20T12:39:42.084" v="145" actId="1076"/>
        <pc:sldMkLst>
          <pc:docMk/>
          <pc:sldMk cId="2068919554" sldId="568"/>
        </pc:sldMkLst>
        <pc:picChg chg="del">
          <ac:chgData name="Robbin Bouwmeester" userId="1dbfebabfc25a55a" providerId="LiveId" clId="{75D63595-F797-482E-A4A0-2F4889B74D4F}" dt="2026-10-20T12:39:29.082" v="142" actId="478"/>
          <ac:picMkLst>
            <pc:docMk/>
            <pc:sldMk cId="2068919554" sldId="568"/>
            <ac:picMk id="4" creationId="{10D8143E-3231-520E-B8F9-4E1DB9D3DF65}"/>
          </ac:picMkLst>
        </pc:picChg>
        <pc:picChg chg="add mod">
          <ac:chgData name="Robbin Bouwmeester" userId="1dbfebabfc25a55a" providerId="LiveId" clId="{75D63595-F797-482E-A4A0-2F4889B74D4F}" dt="2026-10-20T12:39:42.084" v="145" actId="1076"/>
          <ac:picMkLst>
            <pc:docMk/>
            <pc:sldMk cId="2068919554" sldId="568"/>
            <ac:picMk id="5" creationId="{46AF49B1-4594-E734-23AC-D55F0CA987EF}"/>
          </ac:picMkLst>
        </pc:picChg>
      </pc:sldChg>
      <pc:sldChg chg="addSp delSp modSp add mod">
        <pc:chgData name="Robbin Bouwmeester" userId="1dbfebabfc25a55a" providerId="LiveId" clId="{75D63595-F797-482E-A4A0-2F4889B74D4F}" dt="2026-10-20T12:40:36.557" v="153" actId="1076"/>
        <pc:sldMkLst>
          <pc:docMk/>
          <pc:sldMk cId="3319585658" sldId="569"/>
        </pc:sldMkLst>
        <pc:picChg chg="add mod">
          <ac:chgData name="Robbin Bouwmeester" userId="1dbfebabfc25a55a" providerId="LiveId" clId="{75D63595-F797-482E-A4A0-2F4889B74D4F}" dt="2026-10-20T12:40:36.557" v="153" actId="1076"/>
          <ac:picMkLst>
            <pc:docMk/>
            <pc:sldMk cId="3319585658" sldId="569"/>
            <ac:picMk id="4" creationId="{3A9E5942-E30E-9602-C440-F6167E89AB77}"/>
          </ac:picMkLst>
        </pc:picChg>
        <pc:picChg chg="del mod">
          <ac:chgData name="Robbin Bouwmeester" userId="1dbfebabfc25a55a" providerId="LiveId" clId="{75D63595-F797-482E-A4A0-2F4889B74D4F}" dt="2026-10-20T12:39:54.973" v="148" actId="478"/>
          <ac:picMkLst>
            <pc:docMk/>
            <pc:sldMk cId="3319585658" sldId="569"/>
            <ac:picMk id="5" creationId="{8CDB23A6-01D3-2917-B309-E61A8CCA38FB}"/>
          </ac:picMkLst>
        </pc:picChg>
      </pc:sldChg>
      <pc:sldChg chg="addSp delSp modSp add mod">
        <pc:chgData name="Robbin Bouwmeester" userId="1dbfebabfc25a55a" providerId="LiveId" clId="{75D63595-F797-482E-A4A0-2F4889B74D4F}" dt="2026-10-20T12:41:19.577" v="158" actId="1076"/>
        <pc:sldMkLst>
          <pc:docMk/>
          <pc:sldMk cId="203633500" sldId="570"/>
        </pc:sldMkLst>
        <pc:picChg chg="del">
          <ac:chgData name="Robbin Bouwmeester" userId="1dbfebabfc25a55a" providerId="LiveId" clId="{75D63595-F797-482E-A4A0-2F4889B74D4F}" dt="2026-10-20T12:41:13.343" v="155" actId="478"/>
          <ac:picMkLst>
            <pc:docMk/>
            <pc:sldMk cId="203633500" sldId="570"/>
            <ac:picMk id="4" creationId="{DE3DC71C-E88F-FBB3-A83F-448AC0E1F970}"/>
          </ac:picMkLst>
        </pc:picChg>
        <pc:picChg chg="add mod">
          <ac:chgData name="Robbin Bouwmeester" userId="1dbfebabfc25a55a" providerId="LiveId" clId="{75D63595-F797-482E-A4A0-2F4889B74D4F}" dt="2026-10-20T12:41:19.577" v="158" actId="1076"/>
          <ac:picMkLst>
            <pc:docMk/>
            <pc:sldMk cId="203633500" sldId="570"/>
            <ac:picMk id="5" creationId="{E99DCDC5-D6B6-5E56-32AA-DE2C9109F623}"/>
          </ac:picMkLst>
        </pc:picChg>
      </pc:sldChg>
      <pc:sldChg chg="addSp delSp modSp add mod">
        <pc:chgData name="Robbin Bouwmeester" userId="1dbfebabfc25a55a" providerId="LiveId" clId="{75D63595-F797-482E-A4A0-2F4889B74D4F}" dt="2026-10-20T12:43:21.926" v="163" actId="1076"/>
        <pc:sldMkLst>
          <pc:docMk/>
          <pc:sldMk cId="1680314344" sldId="571"/>
        </pc:sldMkLst>
        <pc:picChg chg="add mod">
          <ac:chgData name="Robbin Bouwmeester" userId="1dbfebabfc25a55a" providerId="LiveId" clId="{75D63595-F797-482E-A4A0-2F4889B74D4F}" dt="2026-10-20T12:43:21.926" v="163" actId="1076"/>
          <ac:picMkLst>
            <pc:docMk/>
            <pc:sldMk cId="1680314344" sldId="571"/>
            <ac:picMk id="4" creationId="{B41C6109-83DB-2B89-689D-A49F758DDB94}"/>
          </ac:picMkLst>
        </pc:picChg>
        <pc:picChg chg="del">
          <ac:chgData name="Robbin Bouwmeester" userId="1dbfebabfc25a55a" providerId="LiveId" clId="{75D63595-F797-482E-A4A0-2F4889B74D4F}" dt="2026-10-20T12:43:10.989" v="160" actId="478"/>
          <ac:picMkLst>
            <pc:docMk/>
            <pc:sldMk cId="1680314344" sldId="571"/>
            <ac:picMk id="5" creationId="{F06592F9-FC4B-1318-90C4-6391FF5B7843}"/>
          </ac:picMkLst>
        </pc:picChg>
      </pc:sldChg>
      <pc:sldChg chg="add">
        <pc:chgData name="Robbin Bouwmeester" userId="1dbfebabfc25a55a" providerId="LiveId" clId="{75D63595-F797-482E-A4A0-2F4889B74D4F}" dt="2026-10-20T12:43:39.303" v="164"/>
        <pc:sldMkLst>
          <pc:docMk/>
          <pc:sldMk cId="2900461262" sldId="57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9BE03065-E7C1-422E-AB3E-02948DD233B1}" type="datetimeFigureOut">
              <a:rPr lang="en-US" smtClean="0"/>
              <a:t>10/20/2026</a:t>
            </a:fld>
            <a:endParaRPr lang="en-US"/>
          </a:p>
        </p:txBody>
      </p:sp>
      <p:sp>
        <p:nvSpPr>
          <p:cNvPr id="4" name="Footer Placeholder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013B07D4-6E61-44FC-BCFF-D29C3751B512}" type="slidenum">
              <a:rPr lang="en-US" smtClean="0"/>
              <a:t>‹#›</a:t>
            </a:fld>
            <a:endParaRPr lang="en-US"/>
          </a:p>
        </p:txBody>
      </p:sp>
    </p:spTree>
    <p:extLst>
      <p:ext uri="{BB962C8B-B14F-4D97-AF65-F5344CB8AC3E}">
        <p14:creationId xmlns:p14="http://schemas.microsoft.com/office/powerpoint/2010/main" val="20685703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5427"/>
          </a:xfrm>
          <a:prstGeom prst="rect">
            <a:avLst/>
          </a:prstGeom>
        </p:spPr>
        <p:txBody>
          <a:bodyPr vert="horz" lIns="91440" tIns="45720" rIns="91440" bIns="45720" rtlCol="0"/>
          <a:lstStyle>
            <a:lvl1pPr algn="r">
              <a:defRPr sz="1200"/>
            </a:lvl1pPr>
          </a:lstStyle>
          <a:p>
            <a:fld id="{93246B00-6205-4BBC-A10C-B6ECCEF3EDA8}" type="datetimeFigureOut">
              <a:rPr lang="en-GB" smtClean="0"/>
              <a:t>20/10/2026</a:t>
            </a:fld>
            <a:endParaRPr lang="en-GB"/>
          </a:p>
        </p:txBody>
      </p:sp>
      <p:sp>
        <p:nvSpPr>
          <p:cNvPr id="4" name="Slide Image Placeholder 3"/>
          <p:cNvSpPr>
            <a:spLocks noGrp="1" noRot="1" noChangeAspect="1"/>
          </p:cNvSpPr>
          <p:nvPr>
            <p:ph type="sldImg" idx="2"/>
          </p:nvPr>
        </p:nvSpPr>
        <p:spPr>
          <a:xfrm>
            <a:off x="436563" y="1233488"/>
            <a:ext cx="5924550" cy="33337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DE6C64BD-F35B-4C39-BDE4-6FFCC0D8201A}" type="slidenum">
              <a:rPr lang="en-GB" smtClean="0"/>
              <a:t>‹#›</a:t>
            </a:fld>
            <a:endParaRPr lang="en-GB"/>
          </a:p>
        </p:txBody>
      </p:sp>
    </p:spTree>
    <p:extLst>
      <p:ext uri="{BB962C8B-B14F-4D97-AF65-F5344CB8AC3E}">
        <p14:creationId xmlns:p14="http://schemas.microsoft.com/office/powerpoint/2010/main" val="862551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five concrete questions: can the model describe the training pattern, does the pattern transfer, whose samples does the dataset represent, do new samples match the conditions studied, and was the final evaluation independent? Here bias means systematic problems in sampling, measurement or targets. Statistical bias in the bias–variance discussion is a different use of the word and connects to underfitting. Poor coverage does not inevitably cause poor performance, but it limits the evidence for performance in that group. A gap alone cannot diagnose every cause. Validation-based model selection is an intended part of development. Leakage compromises data intended to provide an independent check, or introduces information unavailable under the intended prediction conditions.</a:t>
            </a:r>
          </a:p>
          <a:p>
            <a:endParaRPr/>
          </a:p>
          <a:p>
            <a:r>
              <a:t>Sources</a:t>
            </a:r>
          </a:p>
          <a:p>
            <a:r>
              <a:t>https://scikit-learn.org/stable/auto_examples/model_selection/plot_underfitting_overfitting.html</a:t>
            </a:r>
          </a:p>
          <a:p>
            <a:r>
              <a:t>https://doi.org/10.6028/NIST.SP.1270</a:t>
            </a:r>
          </a:p>
          <a:p>
            <a:r>
              <a:t>https://doi.org/10.1038/s43246-024-00731-w</a:t>
            </a:r>
          </a:p>
          <a:p>
            <a:r>
              <a:t>https://doi.org/10.1016/j.patter.2023.100804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39F54-A179-AE5A-110D-DEFBD640F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3FEEE-AA34-6C62-0EC4-74EAD67B5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F0D8A9-4549-875E-A560-89CAF19953BD}"/>
              </a:ext>
            </a:extLst>
          </p:cNvPr>
          <p:cNvSpPr>
            <a:spLocks noGrp="1"/>
          </p:cNvSpPr>
          <p:nvPr>
            <p:ph type="body" idx="1"/>
          </p:nvPr>
        </p:nvSpPr>
        <p:spPr/>
        <p:txBody>
          <a:bodyPr/>
          <a:lstStyle/>
          <a:p>
            <a:r>
              <a:t>Use five concrete questions: can the model describe the training pattern, does the pattern transfer, whose samples does the dataset represent, do new samples match the conditions studied, and was the final evaluation independent? Here bias means systematic problems in sampling, measurement or targets. Statistical bias in the bias–variance discussion is a different use of the word and connects to underfitting. Poor coverage does not inevitably cause poor performance, but it limits the evidence for performance in that group. A gap alone cannot diagnose every cause. Validation-based model selection is an intended part of development. Leakage compromises data intended to provide an independent check, or introduces information unavailable under the intended prediction conditions.</a:t>
            </a:r>
          </a:p>
          <a:p>
            <a:endParaRPr/>
          </a:p>
          <a:p>
            <a:r>
              <a:t>Sources</a:t>
            </a:r>
          </a:p>
          <a:p>
            <a:r>
              <a:t>https://scikit-learn.org/stable/auto_examples/model_selection/plot_underfitting_overfitting.html</a:t>
            </a:r>
          </a:p>
          <a:p>
            <a:r>
              <a:t>https://doi.org/10.6028/NIST.SP.1270</a:t>
            </a:r>
          </a:p>
          <a:p>
            <a:r>
              <a:t>https://doi.org/10.1038/s43246-024-00731-w</a:t>
            </a:r>
          </a:p>
          <a:p>
            <a:r>
              <a:t>https://doi.org/10.1016/j.patter.2023.100804</a:t>
            </a:r>
          </a:p>
        </p:txBody>
      </p:sp>
      <p:sp>
        <p:nvSpPr>
          <p:cNvPr id="4" name="Slide Number Placeholder 3">
            <a:extLst>
              <a:ext uri="{FF2B5EF4-FFF2-40B4-BE49-F238E27FC236}">
                <a16:creationId xmlns:a16="http://schemas.microsoft.com/office/drawing/2014/main" id="{AF31F0D4-6CD9-FD4E-50C0-A13AAC83323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16231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306E8-8FB0-580B-3E56-5DE8115F03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0BB81C-72A0-6408-DC74-DDD87C566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9E8F0A-0A27-3777-C5DE-B586BC59B78D}"/>
              </a:ext>
            </a:extLst>
          </p:cNvPr>
          <p:cNvSpPr>
            <a:spLocks noGrp="1"/>
          </p:cNvSpPr>
          <p:nvPr>
            <p:ph type="body" idx="1"/>
          </p:nvPr>
        </p:nvSpPr>
        <p:spPr/>
        <p:txBody>
          <a:bodyPr/>
          <a:lstStyle/>
          <a:p>
            <a:r>
              <a:t>Use five concrete questions: can the model describe the training pattern, does the pattern transfer, whose samples does the dataset represent, do new samples match the conditions studied, and was the final evaluation independent? Here bias means systematic problems in sampling, measurement or targets. Statistical bias in the bias–variance discussion is a different use of the word and connects to underfitting. Poor coverage does not inevitably cause poor performance, but it limits the evidence for performance in that group. A gap alone cannot diagnose every cause. Validation-based model selection is an intended part of development. Leakage compromises data intended to provide an independent check, or introduces information unavailable under the intended prediction conditions.</a:t>
            </a:r>
          </a:p>
          <a:p>
            <a:endParaRPr/>
          </a:p>
          <a:p>
            <a:r>
              <a:t>Sources</a:t>
            </a:r>
          </a:p>
          <a:p>
            <a:r>
              <a:t>https://scikit-learn.org/stable/auto_examples/model_selection/plot_underfitting_overfitting.html</a:t>
            </a:r>
          </a:p>
          <a:p>
            <a:r>
              <a:t>https://doi.org/10.6028/NIST.SP.1270</a:t>
            </a:r>
          </a:p>
          <a:p>
            <a:r>
              <a:t>https://doi.org/10.1038/s43246-024-00731-w</a:t>
            </a:r>
          </a:p>
          <a:p>
            <a:r>
              <a:t>https://doi.org/10.1016/j.patter.2023.100804</a:t>
            </a:r>
          </a:p>
        </p:txBody>
      </p:sp>
      <p:sp>
        <p:nvSpPr>
          <p:cNvPr id="4" name="Slide Number Placeholder 3">
            <a:extLst>
              <a:ext uri="{FF2B5EF4-FFF2-40B4-BE49-F238E27FC236}">
                <a16:creationId xmlns:a16="http://schemas.microsoft.com/office/drawing/2014/main" id="{C2554CBE-1920-DCAE-CF9D-6B2466FC160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16149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15699-B755-6B11-8F66-D505E6253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F570C-778D-2E3F-0473-CD2DF1EE00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1D453-CA4B-780F-0EC2-CF983D46BC18}"/>
              </a:ext>
            </a:extLst>
          </p:cNvPr>
          <p:cNvSpPr>
            <a:spLocks noGrp="1"/>
          </p:cNvSpPr>
          <p:nvPr>
            <p:ph type="body" idx="1"/>
          </p:nvPr>
        </p:nvSpPr>
        <p:spPr/>
        <p:txBody>
          <a:bodyPr/>
          <a:lstStyle/>
          <a:p>
            <a:r>
              <a:t>Use five concrete questions: can the model describe the training pattern, does the pattern transfer, whose samples does the dataset represent, do new samples match the conditions studied, and was the final evaluation independent? Here bias means systematic problems in sampling, measurement or targets. Statistical bias in the bias–variance discussion is a different use of the word and connects to underfitting. Poor coverage does not inevitably cause poor performance, but it limits the evidence for performance in that group. A gap alone cannot diagnose every cause. Validation-based model selection is an intended part of development. Leakage compromises data intended to provide an independent check, or introduces information unavailable under the intended prediction conditions.</a:t>
            </a:r>
          </a:p>
          <a:p>
            <a:endParaRPr/>
          </a:p>
          <a:p>
            <a:r>
              <a:t>Sources</a:t>
            </a:r>
          </a:p>
          <a:p>
            <a:r>
              <a:t>https://scikit-learn.org/stable/auto_examples/model_selection/plot_underfitting_overfitting.html</a:t>
            </a:r>
          </a:p>
          <a:p>
            <a:r>
              <a:t>https://doi.org/10.6028/NIST.SP.1270</a:t>
            </a:r>
          </a:p>
          <a:p>
            <a:r>
              <a:t>https://doi.org/10.1038/s43246-024-00731-w</a:t>
            </a:r>
          </a:p>
          <a:p>
            <a:r>
              <a:t>https://doi.org/10.1016/j.patter.2023.100804</a:t>
            </a:r>
          </a:p>
        </p:txBody>
      </p:sp>
      <p:sp>
        <p:nvSpPr>
          <p:cNvPr id="4" name="Slide Number Placeholder 3">
            <a:extLst>
              <a:ext uri="{FF2B5EF4-FFF2-40B4-BE49-F238E27FC236}">
                <a16:creationId xmlns:a16="http://schemas.microsoft.com/office/drawing/2014/main" id="{09F2E1E3-6042-A659-E078-CB4B35CAA5D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53570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B22C3-1126-AAA7-2347-D449FAD8C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E3BD5-ADC2-118E-AF4A-20EC4100B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16289E-A7C6-9E0F-654C-299AD83FF6C4}"/>
              </a:ext>
            </a:extLst>
          </p:cNvPr>
          <p:cNvSpPr>
            <a:spLocks noGrp="1"/>
          </p:cNvSpPr>
          <p:nvPr>
            <p:ph type="body" idx="1"/>
          </p:nvPr>
        </p:nvSpPr>
        <p:spPr/>
        <p:txBody>
          <a:bodyPr/>
          <a:lstStyle/>
          <a:p>
            <a:r>
              <a:t>Use five concrete questions: can the model describe the training pattern, does the pattern transfer, whose samples does the dataset represent, do new samples match the conditions studied, and was the final evaluation independent? Here bias means systematic problems in sampling, measurement or targets. Statistical bias in the bias–variance discussion is a different use of the word and connects to underfitting. Poor coverage does not inevitably cause poor performance, but it limits the evidence for performance in that group. A gap alone cannot diagnose every cause. Validation-based model selection is an intended part of development. Leakage compromises data intended to provide an independent check, or introduces information unavailable under the intended prediction conditions.</a:t>
            </a:r>
          </a:p>
          <a:p>
            <a:endParaRPr/>
          </a:p>
          <a:p>
            <a:r>
              <a:t>Sources</a:t>
            </a:r>
          </a:p>
          <a:p>
            <a:r>
              <a:t>https://scikit-learn.org/stable/auto_examples/model_selection/plot_underfitting_overfitting.html</a:t>
            </a:r>
          </a:p>
          <a:p>
            <a:r>
              <a:t>https://doi.org/10.6028/NIST.SP.1270</a:t>
            </a:r>
          </a:p>
          <a:p>
            <a:r>
              <a:t>https://doi.org/10.1038/s43246-024-00731-w</a:t>
            </a:r>
          </a:p>
          <a:p>
            <a:r>
              <a:t>https://doi.org/10.1016/j.patter.2023.100804</a:t>
            </a:r>
          </a:p>
        </p:txBody>
      </p:sp>
      <p:sp>
        <p:nvSpPr>
          <p:cNvPr id="4" name="Slide Number Placeholder 3">
            <a:extLst>
              <a:ext uri="{FF2B5EF4-FFF2-40B4-BE49-F238E27FC236}">
                <a16:creationId xmlns:a16="http://schemas.microsoft.com/office/drawing/2014/main" id="{3B1B0ACF-DFB6-25C7-76CE-14417EBB826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27752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D7A0A-1435-260D-44BB-C2C63B628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0AC26F-3A65-8DD5-BA9E-B6F4D2D93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AFF4D7-148C-32ED-3A5C-087860A356A0}"/>
              </a:ext>
            </a:extLst>
          </p:cNvPr>
          <p:cNvSpPr>
            <a:spLocks noGrp="1"/>
          </p:cNvSpPr>
          <p:nvPr>
            <p:ph type="body" idx="1"/>
          </p:nvPr>
        </p:nvSpPr>
        <p:spPr/>
        <p:txBody>
          <a:bodyPr/>
          <a:lstStyle/>
          <a:p>
            <a:r>
              <a:t>Use five concrete questions: can the model describe the training pattern, does the pattern transfer, whose samples does the dataset represent, do new samples match the conditions studied, and was the final evaluation independent? Here bias means systematic problems in sampling, measurement or targets. Statistical bias in the bias–variance discussion is a different use of the word and connects to underfitting. Poor coverage does not inevitably cause poor performance, but it limits the evidence for performance in that group. A gap alone cannot diagnose every cause. Validation-based model selection is an intended part of development. Leakage compromises data intended to provide an independent check, or introduces information unavailable under the intended prediction conditions.</a:t>
            </a:r>
          </a:p>
          <a:p>
            <a:endParaRPr/>
          </a:p>
          <a:p>
            <a:r>
              <a:t>Sources</a:t>
            </a:r>
          </a:p>
          <a:p>
            <a:r>
              <a:t>https://scikit-learn.org/stable/auto_examples/model_selection/plot_underfitting_overfitting.html</a:t>
            </a:r>
          </a:p>
          <a:p>
            <a:r>
              <a:t>https://doi.org/10.6028/NIST.SP.1270</a:t>
            </a:r>
          </a:p>
          <a:p>
            <a:r>
              <a:t>https://doi.org/10.1038/s43246-024-00731-w</a:t>
            </a:r>
          </a:p>
          <a:p>
            <a:r>
              <a:t>https://doi.org/10.1016/j.patter.2023.100804</a:t>
            </a:r>
          </a:p>
        </p:txBody>
      </p:sp>
      <p:sp>
        <p:nvSpPr>
          <p:cNvPr id="4" name="Slide Number Placeholder 3">
            <a:extLst>
              <a:ext uri="{FF2B5EF4-FFF2-40B4-BE49-F238E27FC236}">
                <a16:creationId xmlns:a16="http://schemas.microsoft.com/office/drawing/2014/main" id="{1592A97E-AFD1-4953-3A44-D04606206AF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45614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D58FC-D44B-9B4D-A6F6-58E0F7E5C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06593-AEEF-DD8D-344C-6A89464E2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4EFFD-44FE-7B77-6345-FCC91296CD48}"/>
              </a:ext>
            </a:extLst>
          </p:cNvPr>
          <p:cNvSpPr>
            <a:spLocks noGrp="1"/>
          </p:cNvSpPr>
          <p:nvPr>
            <p:ph type="body" idx="1"/>
          </p:nvPr>
        </p:nvSpPr>
        <p:spPr/>
        <p:txBody>
          <a:bodyPr/>
          <a:lstStyle/>
          <a:p>
            <a:r>
              <a:t>Use five concrete questions: can the model describe the training pattern, does the pattern transfer, whose samples does the dataset represent, do new samples match the conditions studied, and was the final evaluation independent? Here bias means systematic problems in sampling, measurement or targets. Statistical bias in the bias–variance discussion is a different use of the word and connects to underfitting. Poor coverage does not inevitably cause poor performance, but it limits the evidence for performance in that group. A gap alone cannot diagnose every cause. Validation-based model selection is an intended part of development. Leakage compromises data intended to provide an independent check, or introduces information unavailable under the intended prediction conditions.</a:t>
            </a:r>
          </a:p>
          <a:p>
            <a:endParaRPr/>
          </a:p>
          <a:p>
            <a:r>
              <a:t>Sources</a:t>
            </a:r>
          </a:p>
          <a:p>
            <a:r>
              <a:t>https://scikit-learn.org/stable/auto_examples/model_selection/plot_underfitting_overfitting.html</a:t>
            </a:r>
          </a:p>
          <a:p>
            <a:r>
              <a:t>https://doi.org/10.6028/NIST.SP.1270</a:t>
            </a:r>
          </a:p>
          <a:p>
            <a:r>
              <a:t>https://doi.org/10.1038/s43246-024-00731-w</a:t>
            </a:r>
          </a:p>
          <a:p>
            <a:r>
              <a:t>https://doi.org/10.1016/j.patter.2023.100804</a:t>
            </a:r>
          </a:p>
        </p:txBody>
      </p:sp>
      <p:sp>
        <p:nvSpPr>
          <p:cNvPr id="4" name="Slide Number Placeholder 3">
            <a:extLst>
              <a:ext uri="{FF2B5EF4-FFF2-40B4-BE49-F238E27FC236}">
                <a16:creationId xmlns:a16="http://schemas.microsoft.com/office/drawing/2014/main" id="{48B3FA92-6882-9DBF-9098-F1761FEE36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38671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C88E-1B39-8B38-9290-1C9335540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08518-9329-1C5D-1A91-98B24E26F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0E9B9-1AFB-7DD7-D341-1807B7A73B15}"/>
              </a:ext>
            </a:extLst>
          </p:cNvPr>
          <p:cNvSpPr>
            <a:spLocks noGrp="1"/>
          </p:cNvSpPr>
          <p:nvPr>
            <p:ph type="body" idx="1"/>
          </p:nvPr>
        </p:nvSpPr>
        <p:spPr/>
        <p:txBody>
          <a:bodyPr/>
          <a:lstStyle/>
          <a:p>
            <a:r>
              <a:t>Use five concrete questions: can the model describe the training pattern, does the pattern transfer, whose samples does the dataset represent, do new samples match the conditions studied, and was the final evaluation independent? Here bias means systematic problems in sampling, measurement or targets. Statistical bias in the bias–variance discussion is a different use of the word and connects to underfitting. Poor coverage does not inevitably cause poor performance, but it limits the evidence for performance in that group. A gap alone cannot diagnose every cause. Validation-based model selection is an intended part of development. Leakage compromises data intended to provide an independent check, or introduces information unavailable under the intended prediction conditions.</a:t>
            </a:r>
          </a:p>
          <a:p>
            <a:endParaRPr/>
          </a:p>
          <a:p>
            <a:r>
              <a:t>Sources</a:t>
            </a:r>
          </a:p>
          <a:p>
            <a:r>
              <a:t>https://scikit-learn.org/stable/auto_examples/model_selection/plot_underfitting_overfitting.html</a:t>
            </a:r>
          </a:p>
          <a:p>
            <a:r>
              <a:t>https://doi.org/10.6028/NIST.SP.1270</a:t>
            </a:r>
          </a:p>
          <a:p>
            <a:r>
              <a:t>https://doi.org/10.1038/s43246-024-00731-w</a:t>
            </a:r>
          </a:p>
          <a:p>
            <a:r>
              <a:t>https://doi.org/10.1016/j.patter.2023.100804</a:t>
            </a:r>
          </a:p>
        </p:txBody>
      </p:sp>
      <p:sp>
        <p:nvSpPr>
          <p:cNvPr id="4" name="Slide Number Placeholder 3">
            <a:extLst>
              <a:ext uri="{FF2B5EF4-FFF2-40B4-BE49-F238E27FC236}">
                <a16:creationId xmlns:a16="http://schemas.microsoft.com/office/drawing/2014/main" id="{5DB4645A-B390-D060-1C63-702DA2C8F5F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52995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dirty="0"/>
          </a:p>
        </p:txBody>
      </p:sp>
      <p:sp>
        <p:nvSpPr>
          <p:cNvPr id="4" name="Slide Number Placeholder 3"/>
          <p:cNvSpPr>
            <a:spLocks noGrp="1"/>
          </p:cNvSpPr>
          <p:nvPr>
            <p:ph type="sldNum" sz="quarter" idx="10"/>
          </p:nvPr>
        </p:nvSpPr>
        <p:spPr/>
        <p:txBody>
          <a:bodyPr/>
          <a:lstStyle/>
          <a:p>
            <a:fld id="{7057AE92-D5D5-4227-B9E7-799476156D5D}" type="slidenum">
              <a:rPr lang="nl-NL" smtClean="0"/>
              <a:t>9</a:t>
            </a:fld>
            <a:endParaRPr lang="nl-NL"/>
          </a:p>
        </p:txBody>
      </p:sp>
    </p:spTree>
    <p:extLst>
      <p:ext uri="{BB962C8B-B14F-4D97-AF65-F5344CB8AC3E}">
        <p14:creationId xmlns:p14="http://schemas.microsoft.com/office/powerpoint/2010/main" val="1015858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7C1C5-818D-FD3F-61D5-CB65735B7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5F7DE-3360-EE62-7B94-1305EC070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CDB314-1269-A147-CF93-E301DAE807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91F4A5-375B-DCDA-1C26-9D0BE3B72E67}"/>
              </a:ext>
            </a:extLst>
          </p:cNvPr>
          <p:cNvSpPr>
            <a:spLocks noGrp="1"/>
          </p:cNvSpPr>
          <p:nvPr>
            <p:ph type="sldNum" sz="quarter" idx="10"/>
          </p:nvPr>
        </p:nvSpPr>
        <p:spPr/>
        <p:txBody>
          <a:bodyPr/>
          <a:lstStyle/>
          <a:p>
            <a:fld id="{E36C4827-840E-4EC5-B0B2-4EAAD02724FF}" type="slidenum">
              <a:rPr lang="en-US" smtClean="0"/>
              <a:t>14</a:t>
            </a:fld>
            <a:endParaRPr lang="en-US"/>
          </a:p>
        </p:txBody>
      </p:sp>
    </p:spTree>
    <p:extLst>
      <p:ext uri="{BB962C8B-B14F-4D97-AF65-F5344CB8AC3E}">
        <p14:creationId xmlns:p14="http://schemas.microsoft.com/office/powerpoint/2010/main" val="273506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6C4827-840E-4EC5-B0B2-4EAAD02724FF}" type="slidenum">
              <a:rPr lang="en-US" smtClean="0"/>
              <a:t>15</a:t>
            </a:fld>
            <a:endParaRPr lang="en-US"/>
          </a:p>
        </p:txBody>
      </p:sp>
    </p:spTree>
    <p:extLst>
      <p:ext uri="{BB962C8B-B14F-4D97-AF65-F5344CB8AC3E}">
        <p14:creationId xmlns:p14="http://schemas.microsoft.com/office/powerpoint/2010/main" val="2579532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057AE92-D5D5-4227-B9E7-799476156D5D}" type="slidenum">
              <a:rPr lang="nl-NL" smtClean="0"/>
              <a:t>17</a:t>
            </a:fld>
            <a:endParaRPr lang="nl-NL"/>
          </a:p>
        </p:txBody>
      </p:sp>
    </p:spTree>
    <p:extLst>
      <p:ext uri="{BB962C8B-B14F-4D97-AF65-F5344CB8AC3E}">
        <p14:creationId xmlns:p14="http://schemas.microsoft.com/office/powerpoint/2010/main" val="717815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057AE92-D5D5-4227-B9E7-799476156D5D}" type="slidenum">
              <a:rPr lang="nl-NL" smtClean="0"/>
              <a:t>18</a:t>
            </a:fld>
            <a:endParaRPr lang="nl-NL"/>
          </a:p>
        </p:txBody>
      </p:sp>
    </p:spTree>
    <p:extLst>
      <p:ext uri="{BB962C8B-B14F-4D97-AF65-F5344CB8AC3E}">
        <p14:creationId xmlns:p14="http://schemas.microsoft.com/office/powerpoint/2010/main" val="872121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057AE92-D5D5-4227-B9E7-799476156D5D}" type="slidenum">
              <a:rPr lang="nl-NL" smtClean="0"/>
              <a:t>19</a:t>
            </a:fld>
            <a:endParaRPr lang="nl-NL"/>
          </a:p>
        </p:txBody>
      </p:sp>
    </p:spTree>
    <p:extLst>
      <p:ext uri="{BB962C8B-B14F-4D97-AF65-F5344CB8AC3E}">
        <p14:creationId xmlns:p14="http://schemas.microsoft.com/office/powerpoint/2010/main" val="689592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6C64BD-F35B-4C39-BDE4-6FFCC0D8201A}" type="slidenum">
              <a:rPr lang="en-GB" smtClean="0"/>
              <a:t>21</a:t>
            </a:fld>
            <a:endParaRPr lang="en-GB"/>
          </a:p>
        </p:txBody>
      </p:sp>
    </p:spTree>
    <p:extLst>
      <p:ext uri="{BB962C8B-B14F-4D97-AF65-F5344CB8AC3E}">
        <p14:creationId xmlns:p14="http://schemas.microsoft.com/office/powerpoint/2010/main" val="437839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F9EC880F-CD94-428A-9C30-279F40577F59}" type="datetimeFigureOut">
              <a:rPr lang="en-GB" smtClean="0"/>
              <a:t>20/10/2026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1832746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9EC880F-CD94-428A-9C30-279F40577F59}" type="datetimeFigureOut">
              <a:rPr lang="en-GB" smtClean="0"/>
              <a:t>20/10/2026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553648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EC880F-CD94-428A-9C30-279F40577F59}" type="datetimeFigureOut">
              <a:rPr lang="en-GB" smtClean="0"/>
              <a:t>20/10/2026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2182523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F9EC880F-CD94-428A-9C30-279F40577F59}" type="datetimeFigureOut">
              <a:rPr lang="en-GB" smtClean="0"/>
              <a:t>20/10/2026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1879072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F9EC880F-CD94-428A-9C30-279F40577F59}" type="datetimeFigureOut">
              <a:rPr lang="en-GB" smtClean="0"/>
              <a:t>20/10/2026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3388113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F9EC880F-CD94-428A-9C30-279F40577F59}" type="datetimeFigureOut">
              <a:rPr lang="en-GB" smtClean="0"/>
              <a:t>20/10/2026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2586496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EC880F-CD94-428A-9C30-279F40577F59}" type="datetimeFigureOut">
              <a:rPr lang="en-GB" smtClean="0"/>
              <a:t>20/10/2026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3746890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EC880F-CD94-428A-9C30-279F40577F59}" type="datetimeFigureOut">
              <a:rPr lang="en-GB" smtClean="0"/>
              <a:t>20/10/2026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1653227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EC880F-CD94-428A-9C30-279F40577F59}" type="datetimeFigureOut">
              <a:rPr lang="en-GB" smtClean="0"/>
              <a:t>20/10/2026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4269530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9EC880F-CD94-428A-9C30-279F40577F59}" type="datetimeFigureOut">
              <a:rPr lang="en-GB" smtClean="0"/>
              <a:t>20/10/2026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1968781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9EC880F-CD94-428A-9C30-279F40577F59}" type="datetimeFigureOut">
              <a:rPr lang="en-GB" smtClean="0"/>
              <a:t>20/10/2026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36FBEA-A515-403E-BA5B-D12F7E0E31E7}" type="slidenum">
              <a:rPr lang="en-GB" smtClean="0"/>
              <a:t>‹#›</a:t>
            </a:fld>
            <a:endParaRPr lang="en-GB"/>
          </a:p>
        </p:txBody>
      </p:sp>
    </p:spTree>
    <p:extLst>
      <p:ext uri="{BB962C8B-B14F-4D97-AF65-F5344CB8AC3E}">
        <p14:creationId xmlns:p14="http://schemas.microsoft.com/office/powerpoint/2010/main" val="1006281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EC880F-CD94-428A-9C30-279F40577F59}" type="datetimeFigureOut">
              <a:rPr lang="en-GB" smtClean="0"/>
              <a:t>20/10/2026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36FBEA-A515-403E-BA5B-D12F7E0E31E7}" type="slidenum">
              <a:rPr lang="en-GB" smtClean="0"/>
              <a:t>‹#›</a:t>
            </a:fld>
            <a:endParaRPr lang="en-GB"/>
          </a:p>
        </p:txBody>
      </p:sp>
    </p:spTree>
    <p:extLst>
      <p:ext uri="{BB962C8B-B14F-4D97-AF65-F5344CB8AC3E}">
        <p14:creationId xmlns:p14="http://schemas.microsoft.com/office/powerpoint/2010/main" val="1068050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EB5408-3820-4617-AF6D-3250E75575B5}"/>
              </a:ext>
            </a:extLst>
          </p:cNvPr>
          <p:cNvSpPr>
            <a:spLocks noGrp="1"/>
          </p:cNvSpPr>
          <p:nvPr/>
        </p:nvSpPr>
        <p:spPr>
          <a:xfrm>
            <a:off x="11493501" y="6464300"/>
            <a:ext cx="317500" cy="228600"/>
          </a:xfrm>
          <a:prstGeom prst="rect">
            <a:avLst/>
          </a:prstGeom>
          <a:noFill/>
          <a:ln w="0">
            <a:noFill/>
          </a:ln>
        </p:spPr>
        <p:txBody>
          <a:bodyPr wrap="square" lIns="0" tIns="0" rIns="0" bIns="0" anchor="t">
            <a:noAutofit/>
          </a:bodyPr>
          <a:lstStyle>
            <a:defPPr>
              <a:defRPr sz="900" b="0">
                <a:solidFill>
                  <a:srgbClr val="64748B"/>
                </a:solidFill>
                <a:latin typeface="Calibri"/>
                <a:ea typeface="Calibri"/>
                <a:cs typeface="Calibri"/>
              </a:defRPr>
            </a:defPPr>
          </a:lstStyle>
          <a:p>
            <a:pPr>
              <a:defRPr sz="900" b="0">
                <a:solidFill>
                  <a:srgbClr val="64748B"/>
                </a:solidFill>
                <a:latin typeface="Calibri"/>
                <a:ea typeface="Calibri"/>
                <a:cs typeface="Calibri"/>
              </a:defRPr>
            </a:pPr>
            <a:r>
              <a:rPr sz="1200">
                <a:solidFill>
                  <a:srgbClr val="64748B"/>
                </a:solidFill>
                <a:latin typeface="Calibri"/>
                <a:ea typeface="Calibri"/>
                <a:cs typeface="Calibri"/>
              </a:rPr>
              <a:t>1</a:t>
            </a:r>
          </a:p>
        </p:txBody>
      </p:sp>
      <p:graphicFrame>
        <p:nvGraphicFramePr>
          <p:cNvPr id="4" name="Table 3">
            <a:extLst>
              <a:ext uri="{FF2B5EF4-FFF2-40B4-BE49-F238E27FC236}">
                <a16:creationId xmlns:a16="http://schemas.microsoft.com/office/drawing/2014/main" id="{8D2B1C24-A399-4560-A8D8-FB4DA1A5194E}"/>
              </a:ext>
            </a:extLst>
          </p:cNvPr>
          <p:cNvGraphicFramePr/>
          <p:nvPr>
            <p:extLst>
              <p:ext uri="{D42A27DB-BD31-4B8C-83A1-F6EECF244321}">
                <p14:modId xmlns:p14="http://schemas.microsoft.com/office/powerpoint/2010/main" val="2843277344"/>
              </p:ext>
            </p:extLst>
          </p:nvPr>
        </p:nvGraphicFramePr>
        <p:xfrm>
          <a:off x="609600" y="1846364"/>
          <a:ext cx="10972800" cy="4038600"/>
        </p:xfrm>
        <a:graphic>
          <a:graphicData uri="http://schemas.openxmlformats.org/drawingml/2006/table">
            <a:tbl>
              <a:tblPr/>
              <a:tblGrid>
                <a:gridCol w="2286000">
                  <a:extLst>
                    <a:ext uri="{9D8B030D-6E8A-4147-A177-3AD203B41FA5}">
                      <a16:colId xmlns:a16="http://schemas.microsoft.com/office/drawing/2014/main" val="20000"/>
                    </a:ext>
                  </a:extLst>
                </a:gridCol>
                <a:gridCol w="4318000">
                  <a:extLst>
                    <a:ext uri="{9D8B030D-6E8A-4147-A177-3AD203B41FA5}">
                      <a16:colId xmlns:a16="http://schemas.microsoft.com/office/drawing/2014/main" val="20001"/>
                    </a:ext>
                  </a:extLst>
                </a:gridCol>
                <a:gridCol w="4368800">
                  <a:extLst>
                    <a:ext uri="{9D8B030D-6E8A-4147-A177-3AD203B41FA5}">
                      <a16:colId xmlns:a16="http://schemas.microsoft.com/office/drawing/2014/main" val="20002"/>
                    </a:ext>
                  </a:extLst>
                </a:gridCol>
              </a:tblGrid>
              <a:tr h="673100">
                <a:tc>
                  <a:txBody>
                    <a:bodyPr/>
                    <a:lstStyle/>
                    <a:p>
                      <a:r>
                        <a:rPr sz="1900" b="0" dirty="0">
                          <a:solidFill>
                            <a:srgbClr val="FFFFFF"/>
                          </a:solidFill>
                          <a:latin typeface="Calibri"/>
                          <a:ea typeface="Calibri"/>
                          <a:cs typeface="Calibri"/>
                        </a:rPr>
                        <a:t>Failure mode</a:t>
                      </a:r>
                    </a:p>
                  </a:txBody>
                  <a:tcPr marL="152400" marR="152400" marT="38100" marB="38100">
                    <a:solidFill>
                      <a:srgbClr val="028090"/>
                    </a:solidFill>
                  </a:tcPr>
                </a:tc>
                <a:tc>
                  <a:txBody>
                    <a:bodyPr/>
                    <a:lstStyle/>
                    <a:p>
                      <a:r>
                        <a:rPr sz="1900" b="0">
                          <a:solidFill>
                            <a:srgbClr val="FFFFFF"/>
                          </a:solidFill>
                          <a:latin typeface="Calibri"/>
                          <a:ea typeface="Calibri"/>
                          <a:cs typeface="Calibri"/>
                        </a:rPr>
                        <a:t>What goes wrong?</a:t>
                      </a:r>
                    </a:p>
                  </a:txBody>
                  <a:tcPr marL="152400" marR="152400" marT="38100" marB="38100">
                    <a:solidFill>
                      <a:srgbClr val="028090"/>
                    </a:solidFill>
                  </a:tcPr>
                </a:tc>
                <a:tc>
                  <a:txBody>
                    <a:bodyPr/>
                    <a:lstStyle/>
                    <a:p>
                      <a:r>
                        <a:rPr sz="1900" b="0">
                          <a:solidFill>
                            <a:srgbClr val="FFFFFF"/>
                          </a:solidFill>
                          <a:latin typeface="Calibri"/>
                          <a:ea typeface="Calibri"/>
                          <a:cs typeface="Calibri"/>
                        </a:rPr>
                        <a:t>Useful check</a:t>
                      </a:r>
                    </a:p>
                  </a:txBody>
                  <a:tcPr marL="152400" marR="152400" marT="38100" marB="38100">
                    <a:solidFill>
                      <a:srgbClr val="028090"/>
                    </a:solidFill>
                  </a:tcPr>
                </a:tc>
                <a:extLst>
                  <a:ext uri="{0D108BD9-81ED-4DB2-BD59-A6C34878D82A}">
                    <a16:rowId xmlns:a16="http://schemas.microsoft.com/office/drawing/2014/main" val="10000"/>
                  </a:ext>
                </a:extLst>
              </a:tr>
              <a:tr h="673100">
                <a:tc>
                  <a:txBody>
                    <a:bodyPr/>
                    <a:lstStyle/>
                    <a:p>
                      <a:r>
                        <a:rPr sz="1900" b="0">
                          <a:solidFill>
                            <a:srgbClr val="1E293B"/>
                          </a:solidFill>
                          <a:latin typeface="Calibri"/>
                          <a:ea typeface="Calibri"/>
                          <a:cs typeface="Calibri"/>
                        </a:rPr>
                        <a:t>Underfitting</a:t>
                      </a:r>
                    </a:p>
                  </a:txBody>
                  <a:tcPr marL="152400" marR="152400" marT="38100" marB="38100">
                    <a:solidFill>
                      <a:srgbClr val="FFFFFF"/>
                    </a:solidFill>
                  </a:tcPr>
                </a:tc>
                <a:tc>
                  <a:txBody>
                    <a:bodyPr/>
                    <a:lstStyle/>
                    <a:p>
                      <a:r>
                        <a:rPr sz="1900" b="0">
                          <a:solidFill>
                            <a:srgbClr val="1E293B"/>
                          </a:solidFill>
                          <a:latin typeface="Calibri"/>
                          <a:ea typeface="Calibri"/>
                          <a:cs typeface="Calibri"/>
                        </a:rPr>
                        <a:t>The model misses a useful pattern.</a:t>
                      </a:r>
                    </a:p>
                  </a:txBody>
                  <a:tcPr marL="152400" marR="152400" marT="38100" marB="38100">
                    <a:solidFill>
                      <a:srgbClr val="FFFFFF"/>
                    </a:solidFill>
                  </a:tcPr>
                </a:tc>
                <a:tc>
                  <a:txBody>
                    <a:bodyPr/>
                    <a:lstStyle/>
                    <a:p>
                      <a:r>
                        <a:rPr sz="1900" b="0">
                          <a:solidFill>
                            <a:srgbClr val="1E293B"/>
                          </a:solidFill>
                          <a:latin typeface="Calibri"/>
                          <a:ea typeface="Calibri"/>
                          <a:cs typeface="Calibri"/>
                        </a:rPr>
                        <a:t>Training and validation performance</a:t>
                      </a:r>
                    </a:p>
                  </a:txBody>
                  <a:tcPr marL="152400" marR="152400" marT="38100" marB="38100">
                    <a:solidFill>
                      <a:srgbClr val="FFFFFF"/>
                    </a:solidFill>
                  </a:tcPr>
                </a:tc>
                <a:extLst>
                  <a:ext uri="{0D108BD9-81ED-4DB2-BD59-A6C34878D82A}">
                    <a16:rowId xmlns:a16="http://schemas.microsoft.com/office/drawing/2014/main" val="10001"/>
                  </a:ext>
                </a:extLst>
              </a:tr>
              <a:tr h="673100">
                <a:tc>
                  <a:txBody>
                    <a:bodyPr/>
                    <a:lstStyle/>
                    <a:p>
                      <a:r>
                        <a:rPr sz="1900" b="0">
                          <a:solidFill>
                            <a:srgbClr val="1E293B"/>
                          </a:solidFill>
                          <a:latin typeface="Calibri"/>
                          <a:ea typeface="Calibri"/>
                          <a:cs typeface="Calibri"/>
                        </a:rPr>
                        <a:t>Overfitting</a:t>
                      </a:r>
                    </a:p>
                  </a:txBody>
                  <a:tcPr marL="152400" marR="152400" marT="38100" marB="38100">
                    <a:solidFill>
                      <a:srgbClr val="FFFFFF"/>
                    </a:solidFill>
                  </a:tcPr>
                </a:tc>
                <a:tc>
                  <a:txBody>
                    <a:bodyPr/>
                    <a:lstStyle/>
                    <a:p>
                      <a:r>
                        <a:rPr sz="1900" b="0">
                          <a:solidFill>
                            <a:srgbClr val="1E293B"/>
                          </a:solidFill>
                          <a:latin typeface="Calibri"/>
                          <a:ea typeface="Calibri"/>
                          <a:cs typeface="Calibri"/>
                        </a:rPr>
                        <a:t>The model fits accidental details.</a:t>
                      </a:r>
                    </a:p>
                  </a:txBody>
                  <a:tcPr marL="152400" marR="152400" marT="38100" marB="38100">
                    <a:solidFill>
                      <a:srgbClr val="FFFFFF"/>
                    </a:solidFill>
                  </a:tcPr>
                </a:tc>
                <a:tc>
                  <a:txBody>
                    <a:bodyPr/>
                    <a:lstStyle/>
                    <a:p>
                      <a:r>
                        <a:rPr sz="1900" b="0">
                          <a:solidFill>
                            <a:srgbClr val="1E293B"/>
                          </a:solidFill>
                          <a:latin typeface="Calibri"/>
                          <a:ea typeface="Calibri"/>
                          <a:cs typeface="Calibri"/>
                        </a:rPr>
                        <a:t>The training–validation gap</a:t>
                      </a:r>
                    </a:p>
                  </a:txBody>
                  <a:tcPr marL="152400" marR="152400" marT="38100" marB="38100">
                    <a:solidFill>
                      <a:srgbClr val="FFFFFF"/>
                    </a:solidFill>
                  </a:tcPr>
                </a:tc>
                <a:extLst>
                  <a:ext uri="{0D108BD9-81ED-4DB2-BD59-A6C34878D82A}">
                    <a16:rowId xmlns:a16="http://schemas.microsoft.com/office/drawing/2014/main" val="10002"/>
                  </a:ext>
                </a:extLst>
              </a:tr>
              <a:tr h="673100">
                <a:tc>
                  <a:txBody>
                    <a:bodyPr/>
                    <a:lstStyle/>
                    <a:p>
                      <a:r>
                        <a:rPr sz="1900" b="0">
                          <a:solidFill>
                            <a:srgbClr val="1E293B"/>
                          </a:solidFill>
                          <a:latin typeface="Calibri"/>
                          <a:ea typeface="Calibri"/>
                          <a:cs typeface="Calibri"/>
                        </a:rPr>
                        <a:t>Bias in the data</a:t>
                      </a:r>
                    </a:p>
                  </a:txBody>
                  <a:tcPr marL="152400" marR="152400" marT="38100" marB="38100">
                    <a:solidFill>
                      <a:srgbClr val="FFFFFF"/>
                    </a:solidFill>
                  </a:tcPr>
                </a:tc>
                <a:tc>
                  <a:txBody>
                    <a:bodyPr/>
                    <a:lstStyle/>
                    <a:p>
                      <a:r>
                        <a:rPr sz="1900" b="0">
                          <a:solidFill>
                            <a:srgbClr val="1E293B"/>
                          </a:solidFill>
                          <a:latin typeface="Calibri"/>
                          <a:ea typeface="Calibri"/>
                          <a:cs typeface="Calibri"/>
                        </a:rPr>
                        <a:t>Some conditions have poor coverage.</a:t>
                      </a:r>
                    </a:p>
                  </a:txBody>
                  <a:tcPr marL="152400" marR="152400" marT="38100" marB="38100">
                    <a:solidFill>
                      <a:srgbClr val="FFFFFF"/>
                    </a:solidFill>
                  </a:tcPr>
                </a:tc>
                <a:tc>
                  <a:txBody>
                    <a:bodyPr/>
                    <a:lstStyle/>
                    <a:p>
                      <a:r>
                        <a:rPr sz="1900" b="0">
                          <a:solidFill>
                            <a:srgbClr val="1E293B"/>
                          </a:solidFill>
                          <a:latin typeface="Calibri"/>
                          <a:ea typeface="Calibri"/>
                          <a:cs typeface="Calibri"/>
                        </a:rPr>
                        <a:t>Sampling and performance by group</a:t>
                      </a:r>
                    </a:p>
                  </a:txBody>
                  <a:tcPr marL="152400" marR="152400" marT="38100" marB="38100">
                    <a:solidFill>
                      <a:srgbClr val="FFFFFF"/>
                    </a:solidFill>
                  </a:tcPr>
                </a:tc>
                <a:extLst>
                  <a:ext uri="{0D108BD9-81ED-4DB2-BD59-A6C34878D82A}">
                    <a16:rowId xmlns:a16="http://schemas.microsoft.com/office/drawing/2014/main" val="10003"/>
                  </a:ext>
                </a:extLst>
              </a:tr>
              <a:tr h="673100">
                <a:tc>
                  <a:txBody>
                    <a:bodyPr/>
                    <a:lstStyle/>
                    <a:p>
                      <a:r>
                        <a:rPr sz="1900" b="0">
                          <a:solidFill>
                            <a:srgbClr val="1E293B"/>
                          </a:solidFill>
                          <a:latin typeface="Calibri"/>
                          <a:ea typeface="Calibri"/>
                          <a:cs typeface="Calibri"/>
                        </a:rPr>
                        <a:t>Out of</a:t>
                      </a:r>
                    </a:p>
                    <a:p>
                      <a:r>
                        <a:rPr sz="1900" b="0">
                          <a:solidFill>
                            <a:srgbClr val="1E293B"/>
                          </a:solidFill>
                          <a:latin typeface="Calibri"/>
                          <a:ea typeface="Calibri"/>
                          <a:cs typeface="Calibri"/>
                        </a:rPr>
                        <a:t>distribution</a:t>
                      </a:r>
                    </a:p>
                  </a:txBody>
                  <a:tcPr marL="152400" marR="152400" marT="38100" marB="38100">
                    <a:solidFill>
                      <a:srgbClr val="FFFFFF"/>
                    </a:solidFill>
                  </a:tcPr>
                </a:tc>
                <a:tc>
                  <a:txBody>
                    <a:bodyPr/>
                    <a:lstStyle/>
                    <a:p>
                      <a:r>
                        <a:rPr sz="1900" b="0">
                          <a:solidFill>
                            <a:srgbClr val="1E293B"/>
                          </a:solidFill>
                          <a:latin typeface="Calibri"/>
                          <a:ea typeface="Calibri"/>
                          <a:cs typeface="Calibri"/>
                        </a:rPr>
                        <a:t>New conditions differ from those studied.</a:t>
                      </a:r>
                    </a:p>
                  </a:txBody>
                  <a:tcPr marL="152400" marR="152400" marT="38100" marB="38100">
                    <a:solidFill>
                      <a:srgbClr val="FFFFFF"/>
                    </a:solidFill>
                  </a:tcPr>
                </a:tc>
                <a:tc>
                  <a:txBody>
                    <a:bodyPr/>
                    <a:lstStyle/>
                    <a:p>
                      <a:r>
                        <a:rPr sz="1900" b="0">
                          <a:solidFill>
                            <a:srgbClr val="1E293B"/>
                          </a:solidFill>
                          <a:latin typeface="Calibri"/>
                          <a:ea typeface="Calibri"/>
                          <a:cs typeface="Calibri"/>
                        </a:rPr>
                        <a:t>The intended conditions of use</a:t>
                      </a:r>
                    </a:p>
                  </a:txBody>
                  <a:tcPr marL="152400" marR="152400" marT="38100" marB="38100">
                    <a:solidFill>
                      <a:srgbClr val="FFFFFF"/>
                    </a:solidFill>
                  </a:tcPr>
                </a:tc>
                <a:extLst>
                  <a:ext uri="{0D108BD9-81ED-4DB2-BD59-A6C34878D82A}">
                    <a16:rowId xmlns:a16="http://schemas.microsoft.com/office/drawing/2014/main" val="10004"/>
                  </a:ext>
                </a:extLst>
              </a:tr>
              <a:tr h="673100">
                <a:tc>
                  <a:txBody>
                    <a:bodyPr/>
                    <a:lstStyle/>
                    <a:p>
                      <a:r>
                        <a:rPr sz="1900" b="0">
                          <a:solidFill>
                            <a:srgbClr val="1E293B"/>
                          </a:solidFill>
                          <a:latin typeface="Calibri"/>
                          <a:ea typeface="Calibri"/>
                          <a:cs typeface="Calibri"/>
                        </a:rPr>
                        <a:t>Information</a:t>
                      </a:r>
                    </a:p>
                    <a:p>
                      <a:r>
                        <a:rPr sz="1900" b="0">
                          <a:solidFill>
                            <a:srgbClr val="1E293B"/>
                          </a:solidFill>
                          <a:latin typeface="Calibri"/>
                          <a:ea typeface="Calibri"/>
                          <a:cs typeface="Calibri"/>
                        </a:rPr>
                        <a:t>leakage</a:t>
                      </a:r>
                    </a:p>
                  </a:txBody>
                  <a:tcPr marL="152400" marR="152400" marT="38100" marB="38100">
                    <a:solidFill>
                      <a:srgbClr val="FFFFFF"/>
                    </a:solidFill>
                  </a:tcPr>
                </a:tc>
                <a:tc>
                  <a:txBody>
                    <a:bodyPr/>
                    <a:lstStyle/>
                    <a:p>
                      <a:r>
                        <a:rPr sz="1900" b="0">
                          <a:solidFill>
                            <a:srgbClr val="1E293B"/>
                          </a:solidFill>
                          <a:latin typeface="Calibri"/>
                          <a:ea typeface="Calibri"/>
                          <a:cs typeface="Calibri"/>
                        </a:rPr>
                        <a:t>Training and test information overlap.</a:t>
                      </a:r>
                    </a:p>
                  </a:txBody>
                  <a:tcPr marL="152400" marR="152400" marT="38100" marB="38100">
                    <a:solidFill>
                      <a:srgbClr val="FFFFFF"/>
                    </a:solidFill>
                  </a:tcPr>
                </a:tc>
                <a:tc>
                  <a:txBody>
                    <a:bodyPr/>
                    <a:lstStyle/>
                    <a:p>
                      <a:r>
                        <a:rPr sz="1900" b="0" dirty="0">
                          <a:solidFill>
                            <a:srgbClr val="1E293B"/>
                          </a:solidFill>
                          <a:latin typeface="Calibri"/>
                          <a:ea typeface="Calibri"/>
                          <a:cs typeface="Calibri"/>
                        </a:rPr>
                        <a:t>Split units and data preparation</a:t>
                      </a:r>
                    </a:p>
                  </a:txBody>
                  <a:tcPr marL="152400" marR="152400" marT="38100" marB="38100">
                    <a:solidFill>
                      <a:srgbClr val="FFFFFF"/>
                    </a:solidFill>
                  </a:tcPr>
                </a:tc>
                <a:extLst>
                  <a:ext uri="{0D108BD9-81ED-4DB2-BD59-A6C34878D82A}">
                    <a16:rowId xmlns:a16="http://schemas.microsoft.com/office/drawing/2014/main" val="10005"/>
                  </a:ext>
                </a:extLst>
              </a:tr>
            </a:tbl>
          </a:graphicData>
        </a:graphic>
      </p:graphicFrame>
      <p:sp>
        <p:nvSpPr>
          <p:cNvPr id="8" name="TextBox 7">
            <a:extLst>
              <a:ext uri="{FF2B5EF4-FFF2-40B4-BE49-F238E27FC236}">
                <a16:creationId xmlns:a16="http://schemas.microsoft.com/office/drawing/2014/main" id="{86592D9F-8B4B-7AFE-4D77-9BEDDB38610D}"/>
              </a:ext>
            </a:extLst>
          </p:cNvPr>
          <p:cNvSpPr txBox="1"/>
          <p:nvPr/>
        </p:nvSpPr>
        <p:spPr>
          <a:xfrm>
            <a:off x="241301" y="129804"/>
            <a:ext cx="11747500" cy="1015663"/>
          </a:xfrm>
          <a:prstGeom prst="rect">
            <a:avLst/>
          </a:prstGeom>
          <a:noFill/>
        </p:spPr>
        <p:txBody>
          <a:bodyPr wrap="square" rtlCol="0">
            <a:spAutoFit/>
          </a:bodyPr>
          <a:lstStyle/>
          <a:p>
            <a:r>
              <a:rPr lang="en-US" sz="3000" b="1" dirty="0">
                <a:latin typeface="Corbel" panose="020B0503020204020204" pitchFamily="34" charset="0"/>
                <a:ea typeface="Lato" panose="020B0604020202020204" pitchFamily="34" charset="0"/>
                <a:cs typeface="Helvetica" panose="020B0604020202020204" pitchFamily="34" charset="0"/>
              </a:rPr>
              <a:t>Regression models the behavior between features and continuous target values</a:t>
            </a:r>
            <a:endParaRPr lang="en-GB" sz="3000" b="1" dirty="0">
              <a:latin typeface="Corbel" panose="020B0503020204020204" pitchFamily="34" charset="0"/>
              <a:ea typeface="Lato"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71663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D965A-1910-3B16-C689-75A6DC6F6FE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DDF4B3F-2B0C-EA43-A675-D1C289036A60}"/>
              </a:ext>
            </a:extLst>
          </p:cNvPr>
          <p:cNvSpPr>
            <a:spLocks noGrp="1"/>
          </p:cNvSpPr>
          <p:nvPr/>
        </p:nvSpPr>
        <p:spPr>
          <a:xfrm>
            <a:off x="11493501" y="6464300"/>
            <a:ext cx="317500" cy="228600"/>
          </a:xfrm>
          <a:prstGeom prst="rect">
            <a:avLst/>
          </a:prstGeom>
          <a:noFill/>
          <a:ln w="0">
            <a:noFill/>
          </a:ln>
        </p:spPr>
        <p:txBody>
          <a:bodyPr wrap="square" lIns="0" tIns="0" rIns="0" bIns="0" anchor="t">
            <a:noAutofit/>
          </a:bodyPr>
          <a:lstStyle>
            <a:defPPr>
              <a:defRPr sz="900" b="0">
                <a:solidFill>
                  <a:srgbClr val="64748B"/>
                </a:solidFill>
                <a:latin typeface="Calibri"/>
                <a:ea typeface="Calibri"/>
                <a:cs typeface="Calibri"/>
              </a:defRPr>
            </a:defPPr>
          </a:lstStyle>
          <a:p>
            <a:pPr>
              <a:defRPr sz="900" b="0">
                <a:solidFill>
                  <a:srgbClr val="64748B"/>
                </a:solidFill>
                <a:latin typeface="Calibri"/>
                <a:ea typeface="Calibri"/>
                <a:cs typeface="Calibri"/>
              </a:defRPr>
            </a:pPr>
            <a:r>
              <a:rPr sz="1200">
                <a:solidFill>
                  <a:srgbClr val="64748B"/>
                </a:solidFill>
                <a:latin typeface="Calibri"/>
                <a:ea typeface="Calibri"/>
                <a:cs typeface="Calibri"/>
              </a:rPr>
              <a:t>1</a:t>
            </a:r>
          </a:p>
        </p:txBody>
      </p:sp>
      <p:sp>
        <p:nvSpPr>
          <p:cNvPr id="8" name="TextBox 7">
            <a:extLst>
              <a:ext uri="{FF2B5EF4-FFF2-40B4-BE49-F238E27FC236}">
                <a16:creationId xmlns:a16="http://schemas.microsoft.com/office/drawing/2014/main" id="{119249DB-B9C2-F826-E5BC-F579681A3F7E}"/>
              </a:ext>
            </a:extLst>
          </p:cNvPr>
          <p:cNvSpPr txBox="1"/>
          <p:nvPr/>
        </p:nvSpPr>
        <p:spPr>
          <a:xfrm>
            <a:off x="241301" y="129804"/>
            <a:ext cx="11747500" cy="1015663"/>
          </a:xfrm>
          <a:prstGeom prst="rect">
            <a:avLst/>
          </a:prstGeom>
          <a:noFill/>
        </p:spPr>
        <p:txBody>
          <a:bodyPr wrap="square" rtlCol="0">
            <a:spAutoFit/>
          </a:bodyPr>
          <a:lstStyle/>
          <a:p>
            <a:r>
              <a:rPr lang="en-US" sz="3000" b="1" dirty="0">
                <a:latin typeface="Corbel" panose="020B0503020204020204" pitchFamily="34" charset="0"/>
                <a:ea typeface="Lato" panose="020B0604020202020204" pitchFamily="34" charset="0"/>
                <a:cs typeface="Helvetica" panose="020B0604020202020204" pitchFamily="34" charset="0"/>
              </a:rPr>
              <a:t>Underfitting is biased towards assumptions of the underlying trend of the data</a:t>
            </a:r>
            <a:endParaRPr lang="en-GB" sz="3000" b="1" dirty="0">
              <a:latin typeface="Corbel" panose="020B0503020204020204" pitchFamily="34" charset="0"/>
              <a:ea typeface="Lato" panose="020B0604020202020204" pitchFamily="34" charset="0"/>
              <a:cs typeface="Helvetica" panose="020B0604020202020204" pitchFamily="34" charset="0"/>
            </a:endParaRPr>
          </a:p>
        </p:txBody>
      </p:sp>
      <p:pic>
        <p:nvPicPr>
          <p:cNvPr id="22" name="Picture 21">
            <a:extLst>
              <a:ext uri="{FF2B5EF4-FFF2-40B4-BE49-F238E27FC236}">
                <a16:creationId xmlns:a16="http://schemas.microsoft.com/office/drawing/2014/main" id="{CB3185B3-2DDD-AF7F-956D-ECCDA1D0D35F}"/>
              </a:ext>
            </a:extLst>
          </p:cNvPr>
          <p:cNvPicPr>
            <a:picLocks noChangeAspect="1"/>
          </p:cNvPicPr>
          <p:nvPr/>
        </p:nvPicPr>
        <p:blipFill>
          <a:blip r:embed="rId3"/>
          <a:stretch>
            <a:fillRect/>
          </a:stretch>
        </p:blipFill>
        <p:spPr>
          <a:xfrm>
            <a:off x="557364" y="1964987"/>
            <a:ext cx="11077272" cy="3915383"/>
          </a:xfrm>
          <a:prstGeom prst="rect">
            <a:avLst/>
          </a:prstGeom>
        </p:spPr>
      </p:pic>
    </p:spTree>
    <p:extLst>
      <p:ext uri="{BB962C8B-B14F-4D97-AF65-F5344CB8AC3E}">
        <p14:creationId xmlns:p14="http://schemas.microsoft.com/office/powerpoint/2010/main" val="1084503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B11AE-D0F2-B665-D1C4-B20703C8725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A4BE2F8-72AF-F804-280E-DBBBAF02C7A8}"/>
              </a:ext>
            </a:extLst>
          </p:cNvPr>
          <p:cNvSpPr>
            <a:spLocks noGrp="1"/>
          </p:cNvSpPr>
          <p:nvPr/>
        </p:nvSpPr>
        <p:spPr>
          <a:xfrm>
            <a:off x="11493501" y="6464300"/>
            <a:ext cx="317500" cy="228600"/>
          </a:xfrm>
          <a:prstGeom prst="rect">
            <a:avLst/>
          </a:prstGeom>
          <a:noFill/>
          <a:ln w="0">
            <a:noFill/>
          </a:ln>
        </p:spPr>
        <p:txBody>
          <a:bodyPr wrap="square" lIns="0" tIns="0" rIns="0" bIns="0" anchor="t">
            <a:noAutofit/>
          </a:bodyPr>
          <a:lstStyle>
            <a:defPPr>
              <a:defRPr sz="900" b="0">
                <a:solidFill>
                  <a:srgbClr val="64748B"/>
                </a:solidFill>
                <a:latin typeface="Calibri"/>
                <a:ea typeface="Calibri"/>
                <a:cs typeface="Calibri"/>
              </a:defRPr>
            </a:defPPr>
          </a:lstStyle>
          <a:p>
            <a:pPr>
              <a:defRPr sz="900" b="0">
                <a:solidFill>
                  <a:srgbClr val="64748B"/>
                </a:solidFill>
                <a:latin typeface="Calibri"/>
                <a:ea typeface="Calibri"/>
                <a:cs typeface="Calibri"/>
              </a:defRPr>
            </a:pPr>
            <a:r>
              <a:rPr sz="1200">
                <a:solidFill>
                  <a:srgbClr val="64748B"/>
                </a:solidFill>
                <a:latin typeface="Calibri"/>
                <a:ea typeface="Calibri"/>
                <a:cs typeface="Calibri"/>
              </a:rPr>
              <a:t>1</a:t>
            </a:r>
          </a:p>
        </p:txBody>
      </p:sp>
      <p:sp>
        <p:nvSpPr>
          <p:cNvPr id="8" name="TextBox 7">
            <a:extLst>
              <a:ext uri="{FF2B5EF4-FFF2-40B4-BE49-F238E27FC236}">
                <a16:creationId xmlns:a16="http://schemas.microsoft.com/office/drawing/2014/main" id="{4DE18FDB-07B5-5EDE-5527-3A5439EBF8DF}"/>
              </a:ext>
            </a:extLst>
          </p:cNvPr>
          <p:cNvSpPr txBox="1"/>
          <p:nvPr/>
        </p:nvSpPr>
        <p:spPr>
          <a:xfrm>
            <a:off x="241301" y="129804"/>
            <a:ext cx="11747500" cy="1015663"/>
          </a:xfrm>
          <a:prstGeom prst="rect">
            <a:avLst/>
          </a:prstGeom>
          <a:noFill/>
        </p:spPr>
        <p:txBody>
          <a:bodyPr wrap="square" rtlCol="0">
            <a:spAutoFit/>
          </a:bodyPr>
          <a:lstStyle/>
          <a:p>
            <a:r>
              <a:rPr lang="en-US" sz="3000" b="1" dirty="0">
                <a:latin typeface="Corbel" panose="020B0503020204020204" pitchFamily="34" charset="0"/>
                <a:ea typeface="Lato" panose="020B0604020202020204" pitchFamily="34" charset="0"/>
                <a:cs typeface="Helvetica" panose="020B0604020202020204" pitchFamily="34" charset="0"/>
              </a:rPr>
              <a:t>Underfitting is biased towards assumptions of the underlying trend of the data</a:t>
            </a:r>
            <a:endParaRPr lang="en-GB" sz="3000" b="1" dirty="0">
              <a:latin typeface="Corbel" panose="020B0503020204020204" pitchFamily="34" charset="0"/>
              <a:ea typeface="Lato" panose="020B0604020202020204" pitchFamily="34" charset="0"/>
              <a:cs typeface="Helvetica" panose="020B0604020202020204" pitchFamily="34" charset="0"/>
            </a:endParaRPr>
          </a:p>
        </p:txBody>
      </p:sp>
      <p:pic>
        <p:nvPicPr>
          <p:cNvPr id="4" name="Picture 3">
            <a:extLst>
              <a:ext uri="{FF2B5EF4-FFF2-40B4-BE49-F238E27FC236}">
                <a16:creationId xmlns:a16="http://schemas.microsoft.com/office/drawing/2014/main" id="{7082301F-C054-848F-82EB-5CA5ACC6EB0B}"/>
              </a:ext>
            </a:extLst>
          </p:cNvPr>
          <p:cNvPicPr>
            <a:picLocks noChangeAspect="1"/>
          </p:cNvPicPr>
          <p:nvPr/>
        </p:nvPicPr>
        <p:blipFill>
          <a:blip r:embed="rId3"/>
          <a:stretch>
            <a:fillRect/>
          </a:stretch>
        </p:blipFill>
        <p:spPr>
          <a:xfrm>
            <a:off x="548178" y="1845731"/>
            <a:ext cx="11095644" cy="3918305"/>
          </a:xfrm>
          <a:prstGeom prst="rect">
            <a:avLst/>
          </a:prstGeom>
        </p:spPr>
      </p:pic>
    </p:spTree>
    <p:extLst>
      <p:ext uri="{BB962C8B-B14F-4D97-AF65-F5344CB8AC3E}">
        <p14:creationId xmlns:p14="http://schemas.microsoft.com/office/powerpoint/2010/main" val="990905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6F70E-9A82-A85E-D582-30FA60237AF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3136473-80AF-9241-5026-25ED10748EB8}"/>
              </a:ext>
            </a:extLst>
          </p:cNvPr>
          <p:cNvSpPr>
            <a:spLocks noGrp="1"/>
          </p:cNvSpPr>
          <p:nvPr/>
        </p:nvSpPr>
        <p:spPr>
          <a:xfrm>
            <a:off x="11493501" y="6464300"/>
            <a:ext cx="317500" cy="228600"/>
          </a:xfrm>
          <a:prstGeom prst="rect">
            <a:avLst/>
          </a:prstGeom>
          <a:noFill/>
          <a:ln w="0">
            <a:noFill/>
          </a:ln>
        </p:spPr>
        <p:txBody>
          <a:bodyPr wrap="square" lIns="0" tIns="0" rIns="0" bIns="0" anchor="t">
            <a:noAutofit/>
          </a:bodyPr>
          <a:lstStyle>
            <a:defPPr>
              <a:defRPr sz="900" b="0">
                <a:solidFill>
                  <a:srgbClr val="64748B"/>
                </a:solidFill>
                <a:latin typeface="Calibri"/>
                <a:ea typeface="Calibri"/>
                <a:cs typeface="Calibri"/>
              </a:defRPr>
            </a:defPPr>
          </a:lstStyle>
          <a:p>
            <a:pPr>
              <a:defRPr sz="900" b="0">
                <a:solidFill>
                  <a:srgbClr val="64748B"/>
                </a:solidFill>
                <a:latin typeface="Calibri"/>
                <a:ea typeface="Calibri"/>
                <a:cs typeface="Calibri"/>
              </a:defRPr>
            </a:pPr>
            <a:r>
              <a:rPr sz="1200">
                <a:solidFill>
                  <a:srgbClr val="64748B"/>
                </a:solidFill>
                <a:latin typeface="Calibri"/>
                <a:ea typeface="Calibri"/>
                <a:cs typeface="Calibri"/>
              </a:rPr>
              <a:t>1</a:t>
            </a:r>
          </a:p>
        </p:txBody>
      </p:sp>
      <p:sp>
        <p:nvSpPr>
          <p:cNvPr id="8" name="TextBox 7">
            <a:extLst>
              <a:ext uri="{FF2B5EF4-FFF2-40B4-BE49-F238E27FC236}">
                <a16:creationId xmlns:a16="http://schemas.microsoft.com/office/drawing/2014/main" id="{78920937-CE99-1273-4E6B-3C1DDD5DDAF1}"/>
              </a:ext>
            </a:extLst>
          </p:cNvPr>
          <p:cNvSpPr txBox="1"/>
          <p:nvPr/>
        </p:nvSpPr>
        <p:spPr>
          <a:xfrm>
            <a:off x="241301" y="129804"/>
            <a:ext cx="11747500" cy="1015663"/>
          </a:xfrm>
          <a:prstGeom prst="rect">
            <a:avLst/>
          </a:prstGeom>
          <a:noFill/>
        </p:spPr>
        <p:txBody>
          <a:bodyPr wrap="square" rtlCol="0">
            <a:spAutoFit/>
          </a:bodyPr>
          <a:lstStyle/>
          <a:p>
            <a:r>
              <a:rPr lang="en-US" sz="3000" b="1" dirty="0">
                <a:latin typeface="Corbel" panose="020B0503020204020204" pitchFamily="34" charset="0"/>
                <a:ea typeface="Lato" panose="020B0604020202020204" pitchFamily="34" charset="0"/>
                <a:cs typeface="Helvetica" panose="020B0604020202020204" pitchFamily="34" charset="0"/>
              </a:rPr>
              <a:t>Underfitting is biased towards assumptions of the underlying trend of the data</a:t>
            </a:r>
            <a:endParaRPr lang="en-GB" sz="3000" b="1" dirty="0">
              <a:latin typeface="Corbel" panose="020B0503020204020204" pitchFamily="34" charset="0"/>
              <a:ea typeface="Lato" panose="020B0604020202020204" pitchFamily="34" charset="0"/>
              <a:cs typeface="Helvetica" panose="020B0604020202020204" pitchFamily="34" charset="0"/>
            </a:endParaRPr>
          </a:p>
        </p:txBody>
      </p:sp>
      <p:pic>
        <p:nvPicPr>
          <p:cNvPr id="5" name="Picture 4">
            <a:extLst>
              <a:ext uri="{FF2B5EF4-FFF2-40B4-BE49-F238E27FC236}">
                <a16:creationId xmlns:a16="http://schemas.microsoft.com/office/drawing/2014/main" id="{46AF49B1-4594-E734-23AC-D55F0CA987EF}"/>
              </a:ext>
            </a:extLst>
          </p:cNvPr>
          <p:cNvPicPr>
            <a:picLocks noChangeAspect="1"/>
          </p:cNvPicPr>
          <p:nvPr/>
        </p:nvPicPr>
        <p:blipFill>
          <a:blip r:embed="rId3"/>
          <a:stretch>
            <a:fillRect/>
          </a:stretch>
        </p:blipFill>
        <p:spPr>
          <a:xfrm>
            <a:off x="346286" y="1648838"/>
            <a:ext cx="11499427" cy="4130076"/>
          </a:xfrm>
          <a:prstGeom prst="rect">
            <a:avLst/>
          </a:prstGeom>
        </p:spPr>
      </p:pic>
    </p:spTree>
    <p:extLst>
      <p:ext uri="{BB962C8B-B14F-4D97-AF65-F5344CB8AC3E}">
        <p14:creationId xmlns:p14="http://schemas.microsoft.com/office/powerpoint/2010/main" val="2068919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FF3B6-C07D-2ECC-B36B-0A51C5D9153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8770A68-1C1A-53C1-D443-5EF8FCE44932}"/>
              </a:ext>
            </a:extLst>
          </p:cNvPr>
          <p:cNvSpPr>
            <a:spLocks noGrp="1"/>
          </p:cNvSpPr>
          <p:nvPr/>
        </p:nvSpPr>
        <p:spPr>
          <a:xfrm>
            <a:off x="11493501" y="6464300"/>
            <a:ext cx="317500" cy="228600"/>
          </a:xfrm>
          <a:prstGeom prst="rect">
            <a:avLst/>
          </a:prstGeom>
          <a:noFill/>
          <a:ln w="0">
            <a:noFill/>
          </a:ln>
        </p:spPr>
        <p:txBody>
          <a:bodyPr wrap="square" lIns="0" tIns="0" rIns="0" bIns="0" anchor="t">
            <a:noAutofit/>
          </a:bodyPr>
          <a:lstStyle>
            <a:defPPr>
              <a:defRPr sz="900" b="0">
                <a:solidFill>
                  <a:srgbClr val="64748B"/>
                </a:solidFill>
                <a:latin typeface="Calibri"/>
                <a:ea typeface="Calibri"/>
                <a:cs typeface="Calibri"/>
              </a:defRPr>
            </a:defPPr>
          </a:lstStyle>
          <a:p>
            <a:pPr>
              <a:defRPr sz="900" b="0">
                <a:solidFill>
                  <a:srgbClr val="64748B"/>
                </a:solidFill>
                <a:latin typeface="Calibri"/>
                <a:ea typeface="Calibri"/>
                <a:cs typeface="Calibri"/>
              </a:defRPr>
            </a:pPr>
            <a:r>
              <a:rPr sz="1200">
                <a:solidFill>
                  <a:srgbClr val="64748B"/>
                </a:solidFill>
                <a:latin typeface="Calibri"/>
                <a:ea typeface="Calibri"/>
                <a:cs typeface="Calibri"/>
              </a:rPr>
              <a:t>1</a:t>
            </a:r>
          </a:p>
        </p:txBody>
      </p:sp>
      <p:sp>
        <p:nvSpPr>
          <p:cNvPr id="8" name="TextBox 7">
            <a:extLst>
              <a:ext uri="{FF2B5EF4-FFF2-40B4-BE49-F238E27FC236}">
                <a16:creationId xmlns:a16="http://schemas.microsoft.com/office/drawing/2014/main" id="{FA470C06-99D0-E75E-E2D5-675E418D5DC2}"/>
              </a:ext>
            </a:extLst>
          </p:cNvPr>
          <p:cNvSpPr txBox="1"/>
          <p:nvPr/>
        </p:nvSpPr>
        <p:spPr>
          <a:xfrm>
            <a:off x="241301" y="129804"/>
            <a:ext cx="11747500" cy="1015663"/>
          </a:xfrm>
          <a:prstGeom prst="rect">
            <a:avLst/>
          </a:prstGeom>
          <a:noFill/>
        </p:spPr>
        <p:txBody>
          <a:bodyPr wrap="square" rtlCol="0">
            <a:spAutoFit/>
          </a:bodyPr>
          <a:lstStyle/>
          <a:p>
            <a:r>
              <a:rPr lang="en-US" sz="3000" b="1" dirty="0">
                <a:latin typeface="Corbel" panose="020B0503020204020204" pitchFamily="34" charset="0"/>
                <a:ea typeface="Lato" panose="020B0604020202020204" pitchFamily="34" charset="0"/>
                <a:cs typeface="Helvetica" panose="020B0604020202020204" pitchFamily="34" charset="0"/>
              </a:rPr>
              <a:t>Underfitting is biased towards assumptions of the underlying trend of the data</a:t>
            </a:r>
            <a:endParaRPr lang="en-GB" sz="3000" b="1" dirty="0">
              <a:latin typeface="Corbel" panose="020B0503020204020204" pitchFamily="34" charset="0"/>
              <a:ea typeface="Lato" panose="020B0604020202020204" pitchFamily="34" charset="0"/>
              <a:cs typeface="Helvetica" panose="020B0604020202020204" pitchFamily="34" charset="0"/>
            </a:endParaRPr>
          </a:p>
        </p:txBody>
      </p:sp>
      <p:pic>
        <p:nvPicPr>
          <p:cNvPr id="4" name="Picture 3">
            <a:extLst>
              <a:ext uri="{FF2B5EF4-FFF2-40B4-BE49-F238E27FC236}">
                <a16:creationId xmlns:a16="http://schemas.microsoft.com/office/drawing/2014/main" id="{3A9E5942-E30E-9602-C440-F6167E89AB77}"/>
              </a:ext>
            </a:extLst>
          </p:cNvPr>
          <p:cNvPicPr>
            <a:picLocks noChangeAspect="1"/>
          </p:cNvPicPr>
          <p:nvPr/>
        </p:nvPicPr>
        <p:blipFill>
          <a:blip r:embed="rId3"/>
          <a:stretch>
            <a:fillRect/>
          </a:stretch>
        </p:blipFill>
        <p:spPr>
          <a:xfrm>
            <a:off x="417829" y="1639111"/>
            <a:ext cx="11356342" cy="3969123"/>
          </a:xfrm>
          <a:prstGeom prst="rect">
            <a:avLst/>
          </a:prstGeom>
        </p:spPr>
      </p:pic>
    </p:spTree>
    <p:extLst>
      <p:ext uri="{BB962C8B-B14F-4D97-AF65-F5344CB8AC3E}">
        <p14:creationId xmlns:p14="http://schemas.microsoft.com/office/powerpoint/2010/main" val="3319585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669FD-71D8-9F32-003D-A8034FE61FA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1E701E2-2276-D5A7-B655-F6305C2E91CB}"/>
              </a:ext>
            </a:extLst>
          </p:cNvPr>
          <p:cNvSpPr>
            <a:spLocks noGrp="1"/>
          </p:cNvSpPr>
          <p:nvPr/>
        </p:nvSpPr>
        <p:spPr>
          <a:xfrm>
            <a:off x="11493501" y="6464300"/>
            <a:ext cx="317500" cy="228600"/>
          </a:xfrm>
          <a:prstGeom prst="rect">
            <a:avLst/>
          </a:prstGeom>
          <a:noFill/>
          <a:ln w="0">
            <a:noFill/>
          </a:ln>
        </p:spPr>
        <p:txBody>
          <a:bodyPr wrap="square" lIns="0" tIns="0" rIns="0" bIns="0" anchor="t">
            <a:noAutofit/>
          </a:bodyPr>
          <a:lstStyle>
            <a:defPPr>
              <a:defRPr sz="900" b="0">
                <a:solidFill>
                  <a:srgbClr val="64748B"/>
                </a:solidFill>
                <a:latin typeface="Calibri"/>
                <a:ea typeface="Calibri"/>
                <a:cs typeface="Calibri"/>
              </a:defRPr>
            </a:defPPr>
          </a:lstStyle>
          <a:p>
            <a:pPr>
              <a:defRPr sz="900" b="0">
                <a:solidFill>
                  <a:srgbClr val="64748B"/>
                </a:solidFill>
                <a:latin typeface="Calibri"/>
                <a:ea typeface="Calibri"/>
                <a:cs typeface="Calibri"/>
              </a:defRPr>
            </a:pPr>
            <a:r>
              <a:rPr sz="1200">
                <a:solidFill>
                  <a:srgbClr val="64748B"/>
                </a:solidFill>
                <a:latin typeface="Calibri"/>
                <a:ea typeface="Calibri"/>
                <a:cs typeface="Calibri"/>
              </a:rPr>
              <a:t>1</a:t>
            </a:r>
          </a:p>
        </p:txBody>
      </p:sp>
      <p:sp>
        <p:nvSpPr>
          <p:cNvPr id="8" name="TextBox 7">
            <a:extLst>
              <a:ext uri="{FF2B5EF4-FFF2-40B4-BE49-F238E27FC236}">
                <a16:creationId xmlns:a16="http://schemas.microsoft.com/office/drawing/2014/main" id="{7B529B83-B553-A19F-8022-53AD6080E723}"/>
              </a:ext>
            </a:extLst>
          </p:cNvPr>
          <p:cNvSpPr txBox="1"/>
          <p:nvPr/>
        </p:nvSpPr>
        <p:spPr>
          <a:xfrm>
            <a:off x="241301" y="129804"/>
            <a:ext cx="11747500" cy="1015663"/>
          </a:xfrm>
          <a:prstGeom prst="rect">
            <a:avLst/>
          </a:prstGeom>
          <a:noFill/>
        </p:spPr>
        <p:txBody>
          <a:bodyPr wrap="square" rtlCol="0">
            <a:spAutoFit/>
          </a:bodyPr>
          <a:lstStyle/>
          <a:p>
            <a:r>
              <a:rPr lang="en-US" sz="3000" b="1" dirty="0">
                <a:latin typeface="Corbel" panose="020B0503020204020204" pitchFamily="34" charset="0"/>
                <a:ea typeface="Lato" panose="020B0604020202020204" pitchFamily="34" charset="0"/>
                <a:cs typeface="Helvetica" panose="020B0604020202020204" pitchFamily="34" charset="0"/>
              </a:rPr>
              <a:t>Underfitting is biased towards assumptions of the underlying trend of the data</a:t>
            </a:r>
            <a:endParaRPr lang="en-GB" sz="3000" b="1" dirty="0">
              <a:latin typeface="Corbel" panose="020B0503020204020204" pitchFamily="34" charset="0"/>
              <a:ea typeface="Lato" panose="020B0604020202020204" pitchFamily="34" charset="0"/>
              <a:cs typeface="Helvetica" panose="020B0604020202020204" pitchFamily="34" charset="0"/>
            </a:endParaRPr>
          </a:p>
        </p:txBody>
      </p:sp>
      <p:pic>
        <p:nvPicPr>
          <p:cNvPr id="5" name="Picture 4">
            <a:extLst>
              <a:ext uri="{FF2B5EF4-FFF2-40B4-BE49-F238E27FC236}">
                <a16:creationId xmlns:a16="http://schemas.microsoft.com/office/drawing/2014/main" id="{E99DCDC5-D6B6-5E56-32AA-DE2C9109F623}"/>
              </a:ext>
            </a:extLst>
          </p:cNvPr>
          <p:cNvPicPr>
            <a:picLocks noChangeAspect="1"/>
          </p:cNvPicPr>
          <p:nvPr/>
        </p:nvPicPr>
        <p:blipFill>
          <a:blip r:embed="rId3"/>
          <a:stretch>
            <a:fillRect/>
          </a:stretch>
        </p:blipFill>
        <p:spPr>
          <a:xfrm>
            <a:off x="317500" y="1501705"/>
            <a:ext cx="11561323" cy="4323926"/>
          </a:xfrm>
          <a:prstGeom prst="rect">
            <a:avLst/>
          </a:prstGeom>
        </p:spPr>
      </p:pic>
    </p:spTree>
    <p:extLst>
      <p:ext uri="{BB962C8B-B14F-4D97-AF65-F5344CB8AC3E}">
        <p14:creationId xmlns:p14="http://schemas.microsoft.com/office/powerpoint/2010/main" val="203633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78BDB-F14B-F0D1-1E63-047B1CE50F4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8FC05F2-796E-5545-D7AB-7139A44D3A70}"/>
              </a:ext>
            </a:extLst>
          </p:cNvPr>
          <p:cNvSpPr>
            <a:spLocks noGrp="1"/>
          </p:cNvSpPr>
          <p:nvPr/>
        </p:nvSpPr>
        <p:spPr>
          <a:xfrm>
            <a:off x="11493501" y="6464300"/>
            <a:ext cx="317500" cy="228600"/>
          </a:xfrm>
          <a:prstGeom prst="rect">
            <a:avLst/>
          </a:prstGeom>
          <a:noFill/>
          <a:ln w="0">
            <a:noFill/>
          </a:ln>
        </p:spPr>
        <p:txBody>
          <a:bodyPr wrap="square" lIns="0" tIns="0" rIns="0" bIns="0" anchor="t">
            <a:noAutofit/>
          </a:bodyPr>
          <a:lstStyle>
            <a:defPPr>
              <a:defRPr sz="900" b="0">
                <a:solidFill>
                  <a:srgbClr val="64748B"/>
                </a:solidFill>
                <a:latin typeface="Calibri"/>
                <a:ea typeface="Calibri"/>
                <a:cs typeface="Calibri"/>
              </a:defRPr>
            </a:defPPr>
          </a:lstStyle>
          <a:p>
            <a:pPr>
              <a:defRPr sz="900" b="0">
                <a:solidFill>
                  <a:srgbClr val="64748B"/>
                </a:solidFill>
                <a:latin typeface="Calibri"/>
                <a:ea typeface="Calibri"/>
                <a:cs typeface="Calibri"/>
              </a:defRPr>
            </a:pPr>
            <a:r>
              <a:rPr sz="1200">
                <a:solidFill>
                  <a:srgbClr val="64748B"/>
                </a:solidFill>
                <a:latin typeface="Calibri"/>
                <a:ea typeface="Calibri"/>
                <a:cs typeface="Calibri"/>
              </a:rPr>
              <a:t>1</a:t>
            </a:r>
          </a:p>
        </p:txBody>
      </p:sp>
      <p:sp>
        <p:nvSpPr>
          <p:cNvPr id="8" name="TextBox 7">
            <a:extLst>
              <a:ext uri="{FF2B5EF4-FFF2-40B4-BE49-F238E27FC236}">
                <a16:creationId xmlns:a16="http://schemas.microsoft.com/office/drawing/2014/main" id="{D79D7D31-C006-C3D9-2F91-BC4CC4EE73ED}"/>
              </a:ext>
            </a:extLst>
          </p:cNvPr>
          <p:cNvSpPr txBox="1"/>
          <p:nvPr/>
        </p:nvSpPr>
        <p:spPr>
          <a:xfrm>
            <a:off x="241301" y="129804"/>
            <a:ext cx="11747500" cy="1015663"/>
          </a:xfrm>
          <a:prstGeom prst="rect">
            <a:avLst/>
          </a:prstGeom>
          <a:noFill/>
        </p:spPr>
        <p:txBody>
          <a:bodyPr wrap="square" rtlCol="0">
            <a:spAutoFit/>
          </a:bodyPr>
          <a:lstStyle/>
          <a:p>
            <a:r>
              <a:rPr lang="en-US" sz="3000" b="1" dirty="0">
                <a:latin typeface="Corbel" panose="020B0503020204020204" pitchFamily="34" charset="0"/>
                <a:ea typeface="Lato" panose="020B0604020202020204" pitchFamily="34" charset="0"/>
                <a:cs typeface="Helvetica" panose="020B0604020202020204" pitchFamily="34" charset="0"/>
              </a:rPr>
              <a:t>Underfitting is biased towards assumptions of the underlying trend of the data</a:t>
            </a:r>
            <a:endParaRPr lang="en-GB" sz="3000" b="1" dirty="0">
              <a:latin typeface="Corbel" panose="020B0503020204020204" pitchFamily="34" charset="0"/>
              <a:ea typeface="Lato" panose="020B0604020202020204" pitchFamily="34" charset="0"/>
              <a:cs typeface="Helvetica" panose="020B0604020202020204" pitchFamily="34" charset="0"/>
            </a:endParaRPr>
          </a:p>
        </p:txBody>
      </p:sp>
      <p:pic>
        <p:nvPicPr>
          <p:cNvPr id="4" name="Picture 3">
            <a:extLst>
              <a:ext uri="{FF2B5EF4-FFF2-40B4-BE49-F238E27FC236}">
                <a16:creationId xmlns:a16="http://schemas.microsoft.com/office/drawing/2014/main" id="{B41C6109-83DB-2B89-689D-A49F758DDB94}"/>
              </a:ext>
            </a:extLst>
          </p:cNvPr>
          <p:cNvPicPr>
            <a:picLocks noChangeAspect="1"/>
          </p:cNvPicPr>
          <p:nvPr/>
        </p:nvPicPr>
        <p:blipFill>
          <a:blip r:embed="rId3"/>
          <a:stretch>
            <a:fillRect/>
          </a:stretch>
        </p:blipFill>
        <p:spPr>
          <a:xfrm>
            <a:off x="570689" y="1499281"/>
            <a:ext cx="11050621" cy="4611204"/>
          </a:xfrm>
          <a:prstGeom prst="rect">
            <a:avLst/>
          </a:prstGeom>
        </p:spPr>
      </p:pic>
    </p:spTree>
    <p:extLst>
      <p:ext uri="{BB962C8B-B14F-4D97-AF65-F5344CB8AC3E}">
        <p14:creationId xmlns:p14="http://schemas.microsoft.com/office/powerpoint/2010/main" val="1680314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EBB35-55C9-F4C9-77D2-EE10680687C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B512B81-6D1A-4AE4-7DFD-6F263A79BB52}"/>
              </a:ext>
            </a:extLst>
          </p:cNvPr>
          <p:cNvSpPr>
            <a:spLocks noGrp="1"/>
          </p:cNvSpPr>
          <p:nvPr/>
        </p:nvSpPr>
        <p:spPr>
          <a:xfrm>
            <a:off x="11493501" y="6464300"/>
            <a:ext cx="317500" cy="228600"/>
          </a:xfrm>
          <a:prstGeom prst="rect">
            <a:avLst/>
          </a:prstGeom>
          <a:noFill/>
          <a:ln w="0">
            <a:noFill/>
          </a:ln>
        </p:spPr>
        <p:txBody>
          <a:bodyPr wrap="square" lIns="0" tIns="0" rIns="0" bIns="0" anchor="t">
            <a:noAutofit/>
          </a:bodyPr>
          <a:lstStyle>
            <a:defPPr>
              <a:defRPr sz="900" b="0">
                <a:solidFill>
                  <a:srgbClr val="64748B"/>
                </a:solidFill>
                <a:latin typeface="Calibri"/>
                <a:ea typeface="Calibri"/>
                <a:cs typeface="Calibri"/>
              </a:defRPr>
            </a:defPPr>
          </a:lstStyle>
          <a:p>
            <a:pPr>
              <a:defRPr sz="900" b="0">
                <a:solidFill>
                  <a:srgbClr val="64748B"/>
                </a:solidFill>
                <a:latin typeface="Calibri"/>
                <a:ea typeface="Calibri"/>
                <a:cs typeface="Calibri"/>
              </a:defRPr>
            </a:pPr>
            <a:r>
              <a:rPr sz="1200">
                <a:solidFill>
                  <a:srgbClr val="64748B"/>
                </a:solidFill>
                <a:latin typeface="Calibri"/>
                <a:ea typeface="Calibri"/>
                <a:cs typeface="Calibri"/>
              </a:rPr>
              <a:t>1</a:t>
            </a:r>
          </a:p>
        </p:txBody>
      </p:sp>
      <p:graphicFrame>
        <p:nvGraphicFramePr>
          <p:cNvPr id="4" name="Table 3">
            <a:extLst>
              <a:ext uri="{FF2B5EF4-FFF2-40B4-BE49-F238E27FC236}">
                <a16:creationId xmlns:a16="http://schemas.microsoft.com/office/drawing/2014/main" id="{676266CC-23B0-E3C8-9A7E-E1360016523A}"/>
              </a:ext>
            </a:extLst>
          </p:cNvPr>
          <p:cNvGraphicFramePr/>
          <p:nvPr/>
        </p:nvGraphicFramePr>
        <p:xfrm>
          <a:off x="609600" y="1846364"/>
          <a:ext cx="10972800" cy="4038600"/>
        </p:xfrm>
        <a:graphic>
          <a:graphicData uri="http://schemas.openxmlformats.org/drawingml/2006/table">
            <a:tbl>
              <a:tblPr/>
              <a:tblGrid>
                <a:gridCol w="2286000">
                  <a:extLst>
                    <a:ext uri="{9D8B030D-6E8A-4147-A177-3AD203B41FA5}">
                      <a16:colId xmlns:a16="http://schemas.microsoft.com/office/drawing/2014/main" val="20000"/>
                    </a:ext>
                  </a:extLst>
                </a:gridCol>
                <a:gridCol w="4318000">
                  <a:extLst>
                    <a:ext uri="{9D8B030D-6E8A-4147-A177-3AD203B41FA5}">
                      <a16:colId xmlns:a16="http://schemas.microsoft.com/office/drawing/2014/main" val="20001"/>
                    </a:ext>
                  </a:extLst>
                </a:gridCol>
                <a:gridCol w="4368800">
                  <a:extLst>
                    <a:ext uri="{9D8B030D-6E8A-4147-A177-3AD203B41FA5}">
                      <a16:colId xmlns:a16="http://schemas.microsoft.com/office/drawing/2014/main" val="20002"/>
                    </a:ext>
                  </a:extLst>
                </a:gridCol>
              </a:tblGrid>
              <a:tr h="673100">
                <a:tc>
                  <a:txBody>
                    <a:bodyPr/>
                    <a:lstStyle/>
                    <a:p>
                      <a:r>
                        <a:rPr sz="1900" b="0" dirty="0">
                          <a:solidFill>
                            <a:srgbClr val="FFFFFF"/>
                          </a:solidFill>
                          <a:latin typeface="Calibri"/>
                          <a:ea typeface="Calibri"/>
                          <a:cs typeface="Calibri"/>
                        </a:rPr>
                        <a:t>Failure mode</a:t>
                      </a:r>
                    </a:p>
                  </a:txBody>
                  <a:tcPr marL="152400" marR="152400" marT="38100" marB="38100">
                    <a:solidFill>
                      <a:srgbClr val="028090"/>
                    </a:solidFill>
                  </a:tcPr>
                </a:tc>
                <a:tc>
                  <a:txBody>
                    <a:bodyPr/>
                    <a:lstStyle/>
                    <a:p>
                      <a:r>
                        <a:rPr sz="1900" b="0">
                          <a:solidFill>
                            <a:srgbClr val="FFFFFF"/>
                          </a:solidFill>
                          <a:latin typeface="Calibri"/>
                          <a:ea typeface="Calibri"/>
                          <a:cs typeface="Calibri"/>
                        </a:rPr>
                        <a:t>What goes wrong?</a:t>
                      </a:r>
                    </a:p>
                  </a:txBody>
                  <a:tcPr marL="152400" marR="152400" marT="38100" marB="38100">
                    <a:solidFill>
                      <a:srgbClr val="028090"/>
                    </a:solidFill>
                  </a:tcPr>
                </a:tc>
                <a:tc>
                  <a:txBody>
                    <a:bodyPr/>
                    <a:lstStyle/>
                    <a:p>
                      <a:r>
                        <a:rPr sz="1900" b="0">
                          <a:solidFill>
                            <a:srgbClr val="FFFFFF"/>
                          </a:solidFill>
                          <a:latin typeface="Calibri"/>
                          <a:ea typeface="Calibri"/>
                          <a:cs typeface="Calibri"/>
                        </a:rPr>
                        <a:t>Useful check</a:t>
                      </a:r>
                    </a:p>
                  </a:txBody>
                  <a:tcPr marL="152400" marR="152400" marT="38100" marB="38100">
                    <a:solidFill>
                      <a:srgbClr val="028090"/>
                    </a:solidFill>
                  </a:tcPr>
                </a:tc>
                <a:extLst>
                  <a:ext uri="{0D108BD9-81ED-4DB2-BD59-A6C34878D82A}">
                    <a16:rowId xmlns:a16="http://schemas.microsoft.com/office/drawing/2014/main" val="10000"/>
                  </a:ext>
                </a:extLst>
              </a:tr>
              <a:tr h="673100">
                <a:tc>
                  <a:txBody>
                    <a:bodyPr/>
                    <a:lstStyle/>
                    <a:p>
                      <a:r>
                        <a:rPr sz="1900" b="0">
                          <a:solidFill>
                            <a:srgbClr val="1E293B"/>
                          </a:solidFill>
                          <a:latin typeface="Calibri"/>
                          <a:ea typeface="Calibri"/>
                          <a:cs typeface="Calibri"/>
                        </a:rPr>
                        <a:t>Underfitting</a:t>
                      </a:r>
                    </a:p>
                  </a:txBody>
                  <a:tcPr marL="152400" marR="152400" marT="38100" marB="38100">
                    <a:solidFill>
                      <a:srgbClr val="FFFFFF"/>
                    </a:solidFill>
                  </a:tcPr>
                </a:tc>
                <a:tc>
                  <a:txBody>
                    <a:bodyPr/>
                    <a:lstStyle/>
                    <a:p>
                      <a:r>
                        <a:rPr sz="1900" b="0">
                          <a:solidFill>
                            <a:srgbClr val="1E293B"/>
                          </a:solidFill>
                          <a:latin typeface="Calibri"/>
                          <a:ea typeface="Calibri"/>
                          <a:cs typeface="Calibri"/>
                        </a:rPr>
                        <a:t>The model misses a useful pattern.</a:t>
                      </a:r>
                    </a:p>
                  </a:txBody>
                  <a:tcPr marL="152400" marR="152400" marT="38100" marB="38100">
                    <a:solidFill>
                      <a:srgbClr val="FFFFFF"/>
                    </a:solidFill>
                  </a:tcPr>
                </a:tc>
                <a:tc>
                  <a:txBody>
                    <a:bodyPr/>
                    <a:lstStyle/>
                    <a:p>
                      <a:r>
                        <a:rPr sz="1900" b="0">
                          <a:solidFill>
                            <a:srgbClr val="1E293B"/>
                          </a:solidFill>
                          <a:latin typeface="Calibri"/>
                          <a:ea typeface="Calibri"/>
                          <a:cs typeface="Calibri"/>
                        </a:rPr>
                        <a:t>Training and validation performance</a:t>
                      </a:r>
                    </a:p>
                  </a:txBody>
                  <a:tcPr marL="152400" marR="152400" marT="38100" marB="38100">
                    <a:solidFill>
                      <a:srgbClr val="FFFFFF"/>
                    </a:solidFill>
                  </a:tcPr>
                </a:tc>
                <a:extLst>
                  <a:ext uri="{0D108BD9-81ED-4DB2-BD59-A6C34878D82A}">
                    <a16:rowId xmlns:a16="http://schemas.microsoft.com/office/drawing/2014/main" val="10001"/>
                  </a:ext>
                </a:extLst>
              </a:tr>
              <a:tr h="673100">
                <a:tc>
                  <a:txBody>
                    <a:bodyPr/>
                    <a:lstStyle/>
                    <a:p>
                      <a:r>
                        <a:rPr sz="1900" b="0">
                          <a:solidFill>
                            <a:srgbClr val="1E293B"/>
                          </a:solidFill>
                          <a:latin typeface="Calibri"/>
                          <a:ea typeface="Calibri"/>
                          <a:cs typeface="Calibri"/>
                        </a:rPr>
                        <a:t>Overfitting</a:t>
                      </a:r>
                    </a:p>
                  </a:txBody>
                  <a:tcPr marL="152400" marR="152400" marT="38100" marB="38100">
                    <a:solidFill>
                      <a:srgbClr val="FFFFFF"/>
                    </a:solidFill>
                  </a:tcPr>
                </a:tc>
                <a:tc>
                  <a:txBody>
                    <a:bodyPr/>
                    <a:lstStyle/>
                    <a:p>
                      <a:r>
                        <a:rPr sz="1900" b="0">
                          <a:solidFill>
                            <a:srgbClr val="1E293B"/>
                          </a:solidFill>
                          <a:latin typeface="Calibri"/>
                          <a:ea typeface="Calibri"/>
                          <a:cs typeface="Calibri"/>
                        </a:rPr>
                        <a:t>The model fits accidental details.</a:t>
                      </a:r>
                    </a:p>
                  </a:txBody>
                  <a:tcPr marL="152400" marR="152400" marT="38100" marB="38100">
                    <a:solidFill>
                      <a:srgbClr val="FFFFFF"/>
                    </a:solidFill>
                  </a:tcPr>
                </a:tc>
                <a:tc>
                  <a:txBody>
                    <a:bodyPr/>
                    <a:lstStyle/>
                    <a:p>
                      <a:r>
                        <a:rPr sz="1900" b="0">
                          <a:solidFill>
                            <a:srgbClr val="1E293B"/>
                          </a:solidFill>
                          <a:latin typeface="Calibri"/>
                          <a:ea typeface="Calibri"/>
                          <a:cs typeface="Calibri"/>
                        </a:rPr>
                        <a:t>The training–validation gap</a:t>
                      </a:r>
                    </a:p>
                  </a:txBody>
                  <a:tcPr marL="152400" marR="152400" marT="38100" marB="38100">
                    <a:solidFill>
                      <a:srgbClr val="FFFFFF"/>
                    </a:solidFill>
                  </a:tcPr>
                </a:tc>
                <a:extLst>
                  <a:ext uri="{0D108BD9-81ED-4DB2-BD59-A6C34878D82A}">
                    <a16:rowId xmlns:a16="http://schemas.microsoft.com/office/drawing/2014/main" val="10002"/>
                  </a:ext>
                </a:extLst>
              </a:tr>
              <a:tr h="673100">
                <a:tc>
                  <a:txBody>
                    <a:bodyPr/>
                    <a:lstStyle/>
                    <a:p>
                      <a:r>
                        <a:rPr sz="1900" b="0">
                          <a:solidFill>
                            <a:srgbClr val="1E293B"/>
                          </a:solidFill>
                          <a:latin typeface="Calibri"/>
                          <a:ea typeface="Calibri"/>
                          <a:cs typeface="Calibri"/>
                        </a:rPr>
                        <a:t>Bias in the data</a:t>
                      </a:r>
                    </a:p>
                  </a:txBody>
                  <a:tcPr marL="152400" marR="152400" marT="38100" marB="38100">
                    <a:solidFill>
                      <a:srgbClr val="FFFFFF"/>
                    </a:solidFill>
                  </a:tcPr>
                </a:tc>
                <a:tc>
                  <a:txBody>
                    <a:bodyPr/>
                    <a:lstStyle/>
                    <a:p>
                      <a:r>
                        <a:rPr sz="1900" b="0">
                          <a:solidFill>
                            <a:srgbClr val="1E293B"/>
                          </a:solidFill>
                          <a:latin typeface="Calibri"/>
                          <a:ea typeface="Calibri"/>
                          <a:cs typeface="Calibri"/>
                        </a:rPr>
                        <a:t>Some conditions have poor coverage.</a:t>
                      </a:r>
                    </a:p>
                  </a:txBody>
                  <a:tcPr marL="152400" marR="152400" marT="38100" marB="38100">
                    <a:solidFill>
                      <a:srgbClr val="FFFFFF"/>
                    </a:solidFill>
                  </a:tcPr>
                </a:tc>
                <a:tc>
                  <a:txBody>
                    <a:bodyPr/>
                    <a:lstStyle/>
                    <a:p>
                      <a:r>
                        <a:rPr sz="1900" b="0">
                          <a:solidFill>
                            <a:srgbClr val="1E293B"/>
                          </a:solidFill>
                          <a:latin typeface="Calibri"/>
                          <a:ea typeface="Calibri"/>
                          <a:cs typeface="Calibri"/>
                        </a:rPr>
                        <a:t>Sampling and performance by group</a:t>
                      </a:r>
                    </a:p>
                  </a:txBody>
                  <a:tcPr marL="152400" marR="152400" marT="38100" marB="38100">
                    <a:solidFill>
                      <a:srgbClr val="FFFFFF"/>
                    </a:solidFill>
                  </a:tcPr>
                </a:tc>
                <a:extLst>
                  <a:ext uri="{0D108BD9-81ED-4DB2-BD59-A6C34878D82A}">
                    <a16:rowId xmlns:a16="http://schemas.microsoft.com/office/drawing/2014/main" val="10003"/>
                  </a:ext>
                </a:extLst>
              </a:tr>
              <a:tr h="673100">
                <a:tc>
                  <a:txBody>
                    <a:bodyPr/>
                    <a:lstStyle/>
                    <a:p>
                      <a:r>
                        <a:rPr sz="1900" b="0">
                          <a:solidFill>
                            <a:srgbClr val="1E293B"/>
                          </a:solidFill>
                          <a:latin typeface="Calibri"/>
                          <a:ea typeface="Calibri"/>
                          <a:cs typeface="Calibri"/>
                        </a:rPr>
                        <a:t>Out of</a:t>
                      </a:r>
                    </a:p>
                    <a:p>
                      <a:r>
                        <a:rPr sz="1900" b="0">
                          <a:solidFill>
                            <a:srgbClr val="1E293B"/>
                          </a:solidFill>
                          <a:latin typeface="Calibri"/>
                          <a:ea typeface="Calibri"/>
                          <a:cs typeface="Calibri"/>
                        </a:rPr>
                        <a:t>distribution</a:t>
                      </a:r>
                    </a:p>
                  </a:txBody>
                  <a:tcPr marL="152400" marR="152400" marT="38100" marB="38100">
                    <a:solidFill>
                      <a:srgbClr val="FFFFFF"/>
                    </a:solidFill>
                  </a:tcPr>
                </a:tc>
                <a:tc>
                  <a:txBody>
                    <a:bodyPr/>
                    <a:lstStyle/>
                    <a:p>
                      <a:r>
                        <a:rPr sz="1900" b="0">
                          <a:solidFill>
                            <a:srgbClr val="1E293B"/>
                          </a:solidFill>
                          <a:latin typeface="Calibri"/>
                          <a:ea typeface="Calibri"/>
                          <a:cs typeface="Calibri"/>
                        </a:rPr>
                        <a:t>New conditions differ from those studied.</a:t>
                      </a:r>
                    </a:p>
                  </a:txBody>
                  <a:tcPr marL="152400" marR="152400" marT="38100" marB="38100">
                    <a:solidFill>
                      <a:srgbClr val="FFFFFF"/>
                    </a:solidFill>
                  </a:tcPr>
                </a:tc>
                <a:tc>
                  <a:txBody>
                    <a:bodyPr/>
                    <a:lstStyle/>
                    <a:p>
                      <a:r>
                        <a:rPr sz="1900" b="0">
                          <a:solidFill>
                            <a:srgbClr val="1E293B"/>
                          </a:solidFill>
                          <a:latin typeface="Calibri"/>
                          <a:ea typeface="Calibri"/>
                          <a:cs typeface="Calibri"/>
                        </a:rPr>
                        <a:t>The intended conditions of use</a:t>
                      </a:r>
                    </a:p>
                  </a:txBody>
                  <a:tcPr marL="152400" marR="152400" marT="38100" marB="38100">
                    <a:solidFill>
                      <a:srgbClr val="FFFFFF"/>
                    </a:solidFill>
                  </a:tcPr>
                </a:tc>
                <a:extLst>
                  <a:ext uri="{0D108BD9-81ED-4DB2-BD59-A6C34878D82A}">
                    <a16:rowId xmlns:a16="http://schemas.microsoft.com/office/drawing/2014/main" val="10004"/>
                  </a:ext>
                </a:extLst>
              </a:tr>
              <a:tr h="673100">
                <a:tc>
                  <a:txBody>
                    <a:bodyPr/>
                    <a:lstStyle/>
                    <a:p>
                      <a:r>
                        <a:rPr sz="1900" b="0">
                          <a:solidFill>
                            <a:srgbClr val="1E293B"/>
                          </a:solidFill>
                          <a:latin typeface="Calibri"/>
                          <a:ea typeface="Calibri"/>
                          <a:cs typeface="Calibri"/>
                        </a:rPr>
                        <a:t>Information</a:t>
                      </a:r>
                    </a:p>
                    <a:p>
                      <a:r>
                        <a:rPr sz="1900" b="0">
                          <a:solidFill>
                            <a:srgbClr val="1E293B"/>
                          </a:solidFill>
                          <a:latin typeface="Calibri"/>
                          <a:ea typeface="Calibri"/>
                          <a:cs typeface="Calibri"/>
                        </a:rPr>
                        <a:t>leakage</a:t>
                      </a:r>
                    </a:p>
                  </a:txBody>
                  <a:tcPr marL="152400" marR="152400" marT="38100" marB="38100">
                    <a:solidFill>
                      <a:srgbClr val="FFFFFF"/>
                    </a:solidFill>
                  </a:tcPr>
                </a:tc>
                <a:tc>
                  <a:txBody>
                    <a:bodyPr/>
                    <a:lstStyle/>
                    <a:p>
                      <a:r>
                        <a:rPr sz="1900" b="0">
                          <a:solidFill>
                            <a:srgbClr val="1E293B"/>
                          </a:solidFill>
                          <a:latin typeface="Calibri"/>
                          <a:ea typeface="Calibri"/>
                          <a:cs typeface="Calibri"/>
                        </a:rPr>
                        <a:t>Training and test information overlap.</a:t>
                      </a:r>
                    </a:p>
                  </a:txBody>
                  <a:tcPr marL="152400" marR="152400" marT="38100" marB="38100">
                    <a:solidFill>
                      <a:srgbClr val="FFFFFF"/>
                    </a:solidFill>
                  </a:tcPr>
                </a:tc>
                <a:tc>
                  <a:txBody>
                    <a:bodyPr/>
                    <a:lstStyle/>
                    <a:p>
                      <a:r>
                        <a:rPr sz="1900" b="0" dirty="0">
                          <a:solidFill>
                            <a:srgbClr val="1E293B"/>
                          </a:solidFill>
                          <a:latin typeface="Calibri"/>
                          <a:ea typeface="Calibri"/>
                          <a:cs typeface="Calibri"/>
                        </a:rPr>
                        <a:t>Split units and data preparation</a:t>
                      </a:r>
                    </a:p>
                  </a:txBody>
                  <a:tcPr marL="152400" marR="152400" marT="38100" marB="38100">
                    <a:solidFill>
                      <a:srgbClr val="FFFFFF"/>
                    </a:solidFill>
                  </a:tcPr>
                </a:tc>
                <a:extLst>
                  <a:ext uri="{0D108BD9-81ED-4DB2-BD59-A6C34878D82A}">
                    <a16:rowId xmlns:a16="http://schemas.microsoft.com/office/drawing/2014/main" val="10005"/>
                  </a:ext>
                </a:extLst>
              </a:tr>
            </a:tbl>
          </a:graphicData>
        </a:graphic>
      </p:graphicFrame>
      <p:sp>
        <p:nvSpPr>
          <p:cNvPr id="8" name="TextBox 7">
            <a:extLst>
              <a:ext uri="{FF2B5EF4-FFF2-40B4-BE49-F238E27FC236}">
                <a16:creationId xmlns:a16="http://schemas.microsoft.com/office/drawing/2014/main" id="{5F8DD193-0D5F-6BD5-A05A-A73B205B7A48}"/>
              </a:ext>
            </a:extLst>
          </p:cNvPr>
          <p:cNvSpPr txBox="1"/>
          <p:nvPr/>
        </p:nvSpPr>
        <p:spPr>
          <a:xfrm>
            <a:off x="241301" y="129804"/>
            <a:ext cx="11747500" cy="1015663"/>
          </a:xfrm>
          <a:prstGeom prst="rect">
            <a:avLst/>
          </a:prstGeom>
          <a:noFill/>
        </p:spPr>
        <p:txBody>
          <a:bodyPr wrap="square" rtlCol="0">
            <a:spAutoFit/>
          </a:bodyPr>
          <a:lstStyle/>
          <a:p>
            <a:r>
              <a:rPr lang="en-US" sz="3000" b="1" dirty="0">
                <a:latin typeface="Corbel" panose="020B0503020204020204" pitchFamily="34" charset="0"/>
                <a:ea typeface="Lato" panose="020B0604020202020204" pitchFamily="34" charset="0"/>
                <a:cs typeface="Helvetica" panose="020B0604020202020204" pitchFamily="34" charset="0"/>
              </a:rPr>
              <a:t>Regression models the behavior between features and continuous target values</a:t>
            </a:r>
            <a:endParaRPr lang="en-GB" sz="3000" b="1" dirty="0">
              <a:latin typeface="Corbel" panose="020B0503020204020204" pitchFamily="34" charset="0"/>
              <a:ea typeface="Lato"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900461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69300" y="1355579"/>
            <a:ext cx="3420374" cy="3970318"/>
          </a:xfrm>
          <a:prstGeom prst="rect">
            <a:avLst/>
          </a:prstGeom>
          <a:noFill/>
        </p:spPr>
        <p:txBody>
          <a:bodyPr wrap="square" rtlCol="0">
            <a:spAutoFit/>
          </a:bodyPr>
          <a:lstStyle/>
          <a:p>
            <a:r>
              <a:rPr lang="en-GB" dirty="0">
                <a:latin typeface="Calibri" panose="020F0502020204030204" pitchFamily="34" charset="0"/>
              </a:rPr>
              <a:t>label noise</a:t>
            </a:r>
          </a:p>
          <a:p>
            <a:endParaRPr lang="en-GB" dirty="0">
              <a:latin typeface="Calibri" panose="020F0502020204030204" pitchFamily="34" charset="0"/>
            </a:endParaRPr>
          </a:p>
          <a:p>
            <a:r>
              <a:rPr lang="en-GB" dirty="0">
                <a:latin typeface="Calibri" panose="020F0502020204030204" pitchFamily="34" charset="0"/>
              </a:rPr>
              <a:t>feature noise</a:t>
            </a:r>
          </a:p>
          <a:p>
            <a:pPr lvl="1"/>
            <a:endParaRPr lang="en-GB" dirty="0">
              <a:latin typeface="Calibri" panose="020F0502020204030204" pitchFamily="34" charset="0"/>
            </a:endParaRPr>
          </a:p>
          <a:p>
            <a:r>
              <a:rPr lang="en-GB" dirty="0">
                <a:latin typeface="Calibri" panose="020F0502020204030204" pitchFamily="34" charset="0"/>
              </a:rPr>
              <a:t>feature relevance</a:t>
            </a:r>
          </a:p>
          <a:p>
            <a:endParaRPr lang="en-GB" dirty="0">
              <a:latin typeface="Calibri" panose="020F0502020204030204" pitchFamily="34" charset="0"/>
            </a:endParaRPr>
          </a:p>
          <a:p>
            <a:r>
              <a:rPr lang="en-GB" dirty="0">
                <a:latin typeface="Calibri" panose="020F0502020204030204" pitchFamily="34" charset="0"/>
              </a:rPr>
              <a:t>relatively small train sets</a:t>
            </a:r>
          </a:p>
          <a:p>
            <a:endParaRPr lang="en-GB" dirty="0">
              <a:latin typeface="Calibri" panose="020F0502020204030204" pitchFamily="34" charset="0"/>
            </a:endParaRPr>
          </a:p>
          <a:p>
            <a:r>
              <a:rPr lang="en-US" dirty="0">
                <a:latin typeface="Calibri" panose="020F0502020204030204" pitchFamily="34" charset="0"/>
              </a:rPr>
              <a:t>don’t try to fit the data perfectly</a:t>
            </a:r>
          </a:p>
          <a:p>
            <a:endParaRPr lang="en-GB" dirty="0">
              <a:latin typeface="Calibri" panose="020F0502020204030204" pitchFamily="34" charset="0"/>
            </a:endParaRPr>
          </a:p>
          <a:p>
            <a:r>
              <a:rPr lang="en-US" dirty="0">
                <a:latin typeface="Calibri" panose="020F0502020204030204" pitchFamily="34" charset="0"/>
              </a:rPr>
              <a:t>don’t try to use all features</a:t>
            </a:r>
          </a:p>
          <a:p>
            <a:endParaRPr lang="en-US" dirty="0">
              <a:latin typeface="Calibri" panose="020F0502020204030204" pitchFamily="34" charset="0"/>
            </a:endParaRPr>
          </a:p>
          <a:p>
            <a:r>
              <a:rPr lang="en-US" dirty="0">
                <a:latin typeface="Calibri" panose="020F0502020204030204" pitchFamily="34" charset="0"/>
              </a:rPr>
              <a:t>notice how R</a:t>
            </a:r>
            <a:r>
              <a:rPr lang="en-US" baseline="30000" dirty="0">
                <a:latin typeface="Calibri" panose="020F0502020204030204" pitchFamily="34" charset="0"/>
              </a:rPr>
              <a:t>2</a:t>
            </a:r>
            <a:r>
              <a:rPr lang="en-US" dirty="0">
                <a:latin typeface="Calibri" panose="020F0502020204030204" pitchFamily="34" charset="0"/>
              </a:rPr>
              <a:t> on the train set does increase with </a:t>
            </a:r>
            <a:r>
              <a:rPr lang="en-US" i="1" dirty="0">
                <a:latin typeface="Calibri" panose="020F0502020204030204" pitchFamily="34" charset="0"/>
              </a:rPr>
              <a:t>d</a:t>
            </a:r>
          </a:p>
        </p:txBody>
      </p:sp>
      <p:sp>
        <p:nvSpPr>
          <p:cNvPr id="5" name="TextBox 4">
            <a:extLst>
              <a:ext uri="{FF2B5EF4-FFF2-40B4-BE49-F238E27FC236}">
                <a16:creationId xmlns:a16="http://schemas.microsoft.com/office/drawing/2014/main" id="{23F47C53-EA2F-3B0D-C56C-45A311817CCE}"/>
              </a:ext>
            </a:extLst>
          </p:cNvPr>
          <p:cNvSpPr txBox="1"/>
          <p:nvPr/>
        </p:nvSpPr>
        <p:spPr>
          <a:xfrm>
            <a:off x="241301" y="129804"/>
            <a:ext cx="11747500" cy="523220"/>
          </a:xfrm>
          <a:prstGeom prst="rect">
            <a:avLst/>
          </a:prstGeom>
          <a:noFill/>
        </p:spPr>
        <p:txBody>
          <a:bodyPr wrap="square" rtlCol="0">
            <a:spAutoFit/>
          </a:bodyPr>
          <a:lstStyle/>
          <a:p>
            <a:r>
              <a:rPr lang="en-US" sz="2800" dirty="0">
                <a:latin typeface="+mj-lt"/>
                <a:ea typeface="Lato" panose="020B0604020202020204" pitchFamily="34" charset="0"/>
                <a:cs typeface="Helvetica" panose="020B0604020202020204" pitchFamily="34" charset="0"/>
              </a:rPr>
              <a:t>model regularization</a:t>
            </a:r>
            <a:endParaRPr lang="en-GB" sz="2800" dirty="0">
              <a:latin typeface="+mj-lt"/>
              <a:ea typeface="Lato" panose="020B0604020202020204" pitchFamily="34" charset="0"/>
              <a:cs typeface="Helvetica" panose="020B0604020202020204" pitchFamily="34" charset="0"/>
            </a:endParaRPr>
          </a:p>
        </p:txBody>
      </p:sp>
      <p:pic>
        <p:nvPicPr>
          <p:cNvPr id="9" name="Picture 8" descr="Chart, scatter chart&#10;&#10;Description automatically generated">
            <a:extLst>
              <a:ext uri="{FF2B5EF4-FFF2-40B4-BE49-F238E27FC236}">
                <a16:creationId xmlns:a16="http://schemas.microsoft.com/office/drawing/2014/main" id="{321810C6-57AB-7D73-9B59-B25963932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301" y="823433"/>
            <a:ext cx="8064499" cy="5593640"/>
          </a:xfrm>
          <a:prstGeom prst="rect">
            <a:avLst/>
          </a:prstGeom>
        </p:spPr>
      </p:pic>
    </p:spTree>
    <p:extLst>
      <p:ext uri="{BB962C8B-B14F-4D97-AF65-F5344CB8AC3E}">
        <p14:creationId xmlns:p14="http://schemas.microsoft.com/office/powerpoint/2010/main" val="2685696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39212-834D-E113-E31B-426385CFB0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1417B48-0775-F429-4CD0-ED16DA297E73}"/>
              </a:ext>
            </a:extLst>
          </p:cNvPr>
          <p:cNvSpPr txBox="1"/>
          <p:nvPr/>
        </p:nvSpPr>
        <p:spPr>
          <a:xfrm>
            <a:off x="241301" y="129804"/>
            <a:ext cx="11747500" cy="523220"/>
          </a:xfrm>
          <a:prstGeom prst="rect">
            <a:avLst/>
          </a:prstGeom>
          <a:noFill/>
        </p:spPr>
        <p:txBody>
          <a:bodyPr wrap="square" rtlCol="0">
            <a:spAutoFit/>
          </a:bodyPr>
          <a:lstStyle/>
          <a:p>
            <a:r>
              <a:rPr lang="en-GB" sz="2800" dirty="0">
                <a:latin typeface="+mj-lt"/>
                <a:ea typeface="Lato" panose="020B0604020202020204" pitchFamily="34" charset="0"/>
                <a:cs typeface="Helvetica" panose="020B0604020202020204" pitchFamily="34" charset="0"/>
              </a:rPr>
              <a:t>Validation hold-out set</a:t>
            </a:r>
          </a:p>
        </p:txBody>
      </p:sp>
      <p:pic>
        <p:nvPicPr>
          <p:cNvPr id="6" name="Picture 5" descr="A screenshot of a computer&#10;&#10;Description automatically generated with medium confidence">
            <a:extLst>
              <a:ext uri="{FF2B5EF4-FFF2-40B4-BE49-F238E27FC236}">
                <a16:creationId xmlns:a16="http://schemas.microsoft.com/office/drawing/2014/main" id="{E835276C-B480-20F7-1B45-9955A9F2B239}"/>
              </a:ext>
            </a:extLst>
          </p:cNvPr>
          <p:cNvPicPr>
            <a:picLocks noChangeAspect="1"/>
          </p:cNvPicPr>
          <p:nvPr/>
        </p:nvPicPr>
        <p:blipFill>
          <a:blip r:embed="rId2">
            <a:extLst>
              <a:ext uri="{28A0092B-C50C-407E-A947-70E740481C1C}">
                <a14:useLocalDpi xmlns:a14="http://schemas.microsoft.com/office/drawing/2010/main" val="0"/>
              </a:ext>
            </a:extLst>
          </a:blip>
          <a:srcRect b="76562"/>
          <a:stretch>
            <a:fillRect/>
          </a:stretch>
        </p:blipFill>
        <p:spPr>
          <a:xfrm>
            <a:off x="1809065" y="922952"/>
            <a:ext cx="7633396" cy="1239223"/>
          </a:xfrm>
          <a:prstGeom prst="rect">
            <a:avLst/>
          </a:prstGeom>
        </p:spPr>
      </p:pic>
      <p:sp>
        <p:nvSpPr>
          <p:cNvPr id="2" name="Rectangle 1">
            <a:extLst>
              <a:ext uri="{FF2B5EF4-FFF2-40B4-BE49-F238E27FC236}">
                <a16:creationId xmlns:a16="http://schemas.microsoft.com/office/drawing/2014/main" id="{FDFD6532-F626-F555-6003-0D243397DC53}"/>
              </a:ext>
            </a:extLst>
          </p:cNvPr>
          <p:cNvSpPr/>
          <p:nvPr/>
        </p:nvSpPr>
        <p:spPr>
          <a:xfrm>
            <a:off x="6276975" y="1533525"/>
            <a:ext cx="895350" cy="409575"/>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TextBox 2">
            <a:extLst>
              <a:ext uri="{FF2B5EF4-FFF2-40B4-BE49-F238E27FC236}">
                <a16:creationId xmlns:a16="http://schemas.microsoft.com/office/drawing/2014/main" id="{733E7AF2-6C7E-CF01-12F1-7F840A758478}"/>
              </a:ext>
            </a:extLst>
          </p:cNvPr>
          <p:cNvSpPr txBox="1"/>
          <p:nvPr/>
        </p:nvSpPr>
        <p:spPr>
          <a:xfrm>
            <a:off x="5625763" y="2264807"/>
            <a:ext cx="2200275" cy="369332"/>
          </a:xfrm>
          <a:prstGeom prst="rect">
            <a:avLst/>
          </a:prstGeom>
          <a:noFill/>
        </p:spPr>
        <p:txBody>
          <a:bodyPr wrap="square" rtlCol="0">
            <a:spAutoFit/>
          </a:bodyPr>
          <a:lstStyle/>
          <a:p>
            <a:pPr algn="ctr"/>
            <a:r>
              <a:rPr lang="en-US" dirty="0"/>
              <a:t>Validation data</a:t>
            </a:r>
            <a:endParaRPr lang="en-NL" dirty="0"/>
          </a:p>
        </p:txBody>
      </p:sp>
      <p:cxnSp>
        <p:nvCxnSpPr>
          <p:cNvPr id="7" name="Straight Arrow Connector 6">
            <a:extLst>
              <a:ext uri="{FF2B5EF4-FFF2-40B4-BE49-F238E27FC236}">
                <a16:creationId xmlns:a16="http://schemas.microsoft.com/office/drawing/2014/main" id="{2BA99BA1-86C3-FADD-41C0-29C02CDD9027}"/>
              </a:ext>
            </a:extLst>
          </p:cNvPr>
          <p:cNvCxnSpPr>
            <a:stCxn id="3" idx="0"/>
          </p:cNvCxnSpPr>
          <p:nvPr/>
        </p:nvCxnSpPr>
        <p:spPr>
          <a:xfrm flipH="1" flipV="1">
            <a:off x="6724650" y="1943100"/>
            <a:ext cx="1251" cy="3217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31563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F7838-ACD3-DA96-4F02-C64051A3DB6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A0B6E8D-74F2-BD74-58E7-8687B4D41B14}"/>
              </a:ext>
            </a:extLst>
          </p:cNvPr>
          <p:cNvSpPr txBox="1"/>
          <p:nvPr/>
        </p:nvSpPr>
        <p:spPr>
          <a:xfrm>
            <a:off x="241301" y="129804"/>
            <a:ext cx="11747500" cy="523220"/>
          </a:xfrm>
          <a:prstGeom prst="rect">
            <a:avLst/>
          </a:prstGeom>
          <a:noFill/>
        </p:spPr>
        <p:txBody>
          <a:bodyPr wrap="square" rtlCol="0">
            <a:spAutoFit/>
          </a:bodyPr>
          <a:lstStyle/>
          <a:p>
            <a:r>
              <a:rPr lang="en-GB" sz="2800" dirty="0">
                <a:latin typeface="+mj-lt"/>
                <a:ea typeface="Lato" panose="020B0604020202020204" pitchFamily="34" charset="0"/>
                <a:cs typeface="Helvetica" panose="020B0604020202020204" pitchFamily="34" charset="0"/>
              </a:rPr>
              <a:t>Validation hold-out set</a:t>
            </a:r>
          </a:p>
        </p:txBody>
      </p:sp>
      <p:pic>
        <p:nvPicPr>
          <p:cNvPr id="6" name="Picture 5" descr="A screenshot of a computer&#10;&#10;Description automatically generated with medium confidence">
            <a:extLst>
              <a:ext uri="{FF2B5EF4-FFF2-40B4-BE49-F238E27FC236}">
                <a16:creationId xmlns:a16="http://schemas.microsoft.com/office/drawing/2014/main" id="{A1C38C5A-66DE-F774-5E18-F9380DDC2CAE}"/>
              </a:ext>
            </a:extLst>
          </p:cNvPr>
          <p:cNvPicPr>
            <a:picLocks noChangeAspect="1"/>
          </p:cNvPicPr>
          <p:nvPr/>
        </p:nvPicPr>
        <p:blipFill>
          <a:blip r:embed="rId2">
            <a:extLst>
              <a:ext uri="{28A0092B-C50C-407E-A947-70E740481C1C}">
                <a14:useLocalDpi xmlns:a14="http://schemas.microsoft.com/office/drawing/2010/main" val="0"/>
              </a:ext>
            </a:extLst>
          </a:blip>
          <a:srcRect b="76562"/>
          <a:stretch>
            <a:fillRect/>
          </a:stretch>
        </p:blipFill>
        <p:spPr>
          <a:xfrm>
            <a:off x="1809065" y="922952"/>
            <a:ext cx="7633396" cy="1239223"/>
          </a:xfrm>
          <a:prstGeom prst="rect">
            <a:avLst/>
          </a:prstGeom>
        </p:spPr>
      </p:pic>
      <p:sp>
        <p:nvSpPr>
          <p:cNvPr id="2" name="Rectangle 1">
            <a:extLst>
              <a:ext uri="{FF2B5EF4-FFF2-40B4-BE49-F238E27FC236}">
                <a16:creationId xmlns:a16="http://schemas.microsoft.com/office/drawing/2014/main" id="{CF7B31CB-170F-8072-6190-6D9E579D8F0D}"/>
              </a:ext>
            </a:extLst>
          </p:cNvPr>
          <p:cNvSpPr/>
          <p:nvPr/>
        </p:nvSpPr>
        <p:spPr>
          <a:xfrm>
            <a:off x="6276975" y="1533525"/>
            <a:ext cx="895350" cy="409575"/>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TextBox 2">
            <a:extLst>
              <a:ext uri="{FF2B5EF4-FFF2-40B4-BE49-F238E27FC236}">
                <a16:creationId xmlns:a16="http://schemas.microsoft.com/office/drawing/2014/main" id="{7228F6D2-A3AE-6745-6262-0F03026B7840}"/>
              </a:ext>
            </a:extLst>
          </p:cNvPr>
          <p:cNvSpPr txBox="1"/>
          <p:nvPr/>
        </p:nvSpPr>
        <p:spPr>
          <a:xfrm>
            <a:off x="5625763" y="2264807"/>
            <a:ext cx="2200275" cy="369332"/>
          </a:xfrm>
          <a:prstGeom prst="rect">
            <a:avLst/>
          </a:prstGeom>
          <a:noFill/>
        </p:spPr>
        <p:txBody>
          <a:bodyPr wrap="square" rtlCol="0">
            <a:spAutoFit/>
          </a:bodyPr>
          <a:lstStyle/>
          <a:p>
            <a:pPr algn="ctr"/>
            <a:r>
              <a:rPr lang="en-US" dirty="0"/>
              <a:t>Validation data</a:t>
            </a:r>
            <a:endParaRPr lang="en-NL" dirty="0"/>
          </a:p>
        </p:txBody>
      </p:sp>
      <p:cxnSp>
        <p:nvCxnSpPr>
          <p:cNvPr id="7" name="Straight Arrow Connector 6">
            <a:extLst>
              <a:ext uri="{FF2B5EF4-FFF2-40B4-BE49-F238E27FC236}">
                <a16:creationId xmlns:a16="http://schemas.microsoft.com/office/drawing/2014/main" id="{7AF61C2B-F2FB-2C3A-8B99-DB3098979579}"/>
              </a:ext>
            </a:extLst>
          </p:cNvPr>
          <p:cNvCxnSpPr>
            <a:stCxn id="3" idx="0"/>
          </p:cNvCxnSpPr>
          <p:nvPr/>
        </p:nvCxnSpPr>
        <p:spPr>
          <a:xfrm flipH="1" flipV="1">
            <a:off x="6724650" y="1943100"/>
            <a:ext cx="1251" cy="3217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55041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CBF3B4-3D25-A8D2-9AFA-2BAA3D38C33F}"/>
              </a:ext>
            </a:extLst>
          </p:cNvPr>
          <p:cNvSpPr txBox="1"/>
          <p:nvPr/>
        </p:nvSpPr>
        <p:spPr>
          <a:xfrm>
            <a:off x="241301" y="129804"/>
            <a:ext cx="11747500" cy="523220"/>
          </a:xfrm>
          <a:prstGeom prst="rect">
            <a:avLst/>
          </a:prstGeom>
          <a:noFill/>
        </p:spPr>
        <p:txBody>
          <a:bodyPr wrap="square" rtlCol="0">
            <a:spAutoFit/>
          </a:bodyPr>
          <a:lstStyle/>
          <a:p>
            <a:r>
              <a:rPr lang="en-US" sz="2800" i="1" dirty="0">
                <a:latin typeface="+mj-lt"/>
                <a:ea typeface="Lato" panose="020B0604020202020204" pitchFamily="34" charset="0"/>
                <a:cs typeface="Helvetica" panose="020B0604020202020204" pitchFamily="34" charset="0"/>
              </a:rPr>
              <a:t>5</a:t>
            </a:r>
            <a:r>
              <a:rPr lang="en-US" sz="2800" dirty="0">
                <a:latin typeface="+mj-lt"/>
                <a:ea typeface="Lato" panose="020B0604020202020204" pitchFamily="34" charset="0"/>
                <a:cs typeface="Helvetica" panose="020B0604020202020204" pitchFamily="34" charset="0"/>
              </a:rPr>
              <a:t>-fold cross-validation</a:t>
            </a:r>
            <a:endParaRPr lang="en-GB" sz="2800" dirty="0">
              <a:latin typeface="+mj-lt"/>
              <a:ea typeface="Lato" panose="020B0604020202020204" pitchFamily="34" charset="0"/>
              <a:cs typeface="Helvetica" panose="020B0604020202020204" pitchFamily="34" charset="0"/>
            </a:endParaRPr>
          </a:p>
        </p:txBody>
      </p:sp>
      <p:pic>
        <p:nvPicPr>
          <p:cNvPr id="6" name="Picture 5" descr="A screenshot of a computer&#10;&#10;Description automatically generated with medium confidence">
            <a:extLst>
              <a:ext uri="{FF2B5EF4-FFF2-40B4-BE49-F238E27FC236}">
                <a16:creationId xmlns:a16="http://schemas.microsoft.com/office/drawing/2014/main" id="{55C45B61-9BFC-2413-6085-8E13F87624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9065" y="922952"/>
            <a:ext cx="7633396" cy="5287313"/>
          </a:xfrm>
          <a:prstGeom prst="rect">
            <a:avLst/>
          </a:prstGeom>
        </p:spPr>
      </p:pic>
    </p:spTree>
    <p:extLst>
      <p:ext uri="{BB962C8B-B14F-4D97-AF65-F5344CB8AC3E}">
        <p14:creationId xmlns:p14="http://schemas.microsoft.com/office/powerpoint/2010/main" val="416481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9A269-5081-527F-ECB3-A9F0CDF7EE9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AFD78D-D39C-76AC-2A82-A046D751AC06}"/>
              </a:ext>
            </a:extLst>
          </p:cNvPr>
          <p:cNvSpPr txBox="1"/>
          <p:nvPr/>
        </p:nvSpPr>
        <p:spPr>
          <a:xfrm>
            <a:off x="241301" y="129804"/>
            <a:ext cx="11747500" cy="523220"/>
          </a:xfrm>
          <a:prstGeom prst="rect">
            <a:avLst/>
          </a:prstGeom>
          <a:noFill/>
        </p:spPr>
        <p:txBody>
          <a:bodyPr wrap="square" rtlCol="0">
            <a:spAutoFit/>
          </a:bodyPr>
          <a:lstStyle/>
          <a:p>
            <a:r>
              <a:rPr lang="en-GB" sz="2800" dirty="0">
                <a:latin typeface="+mj-lt"/>
                <a:ea typeface="Lato" panose="020B0604020202020204" pitchFamily="34" charset="0"/>
                <a:cs typeface="Helvetica" panose="020B0604020202020204" pitchFamily="34" charset="0"/>
              </a:rPr>
              <a:t>Tuning regularization</a:t>
            </a:r>
          </a:p>
        </p:txBody>
      </p:sp>
      <p:pic>
        <p:nvPicPr>
          <p:cNvPr id="3074" name="Picture 2" descr="Cross-validation-assessing network's generalization ability. | Download  Scientific Diagram">
            <a:extLst>
              <a:ext uri="{FF2B5EF4-FFF2-40B4-BE49-F238E27FC236}">
                <a16:creationId xmlns:a16="http://schemas.microsoft.com/office/drawing/2014/main" id="{7325D19C-404C-8C6A-0962-E35CE9BBB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1295400"/>
            <a:ext cx="8096250" cy="42672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68C9273-778F-A4A4-1318-ABF7351E06DE}"/>
              </a:ext>
            </a:extLst>
          </p:cNvPr>
          <p:cNvSpPr/>
          <p:nvPr/>
        </p:nvSpPr>
        <p:spPr>
          <a:xfrm>
            <a:off x="8727440" y="5232400"/>
            <a:ext cx="1005840" cy="4978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Rectangle 2">
            <a:extLst>
              <a:ext uri="{FF2B5EF4-FFF2-40B4-BE49-F238E27FC236}">
                <a16:creationId xmlns:a16="http://schemas.microsoft.com/office/drawing/2014/main" id="{12CDA352-6DCB-1F03-6503-272470545AAD}"/>
              </a:ext>
            </a:extLst>
          </p:cNvPr>
          <p:cNvSpPr/>
          <p:nvPr/>
        </p:nvSpPr>
        <p:spPr>
          <a:xfrm>
            <a:off x="5801360" y="5161280"/>
            <a:ext cx="1564640" cy="5689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TextBox 4">
            <a:extLst>
              <a:ext uri="{FF2B5EF4-FFF2-40B4-BE49-F238E27FC236}">
                <a16:creationId xmlns:a16="http://schemas.microsoft.com/office/drawing/2014/main" id="{435B1BBB-9408-E253-FC75-B2B49BC1CE86}"/>
              </a:ext>
            </a:extLst>
          </p:cNvPr>
          <p:cNvSpPr txBox="1"/>
          <p:nvPr/>
        </p:nvSpPr>
        <p:spPr>
          <a:xfrm>
            <a:off x="4216400" y="5240496"/>
            <a:ext cx="3444240" cy="461665"/>
          </a:xfrm>
          <a:prstGeom prst="rect">
            <a:avLst/>
          </a:prstGeom>
          <a:noFill/>
        </p:spPr>
        <p:txBody>
          <a:bodyPr wrap="square" rtlCol="0">
            <a:spAutoFit/>
          </a:bodyPr>
          <a:lstStyle/>
          <a:p>
            <a:pPr algn="ctr"/>
            <a:r>
              <a:rPr lang="en-US" sz="2400" dirty="0"/>
              <a:t>Maximum depth</a:t>
            </a:r>
            <a:endParaRPr lang="en-NL" sz="2400" dirty="0"/>
          </a:p>
        </p:txBody>
      </p:sp>
    </p:spTree>
    <p:extLst>
      <p:ext uri="{BB962C8B-B14F-4D97-AF65-F5344CB8AC3E}">
        <p14:creationId xmlns:p14="http://schemas.microsoft.com/office/powerpoint/2010/main" val="559918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915E7-BA7A-1F8F-AA1A-1CC4891BE308}"/>
            </a:ext>
          </a:extLst>
        </p:cNvPr>
        <p:cNvGrpSpPr/>
        <p:nvPr/>
      </p:nvGrpSpPr>
      <p:grpSpPr>
        <a:xfrm>
          <a:off x="0" y="0"/>
          <a:ext cx="0" cy="0"/>
          <a:chOff x="0" y="0"/>
          <a:chExt cx="0" cy="0"/>
        </a:xfrm>
      </p:grpSpPr>
      <p:pic>
        <p:nvPicPr>
          <p:cNvPr id="1026" name="Picture 2" descr="Related image">
            <a:extLst>
              <a:ext uri="{FF2B5EF4-FFF2-40B4-BE49-F238E27FC236}">
                <a16:creationId xmlns:a16="http://schemas.microsoft.com/office/drawing/2014/main" id="{60FD75AE-5908-D4DC-FB8B-4244FD5D4A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3137" y="653024"/>
            <a:ext cx="7382800" cy="56246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850351-B665-1124-9850-141925650539}"/>
              </a:ext>
            </a:extLst>
          </p:cNvPr>
          <p:cNvSpPr txBox="1"/>
          <p:nvPr/>
        </p:nvSpPr>
        <p:spPr>
          <a:xfrm>
            <a:off x="757451" y="1745682"/>
            <a:ext cx="2875629" cy="4062651"/>
          </a:xfrm>
          <a:prstGeom prst="rect">
            <a:avLst/>
          </a:prstGeom>
          <a:noFill/>
        </p:spPr>
        <p:txBody>
          <a:bodyPr wrap="square" rtlCol="0">
            <a:spAutoFit/>
          </a:bodyPr>
          <a:lstStyle/>
          <a:p>
            <a:r>
              <a:rPr lang="nl-BE" sz="2400" dirty="0">
                <a:latin typeface="Calibri" panose="020F0502020204030204" pitchFamily="34" charset="0"/>
              </a:rPr>
              <a:t>Error due to bias</a:t>
            </a:r>
          </a:p>
          <a:p>
            <a:r>
              <a:rPr lang="nl-BE" sz="2400" dirty="0">
                <a:latin typeface="Calibri" panose="020F0502020204030204" pitchFamily="34" charset="0"/>
              </a:rPr>
              <a:t>(systematic errors,</a:t>
            </a:r>
          </a:p>
          <a:p>
            <a:r>
              <a:rPr lang="nl-BE" sz="2400" dirty="0">
                <a:latin typeface="Calibri" panose="020F0502020204030204" pitchFamily="34" charset="0"/>
              </a:rPr>
              <a:t>oversimplification)</a:t>
            </a:r>
          </a:p>
          <a:p>
            <a:endParaRPr lang="nl-BE" sz="2400" dirty="0">
              <a:latin typeface="Calibri" panose="020F0502020204030204" pitchFamily="34" charset="0"/>
            </a:endParaRPr>
          </a:p>
          <a:p>
            <a:r>
              <a:rPr lang="nl-BE" sz="2400" dirty="0">
                <a:latin typeface="Calibri" panose="020F0502020204030204" pitchFamily="34" charset="0"/>
              </a:rPr>
              <a:t>Error due to variance</a:t>
            </a:r>
          </a:p>
          <a:p>
            <a:r>
              <a:rPr lang="nl-BE" sz="2400" dirty="0">
                <a:latin typeface="Calibri" panose="020F0502020204030204" pitchFamily="34" charset="0"/>
              </a:rPr>
              <a:t>(sensitivity due to flexibility,</a:t>
            </a:r>
          </a:p>
          <a:p>
            <a:r>
              <a:rPr lang="nl-BE" sz="2400" dirty="0">
                <a:latin typeface="Calibri" panose="020F0502020204030204" pitchFamily="34" charset="0"/>
              </a:rPr>
              <a:t>overcomplification)</a:t>
            </a:r>
          </a:p>
          <a:p>
            <a:endParaRPr lang="nl-BE" sz="2400" dirty="0">
              <a:latin typeface="Calibri" panose="020F0502020204030204" pitchFamily="34" charset="0"/>
            </a:endParaRPr>
          </a:p>
          <a:p>
            <a:r>
              <a:rPr lang="nl-BE" sz="2400" dirty="0">
                <a:latin typeface="Calibri" panose="020F0502020204030204" pitchFamily="34" charset="0"/>
              </a:rPr>
              <a:t>Irreducible error </a:t>
            </a:r>
            <a:endParaRPr lang="en-US" sz="2400" dirty="0">
              <a:latin typeface="Calibri" panose="020F0502020204030204" pitchFamily="34" charset="0"/>
            </a:endParaRPr>
          </a:p>
          <a:p>
            <a:pPr marL="285750" indent="-285750">
              <a:buFont typeface="Courier New" panose="02070309020205020404" pitchFamily="49" charset="0"/>
              <a:buChar char="o"/>
            </a:pPr>
            <a:endParaRPr lang="en-US" dirty="0">
              <a:latin typeface="Calibri" panose="020F0502020204030204" pitchFamily="34" charset="0"/>
            </a:endParaRPr>
          </a:p>
        </p:txBody>
      </p:sp>
      <p:sp>
        <p:nvSpPr>
          <p:cNvPr id="2" name="TextBox 1">
            <a:extLst>
              <a:ext uri="{FF2B5EF4-FFF2-40B4-BE49-F238E27FC236}">
                <a16:creationId xmlns:a16="http://schemas.microsoft.com/office/drawing/2014/main" id="{76DBF4D3-3E4E-965E-1E3A-DA46F42CD933}"/>
              </a:ext>
            </a:extLst>
          </p:cNvPr>
          <p:cNvSpPr txBox="1"/>
          <p:nvPr/>
        </p:nvSpPr>
        <p:spPr>
          <a:xfrm>
            <a:off x="241301" y="129804"/>
            <a:ext cx="11747500" cy="523220"/>
          </a:xfrm>
          <a:prstGeom prst="rect">
            <a:avLst/>
          </a:prstGeom>
          <a:noFill/>
        </p:spPr>
        <p:txBody>
          <a:bodyPr wrap="square" rtlCol="0">
            <a:spAutoFit/>
          </a:bodyPr>
          <a:lstStyle/>
          <a:p>
            <a:r>
              <a:rPr lang="en-US" sz="2800" dirty="0">
                <a:latin typeface="+mj-lt"/>
                <a:ea typeface="Lato" panose="020B0604020202020204" pitchFamily="34" charset="0"/>
                <a:cs typeface="Helvetica" panose="020B0604020202020204" pitchFamily="34" charset="0"/>
              </a:rPr>
              <a:t>bias &lt;&gt; variance</a:t>
            </a:r>
            <a:endParaRPr lang="en-GB" sz="2800" dirty="0">
              <a:latin typeface="+mj-lt"/>
              <a:ea typeface="Lato"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034051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B256A8B-B416-4CA9-8771-48392FEF3D88}"/>
              </a:ext>
            </a:extLst>
          </p:cNvPr>
          <p:cNvPicPr>
            <a:picLocks noChangeAspect="1"/>
          </p:cNvPicPr>
          <p:nvPr/>
        </p:nvPicPr>
        <p:blipFill>
          <a:blip r:embed="rId3"/>
          <a:stretch>
            <a:fillRect/>
          </a:stretch>
        </p:blipFill>
        <p:spPr>
          <a:xfrm>
            <a:off x="4439837" y="1642214"/>
            <a:ext cx="6635437" cy="4167378"/>
          </a:xfrm>
          <a:prstGeom prst="rect">
            <a:avLst/>
          </a:prstGeom>
        </p:spPr>
      </p:pic>
      <p:sp>
        <p:nvSpPr>
          <p:cNvPr id="2" name="TextBox 1">
            <a:extLst>
              <a:ext uri="{FF2B5EF4-FFF2-40B4-BE49-F238E27FC236}">
                <a16:creationId xmlns:a16="http://schemas.microsoft.com/office/drawing/2014/main" id="{8A987E28-1D05-52C4-D0F5-0A1B810B0689}"/>
              </a:ext>
            </a:extLst>
          </p:cNvPr>
          <p:cNvSpPr txBox="1"/>
          <p:nvPr/>
        </p:nvSpPr>
        <p:spPr>
          <a:xfrm>
            <a:off x="729720" y="2485910"/>
            <a:ext cx="4055000" cy="2215991"/>
          </a:xfrm>
          <a:prstGeom prst="rect">
            <a:avLst/>
          </a:prstGeom>
          <a:noFill/>
        </p:spPr>
        <p:txBody>
          <a:bodyPr wrap="square" rtlCol="0">
            <a:spAutoFit/>
          </a:bodyPr>
          <a:lstStyle/>
          <a:p>
            <a:r>
              <a:rPr lang="nl-BE" sz="2400" dirty="0">
                <a:latin typeface="Calibri" panose="020F0502020204030204" pitchFamily="34" charset="0"/>
              </a:rPr>
              <a:t>Error due to bias</a:t>
            </a:r>
          </a:p>
          <a:p>
            <a:endParaRPr lang="nl-BE" sz="2400" dirty="0">
              <a:latin typeface="Calibri" panose="020F0502020204030204" pitchFamily="34" charset="0"/>
            </a:endParaRPr>
          </a:p>
          <a:p>
            <a:r>
              <a:rPr lang="nl-BE" sz="2400" dirty="0">
                <a:latin typeface="Calibri" panose="020F0502020204030204" pitchFamily="34" charset="0"/>
              </a:rPr>
              <a:t>Error due to variance</a:t>
            </a:r>
          </a:p>
          <a:p>
            <a:endParaRPr lang="nl-BE" sz="2400" dirty="0">
              <a:latin typeface="Calibri" panose="020F0502020204030204" pitchFamily="34" charset="0"/>
            </a:endParaRPr>
          </a:p>
          <a:p>
            <a:r>
              <a:rPr lang="nl-BE" sz="2400" dirty="0">
                <a:latin typeface="Calibri" panose="020F0502020204030204" pitchFamily="34" charset="0"/>
              </a:rPr>
              <a:t>Irreducible error </a:t>
            </a:r>
            <a:endParaRPr lang="en-US" sz="2400" dirty="0">
              <a:latin typeface="Calibri" panose="020F0502020204030204" pitchFamily="34" charset="0"/>
            </a:endParaRPr>
          </a:p>
          <a:p>
            <a:pPr marL="285750" indent="-285750">
              <a:buFont typeface="Courier New" panose="02070309020205020404" pitchFamily="49" charset="0"/>
              <a:buChar char="o"/>
            </a:pPr>
            <a:endParaRPr lang="en-US" dirty="0">
              <a:latin typeface="Calibri" panose="020F0502020204030204" pitchFamily="34" charset="0"/>
            </a:endParaRPr>
          </a:p>
        </p:txBody>
      </p:sp>
      <p:sp>
        <p:nvSpPr>
          <p:cNvPr id="4" name="TextBox 3">
            <a:extLst>
              <a:ext uri="{FF2B5EF4-FFF2-40B4-BE49-F238E27FC236}">
                <a16:creationId xmlns:a16="http://schemas.microsoft.com/office/drawing/2014/main" id="{C5F47A19-F1CE-AE6F-E5F3-864B4EB25650}"/>
              </a:ext>
            </a:extLst>
          </p:cNvPr>
          <p:cNvSpPr txBox="1"/>
          <p:nvPr/>
        </p:nvSpPr>
        <p:spPr>
          <a:xfrm>
            <a:off x="241301" y="129804"/>
            <a:ext cx="11747500" cy="523220"/>
          </a:xfrm>
          <a:prstGeom prst="rect">
            <a:avLst/>
          </a:prstGeom>
          <a:noFill/>
        </p:spPr>
        <p:txBody>
          <a:bodyPr wrap="square" rtlCol="0">
            <a:spAutoFit/>
          </a:bodyPr>
          <a:lstStyle/>
          <a:p>
            <a:r>
              <a:rPr lang="en-US" sz="2800" dirty="0">
                <a:latin typeface="+mj-lt"/>
                <a:ea typeface="Lato" panose="020B0604020202020204" pitchFamily="34" charset="0"/>
                <a:cs typeface="Helvetica" panose="020B0604020202020204" pitchFamily="34" charset="0"/>
              </a:rPr>
              <a:t>bias &lt;&gt; variance</a:t>
            </a:r>
            <a:endParaRPr lang="en-GB" sz="2800" dirty="0">
              <a:latin typeface="+mj-lt"/>
              <a:ea typeface="Lato"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553046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24193" y="2892293"/>
            <a:ext cx="3619500" cy="809625"/>
          </a:xfrm>
          <a:prstGeom prst="rect">
            <a:avLst/>
          </a:prstGeom>
        </p:spPr>
      </p:pic>
      <p:sp>
        <p:nvSpPr>
          <p:cNvPr id="6" name="TextBox 5"/>
          <p:cNvSpPr txBox="1"/>
          <p:nvPr/>
        </p:nvSpPr>
        <p:spPr>
          <a:xfrm>
            <a:off x="2816885" y="4791914"/>
            <a:ext cx="2585844" cy="523220"/>
          </a:xfrm>
          <a:prstGeom prst="rect">
            <a:avLst/>
          </a:prstGeom>
          <a:noFill/>
        </p:spPr>
        <p:txBody>
          <a:bodyPr wrap="square" rtlCol="0">
            <a:spAutoFit/>
          </a:bodyPr>
          <a:lstStyle/>
          <a:p>
            <a:r>
              <a:rPr lang="nl-NL" sz="2800" dirty="0">
                <a:latin typeface="Freestyle Script" panose="030804020302050B0404" pitchFamily="66" charset="0"/>
              </a:rPr>
              <a:t>regularized cost function</a:t>
            </a:r>
          </a:p>
        </p:txBody>
      </p:sp>
      <p:sp>
        <p:nvSpPr>
          <p:cNvPr id="7" name="Arc 6"/>
          <p:cNvSpPr/>
          <p:nvPr/>
        </p:nvSpPr>
        <p:spPr>
          <a:xfrm rot="8204895">
            <a:off x="2183185" y="4448211"/>
            <a:ext cx="663411" cy="753057"/>
          </a:xfrm>
          <a:prstGeom prst="arc">
            <a:avLst>
              <a:gd name="adj1" fmla="val 16200000"/>
              <a:gd name="adj2" fmla="val 3146357"/>
            </a:avLst>
          </a:prstGeom>
          <a:no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8" name="TextBox 7"/>
          <p:cNvSpPr txBox="1"/>
          <p:nvPr/>
        </p:nvSpPr>
        <p:spPr>
          <a:xfrm>
            <a:off x="3014488" y="2271002"/>
            <a:ext cx="2585844" cy="523220"/>
          </a:xfrm>
          <a:prstGeom prst="rect">
            <a:avLst/>
          </a:prstGeom>
          <a:noFill/>
        </p:spPr>
        <p:txBody>
          <a:bodyPr wrap="square" rtlCol="0">
            <a:spAutoFit/>
          </a:bodyPr>
          <a:lstStyle/>
          <a:p>
            <a:r>
              <a:rPr lang="nl-NL" sz="2800" dirty="0">
                <a:latin typeface="Freestyle Script" panose="030804020302050B0404" pitchFamily="66" charset="0"/>
              </a:rPr>
              <a:t>cost function</a:t>
            </a:r>
          </a:p>
        </p:txBody>
      </p:sp>
      <p:sp>
        <p:nvSpPr>
          <p:cNvPr id="9" name="Arc 8"/>
          <p:cNvSpPr/>
          <p:nvPr/>
        </p:nvSpPr>
        <p:spPr>
          <a:xfrm rot="15883054">
            <a:off x="2368835" y="2377151"/>
            <a:ext cx="663411" cy="753057"/>
          </a:xfrm>
          <a:prstGeom prst="arc">
            <a:avLst>
              <a:gd name="adj1" fmla="val 16200000"/>
              <a:gd name="adj2" fmla="val 3146357"/>
            </a:avLst>
          </a:prstGeom>
          <a:no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pic>
        <p:nvPicPr>
          <p:cNvPr id="10" name="Picture 9"/>
          <p:cNvPicPr>
            <a:picLocks noChangeAspect="1"/>
          </p:cNvPicPr>
          <p:nvPr/>
        </p:nvPicPr>
        <p:blipFill>
          <a:blip r:embed="rId3"/>
          <a:stretch>
            <a:fillRect/>
          </a:stretch>
        </p:blipFill>
        <p:spPr>
          <a:xfrm>
            <a:off x="6204321" y="3812972"/>
            <a:ext cx="4524375" cy="838200"/>
          </a:xfrm>
          <a:prstGeom prst="rect">
            <a:avLst/>
          </a:prstGeom>
        </p:spPr>
      </p:pic>
      <p:pic>
        <p:nvPicPr>
          <p:cNvPr id="11" name="Picture 10"/>
          <p:cNvPicPr>
            <a:picLocks noChangeAspect="1"/>
          </p:cNvPicPr>
          <p:nvPr/>
        </p:nvPicPr>
        <p:blipFill>
          <a:blip r:embed="rId4"/>
          <a:stretch>
            <a:fillRect/>
          </a:stretch>
        </p:blipFill>
        <p:spPr>
          <a:xfrm>
            <a:off x="6344853" y="4897062"/>
            <a:ext cx="5200650" cy="809625"/>
          </a:xfrm>
          <a:prstGeom prst="rect">
            <a:avLst/>
          </a:prstGeom>
        </p:spPr>
      </p:pic>
      <p:pic>
        <p:nvPicPr>
          <p:cNvPr id="12" name="Picture 11"/>
          <p:cNvPicPr>
            <a:picLocks noChangeAspect="1"/>
          </p:cNvPicPr>
          <p:nvPr/>
        </p:nvPicPr>
        <p:blipFill>
          <a:blip r:embed="rId5"/>
          <a:stretch>
            <a:fillRect/>
          </a:stretch>
        </p:blipFill>
        <p:spPr>
          <a:xfrm>
            <a:off x="3771901" y="1218155"/>
            <a:ext cx="4686300" cy="638175"/>
          </a:xfrm>
          <a:prstGeom prst="rect">
            <a:avLst/>
          </a:prstGeom>
        </p:spPr>
      </p:pic>
      <p:pic>
        <p:nvPicPr>
          <p:cNvPr id="13" name="Picture 12"/>
          <p:cNvPicPr>
            <a:picLocks noChangeAspect="1"/>
          </p:cNvPicPr>
          <p:nvPr/>
        </p:nvPicPr>
        <p:blipFill>
          <a:blip r:embed="rId6"/>
          <a:stretch>
            <a:fillRect/>
          </a:stretch>
        </p:blipFill>
        <p:spPr>
          <a:xfrm>
            <a:off x="842121" y="3794478"/>
            <a:ext cx="4762500" cy="904875"/>
          </a:xfrm>
          <a:prstGeom prst="rect">
            <a:avLst/>
          </a:prstGeom>
        </p:spPr>
      </p:pic>
      <p:sp>
        <p:nvSpPr>
          <p:cNvPr id="2" name="TextBox 1">
            <a:extLst>
              <a:ext uri="{FF2B5EF4-FFF2-40B4-BE49-F238E27FC236}">
                <a16:creationId xmlns:a16="http://schemas.microsoft.com/office/drawing/2014/main" id="{2725E2C0-43C4-F4F0-D8BF-CF0807FB86CE}"/>
              </a:ext>
            </a:extLst>
          </p:cNvPr>
          <p:cNvSpPr txBox="1"/>
          <p:nvPr/>
        </p:nvSpPr>
        <p:spPr>
          <a:xfrm>
            <a:off x="241301" y="129804"/>
            <a:ext cx="11747500" cy="523220"/>
          </a:xfrm>
          <a:prstGeom prst="rect">
            <a:avLst/>
          </a:prstGeom>
          <a:noFill/>
        </p:spPr>
        <p:txBody>
          <a:bodyPr wrap="square" rtlCol="0">
            <a:spAutoFit/>
          </a:bodyPr>
          <a:lstStyle/>
          <a:p>
            <a:r>
              <a:rPr lang="en-US" sz="2800" dirty="0">
                <a:latin typeface="+mj-lt"/>
                <a:ea typeface="Lato" panose="020B0604020202020204" pitchFamily="34" charset="0"/>
                <a:cs typeface="Helvetica" panose="020B0604020202020204" pitchFamily="34" charset="0"/>
              </a:rPr>
              <a:t>regularized linear regression</a:t>
            </a:r>
            <a:endParaRPr lang="en-GB" sz="2800" dirty="0">
              <a:latin typeface="+mj-lt"/>
              <a:ea typeface="Lato"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669260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3648076" y="1243946"/>
            <a:ext cx="4933950" cy="581025"/>
          </a:xfrm>
          <a:prstGeom prst="rect">
            <a:avLst/>
          </a:prstGeom>
        </p:spPr>
      </p:pic>
      <p:sp>
        <p:nvSpPr>
          <p:cNvPr id="7" name="TextBox 6"/>
          <p:cNvSpPr txBox="1"/>
          <p:nvPr/>
        </p:nvSpPr>
        <p:spPr>
          <a:xfrm>
            <a:off x="3014488" y="2271002"/>
            <a:ext cx="2585844" cy="523220"/>
          </a:xfrm>
          <a:prstGeom prst="rect">
            <a:avLst/>
          </a:prstGeom>
          <a:noFill/>
        </p:spPr>
        <p:txBody>
          <a:bodyPr wrap="square" rtlCol="0">
            <a:spAutoFit/>
          </a:bodyPr>
          <a:lstStyle/>
          <a:p>
            <a:r>
              <a:rPr lang="nl-NL" sz="2800" dirty="0">
                <a:latin typeface="Freestyle Script" panose="030804020302050B0404" pitchFamily="66" charset="0"/>
              </a:rPr>
              <a:t>cost function</a:t>
            </a:r>
          </a:p>
        </p:txBody>
      </p:sp>
      <p:sp>
        <p:nvSpPr>
          <p:cNvPr id="8" name="Arc 7"/>
          <p:cNvSpPr/>
          <p:nvPr/>
        </p:nvSpPr>
        <p:spPr>
          <a:xfrm rot="15883054">
            <a:off x="2368835" y="2377151"/>
            <a:ext cx="663411" cy="753057"/>
          </a:xfrm>
          <a:prstGeom prst="arc">
            <a:avLst>
              <a:gd name="adj1" fmla="val 16200000"/>
              <a:gd name="adj2" fmla="val 3146357"/>
            </a:avLst>
          </a:prstGeom>
          <a:no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10" name="TextBox 9"/>
          <p:cNvSpPr txBox="1"/>
          <p:nvPr/>
        </p:nvSpPr>
        <p:spPr>
          <a:xfrm>
            <a:off x="3014488" y="5194389"/>
            <a:ext cx="2585844" cy="523220"/>
          </a:xfrm>
          <a:prstGeom prst="rect">
            <a:avLst/>
          </a:prstGeom>
          <a:noFill/>
        </p:spPr>
        <p:txBody>
          <a:bodyPr wrap="square" rtlCol="0">
            <a:spAutoFit/>
          </a:bodyPr>
          <a:lstStyle/>
          <a:p>
            <a:r>
              <a:rPr lang="nl-NL" sz="2800" dirty="0">
                <a:latin typeface="Freestyle Script" panose="030804020302050B0404" pitchFamily="66" charset="0"/>
              </a:rPr>
              <a:t>regularized cost function</a:t>
            </a:r>
          </a:p>
        </p:txBody>
      </p:sp>
      <p:sp>
        <p:nvSpPr>
          <p:cNvPr id="11" name="Arc 10"/>
          <p:cNvSpPr/>
          <p:nvPr/>
        </p:nvSpPr>
        <p:spPr>
          <a:xfrm rot="8204895">
            <a:off x="2380788" y="4850686"/>
            <a:ext cx="663411" cy="753057"/>
          </a:xfrm>
          <a:prstGeom prst="arc">
            <a:avLst>
              <a:gd name="adj1" fmla="val 16200000"/>
              <a:gd name="adj2" fmla="val 3146357"/>
            </a:avLst>
          </a:prstGeom>
          <a:no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pic>
        <p:nvPicPr>
          <p:cNvPr id="2" name="Picture 1"/>
          <p:cNvPicPr>
            <a:picLocks noChangeAspect="1"/>
          </p:cNvPicPr>
          <p:nvPr/>
        </p:nvPicPr>
        <p:blipFill>
          <a:blip r:embed="rId4"/>
          <a:stretch>
            <a:fillRect/>
          </a:stretch>
        </p:blipFill>
        <p:spPr>
          <a:xfrm>
            <a:off x="1507873" y="2867430"/>
            <a:ext cx="7772457" cy="1009657"/>
          </a:xfrm>
          <a:prstGeom prst="rect">
            <a:avLst/>
          </a:prstGeom>
        </p:spPr>
      </p:pic>
      <p:pic>
        <p:nvPicPr>
          <p:cNvPr id="9" name="Picture 8"/>
          <p:cNvPicPr>
            <a:picLocks noChangeAspect="1"/>
          </p:cNvPicPr>
          <p:nvPr/>
        </p:nvPicPr>
        <p:blipFill>
          <a:blip r:embed="rId5"/>
          <a:stretch>
            <a:fillRect/>
          </a:stretch>
        </p:blipFill>
        <p:spPr>
          <a:xfrm>
            <a:off x="1561027" y="4038053"/>
            <a:ext cx="9263130" cy="995370"/>
          </a:xfrm>
          <a:prstGeom prst="rect">
            <a:avLst/>
          </a:prstGeom>
        </p:spPr>
      </p:pic>
      <p:sp>
        <p:nvSpPr>
          <p:cNvPr id="4" name="TextBox 3">
            <a:extLst>
              <a:ext uri="{FF2B5EF4-FFF2-40B4-BE49-F238E27FC236}">
                <a16:creationId xmlns:a16="http://schemas.microsoft.com/office/drawing/2014/main" id="{5E3AAC8A-A24A-385F-FDE1-CA6499916687}"/>
              </a:ext>
            </a:extLst>
          </p:cNvPr>
          <p:cNvSpPr txBox="1"/>
          <p:nvPr/>
        </p:nvSpPr>
        <p:spPr>
          <a:xfrm>
            <a:off x="241301" y="129804"/>
            <a:ext cx="11747500" cy="523220"/>
          </a:xfrm>
          <a:prstGeom prst="rect">
            <a:avLst/>
          </a:prstGeom>
          <a:noFill/>
        </p:spPr>
        <p:txBody>
          <a:bodyPr wrap="square" rtlCol="0">
            <a:spAutoFit/>
          </a:bodyPr>
          <a:lstStyle/>
          <a:p>
            <a:r>
              <a:rPr lang="en-US" sz="2800" dirty="0">
                <a:latin typeface="+mj-lt"/>
                <a:ea typeface="Lato" panose="020B0604020202020204" pitchFamily="34" charset="0"/>
                <a:cs typeface="Helvetica" panose="020B0604020202020204" pitchFamily="34" charset="0"/>
              </a:rPr>
              <a:t>regularized logistic regression</a:t>
            </a:r>
            <a:endParaRPr lang="en-GB" sz="2800" dirty="0">
              <a:latin typeface="+mj-lt"/>
              <a:ea typeface="Lato"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918315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45ED2B-F9F3-14E6-3EDC-B3A33FA8950E}"/>
              </a:ext>
            </a:extLst>
          </p:cNvPr>
          <p:cNvSpPr txBox="1"/>
          <p:nvPr/>
        </p:nvSpPr>
        <p:spPr>
          <a:xfrm>
            <a:off x="241301" y="129804"/>
            <a:ext cx="11747500" cy="523220"/>
          </a:xfrm>
          <a:prstGeom prst="rect">
            <a:avLst/>
          </a:prstGeom>
          <a:noFill/>
        </p:spPr>
        <p:txBody>
          <a:bodyPr wrap="square" rtlCol="0">
            <a:spAutoFit/>
          </a:bodyPr>
          <a:lstStyle/>
          <a:p>
            <a:r>
              <a:rPr lang="en-US" sz="2800" dirty="0">
                <a:latin typeface="+mj-lt"/>
                <a:ea typeface="Lato" panose="020B0604020202020204" pitchFamily="34" charset="0"/>
                <a:cs typeface="Helvetica" panose="020B0604020202020204" pitchFamily="34" charset="0"/>
              </a:rPr>
              <a:t>model regularization</a:t>
            </a:r>
            <a:endParaRPr lang="en-GB" sz="2800" dirty="0">
              <a:latin typeface="+mj-lt"/>
              <a:ea typeface="Lato" panose="020B0604020202020204" pitchFamily="34" charset="0"/>
              <a:cs typeface="Helvetica" panose="020B0604020202020204" pitchFamily="34" charset="0"/>
            </a:endParaRPr>
          </a:p>
        </p:txBody>
      </p:sp>
      <p:pic>
        <p:nvPicPr>
          <p:cNvPr id="11" name="Picture 10" descr="Chart, scatter chart&#10;&#10;Description automatically generated">
            <a:extLst>
              <a:ext uri="{FF2B5EF4-FFF2-40B4-BE49-F238E27FC236}">
                <a16:creationId xmlns:a16="http://schemas.microsoft.com/office/drawing/2014/main" id="{EDA48B1C-59DC-931E-E32B-6F1F2DE62D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463" y="1079921"/>
            <a:ext cx="5111506" cy="4105664"/>
          </a:xfrm>
          <a:prstGeom prst="rect">
            <a:avLst/>
          </a:prstGeom>
        </p:spPr>
      </p:pic>
      <p:pic>
        <p:nvPicPr>
          <p:cNvPr id="13" name="Picture 12" descr="Chart, bubble chart&#10;&#10;Description automatically generated">
            <a:extLst>
              <a:ext uri="{FF2B5EF4-FFF2-40B4-BE49-F238E27FC236}">
                <a16:creationId xmlns:a16="http://schemas.microsoft.com/office/drawing/2014/main" id="{6DFB82E6-1945-98D9-D995-021BEA8864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1908" y="1079921"/>
            <a:ext cx="5111506" cy="4105664"/>
          </a:xfrm>
          <a:prstGeom prst="rect">
            <a:avLst/>
          </a:prstGeom>
        </p:spPr>
      </p:pic>
    </p:spTree>
    <p:extLst>
      <p:ext uri="{BB962C8B-B14F-4D97-AF65-F5344CB8AC3E}">
        <p14:creationId xmlns:p14="http://schemas.microsoft.com/office/powerpoint/2010/main" val="2649304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8038564" y="1651000"/>
            <a:ext cx="3865257" cy="3971362"/>
          </a:xfrm>
          <a:prstGeom prst="rect">
            <a:avLst/>
          </a:prstGeom>
        </p:spPr>
      </p:pic>
      <p:sp>
        <p:nvSpPr>
          <p:cNvPr id="3" name="TextBox 2">
            <a:extLst>
              <a:ext uri="{FF2B5EF4-FFF2-40B4-BE49-F238E27FC236}">
                <a16:creationId xmlns:a16="http://schemas.microsoft.com/office/drawing/2014/main" id="{4ACA086E-1C6C-CABC-C099-FA9F7F1F8CF9}"/>
              </a:ext>
            </a:extLst>
          </p:cNvPr>
          <p:cNvSpPr txBox="1"/>
          <p:nvPr/>
        </p:nvSpPr>
        <p:spPr>
          <a:xfrm>
            <a:off x="241301" y="129804"/>
            <a:ext cx="11747500" cy="523220"/>
          </a:xfrm>
          <a:prstGeom prst="rect">
            <a:avLst/>
          </a:prstGeom>
          <a:noFill/>
        </p:spPr>
        <p:txBody>
          <a:bodyPr wrap="square" rtlCol="0">
            <a:spAutoFit/>
          </a:bodyPr>
          <a:lstStyle/>
          <a:p>
            <a:r>
              <a:rPr lang="en-US" sz="2800" dirty="0">
                <a:latin typeface="+mj-lt"/>
                <a:ea typeface="Lato" panose="020B0604020202020204" pitchFamily="34" charset="0"/>
                <a:cs typeface="Helvetica" panose="020B0604020202020204" pitchFamily="34" charset="0"/>
              </a:rPr>
              <a:t>regularized linear regression</a:t>
            </a:r>
            <a:endParaRPr lang="en-GB" sz="2800" dirty="0">
              <a:latin typeface="+mj-lt"/>
              <a:ea typeface="Lato" panose="020B0604020202020204" pitchFamily="34" charset="0"/>
              <a:cs typeface="Helvetica" panose="020B0604020202020204" pitchFamily="34" charset="0"/>
            </a:endParaRPr>
          </a:p>
        </p:txBody>
      </p:sp>
      <p:pic>
        <p:nvPicPr>
          <p:cNvPr id="5" name="Picture 4" descr="Chart, scatter chart&#10;&#10;Description automatically generated">
            <a:extLst>
              <a:ext uri="{FF2B5EF4-FFF2-40B4-BE49-F238E27FC236}">
                <a16:creationId xmlns:a16="http://schemas.microsoft.com/office/drawing/2014/main" id="{4C9338A6-5730-717A-4354-BC97461545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301" y="983116"/>
            <a:ext cx="7609409" cy="5277984"/>
          </a:xfrm>
          <a:prstGeom prst="rect">
            <a:avLst/>
          </a:prstGeom>
        </p:spPr>
      </p:pic>
    </p:spTree>
    <p:extLst>
      <p:ext uri="{BB962C8B-B14F-4D97-AF65-F5344CB8AC3E}">
        <p14:creationId xmlns:p14="http://schemas.microsoft.com/office/powerpoint/2010/main" val="1980316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568757" y="1435219"/>
            <a:ext cx="4266521" cy="4043643"/>
          </a:xfrm>
          <a:prstGeom prst="rect">
            <a:avLst/>
          </a:prstGeom>
        </p:spPr>
      </p:pic>
      <p:sp>
        <p:nvSpPr>
          <p:cNvPr id="5" name="TextBox 4">
            <a:extLst>
              <a:ext uri="{FF2B5EF4-FFF2-40B4-BE49-F238E27FC236}">
                <a16:creationId xmlns:a16="http://schemas.microsoft.com/office/drawing/2014/main" id="{0C69F2B5-76E4-E544-9063-3A41B6136987}"/>
              </a:ext>
            </a:extLst>
          </p:cNvPr>
          <p:cNvSpPr txBox="1"/>
          <p:nvPr/>
        </p:nvSpPr>
        <p:spPr>
          <a:xfrm>
            <a:off x="241301" y="129804"/>
            <a:ext cx="11747500" cy="523220"/>
          </a:xfrm>
          <a:prstGeom prst="rect">
            <a:avLst/>
          </a:prstGeom>
          <a:noFill/>
        </p:spPr>
        <p:txBody>
          <a:bodyPr wrap="square" rtlCol="0">
            <a:spAutoFit/>
          </a:bodyPr>
          <a:lstStyle/>
          <a:p>
            <a:r>
              <a:rPr lang="en-US" sz="2800" dirty="0">
                <a:latin typeface="+mj-lt"/>
                <a:ea typeface="Lato" panose="020B0604020202020204" pitchFamily="34" charset="0"/>
                <a:cs typeface="Helvetica" panose="020B0604020202020204" pitchFamily="34" charset="0"/>
              </a:rPr>
              <a:t>regularized linear regression</a:t>
            </a:r>
            <a:endParaRPr lang="en-GB" sz="2800" dirty="0">
              <a:latin typeface="+mj-lt"/>
              <a:ea typeface="Lato" panose="020B0604020202020204" pitchFamily="34" charset="0"/>
              <a:cs typeface="Helvetica" panose="020B0604020202020204" pitchFamily="34" charset="0"/>
            </a:endParaRPr>
          </a:p>
        </p:txBody>
      </p:sp>
      <p:pic>
        <p:nvPicPr>
          <p:cNvPr id="7" name="Picture 6">
            <a:extLst>
              <a:ext uri="{FF2B5EF4-FFF2-40B4-BE49-F238E27FC236}">
                <a16:creationId xmlns:a16="http://schemas.microsoft.com/office/drawing/2014/main" id="{E06927CD-4603-4AEA-6417-655A51BEBA66}"/>
              </a:ext>
            </a:extLst>
          </p:cNvPr>
          <p:cNvPicPr>
            <a:picLocks noChangeAspect="1"/>
          </p:cNvPicPr>
          <p:nvPr/>
        </p:nvPicPr>
        <p:blipFill>
          <a:blip r:embed="rId3"/>
          <a:stretch>
            <a:fillRect/>
          </a:stretch>
        </p:blipFill>
        <p:spPr>
          <a:xfrm>
            <a:off x="304800" y="1220501"/>
            <a:ext cx="6864350" cy="4416997"/>
          </a:xfrm>
          <a:prstGeom prst="rect">
            <a:avLst/>
          </a:prstGeom>
        </p:spPr>
      </p:pic>
    </p:spTree>
    <p:extLst>
      <p:ext uri="{BB962C8B-B14F-4D97-AF65-F5344CB8AC3E}">
        <p14:creationId xmlns:p14="http://schemas.microsoft.com/office/powerpoint/2010/main" val="4146636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313860" y="1212943"/>
            <a:ext cx="5172075" cy="4886325"/>
          </a:xfrm>
          <a:prstGeom prst="rect">
            <a:avLst/>
          </a:prstGeom>
        </p:spPr>
      </p:pic>
      <p:cxnSp>
        <p:nvCxnSpPr>
          <p:cNvPr id="6" name="Straight Connector 5"/>
          <p:cNvCxnSpPr/>
          <p:nvPr/>
        </p:nvCxnSpPr>
        <p:spPr>
          <a:xfrm flipH="1">
            <a:off x="4619812" y="1338729"/>
            <a:ext cx="17931" cy="4267200"/>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6929718" y="1338729"/>
            <a:ext cx="17931" cy="4267200"/>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222326" y="4453308"/>
            <a:ext cx="2585844" cy="523220"/>
          </a:xfrm>
          <a:prstGeom prst="rect">
            <a:avLst/>
          </a:prstGeom>
          <a:noFill/>
        </p:spPr>
        <p:txBody>
          <a:bodyPr wrap="square" rtlCol="0">
            <a:spAutoFit/>
          </a:bodyPr>
          <a:lstStyle/>
          <a:p>
            <a:r>
              <a:rPr lang="nl-NL" sz="2800" dirty="0">
                <a:latin typeface="Freestyle Script" panose="030804020302050B0404" pitchFamily="66" charset="0"/>
              </a:rPr>
              <a:t>low complexity</a:t>
            </a:r>
          </a:p>
        </p:txBody>
      </p:sp>
      <p:sp>
        <p:nvSpPr>
          <p:cNvPr id="10" name="Arc 9"/>
          <p:cNvSpPr/>
          <p:nvPr/>
        </p:nvSpPr>
        <p:spPr>
          <a:xfrm rot="17393169">
            <a:off x="7035607" y="4255619"/>
            <a:ext cx="663411" cy="753057"/>
          </a:xfrm>
          <a:prstGeom prst="arc">
            <a:avLst>
              <a:gd name="adj1" fmla="val 16200000"/>
              <a:gd name="adj2" fmla="val 3146357"/>
            </a:avLst>
          </a:prstGeom>
          <a:no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11" name="TextBox 10"/>
          <p:cNvSpPr txBox="1"/>
          <p:nvPr/>
        </p:nvSpPr>
        <p:spPr>
          <a:xfrm>
            <a:off x="1933177" y="4370537"/>
            <a:ext cx="2585844" cy="523220"/>
          </a:xfrm>
          <a:prstGeom prst="rect">
            <a:avLst/>
          </a:prstGeom>
          <a:noFill/>
        </p:spPr>
        <p:txBody>
          <a:bodyPr wrap="square" rtlCol="0">
            <a:spAutoFit/>
          </a:bodyPr>
          <a:lstStyle/>
          <a:p>
            <a:r>
              <a:rPr lang="nl-NL" sz="2800" dirty="0">
                <a:latin typeface="Freestyle Script" panose="030804020302050B0404" pitchFamily="66" charset="0"/>
              </a:rPr>
              <a:t>high complexity</a:t>
            </a:r>
          </a:p>
        </p:txBody>
      </p:sp>
      <p:sp>
        <p:nvSpPr>
          <p:cNvPr id="12" name="Arc 11"/>
          <p:cNvSpPr/>
          <p:nvPr/>
        </p:nvSpPr>
        <p:spPr>
          <a:xfrm rot="7858479">
            <a:off x="3523984" y="4188178"/>
            <a:ext cx="928235" cy="1552723"/>
          </a:xfrm>
          <a:prstGeom prst="arc">
            <a:avLst>
              <a:gd name="adj1" fmla="val 16200000"/>
              <a:gd name="adj2" fmla="val 3146357"/>
            </a:avLst>
          </a:prstGeom>
          <a:no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4" name="TextBox 3">
            <a:extLst>
              <a:ext uri="{FF2B5EF4-FFF2-40B4-BE49-F238E27FC236}">
                <a16:creationId xmlns:a16="http://schemas.microsoft.com/office/drawing/2014/main" id="{F9F92156-CC01-FE7A-8727-DB2BFE06537C}"/>
              </a:ext>
            </a:extLst>
          </p:cNvPr>
          <p:cNvSpPr txBox="1"/>
          <p:nvPr/>
        </p:nvSpPr>
        <p:spPr>
          <a:xfrm>
            <a:off x="241301" y="129804"/>
            <a:ext cx="11747500" cy="523220"/>
          </a:xfrm>
          <a:prstGeom prst="rect">
            <a:avLst/>
          </a:prstGeom>
          <a:noFill/>
        </p:spPr>
        <p:txBody>
          <a:bodyPr wrap="square" rtlCol="0">
            <a:spAutoFit/>
          </a:bodyPr>
          <a:lstStyle/>
          <a:p>
            <a:r>
              <a:rPr lang="en-US" sz="2800" dirty="0">
                <a:latin typeface="+mj-lt"/>
                <a:ea typeface="Lato" panose="020B0604020202020204" pitchFamily="34" charset="0"/>
                <a:cs typeface="Helvetica" panose="020B0604020202020204" pitchFamily="34" charset="0"/>
              </a:rPr>
              <a:t>regularized linear regression</a:t>
            </a:r>
            <a:endParaRPr lang="en-GB" sz="2800" dirty="0">
              <a:latin typeface="+mj-lt"/>
              <a:ea typeface="Lato"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137418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1786</TotalTime>
  <Words>1892</Words>
  <Application>Microsoft Office PowerPoint</Application>
  <PresentationFormat>Widescreen</PresentationFormat>
  <Paragraphs>168</Paragraphs>
  <Slides>21</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Corbel</vt:lpstr>
      <vt:lpstr>Courier New</vt:lpstr>
      <vt:lpstr>Freestyle Script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Robbin Bouwmeester</cp:lastModifiedBy>
  <cp:revision>29</cp:revision>
  <cp:lastPrinted>2017-05-02T12:36:35Z</cp:lastPrinted>
  <dcterms:created xsi:type="dcterms:W3CDTF">2015-04-25T14:42:49Z</dcterms:created>
  <dcterms:modified xsi:type="dcterms:W3CDTF">2026-10-20T12:43:40Z</dcterms:modified>
</cp:coreProperties>
</file>