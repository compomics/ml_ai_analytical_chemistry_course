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Illustrative feature importances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proline</c:v>
                  </c:pt>
                  <c:pt idx="1">
                    <c:v>flavanoids</c:v>
                  </c:pt>
                  <c:pt idx="2">
                    <c:v>color int.</c:v>
                  </c:pt>
                  <c:pt idx="3">
                    <c:v>OD280</c:v>
                  </c:pt>
                  <c:pt idx="4">
                    <c:v>alcohol</c:v>
                  </c:pt>
                  <c:pt idx="5">
                    <c:v>hue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</c:v>
                </c:pt>
                <c:pt idx="1">
                  <c:v>0.17</c:v>
                </c:pt>
                <c:pt idx="2">
                  <c:v>0.14</c:v>
                </c:pt>
                <c:pt idx="3">
                  <c:v>0.12</c:v>
                </c:pt>
                <c:pt idx="4">
                  <c:v>0.1</c:v>
                </c:pt>
                <c:pt idx="5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Two separable classes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A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1.2</c:v>
                </c:pt>
                <c:pt idx="1">
                  <c:v>1.6</c:v>
                </c:pt>
                <c:pt idx="2">
                  <c:v>2</c:v>
                </c:pt>
                <c:pt idx="3">
                  <c:v>1.4</c:v>
                </c:pt>
                <c:pt idx="4">
                  <c:v>5</c:v>
                </c:pt>
                <c:pt idx="5">
                  <c:v>5.4</c:v>
                </c:pt>
                <c:pt idx="6">
                  <c:v>5.8</c:v>
                </c:pt>
                <c:pt idx="7">
                  <c:v>6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1.5</c:v>
                </c:pt>
                <c:pt idx="1">
                  <c:v>2.2</c:v>
                </c:pt>
                <c:pt idx="2">
                  <c:v>1.8</c:v>
                </c:pt>
                <c:pt idx="3">
                  <c:v>2.6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B</c:v>
                </c:pt>
              </c:strCache>
            </c:strRef>
          </c:tx>
          <c:spPr>
            <a:solidFill>
              <a:srgbClr val="00A896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1.2</c:v>
                </c:pt>
                <c:pt idx="1">
                  <c:v>1.6</c:v>
                </c:pt>
                <c:pt idx="2">
                  <c:v>2</c:v>
                </c:pt>
                <c:pt idx="3">
                  <c:v>1.4</c:v>
                </c:pt>
                <c:pt idx="4">
                  <c:v>5</c:v>
                </c:pt>
                <c:pt idx="5">
                  <c:v>5.4</c:v>
                </c:pt>
                <c:pt idx="6">
                  <c:v>5.8</c:v>
                </c:pt>
                <c:pt idx="7">
                  <c:v>6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4.6</c:v>
                </c:pt>
                <c:pt idx="5">
                  <c:v>5.2</c:v>
                </c:pt>
                <c:pt idx="6">
                  <c:v>4.9</c:v>
                </c:pt>
                <c:pt idx="7">
                  <c:v>5.6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Three discovered clusters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1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1.2</c:v>
                </c:pt>
                <c:pt idx="1">
                  <c:v>1.5</c:v>
                </c:pt>
                <c:pt idx="2">
                  <c:v>1.8</c:v>
                </c:pt>
                <c:pt idx="3">
                  <c:v>1.3</c:v>
                </c:pt>
                <c:pt idx="4">
                  <c:v>4.6</c:v>
                </c:pt>
                <c:pt idx="5">
                  <c:v>5</c:v>
                </c:pt>
                <c:pt idx="6">
                  <c:v>4.8</c:v>
                </c:pt>
                <c:pt idx="7">
                  <c:v>5.2</c:v>
                </c:pt>
                <c:pt idx="8">
                  <c:v>3</c:v>
                </c:pt>
                <c:pt idx="9">
                  <c:v>3.3</c:v>
                </c:pt>
                <c:pt idx="10">
                  <c:v>2.8</c:v>
                </c:pt>
                <c:pt idx="11">
                  <c:v>3.1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1.4</c:v>
                </c:pt>
                <c:pt idx="1">
                  <c:v>1.9</c:v>
                </c:pt>
                <c:pt idx="2">
                  <c:v>1.5</c:v>
                </c:pt>
                <c:pt idx="3">
                  <c:v>2.1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2</c:v>
                </c:pt>
              </c:strCache>
            </c:strRef>
          </c:tx>
          <c:spPr>
            <a:solidFill>
              <a:srgbClr val="00A896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1.2</c:v>
                </c:pt>
                <c:pt idx="1">
                  <c:v>1.5</c:v>
                </c:pt>
                <c:pt idx="2">
                  <c:v>1.8</c:v>
                </c:pt>
                <c:pt idx="3">
                  <c:v>1.3</c:v>
                </c:pt>
                <c:pt idx="4">
                  <c:v>4.6</c:v>
                </c:pt>
                <c:pt idx="5">
                  <c:v>5</c:v>
                </c:pt>
                <c:pt idx="6">
                  <c:v>4.8</c:v>
                </c:pt>
                <c:pt idx="7">
                  <c:v>5.2</c:v>
                </c:pt>
                <c:pt idx="8">
                  <c:v>3</c:v>
                </c:pt>
                <c:pt idx="9">
                  <c:v>3.3</c:v>
                </c:pt>
                <c:pt idx="10">
                  <c:v>2.8</c:v>
                </c:pt>
                <c:pt idx="11">
                  <c:v>3.1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4.7</c:v>
                </c:pt>
                <c:pt idx="5">
                  <c:v>5.1</c:v>
                </c:pt>
                <c:pt idx="6">
                  <c:v>4.4</c:v>
                </c:pt>
                <c:pt idx="7">
                  <c:v>5.3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3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1.2</c:v>
                </c:pt>
                <c:pt idx="1">
                  <c:v>1.5</c:v>
                </c:pt>
                <c:pt idx="2">
                  <c:v>1.8</c:v>
                </c:pt>
                <c:pt idx="3">
                  <c:v>1.3</c:v>
                </c:pt>
                <c:pt idx="4">
                  <c:v>4.6</c:v>
                </c:pt>
                <c:pt idx="5">
                  <c:v>5</c:v>
                </c:pt>
                <c:pt idx="6">
                  <c:v>4.8</c:v>
                </c:pt>
                <c:pt idx="7">
                  <c:v>5.2</c:v>
                </c:pt>
                <c:pt idx="8">
                  <c:v>3</c:v>
                </c:pt>
                <c:pt idx="9">
                  <c:v>3.3</c:v>
                </c:pt>
                <c:pt idx="10">
                  <c:v>2.8</c:v>
                </c:pt>
                <c:pt idx="11">
                  <c:v>3.1</c:v>
                </c:pt>
              </c:numCache>
            </c:numRef>
          </c:xVal>
          <c:yVal>
            <c:numRef>
              <c:f>Sheet1!$D$2:$D$13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3.2</c:v>
                </c:pt>
                <c:pt idx="9">
                  <c:v>2.7</c:v>
                </c:pt>
                <c:pt idx="10">
                  <c:v>3.5</c:v>
                </c:pt>
                <c:pt idx="11">
                  <c:v>2.9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AI FOR ANALYTICAL 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Foundations of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and 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Sciences analytiques  -  6 h lectures + 1 h tutorial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Lennart Martens - Jerome Pansanel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PART COVERS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6362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ML and AI mean, the learning settings, features, and the modelling workflow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807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70662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and how they are induced, random forests, SVM/SVR, k-means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50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4962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networks, CNNs, transformers and attention, with GNNs and autoencoders in brief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machine learning, deep learning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1_Foundations/slides/resources/ai_ml_dl_nest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371600"/>
            <a:ext cx="448056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1417320"/>
            <a:ext cx="3474720" cy="2880360"/>
          </a:xfrm>
          <a:prstGeom prst="roundRect">
            <a:avLst>
              <a:gd name="adj" fmla="val 2540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0680" y="16002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ideas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broad goal of machine intelligence.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function to data instead of hand-coding rules.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ML with many-layered neural networks.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45262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Beer-Lambert calibration is a physical rule; predicting LC retention time is ML; DeepLC is its deep-learning version.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analytical chemistry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measurements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Chromatograms, mass, IR, Raman and NMR spectra, ion mobility: large, structured, high-dimensional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Hard-to-write rules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89204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capture relationships too complex to express as explicit physical or expert rules.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capabilities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retention, fragmentation and CCS; recognise signals; flag anomalies (Part 4).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risk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89204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look like it works while having learned the wrong thing (Part 3).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learning settings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2763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27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carry known answers (labels). Learn input to answer.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retention index from descriptors (regression); Raman polymorph A vs B (classification).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41732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627632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1627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 Find structure on its own.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93008" y="31546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olive-oil GC-MS profiles to see if they separate by geographic origin.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41732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627632"/>
            <a:ext cx="411480" cy="4114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6848856" y="1627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0216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trial and error against a reward.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0216" y="31546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MS collision energy to maximise confident identifications. Not a course focus.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Features: the central idea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measurable property of a sample, as a number. A dataset is a table: rows are samples, columns are features, plus the target. A spectrum becomes a vector with one absorbance per wavenumber (an IR spectrum is about 1800 numbers).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  <a:gridCol w="16459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flavanoids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-&gt;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cultivar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cultivar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cultivar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and origin of the features usually matter more than the choice of algorithm (Part 2).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task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4107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0" y="2880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514600" y="34107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34107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&amp; iterate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20840" y="34107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out-of-spec batches from NIR spectra. Steps 4 and 6 (green) decide whether you can trust the result (Part 3).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cautions to start with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physical model already exists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samples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is required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rule solves the problem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beat a trivial baseline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Beer-Lambert fit beats a neural net for single-analyte quantitation.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(preview of Part 3)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93392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too-flexible model memorises noise and fails on new data. Underfitting is the opposite: too simple to capture the pattern.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scores on data the model has already seen prove almost nothing.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39776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that secretly reads the measurement batch, not the chemistry.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machine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and their induction - random forests - SVM/SVR - k-means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1_Foundations/slides/resources/decision_tree_ir_examp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0600" y="1325880"/>
            <a:ext cx="3886200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yes/no questions on the features.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no scaling, handles non-linearities and interactions.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single tree overfits badly (controlled by pruning, next slides).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1605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functional group from an IR spectrum by splitting on diagnostic absorption bands.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decision tree is induced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754880" cy="3154680"/>
          </a:xfrm>
          <a:prstGeom prst="roundRect">
            <a:avLst>
              <a:gd name="adj" fmla="val 23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induction algorithm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with all samples at the root.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Try every feature and every split point.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Score each split by impurity reduction.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Keep the best split; partition the samples.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Recurse on each child node.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Stop when pure or a limit is reached.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locally best split now, with no look-ahead.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417320"/>
            <a:ext cx="3291840" cy="3154680"/>
          </a:xfrm>
          <a:prstGeom prst="roundRect">
            <a:avLst>
              <a:gd name="adj" fmla="val 231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1572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 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23560" y="20116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- Sum p log2 p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     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1 - Sum p^2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= H(parent) - weighted H(children)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highest IG. Continuous features: test midpoints between sorted values.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Induction: a worked split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honey samples: 4 pure (P), 4 adulterated (A). Parent is a 4/4 mix, so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H(parent) = 1.00 bit.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a delta-13C isotope test: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= 1.00 - 0.81 =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 bit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417320"/>
            <a:ext cx="2926080" cy="3154680"/>
          </a:xfrm>
          <a:prstGeom prst="roundRect">
            <a:avLst>
              <a:gd name="adj" fmla="val 2500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split wins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"dark colour?" split gives children that are each still 2/2, so H = 1.00 and IG = 0.00.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isotope test carries more information, so it is chosen, then the tree recurses.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depth or leaf size; </a:t>
            </a:r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fight overfitting.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trees, averaged (or voted).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bootstrap sample of rows per tree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subset of features per split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diverse, noisy trees cancels error.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accurate, robust, gives feature importances.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less readable than one tree.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754880" y="137160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likely genotoxic compounds from molecular descriptors; importance may highlight an aromatic nitro group.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 (and SVR)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boundary with the widest margin between classes; the nearest points (support vectors) set it.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to a higher space so a curved boundary becomes possible (RBF kernel).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for continuous targets.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features first.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846320" y="1371600"/>
          <a:ext cx="38404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above a contaminant threshold from conductivity (100s of uS/cm) and a trace metal (few ug/L): scale first.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 (unsupervised)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 Choose k, then repeat until stable: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sample to its nearest cluster centre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each centre to the mean of its members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choose k; results depend on the start; assumes round, similar-sized clusters; scale the features.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846320" y="1371600"/>
          <a:ext cx="38404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ICP-MS trace-element fingerprints of honey to probe floral or regional origin (scale first).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among them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data, strong result 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 is the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features, few samples (scaled)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/ SVR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labels, explore 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/ clustering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trivial baseline, always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learning, by intuition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- CNNs - transformers - (GNNs &amp; autoencoders)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networks: the foundation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units (neurons): a weighted sum, an offset, then a non-linear activation.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form layers; output of one feeds the next. "Deep" = many layers. The non-linearity is essential.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measures error; backpropagation and gradient descent adjust weights over many epochs.</a:t>
            </a:r>
            <a:endParaRPr lang="en-US" sz="1300" dirty="0"/>
          </a:p>
        </p:txBody>
      </p:sp>
      <p:pic>
        <p:nvPicPr>
          <p:cNvPr id="5" name="Image 0" descr="/sessions/compassionate-determined-keller/mnt/cours_IA_Chimie/ML_AI_Analytical_Chemistry_Course/01_Foundations/slides/resources/neural_network_schematic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0680" y="1371600"/>
            <a:ext cx="3246120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non-linear fluorescence calibration that stays accurate where a Beer-Lambert fit saturates.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 (CNNs)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filter slides across the input to detect a local motif wherever it occurs.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find simple motifs; later layers combine them. Few parameters, tolerant to shifts.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analytical chemistry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are 1D sequences of intensities, so a 1D CNN learns peak shapes and patterns regardless of position.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Raman spectrum as PE, PP or PS; the same idea picks true peaks against noise in LC-MS.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 and attention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modern large language models, and increasingly models of molecules and spectra.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processing one element, the model learns how much to attend to every other element, capturing long-range relationships.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 parallel, scales to large data. Also the basis of the LLMs in Part 5.</a:t>
            </a:r>
            <a:endParaRPr lang="en-US" sz="1300" dirty="0"/>
          </a:p>
        </p:txBody>
      </p:sp>
      <p:pic>
        <p:nvPicPr>
          <p:cNvPr id="5" name="Image 0" descr="/sessions/compassionate-determined-keller/mnt/cours_IA_Chimie/ML_AI_Analytical_Chemistry_Course/01_Foundations/slides/resources/attention_mechanis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0680" y="1325880"/>
            <a:ext cx="3246120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peptide's fragmentation spectrum from its sequence (Prosit) using long-range residue relationships.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to recognise (briefly)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graphs of nodes and edges. A molecule is a graph (atoms = nodes, bonds = edges), so GNNs predict properties from structure; each node exchanges information with its neighbours.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input through a narrow bottleneck, learning a compact representation. Used for dimensionality reduction, denoising and anomaly detection; a VAE can also generate new examples.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predicts CCS from a molecular graph; an autoencoder flags an anomalous process-NMR spectrum.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or deep? A practical rule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deep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high-dimensional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spatial/sequential structure (images, spectra)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labels and compute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classical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tabular, modest-size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strong result quickly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- TD1: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tree, random forest, SVM and k-means on real wine-chemistry data.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474720" cy="34747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fits functions to data; deep learning is ML with many-layered networks.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their quality usually matter more than the algorithm.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induced by greedy splits chosen on information gain, then pruned.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classical (random forest) and always beat a trivial baseline.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scores on already-seen data prove almost nothing (Part 3).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1 - Foundations of ML and AI</dc:title>
  <dc:subject>PptxGenJS Presentation</dc:subject>
  <dc:creator>Lennart Martens</dc:creator>
  <cp:lastModifiedBy>Lennart Martens</cp:lastModifiedBy>
  <cp:revision>1</cp:revision>
  <dcterms:created xsi:type="dcterms:W3CDTF">2026-06-30T10:49:55Z</dcterms:created>
  <dcterms:modified xsi:type="dcterms:W3CDTF">2026-06-30T10:49:55Z</dcterms:modified>
</cp:coreProperties>
</file>