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70" r:id="rId14"/>
    <p:sldId id="271" r:id="rId15"/>
    <p:sldId id="272" r:id="rId16"/>
    <p:sldId id="273" r:id="rId17"/>
    <p:sldId id="274" r:id="rId18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3" autoAdjust="0"/>
    <p:restoredTop sz="84384" autoAdjust="0"/>
  </p:normalViewPr>
  <p:slideViewPr>
    <p:cSldViewPr snapToGrid="0">
      <p:cViewPr varScale="1">
        <p:scale>
          <a:sx n="72" d="100"/>
          <a:sy n="72" d="100"/>
        </p:scale>
        <p:origin x="1013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AA53F8-D549-4BCE-B564-8781C50B17EE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3A3EDD-0C93-40A6-9F41-D9489E55BD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9672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017D7B-CB71-4D74-BCF4-0A1399F0396F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955114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017D7B-CB71-4D74-BCF4-0A1399F0396F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144369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57AE92-D5D5-4227-B9E7-799476156D5D}" type="slidenum">
              <a:rPr lang="nl-NL" smtClean="0"/>
              <a:t>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806172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57AE92-D5D5-4227-B9E7-799476156D5D}" type="slidenum">
              <a:rPr lang="nl-NL" smtClean="0"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545089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57AE92-D5D5-4227-B9E7-799476156D5D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497499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57AE92-D5D5-4227-B9E7-799476156D5D}" type="slidenum">
              <a:rPr lang="nl-NL" smtClean="0"/>
              <a:t>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623378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57AE92-D5D5-4227-B9E7-799476156D5D}" type="slidenum">
              <a:rPr lang="nl-NL" smtClean="0"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84771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57AE92-D5D5-4227-B9E7-799476156D5D}" type="slidenum">
              <a:rPr lang="nl-NL" smtClean="0"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224024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57AE92-D5D5-4227-B9E7-799476156D5D}" type="slidenum">
              <a:rPr lang="nl-NL" smtClean="0"/>
              <a:t>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100298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57AE92-D5D5-4227-B9E7-799476156D5D}" type="slidenum">
              <a:rPr lang="nl-NL" smtClean="0"/>
              <a:t>10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966096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57AE92-D5D5-4227-B9E7-799476156D5D}" type="slidenum">
              <a:rPr lang="nl-NL" smtClean="0"/>
              <a:t>11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388015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3A3EDD-0C93-40A6-9F41-D9489E55BD1F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3071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3A3EDD-0C93-40A6-9F41-D9489E55BD1F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42943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57AE92-D5D5-4227-B9E7-799476156D5D}" type="slidenum">
              <a:rPr lang="nl-NL" smtClean="0"/>
              <a:t>14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322897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57AE92-D5D5-4227-B9E7-799476156D5D}" type="slidenum">
              <a:rPr lang="nl-NL" smtClean="0"/>
              <a:t>15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3737181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57AE92-D5D5-4227-B9E7-799476156D5D}" type="slidenum">
              <a:rPr lang="nl-NL" smtClean="0"/>
              <a:t>16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309851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18CBC-0603-47A6-97E2-86255A82367C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32223-F218-465C-A007-51E7110B971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76125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18CBC-0603-47A6-97E2-86255A82367C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32223-F218-465C-A007-51E7110B971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533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18CBC-0603-47A6-97E2-86255A82367C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32223-F218-465C-A007-51E7110B971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95122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18CBC-0603-47A6-97E2-86255A82367C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32223-F218-465C-A007-51E7110B971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704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18CBC-0603-47A6-97E2-86255A82367C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32223-F218-465C-A007-51E7110B971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6085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18CBC-0603-47A6-97E2-86255A82367C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32223-F218-465C-A007-51E7110B971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82733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18CBC-0603-47A6-97E2-86255A82367C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32223-F218-465C-A007-51E7110B971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6221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18CBC-0603-47A6-97E2-86255A82367C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32223-F218-465C-A007-51E7110B971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06392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18CBC-0603-47A6-97E2-86255A82367C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32223-F218-465C-A007-51E7110B971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9633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18CBC-0603-47A6-97E2-86255A82367C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32223-F218-465C-A007-51E7110B971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16562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18CBC-0603-47A6-97E2-86255A82367C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32223-F218-465C-A007-51E7110B971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91433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E18CBC-0603-47A6-97E2-86255A82367C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E32223-F218-465C-A007-51E7110B971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66948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84937" y="5234156"/>
            <a:ext cx="943976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Regression is a general term for </a:t>
            </a:r>
            <a:r>
              <a:rPr lang="en-US" sz="2000" b="1" dirty="0"/>
              <a:t>modeling the relationship</a:t>
            </a:r>
            <a:r>
              <a:rPr lang="en-US" sz="2000" dirty="0"/>
              <a:t> between a </a:t>
            </a:r>
            <a:r>
              <a:rPr lang="en-US" sz="2000" b="1" dirty="0"/>
              <a:t>label</a:t>
            </a:r>
            <a:r>
              <a:rPr lang="en-US" sz="2000" dirty="0"/>
              <a:t> </a:t>
            </a:r>
          </a:p>
          <a:p>
            <a:r>
              <a:rPr lang="en-US" sz="2000" dirty="0"/>
              <a:t>(a.k.a. dependent variable or target) and one or more </a:t>
            </a:r>
            <a:r>
              <a:rPr lang="en-US" sz="2000" b="1" dirty="0"/>
              <a:t>features</a:t>
            </a:r>
            <a:r>
              <a:rPr lang="en-US" sz="2000" dirty="0"/>
              <a:t> (a.k.a. the attributes, the independent or explanatory variable(s)).</a:t>
            </a:r>
            <a:endParaRPr lang="en-GB" sz="2000" dirty="0"/>
          </a:p>
        </p:txBody>
      </p:sp>
      <p:sp>
        <p:nvSpPr>
          <p:cNvPr id="14" name="TextBox 13"/>
          <p:cNvSpPr txBox="1"/>
          <p:nvPr/>
        </p:nvSpPr>
        <p:spPr>
          <a:xfrm>
            <a:off x="6962766" y="1974845"/>
            <a:ext cx="318516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</a:rPr>
              <a:t>Can BMI explain Y?</a:t>
            </a:r>
          </a:p>
          <a:p>
            <a:endParaRPr lang="en-GB" dirty="0">
              <a:latin typeface="Calibri" panose="020F0502020204030204" pitchFamily="34" charset="0"/>
            </a:endParaRPr>
          </a:p>
          <a:p>
            <a:r>
              <a:rPr lang="en-GB" dirty="0">
                <a:latin typeface="Calibri" panose="020F0502020204030204" pitchFamily="34" charset="0"/>
              </a:rPr>
              <a:t>Can BMI predict Y?</a:t>
            </a:r>
          </a:p>
          <a:p>
            <a:endParaRPr lang="en-GB" dirty="0">
              <a:latin typeface="Calibri" panose="020F0502020204030204" pitchFamily="34" charset="0"/>
            </a:endParaRPr>
          </a:p>
          <a:p>
            <a:r>
              <a:rPr lang="en-GB" dirty="0">
                <a:latin typeface="Calibri" panose="020F0502020204030204" pitchFamily="34" charset="0"/>
              </a:rPr>
              <a:t>How does Y vary with BMI?</a:t>
            </a:r>
          </a:p>
          <a:p>
            <a:endParaRPr lang="en-GB" dirty="0">
              <a:latin typeface="Calibri" panose="020F0502020204030204" pitchFamily="34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en-GB" dirty="0">
              <a:latin typeface="Calibri" panose="020F0502020204030204" pitchFamily="34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en-GB" dirty="0"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7FF1BE-ED64-2280-A163-BD846C39B6E7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regression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7" name="Picture 6" descr="Chart, scatter chart&#10;&#10;Description automatically generated">
            <a:extLst>
              <a:ext uri="{FF2B5EF4-FFF2-40B4-BE49-F238E27FC236}">
                <a16:creationId xmlns:a16="http://schemas.microsoft.com/office/drawing/2014/main" id="{AC6B8EB3-1C31-1511-C693-11C0263365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4691" y="1172187"/>
            <a:ext cx="5111506" cy="3913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6898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5797439" y="2575001"/>
            <a:ext cx="411480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dirty="0">
                <a:latin typeface="Calibri" panose="020F0502020204030204" pitchFamily="34" charset="0"/>
              </a:rPr>
              <a:t>We need to make </a:t>
            </a:r>
          </a:p>
          <a:p>
            <a:pPr algn="ctr"/>
            <a:r>
              <a:rPr lang="nl-NL" sz="4000" dirty="0">
                <a:latin typeface="Calibri" panose="020F0502020204030204" pitchFamily="34" charset="0"/>
              </a:rPr>
              <a:t>assumptions </a:t>
            </a:r>
          </a:p>
          <a:p>
            <a:pPr algn="ctr"/>
            <a:r>
              <a:rPr lang="nl-NL" dirty="0">
                <a:latin typeface="Calibri" panose="020F0502020204030204" pitchFamily="34" charset="0"/>
              </a:rPr>
              <a:t>about the </a:t>
            </a:r>
          </a:p>
          <a:p>
            <a:pPr algn="ctr"/>
            <a:r>
              <a:rPr lang="nl-NL" sz="4400" dirty="0">
                <a:latin typeface="Calibri" panose="020F0502020204030204" pitchFamily="34" charset="0"/>
              </a:rPr>
              <a:t>model </a:t>
            </a:r>
          </a:p>
          <a:p>
            <a:pPr algn="ctr"/>
            <a:r>
              <a:rPr lang="nl-NL" dirty="0">
                <a:latin typeface="Calibri" panose="020F0502020204030204" pitchFamily="34" charset="0"/>
              </a:rPr>
              <a:t>that generated the data.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76274" y="2968013"/>
            <a:ext cx="2035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dirty="0">
                <a:latin typeface="Freestyle Script" panose="030804020302050B0404" pitchFamily="66" charset="0"/>
              </a:rPr>
              <a:t>linear relationship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74050" y="3843033"/>
            <a:ext cx="2035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dirty="0">
                <a:latin typeface="Freestyle Script" panose="030804020302050B0404" pitchFamily="66" charset="0"/>
              </a:rPr>
              <a:t>linear model</a:t>
            </a:r>
          </a:p>
        </p:txBody>
      </p:sp>
      <p:sp>
        <p:nvSpPr>
          <p:cNvPr id="15" name="Arc 14"/>
          <p:cNvSpPr/>
          <p:nvPr/>
        </p:nvSpPr>
        <p:spPr>
          <a:xfrm rot="7582954">
            <a:off x="9211093" y="3019596"/>
            <a:ext cx="403122" cy="544156"/>
          </a:xfrm>
          <a:prstGeom prst="arc">
            <a:avLst/>
          </a:prstGeom>
          <a:noFill/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Arc 15"/>
          <p:cNvSpPr/>
          <p:nvPr/>
        </p:nvSpPr>
        <p:spPr>
          <a:xfrm rot="7582954">
            <a:off x="8704731" y="3871593"/>
            <a:ext cx="403122" cy="544156"/>
          </a:xfrm>
          <a:prstGeom prst="arc">
            <a:avLst/>
          </a:prstGeom>
          <a:noFill/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5" name="Picture 4" descr="Chart, scatter chart&#10;&#10;Description automatically generated">
            <a:extLst>
              <a:ext uri="{FF2B5EF4-FFF2-40B4-BE49-F238E27FC236}">
                <a16:creationId xmlns:a16="http://schemas.microsoft.com/office/drawing/2014/main" id="{AD36E7FF-7D9B-E101-3DF7-6D87D35CC8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158" y="1590714"/>
            <a:ext cx="5111506" cy="39136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DC30759-B1BD-CAA3-8C2B-4FEFF4A3B8C6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linear regression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18853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Chart, scatter chart&#10;&#10;Description automatically generated">
            <a:extLst>
              <a:ext uri="{FF2B5EF4-FFF2-40B4-BE49-F238E27FC236}">
                <a16:creationId xmlns:a16="http://schemas.microsoft.com/office/drawing/2014/main" id="{00F5863F-0BA7-D0A8-6D8B-1AAE6FD312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655" y="1702897"/>
            <a:ext cx="5111506" cy="391364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1583" y="1867673"/>
            <a:ext cx="4191000" cy="685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66840" y="2906236"/>
            <a:ext cx="493268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>
                <a:latin typeface="Calibri" panose="020F0502020204030204" pitchFamily="34" charset="0"/>
              </a:rPr>
              <a:t>a</a:t>
            </a:r>
            <a:r>
              <a:rPr lang="en-GB" dirty="0">
                <a:latin typeface="Calibri" panose="020F0502020204030204" pitchFamily="34" charset="0"/>
              </a:rPr>
              <a:t> and </a:t>
            </a:r>
            <a:r>
              <a:rPr lang="en-GB" i="1" dirty="0">
                <a:latin typeface="Calibri" panose="020F0502020204030204" pitchFamily="34" charset="0"/>
              </a:rPr>
              <a:t>b</a:t>
            </a:r>
            <a:r>
              <a:rPr lang="en-GB" dirty="0">
                <a:latin typeface="Calibri" panose="020F0502020204030204" pitchFamily="34" charset="0"/>
              </a:rPr>
              <a:t> are </a:t>
            </a:r>
            <a:r>
              <a:rPr lang="en-GB" b="1" dirty="0">
                <a:latin typeface="Calibri" panose="020F0502020204030204" pitchFamily="34" charset="0"/>
              </a:rPr>
              <a:t>model parameters</a:t>
            </a:r>
            <a:r>
              <a:rPr lang="en-GB" dirty="0">
                <a:latin typeface="Calibri" panose="020F0502020204030204" pitchFamily="34" charset="0"/>
              </a:rPr>
              <a:t> </a:t>
            </a:r>
          </a:p>
          <a:p>
            <a:endParaRPr lang="en-GB" dirty="0">
              <a:latin typeface="Calibri" panose="020F0502020204030204" pitchFamily="34" charset="0"/>
            </a:endParaRPr>
          </a:p>
          <a:p>
            <a:r>
              <a:rPr lang="en-GB" i="1" dirty="0">
                <a:latin typeface="Calibri" panose="020F0502020204030204" pitchFamily="34" charset="0"/>
              </a:rPr>
              <a:t>a</a:t>
            </a:r>
            <a:r>
              <a:rPr lang="en-GB" dirty="0">
                <a:latin typeface="Calibri" panose="020F0502020204030204" pitchFamily="34" charset="0"/>
              </a:rPr>
              <a:t> is the </a:t>
            </a:r>
            <a:r>
              <a:rPr lang="en-GB" b="1" dirty="0">
                <a:latin typeface="Calibri" panose="020F0502020204030204" pitchFamily="34" charset="0"/>
              </a:rPr>
              <a:t>slope</a:t>
            </a:r>
            <a:r>
              <a:rPr lang="en-GB" dirty="0">
                <a:latin typeface="Calibri" panose="020F0502020204030204" pitchFamily="34" charset="0"/>
              </a:rPr>
              <a:t> to the line (direction)</a:t>
            </a:r>
          </a:p>
          <a:p>
            <a:endParaRPr lang="en-GB" dirty="0">
              <a:latin typeface="Calibri" panose="020F0502020204030204" pitchFamily="34" charset="0"/>
            </a:endParaRPr>
          </a:p>
          <a:p>
            <a:r>
              <a:rPr lang="en-GB" i="1" dirty="0">
                <a:latin typeface="Calibri" panose="020F0502020204030204" pitchFamily="34" charset="0"/>
              </a:rPr>
              <a:t>b</a:t>
            </a:r>
            <a:r>
              <a:rPr lang="en-GB" dirty="0">
                <a:latin typeface="Calibri" panose="020F0502020204030204" pitchFamily="34" charset="0"/>
              </a:rPr>
              <a:t> is the </a:t>
            </a:r>
            <a:r>
              <a:rPr lang="en-GB" b="1" dirty="0">
                <a:latin typeface="Calibri" panose="020F0502020204030204" pitchFamily="34" charset="0"/>
              </a:rPr>
              <a:t>intercept</a:t>
            </a:r>
            <a:r>
              <a:rPr lang="en-GB" dirty="0">
                <a:latin typeface="Calibri" panose="020F0502020204030204" pitchFamily="34" charset="0"/>
              </a:rPr>
              <a:t> or bias (position)</a:t>
            </a:r>
          </a:p>
          <a:p>
            <a:endParaRPr lang="en-GB" dirty="0">
              <a:latin typeface="Calibri" panose="020F0502020204030204" pitchFamily="34" charset="0"/>
            </a:endParaRPr>
          </a:p>
          <a:p>
            <a:endParaRPr lang="en-GB" dirty="0">
              <a:latin typeface="Calibri" panose="020F0502020204030204" pitchFamily="34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en-GB" dirty="0">
              <a:latin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F014C9-97C1-6488-7958-5ABF2919CC51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linear regression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77508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6403340" y="2271236"/>
            <a:ext cx="493268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</a:rPr>
              <a:t>BMI(70kg, 1.8 meter) = 21.6</a:t>
            </a:r>
          </a:p>
          <a:p>
            <a:endParaRPr lang="en-GB" dirty="0">
              <a:latin typeface="Calibri" panose="020F0502020204030204" pitchFamily="34" charset="0"/>
            </a:endParaRPr>
          </a:p>
          <a:p>
            <a:r>
              <a:rPr lang="en-GB" dirty="0">
                <a:latin typeface="Calibri" panose="020F0502020204030204" pitchFamily="34" charset="0"/>
              </a:rPr>
              <a:t>scaled data!</a:t>
            </a:r>
          </a:p>
          <a:p>
            <a:endParaRPr lang="en-GB" dirty="0">
              <a:latin typeface="Calibri" panose="020F0502020204030204" pitchFamily="34" charset="0"/>
            </a:endParaRPr>
          </a:p>
          <a:p>
            <a:r>
              <a:rPr lang="en-GB" dirty="0">
                <a:latin typeface="Calibri" panose="020F0502020204030204" pitchFamily="34" charset="0"/>
              </a:rPr>
              <a:t>scaled BMI = -1.08</a:t>
            </a:r>
          </a:p>
          <a:p>
            <a:endParaRPr lang="en-GB" dirty="0">
              <a:latin typeface="Calibri" panose="020F0502020204030204" pitchFamily="34" charset="0"/>
            </a:endParaRPr>
          </a:p>
          <a:p>
            <a:r>
              <a:rPr lang="en-GB" dirty="0">
                <a:latin typeface="Calibri" panose="020F0502020204030204" pitchFamily="34" charset="0"/>
              </a:rPr>
              <a:t>predicted value = -0.34</a:t>
            </a:r>
          </a:p>
          <a:p>
            <a:endParaRPr lang="en-GB" dirty="0">
              <a:latin typeface="Calibri" panose="020F0502020204030204" pitchFamily="34" charset="0"/>
            </a:endParaRPr>
          </a:p>
          <a:p>
            <a:r>
              <a:rPr lang="en-GB" b="1" dirty="0">
                <a:latin typeface="Calibri" panose="020F0502020204030204" pitchFamily="34" charset="0"/>
              </a:rPr>
              <a:t>generalization</a:t>
            </a:r>
            <a:r>
              <a:rPr lang="en-GB" dirty="0">
                <a:latin typeface="Calibri" panose="020F0502020204030204" pitchFamily="34" charset="0"/>
              </a:rPr>
              <a:t>!!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en-GB" dirty="0">
              <a:latin typeface="Calibri" panose="020F0502020204030204" pitchFamily="34" charset="0"/>
            </a:endParaRPr>
          </a:p>
          <a:p>
            <a:endParaRPr lang="en-GB" dirty="0">
              <a:latin typeface="Calibri" panose="020F0502020204030204" pitchFamily="34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en-GB" dirty="0">
              <a:latin typeface="Calibri" panose="020F0502020204030204" pitchFamily="34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en-GB" dirty="0">
              <a:latin typeface="Calibri" panose="020F0502020204030204" pitchFamily="34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en-GB" dirty="0"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EC6E6B-FED1-32ED-DE31-BB1034F20494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linear regression: prediction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7" name="Picture 6" descr="Chart, scatter chart&#10;&#10;Description automatically generated">
            <a:extLst>
              <a:ext uri="{FF2B5EF4-FFF2-40B4-BE49-F238E27FC236}">
                <a16:creationId xmlns:a16="http://schemas.microsoft.com/office/drawing/2014/main" id="{7A7FEB31-87B7-A9D5-A987-E2E5A8EDF4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535" y="1706425"/>
            <a:ext cx="5111506" cy="3913640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6CBF0A3-501E-5804-C67D-B5348911E32A}"/>
              </a:ext>
            </a:extLst>
          </p:cNvPr>
          <p:cNvCxnSpPr/>
          <p:nvPr/>
        </p:nvCxnSpPr>
        <p:spPr>
          <a:xfrm>
            <a:off x="1924756" y="4075289"/>
            <a:ext cx="0" cy="1100667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B41FB28-8666-E42A-E83A-F7AC66E472EB}"/>
              </a:ext>
            </a:extLst>
          </p:cNvPr>
          <p:cNvCxnSpPr>
            <a:cxnSpLocks/>
          </p:cNvCxnSpPr>
          <p:nvPr/>
        </p:nvCxnSpPr>
        <p:spPr>
          <a:xfrm flipH="1">
            <a:off x="1095023" y="4052712"/>
            <a:ext cx="739422" cy="0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5041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6175861" y="2130975"/>
            <a:ext cx="493268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</a:rPr>
              <a:t>What values for </a:t>
            </a:r>
            <a:r>
              <a:rPr lang="en-GB" i="1" dirty="0">
                <a:latin typeface="Calibri" panose="020F0502020204030204" pitchFamily="34" charset="0"/>
              </a:rPr>
              <a:t>a</a:t>
            </a:r>
            <a:r>
              <a:rPr lang="en-GB" dirty="0">
                <a:latin typeface="Calibri" panose="020F0502020204030204" pitchFamily="34" charset="0"/>
              </a:rPr>
              <a:t> and </a:t>
            </a:r>
            <a:r>
              <a:rPr lang="en-GB" i="1" dirty="0">
                <a:latin typeface="Calibri" panose="020F0502020204030204" pitchFamily="34" charset="0"/>
              </a:rPr>
              <a:t>b</a:t>
            </a:r>
            <a:r>
              <a:rPr lang="en-GB" dirty="0">
                <a:latin typeface="Calibri" panose="020F0502020204030204" pitchFamily="34" charset="0"/>
              </a:rPr>
              <a:t> fit the data best?</a:t>
            </a:r>
          </a:p>
          <a:p>
            <a:endParaRPr lang="en-GB" dirty="0">
              <a:latin typeface="Calibri" panose="020F0502020204030204" pitchFamily="34" charset="0"/>
            </a:endParaRPr>
          </a:p>
          <a:p>
            <a:r>
              <a:rPr lang="en-GB" dirty="0">
                <a:latin typeface="Calibri" panose="020F0502020204030204" pitchFamily="34" charset="0"/>
              </a:rPr>
              <a:t>How can we evaluate them?</a:t>
            </a:r>
          </a:p>
          <a:p>
            <a:endParaRPr lang="en-GB" dirty="0">
              <a:latin typeface="Calibri" panose="020F0502020204030204" pitchFamily="34" charset="0"/>
            </a:endParaRPr>
          </a:p>
          <a:p>
            <a:endParaRPr lang="en-GB" dirty="0">
              <a:latin typeface="Calibri" panose="020F0502020204030204" pitchFamily="34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en-GB" dirty="0">
              <a:latin typeface="Calibri" panose="020F0502020204030204" pitchFamily="34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en-GB" dirty="0">
              <a:latin typeface="Calibri" panose="020F0502020204030204" pitchFamily="34" charset="0"/>
            </a:endParaRPr>
          </a:p>
        </p:txBody>
      </p:sp>
      <p:pic>
        <p:nvPicPr>
          <p:cNvPr id="3" name="Picture 2" descr="Chart, scatter chart&#10;&#10;Description automatically generated">
            <a:extLst>
              <a:ext uri="{FF2B5EF4-FFF2-40B4-BE49-F238E27FC236}">
                <a16:creationId xmlns:a16="http://schemas.microsoft.com/office/drawing/2014/main" id="{38E604C2-50F7-B7FA-EF8D-38C8F2D765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655" y="1702897"/>
            <a:ext cx="5111506" cy="391364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C1FFBB-740A-1AFF-2AF2-0432F041C87F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linear regression: fitting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C4FCCD0-6D5C-2778-DF99-9128E16CAE3B}"/>
              </a:ext>
            </a:extLst>
          </p:cNvPr>
          <p:cNvCxnSpPr/>
          <p:nvPr/>
        </p:nvCxnSpPr>
        <p:spPr>
          <a:xfrm flipV="1">
            <a:off x="1382889" y="1890889"/>
            <a:ext cx="3651955" cy="2906889"/>
          </a:xfrm>
          <a:prstGeom prst="line">
            <a:avLst/>
          </a:prstGeom>
          <a:ln w="38100"/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7274ECE-6826-CD7C-6A24-AC9CF9B59F2C}"/>
              </a:ext>
            </a:extLst>
          </p:cNvPr>
          <p:cNvCxnSpPr>
            <a:cxnSpLocks/>
          </p:cNvCxnSpPr>
          <p:nvPr/>
        </p:nvCxnSpPr>
        <p:spPr>
          <a:xfrm flipV="1">
            <a:off x="1315156" y="2607733"/>
            <a:ext cx="3922888" cy="142240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03722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851" y="5763492"/>
            <a:ext cx="1247775" cy="447675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4188" y="5645464"/>
            <a:ext cx="2181225" cy="8763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2394" y="852482"/>
            <a:ext cx="3220010" cy="826211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0715" y="887604"/>
            <a:ext cx="2558886" cy="84318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7A5C175-1C73-D790-B022-5DF73A503328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linear regression: fitting (coefficient of determination)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8" name="Picture 7" descr="Chart&#10;&#10;Description automatically generated">
            <a:extLst>
              <a:ext uri="{FF2B5EF4-FFF2-40B4-BE49-F238E27FC236}">
                <a16:creationId xmlns:a16="http://schemas.microsoft.com/office/drawing/2014/main" id="{22FFD3B0-B795-870F-3B29-5C198CAF36D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56" y="1731824"/>
            <a:ext cx="5111506" cy="3913640"/>
          </a:xfrm>
          <a:prstGeom prst="rect">
            <a:avLst/>
          </a:prstGeom>
        </p:spPr>
      </p:pic>
      <p:pic>
        <p:nvPicPr>
          <p:cNvPr id="10" name="Picture 9" descr="Chart&#10;&#10;Description automatically generated">
            <a:extLst>
              <a:ext uri="{FF2B5EF4-FFF2-40B4-BE49-F238E27FC236}">
                <a16:creationId xmlns:a16="http://schemas.microsoft.com/office/drawing/2014/main" id="{7D55235E-35D2-8C2F-D733-F2902911561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9952" y="1731824"/>
            <a:ext cx="5111506" cy="3913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7156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hart, scatter chart&#10;&#10;Description automatically generated">
            <a:extLst>
              <a:ext uri="{FF2B5EF4-FFF2-40B4-BE49-F238E27FC236}">
                <a16:creationId xmlns:a16="http://schemas.microsoft.com/office/drawing/2014/main" id="{4923782E-8DF5-F0F1-D946-F9A753A220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8665" y="1411744"/>
            <a:ext cx="5111506" cy="391364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111776" y="1691383"/>
            <a:ext cx="12918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400" dirty="0"/>
              <a:t>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55758" y="2881311"/>
            <a:ext cx="26547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400" dirty="0"/>
              <a:t>Learning Algorithm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0187" y="4066095"/>
            <a:ext cx="1085850" cy="61912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8991" y="4199446"/>
            <a:ext cx="428625" cy="35242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6569" y="4209278"/>
            <a:ext cx="333375" cy="39052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2201758" y="1543785"/>
            <a:ext cx="3111908" cy="767143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1" name="Rounded Rectangle 10"/>
          <p:cNvSpPr/>
          <p:nvPr/>
        </p:nvSpPr>
        <p:spPr>
          <a:xfrm>
            <a:off x="2227158" y="2728571"/>
            <a:ext cx="3111908" cy="767143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2" name="Rounded Rectangle 11"/>
          <p:cNvSpPr/>
          <p:nvPr/>
        </p:nvSpPr>
        <p:spPr>
          <a:xfrm>
            <a:off x="2888376" y="3992085"/>
            <a:ext cx="1789472" cy="767143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3" name="Right Arrow 12"/>
          <p:cNvSpPr/>
          <p:nvPr/>
        </p:nvSpPr>
        <p:spPr>
          <a:xfrm rot="5400000">
            <a:off x="3571718" y="2369696"/>
            <a:ext cx="422788" cy="29496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4" name="Right Arrow 13"/>
          <p:cNvSpPr/>
          <p:nvPr/>
        </p:nvSpPr>
        <p:spPr>
          <a:xfrm rot="5400000">
            <a:off x="3534926" y="3596416"/>
            <a:ext cx="496371" cy="29496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5" name="Right Arrow 14"/>
          <p:cNvSpPr/>
          <p:nvPr/>
        </p:nvSpPr>
        <p:spPr>
          <a:xfrm>
            <a:off x="2455758" y="4256903"/>
            <a:ext cx="422788" cy="29496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" name="Right Arrow 16"/>
          <p:cNvSpPr/>
          <p:nvPr/>
        </p:nvSpPr>
        <p:spPr>
          <a:xfrm>
            <a:off x="4687678" y="4256903"/>
            <a:ext cx="422788" cy="29496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75566" y="1411744"/>
            <a:ext cx="2543175" cy="50482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41301" y="2799752"/>
            <a:ext cx="2035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dirty="0">
                <a:latin typeface="Freestyle Script" panose="030804020302050B0404" pitchFamily="66" charset="0"/>
              </a:rPr>
              <a:t>linear regression</a:t>
            </a:r>
          </a:p>
        </p:txBody>
      </p:sp>
      <p:sp>
        <p:nvSpPr>
          <p:cNvPr id="22" name="Arc 21"/>
          <p:cNvSpPr/>
          <p:nvPr/>
        </p:nvSpPr>
        <p:spPr>
          <a:xfrm rot="7582954">
            <a:off x="1710190" y="2814705"/>
            <a:ext cx="399694" cy="493313"/>
          </a:xfrm>
          <a:prstGeom prst="arc">
            <a:avLst/>
          </a:prstGeom>
          <a:noFill/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4731" y="5010758"/>
            <a:ext cx="6459472" cy="7854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0EAD717-6FA4-D6B8-7E6B-455915C5DD1C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linear regression: formalized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72132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7502" y="998371"/>
            <a:ext cx="7997731" cy="5137229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039" y="2895474"/>
            <a:ext cx="2705100" cy="134302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E0FDBD2-BD30-6C61-DC0E-42FC0F4CADF7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linear regression: cost (loss function)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45149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1" y="5273279"/>
            <a:ext cx="4457700" cy="762000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949" y="1249052"/>
            <a:ext cx="5805632" cy="3729165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9424" y="1249052"/>
            <a:ext cx="3710833" cy="363916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5080" y="4670297"/>
            <a:ext cx="347194" cy="435839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3916" y="2670288"/>
            <a:ext cx="1156914" cy="494159"/>
          </a:xfrm>
          <a:prstGeom prst="rect">
            <a:avLst/>
          </a:prstGeom>
        </p:spPr>
      </p:pic>
      <p:cxnSp>
        <p:nvCxnSpPr>
          <p:cNvPr id="17" name="Straight Connector 16"/>
          <p:cNvCxnSpPr/>
          <p:nvPr/>
        </p:nvCxnSpPr>
        <p:spPr>
          <a:xfrm>
            <a:off x="7799294" y="3848847"/>
            <a:ext cx="1529977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9329271" y="3848847"/>
            <a:ext cx="5976" cy="681318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6861AB5E-DEF8-C899-9A52-FD16FE93A9A9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linear regression: cost (loss function)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78893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023098" y="1632136"/>
            <a:ext cx="10195859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latin typeface="Calibri" panose="020F0502020204030204" pitchFamily="34" charset="0"/>
              </a:rPr>
              <a:t>Fit a linear model</a:t>
            </a: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r>
              <a:rPr lang="en-GB" sz="2000" dirty="0">
                <a:latin typeface="Calibri" panose="020F0502020204030204" pitchFamily="34" charset="0"/>
              </a:rPr>
              <a:t>to the data set such that the cost function</a:t>
            </a: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r>
              <a:rPr lang="en-GB" sz="2000" dirty="0">
                <a:latin typeface="Calibri" panose="020F0502020204030204" pitchFamily="34" charset="0"/>
              </a:rPr>
              <a:t>is minimal.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4566" y="2150399"/>
            <a:ext cx="6391275" cy="78105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5178" y="3715470"/>
            <a:ext cx="4210050" cy="10287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B29CFE7-6F4D-1049-ED8A-C2C91C19BCF9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linear regression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48781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 descr="C:\Users\Public\Documents\ml-class\lectures-slides\assets\2.bowl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017" y="1128259"/>
            <a:ext cx="5785572" cy="45407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582064" y="1551929"/>
            <a:ext cx="5277836" cy="3958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C4ED5E5-F1E2-CC30-83C3-BC2A085408B6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linear regression: cost (loss function)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36142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1613" y="785160"/>
            <a:ext cx="9286875" cy="167640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7732" y="2762662"/>
            <a:ext cx="3478306" cy="344008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9896" y="2762662"/>
            <a:ext cx="3641538" cy="3480882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4057" y="3694074"/>
            <a:ext cx="1955786" cy="107503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5CE728C-E1D1-08B1-F0CB-B4636E8A9002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gradient descent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82849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7077" y="1742981"/>
            <a:ext cx="4343400" cy="332422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1968" y="1911162"/>
            <a:ext cx="2999908" cy="2879912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8245" y="1911349"/>
            <a:ext cx="3120489" cy="287972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56752D4-EE48-D015-ED61-97F2639E51FC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gradient descent: learning rate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6814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4021" y="4323731"/>
            <a:ext cx="371475" cy="390525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6794" y="4317425"/>
            <a:ext cx="619125" cy="5143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6840" y="1499489"/>
            <a:ext cx="12354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000" dirty="0">
                <a:latin typeface="Calibri" panose="020F0502020204030204" pitchFamily="34" charset="0"/>
              </a:rPr>
              <a:t>model: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7202" y="2359880"/>
            <a:ext cx="21123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000" dirty="0">
                <a:latin typeface="Calibri" panose="020F0502020204030204" pitchFamily="34" charset="0"/>
              </a:rPr>
              <a:t>cost function: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5560" y="3212048"/>
            <a:ext cx="9588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000" dirty="0">
                <a:latin typeface="Calibri" panose="020F0502020204030204" pitchFamily="34" charset="0"/>
              </a:rPr>
              <a:t>Goal: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29561" y="1439063"/>
            <a:ext cx="5429250" cy="5715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29561" y="2224585"/>
            <a:ext cx="3971925" cy="790575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3140" y="3206707"/>
            <a:ext cx="2562225" cy="600075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9679" y="4005276"/>
            <a:ext cx="371475" cy="390525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4565" y="3079362"/>
            <a:ext cx="4867275" cy="3162300"/>
          </a:xfrm>
          <a:prstGeom prst="rect">
            <a:avLst/>
          </a:prstGeom>
          <a:ln>
            <a:noFill/>
          </a:ln>
        </p:spPr>
      </p:pic>
      <p:sp>
        <p:nvSpPr>
          <p:cNvPr id="24" name="Arc 23"/>
          <p:cNvSpPr/>
          <p:nvPr/>
        </p:nvSpPr>
        <p:spPr>
          <a:xfrm rot="17216862">
            <a:off x="5913902" y="4065200"/>
            <a:ext cx="612515" cy="1060660"/>
          </a:xfrm>
          <a:prstGeom prst="arc">
            <a:avLst>
              <a:gd name="adj1" fmla="val 16200000"/>
              <a:gd name="adj2" fmla="val 2616443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 sz="1600" dirty="0">
              <a:latin typeface="Calibri" panose="020F050202020403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08226" y="4024833"/>
            <a:ext cx="592566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000" dirty="0">
                <a:latin typeface="Calibri" panose="020F0502020204030204" pitchFamily="34" charset="0"/>
              </a:rPr>
              <a:t>Learning:  1. start with some</a:t>
            </a:r>
          </a:p>
          <a:p>
            <a:r>
              <a:rPr lang="nl-NL" sz="2000" dirty="0">
                <a:latin typeface="Calibri" panose="020F0502020204030204" pitchFamily="34" charset="0"/>
              </a:rPr>
              <a:t>                    2. change      to reduce </a:t>
            </a:r>
          </a:p>
          <a:p>
            <a:r>
              <a:rPr lang="nl-NL" sz="2000" dirty="0">
                <a:latin typeface="Calibri" panose="020F0502020204030204" pitchFamily="34" charset="0"/>
              </a:rPr>
              <a:t>                    3. repeat 2. until convergence  </a:t>
            </a:r>
          </a:p>
          <a:p>
            <a:r>
              <a:rPr lang="nl-NL" sz="2000" dirty="0">
                <a:latin typeface="Calibri" panose="020F0502020204030204" pitchFamily="34" charset="0"/>
              </a:rPr>
              <a:t>                     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11A1BE-F453-F32B-F67A-51606772AF57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linear regression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67766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6421270" y="1900695"/>
            <a:ext cx="493268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</a:rPr>
              <a:t>Does </a:t>
            </a:r>
            <a:r>
              <a:rPr lang="en-GB" i="1" dirty="0">
                <a:latin typeface="Calibri" panose="020F0502020204030204" pitchFamily="34" charset="0"/>
              </a:rPr>
              <a:t>y</a:t>
            </a:r>
            <a:r>
              <a:rPr lang="en-GB" dirty="0">
                <a:latin typeface="Calibri" panose="020F0502020204030204" pitchFamily="34" charset="0"/>
              </a:rPr>
              <a:t> vary linearly with </a:t>
            </a:r>
            <a:r>
              <a:rPr lang="en-GB" i="1" dirty="0">
                <a:latin typeface="Calibri" panose="020F0502020204030204" pitchFamily="34" charset="0"/>
              </a:rPr>
              <a:t>X</a:t>
            </a:r>
            <a:r>
              <a:rPr lang="en-GB" dirty="0">
                <a:latin typeface="Calibri" panose="020F0502020204030204" pitchFamily="34" charset="0"/>
              </a:rPr>
              <a:t>?</a:t>
            </a:r>
          </a:p>
          <a:p>
            <a:endParaRPr lang="en-GB" dirty="0">
              <a:latin typeface="Calibri" panose="020F0502020204030204" pitchFamily="34" charset="0"/>
            </a:endParaRPr>
          </a:p>
          <a:p>
            <a:r>
              <a:rPr lang="en-GB" dirty="0">
                <a:latin typeface="Calibri" panose="020F0502020204030204" pitchFamily="34" charset="0"/>
              </a:rPr>
              <a:t>Can we fit a non-linear model? Yes</a:t>
            </a:r>
          </a:p>
          <a:p>
            <a:endParaRPr lang="en-GB" dirty="0">
              <a:latin typeface="Calibri" panose="020F0502020204030204" pitchFamily="34" charset="0"/>
            </a:endParaRPr>
          </a:p>
          <a:p>
            <a:r>
              <a:rPr lang="en-GB" dirty="0">
                <a:latin typeface="Calibri" panose="020F0502020204030204" pitchFamily="34" charset="0"/>
              </a:rPr>
              <a:t>Or we could add polynomial transformations of the features.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en-GB" dirty="0">
              <a:latin typeface="Calibri" panose="020F0502020204030204" pitchFamily="34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en-GB" dirty="0">
              <a:latin typeface="Calibri" panose="020F0502020204030204" pitchFamily="34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en-GB" dirty="0">
              <a:latin typeface="Calibri" panose="020F0502020204030204" pitchFamily="34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en-GB" dirty="0">
              <a:latin typeface="Calibri" panose="020F0502020204030204" pitchFamily="34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en-GB" dirty="0">
              <a:latin typeface="Calibri" panose="020F0502020204030204" pitchFamily="34" charset="0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5573" y="3798098"/>
            <a:ext cx="3930516" cy="732045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791" y="1160369"/>
            <a:ext cx="5248275" cy="489585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0FFEB7E-0456-047E-1918-72CE2EA103BF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non-linear regression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15799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6427526" y="1398339"/>
            <a:ext cx="493268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</a:rPr>
              <a:t>Does </a:t>
            </a:r>
            <a:r>
              <a:rPr lang="en-GB" i="1" dirty="0">
                <a:latin typeface="Calibri" panose="020F0502020204030204" pitchFamily="34" charset="0"/>
              </a:rPr>
              <a:t>y</a:t>
            </a:r>
            <a:r>
              <a:rPr lang="en-GB" dirty="0">
                <a:latin typeface="Calibri" panose="020F0502020204030204" pitchFamily="34" charset="0"/>
              </a:rPr>
              <a:t> vary linearly with </a:t>
            </a:r>
            <a:r>
              <a:rPr lang="en-GB" i="1" dirty="0">
                <a:latin typeface="Calibri" panose="020F0502020204030204" pitchFamily="34" charset="0"/>
              </a:rPr>
              <a:t>X</a:t>
            </a:r>
            <a:r>
              <a:rPr lang="en-GB" dirty="0">
                <a:latin typeface="Calibri" panose="020F0502020204030204" pitchFamily="34" charset="0"/>
              </a:rPr>
              <a:t>?</a:t>
            </a:r>
          </a:p>
          <a:p>
            <a:endParaRPr lang="en-GB" dirty="0">
              <a:latin typeface="Calibri" panose="020F0502020204030204" pitchFamily="34" charset="0"/>
            </a:endParaRPr>
          </a:p>
          <a:p>
            <a:r>
              <a:rPr lang="en-GB" dirty="0">
                <a:latin typeface="Calibri" panose="020F0502020204030204" pitchFamily="34" charset="0"/>
              </a:rPr>
              <a:t>Can we fit a non-linear model? Yes</a:t>
            </a:r>
          </a:p>
          <a:p>
            <a:endParaRPr lang="en-GB" dirty="0">
              <a:latin typeface="Calibri" panose="020F0502020204030204" pitchFamily="34" charset="0"/>
            </a:endParaRPr>
          </a:p>
          <a:p>
            <a:r>
              <a:rPr lang="en-GB" dirty="0">
                <a:latin typeface="Calibri" panose="020F0502020204030204" pitchFamily="34" charset="0"/>
              </a:rPr>
              <a:t>Or we could add polynomial transformations of the features.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en-GB" dirty="0">
              <a:latin typeface="Calibri" panose="020F0502020204030204" pitchFamily="34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en-GB" dirty="0">
              <a:latin typeface="Calibri" panose="020F0502020204030204" pitchFamily="34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en-GB" dirty="0">
              <a:latin typeface="Calibri" panose="020F0502020204030204" pitchFamily="34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en-GB" dirty="0">
              <a:latin typeface="Calibri" panose="020F0502020204030204" pitchFamily="34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en-GB" dirty="0">
              <a:latin typeface="Calibri" panose="020F0502020204030204" pitchFamily="34" charset="0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0434" y="2915521"/>
            <a:ext cx="3324225" cy="61912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341" y="1160370"/>
            <a:ext cx="5038725" cy="48958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12F8DD5-4803-47C7-833F-F1372C3B99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5051" y="3429000"/>
            <a:ext cx="2940941" cy="269248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A1D4FAF-7AE0-781B-E2B6-153EF84F65EE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non-linear regression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62682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7926" y="467015"/>
            <a:ext cx="4895850" cy="481965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638" y="5490657"/>
            <a:ext cx="10601325" cy="54292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640CDB0-F0A1-A73A-BFB5-925398C23DEE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non-linear regression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16163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584</TotalTime>
  <Words>330</Words>
  <Application>Microsoft Office PowerPoint</Application>
  <PresentationFormat>Widescreen</PresentationFormat>
  <Paragraphs>108</Paragraphs>
  <Slides>17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Calibri</vt:lpstr>
      <vt:lpstr>Calibri Light</vt:lpstr>
      <vt:lpstr>Courier New</vt:lpstr>
      <vt:lpstr>Freestyle Script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Robbin Bouwmeester</cp:lastModifiedBy>
  <cp:revision>66</cp:revision>
  <dcterms:created xsi:type="dcterms:W3CDTF">2015-04-25T14:39:23Z</dcterms:created>
  <dcterms:modified xsi:type="dcterms:W3CDTF">2026-03-01T18:55:59Z</dcterms:modified>
</cp:coreProperties>
</file>