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64" r:id="rId2"/>
    <p:sldId id="257" r:id="rId3"/>
    <p:sldId id="258" r:id="rId4"/>
    <p:sldId id="259" r:id="rId5"/>
    <p:sldId id="589" r:id="rId6"/>
    <p:sldId id="593" r:id="rId7"/>
    <p:sldId id="590" r:id="rId8"/>
    <p:sldId id="260" r:id="rId9"/>
    <p:sldId id="591" r:id="rId10"/>
    <p:sldId id="592" r:id="rId11"/>
    <p:sldId id="261" r:id="rId12"/>
    <p:sldId id="262" r:id="rId13"/>
    <p:sldId id="501" r:id="rId14"/>
    <p:sldId id="263" r:id="rId15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91C6AF-B7BA-4D2E-B55F-47920918F106}" v="44" dt="2026-10-20T08:35:52.7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3" autoAdjust="0"/>
    <p:restoredTop sz="85203" autoAdjust="0"/>
  </p:normalViewPr>
  <p:slideViewPr>
    <p:cSldViewPr snapToGrid="0">
      <p:cViewPr>
        <p:scale>
          <a:sx n="74" d="100"/>
          <a:sy n="74" d="100"/>
        </p:scale>
        <p:origin x="950" y="2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bin Bouwmeester" userId="1dbfebabfc25a55a" providerId="LiveId" clId="{75D63595-F797-482E-A4A0-2F4889B74D4F}"/>
    <pc:docChg chg="undo custSel addSld delSld modSld sldOrd">
      <pc:chgData name="Robbin Bouwmeester" userId="1dbfebabfc25a55a" providerId="LiveId" clId="{75D63595-F797-482E-A4A0-2F4889B74D4F}" dt="2026-10-20T08:36:17.401" v="970" actId="20577"/>
      <pc:docMkLst>
        <pc:docMk/>
      </pc:docMkLst>
      <pc:sldChg chg="modSp mod">
        <pc:chgData name="Robbin Bouwmeester" userId="1dbfebabfc25a55a" providerId="LiveId" clId="{75D63595-F797-482E-A4A0-2F4889B74D4F}" dt="2026-10-19T14:26:30.864" v="495" actId="5793"/>
        <pc:sldMkLst>
          <pc:docMk/>
          <pc:sldMk cId="1744993155" sldId="257"/>
        </pc:sldMkLst>
        <pc:spChg chg="mod">
          <ac:chgData name="Robbin Bouwmeester" userId="1dbfebabfc25a55a" providerId="LiveId" clId="{75D63595-F797-482E-A4A0-2F4889B74D4F}" dt="2026-10-19T14:26:30.864" v="495" actId="5793"/>
          <ac:spMkLst>
            <pc:docMk/>
            <pc:sldMk cId="1744993155" sldId="257"/>
            <ac:spMk id="2" creationId="{2D8BA5C6-41D6-D395-1199-AEF8D7ECDB84}"/>
          </ac:spMkLst>
        </pc:spChg>
      </pc:sldChg>
      <pc:sldChg chg="modSp mod">
        <pc:chgData name="Robbin Bouwmeester" userId="1dbfebabfc25a55a" providerId="LiveId" clId="{75D63595-F797-482E-A4A0-2F4889B74D4F}" dt="2026-10-19T14:28:13.884" v="634" actId="255"/>
        <pc:sldMkLst>
          <pc:docMk/>
          <pc:sldMk cId="4149993461" sldId="258"/>
        </pc:sldMkLst>
        <pc:spChg chg="mod">
          <ac:chgData name="Robbin Bouwmeester" userId="1dbfebabfc25a55a" providerId="LiveId" clId="{75D63595-F797-482E-A4A0-2F4889B74D4F}" dt="2026-10-19T14:28:13.884" v="634" actId="255"/>
          <ac:spMkLst>
            <pc:docMk/>
            <pc:sldMk cId="4149993461" sldId="258"/>
            <ac:spMk id="4" creationId="{C55DEC6F-96B3-11C5-5AFA-C97854741C46}"/>
          </ac:spMkLst>
        </pc:spChg>
      </pc:sldChg>
      <pc:sldChg chg="modSp mod">
        <pc:chgData name="Robbin Bouwmeester" userId="1dbfebabfc25a55a" providerId="LiveId" clId="{75D63595-F797-482E-A4A0-2F4889B74D4F}" dt="2026-10-19T14:28:10.104" v="633" actId="255"/>
        <pc:sldMkLst>
          <pc:docMk/>
          <pc:sldMk cId="3255972120" sldId="259"/>
        </pc:sldMkLst>
        <pc:spChg chg="mod">
          <ac:chgData name="Robbin Bouwmeester" userId="1dbfebabfc25a55a" providerId="LiveId" clId="{75D63595-F797-482E-A4A0-2F4889B74D4F}" dt="2026-10-19T14:28:10.104" v="633" actId="255"/>
          <ac:spMkLst>
            <pc:docMk/>
            <pc:sldMk cId="3255972120" sldId="259"/>
            <ac:spMk id="6" creationId="{EB6E3953-DDE9-0297-0C11-7B35F4A16D8A}"/>
          </ac:spMkLst>
        </pc:spChg>
      </pc:sldChg>
      <pc:sldChg chg="modSp mod">
        <pc:chgData name="Robbin Bouwmeester" userId="1dbfebabfc25a55a" providerId="LiveId" clId="{75D63595-F797-482E-A4A0-2F4889B74D4F}" dt="2026-10-20T08:33:09.914" v="758" actId="20577"/>
        <pc:sldMkLst>
          <pc:docMk/>
          <pc:sldMk cId="2866331159" sldId="260"/>
        </pc:sldMkLst>
        <pc:spChg chg="mod">
          <ac:chgData name="Robbin Bouwmeester" userId="1dbfebabfc25a55a" providerId="LiveId" clId="{75D63595-F797-482E-A4A0-2F4889B74D4F}" dt="2026-10-20T08:33:09.914" v="758" actId="20577"/>
          <ac:spMkLst>
            <pc:docMk/>
            <pc:sldMk cId="2866331159" sldId="260"/>
            <ac:spMk id="4" creationId="{AC1C5531-79CA-C2A9-F35E-CABE78DBE20D}"/>
          </ac:spMkLst>
        </pc:spChg>
      </pc:sldChg>
      <pc:sldChg chg="modSp mod">
        <pc:chgData name="Robbin Bouwmeester" userId="1dbfebabfc25a55a" providerId="LiveId" clId="{75D63595-F797-482E-A4A0-2F4889B74D4F}" dt="2026-10-20T08:36:17.401" v="970" actId="20577"/>
        <pc:sldMkLst>
          <pc:docMk/>
          <pc:sldMk cId="556409808" sldId="261"/>
        </pc:sldMkLst>
        <pc:spChg chg="mod">
          <ac:chgData name="Robbin Bouwmeester" userId="1dbfebabfc25a55a" providerId="LiveId" clId="{75D63595-F797-482E-A4A0-2F4889B74D4F}" dt="2026-10-20T08:36:17.401" v="970" actId="20577"/>
          <ac:spMkLst>
            <pc:docMk/>
            <pc:sldMk cId="556409808" sldId="261"/>
            <ac:spMk id="5" creationId="{7B5E8FCE-AA6D-3103-054A-84544432CEE5}"/>
          </ac:spMkLst>
        </pc:spChg>
      </pc:sldChg>
      <pc:sldChg chg="modSp mod">
        <pc:chgData name="Robbin Bouwmeester" userId="1dbfebabfc25a55a" providerId="LiveId" clId="{75D63595-F797-482E-A4A0-2F4889B74D4F}" dt="2026-10-20T08:36:12.338" v="965" actId="20577"/>
        <pc:sldMkLst>
          <pc:docMk/>
          <pc:sldMk cId="4282199305" sldId="262"/>
        </pc:sldMkLst>
        <pc:spChg chg="mod">
          <ac:chgData name="Robbin Bouwmeester" userId="1dbfebabfc25a55a" providerId="LiveId" clId="{75D63595-F797-482E-A4A0-2F4889B74D4F}" dt="2026-10-20T08:36:12.338" v="965" actId="20577"/>
          <ac:spMkLst>
            <pc:docMk/>
            <pc:sldMk cId="4282199305" sldId="262"/>
            <ac:spMk id="5" creationId="{FC452886-C753-5E96-D8D4-6CB3236F3895}"/>
          </ac:spMkLst>
        </pc:spChg>
      </pc:sldChg>
      <pc:sldChg chg="addSp delSp modSp mod">
        <pc:chgData name="Robbin Bouwmeester" userId="1dbfebabfc25a55a" providerId="LiveId" clId="{75D63595-F797-482E-A4A0-2F4889B74D4F}" dt="2026-10-20T08:36:04.237" v="955" actId="20577"/>
        <pc:sldMkLst>
          <pc:docMk/>
          <pc:sldMk cId="2749873298" sldId="263"/>
        </pc:sldMkLst>
        <pc:spChg chg="add del mod">
          <ac:chgData name="Robbin Bouwmeester" userId="1dbfebabfc25a55a" providerId="LiveId" clId="{75D63595-F797-482E-A4A0-2F4889B74D4F}" dt="2026-10-20T08:36:04.237" v="955" actId="20577"/>
          <ac:spMkLst>
            <pc:docMk/>
            <pc:sldMk cId="2749873298" sldId="263"/>
            <ac:spMk id="2" creationId="{2A2A9286-3E2C-C846-B564-2AAAE7FF5A2B}"/>
          </ac:spMkLst>
        </pc:spChg>
      </pc:sldChg>
      <pc:sldChg chg="modSp mod">
        <pc:chgData name="Robbin Bouwmeester" userId="1dbfebabfc25a55a" providerId="LiveId" clId="{75D63595-F797-482E-A4A0-2F4889B74D4F}" dt="2026-10-19T14:25:36.553" v="328" actId="255"/>
        <pc:sldMkLst>
          <pc:docMk/>
          <pc:sldMk cId="1836664154" sldId="264"/>
        </pc:sldMkLst>
        <pc:spChg chg="mod">
          <ac:chgData name="Robbin Bouwmeester" userId="1dbfebabfc25a55a" providerId="LiveId" clId="{75D63595-F797-482E-A4A0-2F4889B74D4F}" dt="2026-10-19T14:25:36.553" v="328" actId="255"/>
          <ac:spMkLst>
            <pc:docMk/>
            <pc:sldMk cId="1836664154" sldId="264"/>
            <ac:spMk id="2" creationId="{E34ED3F4-A435-A628-C907-017EB704F005}"/>
          </ac:spMkLst>
        </pc:spChg>
        <pc:picChg chg="mod">
          <ac:chgData name="Robbin Bouwmeester" userId="1dbfebabfc25a55a" providerId="LiveId" clId="{75D63595-F797-482E-A4A0-2F4889B74D4F}" dt="2026-10-19T14:24:32.193" v="193" actId="1035"/>
          <ac:picMkLst>
            <pc:docMk/>
            <pc:sldMk cId="1836664154" sldId="264"/>
            <ac:picMk id="1026" creationId="{3A596A6A-16A8-EEBD-29AE-31D521883EC6}"/>
          </ac:picMkLst>
        </pc:picChg>
      </pc:sldChg>
      <pc:sldChg chg="modSp mod">
        <pc:chgData name="Robbin Bouwmeester" userId="1dbfebabfc25a55a" providerId="LiveId" clId="{75D63595-F797-482E-A4A0-2F4889B74D4F}" dt="2026-10-20T08:36:09.053" v="960" actId="20577"/>
        <pc:sldMkLst>
          <pc:docMk/>
          <pc:sldMk cId="3723209745" sldId="501"/>
        </pc:sldMkLst>
        <pc:spChg chg="mod">
          <ac:chgData name="Robbin Bouwmeester" userId="1dbfebabfc25a55a" providerId="LiveId" clId="{75D63595-F797-482E-A4A0-2F4889B74D4F}" dt="2026-10-20T08:36:09.053" v="960" actId="20577"/>
          <ac:spMkLst>
            <pc:docMk/>
            <pc:sldMk cId="3723209745" sldId="501"/>
            <ac:spMk id="4" creationId="{AC1C5531-79CA-C2A9-F35E-CABE78DBE20D}"/>
          </ac:spMkLst>
        </pc:spChg>
      </pc:sldChg>
      <pc:sldChg chg="modSp mod">
        <pc:chgData name="Robbin Bouwmeester" userId="1dbfebabfc25a55a" providerId="LiveId" clId="{75D63595-F797-482E-A4A0-2F4889B74D4F}" dt="2026-10-19T14:28:04.007" v="632" actId="255"/>
        <pc:sldMkLst>
          <pc:docMk/>
          <pc:sldMk cId="214929670" sldId="589"/>
        </pc:sldMkLst>
        <pc:spChg chg="mod">
          <ac:chgData name="Robbin Bouwmeester" userId="1dbfebabfc25a55a" providerId="LiveId" clId="{75D63595-F797-482E-A4A0-2F4889B74D4F}" dt="2026-10-19T14:28:04.007" v="632" actId="255"/>
          <ac:spMkLst>
            <pc:docMk/>
            <pc:sldMk cId="214929670" sldId="589"/>
            <ac:spMk id="6" creationId="{5EBBD893-8D3D-56F6-246E-6CD7D5E15633}"/>
          </ac:spMkLst>
        </pc:spChg>
      </pc:sldChg>
      <pc:sldChg chg="modSp">
        <pc:chgData name="Robbin Bouwmeester" userId="1dbfebabfc25a55a" providerId="LiveId" clId="{75D63595-F797-482E-A4A0-2F4889B74D4F}" dt="2026-10-20T08:31:05.153" v="635"/>
        <pc:sldMkLst>
          <pc:docMk/>
          <pc:sldMk cId="2116186294" sldId="590"/>
        </pc:sldMkLst>
        <pc:spChg chg="mod">
          <ac:chgData name="Robbin Bouwmeester" userId="1dbfebabfc25a55a" providerId="LiveId" clId="{75D63595-F797-482E-A4A0-2F4889B74D4F}" dt="2026-10-20T08:31:05.153" v="635"/>
          <ac:spMkLst>
            <pc:docMk/>
            <pc:sldMk cId="2116186294" sldId="590"/>
            <ac:spMk id="6" creationId="{76DA1E1B-14E0-8240-7F10-CC1401913BED}"/>
          </ac:spMkLst>
        </pc:spChg>
      </pc:sldChg>
      <pc:sldChg chg="modSp">
        <pc:chgData name="Robbin Bouwmeester" userId="1dbfebabfc25a55a" providerId="LiveId" clId="{75D63595-F797-482E-A4A0-2F4889B74D4F}" dt="2026-10-20T08:33:34.581" v="759"/>
        <pc:sldMkLst>
          <pc:docMk/>
          <pc:sldMk cId="20081744" sldId="591"/>
        </pc:sldMkLst>
        <pc:spChg chg="mod">
          <ac:chgData name="Robbin Bouwmeester" userId="1dbfebabfc25a55a" providerId="LiveId" clId="{75D63595-F797-482E-A4A0-2F4889B74D4F}" dt="2026-10-20T08:33:34.581" v="759"/>
          <ac:spMkLst>
            <pc:docMk/>
            <pc:sldMk cId="20081744" sldId="591"/>
            <ac:spMk id="4" creationId="{D62E94E3-146F-3E01-6677-07A939521EC1}"/>
          </ac:spMkLst>
        </pc:spChg>
      </pc:sldChg>
      <pc:sldChg chg="modSp">
        <pc:chgData name="Robbin Bouwmeester" userId="1dbfebabfc25a55a" providerId="LiveId" clId="{75D63595-F797-482E-A4A0-2F4889B74D4F}" dt="2026-10-20T08:33:37.211" v="760"/>
        <pc:sldMkLst>
          <pc:docMk/>
          <pc:sldMk cId="2720685458" sldId="592"/>
        </pc:sldMkLst>
        <pc:spChg chg="mod">
          <ac:chgData name="Robbin Bouwmeester" userId="1dbfebabfc25a55a" providerId="LiveId" clId="{75D63595-F797-482E-A4A0-2F4889B74D4F}" dt="2026-10-20T08:33:37.211" v="760"/>
          <ac:spMkLst>
            <pc:docMk/>
            <pc:sldMk cId="2720685458" sldId="592"/>
            <ac:spMk id="4" creationId="{10808BA1-4BBB-3B38-4584-91EE285247E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9E4307-97E3-48E4-B22B-3E65CE2A671E}" type="datetimeFigureOut">
              <a:rPr lang="en-GB" smtClean="0"/>
              <a:t>25/10/2026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839FB7-11DA-4D79-8302-69EB827E14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4231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65C11-5B5E-4B09-E3B9-188F54DD8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50C7A9-6000-327F-9784-9DEE34DAF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B68365-3C5A-97CE-6E61-89866ABE70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680D58-B8AF-2ADF-BBDC-980B965A4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839FB7-11DA-4D79-8302-69EB827E14EE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77174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839FB7-11DA-4D79-8302-69EB827E14EE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50197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X</a:t>
            </a:r>
            <a:r>
              <a:rPr lang="nl-BE" baseline="0" dirty="0"/>
              <a:t>-as is predictie</a:t>
            </a:r>
          </a:p>
          <a:p>
            <a:r>
              <a:rPr lang="nl-BE" baseline="0" dirty="0"/>
              <a:t>Y-as is cost van predictie indien y == 1</a:t>
            </a:r>
          </a:p>
          <a:p>
            <a:endParaRPr lang="nl-BE" baseline="0" dirty="0"/>
          </a:p>
          <a:p>
            <a:endParaRPr lang="nl-BE" baseline="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4839FB7-11DA-4D79-8302-69EB827E14EE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19815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baseline="0" dirty="0"/>
              <a:t>Also convex!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057AE92-D5D5-4227-B9E7-799476156D5D}" type="slidenum">
              <a:rPr lang="nl-NL" smtClean="0"/>
              <a:t>14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25427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25/10/2026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1947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25/10/2026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9736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25/10/2026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6197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25/10/2026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5636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25/10/2026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2576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25/10/2026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04826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25/10/2026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163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25/10/2026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5606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25/10/2026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8988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25/10/2026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3504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C3592-CF2E-41CC-9324-DF0416BA06CC}" type="datetimeFigureOut">
              <a:rPr lang="en-GB" smtClean="0"/>
              <a:t>25/10/2026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1384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4C3592-CF2E-41CC-9324-DF0416BA06CC}" type="datetimeFigureOut">
              <a:rPr lang="en-GB" smtClean="0"/>
              <a:t>25/10/2026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F4CE3C-1A5E-4029-8D6E-344131AD5D2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165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B2678-69AD-D39D-7E2F-E061BF4F4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4ED3F4-A435-A628-C907-017EB704F005}"/>
              </a:ext>
            </a:extLst>
          </p:cNvPr>
          <p:cNvSpPr txBox="1"/>
          <p:nvPr/>
        </p:nvSpPr>
        <p:spPr>
          <a:xfrm>
            <a:off x="241301" y="129804"/>
            <a:ext cx="117475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Corbel" panose="020B0503020204020204" pitchFamily="34" charset="0"/>
              </a:rPr>
              <a:t>Classification of breast cancer samples (malignant or benign) based on features from an MRI (radius)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A596A6A-16A8-EEBD-29AE-31D521883E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7998" y="1127200"/>
            <a:ext cx="5374106" cy="5374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366641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655" y="1716789"/>
            <a:ext cx="4657725" cy="4343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97439" y="2575001"/>
            <a:ext cx="411480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dirty="0">
                <a:latin typeface="Calibri" panose="020F0502020204030204" pitchFamily="34" charset="0"/>
              </a:rPr>
              <a:t>We need to make </a:t>
            </a:r>
          </a:p>
          <a:p>
            <a:pPr algn="ctr"/>
            <a:r>
              <a:rPr lang="nl-NL" sz="4000" dirty="0">
                <a:latin typeface="Calibri" panose="020F0502020204030204" pitchFamily="34" charset="0"/>
              </a:rPr>
              <a:t>assumptions </a:t>
            </a:r>
          </a:p>
          <a:p>
            <a:pPr algn="ctr"/>
            <a:r>
              <a:rPr lang="nl-NL" dirty="0">
                <a:latin typeface="Calibri" panose="020F0502020204030204" pitchFamily="34" charset="0"/>
              </a:rPr>
              <a:t>about the </a:t>
            </a:r>
          </a:p>
          <a:p>
            <a:pPr algn="ctr"/>
            <a:r>
              <a:rPr lang="nl-NL" sz="4400" dirty="0">
                <a:latin typeface="Calibri" panose="020F0502020204030204" pitchFamily="34" charset="0"/>
              </a:rPr>
              <a:t>model </a:t>
            </a:r>
          </a:p>
          <a:p>
            <a:pPr algn="ctr"/>
            <a:r>
              <a:rPr lang="nl-NL" dirty="0">
                <a:latin typeface="Calibri" panose="020F0502020204030204" pitchFamily="34" charset="0"/>
              </a:rPr>
              <a:t>that generated the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76274" y="2968013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dirty="0">
                <a:latin typeface="Freestyle Script" panose="030804020302050B0404" pitchFamily="66" charset="0"/>
              </a:rPr>
              <a:t>linear relationship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4050" y="3843033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dirty="0">
                <a:latin typeface="Freestyle Script" panose="030804020302050B0404" pitchFamily="66" charset="0"/>
              </a:rPr>
              <a:t>linear model</a:t>
            </a:r>
          </a:p>
        </p:txBody>
      </p:sp>
      <p:sp>
        <p:nvSpPr>
          <p:cNvPr id="15" name="Arc 14"/>
          <p:cNvSpPr/>
          <p:nvPr/>
        </p:nvSpPr>
        <p:spPr>
          <a:xfrm rot="7582954">
            <a:off x="9211093" y="3019596"/>
            <a:ext cx="403122" cy="544156"/>
          </a:xfrm>
          <a:prstGeom prst="arc">
            <a:avLst/>
          </a:prstGeom>
          <a:noFill/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Arc 15"/>
          <p:cNvSpPr/>
          <p:nvPr/>
        </p:nvSpPr>
        <p:spPr>
          <a:xfrm rot="7582954">
            <a:off x="8704731" y="3871593"/>
            <a:ext cx="403122" cy="544156"/>
          </a:xfrm>
          <a:prstGeom prst="arc">
            <a:avLst/>
          </a:prstGeom>
          <a:noFill/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1500" y="2153231"/>
            <a:ext cx="1247775" cy="4572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D8BA5C6-41D6-D395-1199-AEF8D7ECDB84}"/>
              </a:ext>
            </a:extLst>
          </p:cNvPr>
          <p:cNvSpPr txBox="1"/>
          <p:nvPr/>
        </p:nvSpPr>
        <p:spPr>
          <a:xfrm>
            <a:off x="241301" y="129804"/>
            <a:ext cx="117475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Corbel" panose="020B0503020204020204" pitchFamily="34" charset="0"/>
              </a:rPr>
              <a:t>Classification can be represented as linear regression; and surprisingly it does work. Not very well though…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4993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5797439" y="2575001"/>
            <a:ext cx="411480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dirty="0">
                <a:latin typeface="Calibri" panose="020F0502020204030204" pitchFamily="34" charset="0"/>
              </a:rPr>
              <a:t>We need to make </a:t>
            </a:r>
          </a:p>
          <a:p>
            <a:pPr algn="ctr"/>
            <a:r>
              <a:rPr lang="nl-NL" sz="4000" dirty="0">
                <a:latin typeface="Calibri" panose="020F0502020204030204" pitchFamily="34" charset="0"/>
              </a:rPr>
              <a:t>assumptions </a:t>
            </a:r>
          </a:p>
          <a:p>
            <a:pPr algn="ctr"/>
            <a:r>
              <a:rPr lang="nl-NL" dirty="0">
                <a:latin typeface="Calibri" panose="020F0502020204030204" pitchFamily="34" charset="0"/>
              </a:rPr>
              <a:t>about the </a:t>
            </a:r>
          </a:p>
          <a:p>
            <a:pPr algn="ctr"/>
            <a:r>
              <a:rPr lang="nl-NL" sz="4400" dirty="0">
                <a:latin typeface="Calibri" panose="020F0502020204030204" pitchFamily="34" charset="0"/>
              </a:rPr>
              <a:t>model </a:t>
            </a:r>
          </a:p>
          <a:p>
            <a:pPr algn="ctr"/>
            <a:r>
              <a:rPr lang="nl-NL" dirty="0">
                <a:latin typeface="Calibri" panose="020F0502020204030204" pitchFamily="34" charset="0"/>
              </a:rPr>
              <a:t>that generated the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76274" y="2968013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dirty="0">
                <a:latin typeface="Freestyle Script" panose="030804020302050B0404" pitchFamily="66" charset="0"/>
              </a:rPr>
              <a:t>linearly separable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4050" y="3843033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dirty="0">
                <a:latin typeface="Freestyle Script" panose="030804020302050B0404" pitchFamily="66" charset="0"/>
              </a:rPr>
              <a:t>logistic model</a:t>
            </a:r>
          </a:p>
        </p:txBody>
      </p:sp>
      <p:sp>
        <p:nvSpPr>
          <p:cNvPr id="15" name="Arc 14"/>
          <p:cNvSpPr/>
          <p:nvPr/>
        </p:nvSpPr>
        <p:spPr>
          <a:xfrm rot="7582954">
            <a:off x="9211093" y="3019596"/>
            <a:ext cx="403122" cy="544156"/>
          </a:xfrm>
          <a:prstGeom prst="arc">
            <a:avLst/>
          </a:prstGeom>
          <a:noFill/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6" name="Arc 15"/>
          <p:cNvSpPr/>
          <p:nvPr/>
        </p:nvSpPr>
        <p:spPr>
          <a:xfrm rot="7582954">
            <a:off x="8704731" y="3871593"/>
            <a:ext cx="403122" cy="544156"/>
          </a:xfrm>
          <a:prstGeom prst="arc">
            <a:avLst/>
          </a:prstGeom>
          <a:noFill/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408" y="1714127"/>
            <a:ext cx="4514850" cy="443865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0327" y="4209967"/>
            <a:ext cx="1323975" cy="58102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55DEC6F-96B3-11C5-5AFA-C97854741C46}"/>
              </a:ext>
            </a:extLst>
          </p:cNvPr>
          <p:cNvSpPr txBox="1"/>
          <p:nvPr/>
        </p:nvSpPr>
        <p:spPr>
          <a:xfrm>
            <a:off x="241301" y="129804"/>
            <a:ext cx="117475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Corbel" panose="020B0503020204020204" pitchFamily="34" charset="0"/>
              </a:rPr>
              <a:t>Logistic regression is a much better fit; it has two extremes that are asymptotic to zero and one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99934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408" y="1714127"/>
            <a:ext cx="4514850" cy="443865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0327" y="4209967"/>
            <a:ext cx="1323975" cy="581025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114" y="2602286"/>
            <a:ext cx="3286125" cy="82867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2114" y="3749862"/>
            <a:ext cx="2200275" cy="8763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B6E3953-DDE9-0297-0C11-7B35F4A16D8A}"/>
              </a:ext>
            </a:extLst>
          </p:cNvPr>
          <p:cNvSpPr txBox="1"/>
          <p:nvPr/>
        </p:nvSpPr>
        <p:spPr>
          <a:xfrm>
            <a:off x="241301" y="129804"/>
            <a:ext cx="117475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Corbel" panose="020B0503020204020204" pitchFamily="34" charset="0"/>
              </a:rPr>
              <a:t>Logistic regression is a much better fit; it has two extremes that are asymptotic to zero and one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5972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692BF-FBAB-1344-34C7-E0624DA07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DA3CD6F-F125-68A5-7FCF-A62BE301FE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2114" y="2602286"/>
            <a:ext cx="3286125" cy="8286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9B947C9-E09D-1B6D-E510-E058DDA113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2114" y="3749862"/>
            <a:ext cx="2200275" cy="8763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BBD893-8D3D-56F6-246E-6CD7D5E15633}"/>
              </a:ext>
            </a:extLst>
          </p:cNvPr>
          <p:cNvSpPr txBox="1"/>
          <p:nvPr/>
        </p:nvSpPr>
        <p:spPr>
          <a:xfrm>
            <a:off x="241301" y="129804"/>
            <a:ext cx="117475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Corbel" panose="020B0503020204020204" pitchFamily="34" charset="0"/>
              </a:rPr>
              <a:t>Logistic regression is a much better fit; it has two extremes that are asymptotic to zero and one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8C03AB8-D8B0-0FB8-2F61-564383B645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778" y="1754135"/>
            <a:ext cx="5273497" cy="4534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296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71860-FD85-6EDB-5122-3F0C8753C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3FC8016-2C98-5886-8246-D1E35F6EED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2114" y="2602286"/>
            <a:ext cx="3286125" cy="8286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1A1B4A0-51C0-B0D7-EBF9-46DFA6CF8E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2114" y="3749862"/>
            <a:ext cx="2200275" cy="8763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56D841-5A7C-3024-2098-C796CA82C9FF}"/>
              </a:ext>
            </a:extLst>
          </p:cNvPr>
          <p:cNvSpPr txBox="1"/>
          <p:nvPr/>
        </p:nvSpPr>
        <p:spPr>
          <a:xfrm>
            <a:off x="241301" y="129804"/>
            <a:ext cx="117475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Corbel" panose="020B0503020204020204" pitchFamily="34" charset="0"/>
              </a:rPr>
              <a:t>Logistic regression is a much better fit; it has two extremes that are asymptotic to zero and one</a:t>
            </a:r>
            <a:endParaRPr lang="en-GB" sz="30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B8ED06-C6D3-00A0-07D8-01E54C13DE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375" y="1417940"/>
            <a:ext cx="5349704" cy="4663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0866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6F3CB-B8F8-E9C5-C1D2-7AF31DF99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6A6EF94-0D1B-836E-2E75-9951831694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408" y="1714127"/>
            <a:ext cx="4514850" cy="44386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99CA49E-5D9F-F182-0A13-B4C46EB307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0327" y="4209967"/>
            <a:ext cx="1323975" cy="5810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1FF6F2C-5E82-9A8F-D3D7-D74899C178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114" y="2602286"/>
            <a:ext cx="3286125" cy="8286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C217E4A-CDBB-208C-A982-823DCC4DD3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2114" y="3749862"/>
            <a:ext cx="2200275" cy="8763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6DA1E1B-14E0-8240-7F10-CC1401913BED}"/>
              </a:ext>
            </a:extLst>
          </p:cNvPr>
          <p:cNvSpPr txBox="1"/>
          <p:nvPr/>
        </p:nvSpPr>
        <p:spPr>
          <a:xfrm>
            <a:off x="241301" y="129804"/>
            <a:ext cx="117475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Corbel" panose="020B0503020204020204" pitchFamily="34" charset="0"/>
              </a:rPr>
              <a:t>Logistic regression is a much better fit; it has two extremes that are asymptotic to zero and one</a:t>
            </a:r>
            <a:endParaRPr lang="en-GB" sz="28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61862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46" y="3327306"/>
            <a:ext cx="10991850" cy="2390775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9481" y="1681089"/>
            <a:ext cx="8454392" cy="106211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C1C5531-79CA-C2A9-F35E-CABE78DBE20D}"/>
              </a:ext>
            </a:extLst>
          </p:cNvPr>
          <p:cNvSpPr txBox="1"/>
          <p:nvPr/>
        </p:nvSpPr>
        <p:spPr>
          <a:xfrm>
            <a:off x="241301" y="129804"/>
            <a:ext cx="117475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Corbel" panose="020B0503020204020204" pitchFamily="34" charset="0"/>
              </a:rPr>
              <a:t>Logistic regression also uses a different cost function that is better for classification problems</a:t>
            </a:r>
            <a:endParaRPr lang="en-GB" sz="28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63311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4AE6E-F92C-A0AE-A0C4-3FEBEA354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336D1A1-A6DD-03F5-81DD-3271F78060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46" y="3327306"/>
            <a:ext cx="10991850" cy="239077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F913333-57FE-25EF-282C-97F677B43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9481" y="1681089"/>
            <a:ext cx="8454392" cy="106211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62E94E3-146F-3E01-6677-07A939521EC1}"/>
              </a:ext>
            </a:extLst>
          </p:cNvPr>
          <p:cNvSpPr txBox="1"/>
          <p:nvPr/>
        </p:nvSpPr>
        <p:spPr>
          <a:xfrm>
            <a:off x="241301" y="129804"/>
            <a:ext cx="117475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Corbel" panose="020B0503020204020204" pitchFamily="34" charset="0"/>
              </a:rPr>
              <a:t>Logistic regression also uses a different cost function that is better for classification problems</a:t>
            </a:r>
            <a:endParaRPr lang="en-GB" sz="28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C4B6319-ADD9-530B-D036-8CA8F393EA69}"/>
              </a:ext>
            </a:extLst>
          </p:cNvPr>
          <p:cNvSpPr/>
          <p:nvPr/>
        </p:nvSpPr>
        <p:spPr>
          <a:xfrm>
            <a:off x="4267200" y="1860884"/>
            <a:ext cx="473242" cy="64168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E13FB2-EFFC-B6EA-27C6-6BBD4A82A0BB}"/>
              </a:ext>
            </a:extLst>
          </p:cNvPr>
          <p:cNvSpPr txBox="1"/>
          <p:nvPr/>
        </p:nvSpPr>
        <p:spPr>
          <a:xfrm>
            <a:off x="3072063" y="1096982"/>
            <a:ext cx="34891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Only active when target is “1”</a:t>
            </a:r>
            <a:endParaRPr lang="en-NL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3A6440-AD93-C6F6-2629-09CA96758423}"/>
              </a:ext>
            </a:extLst>
          </p:cNvPr>
          <p:cNvSpPr/>
          <p:nvPr/>
        </p:nvSpPr>
        <p:spPr>
          <a:xfrm>
            <a:off x="6874042" y="1860884"/>
            <a:ext cx="1203158" cy="64168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8D0734-412C-4C73-035F-D9D583D9B108}"/>
              </a:ext>
            </a:extLst>
          </p:cNvPr>
          <p:cNvSpPr txBox="1"/>
          <p:nvPr/>
        </p:nvSpPr>
        <p:spPr>
          <a:xfrm>
            <a:off x="6382871" y="1095080"/>
            <a:ext cx="34891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Only active when target is “0”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00817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F20FD-5007-64BF-832A-9AACD28AA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F1A1D49-B534-AEA6-FBC2-E741FE1929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46" y="3327306"/>
            <a:ext cx="10991850" cy="239077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C348E41-9C49-E3D5-2927-56454C4FB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9481" y="1681089"/>
            <a:ext cx="8454392" cy="106211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0808BA1-4BBB-3B38-4584-91EE285247EC}"/>
              </a:ext>
            </a:extLst>
          </p:cNvPr>
          <p:cNvSpPr txBox="1"/>
          <p:nvPr/>
        </p:nvSpPr>
        <p:spPr>
          <a:xfrm>
            <a:off x="241301" y="129804"/>
            <a:ext cx="117475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Corbel" panose="020B0503020204020204" pitchFamily="34" charset="0"/>
              </a:rPr>
              <a:t>Logistic regression also uses a different cost function that is better for classification problems</a:t>
            </a:r>
            <a:endParaRPr lang="en-GB" sz="28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06854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997" y="1644369"/>
            <a:ext cx="10658475" cy="119062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B5E8FCE-AA6D-3103-054A-84544432CEE5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>
                <a:latin typeface="Corbel" panose="020B0503020204020204" pitchFamily="34" charset="0"/>
              </a:rPr>
              <a:t>Cost function </a:t>
            </a:r>
            <a:r>
              <a:rPr lang="en-US" sz="2800" b="1" dirty="0">
                <a:latin typeface="Corbel" panose="020B0503020204020204" pitchFamily="34" charset="0"/>
              </a:rPr>
              <a:t>penalizes absolute certainty about the class very hard</a:t>
            </a:r>
            <a:endParaRPr lang="en-GB" sz="28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7" name="Picture 6" descr="Chart, line chart&#10;&#10;Description automatically generated">
            <a:extLst>
              <a:ext uri="{FF2B5EF4-FFF2-40B4-BE49-F238E27FC236}">
                <a16:creationId xmlns:a16="http://schemas.microsoft.com/office/drawing/2014/main" id="{3AC9D03E-A732-7175-8D5D-B5571FB4EC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1843" y="2239681"/>
            <a:ext cx="7015046" cy="4200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4098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460" y="1637179"/>
            <a:ext cx="7934325" cy="1181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C452886-C753-5E96-D8D4-6CB3236F3895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Corbel" panose="020B0503020204020204" pitchFamily="34" charset="0"/>
              </a:rPr>
              <a:t>Cost function penalizes absolute certainty about the class very hard</a:t>
            </a:r>
            <a:endParaRPr lang="en-GB" sz="28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7" name="Picture 6" descr="Chart, line chart&#10;&#10;Description automatically generated">
            <a:extLst>
              <a:ext uri="{FF2B5EF4-FFF2-40B4-BE49-F238E27FC236}">
                <a16:creationId xmlns:a16="http://schemas.microsoft.com/office/drawing/2014/main" id="{6DF0A83D-0971-1D82-A477-592713B654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3759" y="2227729"/>
            <a:ext cx="6917004" cy="4141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1993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C1C5531-79CA-C2A9-F35E-CABE78DBE20D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Corbel" panose="020B0503020204020204" pitchFamily="34" charset="0"/>
              </a:rPr>
              <a:t>Cost function penalizes absolute certainty about the class very hard</a:t>
            </a:r>
            <a:endParaRPr lang="en-GB" sz="28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94631CE-FB05-E786-8CE2-67228F5BA0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863" y="1276493"/>
            <a:ext cx="10420965" cy="4594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2097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035051" y="1381124"/>
            <a:ext cx="10195859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Calibri" panose="020F0502020204030204" pitchFamily="34" charset="0"/>
              </a:rPr>
              <a:t>Fit a logistic model</a:t>
            </a: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r>
              <a:rPr lang="en-GB" sz="2000" dirty="0">
                <a:latin typeface="Calibri" panose="020F0502020204030204" pitchFamily="34" charset="0"/>
              </a:rPr>
              <a:t>to the data set such that the cost function</a:t>
            </a: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endParaRPr lang="en-GB" sz="2000" dirty="0">
              <a:latin typeface="Calibri" panose="020F0502020204030204" pitchFamily="34" charset="0"/>
            </a:endParaRPr>
          </a:p>
          <a:p>
            <a:r>
              <a:rPr lang="en-GB" sz="2000" dirty="0">
                <a:latin typeface="Calibri" panose="020F0502020204030204" pitchFamily="34" charset="0"/>
              </a:rPr>
              <a:t>is minimized using gradient descent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9806" y="2084654"/>
            <a:ext cx="7124700" cy="67627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1368" y="5244554"/>
            <a:ext cx="4981575" cy="82867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5579" y="3464459"/>
            <a:ext cx="8454392" cy="10621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A2A9286-3E2C-C846-B564-2AAAE7FF5A2B}"/>
              </a:ext>
            </a:extLst>
          </p:cNvPr>
          <p:cNvSpPr txBox="1"/>
          <p:nvPr/>
        </p:nvSpPr>
        <p:spPr>
          <a:xfrm>
            <a:off x="241301" y="129804"/>
            <a:ext cx="117475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Corbel" panose="020B0503020204020204" pitchFamily="34" charset="0"/>
              </a:rPr>
              <a:t>Formalized version of logistic regression</a:t>
            </a:r>
            <a:endParaRPr lang="en-GB" sz="2800" b="1" dirty="0">
              <a:latin typeface="Corbel" panose="020B0503020204020204" pitchFamily="34" charset="0"/>
              <a:ea typeface="Lato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98732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4367</TotalTime>
  <Words>297</Words>
  <Application>Microsoft Office PowerPoint</Application>
  <PresentationFormat>Widescreen</PresentationFormat>
  <Paragraphs>50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Calibri Light</vt:lpstr>
      <vt:lpstr>Corbel</vt:lpstr>
      <vt:lpstr>Freestyle Script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Robbin Bouwmeester</cp:lastModifiedBy>
  <cp:revision>27</cp:revision>
  <dcterms:created xsi:type="dcterms:W3CDTF">2015-04-25T14:40:16Z</dcterms:created>
  <dcterms:modified xsi:type="dcterms:W3CDTF">2026-10-25T12:08:38Z</dcterms:modified>
</cp:coreProperties>
</file>