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426" r:id="rId5"/>
    <p:sldId id="467" r:id="rId6"/>
    <p:sldId id="471" r:id="rId7"/>
    <p:sldId id="469" r:id="rId8"/>
    <p:sldId id="470" r:id="rId9"/>
    <p:sldId id="472" r:id="rId10"/>
    <p:sldId id="473" r:id="rId11"/>
    <p:sldId id="474" r:id="rId12"/>
    <p:sldId id="475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37" r:id="rId24"/>
    <p:sldId id="438" r:id="rId25"/>
    <p:sldId id="439" r:id="rId26"/>
    <p:sldId id="440" r:id="rId27"/>
    <p:sldId id="441" r:id="rId2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375"/>
    <a:srgbClr val="000000"/>
    <a:srgbClr val="FFD700"/>
    <a:srgbClr val="0000FF"/>
    <a:srgbClr val="FFBF87"/>
    <a:srgbClr val="797979"/>
    <a:srgbClr val="97D097"/>
    <a:srgbClr val="FF9336"/>
    <a:srgbClr val="287BB4"/>
    <a:srgbClr val="004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1" autoAdjust="0"/>
    <p:restoredTop sz="88322" autoAdjust="0"/>
  </p:normalViewPr>
  <p:slideViewPr>
    <p:cSldViewPr snapToGrid="0">
      <p:cViewPr varScale="1">
        <p:scale>
          <a:sx n="84" d="100"/>
          <a:sy n="84" d="100"/>
        </p:scale>
        <p:origin x="55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409D5-E647-45D1-AAD9-978F0D1BB6BA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4AF6D-4288-4A54-B2EA-DFC4C5100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99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5987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995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5780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68719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8143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6301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0127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5158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4007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6969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3572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30880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8705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3048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2121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4972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6537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324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2533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493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22204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6968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80915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7F29F-7CCB-44E8-BF17-9854DC0DDFB7}" type="slidenum">
              <a:rPr lang="nl-BE" smtClean="0"/>
              <a:pPr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33195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99448" y="1276473"/>
            <a:ext cx="9026338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86047" y="3756148"/>
            <a:ext cx="9039181" cy="8228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4837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8" y="1276473"/>
            <a:ext cx="9026338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047" y="3756148"/>
            <a:ext cx="9039181" cy="8228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 dirty="0"/>
          </a:p>
        </p:txBody>
      </p:sp>
      <p:pic>
        <p:nvPicPr>
          <p:cNvPr id="7" name="Logo EN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9" t="11900" r="22794" b="17704"/>
          <a:stretch/>
        </p:blipFill>
        <p:spPr>
          <a:xfrm>
            <a:off x="1786201" y="5615043"/>
            <a:ext cx="1422490" cy="1135698"/>
          </a:xfrm>
          <a:prstGeom prst="rect">
            <a:avLst/>
          </a:prstGeom>
          <a:noFill/>
        </p:spPr>
      </p:pic>
      <p:pic>
        <p:nvPicPr>
          <p:cNvPr id="10" name="Content Placeholder 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4" b="2837"/>
          <a:stretch/>
        </p:blipFill>
        <p:spPr>
          <a:xfrm>
            <a:off x="3089415" y="5754669"/>
            <a:ext cx="1905477" cy="8564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94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9006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96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4560" y="200961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4644949" y="1004973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R:255 G:104 30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44558" y="1438284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0" name="TextBox 9"/>
          <p:cNvSpPr txBox="1"/>
          <p:nvPr userDrawn="1"/>
        </p:nvSpPr>
        <p:spPr>
          <a:xfrm>
            <a:off x="4644949" y="2229137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R:90 G:42 B:130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244560" y="5408251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4585372" y="6219115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R:124 G:124 </a:t>
            </a:r>
            <a:r>
              <a:rPr lang="nl-BE" baseline="0" dirty="0"/>
              <a:t> </a:t>
            </a:r>
            <a:r>
              <a:rPr lang="nl-BE" dirty="0"/>
              <a:t>B:124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231159" y="4070024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/>
          <p:cNvSpPr txBox="1"/>
          <p:nvPr userDrawn="1"/>
        </p:nvSpPr>
        <p:spPr>
          <a:xfrm>
            <a:off x="4711373" y="4878553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R:27 G:41 </a:t>
            </a:r>
            <a:r>
              <a:rPr lang="nl-BE" baseline="0" dirty="0"/>
              <a:t> </a:t>
            </a:r>
            <a:r>
              <a:rPr lang="nl-BE" dirty="0"/>
              <a:t>B:68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4558" y="2731485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4644949" y="3522338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R:66 G:183</a:t>
            </a:r>
            <a:r>
              <a:rPr lang="nl-BE" baseline="0" dirty="0"/>
              <a:t> </a:t>
            </a:r>
            <a:r>
              <a:rPr lang="nl-BE" dirty="0"/>
              <a:t>B:186</a:t>
            </a:r>
          </a:p>
        </p:txBody>
      </p:sp>
      <p:sp>
        <p:nvSpPr>
          <p:cNvPr id="24" name="Isosceles Triangle 23"/>
          <p:cNvSpPr/>
          <p:nvPr userDrawn="1"/>
        </p:nvSpPr>
        <p:spPr>
          <a:xfrm rot="16200000">
            <a:off x="11577830" y="135578"/>
            <a:ext cx="602543" cy="621461"/>
          </a:xfrm>
          <a:prstGeom prst="triangle">
            <a:avLst/>
          </a:prstGeom>
          <a:solidFill>
            <a:srgbClr val="5DB7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13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457199" y="145038"/>
            <a:ext cx="10889087" cy="114284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400" b="0" kern="1200" cap="none" baseline="0" dirty="0">
                <a:solidFill>
                  <a:srgbClr val="109E9A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5" name="Isosceles Triangle 24"/>
          <p:cNvSpPr/>
          <p:nvPr userDrawn="1"/>
        </p:nvSpPr>
        <p:spPr>
          <a:xfrm rot="16200000">
            <a:off x="11577830" y="135578"/>
            <a:ext cx="602543" cy="621461"/>
          </a:xfrm>
          <a:prstGeom prst="triangle">
            <a:avLst/>
          </a:prstGeom>
          <a:solidFill>
            <a:srgbClr val="5DB7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9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/>
          <p:cNvSpPr>
            <a:spLocks noGrp="1"/>
          </p:cNvSpPr>
          <p:nvPr>
            <p:ph type="title"/>
          </p:nvPr>
        </p:nvSpPr>
        <p:spPr>
          <a:xfrm>
            <a:off x="457199" y="145038"/>
            <a:ext cx="10889087" cy="114284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400" b="0" kern="1200" cap="none" baseline="0" dirty="0">
                <a:solidFill>
                  <a:srgbClr val="109E9A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1" name="Isosceles Triangle 20"/>
          <p:cNvSpPr/>
          <p:nvPr userDrawn="1"/>
        </p:nvSpPr>
        <p:spPr>
          <a:xfrm rot="16200000">
            <a:off x="11577830" y="135578"/>
            <a:ext cx="602543" cy="621461"/>
          </a:xfrm>
          <a:prstGeom prst="triangle">
            <a:avLst/>
          </a:prstGeom>
          <a:solidFill>
            <a:srgbClr val="5DB7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62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sosceles Triangle 18"/>
          <p:cNvSpPr/>
          <p:nvPr userDrawn="1"/>
        </p:nvSpPr>
        <p:spPr>
          <a:xfrm rot="10800000">
            <a:off x="11587289" y="0"/>
            <a:ext cx="602543" cy="621461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30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Content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465" y="2896481"/>
            <a:ext cx="2309134" cy="1218318"/>
          </a:xfrm>
          <a:prstGeom prst="rect">
            <a:avLst/>
          </a:prstGeom>
        </p:spPr>
      </p:pic>
      <p:pic>
        <p:nvPicPr>
          <p:cNvPr id="5" name="Logo EN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2" t="14530" r="27153" b="17363"/>
          <a:stretch/>
        </p:blipFill>
        <p:spPr>
          <a:xfrm>
            <a:off x="6375589" y="4114799"/>
            <a:ext cx="1273628" cy="12438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119" y="4273902"/>
            <a:ext cx="1563976" cy="101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1" y="145038"/>
            <a:ext cx="10753785" cy="1143000"/>
          </a:xfrm>
        </p:spPr>
        <p:txBody>
          <a:bodyPr anchor="t">
            <a:normAutofit/>
          </a:bodyPr>
          <a:lstStyle>
            <a:lvl1pPr algn="l">
              <a:defRPr sz="3400" b="0" cap="none" baseline="0">
                <a:solidFill>
                  <a:srgbClr val="109E9A"/>
                </a:solidFill>
                <a:latin typeface="Calibri" panose="020F0502020204030204" pitchFamily="34" charset="0"/>
              </a:defRPr>
            </a:lvl1pPr>
          </a:lstStyle>
          <a:p>
            <a:r>
              <a:rPr lang="nl-NL" dirty="0"/>
              <a:t>Title picture slide</a:t>
            </a:r>
          </a:p>
        </p:txBody>
      </p:sp>
      <p:sp>
        <p:nvSpPr>
          <p:cNvPr id="23" name="Isosceles Triangle 22"/>
          <p:cNvSpPr/>
          <p:nvPr userDrawn="1"/>
        </p:nvSpPr>
        <p:spPr>
          <a:xfrm rot="16200000">
            <a:off x="11476422" y="32002"/>
            <a:ext cx="602543" cy="828615"/>
          </a:xfrm>
          <a:prstGeom prst="triangle">
            <a:avLst/>
          </a:prstGeom>
          <a:solidFill>
            <a:srgbClr val="5DB7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5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25344"/>
            <a:ext cx="193019" cy="33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5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334"/>
            <a:ext cx="10515600" cy="965700"/>
          </a:xfrm>
        </p:spPr>
        <p:txBody>
          <a:bodyPr anchor="t">
            <a:noAutofit/>
          </a:bodyPr>
          <a:lstStyle>
            <a:lvl1pPr>
              <a:defRPr sz="2800"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91552-8AFA-474D-B7E9-58D7BBA1058A}"/>
              </a:ext>
            </a:extLst>
          </p:cNvPr>
          <p:cNvSpPr/>
          <p:nvPr userDrawn="1"/>
        </p:nvSpPr>
        <p:spPr>
          <a:xfrm>
            <a:off x="193691" y="5972879"/>
            <a:ext cx="1265745" cy="7485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B76A4-76C1-42D8-BEA1-3BE35057E4D1}"/>
              </a:ext>
            </a:extLst>
          </p:cNvPr>
          <p:cNvSpPr/>
          <p:nvPr userDrawn="1"/>
        </p:nvSpPr>
        <p:spPr>
          <a:xfrm>
            <a:off x="9490093" y="6041615"/>
            <a:ext cx="2622329" cy="7485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43AC245-1140-4D73-8FA3-6E5BBA32E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489231"/>
            <a:ext cx="835948" cy="365125"/>
          </a:xfrm>
        </p:spPr>
        <p:txBody>
          <a:bodyPr/>
          <a:lstStyle>
            <a:lvl1pPr algn="ctr">
              <a:defRPr sz="900"/>
            </a:lvl1pPr>
          </a:lstStyle>
          <a:p>
            <a:pPr>
              <a:defRPr/>
            </a:pPr>
            <a:fld id="{F7DDE44F-E6FB-4536-B0AF-9A6208612422}" type="slidenum">
              <a:rPr lang="nl-BE" smtClean="0"/>
              <a:pPr>
                <a:defRPr/>
              </a:pPr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4620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3713" y="72647"/>
            <a:ext cx="11043450" cy="868029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br>
              <a:rPr lang="en-US" noProof="0"/>
            </a:br>
            <a:r>
              <a:rPr lang="en-US" noProof="0"/>
              <a:t>second line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26" y="839787"/>
            <a:ext cx="11039437" cy="4708125"/>
          </a:xfrm>
        </p:spPr>
        <p:txBody>
          <a:bodyPr/>
          <a:lstStyle>
            <a:lvl1pPr marL="377143" indent="-316395" defTabSz="321457">
              <a:lnSpc>
                <a:spcPct val="120000"/>
              </a:lnSpc>
              <a:buFont typeface="Arial" panose="020B0604020202020204" pitchFamily="34" charset="0"/>
              <a:buChar char="̶"/>
              <a:defRPr/>
            </a:lvl1pPr>
            <a:lvl2pPr marL="822627" indent="-316395">
              <a:lnSpc>
                <a:spcPct val="120000"/>
              </a:lnSpc>
              <a:defRPr/>
            </a:lvl2pPr>
            <a:lvl3pPr marL="1235206" indent="-316395" defTabSz="321457">
              <a:lnSpc>
                <a:spcPct val="120000"/>
              </a:lnSpc>
              <a:defRPr/>
            </a:lvl3pPr>
            <a:lvl4pPr marL="1637661" indent="-387267" defTabSz="321457">
              <a:lnSpc>
                <a:spcPct val="120000"/>
              </a:lnSpc>
              <a:defRPr/>
            </a:lvl4pPr>
            <a:lvl5pPr marL="2083145" indent="-311333" defTabSz="321457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63577" y="6292057"/>
            <a:ext cx="1615828" cy="365125"/>
          </a:xfrm>
          <a:prstGeom prst="rect">
            <a:avLst/>
          </a:prstGeom>
        </p:spPr>
        <p:txBody>
          <a:bodyPr/>
          <a:lstStyle/>
          <a:p>
            <a:fld id="{4FCCCAF6-1686-4743-9124-83F33F1A0EA9}" type="datetime1">
              <a:rPr lang="en-GB" noProof="0" smtClean="0"/>
              <a:t>26/10/2026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88740" y="6349261"/>
            <a:ext cx="5873958" cy="307921"/>
          </a:xfrm>
          <a:prstGeom prst="rect">
            <a:avLst/>
          </a:prstGeom>
        </p:spPr>
        <p:txBody>
          <a:bodyPr/>
          <a:lstStyle/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2754" y="6292057"/>
            <a:ext cx="648236" cy="365125"/>
          </a:xfrm>
          <a:prstGeom prst="rect">
            <a:avLst/>
          </a:prstGeom>
        </p:spPr>
        <p:txBody>
          <a:bodyPr/>
          <a:lstStyle/>
          <a:p>
            <a:fld id="{7AE184E0-0BD4-4705-A12B-9B71DDE6330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01174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tro/Ou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353485" y="1017588"/>
            <a:ext cx="11366500" cy="5118100"/>
          </a:xfrm>
        </p:spPr>
        <p:txBody>
          <a:bodyPr/>
          <a:lstStyle>
            <a:lvl1pPr>
              <a:defRPr/>
            </a:lvl1pPr>
          </a:lstStyle>
          <a:p>
            <a:r>
              <a:rPr lang="pt-PT" dirty="0"/>
              <a:t>Picture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C1079-0F86-490C-9F83-910CD2418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9230" y="6356350"/>
            <a:ext cx="1104569" cy="365125"/>
          </a:xfrm>
        </p:spPr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43921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/>
          <p:cNvSpPr>
            <a:spLocks noGrp="1"/>
          </p:cNvSpPr>
          <p:nvPr>
            <p:ph type="title"/>
          </p:nvPr>
        </p:nvSpPr>
        <p:spPr>
          <a:xfrm>
            <a:off x="457199" y="78998"/>
            <a:ext cx="10889087" cy="1142849"/>
          </a:xfrm>
          <a:prstGeom prst="rect">
            <a:avLst/>
          </a:prstGeom>
        </p:spPr>
        <p:txBody>
          <a:bodyPr anchor="t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400" b="0" kern="1200" cap="non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Vrije vorm: vorm 12">
            <a:extLst>
              <a:ext uri="{FF2B5EF4-FFF2-40B4-BE49-F238E27FC236}">
                <a16:creationId xmlns:a16="http://schemas.microsoft.com/office/drawing/2014/main" id="{30799754-FDDF-E5CC-533E-57CD29F3C5CB}"/>
              </a:ext>
            </a:extLst>
          </p:cNvPr>
          <p:cNvSpPr/>
          <p:nvPr userDrawn="1"/>
        </p:nvSpPr>
        <p:spPr>
          <a:xfrm rot="16200000">
            <a:off x="11615162" y="455614"/>
            <a:ext cx="777584" cy="388792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4"/>
                </a:lnTo>
                <a:cubicBezTo>
                  <a:pt x="0" y="511784"/>
                  <a:pt x="511784" y="0"/>
                  <a:pt x="1143012" y="0"/>
                </a:cubicBezTo>
                <a:cubicBezTo>
                  <a:pt x="1774242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5E7F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374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23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50" r:id="rId4"/>
    <p:sldLayoutId id="2147483658" r:id="rId5"/>
    <p:sldLayoutId id="2147483652" r:id="rId6"/>
    <p:sldLayoutId id="2147483654" r:id="rId7"/>
    <p:sldLayoutId id="2147483655" r:id="rId8"/>
    <p:sldLayoutId id="2147483660" r:id="rId9"/>
    <p:sldLayoutId id="2147483662" r:id="rId10"/>
    <p:sldLayoutId id="2147483663" r:id="rId11"/>
    <p:sldLayoutId id="2147483664" r:id="rId12"/>
    <p:sldLayoutId id="2147483665" r:id="rId13"/>
    <p:sldLayoutId id="21474836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B2944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4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List of </a:t>
            </a:r>
            <a:r>
              <a:rPr lang="nl-BE" dirty="0" err="1"/>
              <a:t>some</a:t>
            </a:r>
            <a:r>
              <a:rPr lang="nl-BE" dirty="0"/>
              <a:t> </a:t>
            </a:r>
            <a:r>
              <a:rPr lang="nl-BE" dirty="0" err="1"/>
              <a:t>commonly</a:t>
            </a:r>
            <a:r>
              <a:rPr lang="nl-BE" dirty="0"/>
              <a:t> </a:t>
            </a:r>
            <a:r>
              <a:rPr lang="nl-BE" dirty="0" err="1"/>
              <a:t>used</a:t>
            </a:r>
            <a:r>
              <a:rPr lang="nl-BE" dirty="0"/>
              <a:t> </a:t>
            </a:r>
            <a:r>
              <a:rPr lang="nl-BE" dirty="0" err="1"/>
              <a:t>learning</a:t>
            </a:r>
            <a:r>
              <a:rPr lang="nl-BE" dirty="0"/>
              <a:t> </a:t>
            </a:r>
            <a:r>
              <a:rPr lang="nl-BE" dirty="0" err="1"/>
              <a:t>algorithms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00400" y="1676400"/>
            <a:ext cx="6858000" cy="4038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FontTx/>
              <a:buChar char="-"/>
            </a:pPr>
            <a:r>
              <a:rPr lang="nl-BE" sz="2800" dirty="0"/>
              <a:t> </a:t>
            </a:r>
            <a:r>
              <a:rPr lang="nl-BE" sz="2800" dirty="0" err="1"/>
              <a:t>Decision</a:t>
            </a:r>
            <a:r>
              <a:rPr lang="nl-BE" sz="2800" dirty="0"/>
              <a:t> trees</a:t>
            </a:r>
          </a:p>
          <a:p>
            <a:pPr>
              <a:buFontTx/>
              <a:buChar char="-"/>
            </a:pPr>
            <a:r>
              <a:rPr lang="nl-BE" sz="2800" dirty="0"/>
              <a:t> </a:t>
            </a:r>
            <a:r>
              <a:rPr lang="nl-BE" sz="2800" dirty="0" err="1"/>
              <a:t>Neural</a:t>
            </a:r>
            <a:r>
              <a:rPr lang="nl-BE" sz="2800" dirty="0"/>
              <a:t> </a:t>
            </a:r>
            <a:r>
              <a:rPr lang="nl-BE" sz="2800" dirty="0" err="1"/>
              <a:t>networks</a:t>
            </a:r>
            <a:endParaRPr lang="nl-BE" sz="2800" dirty="0"/>
          </a:p>
          <a:p>
            <a:pPr>
              <a:buFontTx/>
              <a:buChar char="-"/>
            </a:pPr>
            <a:r>
              <a:rPr lang="nl-BE" sz="2800" dirty="0"/>
              <a:t> Support vector machines</a:t>
            </a:r>
          </a:p>
          <a:p>
            <a:pPr>
              <a:buFontTx/>
              <a:buChar char="-"/>
            </a:pPr>
            <a:r>
              <a:rPr lang="nl-BE" sz="2800" dirty="0"/>
              <a:t> Random forests</a:t>
            </a:r>
          </a:p>
          <a:p>
            <a:pPr>
              <a:buFontTx/>
              <a:buChar char="-"/>
            </a:pPr>
            <a:r>
              <a:rPr lang="nl-BE" sz="2800" dirty="0"/>
              <a:t> </a:t>
            </a:r>
            <a:r>
              <a:rPr lang="nl-BE" sz="2800" dirty="0" err="1"/>
              <a:t>Nearest</a:t>
            </a:r>
            <a:r>
              <a:rPr lang="nl-BE" sz="2800" dirty="0"/>
              <a:t> </a:t>
            </a:r>
            <a:r>
              <a:rPr lang="nl-BE" sz="2800" dirty="0" err="1"/>
              <a:t>neighbour</a:t>
            </a:r>
            <a:r>
              <a:rPr lang="nl-BE" sz="2800" dirty="0"/>
              <a:t> </a:t>
            </a:r>
            <a:r>
              <a:rPr lang="nl-BE" sz="2800" dirty="0" err="1"/>
              <a:t>algorithms</a:t>
            </a:r>
            <a:endParaRPr lang="nl-BE" sz="2800" dirty="0"/>
          </a:p>
          <a:p>
            <a:pPr>
              <a:buFontTx/>
              <a:buChar char="-"/>
            </a:pPr>
            <a:r>
              <a:rPr lang="nl-BE" sz="2800" dirty="0"/>
              <a:t> ...</a:t>
            </a:r>
          </a:p>
          <a:p>
            <a:pPr>
              <a:buFontTx/>
              <a:buChar char="-"/>
            </a:pPr>
            <a:endParaRPr lang="nl-BE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32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Intermezzo: the binary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521" y="980728"/>
            <a:ext cx="8712968" cy="1800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sz="2600" b="1" dirty="0"/>
              <a:t>Decimal system:   5 273</a:t>
            </a:r>
          </a:p>
          <a:p>
            <a:pPr marL="88900">
              <a:spcAft>
                <a:spcPts val="300"/>
              </a:spcAft>
            </a:pPr>
            <a:endParaRPr lang="en-GB" sz="2200" dirty="0">
              <a:solidFill>
                <a:srgbClr val="00B050"/>
              </a:solidFill>
            </a:endParaRP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</a:tabLst>
            </a:pPr>
            <a:r>
              <a:rPr lang="en-GB" sz="2200" dirty="0">
                <a:solidFill>
                  <a:srgbClr val="0070C0"/>
                </a:solidFill>
              </a:rPr>
              <a:t>	10000	1000	100	10	1</a:t>
            </a: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</a:tabLst>
            </a:pPr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	0	5	2	7	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5521" y="3568281"/>
            <a:ext cx="8712968" cy="24482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sz="2600" b="1" dirty="0"/>
              <a:t>Binary system:	1 / 2 / 9 / 15</a:t>
            </a: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</a:tabLst>
            </a:pPr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en-GB" sz="2200" dirty="0">
                <a:solidFill>
                  <a:srgbClr val="0070C0"/>
                </a:solidFill>
              </a:rPr>
              <a:t>16	8	4	2	1</a:t>
            </a: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  <a:tab pos="6278400" algn="l"/>
                <a:tab pos="6994800" algn="dec"/>
              </a:tabLst>
            </a:pPr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	0	0	0	0	1	</a:t>
            </a:r>
            <a:r>
              <a:rPr lang="en-GB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	1 in decimal</a:t>
            </a: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  <a:tab pos="6278400" algn="l"/>
                <a:tab pos="6994800" algn="dec"/>
              </a:tabLst>
            </a:pPr>
            <a:r>
              <a:rPr lang="en-GB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	0	0	0	1	0		2 in decimal</a:t>
            </a:r>
            <a:endParaRPr lang="en-GB" sz="2600" b="1" dirty="0">
              <a:solidFill>
                <a:schemeClr val="bg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  <a:tab pos="6278400" algn="l"/>
                <a:tab pos="6994800" algn="dec"/>
              </a:tabLst>
            </a:pPr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	0	1	0	0	1	</a:t>
            </a:r>
            <a:r>
              <a:rPr lang="en-GB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	9 in decimal</a:t>
            </a:r>
          </a:p>
          <a:p>
            <a:pPr marL="88900">
              <a:spcAft>
                <a:spcPts val="300"/>
              </a:spcAft>
              <a:tabLst>
                <a:tab pos="1792800" algn="dec"/>
                <a:tab pos="2872800" algn="dec"/>
                <a:tab pos="3855600" algn="dec"/>
                <a:tab pos="4665600" algn="dec"/>
                <a:tab pos="5382000" algn="dec"/>
                <a:tab pos="6278400" algn="l"/>
                <a:tab pos="6994800" algn="dec"/>
              </a:tabLst>
            </a:pPr>
            <a:r>
              <a:rPr lang="en-GB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	0	1	1	1	1		15 in decimal</a:t>
            </a:r>
            <a:endParaRPr lang="en-GB" sz="2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75521" y="6122603"/>
            <a:ext cx="98193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r>
              <a:rPr lang="en-GB" sz="2200" b="1" i="1" dirty="0">
                <a:solidFill>
                  <a:srgbClr val="FF0000"/>
                </a:solidFill>
              </a:rPr>
              <a:t>Every column represents one bit, and every bit (binary digit) has a value of 0 or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8250" y="2846327"/>
            <a:ext cx="10161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r>
              <a:rPr lang="en-GB" sz="2000" b="1" i="1" dirty="0">
                <a:solidFill>
                  <a:schemeClr val="bg1">
                    <a:lumMod val="50000"/>
                  </a:schemeClr>
                </a:solidFill>
              </a:rPr>
              <a:t>Every column represents a decimal, and every decimal digit has a value from 0 to 9 (inclusive)</a:t>
            </a:r>
          </a:p>
        </p:txBody>
      </p:sp>
    </p:spTree>
    <p:extLst>
      <p:ext uri="{BB962C8B-B14F-4D97-AF65-F5344CB8AC3E}">
        <p14:creationId xmlns:p14="http://schemas.microsoft.com/office/powerpoint/2010/main" val="211434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5038"/>
            <a:ext cx="9788926" cy="1142849"/>
          </a:xfrm>
        </p:spPr>
        <p:txBody>
          <a:bodyPr/>
          <a:lstStyle/>
          <a:p>
            <a:r>
              <a:rPr lang="en-GB" dirty="0"/>
              <a:t>Binary counting in the early 18</a:t>
            </a:r>
            <a:r>
              <a:rPr lang="en-GB" baseline="30000" dirty="0"/>
              <a:t>th</a:t>
            </a:r>
            <a:r>
              <a:rPr lang="en-GB" dirty="0"/>
              <a:t> century with Leibniz (in French!)</a:t>
            </a:r>
          </a:p>
        </p:txBody>
      </p:sp>
      <p:pic>
        <p:nvPicPr>
          <p:cNvPr id="2050" name="Picture 2" descr="https://upload.wikimedia.org/wikipedia/commons/a/ac/Leibniz_binary_system_170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9" b="4522"/>
          <a:stretch/>
        </p:blipFill>
        <p:spPr bwMode="auto">
          <a:xfrm>
            <a:off x="3887933" y="1135614"/>
            <a:ext cx="4334396" cy="525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920634" y="6417068"/>
            <a:ext cx="7049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Explication de </a:t>
            </a:r>
            <a:r>
              <a:rPr lang="en-GB" dirty="0" err="1"/>
              <a:t>l'Arithmétique</a:t>
            </a:r>
            <a:r>
              <a:rPr lang="en-GB" dirty="0"/>
              <a:t> </a:t>
            </a:r>
            <a:r>
              <a:rPr lang="en-GB" dirty="0" err="1"/>
              <a:t>Binaire</a:t>
            </a:r>
            <a:r>
              <a:rPr lang="en-GB" dirty="0"/>
              <a:t>, Gottfried Wilhelm von Leibniz, 1703</a:t>
            </a:r>
          </a:p>
        </p:txBody>
      </p:sp>
    </p:spTree>
    <p:extLst>
      <p:ext uri="{BB962C8B-B14F-4D97-AF65-F5344CB8AC3E}">
        <p14:creationId xmlns:p14="http://schemas.microsoft.com/office/powerpoint/2010/main" val="2081130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Entropy, bits, and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521" y="908720"/>
            <a:ext cx="8712968" cy="5472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sz="2200" b="1" dirty="0"/>
              <a:t>DNA has four bases (or four possible ‘states’): A, C, G, and T</a:t>
            </a:r>
          </a:p>
          <a:p>
            <a:pPr>
              <a:spcAft>
                <a:spcPts val="600"/>
              </a:spcAft>
            </a:pPr>
            <a:endParaRPr lang="en-GB" sz="2200" b="1" dirty="0"/>
          </a:p>
          <a:p>
            <a:pPr>
              <a:spcAft>
                <a:spcPts val="600"/>
              </a:spcAft>
            </a:pPr>
            <a:r>
              <a:rPr lang="en-GB" sz="2200" b="1" dirty="0"/>
              <a:t>We can code every base (‘state’) as a number:</a:t>
            </a:r>
          </a:p>
          <a:p>
            <a:pPr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r>
              <a:rPr lang="en-GB" sz="2200" b="1" dirty="0">
                <a:solidFill>
                  <a:srgbClr val="0070C0"/>
                </a:solidFill>
              </a:rPr>
              <a:t>	A </a:t>
            </a:r>
            <a:r>
              <a:rPr lang="en-GB" sz="2200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GB" sz="2200" b="1" dirty="0">
                <a:solidFill>
                  <a:srgbClr val="0070C0"/>
                </a:solidFill>
              </a:rPr>
              <a:t>0			C </a:t>
            </a:r>
            <a:r>
              <a:rPr lang="en-GB" sz="2200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GB" sz="2200" b="1" dirty="0">
                <a:solidFill>
                  <a:srgbClr val="0070C0"/>
                </a:solidFill>
              </a:rPr>
              <a:t>1		G </a:t>
            </a:r>
            <a:r>
              <a:rPr lang="en-GB" sz="2200" b="1" dirty="0">
                <a:solidFill>
                  <a:srgbClr val="0070C0"/>
                </a:solidFill>
                <a:sym typeface="Wingdings" panose="05000000000000000000" pitchFamily="2" charset="2"/>
              </a:rPr>
              <a:t> 2		T  3</a:t>
            </a:r>
            <a:r>
              <a:rPr lang="en-GB" sz="2200" b="1" dirty="0">
                <a:solidFill>
                  <a:srgbClr val="0070C0"/>
                </a:solidFill>
              </a:rPr>
              <a:t> </a:t>
            </a:r>
          </a:p>
          <a:p>
            <a:pPr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endParaRPr lang="en-GB" sz="2200" b="1" dirty="0"/>
          </a:p>
          <a:p>
            <a:pPr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r>
              <a:rPr lang="en-GB" sz="2200" b="1" dirty="0"/>
              <a:t>We can write these four decimal numbers in binary as well:</a:t>
            </a:r>
          </a:p>
          <a:p>
            <a:pPr>
              <a:spcAft>
                <a:spcPts val="600"/>
              </a:spcAft>
              <a:tabLst>
                <a:tab pos="1522413" algn="ctr"/>
                <a:tab pos="3768725" algn="ctr"/>
                <a:tab pos="6008688" algn="ctr"/>
              </a:tabLst>
            </a:pPr>
            <a:r>
              <a:rPr lang="en-GB" sz="2200" b="1" dirty="0"/>
              <a:t>	</a:t>
            </a:r>
            <a:r>
              <a:rPr lang="en-GB" sz="2200" b="1" dirty="0">
                <a:solidFill>
                  <a:srgbClr val="0070C0"/>
                </a:solidFill>
              </a:rPr>
              <a:t>base	decimal	binary	</a:t>
            </a:r>
          </a:p>
          <a:p>
            <a:pPr>
              <a:spcAft>
                <a:spcPts val="600"/>
              </a:spcAft>
              <a:tabLst>
                <a:tab pos="1522413" algn="ctr"/>
                <a:tab pos="3768725" algn="ctr"/>
                <a:tab pos="6008688" algn="ctr"/>
              </a:tabLst>
            </a:pPr>
            <a:r>
              <a:rPr lang="en-GB" sz="2200" b="1" dirty="0">
                <a:solidFill>
                  <a:srgbClr val="00B0F0"/>
                </a:solidFill>
              </a:rPr>
              <a:t>	</a:t>
            </a:r>
            <a:r>
              <a:rPr lang="en-GB" sz="2200" b="1" dirty="0">
                <a:solidFill>
                  <a:schemeClr val="bg1">
                    <a:lumMod val="50000"/>
                  </a:schemeClr>
                </a:solidFill>
              </a:rPr>
              <a:t>A	0	00</a:t>
            </a:r>
          </a:p>
          <a:p>
            <a:pPr>
              <a:spcAft>
                <a:spcPts val="600"/>
              </a:spcAft>
              <a:tabLst>
                <a:tab pos="1522413" algn="ctr"/>
                <a:tab pos="3768725" algn="ctr"/>
                <a:tab pos="6008688" algn="ctr"/>
              </a:tabLst>
            </a:pPr>
            <a:r>
              <a:rPr lang="en-GB" sz="2200" b="1" dirty="0">
                <a:solidFill>
                  <a:schemeClr val="bg1">
                    <a:lumMod val="50000"/>
                  </a:schemeClr>
                </a:solidFill>
              </a:rPr>
              <a:t>	C	1	01</a:t>
            </a:r>
          </a:p>
          <a:p>
            <a:pPr>
              <a:spcAft>
                <a:spcPts val="600"/>
              </a:spcAft>
              <a:tabLst>
                <a:tab pos="1522413" algn="ctr"/>
                <a:tab pos="3768725" algn="ctr"/>
                <a:tab pos="6008688" algn="ctr"/>
              </a:tabLst>
            </a:pPr>
            <a:r>
              <a:rPr lang="en-GB" sz="2200" b="1" dirty="0">
                <a:solidFill>
                  <a:schemeClr val="bg1">
                    <a:lumMod val="50000"/>
                  </a:schemeClr>
                </a:solidFill>
              </a:rPr>
              <a:t>	G	2	10</a:t>
            </a:r>
          </a:p>
          <a:p>
            <a:pPr>
              <a:spcAft>
                <a:spcPts val="600"/>
              </a:spcAft>
              <a:tabLst>
                <a:tab pos="1522413" algn="ctr"/>
                <a:tab pos="3768725" algn="ctr"/>
                <a:tab pos="6008688" algn="ctr"/>
              </a:tabLst>
            </a:pPr>
            <a:r>
              <a:rPr lang="en-GB" sz="2200" b="1" dirty="0">
                <a:solidFill>
                  <a:schemeClr val="bg1">
                    <a:lumMod val="50000"/>
                  </a:schemeClr>
                </a:solidFill>
              </a:rPr>
              <a:t>	T	3	11</a:t>
            </a:r>
            <a:endParaRPr lang="en-GB" sz="2200" b="1" dirty="0"/>
          </a:p>
          <a:p>
            <a:pPr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endParaRPr lang="en-GB" sz="2200" b="1" i="1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  <a:tabLst>
                <a:tab pos="895350" algn="l"/>
                <a:tab pos="1257300" algn="l"/>
                <a:tab pos="1614488" algn="l"/>
              </a:tabLst>
            </a:pPr>
            <a:r>
              <a:rPr lang="en-GB" sz="2200" b="1" i="1" dirty="0">
                <a:solidFill>
                  <a:srgbClr val="FF0000"/>
                </a:solidFill>
              </a:rPr>
              <a:t>	</a:t>
            </a:r>
            <a:r>
              <a:rPr lang="en-GB" sz="22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  </a:t>
            </a:r>
            <a:r>
              <a:rPr lang="en-GB" sz="2200" b="1" i="1" dirty="0">
                <a:solidFill>
                  <a:srgbClr val="FF0000"/>
                </a:solidFill>
              </a:rPr>
              <a:t>We need two bits to encode these four bases</a:t>
            </a:r>
            <a:r>
              <a:rPr lang="en-BE" sz="2200" b="1" i="1" dirty="0">
                <a:solidFill>
                  <a:srgbClr val="FF0000"/>
                </a:solidFill>
              </a:rPr>
              <a:t>.</a:t>
            </a:r>
            <a:endParaRPr lang="en-GB" sz="22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79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Maximal entropy for a system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26F9A-8961-4AF1-852A-DA682D86A626}"/>
              </a:ext>
            </a:extLst>
          </p:cNvPr>
          <p:cNvGrpSpPr/>
          <p:nvPr/>
        </p:nvGrpSpPr>
        <p:grpSpPr>
          <a:xfrm>
            <a:off x="1846746" y="2340161"/>
            <a:ext cx="8433691" cy="3364217"/>
            <a:chOff x="652874" y="2596096"/>
            <a:chExt cx="8433691" cy="3364217"/>
          </a:xfrm>
        </p:grpSpPr>
        <p:sp>
          <p:nvSpPr>
            <p:cNvPr id="6" name="Rectangle 5"/>
            <p:cNvSpPr/>
            <p:nvPr/>
          </p:nvSpPr>
          <p:spPr>
            <a:xfrm>
              <a:off x="2245946" y="2596096"/>
              <a:ext cx="465210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nl-BE" sz="2600" dirty="0" err="1">
                  <a:solidFill>
                    <a:srgbClr val="0070C0"/>
                  </a:solidFill>
                </a:rPr>
                <a:t>maximal</a:t>
              </a:r>
              <a:r>
                <a:rPr lang="nl-BE" sz="2600" dirty="0">
                  <a:solidFill>
                    <a:srgbClr val="0070C0"/>
                  </a:solidFill>
                </a:rPr>
                <a:t> </a:t>
              </a:r>
              <a:r>
                <a:rPr lang="nl-BE" sz="2600" dirty="0" err="1">
                  <a:solidFill>
                    <a:srgbClr val="0070C0"/>
                  </a:solidFill>
                </a:rPr>
                <a:t>entropy</a:t>
              </a:r>
              <a:r>
                <a:rPr lang="nl-BE" sz="2600" dirty="0">
                  <a:solidFill>
                    <a:srgbClr val="0070C0"/>
                  </a:solidFill>
                </a:rPr>
                <a:t> = log</a:t>
              </a:r>
              <a:r>
                <a:rPr lang="nl-BE" sz="2600" baseline="-25000" dirty="0">
                  <a:solidFill>
                    <a:srgbClr val="0070C0"/>
                  </a:solidFill>
                </a:rPr>
                <a:t>2</a:t>
              </a:r>
              <a:r>
                <a:rPr lang="nl-BE" sz="2600" dirty="0">
                  <a:solidFill>
                    <a:srgbClr val="0070C0"/>
                  </a:solidFill>
                </a:rPr>
                <a:t>(#states)</a:t>
              </a:r>
              <a:endParaRPr lang="en-GB" sz="2600" dirty="0">
                <a:solidFill>
                  <a:srgbClr val="0070C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3275856" y="3100152"/>
              <a:ext cx="2304256" cy="5760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52874" y="3747810"/>
              <a:ext cx="42723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dirty="0" err="1"/>
                <a:t>Logarithm</a:t>
              </a:r>
              <a:r>
                <a:rPr lang="nl-BE" dirty="0"/>
                <a:t> base 2 </a:t>
              </a:r>
              <a:r>
                <a:rPr lang="nl-BE" dirty="0" err="1"/>
                <a:t>because</a:t>
              </a:r>
              <a:r>
                <a:rPr lang="nl-BE" dirty="0"/>
                <a:t> we </a:t>
              </a:r>
              <a:r>
                <a:rPr lang="nl-BE" dirty="0" err="1"/>
                <a:t>count</a:t>
              </a:r>
              <a:r>
                <a:rPr lang="nl-BE" dirty="0"/>
                <a:t> in bits,</a:t>
              </a:r>
            </a:p>
            <a:p>
              <a:r>
                <a:rPr lang="nl-BE" dirty="0" err="1"/>
                <a:t>that</a:t>
              </a:r>
              <a:r>
                <a:rPr lang="nl-BE" dirty="0"/>
                <a:t> </a:t>
              </a:r>
              <a:r>
                <a:rPr lang="nl-BE" dirty="0" err="1"/>
                <a:t>can</a:t>
              </a:r>
              <a:r>
                <a:rPr lang="nl-BE" dirty="0"/>
                <a:t> take </a:t>
              </a:r>
              <a:r>
                <a:rPr lang="nl-BE" dirty="0" err="1"/>
                <a:t>one</a:t>
              </a:r>
              <a:r>
                <a:rPr lang="nl-BE" dirty="0"/>
                <a:t> of </a:t>
              </a:r>
              <a:r>
                <a:rPr lang="nl-BE" dirty="0" err="1"/>
                <a:t>two</a:t>
              </a:r>
              <a:r>
                <a:rPr lang="nl-BE" dirty="0"/>
                <a:t> </a:t>
              </a:r>
              <a:r>
                <a:rPr lang="nl-BE" dirty="0" err="1"/>
                <a:t>values</a:t>
              </a:r>
              <a:r>
                <a:rPr lang="nl-BE" dirty="0"/>
                <a:t>: 0 or 1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6372200" y="3088539"/>
              <a:ext cx="0" cy="202783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730675" y="5313982"/>
              <a:ext cx="5355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dirty="0" err="1"/>
                <a:t>Number</a:t>
              </a:r>
              <a:r>
                <a:rPr lang="nl-BE" dirty="0"/>
                <a:t> of </a:t>
              </a:r>
              <a:r>
                <a:rPr lang="nl-BE" dirty="0" err="1"/>
                <a:t>possible</a:t>
              </a:r>
              <a:r>
                <a:rPr lang="nl-BE" dirty="0"/>
                <a:t> </a:t>
              </a:r>
              <a:r>
                <a:rPr lang="nl-BE" dirty="0" err="1"/>
                <a:t>states</a:t>
              </a:r>
              <a:r>
                <a:rPr lang="nl-BE" dirty="0"/>
                <a:t> </a:t>
              </a:r>
              <a:r>
                <a:rPr lang="nl-BE" dirty="0" err="1"/>
                <a:t>that</a:t>
              </a:r>
              <a:r>
                <a:rPr lang="nl-BE" dirty="0"/>
                <a:t> </a:t>
              </a:r>
              <a:r>
                <a:rPr lang="nl-BE" dirty="0" err="1"/>
                <a:t>the</a:t>
              </a:r>
              <a:r>
                <a:rPr lang="nl-BE" dirty="0"/>
                <a:t> system </a:t>
              </a:r>
              <a:r>
                <a:rPr lang="nl-BE" dirty="0" err="1"/>
                <a:t>can</a:t>
              </a:r>
              <a:r>
                <a:rPr lang="nl-BE" dirty="0"/>
                <a:t> </a:t>
              </a:r>
              <a:r>
                <a:rPr lang="nl-BE" dirty="0" err="1"/>
                <a:t>occupy</a:t>
              </a:r>
              <a:r>
                <a:rPr lang="nl-BE" dirty="0"/>
                <a:t>,</a:t>
              </a:r>
            </a:p>
            <a:p>
              <a:r>
                <a:rPr lang="nl-BE" dirty="0"/>
                <a:t>e.g., </a:t>
              </a:r>
              <a:r>
                <a:rPr lang="nl-BE" dirty="0" err="1"/>
                <a:t>four</a:t>
              </a:r>
              <a:r>
                <a:rPr lang="nl-BE" dirty="0"/>
                <a:t> different </a:t>
              </a:r>
              <a:r>
                <a:rPr lang="nl-BE" dirty="0" err="1"/>
                <a:t>states</a:t>
              </a:r>
              <a:r>
                <a:rPr lang="nl-BE" dirty="0"/>
                <a:t> </a:t>
              </a:r>
              <a:r>
                <a:rPr lang="nl-BE" dirty="0" err="1"/>
                <a:t>for</a:t>
              </a:r>
              <a:r>
                <a:rPr lang="nl-BE" dirty="0"/>
                <a:t> a DNA base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828101" y="908721"/>
            <a:ext cx="9243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The </a:t>
            </a:r>
            <a:r>
              <a:rPr lang="nl-BE" sz="2400" dirty="0" err="1">
                <a:solidFill>
                  <a:srgbClr val="00B050"/>
                </a:solidFill>
              </a:rPr>
              <a:t>maximal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entropy</a:t>
            </a:r>
            <a:r>
              <a:rPr lang="nl-BE" sz="2400" dirty="0">
                <a:solidFill>
                  <a:srgbClr val="00B050"/>
                </a:solidFill>
              </a:rPr>
              <a:t> of a system is </a:t>
            </a:r>
            <a:r>
              <a:rPr lang="nl-BE" sz="2400" dirty="0" err="1">
                <a:solidFill>
                  <a:srgbClr val="00B050"/>
                </a:solidFill>
              </a:rPr>
              <a:t>equal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to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the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minimal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number</a:t>
            </a:r>
            <a:r>
              <a:rPr lang="nl-BE" sz="2400" dirty="0">
                <a:solidFill>
                  <a:srgbClr val="00B050"/>
                </a:solidFill>
              </a:rPr>
              <a:t> of bits</a:t>
            </a:r>
          </a:p>
          <a:p>
            <a:r>
              <a:rPr lang="nl-BE" sz="2400" dirty="0" err="1">
                <a:solidFill>
                  <a:srgbClr val="00B050"/>
                </a:solidFill>
              </a:rPr>
              <a:t>needed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to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encode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all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possible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states</a:t>
            </a:r>
            <a:r>
              <a:rPr lang="nl-BE" sz="2400" dirty="0">
                <a:solidFill>
                  <a:srgbClr val="00B050"/>
                </a:solidFill>
              </a:rPr>
              <a:t> of </a:t>
            </a:r>
            <a:r>
              <a:rPr lang="nl-BE" sz="2400" dirty="0" err="1">
                <a:solidFill>
                  <a:srgbClr val="00B050"/>
                </a:solidFill>
              </a:rPr>
              <a:t>that</a:t>
            </a:r>
            <a:r>
              <a:rPr lang="nl-BE" sz="2400" dirty="0">
                <a:solidFill>
                  <a:srgbClr val="00B050"/>
                </a:solidFill>
              </a:rPr>
              <a:t> systeem.</a:t>
            </a:r>
          </a:p>
        </p:txBody>
      </p:sp>
    </p:spTree>
    <p:extLst>
      <p:ext uri="{BB962C8B-B14F-4D97-AF65-F5344CB8AC3E}">
        <p14:creationId xmlns:p14="http://schemas.microsoft.com/office/powerpoint/2010/main" val="247185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maximal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8646" y="3501008"/>
            <a:ext cx="9647639" cy="27363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70C0"/>
                </a:solidFill>
              </a:rPr>
              <a:t>The </a:t>
            </a:r>
            <a:r>
              <a:rPr lang="nl-BE" sz="2200" dirty="0" err="1">
                <a:solidFill>
                  <a:srgbClr val="0070C0"/>
                </a:solidFill>
              </a:rPr>
              <a:t>maximal</a:t>
            </a:r>
            <a:r>
              <a:rPr lang="nl-BE" sz="2200" dirty="0">
                <a:solidFill>
                  <a:srgbClr val="0070C0"/>
                </a:solidFill>
              </a:rPr>
              <a:t> </a:t>
            </a:r>
            <a:r>
              <a:rPr lang="nl-BE" sz="2200" dirty="0" err="1">
                <a:solidFill>
                  <a:srgbClr val="0070C0"/>
                </a:solidFill>
              </a:rPr>
              <a:t>entropy</a:t>
            </a:r>
            <a:r>
              <a:rPr lang="nl-BE" sz="2200" dirty="0">
                <a:solidFill>
                  <a:srgbClr val="0070C0"/>
                </a:solidFill>
              </a:rPr>
              <a:t> of a single letter in </a:t>
            </a:r>
            <a:r>
              <a:rPr lang="nl-BE" sz="2200" dirty="0" err="1">
                <a:solidFill>
                  <a:srgbClr val="0070C0"/>
                </a:solidFill>
              </a:rPr>
              <a:t>the</a:t>
            </a:r>
            <a:r>
              <a:rPr lang="nl-BE" sz="2200" dirty="0">
                <a:solidFill>
                  <a:srgbClr val="0070C0"/>
                </a:solidFill>
              </a:rPr>
              <a:t> western </a:t>
            </a:r>
            <a:r>
              <a:rPr lang="nl-BE" sz="2200" dirty="0" err="1">
                <a:solidFill>
                  <a:srgbClr val="0070C0"/>
                </a:solidFill>
              </a:rPr>
              <a:t>alphabet</a:t>
            </a:r>
            <a:r>
              <a:rPr lang="nl-BE" sz="2200" dirty="0">
                <a:solidFill>
                  <a:srgbClr val="0070C0"/>
                </a:solidFill>
              </a:rPr>
              <a:t> is </a:t>
            </a:r>
            <a:r>
              <a:rPr lang="nl-BE" sz="2200" dirty="0" err="1">
                <a:solidFill>
                  <a:srgbClr val="0070C0"/>
                </a:solidFill>
              </a:rPr>
              <a:t>just</a:t>
            </a:r>
            <a:r>
              <a:rPr lang="nl-BE" sz="2200" dirty="0">
                <a:solidFill>
                  <a:srgbClr val="0070C0"/>
                </a:solidFill>
              </a:rPr>
              <a:t> over 4.7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There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are 26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possible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states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: A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Z (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inclusive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We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need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more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than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four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bits, but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less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than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five complete bits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encode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this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marL="1003300" lvl="2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0 / B  1 / … / Y  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24 / Z 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25 	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and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25 = 11001 in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binary</a:t>
            </a:r>
            <a:endParaRPr lang="nl-BE" sz="2200" dirty="0">
              <a:solidFill>
                <a:schemeClr val="bg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539750" lvl="2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More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precisely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:</a:t>
            </a:r>
          </a:p>
          <a:p>
            <a:pPr marL="987425" lvl="2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(26) = 4.70044 (</a:t>
            </a:r>
            <a:r>
              <a:rPr lang="nl-BE" sz="2200" i="1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rounded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  <a:endParaRPr lang="nl-BE" sz="2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9516" y="908720"/>
            <a:ext cx="8712968" cy="2376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B050"/>
                </a:solidFill>
              </a:rPr>
              <a:t>The </a:t>
            </a:r>
            <a:r>
              <a:rPr lang="nl-BE" sz="2200" dirty="0" err="1">
                <a:solidFill>
                  <a:srgbClr val="00B050"/>
                </a:solidFill>
              </a:rPr>
              <a:t>maximal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entropy</a:t>
            </a:r>
            <a:r>
              <a:rPr lang="nl-BE" sz="2200" dirty="0">
                <a:solidFill>
                  <a:srgbClr val="00B050"/>
                </a:solidFill>
              </a:rPr>
              <a:t> of </a:t>
            </a:r>
            <a:r>
              <a:rPr lang="nl-BE" sz="2200" dirty="0" err="1">
                <a:solidFill>
                  <a:srgbClr val="00B050"/>
                </a:solidFill>
              </a:rPr>
              <a:t>the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biological</a:t>
            </a:r>
            <a:r>
              <a:rPr lang="nl-BE" sz="2200" dirty="0">
                <a:solidFill>
                  <a:srgbClr val="00B050"/>
                </a:solidFill>
              </a:rPr>
              <a:t> system “</a:t>
            </a:r>
            <a:r>
              <a:rPr lang="nl-BE" sz="2200" dirty="0" err="1">
                <a:solidFill>
                  <a:srgbClr val="00B050"/>
                </a:solidFill>
              </a:rPr>
              <a:t>sex</a:t>
            </a:r>
            <a:r>
              <a:rPr lang="nl-BE" sz="2200" dirty="0">
                <a:solidFill>
                  <a:srgbClr val="00B050"/>
                </a:solidFill>
              </a:rPr>
              <a:t>” is 1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two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states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possible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: XY en XX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1 bit is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enough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code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this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marL="1003300" lvl="2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XY 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0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XX 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1</a:t>
            </a:r>
          </a:p>
          <a:p>
            <a:pPr marL="539750" lvl="2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or:</a:t>
            </a:r>
          </a:p>
          <a:p>
            <a:pPr marL="987425" lvl="2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(2) = 1</a:t>
            </a:r>
            <a:endParaRPr lang="nl-BE" sz="2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30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concept of local entropy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7CD733-F0D1-4B21-8470-20A9E6D1CE96}"/>
              </a:ext>
            </a:extLst>
          </p:cNvPr>
          <p:cNvGrpSpPr/>
          <p:nvPr/>
        </p:nvGrpSpPr>
        <p:grpSpPr>
          <a:xfrm>
            <a:off x="2102417" y="2564905"/>
            <a:ext cx="6479889" cy="3134315"/>
            <a:chOff x="290384" y="2564904"/>
            <a:chExt cx="6479889" cy="3134315"/>
          </a:xfrm>
        </p:grpSpPr>
        <p:sp>
          <p:nvSpPr>
            <p:cNvPr id="5" name="Rectangle 4"/>
            <p:cNvSpPr/>
            <p:nvPr/>
          </p:nvSpPr>
          <p:spPr>
            <a:xfrm>
              <a:off x="2441844" y="2564904"/>
              <a:ext cx="4328429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sz="2600" dirty="0" err="1">
                  <a:solidFill>
                    <a:srgbClr val="0070C0"/>
                  </a:solidFill>
                </a:rPr>
                <a:t>Local</a:t>
              </a:r>
              <a:r>
                <a:rPr lang="nl-BE" sz="2600" dirty="0">
                  <a:solidFill>
                    <a:srgbClr val="0070C0"/>
                  </a:solidFill>
                </a:rPr>
                <a:t> </a:t>
              </a:r>
              <a:r>
                <a:rPr lang="nl-BE" sz="2600" dirty="0" err="1">
                  <a:solidFill>
                    <a:srgbClr val="0070C0"/>
                  </a:solidFill>
                </a:rPr>
                <a:t>entropy</a:t>
              </a:r>
              <a:r>
                <a:rPr lang="nl-BE" sz="2600" dirty="0">
                  <a:solidFill>
                    <a:srgbClr val="0070C0"/>
                  </a:solidFill>
                </a:rPr>
                <a:t> = –</a:t>
              </a:r>
              <a:r>
                <a:rPr lang="en-US" sz="2600" dirty="0">
                  <a:solidFill>
                    <a:srgbClr val="0070C0"/>
                  </a:solidFill>
                </a:rPr>
                <a:t> ∑ (p</a:t>
              </a:r>
              <a:r>
                <a:rPr lang="en-US" sz="2600" baseline="-25000" dirty="0">
                  <a:solidFill>
                    <a:srgbClr val="0070C0"/>
                  </a:solidFill>
                </a:rPr>
                <a:t>i</a:t>
              </a:r>
              <a:r>
                <a:rPr lang="en-US" sz="2600" dirty="0">
                  <a:solidFill>
                    <a:srgbClr val="0070C0"/>
                  </a:solidFill>
                </a:rPr>
                <a:t> log</a:t>
              </a:r>
              <a:r>
                <a:rPr lang="en-US" sz="2600" baseline="-25000" dirty="0">
                  <a:solidFill>
                    <a:srgbClr val="0070C0"/>
                  </a:solidFill>
                </a:rPr>
                <a:t>2</a:t>
              </a:r>
              <a:r>
                <a:rPr lang="en-US" sz="2600" dirty="0">
                  <a:solidFill>
                    <a:srgbClr val="0070C0"/>
                  </a:solidFill>
                </a:rPr>
                <a:t>(p</a:t>
              </a:r>
              <a:r>
                <a:rPr lang="en-US" sz="2600" baseline="-25000" dirty="0">
                  <a:solidFill>
                    <a:srgbClr val="0070C0"/>
                  </a:solidFill>
                </a:rPr>
                <a:t>i</a:t>
              </a:r>
              <a:r>
                <a:rPr lang="en-US" sz="2600" dirty="0">
                  <a:solidFill>
                    <a:srgbClr val="0070C0"/>
                  </a:solidFill>
                </a:rPr>
                <a:t>))</a:t>
              </a:r>
              <a:endParaRPr lang="en-GB" sz="2600" dirty="0">
                <a:solidFill>
                  <a:srgbClr val="0070C0"/>
                </a:solidFill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2223839" y="3057347"/>
              <a:ext cx="2747065" cy="72251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0384" y="3779863"/>
              <a:ext cx="381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dirty="0" err="1"/>
                <a:t>Sum</a:t>
              </a:r>
              <a:r>
                <a:rPr lang="nl-BE" dirty="0"/>
                <a:t> </a:t>
              </a:r>
              <a:r>
                <a:rPr lang="nl-BE" dirty="0" err="1"/>
                <a:t>across</a:t>
              </a:r>
              <a:r>
                <a:rPr lang="nl-BE" dirty="0"/>
                <a:t> </a:t>
              </a:r>
              <a:r>
                <a:rPr lang="nl-BE" dirty="0" err="1"/>
                <a:t>all</a:t>
              </a:r>
              <a:r>
                <a:rPr lang="nl-BE" dirty="0"/>
                <a:t> </a:t>
              </a:r>
              <a:r>
                <a:rPr lang="nl-BE" dirty="0" err="1"/>
                <a:t>actually</a:t>
              </a:r>
              <a:r>
                <a:rPr lang="nl-BE" dirty="0"/>
                <a:t> </a:t>
              </a:r>
              <a:r>
                <a:rPr lang="nl-BE" dirty="0" err="1"/>
                <a:t>occuring</a:t>
              </a:r>
              <a:r>
                <a:rPr lang="nl-BE" dirty="0"/>
                <a:t> </a:t>
              </a:r>
              <a:r>
                <a:rPr lang="nl-BE" dirty="0" err="1"/>
                <a:t>states</a:t>
              </a:r>
              <a:endParaRPr lang="nl-BE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421118" y="3231616"/>
              <a:ext cx="0" cy="202783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384590" y="5329887"/>
              <a:ext cx="2351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dirty="0" err="1"/>
                <a:t>Frequency</a:t>
              </a:r>
              <a:r>
                <a:rPr lang="nl-BE" dirty="0"/>
                <a:t> of </a:t>
              </a:r>
              <a:r>
                <a:rPr lang="nl-BE" dirty="0" err="1"/>
                <a:t>this</a:t>
              </a:r>
              <a:r>
                <a:rPr lang="nl-BE" dirty="0"/>
                <a:t> state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5781158" y="3231616"/>
              <a:ext cx="576063" cy="202783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2024698" y="908721"/>
            <a:ext cx="8103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The </a:t>
            </a:r>
            <a:r>
              <a:rPr lang="nl-BE" sz="2400" dirty="0" err="1">
                <a:solidFill>
                  <a:srgbClr val="00B050"/>
                </a:solidFill>
              </a:rPr>
              <a:t>local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entropy</a:t>
            </a:r>
            <a:r>
              <a:rPr lang="nl-BE" sz="2400" dirty="0">
                <a:solidFill>
                  <a:srgbClr val="00B050"/>
                </a:solidFill>
              </a:rPr>
              <a:t> of a system is </a:t>
            </a:r>
            <a:r>
              <a:rPr lang="nl-BE" sz="2400" dirty="0" err="1">
                <a:solidFill>
                  <a:srgbClr val="00B050"/>
                </a:solidFill>
              </a:rPr>
              <a:t>calculated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based</a:t>
            </a:r>
            <a:r>
              <a:rPr lang="nl-BE" sz="2400" dirty="0">
                <a:solidFill>
                  <a:srgbClr val="00B050"/>
                </a:solidFill>
              </a:rPr>
              <a:t> on </a:t>
            </a:r>
            <a:r>
              <a:rPr lang="nl-BE" sz="2400" dirty="0" err="1">
                <a:solidFill>
                  <a:srgbClr val="00B050"/>
                </a:solidFill>
              </a:rPr>
              <a:t>the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frequency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with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which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every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actually</a:t>
            </a:r>
            <a:r>
              <a:rPr lang="nl-BE" sz="2400" dirty="0">
                <a:solidFill>
                  <a:srgbClr val="00B050"/>
                </a:solidFill>
              </a:rPr>
              <a:t> </a:t>
            </a:r>
            <a:r>
              <a:rPr lang="nl-BE" sz="2400" dirty="0" err="1">
                <a:solidFill>
                  <a:srgbClr val="00B050"/>
                </a:solidFill>
              </a:rPr>
              <a:t>observed</a:t>
            </a:r>
            <a:r>
              <a:rPr lang="nl-BE" sz="2400" dirty="0">
                <a:solidFill>
                  <a:srgbClr val="00B050"/>
                </a:solidFill>
              </a:rPr>
              <a:t> state </a:t>
            </a:r>
            <a:r>
              <a:rPr lang="nl-BE" sz="2400" dirty="0" err="1">
                <a:solidFill>
                  <a:srgbClr val="00B050"/>
                </a:solidFill>
              </a:rPr>
              <a:t>occurs</a:t>
            </a:r>
            <a:r>
              <a:rPr lang="nl-BE" sz="2400" dirty="0">
                <a:solidFill>
                  <a:srgbClr val="00B0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1831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75520" y="3725416"/>
            <a:ext cx="8906610" cy="272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70C0"/>
                </a:solidFill>
              </a:rPr>
              <a:t>The </a:t>
            </a:r>
            <a:r>
              <a:rPr lang="nl-BE" sz="2200" dirty="0" err="1">
                <a:solidFill>
                  <a:srgbClr val="0070C0"/>
                </a:solidFill>
              </a:rPr>
              <a:t>local</a:t>
            </a:r>
            <a:r>
              <a:rPr lang="nl-BE" sz="2200" dirty="0">
                <a:solidFill>
                  <a:srgbClr val="0070C0"/>
                </a:solidFill>
              </a:rPr>
              <a:t> </a:t>
            </a:r>
            <a:r>
              <a:rPr lang="nl-BE" sz="2200" dirty="0" err="1">
                <a:solidFill>
                  <a:srgbClr val="0070C0"/>
                </a:solidFill>
              </a:rPr>
              <a:t>entropy</a:t>
            </a:r>
            <a:r>
              <a:rPr lang="nl-BE" sz="2200" dirty="0">
                <a:solidFill>
                  <a:srgbClr val="0070C0"/>
                </a:solidFill>
              </a:rPr>
              <a:t> of </a:t>
            </a:r>
            <a:r>
              <a:rPr lang="nl-BE" sz="2200" dirty="0" err="1">
                <a:solidFill>
                  <a:srgbClr val="0070C0"/>
                </a:solidFill>
              </a:rPr>
              <a:t>the</a:t>
            </a:r>
            <a:r>
              <a:rPr lang="nl-BE" sz="2200" dirty="0">
                <a:solidFill>
                  <a:srgbClr val="0070C0"/>
                </a:solidFill>
              </a:rPr>
              <a:t> first letters of </a:t>
            </a:r>
            <a:r>
              <a:rPr lang="nl-BE" sz="2200" dirty="0" err="1">
                <a:solidFill>
                  <a:srgbClr val="0070C0"/>
                </a:solidFill>
              </a:rPr>
              <a:t>every</a:t>
            </a:r>
            <a:r>
              <a:rPr lang="nl-BE" sz="2200" dirty="0">
                <a:solidFill>
                  <a:srgbClr val="0070C0"/>
                </a:solidFill>
              </a:rPr>
              <a:t> word in </a:t>
            </a:r>
            <a:r>
              <a:rPr lang="nl-BE" sz="2200" dirty="0" err="1">
                <a:solidFill>
                  <a:srgbClr val="0070C0"/>
                </a:solidFill>
              </a:rPr>
              <a:t>this</a:t>
            </a:r>
            <a:r>
              <a:rPr lang="nl-BE" sz="2200" dirty="0">
                <a:solidFill>
                  <a:srgbClr val="0070C0"/>
                </a:solidFill>
              </a:rPr>
              <a:t> </a:t>
            </a:r>
            <a:r>
              <a:rPr lang="nl-BE" sz="2200" dirty="0" err="1">
                <a:solidFill>
                  <a:srgbClr val="0070C0"/>
                </a:solidFill>
              </a:rPr>
              <a:t>sentence</a:t>
            </a:r>
            <a:r>
              <a:rPr lang="nl-BE" sz="2200" dirty="0">
                <a:solidFill>
                  <a:srgbClr val="0070C0"/>
                </a:solidFill>
              </a:rPr>
              <a:t>: </a:t>
            </a:r>
            <a:r>
              <a:rPr lang="nl-BE" sz="2200" dirty="0" err="1">
                <a:solidFill>
                  <a:srgbClr val="0070C0"/>
                </a:solidFill>
              </a:rPr>
              <a:t>approximately</a:t>
            </a:r>
            <a:r>
              <a:rPr lang="nl-BE" sz="2200" dirty="0">
                <a:solidFill>
                  <a:srgbClr val="0070C0"/>
                </a:solidFill>
              </a:rPr>
              <a:t> 2.9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t, l, e, o, t, f, l, o, e, w, i, t, s 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13 letters, of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which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8 are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unique</a:t>
            </a:r>
            <a:endParaRPr lang="nl-BE" sz="2200" dirty="0">
              <a:solidFill>
                <a:schemeClr val="bg1">
                  <a:lumMod val="50000"/>
                </a:schemeClr>
              </a:solidFill>
            </a:endParaRP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rgbClr val="00B0F0"/>
                </a:solidFill>
              </a:rPr>
              <a:t>t: 3/13  ;  l: 2/13  ;  e: 2/13  ;  o: 2/13  ;  f: 1/13  ;  w: 1/13  ;  i: 1/13  ;  s: 1/13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– { (3/13)*log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(3/13) + (2/13)*log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(2/13) + (2/13)*log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(2/13) +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	(2/13)*log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(2/13) + (1/13)*log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(1/13)) + (1/13)*log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(1/13) + 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	(1/13)*log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(1/13) + (1/13)*log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(1/13)} = 2.873 </a:t>
            </a:r>
            <a:r>
              <a:rPr lang="nl-BE" sz="2200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nl-BE" sz="2200" i="1" dirty="0" err="1">
                <a:solidFill>
                  <a:schemeClr val="bg1">
                    <a:lumMod val="50000"/>
                  </a:schemeClr>
                </a:solidFill>
              </a:rPr>
              <a:t>rounded</a:t>
            </a:r>
            <a:r>
              <a:rPr lang="nl-BE" sz="22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local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521" y="836712"/>
            <a:ext cx="9245723" cy="27363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B050"/>
                </a:solidFill>
              </a:rPr>
              <a:t>De </a:t>
            </a:r>
            <a:r>
              <a:rPr lang="nl-BE" sz="2200" dirty="0" err="1">
                <a:solidFill>
                  <a:srgbClr val="00B050"/>
                </a:solidFill>
              </a:rPr>
              <a:t>local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entropy</a:t>
            </a:r>
            <a:r>
              <a:rPr lang="nl-BE" sz="2200" dirty="0">
                <a:solidFill>
                  <a:srgbClr val="00B050"/>
                </a:solidFill>
              </a:rPr>
              <a:t> of </a:t>
            </a:r>
            <a:r>
              <a:rPr lang="nl-BE" sz="2200" dirty="0" err="1">
                <a:solidFill>
                  <a:srgbClr val="00B050"/>
                </a:solidFill>
              </a:rPr>
              <a:t>the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starting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years</a:t>
            </a:r>
            <a:r>
              <a:rPr lang="nl-BE" sz="2200" dirty="0">
                <a:solidFill>
                  <a:srgbClr val="00B050"/>
                </a:solidFill>
              </a:rPr>
              <a:t> of first-</a:t>
            </a:r>
            <a:r>
              <a:rPr lang="nl-BE" sz="2200" dirty="0" err="1">
                <a:solidFill>
                  <a:srgbClr val="00B050"/>
                </a:solidFill>
              </a:rPr>
              <a:t>year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biomedical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sciences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students</a:t>
            </a:r>
            <a:r>
              <a:rPr lang="nl-BE" sz="2200" dirty="0">
                <a:solidFill>
                  <a:srgbClr val="00B050"/>
                </a:solidFill>
              </a:rPr>
              <a:t> is </a:t>
            </a:r>
            <a:r>
              <a:rPr lang="nl-BE" sz="2200" dirty="0" err="1">
                <a:solidFill>
                  <a:srgbClr val="00B050"/>
                </a:solidFill>
              </a:rPr>
              <a:t>roughly</a:t>
            </a:r>
            <a:r>
              <a:rPr lang="nl-BE" sz="2200" dirty="0">
                <a:solidFill>
                  <a:srgbClr val="00B050"/>
                </a:solidFill>
              </a:rPr>
              <a:t> 0.59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There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are 181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students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3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effective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nl-BE" sz="2200" dirty="0" err="1">
                <a:solidFill>
                  <a:schemeClr val="bg1">
                    <a:lumMod val="50000"/>
                  </a:schemeClr>
                </a:solidFill>
              </a:rPr>
              <a:t>states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 (“2014”, “2015”, en “2016”)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rgbClr val="00B0F0"/>
                </a:solidFill>
              </a:rPr>
              <a:t>“2016”: 160/181  ;  “2015”: 18/181  ;  “2014”: 3/181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– { (160/181) * 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(160/181) + 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	  (18/181) * 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  18/181) +</a:t>
            </a:r>
          </a:p>
          <a:p>
            <a:pPr marL="546100" lvl="1">
              <a:spcAft>
                <a:spcPts val="300"/>
              </a:spcAft>
            </a:pP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	    (3/181) *  log</a:t>
            </a:r>
            <a:r>
              <a:rPr lang="nl-BE" sz="22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nl-BE" sz="2200" dirty="0">
                <a:solidFill>
                  <a:schemeClr val="bg1">
                    <a:lumMod val="50000"/>
                  </a:schemeClr>
                </a:solidFill>
              </a:rPr>
              <a:t>(   3/181)  } = 0.586 </a:t>
            </a:r>
            <a:r>
              <a:rPr lang="nl-BE" sz="2200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nl-BE" sz="2200" i="1" dirty="0" err="1">
                <a:solidFill>
                  <a:schemeClr val="bg1">
                    <a:lumMod val="50000"/>
                  </a:schemeClr>
                </a:solidFill>
              </a:rPr>
              <a:t>rounded</a:t>
            </a:r>
            <a:r>
              <a:rPr lang="nl-BE" sz="22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546100" lvl="1">
              <a:spcAft>
                <a:spcPts val="300"/>
              </a:spcAft>
            </a:pPr>
            <a:endParaRPr lang="nl-BE" sz="2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45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entropy and maximal entropy for 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9370" y="3789040"/>
            <a:ext cx="8807260" cy="22958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70C0"/>
                </a:solidFill>
              </a:rPr>
              <a:t>Let </a:t>
            </a:r>
            <a:r>
              <a:rPr lang="nl-BE" sz="2200" dirty="0" err="1">
                <a:solidFill>
                  <a:srgbClr val="0070C0"/>
                </a:solidFill>
              </a:rPr>
              <a:t>us</a:t>
            </a:r>
            <a:r>
              <a:rPr lang="nl-BE" sz="2200" dirty="0">
                <a:solidFill>
                  <a:srgbClr val="0070C0"/>
                </a:solidFill>
              </a:rPr>
              <a:t> </a:t>
            </a:r>
            <a:r>
              <a:rPr lang="nl-BE" sz="2200" dirty="0" err="1">
                <a:solidFill>
                  <a:srgbClr val="0070C0"/>
                </a:solidFill>
              </a:rPr>
              <a:t>now</a:t>
            </a:r>
            <a:r>
              <a:rPr lang="nl-BE" sz="2200" dirty="0">
                <a:solidFill>
                  <a:srgbClr val="0070C0"/>
                </a:solidFill>
              </a:rPr>
              <a:t> change </a:t>
            </a:r>
            <a:r>
              <a:rPr lang="nl-BE" sz="2200" dirty="0" err="1">
                <a:solidFill>
                  <a:srgbClr val="0070C0"/>
                </a:solidFill>
              </a:rPr>
              <a:t>the</a:t>
            </a:r>
            <a:r>
              <a:rPr lang="nl-BE" sz="2200" dirty="0">
                <a:solidFill>
                  <a:srgbClr val="0070C0"/>
                </a:solidFill>
              </a:rPr>
              <a:t> </a:t>
            </a:r>
            <a:r>
              <a:rPr lang="nl-BE" sz="2200" dirty="0" err="1">
                <a:solidFill>
                  <a:srgbClr val="0070C0"/>
                </a:solidFill>
              </a:rPr>
              <a:t>composition</a:t>
            </a:r>
            <a:r>
              <a:rPr lang="nl-BE" sz="2200" dirty="0">
                <a:solidFill>
                  <a:srgbClr val="0070C0"/>
                </a:solidFill>
              </a:rPr>
              <a:t> of </a:t>
            </a:r>
            <a:r>
              <a:rPr lang="nl-BE" sz="2200" dirty="0" err="1">
                <a:solidFill>
                  <a:srgbClr val="0070C0"/>
                </a:solidFill>
              </a:rPr>
              <a:t>the</a:t>
            </a:r>
            <a:r>
              <a:rPr lang="nl-BE" sz="2200" dirty="0">
                <a:solidFill>
                  <a:srgbClr val="0070C0"/>
                </a:solidFill>
              </a:rPr>
              <a:t> first-</a:t>
            </a:r>
            <a:r>
              <a:rPr lang="nl-BE" sz="2200" dirty="0" err="1">
                <a:solidFill>
                  <a:srgbClr val="0070C0"/>
                </a:solidFill>
              </a:rPr>
              <a:t>year</a:t>
            </a:r>
            <a:r>
              <a:rPr lang="nl-BE" sz="2200" dirty="0">
                <a:solidFill>
                  <a:srgbClr val="0070C0"/>
                </a:solidFill>
              </a:rPr>
              <a:t> </a:t>
            </a:r>
            <a:r>
              <a:rPr lang="nl-BE" sz="2200" dirty="0" err="1">
                <a:solidFill>
                  <a:srgbClr val="0070C0"/>
                </a:solidFill>
              </a:rPr>
              <a:t>students</a:t>
            </a:r>
            <a:r>
              <a:rPr lang="nl-BE" sz="2200" dirty="0">
                <a:solidFill>
                  <a:srgbClr val="0070C0"/>
                </a:solidFill>
              </a:rPr>
              <a:t> as </a:t>
            </a:r>
            <a:r>
              <a:rPr lang="nl-BE" sz="2200" dirty="0" err="1">
                <a:solidFill>
                  <a:srgbClr val="0070C0"/>
                </a:solidFill>
              </a:rPr>
              <a:t>follows</a:t>
            </a:r>
            <a:r>
              <a:rPr lang="nl-BE" sz="2200" dirty="0">
                <a:solidFill>
                  <a:srgbClr val="0070C0"/>
                </a:solidFill>
              </a:rPr>
              <a:t>:</a:t>
            </a:r>
          </a:p>
          <a:p>
            <a:pPr marL="88900" lvl="1">
              <a:spcAft>
                <a:spcPts val="300"/>
              </a:spcAft>
            </a:pPr>
            <a:r>
              <a:rPr lang="nl-BE" sz="2200" dirty="0">
                <a:solidFill>
                  <a:srgbClr val="FF0000"/>
                </a:solidFill>
              </a:rPr>
              <a:t>	“2016”: 101/181  ;  “2015”: 46/181  ;  “2014”: 34/181</a:t>
            </a:r>
          </a:p>
          <a:p>
            <a:pPr marL="355600" lvl="1" indent="-2667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B0F0"/>
                </a:solidFill>
              </a:rPr>
              <a:t>The </a:t>
            </a:r>
            <a:r>
              <a:rPr lang="nl-BE" sz="2200" dirty="0" err="1">
                <a:solidFill>
                  <a:srgbClr val="00B0F0"/>
                </a:solidFill>
              </a:rPr>
              <a:t>local</a:t>
            </a:r>
            <a:r>
              <a:rPr lang="nl-BE" sz="2200" dirty="0">
                <a:solidFill>
                  <a:srgbClr val="00B0F0"/>
                </a:solidFill>
              </a:rPr>
              <a:t> </a:t>
            </a:r>
            <a:r>
              <a:rPr lang="nl-BE" sz="2200" dirty="0" err="1">
                <a:solidFill>
                  <a:srgbClr val="00B0F0"/>
                </a:solidFill>
              </a:rPr>
              <a:t>entropy</a:t>
            </a:r>
            <a:r>
              <a:rPr lang="nl-BE" sz="2200" dirty="0">
                <a:solidFill>
                  <a:srgbClr val="00B0F0"/>
                </a:solidFill>
              </a:rPr>
              <a:t> </a:t>
            </a:r>
            <a:r>
              <a:rPr lang="nl-BE" sz="2200" dirty="0" err="1">
                <a:solidFill>
                  <a:srgbClr val="00B0F0"/>
                </a:solidFill>
              </a:rPr>
              <a:t>now</a:t>
            </a:r>
            <a:r>
              <a:rPr lang="nl-BE" sz="2200" dirty="0">
                <a:solidFill>
                  <a:srgbClr val="00B0F0"/>
                </a:solidFill>
              </a:rPr>
              <a:t> </a:t>
            </a:r>
            <a:r>
              <a:rPr lang="nl-BE" sz="2200" dirty="0" err="1">
                <a:solidFill>
                  <a:srgbClr val="00B0F0"/>
                </a:solidFill>
              </a:rPr>
              <a:t>becomes</a:t>
            </a:r>
            <a:r>
              <a:rPr lang="nl-BE" sz="2200" dirty="0">
                <a:solidFill>
                  <a:srgbClr val="00B0F0"/>
                </a:solidFill>
              </a:rPr>
              <a:t>: 1.425 (</a:t>
            </a:r>
            <a:r>
              <a:rPr lang="nl-BE" sz="2200" i="1" dirty="0" err="1">
                <a:solidFill>
                  <a:srgbClr val="00B0F0"/>
                </a:solidFill>
              </a:rPr>
              <a:t>rounded</a:t>
            </a:r>
            <a:r>
              <a:rPr lang="nl-BE" sz="2200" dirty="0">
                <a:solidFill>
                  <a:srgbClr val="00B0F0"/>
                </a:solidFill>
              </a:rPr>
              <a:t>)</a:t>
            </a:r>
          </a:p>
          <a:p>
            <a:pPr marL="355600" lvl="1" indent="-266700">
              <a:spcAft>
                <a:spcPts val="300"/>
              </a:spcAft>
              <a:buFontTx/>
              <a:buChar char="-"/>
            </a:pPr>
            <a:r>
              <a:rPr lang="nl-BE" sz="2200" dirty="0"/>
              <a:t>The </a:t>
            </a:r>
            <a:r>
              <a:rPr lang="nl-BE" sz="2200" dirty="0" err="1"/>
              <a:t>local</a:t>
            </a:r>
            <a:r>
              <a:rPr lang="nl-BE" sz="2200" dirty="0"/>
              <a:t> </a:t>
            </a:r>
            <a:r>
              <a:rPr lang="nl-BE" sz="2200" dirty="0" err="1"/>
              <a:t>entropy</a:t>
            </a:r>
            <a:r>
              <a:rPr lang="nl-BE" sz="2200" dirty="0"/>
              <a:t> </a:t>
            </a:r>
            <a:r>
              <a:rPr lang="nl-BE" sz="2200" dirty="0" err="1"/>
              <a:t>now</a:t>
            </a:r>
            <a:r>
              <a:rPr lang="nl-BE" sz="2200" dirty="0"/>
              <a:t> </a:t>
            </a:r>
            <a:r>
              <a:rPr lang="nl-BE" sz="2200" dirty="0" err="1"/>
              <a:t>becomes</a:t>
            </a:r>
            <a:r>
              <a:rPr lang="nl-BE" sz="2200" dirty="0"/>
              <a:t> </a:t>
            </a:r>
            <a:r>
              <a:rPr lang="nl-BE" sz="2200" dirty="0" err="1"/>
              <a:t>almost</a:t>
            </a:r>
            <a:r>
              <a:rPr lang="nl-BE" sz="2200" dirty="0"/>
              <a:t> </a:t>
            </a:r>
            <a:r>
              <a:rPr lang="nl-BE" sz="2200" dirty="0" err="1"/>
              <a:t>equal</a:t>
            </a:r>
            <a:r>
              <a:rPr lang="nl-BE" sz="2200" dirty="0"/>
              <a:t> </a:t>
            </a:r>
            <a:r>
              <a:rPr lang="nl-BE" sz="2200" dirty="0" err="1"/>
              <a:t>to</a:t>
            </a:r>
            <a:r>
              <a:rPr lang="nl-BE" sz="2200" dirty="0"/>
              <a:t> </a:t>
            </a:r>
            <a:r>
              <a:rPr lang="nl-BE" sz="2200" dirty="0" err="1"/>
              <a:t>the</a:t>
            </a:r>
            <a:r>
              <a:rPr lang="nl-BE" sz="2200" dirty="0"/>
              <a:t> </a:t>
            </a:r>
            <a:r>
              <a:rPr lang="nl-BE" sz="2200" dirty="0" err="1"/>
              <a:t>maximal</a:t>
            </a:r>
            <a:r>
              <a:rPr lang="nl-BE" sz="2200" dirty="0"/>
              <a:t> </a:t>
            </a:r>
            <a:r>
              <a:rPr lang="nl-BE" sz="2200" dirty="0" err="1"/>
              <a:t>entropy</a:t>
            </a:r>
            <a:r>
              <a:rPr lang="nl-BE" sz="2200" dirty="0"/>
              <a:t> (</a:t>
            </a:r>
            <a:r>
              <a:rPr lang="nl-BE" sz="2200" i="1" dirty="0"/>
              <a:t>1.58, </a:t>
            </a:r>
            <a:r>
              <a:rPr lang="nl-BE" sz="2200" i="1" dirty="0" err="1"/>
              <a:t>see</a:t>
            </a:r>
            <a:r>
              <a:rPr lang="nl-BE" sz="2200" i="1" dirty="0"/>
              <a:t> top</a:t>
            </a:r>
            <a:r>
              <a:rPr lang="nl-BE" sz="2200" dirty="0"/>
              <a:t>) –</a:t>
            </a:r>
            <a:r>
              <a:rPr lang="nl-BE" sz="2200" dirty="0" err="1"/>
              <a:t>indicating</a:t>
            </a:r>
            <a:r>
              <a:rPr lang="nl-BE" sz="2200" dirty="0"/>
              <a:t> a </a:t>
            </a:r>
            <a:r>
              <a:rPr lang="nl-BE" sz="2200" dirty="0" err="1"/>
              <a:t>quite</a:t>
            </a:r>
            <a:r>
              <a:rPr lang="nl-BE" sz="2200" dirty="0"/>
              <a:t> </a:t>
            </a:r>
            <a:r>
              <a:rPr lang="nl-BE" sz="2200" dirty="0" err="1"/>
              <a:t>randomly</a:t>
            </a:r>
            <a:r>
              <a:rPr lang="nl-BE" sz="2200" dirty="0"/>
              <a:t> </a:t>
            </a:r>
            <a:r>
              <a:rPr lang="nl-BE" sz="2200" dirty="0" err="1"/>
              <a:t>dispersed</a:t>
            </a:r>
            <a:r>
              <a:rPr lang="nl-BE" sz="2200" dirty="0"/>
              <a:t> </a:t>
            </a:r>
            <a:r>
              <a:rPr lang="nl-BE" sz="2200" dirty="0" err="1"/>
              <a:t>composition</a:t>
            </a:r>
            <a:endParaRPr lang="nl-BE" sz="2200" dirty="0"/>
          </a:p>
          <a:p>
            <a:pPr marL="431800" lvl="1" indent="-342900">
              <a:spcAft>
                <a:spcPts val="300"/>
              </a:spcAft>
              <a:buFontTx/>
              <a:buChar char="-"/>
            </a:pPr>
            <a:endParaRPr lang="nl-BE" sz="2200" dirty="0">
              <a:solidFill>
                <a:srgbClr val="0070C0"/>
              </a:solidFill>
            </a:endParaRPr>
          </a:p>
          <a:p>
            <a:pPr marL="88900" lvl="1">
              <a:spcAft>
                <a:spcPts val="300"/>
              </a:spcAft>
            </a:pPr>
            <a:endParaRPr lang="nl-BE" sz="2200" dirty="0"/>
          </a:p>
          <a:p>
            <a:pPr marL="88900" lvl="1">
              <a:spcAft>
                <a:spcPts val="300"/>
              </a:spcAft>
            </a:pPr>
            <a:endParaRPr lang="nl-BE" sz="2200" dirty="0">
              <a:solidFill>
                <a:srgbClr val="00B0F0"/>
              </a:solidFill>
            </a:endParaRPr>
          </a:p>
          <a:p>
            <a:pPr marL="342900" indent="-254000">
              <a:spcAft>
                <a:spcPts val="300"/>
              </a:spcAft>
              <a:buFontTx/>
              <a:buChar char="-"/>
            </a:pPr>
            <a:endParaRPr lang="nl-BE" sz="22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9370" y="1052736"/>
            <a:ext cx="8271087" cy="27363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B050"/>
                </a:solidFill>
              </a:rPr>
              <a:t>The </a:t>
            </a:r>
            <a:r>
              <a:rPr lang="nl-BE" sz="2200" dirty="0" err="1">
                <a:solidFill>
                  <a:srgbClr val="00B050"/>
                </a:solidFill>
              </a:rPr>
              <a:t>maximal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entropy</a:t>
            </a:r>
            <a:r>
              <a:rPr lang="nl-BE" sz="2200" dirty="0">
                <a:solidFill>
                  <a:srgbClr val="00B050"/>
                </a:solidFill>
              </a:rPr>
              <a:t> of </a:t>
            </a:r>
            <a:r>
              <a:rPr lang="nl-BE" sz="2200" dirty="0" err="1">
                <a:solidFill>
                  <a:srgbClr val="00B050"/>
                </a:solidFill>
              </a:rPr>
              <a:t>the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starting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years</a:t>
            </a:r>
            <a:r>
              <a:rPr lang="nl-BE" sz="2200" dirty="0">
                <a:solidFill>
                  <a:srgbClr val="00B050"/>
                </a:solidFill>
              </a:rPr>
              <a:t> of first-</a:t>
            </a:r>
            <a:r>
              <a:rPr lang="nl-BE" sz="2200" dirty="0" err="1">
                <a:solidFill>
                  <a:srgbClr val="00B050"/>
                </a:solidFill>
              </a:rPr>
              <a:t>year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biomedical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sciences</a:t>
            </a:r>
            <a:r>
              <a:rPr lang="nl-BE" sz="2200" dirty="0">
                <a:solidFill>
                  <a:srgbClr val="00B050"/>
                </a:solidFill>
              </a:rPr>
              <a:t> </a:t>
            </a:r>
            <a:r>
              <a:rPr lang="nl-BE" sz="2200" dirty="0" err="1">
                <a:solidFill>
                  <a:srgbClr val="00B050"/>
                </a:solidFill>
              </a:rPr>
              <a:t>students</a:t>
            </a:r>
            <a:r>
              <a:rPr lang="nl-BE" sz="2200" dirty="0">
                <a:solidFill>
                  <a:srgbClr val="00B050"/>
                </a:solidFill>
              </a:rPr>
              <a:t> is: log</a:t>
            </a:r>
            <a:r>
              <a:rPr lang="nl-BE" sz="2200" baseline="-25000" dirty="0">
                <a:solidFill>
                  <a:srgbClr val="00B050"/>
                </a:solidFill>
              </a:rPr>
              <a:t>2</a:t>
            </a:r>
            <a:r>
              <a:rPr lang="nl-BE" sz="2200" dirty="0">
                <a:solidFill>
                  <a:srgbClr val="00B050"/>
                </a:solidFill>
              </a:rPr>
              <a:t>(3 </a:t>
            </a:r>
            <a:r>
              <a:rPr lang="nl-BE" sz="2200" dirty="0" err="1">
                <a:solidFill>
                  <a:srgbClr val="00B050"/>
                </a:solidFill>
              </a:rPr>
              <a:t>possibilities</a:t>
            </a:r>
            <a:r>
              <a:rPr lang="nl-BE" sz="2200" dirty="0">
                <a:solidFill>
                  <a:srgbClr val="00B050"/>
                </a:solidFill>
              </a:rPr>
              <a:t>) = 1.58 (</a:t>
            </a:r>
            <a:r>
              <a:rPr lang="nl-BE" sz="2200" i="1" dirty="0" err="1">
                <a:solidFill>
                  <a:srgbClr val="00B050"/>
                </a:solidFill>
              </a:rPr>
              <a:t>rounded</a:t>
            </a:r>
            <a:r>
              <a:rPr lang="nl-BE" sz="2200" dirty="0">
                <a:solidFill>
                  <a:srgbClr val="00B050"/>
                </a:solidFill>
              </a:rPr>
              <a:t>)</a:t>
            </a:r>
          </a:p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>
                <a:solidFill>
                  <a:srgbClr val="00B0F0"/>
                </a:solidFill>
              </a:rPr>
              <a:t>The </a:t>
            </a:r>
            <a:r>
              <a:rPr lang="nl-BE" sz="2200" dirty="0" err="1">
                <a:solidFill>
                  <a:srgbClr val="00B0F0"/>
                </a:solidFill>
              </a:rPr>
              <a:t>lcoal</a:t>
            </a:r>
            <a:r>
              <a:rPr lang="nl-BE" sz="2200" dirty="0">
                <a:solidFill>
                  <a:srgbClr val="00B0F0"/>
                </a:solidFill>
              </a:rPr>
              <a:t> </a:t>
            </a:r>
            <a:r>
              <a:rPr lang="nl-BE" sz="2200" dirty="0" err="1">
                <a:solidFill>
                  <a:srgbClr val="00B0F0"/>
                </a:solidFill>
              </a:rPr>
              <a:t>entropy</a:t>
            </a:r>
            <a:r>
              <a:rPr lang="nl-BE" sz="2200" dirty="0">
                <a:solidFill>
                  <a:srgbClr val="00B0F0"/>
                </a:solidFill>
              </a:rPr>
              <a:t> </a:t>
            </a:r>
            <a:r>
              <a:rPr lang="nl-BE" sz="2200" dirty="0" err="1">
                <a:solidFill>
                  <a:srgbClr val="00B0F0"/>
                </a:solidFill>
              </a:rPr>
              <a:t>for</a:t>
            </a:r>
            <a:r>
              <a:rPr lang="nl-BE" sz="2200" dirty="0">
                <a:solidFill>
                  <a:srgbClr val="00B0F0"/>
                </a:solidFill>
              </a:rPr>
              <a:t> AY 2016-2017, as </a:t>
            </a:r>
            <a:r>
              <a:rPr lang="nl-BE" sz="2200" dirty="0" err="1">
                <a:solidFill>
                  <a:srgbClr val="00B0F0"/>
                </a:solidFill>
              </a:rPr>
              <a:t>calculated</a:t>
            </a:r>
            <a:r>
              <a:rPr lang="nl-BE" sz="2200" dirty="0">
                <a:solidFill>
                  <a:srgbClr val="00B0F0"/>
                </a:solidFill>
              </a:rPr>
              <a:t> on </a:t>
            </a:r>
            <a:r>
              <a:rPr lang="nl-BE" sz="2200" dirty="0" err="1">
                <a:solidFill>
                  <a:srgbClr val="00B0F0"/>
                </a:solidFill>
              </a:rPr>
              <a:t>the</a:t>
            </a:r>
            <a:r>
              <a:rPr lang="nl-BE" sz="2200" dirty="0">
                <a:solidFill>
                  <a:srgbClr val="00B0F0"/>
                </a:solidFill>
              </a:rPr>
              <a:t> </a:t>
            </a:r>
            <a:r>
              <a:rPr lang="nl-BE" sz="2200" dirty="0" err="1">
                <a:solidFill>
                  <a:srgbClr val="00B0F0"/>
                </a:solidFill>
              </a:rPr>
              <a:t>previous</a:t>
            </a:r>
            <a:r>
              <a:rPr lang="nl-BE" sz="2200" dirty="0">
                <a:solidFill>
                  <a:srgbClr val="00B0F0"/>
                </a:solidFill>
              </a:rPr>
              <a:t> slide, is: 0.586 (</a:t>
            </a:r>
            <a:r>
              <a:rPr lang="nl-BE" sz="2200" i="1" dirty="0" err="1">
                <a:solidFill>
                  <a:srgbClr val="00B0F0"/>
                </a:solidFill>
              </a:rPr>
              <a:t>rounded</a:t>
            </a:r>
            <a:r>
              <a:rPr lang="nl-BE" sz="2200" dirty="0">
                <a:solidFill>
                  <a:srgbClr val="00B0F0"/>
                </a:solidFill>
              </a:rPr>
              <a:t>)</a:t>
            </a:r>
          </a:p>
          <a:p>
            <a:pPr marL="342900" indent="-254000">
              <a:spcAft>
                <a:spcPts val="300"/>
              </a:spcAft>
              <a:buFontTx/>
              <a:buChar char="-"/>
            </a:pPr>
            <a:r>
              <a:rPr lang="nl-BE" sz="2200" dirty="0"/>
              <a:t>The </a:t>
            </a:r>
            <a:r>
              <a:rPr lang="nl-BE" sz="2200" dirty="0" err="1"/>
              <a:t>local</a:t>
            </a:r>
            <a:r>
              <a:rPr lang="nl-BE" sz="2200" dirty="0"/>
              <a:t> </a:t>
            </a:r>
            <a:r>
              <a:rPr lang="nl-BE" sz="2200" dirty="0" err="1"/>
              <a:t>entropy</a:t>
            </a:r>
            <a:r>
              <a:rPr lang="nl-BE" sz="2200" dirty="0"/>
              <a:t> is </a:t>
            </a:r>
            <a:r>
              <a:rPr lang="nl-BE" sz="2200" dirty="0" err="1"/>
              <a:t>about</a:t>
            </a:r>
            <a:r>
              <a:rPr lang="nl-BE" sz="2200" dirty="0"/>
              <a:t> a </a:t>
            </a:r>
            <a:r>
              <a:rPr lang="nl-BE" sz="2200" dirty="0" err="1"/>
              <a:t>third</a:t>
            </a:r>
            <a:r>
              <a:rPr lang="nl-BE" sz="2200" dirty="0"/>
              <a:t> of </a:t>
            </a:r>
            <a:r>
              <a:rPr lang="nl-BE" sz="2200" dirty="0" err="1"/>
              <a:t>the</a:t>
            </a:r>
            <a:r>
              <a:rPr lang="nl-BE" sz="2200" dirty="0"/>
              <a:t> </a:t>
            </a:r>
            <a:r>
              <a:rPr lang="nl-BE" sz="2200" dirty="0" err="1"/>
              <a:t>maximal</a:t>
            </a:r>
            <a:r>
              <a:rPr lang="nl-BE" sz="2200" dirty="0"/>
              <a:t> </a:t>
            </a:r>
            <a:r>
              <a:rPr lang="nl-BE" sz="2200" dirty="0" err="1"/>
              <a:t>entropy</a:t>
            </a:r>
            <a:r>
              <a:rPr lang="nl-BE" sz="2200" dirty="0"/>
              <a:t> – </a:t>
            </a:r>
            <a:r>
              <a:rPr lang="nl-BE" sz="2200" dirty="0" err="1"/>
              <a:t>indicating</a:t>
            </a:r>
            <a:r>
              <a:rPr lang="nl-BE" sz="2200" dirty="0"/>
              <a:t> a </a:t>
            </a:r>
            <a:r>
              <a:rPr lang="nl-BE" sz="2200" dirty="0" err="1"/>
              <a:t>relatively</a:t>
            </a:r>
            <a:r>
              <a:rPr lang="nl-BE" sz="2200" dirty="0"/>
              <a:t> </a:t>
            </a:r>
            <a:r>
              <a:rPr lang="nl-BE" sz="2200" dirty="0" err="1"/>
              <a:t>homogeneous</a:t>
            </a:r>
            <a:r>
              <a:rPr lang="nl-BE" sz="2200" dirty="0"/>
              <a:t> </a:t>
            </a:r>
            <a:r>
              <a:rPr lang="nl-BE" sz="2200" dirty="0" err="1"/>
              <a:t>composition</a:t>
            </a:r>
            <a:endParaRPr lang="nl-BE" sz="2200" dirty="0"/>
          </a:p>
        </p:txBody>
      </p:sp>
    </p:spTree>
    <p:extLst>
      <p:ext uri="{BB962C8B-B14F-4D97-AF65-F5344CB8AC3E}">
        <p14:creationId xmlns:p14="http://schemas.microsoft.com/office/powerpoint/2010/main" val="33010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6400800" y="1905000"/>
            <a:ext cx="3810000" cy="3581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1" y="1905000"/>
            <a:ext cx="43148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324600" y="1981200"/>
            <a:ext cx="3810000" cy="3581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3200" y="3124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086600" y="3124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629400" y="2743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620000" y="26670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686800" y="3124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239000" y="2362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001000" y="2209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705600" y="34290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686800" y="2362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382000" y="3352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772400" y="3733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229600" y="28194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781800" y="3733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467600" y="35814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610600" y="2743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010400" y="2743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858000" y="2209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772400" y="30480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534400" y="21336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753600" y="4495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372600" y="3581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067800" y="4495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448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677400" y="4038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2964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9220200" y="4114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3726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96774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8915400" y="4114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753600" y="2743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982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372600" y="4419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2964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829800" y="3581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162800" y="35052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8534400" y="36576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87630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90678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7536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525000" y="4953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8458200" y="4572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3058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5344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8610600" y="4343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89154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73152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23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467600" y="5486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76200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7924800" y="5257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7848600" y="4648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7696200" y="4267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78486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8001000" y="4419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305800" y="4800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9144000" y="5257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8229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9144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92964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96012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400800" y="4876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858000" y="51816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6477000" y="44958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6553200" y="51816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629400" y="54864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6781800" y="47244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6400800" y="4191000"/>
            <a:ext cx="152400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ounded Rectangle 109"/>
          <p:cNvSpPr/>
          <p:nvPr/>
        </p:nvSpPr>
        <p:spPr>
          <a:xfrm>
            <a:off x="3276600" y="20574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B</a:t>
            </a:r>
            <a:endParaRPr lang="en-US" dirty="0"/>
          </a:p>
        </p:txBody>
      </p:sp>
      <p:cxnSp>
        <p:nvCxnSpPr>
          <p:cNvPr id="112" name="Straight Connector 111"/>
          <p:cNvCxnSpPr>
            <a:stCxn id="110" idx="2"/>
          </p:cNvCxnSpPr>
          <p:nvPr/>
        </p:nvCxnSpPr>
        <p:spPr>
          <a:xfrm rot="5400000">
            <a:off x="2819400" y="2362200"/>
            <a:ext cx="60960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10" idx="2"/>
          </p:cNvCxnSpPr>
          <p:nvPr/>
        </p:nvCxnSpPr>
        <p:spPr>
          <a:xfrm rot="16200000" flipH="1">
            <a:off x="3733800" y="2362200"/>
            <a:ext cx="60960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2362200" y="31242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A</a:t>
            </a:r>
            <a:endParaRPr lang="en-US" dirty="0"/>
          </a:p>
        </p:txBody>
      </p:sp>
      <p:cxnSp>
        <p:nvCxnSpPr>
          <p:cNvPr id="116" name="Straight Connector 115"/>
          <p:cNvCxnSpPr>
            <a:stCxn id="115" idx="2"/>
          </p:cNvCxnSpPr>
          <p:nvPr/>
        </p:nvCxnSpPr>
        <p:spPr>
          <a:xfrm rot="5400000">
            <a:off x="1943100" y="3771900"/>
            <a:ext cx="9144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15" idx="2"/>
          </p:cNvCxnSpPr>
          <p:nvPr/>
        </p:nvCxnSpPr>
        <p:spPr>
          <a:xfrm rot="16200000" flipH="1">
            <a:off x="2438400" y="3810000"/>
            <a:ext cx="914400" cy="457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1752600" y="4495800"/>
            <a:ext cx="609600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ounded Rectangle 121"/>
          <p:cNvSpPr/>
          <p:nvPr/>
        </p:nvSpPr>
        <p:spPr>
          <a:xfrm>
            <a:off x="2895600" y="4495800"/>
            <a:ext cx="6096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ounded Rectangle 122"/>
          <p:cNvSpPr/>
          <p:nvPr/>
        </p:nvSpPr>
        <p:spPr>
          <a:xfrm>
            <a:off x="4343400" y="31242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A</a:t>
            </a:r>
            <a:endParaRPr lang="en-US" dirty="0"/>
          </a:p>
        </p:txBody>
      </p:sp>
      <p:cxnSp>
        <p:nvCxnSpPr>
          <p:cNvPr id="124" name="Straight Connector 123"/>
          <p:cNvCxnSpPr>
            <a:stCxn id="123" idx="2"/>
          </p:cNvCxnSpPr>
          <p:nvPr/>
        </p:nvCxnSpPr>
        <p:spPr>
          <a:xfrm rot="5400000">
            <a:off x="3924300" y="3771900"/>
            <a:ext cx="9144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23" idx="2"/>
          </p:cNvCxnSpPr>
          <p:nvPr/>
        </p:nvCxnSpPr>
        <p:spPr>
          <a:xfrm rot="16200000" flipH="1">
            <a:off x="4419600" y="3810000"/>
            <a:ext cx="914400" cy="457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3733800" y="4495800"/>
            <a:ext cx="609600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ounded Rectangle 126"/>
          <p:cNvSpPr/>
          <p:nvPr/>
        </p:nvSpPr>
        <p:spPr>
          <a:xfrm>
            <a:off x="4876800" y="4495800"/>
            <a:ext cx="6096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26670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&gt;2</a:t>
            </a:r>
            <a:endParaRPr 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4114800" y="259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&lt;=2</a:t>
            </a:r>
            <a:endParaRPr lang="en-US" dirty="0"/>
          </a:p>
        </p:txBody>
      </p:sp>
      <p:sp>
        <p:nvSpPr>
          <p:cNvPr id="130" name="TextBox 129"/>
          <p:cNvSpPr txBox="1"/>
          <p:nvPr/>
        </p:nvSpPr>
        <p:spPr>
          <a:xfrm>
            <a:off x="1981200" y="38862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&lt;3</a:t>
            </a:r>
            <a:endParaRPr 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2895600" y="3886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&gt;=3</a:t>
            </a:r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3962400" y="38862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&lt;1</a:t>
            </a:r>
            <a:endParaRPr lang="en-US" dirty="0"/>
          </a:p>
        </p:txBody>
      </p:sp>
      <p:sp>
        <p:nvSpPr>
          <p:cNvPr id="133" name="TextBox 132"/>
          <p:cNvSpPr txBox="1"/>
          <p:nvPr/>
        </p:nvSpPr>
        <p:spPr>
          <a:xfrm>
            <a:off x="4876800" y="3886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&gt;=1</a:t>
            </a:r>
            <a:endParaRPr lang="en-US" dirty="0"/>
          </a:p>
        </p:txBody>
      </p:sp>
      <p:cxnSp>
        <p:nvCxnSpPr>
          <p:cNvPr id="135" name="Elbow Connector 134"/>
          <p:cNvCxnSpPr/>
          <p:nvPr/>
        </p:nvCxnSpPr>
        <p:spPr>
          <a:xfrm rot="5400000" flipH="1" flipV="1">
            <a:off x="6286500" y="4914900"/>
            <a:ext cx="1752600" cy="15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7162800" y="4038600"/>
            <a:ext cx="1752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 rot="5400000" flipH="1" flipV="1">
            <a:off x="7886700" y="3009900"/>
            <a:ext cx="20574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8001000" y="60960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7924800" y="6172200"/>
            <a:ext cx="6096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A</a:t>
            </a:r>
            <a:endParaRPr lang="en-US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5334000" y="1752600"/>
            <a:ext cx="6096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136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Induction</a:t>
            </a:r>
            <a:r>
              <a:rPr lang="nl-BE" dirty="0"/>
              <a:t> of a </a:t>
            </a:r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1" y="838200"/>
            <a:ext cx="39338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ounded Rectangle 11"/>
          <p:cNvSpPr/>
          <p:nvPr/>
        </p:nvSpPr>
        <p:spPr>
          <a:xfrm>
            <a:off x="4343400" y="4876800"/>
            <a:ext cx="2514600" cy="1143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400" dirty="0" err="1"/>
              <a:t>decision</a:t>
            </a:r>
            <a:r>
              <a:rPr lang="nl-BE" sz="2400" dirty="0"/>
              <a:t> tree</a:t>
            </a:r>
            <a:endParaRPr lang="en-US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rot="16200000" flipH="1">
            <a:off x="4907280" y="4160520"/>
            <a:ext cx="1159034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57600" y="54864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858000" y="54864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4800600"/>
            <a:ext cx="1905000" cy="12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72401" y="4876801"/>
            <a:ext cx="946613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0800000">
            <a:off x="9372601" y="4876801"/>
            <a:ext cx="946613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915400" y="5257800"/>
            <a:ext cx="4572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of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88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Induction</a:t>
            </a:r>
            <a:r>
              <a:rPr lang="nl-BE" dirty="0"/>
              <a:t> of a </a:t>
            </a:r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1" y="838200"/>
            <a:ext cx="39338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ounded Rectangle 11"/>
          <p:cNvSpPr/>
          <p:nvPr/>
        </p:nvSpPr>
        <p:spPr>
          <a:xfrm>
            <a:off x="4343400" y="4876800"/>
            <a:ext cx="2514600" cy="1143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400" dirty="0" err="1"/>
              <a:t>decision</a:t>
            </a:r>
            <a:r>
              <a:rPr lang="nl-BE" sz="2400" dirty="0"/>
              <a:t> tree</a:t>
            </a:r>
            <a:endParaRPr lang="en-US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rot="16200000" flipH="1">
            <a:off x="4907280" y="4160520"/>
            <a:ext cx="1159034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57600" y="54864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858000" y="54864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4800600"/>
            <a:ext cx="1905000" cy="12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72401" y="4876801"/>
            <a:ext cx="946613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0800000">
            <a:off x="9372601" y="4876801"/>
            <a:ext cx="946613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915400" y="5257800"/>
            <a:ext cx="4572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of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962400"/>
            <a:ext cx="4343400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Information </a:t>
            </a:r>
            <a:r>
              <a:rPr lang="nl-BE" sz="2000" dirty="0" err="1"/>
              <a:t>Entropy</a:t>
            </a:r>
            <a:r>
              <a:rPr lang="nl-BE" sz="2000" dirty="0"/>
              <a:t> </a:t>
            </a:r>
            <a:r>
              <a:rPr lang="nl-BE" sz="2000" dirty="0" err="1"/>
              <a:t>Minimalisation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4030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Entropy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3835" y="3352800"/>
            <a:ext cx="3173409" cy="293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752600" y="1447801"/>
            <a:ext cx="83058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entropy(</a:t>
            </a:r>
            <a:r>
              <a:rPr lang="en-US" sz="2400" dirty="0" err="1">
                <a:latin typeface="Times New Roman" pitchFamily="18" charset="0"/>
              </a:rPr>
              <a:t>data_set</a:t>
            </a:r>
            <a:r>
              <a:rPr lang="en-US" sz="2400" dirty="0">
                <a:latin typeface="Times New Roman" pitchFamily="18" charset="0"/>
              </a:rPr>
              <a:t>) = </a:t>
            </a:r>
          </a:p>
          <a:p>
            <a:pPr>
              <a:buFont typeface="Wingdings" pitchFamily="2" charset="2"/>
              <a:buNone/>
            </a:pPr>
            <a:endParaRPr 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</a:rPr>
              <a:t>-1*(</a:t>
            </a:r>
            <a:r>
              <a:rPr lang="en-US" sz="2800" dirty="0">
                <a:solidFill>
                  <a:schemeClr val="accent1"/>
                </a:solidFill>
                <a:latin typeface="Times New Roman" pitchFamily="18" charset="0"/>
              </a:rPr>
              <a:t>p(“Yes”)*log</a:t>
            </a:r>
            <a:r>
              <a:rPr lang="en-US" sz="2800" baseline="-25000" dirty="0">
                <a:solidFill>
                  <a:schemeClr val="accent1"/>
                </a:solidFill>
                <a:latin typeface="Times New Roman" pitchFamily="18" charset="0"/>
              </a:rPr>
              <a:t>2</a:t>
            </a:r>
            <a:r>
              <a:rPr lang="en-US" sz="2800" dirty="0">
                <a:solidFill>
                  <a:schemeClr val="accent1"/>
                </a:solidFill>
                <a:latin typeface="Times New Roman" pitchFamily="18" charset="0"/>
              </a:rPr>
              <a:t>(p(“Yes”) )</a:t>
            </a:r>
            <a:r>
              <a:rPr lang="en-US" sz="2800" dirty="0">
                <a:latin typeface="Times New Roman" pitchFamily="18" charset="0"/>
              </a:rPr>
              <a:t>+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p(“No”)*log</a:t>
            </a:r>
            <a:r>
              <a:rPr lang="en-US" sz="2800" baseline="-25000" dirty="0">
                <a:solidFill>
                  <a:schemeClr val="accent6"/>
                </a:solidFill>
                <a:latin typeface="Times New Roman" pitchFamily="18" charset="0"/>
              </a:rPr>
              <a:t>2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(p(“No”))</a:t>
            </a:r>
            <a:r>
              <a:rPr lang="en-US" sz="2800" dirty="0">
                <a:latin typeface="Times New Roman" pitchFamily="18" charset="0"/>
              </a:rPr>
              <a:t>)</a:t>
            </a:r>
          </a:p>
          <a:p>
            <a:pPr>
              <a:buFont typeface="Wingdings" pitchFamily="2" charset="2"/>
              <a:buNone/>
            </a:pPr>
            <a:endParaRPr 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-1* (</a:t>
            </a: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</a:rPr>
              <a:t>(13/26) log</a:t>
            </a:r>
            <a:r>
              <a:rPr lang="en-US" sz="2400" baseline="-25000" dirty="0">
                <a:solidFill>
                  <a:schemeClr val="accent1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</a:rPr>
              <a:t>(13/26) </a:t>
            </a:r>
            <a:r>
              <a:rPr lang="en-US" sz="2400" dirty="0">
                <a:latin typeface="Times New Roman" pitchFamily="18" charset="0"/>
              </a:rPr>
              <a:t>+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 (13/26) *log</a:t>
            </a:r>
            <a:r>
              <a:rPr lang="en-US" sz="2400" baseline="-25000" dirty="0">
                <a:solidFill>
                  <a:schemeClr val="accent6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(13/26)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= 1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6019800"/>
            <a:ext cx="12954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924800" y="6019800"/>
            <a:ext cx="11430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p(“Yes”)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6477000" y="4267200"/>
            <a:ext cx="3810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5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Information </a:t>
            </a:r>
            <a:r>
              <a:rPr lang="nl-BE" dirty="0" err="1"/>
              <a:t>gain</a:t>
            </a:r>
            <a:r>
              <a:rPr lang="nl-BE" dirty="0"/>
              <a:t> (delta </a:t>
            </a:r>
            <a:r>
              <a:rPr lang="nl-BE" dirty="0" err="1"/>
              <a:t>entropy</a:t>
            </a:r>
            <a:r>
              <a:rPr lang="nl-BE" dirty="0"/>
              <a:t>)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886200" y="26670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B</a:t>
            </a:r>
            <a:endParaRPr lang="en-US" dirty="0"/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>
          <a:xfrm rot="5400000">
            <a:off x="3429000" y="2971800"/>
            <a:ext cx="60960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</p:cNvCxnSpPr>
          <p:nvPr/>
        </p:nvCxnSpPr>
        <p:spPr>
          <a:xfrm rot="16200000" flipH="1">
            <a:off x="4343400" y="2971800"/>
            <a:ext cx="60960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37338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953000" y="37338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5295900" y="3390900"/>
            <a:ext cx="1600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77000" y="2743200"/>
            <a:ext cx="3799106" cy="1143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/>
              <a:t>Information </a:t>
            </a:r>
            <a:r>
              <a:rPr lang="nl-BE" sz="2000" dirty="0" err="1"/>
              <a:t>gain</a:t>
            </a:r>
            <a:endParaRPr lang="nl-BE" sz="2000" dirty="0"/>
          </a:p>
          <a:p>
            <a:endParaRPr lang="nl-BE" sz="2000" dirty="0"/>
          </a:p>
          <a:p>
            <a:r>
              <a:rPr lang="nl-BE" sz="2000" dirty="0"/>
              <a:t>(delta </a:t>
            </a:r>
            <a:r>
              <a:rPr lang="nl-BE" sz="2000" dirty="0" err="1"/>
              <a:t>entropy</a:t>
            </a:r>
            <a:r>
              <a:rPr lang="nl-BE" sz="2000" dirty="0"/>
              <a:t> / </a:t>
            </a:r>
            <a:r>
              <a:rPr lang="nl-BE" sz="2000" dirty="0" err="1"/>
              <a:t>entropy</a:t>
            </a:r>
            <a:r>
              <a:rPr lang="nl-BE" sz="2000" dirty="0"/>
              <a:t> </a:t>
            </a:r>
            <a:r>
              <a:rPr lang="nl-BE" sz="2000" dirty="0" err="1"/>
              <a:t>reduction</a:t>
            </a:r>
            <a:r>
              <a:rPr lang="nl-BE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3559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Information </a:t>
            </a:r>
            <a:r>
              <a:rPr lang="nl-BE" dirty="0" err="1"/>
              <a:t>gain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886200" y="26670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B</a:t>
            </a:r>
            <a:endParaRPr lang="en-US" dirty="0"/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>
          <a:xfrm rot="5400000">
            <a:off x="3429000" y="2971800"/>
            <a:ext cx="60960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</p:cNvCxnSpPr>
          <p:nvPr/>
        </p:nvCxnSpPr>
        <p:spPr>
          <a:xfrm rot="16200000" flipH="1">
            <a:off x="4343400" y="2971800"/>
            <a:ext cx="60960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37338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953000" y="3733800"/>
            <a:ext cx="609600" cy="457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5487194" y="39616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29000" y="2133600"/>
            <a:ext cx="20574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1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4600" y="4191000"/>
            <a:ext cx="20574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0.6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648200" y="4191000"/>
            <a:ext cx="20574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0.4</a:t>
            </a:r>
            <a:endParaRPr lang="en-US" sz="2000" dirty="0"/>
          </a:p>
        </p:txBody>
      </p:sp>
      <p:cxnSp>
        <p:nvCxnSpPr>
          <p:cNvPr id="17" name="Straight Arrow Connector 16"/>
          <p:cNvCxnSpPr>
            <a:stCxn id="12" idx="2"/>
          </p:cNvCxnSpPr>
          <p:nvPr/>
        </p:nvCxnSpPr>
        <p:spPr>
          <a:xfrm rot="16200000" flipH="1">
            <a:off x="3562350" y="4629150"/>
            <a:ext cx="533400" cy="571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 flipV="1">
            <a:off x="4724400" y="4648200"/>
            <a:ext cx="6096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71800" y="5334000"/>
            <a:ext cx="46482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average</a:t>
            </a:r>
            <a:r>
              <a:rPr lang="nl-BE" sz="2000" dirty="0"/>
              <a:t> </a:t>
            </a:r>
            <a:r>
              <a:rPr lang="nl-BE" sz="2000" dirty="0" err="1"/>
              <a:t>entropy</a:t>
            </a:r>
            <a:r>
              <a:rPr lang="nl-BE" sz="2000" dirty="0"/>
              <a:t> = 0.5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7162800" y="3733800"/>
            <a:ext cx="27432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</a:t>
            </a:r>
            <a:r>
              <a:rPr lang="nl-BE" sz="2000" dirty="0" err="1"/>
              <a:t>reduction</a:t>
            </a:r>
            <a:r>
              <a:rPr lang="nl-BE" sz="2000" dirty="0"/>
              <a:t> = 0.5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2174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 data </a:t>
            </a:r>
            <a:r>
              <a:rPr lang="nl-BE" dirty="0" err="1"/>
              <a:t>structure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08363" y="2204864"/>
            <a:ext cx="2781082" cy="1515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919536" y="1092800"/>
            <a:ext cx="507004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EXAMPLE STRUCTURE</a:t>
            </a:r>
          </a:p>
          <a:p>
            <a:r>
              <a:rPr lang="en-GB" dirty="0"/>
              <a:t>[Numeric ID: Culture, Fly, Hot, Music, Nature, </a:t>
            </a:r>
            <a:r>
              <a:rPr lang="en-GB" b="1" dirty="0">
                <a:solidFill>
                  <a:srgbClr val="FF0000"/>
                </a:solidFill>
              </a:rPr>
              <a:t>Like</a:t>
            </a:r>
            <a:r>
              <a:rPr lang="en-GB" dirty="0"/>
              <a:t>;]</a:t>
            </a:r>
          </a:p>
          <a:p>
            <a:endParaRPr lang="en-GB" dirty="0"/>
          </a:p>
          <a:p>
            <a:r>
              <a:rPr lang="en-GB" dirty="0"/>
              <a:t>Training examples:</a:t>
            </a:r>
          </a:p>
          <a:p>
            <a:r>
              <a:rPr lang="en-GB" dirty="0"/>
              <a:t>01: 0, 0, 1, 0, 0, </a:t>
            </a:r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;</a:t>
            </a:r>
          </a:p>
          <a:p>
            <a:r>
              <a:rPr lang="en-GB" dirty="0"/>
              <a:t>02: 0, 1, 1, 0, 0, </a:t>
            </a:r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;</a:t>
            </a:r>
          </a:p>
          <a:p>
            <a:r>
              <a:rPr lang="en-GB" dirty="0"/>
              <a:t>03: 1, 1, 1, 1, 1, </a:t>
            </a:r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;</a:t>
            </a:r>
          </a:p>
          <a:p>
            <a:r>
              <a:rPr lang="en-GB" dirty="0"/>
              <a:t>04: 0, 1, 1, 1, 1, </a:t>
            </a:r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;</a:t>
            </a:r>
          </a:p>
          <a:p>
            <a:r>
              <a:rPr lang="en-GB" dirty="0"/>
              <a:t>05: 0, 1, 1, 0, 1, </a:t>
            </a:r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;</a:t>
            </a:r>
          </a:p>
          <a:p>
            <a:r>
              <a:rPr lang="en-GB" dirty="0"/>
              <a:t>       …</a:t>
            </a:r>
          </a:p>
          <a:p>
            <a:r>
              <a:rPr lang="en-GB" dirty="0"/>
              <a:t>26: 0, 1, 0, 1, 0, </a:t>
            </a:r>
            <a:r>
              <a:rPr lang="en-GB" b="1" dirty="0">
                <a:solidFill>
                  <a:srgbClr val="FF0000"/>
                </a:solidFill>
              </a:rPr>
              <a:t>1</a:t>
            </a:r>
            <a:r>
              <a:rPr lang="en-GB" dirty="0"/>
              <a:t>;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248128" y="3737519"/>
            <a:ext cx="598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Like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7230358" y="2852937"/>
            <a:ext cx="576064" cy="12539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76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2209801"/>
            <a:ext cx="495300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34000" y="1828800"/>
            <a:ext cx="14478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1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971800" y="4495800"/>
            <a:ext cx="6220544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-1 * (0.47*log</a:t>
            </a:r>
            <a:r>
              <a:rPr lang="nl-BE" sz="2000" baseline="-25000" dirty="0"/>
              <a:t>2</a:t>
            </a:r>
            <a:r>
              <a:rPr lang="nl-BE" sz="2000" dirty="0"/>
              <a:t>(0.47)+0.53*log</a:t>
            </a:r>
            <a:r>
              <a:rPr lang="nl-BE" sz="2000" baseline="-25000" dirty="0"/>
              <a:t>2</a:t>
            </a:r>
            <a:r>
              <a:rPr lang="nl-BE" sz="2000" dirty="0"/>
              <a:t>(0.53)) = 0.997</a:t>
            </a:r>
          </a:p>
          <a:p>
            <a:endParaRPr lang="nl-BE" sz="2000" dirty="0"/>
          </a:p>
          <a:p>
            <a:r>
              <a:rPr lang="nl-BE" sz="2000" dirty="0" err="1"/>
              <a:t>entropy</a:t>
            </a:r>
            <a:r>
              <a:rPr lang="nl-BE" sz="2000" dirty="0"/>
              <a:t> = -1 * (0.55*log</a:t>
            </a:r>
            <a:r>
              <a:rPr lang="nl-BE" sz="2000" baseline="-25000" dirty="0"/>
              <a:t>2 </a:t>
            </a:r>
            <a:r>
              <a:rPr lang="nl-BE" sz="2000" dirty="0"/>
              <a:t>(0.55)+0.45*log</a:t>
            </a:r>
            <a:r>
              <a:rPr lang="nl-BE" sz="2000" baseline="-25000" dirty="0"/>
              <a:t>2 </a:t>
            </a:r>
            <a:r>
              <a:rPr lang="nl-BE" sz="2000" dirty="0"/>
              <a:t>(0.45)) = 0.991</a:t>
            </a:r>
            <a:endParaRPr lang="en-US" sz="2000" dirty="0"/>
          </a:p>
        </p:txBody>
      </p:sp>
      <p:cxnSp>
        <p:nvCxnSpPr>
          <p:cNvPr id="26" name="Straight Connector 25"/>
          <p:cNvCxnSpPr/>
          <p:nvPr/>
        </p:nvCxnSpPr>
        <p:spPr>
          <a:xfrm rot="10800000">
            <a:off x="2438400" y="3810000"/>
            <a:ext cx="12954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1981200" y="4267200"/>
            <a:ext cx="9144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438400" y="47244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28249" y="3735388"/>
            <a:ext cx="16553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9221637" y="4495800"/>
            <a:ext cx="152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9192345" y="5259388"/>
            <a:ext cx="7912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608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0" y="1828800"/>
            <a:ext cx="14478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1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971800" y="4495800"/>
            <a:ext cx="60198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BE" sz="2000" dirty="0" err="1"/>
              <a:t>entropy</a:t>
            </a:r>
            <a:r>
              <a:rPr lang="nl-BE" sz="2000" dirty="0"/>
              <a:t> = -1 * (0.73*log</a:t>
            </a:r>
            <a:r>
              <a:rPr lang="nl-BE" sz="2000" baseline="-25000" dirty="0"/>
              <a:t>2</a:t>
            </a:r>
            <a:r>
              <a:rPr lang="nl-BE" sz="2000" dirty="0"/>
              <a:t>(0.73)+0.27*log</a:t>
            </a:r>
            <a:r>
              <a:rPr lang="nl-BE" sz="2000" baseline="-25000" dirty="0"/>
              <a:t>2 </a:t>
            </a:r>
            <a:r>
              <a:rPr lang="nl-BE" sz="2000" dirty="0"/>
              <a:t>(0.27)) = 0.84</a:t>
            </a:r>
          </a:p>
          <a:p>
            <a:endParaRPr lang="nl-BE" sz="2000" dirty="0"/>
          </a:p>
          <a:p>
            <a:r>
              <a:rPr lang="nl-BE" sz="2000" dirty="0" err="1"/>
              <a:t>entropy</a:t>
            </a:r>
            <a:r>
              <a:rPr lang="nl-BE" sz="2000" dirty="0"/>
              <a:t> = -1 * (0.18*log</a:t>
            </a:r>
            <a:r>
              <a:rPr lang="nl-BE" sz="2000" baseline="-25000" dirty="0"/>
              <a:t>2 </a:t>
            </a:r>
            <a:r>
              <a:rPr lang="nl-BE" sz="2000" dirty="0"/>
              <a:t>(0.18)+0.82*log</a:t>
            </a:r>
            <a:r>
              <a:rPr lang="nl-BE" sz="2000" baseline="-25000" dirty="0"/>
              <a:t>2 </a:t>
            </a:r>
            <a:r>
              <a:rPr lang="nl-BE" sz="2000" dirty="0"/>
              <a:t>(0.82)) = 0.68</a:t>
            </a:r>
            <a:endParaRPr lang="en-US" sz="2000" dirty="0"/>
          </a:p>
        </p:txBody>
      </p:sp>
      <p:cxnSp>
        <p:nvCxnSpPr>
          <p:cNvPr id="26" name="Straight Connector 25"/>
          <p:cNvCxnSpPr/>
          <p:nvPr/>
        </p:nvCxnSpPr>
        <p:spPr>
          <a:xfrm rot="10800000">
            <a:off x="2438400" y="3810000"/>
            <a:ext cx="12954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1981200" y="4267200"/>
            <a:ext cx="9144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438400" y="47244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58744" y="2197698"/>
            <a:ext cx="48768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Straight Connector 12"/>
          <p:cNvCxnSpPr/>
          <p:nvPr/>
        </p:nvCxnSpPr>
        <p:spPr>
          <a:xfrm>
            <a:off x="8328249" y="3735388"/>
            <a:ext cx="16553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9221637" y="4495800"/>
            <a:ext cx="152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9192345" y="5259388"/>
            <a:ext cx="7912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391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990600"/>
            <a:ext cx="15621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14600" y="1143001"/>
            <a:ext cx="24003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83329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990600"/>
            <a:ext cx="15621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5201" y="762001"/>
            <a:ext cx="50577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81200" y="3124200"/>
            <a:ext cx="241935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33300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990600"/>
            <a:ext cx="15621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1" y="838201"/>
            <a:ext cx="486727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667001" y="990600"/>
            <a:ext cx="61245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848600" y="3124200"/>
            <a:ext cx="2419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2156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990600"/>
            <a:ext cx="15621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19401" y="990600"/>
            <a:ext cx="68294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1" y="4191001"/>
            <a:ext cx="23717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46944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990600"/>
            <a:ext cx="15621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1" y="4114800"/>
            <a:ext cx="24860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38401" y="1066801"/>
            <a:ext cx="730567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705600" y="4191001"/>
            <a:ext cx="24384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2270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Decision</a:t>
            </a:r>
            <a:r>
              <a:rPr lang="nl-BE" dirty="0"/>
              <a:t> tree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990600"/>
            <a:ext cx="15621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990601"/>
            <a:ext cx="721995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0681304"/>
      </p:ext>
    </p:extLst>
  </p:cSld>
  <p:clrMapOvr>
    <a:masterClrMapping/>
  </p:clrMapOvr>
</p:sld>
</file>

<file path=ppt/theme/theme1.xml><?xml version="1.0" encoding="utf-8"?>
<a:theme xmlns:a="http://schemas.openxmlformats.org/drawingml/2006/main" name="VIB_template_new">
  <a:themeElements>
    <a:clrScheme name="VIB Colours">
      <a:dk1>
        <a:srgbClr val="1B2944"/>
      </a:dk1>
      <a:lt1>
        <a:sysClr val="window" lastClr="FFFFFF"/>
      </a:lt1>
      <a:dk2>
        <a:srgbClr val="1B2944"/>
      </a:dk2>
      <a:lt2>
        <a:srgbClr val="FFFFFF"/>
      </a:lt2>
      <a:accent1>
        <a:srgbClr val="5DB7B1"/>
      </a:accent1>
      <a:accent2>
        <a:srgbClr val="5A2A82"/>
      </a:accent2>
      <a:accent3>
        <a:srgbClr val="FF681E"/>
      </a:accent3>
      <a:accent4>
        <a:srgbClr val="1B2944"/>
      </a:accent4>
      <a:accent5>
        <a:srgbClr val="7C7C7C"/>
      </a:accent5>
      <a:accent6>
        <a:srgbClr val="FFFFFF"/>
      </a:accent6>
      <a:hlink>
        <a:srgbClr val="5DB7B1"/>
      </a:hlink>
      <a:folHlink>
        <a:srgbClr val="5DB7B1"/>
      </a:folHlink>
    </a:clrScheme>
    <a:fontScheme name="VIB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F52A2D9-3537-4A4B-A5A7-437C6DAFF3B2}" vid="{51DB1E24-3D82-417F-A667-72D8C4750D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POC Document" ma:contentTypeID="0x010100D21CD732196BCA4DA3AD15741FAAEAB300B4B5CB8B400AFE40A28217962755B872" ma:contentTypeVersion="" ma:contentTypeDescription="Any stored document in SPOC" ma:contentTypeScope="" ma:versionID="a147e246583725666b90d480f2c46a0f">
  <xsd:schema xmlns:xsd="http://www.w3.org/2001/XMLSchema" xmlns:xs="http://www.w3.org/2001/XMLSchema" xmlns:p="http://schemas.microsoft.com/office/2006/metadata/properties" xmlns:ns2="c9d748f5-5876-47e9-a303-3a7826611e35" targetNamespace="http://schemas.microsoft.com/office/2006/metadata/properties" ma:root="true" ma:fieldsID="67de9deb72ad5d422c0858f1c758fe77" ns2:_="">
    <xsd:import namespace="c9d748f5-5876-47e9-a303-3a7826611e35"/>
    <xsd:element name="properties">
      <xsd:complexType>
        <xsd:sequence>
          <xsd:element name="documentManagement">
            <xsd:complexType>
              <xsd:all>
                <xsd:element ref="ns2:pc0d98ad5e2642f89c606050aa6933af" minOccurs="0"/>
                <xsd:element ref="ns2:TaxCatchAll" minOccurs="0"/>
                <xsd:element ref="ns2:TaxCatchAllLabel" minOccurs="0"/>
                <xsd:element ref="ns2:p9556c49ba1a4ec09f00832b84beee22" minOccurs="0"/>
                <xsd:element ref="ns2:b235e3f0792140ffbb730e52789f9435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748f5-5876-47e9-a303-3a7826611e35" elementFormDefault="qualified">
    <xsd:import namespace="http://schemas.microsoft.com/office/2006/documentManagement/types"/>
    <xsd:import namespace="http://schemas.microsoft.com/office/infopath/2007/PartnerControls"/>
    <xsd:element name="pc0d98ad5e2642f89c606050aa6933af" ma:index="8" ma:taxonomy="true" ma:internalName="pc0d98ad5e2642f89c606050aa6933af" ma:taxonomyFieldName="SPOCDocType" ma:displayName="SPOC DocType" ma:default="" ma:fieldId="{9c0d98ad-5e26-42f8-9c60-6050aa6933af}" ma:sspId="f25094d8-76ab-4d6b-88a7-2b66e0abe62d" ma:termSetId="e2647def-8179-40a2-aff3-89d3333a18b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a714be83-99a2-4762-87a8-d84bb9bc2de8}" ma:internalName="TaxCatchAll" ma:showField="CatchAllData" ma:web="c9d748f5-5876-47e9-a303-3a7826611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a714be83-99a2-4762-87a8-d84bb9bc2de8}" ma:internalName="TaxCatchAllLabel" ma:readOnly="true" ma:showField="CatchAllDataLabel" ma:web="c9d748f5-5876-47e9-a303-3a7826611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9556c49ba1a4ec09f00832b84beee22" ma:index="12" ma:taxonomy="true" ma:internalName="p9556c49ba1a4ec09f00832b84beee22" ma:taxonomyFieldName="SPOCLanguage" ma:displayName="SPOC Language" ma:default="" ma:fieldId="{99556c49-ba1a-4ec0-9f00-832b84beee22}" ma:taxonomyMulti="true" ma:sspId="f25094d8-76ab-4d6b-88a7-2b66e0abe62d" ma:termSetId="3669b949-c6bf-4656-bd7a-bb8125f2c65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235e3f0792140ffbb730e52789f9435" ma:index="14" ma:taxonomy="true" ma:internalName="b235e3f0792140ffbb730e52789f9435" ma:taxonomyFieldName="SPOCTopic" ma:displayName="SPOC Topic" ma:default="" ma:fieldId="{b235e3f0-7921-40ff-bb73-0e52789f9435}" ma:sspId="f25094d8-76ab-4d6b-88a7-2b66e0abe62d" ma:termSetId="3a64726a-3290-4c07-9d25-34b6040ad91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c0d98ad5e2642f89c606050aa6933af xmlns="c9d748f5-5876-47e9-a303-3a7826611e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Template</TermName>
          <TermId xmlns="http://schemas.microsoft.com/office/infopath/2007/PartnerControls">6147a76d-7c71-4126-9bc5-b71e0ce46930</TermId>
        </TermInfo>
      </Terms>
    </pc0d98ad5e2642f89c606050aa6933af>
    <b235e3f0792140ffbb730e52789f9435 xmlns="c9d748f5-5876-47e9-a303-3a7826611e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Communication at VIB</TermName>
          <TermId xmlns="http://schemas.microsoft.com/office/infopath/2007/PartnerControls">ec6637b6-7d77-48dd-8d1a-e5ad5a42a5b7</TermId>
        </TermInfo>
      </Terms>
    </b235e3f0792140ffbb730e52789f9435>
    <p9556c49ba1a4ec09f00832b84beee22 xmlns="c9d748f5-5876-47e9-a303-3a7826611e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cf1ccf97-a177-4e56-a5ce-0b376d8acdb5</TermId>
        </TermInfo>
      </Terms>
    </p9556c49ba1a4ec09f00832b84beee22>
    <TaxCatchAll xmlns="c9d748f5-5876-47e9-a303-3a7826611e35">
      <Value>13</Value>
      <Value>16</Value>
      <Value>2</Value>
    </TaxCatchAll>
  </documentManagement>
</p:properties>
</file>

<file path=customXml/itemProps1.xml><?xml version="1.0" encoding="utf-8"?>
<ds:datastoreItem xmlns:ds="http://schemas.openxmlformats.org/officeDocument/2006/customXml" ds:itemID="{E8CE217E-83C8-4F4B-A3FE-FFAA57CF9B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748f5-5876-47e9-a303-3a7826611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B7C33D-E00A-42DB-8DE7-3BB3D39E1F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297F28-CAF5-4A01-A1F0-D0775725C31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c9d748f5-5876-47e9-a303-3a7826611e3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VIB_PPT_template</Template>
  <TotalTime>0</TotalTime>
  <Words>1279</Words>
  <Application>Microsoft Office PowerPoint</Application>
  <PresentationFormat>Widescreen</PresentationFormat>
  <Paragraphs>177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Corbel</vt:lpstr>
      <vt:lpstr>Times New Roman</vt:lpstr>
      <vt:lpstr>Wingdings</vt:lpstr>
      <vt:lpstr>VIB_template_new</vt:lpstr>
      <vt:lpstr>List of some commonly used learning algorithms</vt:lpstr>
      <vt:lpstr>Intermezzo: the binary system</vt:lpstr>
      <vt:lpstr>Binary counting in the early 18th century with Leibniz (in French!)</vt:lpstr>
      <vt:lpstr>Entropy, bits, and states</vt:lpstr>
      <vt:lpstr>Maximal entropy for a system</vt:lpstr>
      <vt:lpstr>Some examples of maximal entropy</vt:lpstr>
      <vt:lpstr>The concept of local entropy</vt:lpstr>
      <vt:lpstr>Some examples of local entropy</vt:lpstr>
      <vt:lpstr>Local entropy and maximal entropy for a system</vt:lpstr>
      <vt:lpstr>Decision tree</vt:lpstr>
      <vt:lpstr>Induction of a decision tree</vt:lpstr>
      <vt:lpstr>Induction of a decision tree</vt:lpstr>
      <vt:lpstr>Entropy</vt:lpstr>
      <vt:lpstr>Information gain (delta entropy)</vt:lpstr>
      <vt:lpstr>Information gain</vt:lpstr>
      <vt:lpstr>Decision tree data structure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Lennart Martens</dc:creator>
  <cp:lastModifiedBy>Lennart Martens</cp:lastModifiedBy>
  <cp:revision>360</cp:revision>
  <cp:lastPrinted>2022-02-23T16:52:11Z</cp:lastPrinted>
  <dcterms:created xsi:type="dcterms:W3CDTF">2016-11-18T10:31:19Z</dcterms:created>
  <dcterms:modified xsi:type="dcterms:W3CDTF">2026-10-26T07:07:24Z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0x010100D21CD732196BCA4DA3AD15741FAAEAB300B4B5CB8B400AFE40A28217962755B872</vt:lpwstr>
  </property>
  <property fmtid="{D5CDD505-2E9C-101B-9397-08002B2CF9AE}" pid="3" name="SPOCTopic">
    <vt:lpwstr>2;#Communication at VIB|ec6637b6-7d77-48dd-8d1a-e5ad5a42a5b7</vt:lpwstr>
  </property>
  <property fmtid="{D5CDD505-2E9C-101B-9397-08002B2CF9AE}" pid="4" name="SPOCLanguage">
    <vt:lpwstr>13;#English|cf1ccf97-a177-4e56-a5ce-0b376d8acdb5</vt:lpwstr>
  </property>
  <property fmtid="{D5CDD505-2E9C-101B-9397-08002B2CF9AE}" pid="5" name="SPOCDocType">
    <vt:lpwstr>16;#Template|6147a76d-7c71-4126-9bc5-b71e0ce46930</vt:lpwstr>
  </property>
</Properties>
</file>