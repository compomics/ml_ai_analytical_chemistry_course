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notesMasterIdLst>
    <p:notesMasterId r:id="rId31"/>
  </p:notesMasterIdLst>
  <p:handoutMasterIdLst>
    <p:handoutMasterId r:id="rId32"/>
  </p:handoutMasterIdLst>
  <p:sldIdLst>
    <p:sldId id="530" r:id="rId2"/>
    <p:sldId id="438" r:id="rId3"/>
    <p:sldId id="444" r:id="rId4"/>
    <p:sldId id="437" r:id="rId5"/>
    <p:sldId id="441" r:id="rId6"/>
    <p:sldId id="541" r:id="rId7"/>
    <p:sldId id="442" r:id="rId8"/>
    <p:sldId id="542" r:id="rId9"/>
    <p:sldId id="543" r:id="rId10"/>
    <p:sldId id="544" r:id="rId11"/>
    <p:sldId id="545" r:id="rId12"/>
    <p:sldId id="547" r:id="rId13"/>
    <p:sldId id="548" r:id="rId14"/>
    <p:sldId id="549" r:id="rId15"/>
    <p:sldId id="550" r:id="rId16"/>
    <p:sldId id="553" r:id="rId17"/>
    <p:sldId id="532" r:id="rId18"/>
    <p:sldId id="533" r:id="rId19"/>
    <p:sldId id="534" r:id="rId20"/>
    <p:sldId id="535" r:id="rId21"/>
    <p:sldId id="554" r:id="rId22"/>
    <p:sldId id="555" r:id="rId23"/>
    <p:sldId id="563" r:id="rId24"/>
    <p:sldId id="457" r:id="rId25"/>
    <p:sldId id="559" r:id="rId26"/>
    <p:sldId id="560" r:id="rId27"/>
    <p:sldId id="561" r:id="rId28"/>
    <p:sldId id="540" r:id="rId29"/>
    <p:sldId id="564" r:id="rId30"/>
  </p:sldIdLst>
  <p:sldSz cx="12192000" cy="6858000"/>
  <p:notesSz cx="6858000" cy="9144000"/>
  <p:embeddedFontLst>
    <p:embeddedFont>
      <p:font typeface="Aptos SemiBold" panose="020B0004020202020204" pitchFamily="34" charset="0"/>
      <p:bold r:id="rId33"/>
      <p:boldItalic r:id="rId34"/>
    </p:embeddedFont>
    <p:embeddedFont>
      <p:font typeface="Cambria Math" panose="02040503050406030204" pitchFamily="18" charset="0"/>
      <p:regular r:id="rId35"/>
    </p:embeddedFont>
    <p:embeddedFont>
      <p:font typeface="Lato" panose="020F0502020204030203" pitchFamily="34" charset="0"/>
      <p:regular r:id="rId36"/>
    </p:embeddedFont>
    <p:embeddedFont>
      <p:font typeface="Open Sans SemiBold" panose="020B0706030804020204" pitchFamily="34" charset="0"/>
      <p:bold r:id="rId37"/>
    </p:embeddedFont>
  </p:embeddedFontLst>
  <p:defaultText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6"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59A14F"/>
    <a:srgbClr val="EDC948"/>
    <a:srgbClr val="E15759"/>
    <a:srgbClr val="FFFFFF"/>
    <a:srgbClr val="417EC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91" d="100"/>
          <a:sy n="91" d="100"/>
        </p:scale>
        <p:origin x="2252" y="44"/>
      </p:cViewPr>
      <p:guideLst>
        <p:guide orient="horz" pos="2160"/>
        <p:guide pos="3840"/>
      </p:guideLst>
    </p:cSldViewPr>
  </p:slideViewPr>
  <p:notesTextViewPr>
    <p:cViewPr>
      <p:scale>
        <a:sx n="1" d="1"/>
        <a:sy n="1" d="1"/>
      </p:scale>
      <p:origin x="0" y="0"/>
    </p:cViewPr>
  </p:notesTextViewPr>
  <p:sorterViewPr>
    <p:cViewPr varScale="1">
      <p:scale>
        <a:sx n="1" d="1"/>
        <a:sy n="1" d="1"/>
      </p:scale>
      <p:origin x="0" y="0"/>
    </p:cViewPr>
  </p:sorterViewPr>
  <p:notesViewPr>
    <p:cSldViewPr snapToGrid="0" showGuides="1">
      <p:cViewPr varScale="1">
        <p:scale>
          <a:sx n="66" d="100"/>
          <a:sy n="66" d="100"/>
        </p:scale>
        <p:origin x="0" y="0"/>
      </p:cViewPr>
      <p:guideLst>
        <p:guide orient="horz" pos="2886"/>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2.fntdata"/><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37" Type="http://schemas.openxmlformats.org/officeDocument/2006/relationships/font" Target="fonts/font5.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bbin Bouwmeester" userId="1dbfebabfc25a55a" providerId="LiveId" clId="{75D63595-F797-482E-A4A0-2F4889B74D4F}"/>
    <pc:docChg chg="undo custSel delSld modSld">
      <pc:chgData name="Robbin Bouwmeester" userId="1dbfebabfc25a55a" providerId="LiveId" clId="{75D63595-F797-482E-A4A0-2F4889B74D4F}" dt="2026-10-18T08:02:04.074" v="5" actId="47"/>
      <pc:docMkLst>
        <pc:docMk/>
      </pc:docMkLst>
      <pc:sldChg chg="modSp del mod">
        <pc:chgData name="Robbin Bouwmeester" userId="1dbfebabfc25a55a" providerId="LiveId" clId="{75D63595-F797-482E-A4A0-2F4889B74D4F}" dt="2026-10-18T08:01:04.309" v="4" actId="47"/>
        <pc:sldMkLst>
          <pc:docMk/>
          <pc:sldMk cId="2348918196" sldId="256"/>
        </pc:sldMkLst>
        <pc:spChg chg="mod">
          <ac:chgData name="Robbin Bouwmeester" userId="1dbfebabfc25a55a" providerId="LiveId" clId="{75D63595-F797-482E-A4A0-2F4889B74D4F}" dt="2026-10-18T07:59:59.802" v="2" actId="20577"/>
          <ac:spMkLst>
            <pc:docMk/>
            <pc:sldMk cId="2348918196" sldId="256"/>
            <ac:spMk id="12" creationId="{D05E23AB-261C-D709-77BC-70D1DB7A62CA}"/>
          </ac:spMkLst>
        </pc:spChg>
      </pc:sldChg>
      <pc:sldChg chg="del">
        <pc:chgData name="Robbin Bouwmeester" userId="1dbfebabfc25a55a" providerId="LiveId" clId="{75D63595-F797-482E-A4A0-2F4889B74D4F}" dt="2026-10-18T08:00:23.656" v="3" actId="47"/>
        <pc:sldMkLst>
          <pc:docMk/>
          <pc:sldMk cId="1117750815" sldId="259"/>
        </pc:sldMkLst>
      </pc:sldChg>
      <pc:sldChg chg="del">
        <pc:chgData name="Robbin Bouwmeester" userId="1dbfebabfc25a55a" providerId="LiveId" clId="{75D63595-F797-482E-A4A0-2F4889B74D4F}" dt="2026-10-18T08:00:23.656" v="3" actId="47"/>
        <pc:sldMkLst>
          <pc:docMk/>
          <pc:sldMk cId="2438074424" sldId="531"/>
        </pc:sldMkLst>
      </pc:sldChg>
      <pc:sldChg chg="del">
        <pc:chgData name="Robbin Bouwmeester" userId="1dbfebabfc25a55a" providerId="LiveId" clId="{75D63595-F797-482E-A4A0-2F4889B74D4F}" dt="2026-10-18T08:02:04.074" v="5" actId="47"/>
        <pc:sldMkLst>
          <pc:docMk/>
          <pc:sldMk cId="390015516" sldId="562"/>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388EE1B-8E02-22BC-27D6-4A79C40AC67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0998A83-ED40-9555-5C00-CB48C0FAD47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F58BD91-980D-431E-84C7-4DE0DA81F003}" type="datetimeFigureOut">
              <a:rPr lang="en-US" smtClean="0"/>
              <a:t>10/18/2026</a:t>
            </a:fld>
            <a:endParaRPr lang="en-US"/>
          </a:p>
        </p:txBody>
      </p:sp>
      <p:sp>
        <p:nvSpPr>
          <p:cNvPr id="4" name="Footer Placeholder 3">
            <a:extLst>
              <a:ext uri="{FF2B5EF4-FFF2-40B4-BE49-F238E27FC236}">
                <a16:creationId xmlns:a16="http://schemas.microsoft.com/office/drawing/2014/main" id="{87A9C8C3-E4FB-88E4-2A18-2B8A75A7FE5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B543907-5418-E741-8CA6-D9DFEBE4A94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6556B35-55D9-41D4-AF58-00310A1198CE}" type="slidenum">
              <a:rPr lang="en-US" smtClean="0"/>
              <a:t>‹#›</a:t>
            </a:fld>
            <a:endParaRPr lang="en-US"/>
          </a:p>
        </p:txBody>
      </p:sp>
    </p:spTree>
    <p:extLst>
      <p:ext uri="{BB962C8B-B14F-4D97-AF65-F5344CB8AC3E}">
        <p14:creationId xmlns:p14="http://schemas.microsoft.com/office/powerpoint/2010/main" val="4256558441"/>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F1364C-957D-4A3E-AAEB-3C68A911999D}" type="datetimeFigureOut">
              <a:rPr lang="en-US" smtClean="0"/>
              <a:t>10/18/2026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3C013A-CD70-4544-8384-B19ED78503EB}" type="slidenum">
              <a:rPr lang="en-US" smtClean="0"/>
              <a:t>‹#›</a:t>
            </a:fld>
            <a:endParaRPr lang="en-US"/>
          </a:p>
        </p:txBody>
      </p:sp>
    </p:spTree>
    <p:extLst>
      <p:ext uri="{BB962C8B-B14F-4D97-AF65-F5344CB8AC3E}">
        <p14:creationId xmlns:p14="http://schemas.microsoft.com/office/powerpoint/2010/main" val="31933489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F15D3-B102-1A46-0E21-DD388BA38B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5A337A-B787-AA20-122E-A0637A9376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4C2F0C-943B-19ED-83BD-4D7FFB5E969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For classification, </a:t>
            </a:r>
            <a:r>
              <a:rPr lang="en-US" b="1"/>
              <a:t>logistic regression </a:t>
            </a:r>
            <a:r>
              <a:rPr lang="en-US"/>
              <a:t>replaces the direct linear output by a </a:t>
            </a:r>
            <a:r>
              <a:rPr lang="en-US" b="1"/>
              <a:t>non-linear transformation</a:t>
            </a:r>
            <a:r>
              <a:rPr lang="en-US"/>
              <a:t>, typically a sigmoid. The model still computes a weighted sum of the inputs, but then maps that score to a </a:t>
            </a:r>
            <a:r>
              <a:rPr lang="en-US" b="1"/>
              <a:t>probability-like</a:t>
            </a:r>
            <a:r>
              <a:rPr lang="en-US"/>
              <a:t> </a:t>
            </a:r>
            <a:r>
              <a:rPr lang="en-US" b="1"/>
              <a:t>output</a:t>
            </a:r>
            <a:r>
              <a:rPr lang="en-US"/>
              <a:t> between 0 and 1. This makes logistic regression suitable for </a:t>
            </a:r>
            <a:r>
              <a:rPr lang="en-US" b="1"/>
              <a:t>binary classification</a:t>
            </a:r>
            <a:r>
              <a:rPr lang="en-US"/>
              <a:t>. </a:t>
            </a:r>
            <a:endParaRPr lang="nl-BE"/>
          </a:p>
          <a:p>
            <a:endParaRPr lang="nl-BE"/>
          </a:p>
        </p:txBody>
      </p:sp>
      <p:sp>
        <p:nvSpPr>
          <p:cNvPr id="4" name="Slide Number Placeholder 3">
            <a:extLst>
              <a:ext uri="{FF2B5EF4-FFF2-40B4-BE49-F238E27FC236}">
                <a16:creationId xmlns:a16="http://schemas.microsoft.com/office/drawing/2014/main" id="{7D64E434-AA4F-A5B1-283E-A6F34330362D}"/>
              </a:ext>
            </a:extLst>
          </p:cNvPr>
          <p:cNvSpPr>
            <a:spLocks noGrp="1"/>
          </p:cNvSpPr>
          <p:nvPr>
            <p:ph type="sldNum" sz="quarter" idx="10"/>
          </p:nvPr>
        </p:nvSpPr>
        <p:spPr/>
        <p:txBody>
          <a:bodyPr/>
          <a:lstStyle/>
          <a:p>
            <a:fld id="{7057AE92-D5D5-4227-B9E7-799476156D5D}" type="slidenum">
              <a:rPr lang="nl-NL" smtClean="0"/>
              <a:t>1</a:t>
            </a:fld>
            <a:endParaRPr lang="nl-NL"/>
          </a:p>
        </p:txBody>
      </p:sp>
    </p:spTree>
    <p:extLst>
      <p:ext uri="{BB962C8B-B14F-4D97-AF65-F5344CB8AC3E}">
        <p14:creationId xmlns:p14="http://schemas.microsoft.com/office/powerpoint/2010/main" val="20586368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Logistic regression can be viewed as a </a:t>
            </a:r>
            <a:r>
              <a:rPr lang="en-US" b="1"/>
              <a:t>very small network</a:t>
            </a:r>
            <a:r>
              <a:rPr lang="en-US"/>
              <a:t>: input features are multiplied by weights, summed together with a bias, and passed through an activation function to produce the output.</a:t>
            </a:r>
          </a:p>
          <a:p>
            <a:endParaRPr lang="en-US"/>
          </a:p>
          <a:p>
            <a:r>
              <a:rPr lang="en-US"/>
              <a:t>This viewpoint is useful because it shows that neural networks are not completely new models, but rather structured combinations of simpler regression-like units. </a:t>
            </a:r>
          </a:p>
        </p:txBody>
      </p:sp>
      <p:sp>
        <p:nvSpPr>
          <p:cNvPr id="4" name="Slide Number Placeholder 3"/>
          <p:cNvSpPr>
            <a:spLocks noGrp="1"/>
          </p:cNvSpPr>
          <p:nvPr>
            <p:ph type="sldNum" sz="quarter" idx="10"/>
          </p:nvPr>
        </p:nvSpPr>
        <p:spPr/>
        <p:txBody>
          <a:bodyPr/>
          <a:lstStyle/>
          <a:p>
            <a:fld id="{7057AE92-D5D5-4227-B9E7-799476156D5D}" type="slidenum">
              <a:rPr lang="nl-NL" smtClean="0"/>
              <a:t>2</a:t>
            </a:fld>
            <a:endParaRPr lang="nl-NL"/>
          </a:p>
        </p:txBody>
      </p:sp>
    </p:spTree>
    <p:extLst>
      <p:ext uri="{BB962C8B-B14F-4D97-AF65-F5344CB8AC3E}">
        <p14:creationId xmlns:p14="http://schemas.microsoft.com/office/powerpoint/2010/main" val="34634259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BE" baseline="0"/>
          </a:p>
        </p:txBody>
      </p:sp>
      <p:sp>
        <p:nvSpPr>
          <p:cNvPr id="4" name="Slide Number Placeholder 3"/>
          <p:cNvSpPr>
            <a:spLocks noGrp="1"/>
          </p:cNvSpPr>
          <p:nvPr>
            <p:ph type="sldNum" sz="quarter" idx="10"/>
          </p:nvPr>
        </p:nvSpPr>
        <p:spPr/>
        <p:txBody>
          <a:bodyPr/>
          <a:lstStyle/>
          <a:p>
            <a:fld id="{7057AE92-D5D5-4227-B9E7-799476156D5D}" type="slidenum">
              <a:rPr lang="nl-NL" smtClean="0"/>
              <a:t>3</a:t>
            </a:fld>
            <a:endParaRPr lang="nl-NL"/>
          </a:p>
        </p:txBody>
      </p:sp>
    </p:spTree>
    <p:extLst>
      <p:ext uri="{BB962C8B-B14F-4D97-AF65-F5344CB8AC3E}">
        <p14:creationId xmlns:p14="http://schemas.microsoft.com/office/powerpoint/2010/main" val="24431648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a:t>
            </a:r>
            <a:r>
              <a:rPr lang="en-US" b="1"/>
              <a:t>neural network</a:t>
            </a:r>
            <a:r>
              <a:rPr lang="en-US"/>
              <a:t> is a </a:t>
            </a:r>
            <a:r>
              <a:rPr lang="en-US" b="1"/>
              <a:t>layered stack of such units</a:t>
            </a:r>
            <a:r>
              <a:rPr lang="en-US"/>
              <a:t>. The first layer receives the original input features. Each </a:t>
            </a:r>
            <a:r>
              <a:rPr lang="en-US" b="1"/>
              <a:t>node</a:t>
            </a:r>
            <a:r>
              <a:rPr lang="en-US"/>
              <a:t> in a </a:t>
            </a:r>
            <a:r>
              <a:rPr lang="en-US" b="1"/>
              <a:t>hidden layer </a:t>
            </a:r>
            <a:r>
              <a:rPr lang="en-US"/>
              <a:t>computes a transformed version of the previous layer’s outputs. The next layer then uses those transformed outputs as its own inputs. In this way, the network builds increasingly abstract internal representations of the data. </a:t>
            </a:r>
          </a:p>
        </p:txBody>
      </p:sp>
      <p:sp>
        <p:nvSpPr>
          <p:cNvPr id="4" name="Slide Number Placeholder 3"/>
          <p:cNvSpPr>
            <a:spLocks noGrp="1"/>
          </p:cNvSpPr>
          <p:nvPr>
            <p:ph type="sldNum" sz="quarter" idx="10"/>
          </p:nvPr>
        </p:nvSpPr>
        <p:spPr/>
        <p:txBody>
          <a:bodyPr/>
          <a:lstStyle/>
          <a:p>
            <a:fld id="{7057AE92-D5D5-4227-B9E7-799476156D5D}" type="slidenum">
              <a:rPr lang="nl-NL" smtClean="0"/>
              <a:t>4</a:t>
            </a:fld>
            <a:endParaRPr lang="nl-NL"/>
          </a:p>
        </p:txBody>
      </p:sp>
    </p:spTree>
    <p:extLst>
      <p:ext uri="{BB962C8B-B14F-4D97-AF65-F5344CB8AC3E}">
        <p14:creationId xmlns:p14="http://schemas.microsoft.com/office/powerpoint/2010/main" val="30803598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shallow neural network contains one hidden layer. A deeper neural network contains multiple hidden layers. Adding layers allows the model to </a:t>
            </a:r>
            <a:r>
              <a:rPr lang="en-US" b="1"/>
              <a:t>capture more complex patterns</a:t>
            </a:r>
            <a:r>
              <a:rPr lang="en-US"/>
              <a:t> than a single logistic regression can represent. </a:t>
            </a:r>
          </a:p>
        </p:txBody>
      </p:sp>
      <p:sp>
        <p:nvSpPr>
          <p:cNvPr id="4" name="Slide Number Placeholder 3"/>
          <p:cNvSpPr>
            <a:spLocks noGrp="1"/>
          </p:cNvSpPr>
          <p:nvPr>
            <p:ph type="sldNum" sz="quarter" idx="10"/>
          </p:nvPr>
        </p:nvSpPr>
        <p:spPr/>
        <p:txBody>
          <a:bodyPr/>
          <a:lstStyle/>
          <a:p>
            <a:fld id="{7057AE92-D5D5-4227-B9E7-799476156D5D}" type="slidenum">
              <a:rPr lang="nl-NL" smtClean="0"/>
              <a:t>5</a:t>
            </a:fld>
            <a:endParaRPr lang="nl-NL"/>
          </a:p>
        </p:txBody>
      </p:sp>
    </p:spTree>
    <p:extLst>
      <p:ext uri="{BB962C8B-B14F-4D97-AF65-F5344CB8AC3E}">
        <p14:creationId xmlns:p14="http://schemas.microsoft.com/office/powerpoint/2010/main" val="2949964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58C9C-F952-348D-2052-BBE2E73CF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93D836-9AA0-B78E-570B-118EE1317B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1D9AE5-51B8-0F91-21FA-6889D6673BA4}"/>
              </a:ext>
            </a:extLst>
          </p:cNvPr>
          <p:cNvSpPr>
            <a:spLocks noGrp="1"/>
          </p:cNvSpPr>
          <p:nvPr>
            <p:ph type="body" idx="1"/>
          </p:nvPr>
        </p:nvSpPr>
        <p:spPr/>
        <p:txBody>
          <a:bodyPr/>
          <a:lstStyle/>
          <a:p>
            <a:endParaRPr lang="nl-BE" baseline="0"/>
          </a:p>
        </p:txBody>
      </p:sp>
      <p:sp>
        <p:nvSpPr>
          <p:cNvPr id="4" name="Slide Number Placeholder 3">
            <a:extLst>
              <a:ext uri="{FF2B5EF4-FFF2-40B4-BE49-F238E27FC236}">
                <a16:creationId xmlns:a16="http://schemas.microsoft.com/office/drawing/2014/main" id="{0D6A725E-962F-4BB5-833B-B48251D68986}"/>
              </a:ext>
            </a:extLst>
          </p:cNvPr>
          <p:cNvSpPr>
            <a:spLocks noGrp="1"/>
          </p:cNvSpPr>
          <p:nvPr>
            <p:ph type="sldNum" sz="quarter" idx="10"/>
          </p:nvPr>
        </p:nvSpPr>
        <p:spPr/>
        <p:txBody>
          <a:bodyPr/>
          <a:lstStyle/>
          <a:p>
            <a:fld id="{7057AE92-D5D5-4227-B9E7-799476156D5D}" type="slidenum">
              <a:rPr lang="nl-NL" smtClean="0"/>
              <a:t>6</a:t>
            </a:fld>
            <a:endParaRPr lang="nl-NL"/>
          </a:p>
        </p:txBody>
      </p:sp>
    </p:spTree>
    <p:extLst>
      <p:ext uri="{BB962C8B-B14F-4D97-AF65-F5344CB8AC3E}">
        <p14:creationId xmlns:p14="http://schemas.microsoft.com/office/powerpoint/2010/main" val="11591248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Deeper networks can learn more complex relationships because each layer composes transformations from the previous layer. Earlier layers may capture simple patterns, while later layers combine these into more sophisticated structures.</a:t>
            </a:r>
          </a:p>
          <a:p>
            <a:endParaRPr lang="en-US"/>
          </a:p>
          <a:p>
            <a:r>
              <a:rPr lang="en-US"/>
              <a:t>However, this added flexibility comes at a cost: deeper models usually require more data and more careful training. </a:t>
            </a:r>
          </a:p>
        </p:txBody>
      </p:sp>
      <p:sp>
        <p:nvSpPr>
          <p:cNvPr id="4" name="Slide Number Placeholder 3"/>
          <p:cNvSpPr>
            <a:spLocks noGrp="1"/>
          </p:cNvSpPr>
          <p:nvPr>
            <p:ph type="sldNum" sz="quarter" idx="10"/>
          </p:nvPr>
        </p:nvSpPr>
        <p:spPr/>
        <p:txBody>
          <a:bodyPr/>
          <a:lstStyle/>
          <a:p>
            <a:fld id="{7057AE92-D5D5-4227-B9E7-799476156D5D}" type="slidenum">
              <a:rPr lang="nl-NL" smtClean="0"/>
              <a:t>7</a:t>
            </a:fld>
            <a:endParaRPr lang="nl-NL"/>
          </a:p>
        </p:txBody>
      </p:sp>
    </p:spTree>
    <p:extLst>
      <p:ext uri="{BB962C8B-B14F-4D97-AF65-F5344CB8AC3E}">
        <p14:creationId xmlns:p14="http://schemas.microsoft.com/office/powerpoint/2010/main" val="17858421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C11B1-CE4F-CC8A-2EC8-9B43F76AEF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7B1907-E6D0-1EC1-C107-5F5E2B9695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64037B-7D8F-73F4-3876-1EE9BC686FC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7D27C22-9A41-EC43-CAD3-8385CB228A00}"/>
              </a:ext>
            </a:extLst>
          </p:cNvPr>
          <p:cNvSpPr>
            <a:spLocks noGrp="1"/>
          </p:cNvSpPr>
          <p:nvPr>
            <p:ph type="sldNum" sz="quarter" idx="10"/>
          </p:nvPr>
        </p:nvSpPr>
        <p:spPr/>
        <p:txBody>
          <a:bodyPr/>
          <a:lstStyle/>
          <a:p>
            <a:fld id="{7057AE92-D5D5-4227-B9E7-799476156D5D}" type="slidenum">
              <a:rPr lang="nl-NL" smtClean="0"/>
              <a:t>8</a:t>
            </a:fld>
            <a:endParaRPr lang="nl-NL"/>
          </a:p>
        </p:txBody>
      </p:sp>
    </p:spTree>
    <p:extLst>
      <p:ext uri="{BB962C8B-B14F-4D97-AF65-F5344CB8AC3E}">
        <p14:creationId xmlns:p14="http://schemas.microsoft.com/office/powerpoint/2010/main" val="14408792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Activation functions </a:t>
            </a:r>
            <a:r>
              <a:rPr lang="en-US"/>
              <a:t>are applied to the output of individual nodes. Their role is crucial because they introduce </a:t>
            </a:r>
            <a:r>
              <a:rPr lang="en-US" b="1"/>
              <a:t>non-linearity</a:t>
            </a:r>
            <a:r>
              <a:rPr lang="en-US"/>
              <a:t>. Without them, stacking many layers would still behave like a single linear transformation, and the network would not gain much expressive power.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p:cNvSpPr>
            <a:spLocks noGrp="1"/>
          </p:cNvSpPr>
          <p:nvPr>
            <p:ph type="sldNum" sz="quarter" idx="5"/>
          </p:nvPr>
        </p:nvSpPr>
        <p:spPr/>
        <p:txBody>
          <a:bodyPr/>
          <a:lstStyle/>
          <a:p>
            <a:fld id="{953C013A-CD70-4544-8384-B19ED78503EB}" type="slidenum">
              <a:rPr lang="en-US" smtClean="0"/>
              <a:t>9</a:t>
            </a:fld>
            <a:endParaRPr lang="en-US"/>
          </a:p>
        </p:txBody>
      </p:sp>
    </p:spTree>
    <p:extLst>
      <p:ext uri="{BB962C8B-B14F-4D97-AF65-F5344CB8AC3E}">
        <p14:creationId xmlns:p14="http://schemas.microsoft.com/office/powerpoint/2010/main" val="33349395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Do we always need to “go deeper”? The answer is nuanced. Deeper networks can learn more complex patterns, but they also require more training data and computational resources. For smaller datasets or simpler problems, a shallow network or even a traditional machine learning model may be more appropriate. </a:t>
            </a:r>
          </a:p>
          <a:p>
            <a:endParaRPr lang="en-US"/>
          </a:p>
          <a:p>
            <a:endParaRPr lang="en-US"/>
          </a:p>
        </p:txBody>
      </p:sp>
      <p:sp>
        <p:nvSpPr>
          <p:cNvPr id="4" name="Slide Number Placeholder 3"/>
          <p:cNvSpPr>
            <a:spLocks noGrp="1"/>
          </p:cNvSpPr>
          <p:nvPr>
            <p:ph type="sldNum" sz="quarter" idx="5"/>
          </p:nvPr>
        </p:nvSpPr>
        <p:spPr/>
        <p:txBody>
          <a:bodyPr/>
          <a:lstStyle/>
          <a:p>
            <a:fld id="{953C013A-CD70-4544-8384-B19ED78503EB}" type="slidenum">
              <a:rPr lang="en-US" smtClean="0"/>
              <a:t>10</a:t>
            </a:fld>
            <a:endParaRPr lang="en-US"/>
          </a:p>
        </p:txBody>
      </p:sp>
    </p:spTree>
    <p:extLst>
      <p:ext uri="{BB962C8B-B14F-4D97-AF65-F5344CB8AC3E}">
        <p14:creationId xmlns:p14="http://schemas.microsoft.com/office/powerpoint/2010/main" val="42017718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53C013A-CD70-4544-8384-B19ED78503EB}" type="slidenum">
              <a:rPr lang="en-US" smtClean="0"/>
              <a:t>11</a:t>
            </a:fld>
            <a:endParaRPr lang="en-US"/>
          </a:p>
        </p:txBody>
      </p:sp>
    </p:spTree>
    <p:extLst>
      <p:ext uri="{BB962C8B-B14F-4D97-AF65-F5344CB8AC3E}">
        <p14:creationId xmlns:p14="http://schemas.microsoft.com/office/powerpoint/2010/main" val="35348983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53C013A-CD70-4544-8384-B19ED78503EB}" type="slidenum">
              <a:rPr lang="en-US" smtClean="0"/>
              <a:t>12</a:t>
            </a:fld>
            <a:endParaRPr lang="en-US"/>
          </a:p>
        </p:txBody>
      </p:sp>
    </p:spTree>
    <p:extLst>
      <p:ext uri="{BB962C8B-B14F-4D97-AF65-F5344CB8AC3E}">
        <p14:creationId xmlns:p14="http://schemas.microsoft.com/office/powerpoint/2010/main" val="33729023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53C013A-CD70-4544-8384-B19ED78503EB}" type="slidenum">
              <a:rPr lang="en-US" smtClean="0"/>
              <a:t>13</a:t>
            </a:fld>
            <a:endParaRPr lang="en-US"/>
          </a:p>
        </p:txBody>
      </p:sp>
    </p:spTree>
    <p:extLst>
      <p:ext uri="{BB962C8B-B14F-4D97-AF65-F5344CB8AC3E}">
        <p14:creationId xmlns:p14="http://schemas.microsoft.com/office/powerpoint/2010/main" val="3822144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As in other machine learning models, neural networks are trained by </a:t>
            </a:r>
            <a:r>
              <a:rPr lang="en-US" b="1"/>
              <a:t>minimizing a loss function</a:t>
            </a:r>
            <a:r>
              <a:rPr lang="en-US"/>
              <a:t>. The choice of loss depends on the task. </a:t>
            </a:r>
            <a:r>
              <a:rPr lang="en-US" b="1"/>
              <a:t>Mean squared error </a:t>
            </a:r>
            <a:r>
              <a:rPr lang="en-US"/>
              <a:t>is typical for regression, </a:t>
            </a:r>
            <a:r>
              <a:rPr lang="en-US" b="1"/>
              <a:t>binary cross-entropy </a:t>
            </a:r>
            <a:r>
              <a:rPr lang="en-US"/>
              <a:t>for binary classification, and </a:t>
            </a:r>
            <a:r>
              <a:rPr lang="en-US" b="1"/>
              <a:t>categorical cross-entropy </a:t>
            </a:r>
            <a:r>
              <a:rPr lang="en-US"/>
              <a:t>for multi-class classification. The objective is always the same: find parameter values that make the model’s predictions fit the targets as well as possible. </a:t>
            </a:r>
          </a:p>
          <a:p>
            <a:endParaRPr lang="en-BE"/>
          </a:p>
        </p:txBody>
      </p:sp>
      <p:sp>
        <p:nvSpPr>
          <p:cNvPr id="4" name="Slide Number Placeholder 3"/>
          <p:cNvSpPr>
            <a:spLocks noGrp="1"/>
          </p:cNvSpPr>
          <p:nvPr>
            <p:ph type="sldNum" sz="quarter" idx="5"/>
          </p:nvPr>
        </p:nvSpPr>
        <p:spPr/>
        <p:txBody>
          <a:bodyPr/>
          <a:lstStyle/>
          <a:p>
            <a:fld id="{953C013A-CD70-4544-8384-B19ED78503EB}" type="slidenum">
              <a:rPr lang="en-US" smtClean="0"/>
              <a:t>14</a:t>
            </a:fld>
            <a:endParaRPr lang="en-US"/>
          </a:p>
        </p:txBody>
      </p:sp>
    </p:spTree>
    <p:extLst>
      <p:ext uri="{BB962C8B-B14F-4D97-AF65-F5344CB8AC3E}">
        <p14:creationId xmlns:p14="http://schemas.microsoft.com/office/powerpoint/2010/main" val="18870697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77EC4-25C3-1F5C-BD83-A2FA8537F7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ECF60-8DFE-9867-0665-37C290E303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C99373-E849-B820-38F7-50B19F26ABA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Neural networks are optimized using </a:t>
            </a:r>
            <a:r>
              <a:rPr lang="en-US" b="1"/>
              <a:t>gradient descent</a:t>
            </a:r>
            <a:r>
              <a:rPr lang="en-US"/>
              <a:t>. Training consists of iteratively </a:t>
            </a:r>
            <a:r>
              <a:rPr lang="en-US" b="1"/>
              <a:t>adjusting weights and biases</a:t>
            </a:r>
            <a:r>
              <a:rPr lang="en-US"/>
              <a:t> in the direction that reduces the loss. This is the same core optimization idea already introduced for simpler models, but now applied to a </a:t>
            </a:r>
            <a:r>
              <a:rPr lang="en-US" b="1"/>
              <a:t>much larger number of parameters</a:t>
            </a:r>
            <a:r>
              <a:rPr lang="en-US"/>
              <a:t>. </a:t>
            </a:r>
          </a:p>
          <a:p>
            <a:endParaRPr lang="en-BE"/>
          </a:p>
        </p:txBody>
      </p:sp>
      <p:sp>
        <p:nvSpPr>
          <p:cNvPr id="4" name="Slide Number Placeholder 3">
            <a:extLst>
              <a:ext uri="{FF2B5EF4-FFF2-40B4-BE49-F238E27FC236}">
                <a16:creationId xmlns:a16="http://schemas.microsoft.com/office/drawing/2014/main" id="{732941A5-F880-AD94-47E0-0E388E64C9EA}"/>
              </a:ext>
            </a:extLst>
          </p:cNvPr>
          <p:cNvSpPr>
            <a:spLocks noGrp="1"/>
          </p:cNvSpPr>
          <p:nvPr>
            <p:ph type="sldNum" sz="quarter" idx="5"/>
          </p:nvPr>
        </p:nvSpPr>
        <p:spPr/>
        <p:txBody>
          <a:bodyPr/>
          <a:lstStyle/>
          <a:p>
            <a:fld id="{953C013A-CD70-4544-8384-B19ED78503EB}" type="slidenum">
              <a:rPr lang="en-US" smtClean="0"/>
              <a:t>15</a:t>
            </a:fld>
            <a:endParaRPr lang="en-US"/>
          </a:p>
        </p:txBody>
      </p:sp>
    </p:spTree>
    <p:extLst>
      <p:ext uri="{BB962C8B-B14F-4D97-AF65-F5344CB8AC3E}">
        <p14:creationId xmlns:p14="http://schemas.microsoft.com/office/powerpoint/2010/main" val="32254957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The key technical idea that makes neural networks trainable is </a:t>
            </a:r>
            <a:r>
              <a:rPr lang="en-US" b="1"/>
              <a:t>backpropagation</a:t>
            </a:r>
            <a:r>
              <a:rPr lang="en-US"/>
              <a:t>. In a network with many layers and many parameters, directly computing the influence of every parameter on the loss would be inefficient. Backpropagation solves this by propagating error information backward through the network and efficiently calculating gradients for all parameters. </a:t>
            </a:r>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Conceptually, the forward pass computes activations and predictions. The backward pass then determines how each weight and bias contributed to the final error and how it should change to reduce that error. This lets deep models with many layers be trained in practice. </a:t>
            </a:r>
          </a:p>
          <a:p>
            <a:endParaRPr lang="en-US"/>
          </a:p>
        </p:txBody>
      </p:sp>
      <p:sp>
        <p:nvSpPr>
          <p:cNvPr id="4" name="Slide Number Placeholder 3"/>
          <p:cNvSpPr>
            <a:spLocks noGrp="1"/>
          </p:cNvSpPr>
          <p:nvPr>
            <p:ph type="sldNum" sz="quarter" idx="5"/>
          </p:nvPr>
        </p:nvSpPr>
        <p:spPr/>
        <p:txBody>
          <a:bodyPr/>
          <a:lstStyle/>
          <a:p>
            <a:fld id="{953C013A-CD70-4544-8384-B19ED78503EB}" type="slidenum">
              <a:rPr lang="en-US" smtClean="0"/>
              <a:t>16</a:t>
            </a:fld>
            <a:endParaRPr lang="en-US"/>
          </a:p>
        </p:txBody>
      </p:sp>
    </p:spTree>
    <p:extLst>
      <p:ext uri="{BB962C8B-B14F-4D97-AF65-F5344CB8AC3E}">
        <p14:creationId xmlns:p14="http://schemas.microsoft.com/office/powerpoint/2010/main" val="7081992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53C013A-CD70-4544-8384-B19ED78503EB}" type="slidenum">
              <a:rPr lang="en-US" smtClean="0"/>
              <a:t>17</a:t>
            </a:fld>
            <a:endParaRPr lang="en-US"/>
          </a:p>
        </p:txBody>
      </p:sp>
    </p:spTree>
    <p:extLst>
      <p:ext uri="{BB962C8B-B14F-4D97-AF65-F5344CB8AC3E}">
        <p14:creationId xmlns:p14="http://schemas.microsoft.com/office/powerpoint/2010/main" val="41212509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53C013A-CD70-4544-8384-B19ED78503EB}" type="slidenum">
              <a:rPr lang="en-US" smtClean="0"/>
              <a:t>18</a:t>
            </a:fld>
            <a:endParaRPr lang="en-US"/>
          </a:p>
        </p:txBody>
      </p:sp>
    </p:spTree>
    <p:extLst>
      <p:ext uri="{BB962C8B-B14F-4D97-AF65-F5344CB8AC3E}">
        <p14:creationId xmlns:p14="http://schemas.microsoft.com/office/powerpoint/2010/main" val="34404419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53C013A-CD70-4544-8384-B19ED78503EB}" type="slidenum">
              <a:rPr lang="en-US" smtClean="0"/>
              <a:t>19</a:t>
            </a:fld>
            <a:endParaRPr lang="en-US"/>
          </a:p>
        </p:txBody>
      </p:sp>
    </p:spTree>
    <p:extLst>
      <p:ext uri="{BB962C8B-B14F-4D97-AF65-F5344CB8AC3E}">
        <p14:creationId xmlns:p14="http://schemas.microsoft.com/office/powerpoint/2010/main" val="12509154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53C013A-CD70-4544-8384-B19ED78503EB}" type="slidenum">
              <a:rPr lang="en-US" smtClean="0"/>
              <a:t>20</a:t>
            </a:fld>
            <a:endParaRPr lang="en-US"/>
          </a:p>
        </p:txBody>
      </p:sp>
    </p:spTree>
    <p:extLst>
      <p:ext uri="{BB962C8B-B14F-4D97-AF65-F5344CB8AC3E}">
        <p14:creationId xmlns:p14="http://schemas.microsoft.com/office/powerpoint/2010/main" val="32262676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For simple models such as logistic regression, the </a:t>
            </a:r>
            <a:r>
              <a:rPr lang="en-US" b="1"/>
              <a:t>loss surface </a:t>
            </a:r>
            <a:r>
              <a:rPr lang="en-US"/>
              <a:t>is often relatively smooth and easy to optimize. For neural networks, especially deep ones, the loss surface becomes much more complex, with many </a:t>
            </a:r>
            <a:r>
              <a:rPr lang="en-US" b="1"/>
              <a:t>local minima </a:t>
            </a:r>
            <a:r>
              <a:rPr lang="en-US"/>
              <a:t>and irregular regions. This makes optimization more difficult and partly explains why training deep networks requires careful design choices. </a:t>
            </a:r>
          </a:p>
          <a:p>
            <a:endParaRPr lang="en-US"/>
          </a:p>
        </p:txBody>
      </p:sp>
      <p:sp>
        <p:nvSpPr>
          <p:cNvPr id="4" name="Slide Number Placeholder 3"/>
          <p:cNvSpPr>
            <a:spLocks noGrp="1"/>
          </p:cNvSpPr>
          <p:nvPr>
            <p:ph type="sldNum" sz="quarter" idx="5"/>
          </p:nvPr>
        </p:nvSpPr>
        <p:spPr/>
        <p:txBody>
          <a:bodyPr/>
          <a:lstStyle/>
          <a:p>
            <a:fld id="{953C013A-CD70-4544-8384-B19ED78503EB}" type="slidenum">
              <a:rPr lang="en-US" smtClean="0"/>
              <a:t>21</a:t>
            </a:fld>
            <a:endParaRPr lang="en-US"/>
          </a:p>
        </p:txBody>
      </p:sp>
    </p:spTree>
    <p:extLst>
      <p:ext uri="{BB962C8B-B14F-4D97-AF65-F5344CB8AC3E}">
        <p14:creationId xmlns:p14="http://schemas.microsoft.com/office/powerpoint/2010/main" val="36603094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53C013A-CD70-4544-8384-B19ED78503EB}" type="slidenum">
              <a:rPr lang="en-US" smtClean="0"/>
              <a:t>22</a:t>
            </a:fld>
            <a:endParaRPr lang="en-US"/>
          </a:p>
        </p:txBody>
      </p:sp>
    </p:spTree>
    <p:extLst>
      <p:ext uri="{BB962C8B-B14F-4D97-AF65-F5344CB8AC3E}">
        <p14:creationId xmlns:p14="http://schemas.microsoft.com/office/powerpoint/2010/main" val="441163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a:t>Neural networks are trained over multiple </a:t>
            </a:r>
            <a:r>
              <a:rPr lang="en-US" b="1"/>
              <a:t>epochs</a:t>
            </a:r>
            <a:r>
              <a:rPr lang="en-US"/>
              <a:t>, where one epoch means one full pass through the training data. Within each epoch, the model processes many mini-batches. For each mini-batch, the network performs a </a:t>
            </a:r>
            <a:r>
              <a:rPr lang="en-US" b="1"/>
              <a:t>forward pass</a:t>
            </a:r>
            <a:r>
              <a:rPr lang="en-US"/>
              <a:t>, computes the loss, performs a </a:t>
            </a:r>
            <a:r>
              <a:rPr lang="en-US" b="1"/>
              <a:t>backward pass </a:t>
            </a:r>
            <a:r>
              <a:rPr lang="en-US"/>
              <a:t>to calculate gradients, and then updates the parameters.</a:t>
            </a:r>
          </a:p>
          <a:p>
            <a:pPr marL="0" indent="0">
              <a:buNone/>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After training updates, the model is also evaluated on </a:t>
            </a:r>
            <a:r>
              <a:rPr lang="en-US" b="1"/>
              <a:t>validation data</a:t>
            </a:r>
            <a:r>
              <a:rPr lang="en-US"/>
              <a:t>. If validation performance improves, training can continue. If validation performance stops improving, training should be stopped. This is an example of </a:t>
            </a:r>
            <a:r>
              <a:rPr lang="en-US" b="1"/>
              <a:t>early stopping</a:t>
            </a:r>
            <a:r>
              <a:rPr lang="en-US"/>
              <a:t>, which helps prevent overfitting. The learning-curve figure shows the typical situation where training loss continues to decrease while validation loss eventually stops improving or begins to worsen. </a:t>
            </a:r>
          </a:p>
          <a:p>
            <a:pPr marL="0" indent="0">
              <a:buNone/>
            </a:pPr>
            <a:endParaRPr lang="en-US"/>
          </a:p>
        </p:txBody>
      </p:sp>
      <p:sp>
        <p:nvSpPr>
          <p:cNvPr id="4" name="Slide Number Placeholder 3"/>
          <p:cNvSpPr>
            <a:spLocks noGrp="1"/>
          </p:cNvSpPr>
          <p:nvPr>
            <p:ph type="sldNum" sz="quarter" idx="5"/>
          </p:nvPr>
        </p:nvSpPr>
        <p:spPr/>
        <p:txBody>
          <a:bodyPr/>
          <a:lstStyle/>
          <a:p>
            <a:fld id="{953C013A-CD70-4544-8384-B19ED78503EB}" type="slidenum">
              <a:rPr lang="en-US" smtClean="0"/>
              <a:t>23</a:t>
            </a:fld>
            <a:endParaRPr lang="en-US"/>
          </a:p>
        </p:txBody>
      </p:sp>
    </p:spTree>
    <p:extLst>
      <p:ext uri="{BB962C8B-B14F-4D97-AF65-F5344CB8AC3E}">
        <p14:creationId xmlns:p14="http://schemas.microsoft.com/office/powerpoint/2010/main" val="31765040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neural network is best understood as a collection of modules or building blocks. A module takes input, applies some transformation, and returns an output. Some modules have trainable parameters, such as dense layers; others simply transform data without learning parameters, such as certain activation or pooling operations. This </a:t>
            </a:r>
            <a:r>
              <a:rPr lang="en-US" b="1"/>
              <a:t>modularity</a:t>
            </a:r>
            <a:r>
              <a:rPr lang="en-US"/>
              <a:t> is one reason neural networks are highly flexible and can be adapted to many different data types and tasks. </a:t>
            </a:r>
          </a:p>
        </p:txBody>
      </p:sp>
      <p:sp>
        <p:nvSpPr>
          <p:cNvPr id="4" name="Slide Number Placeholder 3"/>
          <p:cNvSpPr>
            <a:spLocks noGrp="1"/>
          </p:cNvSpPr>
          <p:nvPr>
            <p:ph type="sldNum" sz="quarter" idx="10"/>
          </p:nvPr>
        </p:nvSpPr>
        <p:spPr/>
        <p:txBody>
          <a:bodyPr/>
          <a:lstStyle/>
          <a:p>
            <a:fld id="{7057AE92-D5D5-4227-B9E7-799476156D5D}" type="slidenum">
              <a:rPr lang="nl-NL" smtClean="0"/>
              <a:t>24</a:t>
            </a:fld>
            <a:endParaRPr lang="nl-NL"/>
          </a:p>
        </p:txBody>
      </p:sp>
    </p:spTree>
    <p:extLst>
      <p:ext uri="{BB962C8B-B14F-4D97-AF65-F5344CB8AC3E}">
        <p14:creationId xmlns:p14="http://schemas.microsoft.com/office/powerpoint/2010/main" val="82035895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53C013A-CD70-4544-8384-B19ED78503EB}" type="slidenum">
              <a:rPr lang="en-US" smtClean="0"/>
              <a:t>25</a:t>
            </a:fld>
            <a:endParaRPr lang="en-US"/>
          </a:p>
        </p:txBody>
      </p:sp>
    </p:spTree>
    <p:extLst>
      <p:ext uri="{BB962C8B-B14F-4D97-AF65-F5344CB8AC3E}">
        <p14:creationId xmlns:p14="http://schemas.microsoft.com/office/powerpoint/2010/main" val="64067897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53C013A-CD70-4544-8384-B19ED78503EB}" type="slidenum">
              <a:rPr lang="en-US" smtClean="0"/>
              <a:t>26</a:t>
            </a:fld>
            <a:endParaRPr lang="en-US"/>
          </a:p>
        </p:txBody>
      </p:sp>
    </p:spTree>
    <p:extLst>
      <p:ext uri="{BB962C8B-B14F-4D97-AF65-F5344CB8AC3E}">
        <p14:creationId xmlns:p14="http://schemas.microsoft.com/office/powerpoint/2010/main" val="412926525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A full layer of a neural network can be written compactly in </a:t>
            </a:r>
            <a:r>
              <a:rPr lang="en-US" b="1"/>
              <a:t>matrix form</a:t>
            </a:r>
            <a:r>
              <a:rPr lang="en-US"/>
              <a:t>. Instead of writing one equation per neuron, all neuron computations in a layer can be grouped into a matrix multiplication plus a bias vector, followed by an activation function. </a:t>
            </a:r>
          </a:p>
        </p:txBody>
      </p:sp>
      <p:sp>
        <p:nvSpPr>
          <p:cNvPr id="4" name="Slide Number Placeholder 3"/>
          <p:cNvSpPr>
            <a:spLocks noGrp="1"/>
          </p:cNvSpPr>
          <p:nvPr>
            <p:ph type="sldNum" sz="quarter" idx="5"/>
          </p:nvPr>
        </p:nvSpPr>
        <p:spPr/>
        <p:txBody>
          <a:bodyPr/>
          <a:lstStyle/>
          <a:p>
            <a:fld id="{953C013A-CD70-4544-8384-B19ED78503EB}" type="slidenum">
              <a:rPr lang="en-US" smtClean="0"/>
              <a:t>27</a:t>
            </a:fld>
            <a:endParaRPr lang="en-US"/>
          </a:p>
        </p:txBody>
      </p:sp>
    </p:spTree>
    <p:extLst>
      <p:ext uri="{BB962C8B-B14F-4D97-AF65-F5344CB8AC3E}">
        <p14:creationId xmlns:p14="http://schemas.microsoft.com/office/powerpoint/2010/main" val="18391779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Because neural network computations rely heavily on </a:t>
            </a:r>
            <a:r>
              <a:rPr lang="en-US" b="1"/>
              <a:t>large matrix operations</a:t>
            </a:r>
            <a:r>
              <a:rPr lang="en-US"/>
              <a:t>, </a:t>
            </a:r>
            <a:r>
              <a:rPr lang="en-US" b="1"/>
              <a:t>GPUs</a:t>
            </a:r>
            <a:r>
              <a:rPr lang="en-US"/>
              <a:t> are highly effective for training them. GPUs are designed for </a:t>
            </a:r>
            <a:r>
              <a:rPr lang="en-US" b="1"/>
              <a:t>parallel numerical computation </a:t>
            </a:r>
            <a:r>
              <a:rPr lang="en-US"/>
              <a:t>and therefore accelerate both the forward and backward passes, especially in deep models with many parameters. </a:t>
            </a:r>
          </a:p>
          <a:p>
            <a:endParaRPr lang="en-US"/>
          </a:p>
        </p:txBody>
      </p:sp>
      <p:sp>
        <p:nvSpPr>
          <p:cNvPr id="4" name="Slide Number Placeholder 3"/>
          <p:cNvSpPr>
            <a:spLocks noGrp="1"/>
          </p:cNvSpPr>
          <p:nvPr>
            <p:ph type="sldNum" sz="quarter" idx="5"/>
          </p:nvPr>
        </p:nvSpPr>
        <p:spPr/>
        <p:txBody>
          <a:bodyPr/>
          <a:lstStyle/>
          <a:p>
            <a:fld id="{953C013A-CD70-4544-8384-B19ED78503EB}" type="slidenum">
              <a:rPr lang="en-US" smtClean="0"/>
              <a:t>28</a:t>
            </a:fld>
            <a:endParaRPr lang="en-US"/>
          </a:p>
        </p:txBody>
      </p:sp>
    </p:spTree>
    <p:extLst>
      <p:ext uri="{BB962C8B-B14F-4D97-AF65-F5344CB8AC3E}">
        <p14:creationId xmlns:p14="http://schemas.microsoft.com/office/powerpoint/2010/main" val="361572152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53C013A-CD70-4544-8384-B19ED78503EB}" type="slidenum">
              <a:rPr lang="en-US" smtClean="0"/>
              <a:t>29</a:t>
            </a:fld>
            <a:endParaRPr lang="en-US"/>
          </a:p>
        </p:txBody>
      </p:sp>
    </p:spTree>
    <p:extLst>
      <p:ext uri="{BB962C8B-B14F-4D97-AF65-F5344CB8AC3E}">
        <p14:creationId xmlns:p14="http://schemas.microsoft.com/office/powerpoint/2010/main" val="23757275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71D86-6751-25A3-035F-788E6079F5B5}"/>
              </a:ext>
            </a:extLst>
          </p:cNvPr>
          <p:cNvSpPr>
            <a:spLocks noGrp="1"/>
          </p:cNvSpPr>
          <p:nvPr>
            <p:ph type="ctrTitle"/>
          </p:nvPr>
        </p:nvSpPr>
        <p:spPr>
          <a:xfrm>
            <a:off x="445476" y="406400"/>
            <a:ext cx="9144000" cy="2387600"/>
          </a:xfrm>
        </p:spPr>
        <p:txBody>
          <a:bodyPr anchor="b"/>
          <a:lstStyle>
            <a:lvl1pPr algn="ctr">
              <a:defRPr sz="6000"/>
            </a:lvl1pPr>
          </a:lstStyle>
          <a:p>
            <a:r>
              <a:rPr lang="en-GB"/>
              <a:t>Click to edit Master title style</a:t>
            </a:r>
            <a:endParaRPr lang="en-BE"/>
          </a:p>
        </p:txBody>
      </p:sp>
      <p:sp>
        <p:nvSpPr>
          <p:cNvPr id="3" name="Subtitle 2">
            <a:extLst>
              <a:ext uri="{FF2B5EF4-FFF2-40B4-BE49-F238E27FC236}">
                <a16:creationId xmlns:a16="http://schemas.microsoft.com/office/drawing/2014/main" id="{C36DFF0C-2793-CF74-39AD-128524A11BED}"/>
              </a:ext>
            </a:extLst>
          </p:cNvPr>
          <p:cNvSpPr>
            <a:spLocks noGrp="1"/>
          </p:cNvSpPr>
          <p:nvPr>
            <p:ph type="subTitle" idx="1"/>
          </p:nvPr>
        </p:nvSpPr>
        <p:spPr>
          <a:xfrm>
            <a:off x="445476" y="3094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BE"/>
          </a:p>
        </p:txBody>
      </p:sp>
    </p:spTree>
    <p:extLst>
      <p:ext uri="{BB962C8B-B14F-4D97-AF65-F5344CB8AC3E}">
        <p14:creationId xmlns:p14="http://schemas.microsoft.com/office/powerpoint/2010/main" val="4659468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CD792-7D3D-83C5-606E-EE2B07A316E5}"/>
              </a:ext>
            </a:extLst>
          </p:cNvPr>
          <p:cNvSpPr>
            <a:spLocks noGrp="1"/>
          </p:cNvSpPr>
          <p:nvPr>
            <p:ph type="title"/>
          </p:nvPr>
        </p:nvSpPr>
        <p:spPr/>
        <p:txBody>
          <a:bodyPr vert="horz" lIns="0" tIns="0" rIns="0" bIns="0" rtlCol="0" anchor="t">
            <a:noAutofit/>
          </a:bodyPr>
          <a:lstStyle>
            <a:lvl1pPr>
              <a:defRPr lang="en-BE"/>
            </a:lvl1pPr>
          </a:lstStyle>
          <a:p>
            <a:pPr lvl="0"/>
            <a:r>
              <a:rPr lang="en-GB"/>
              <a:t>Click to edit Master title style</a:t>
            </a:r>
            <a:endParaRPr lang="en-BE"/>
          </a:p>
        </p:txBody>
      </p:sp>
      <p:sp>
        <p:nvSpPr>
          <p:cNvPr id="3" name="Content Placeholder 2">
            <a:extLst>
              <a:ext uri="{FF2B5EF4-FFF2-40B4-BE49-F238E27FC236}">
                <a16:creationId xmlns:a16="http://schemas.microsoft.com/office/drawing/2014/main" id="{BE8BEEF3-E6B4-333F-98A9-C13B32EDD254}"/>
              </a:ext>
            </a:extLst>
          </p:cNvPr>
          <p:cNvSpPr>
            <a:spLocks noGrp="1"/>
          </p:cNvSpPr>
          <p:nvPr>
            <p:ph idx="1"/>
          </p:nvPr>
        </p:nvSpPr>
        <p:spPr/>
        <p:txBody>
          <a:bodyPr/>
          <a:lstStyle>
            <a:lvl1pPr>
              <a:defRPr lang="en-GB"/>
            </a:lvl1pPr>
            <a:lvl2pPr>
              <a:defRPr lang="en-GB"/>
            </a:lvl2pPr>
            <a:lvl3pPr>
              <a:defRPr lang="en-GB"/>
            </a:lvl3pPr>
            <a:lvl4pPr>
              <a:defRPr lang="en-GB"/>
            </a:lvl4pPr>
            <a:lvl5pPr>
              <a:defRPr lang="en-BE"/>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5" name="Footer Placeholder 4">
            <a:extLst>
              <a:ext uri="{FF2B5EF4-FFF2-40B4-BE49-F238E27FC236}">
                <a16:creationId xmlns:a16="http://schemas.microsoft.com/office/drawing/2014/main" id="{D49552F3-5810-93F0-E468-78FD4AFC14F2}"/>
              </a:ext>
            </a:extLst>
          </p:cNvPr>
          <p:cNvSpPr>
            <a:spLocks noGrp="1"/>
          </p:cNvSpPr>
          <p:nvPr>
            <p:ph type="ftr" sz="quarter" idx="11"/>
          </p:nvPr>
        </p:nvSpPr>
        <p:spPr/>
        <p:txBody>
          <a:bodyPr vert="horz" lIns="0" tIns="0" rIns="0" bIns="0" rtlCol="0" anchor="ctr"/>
          <a:lstStyle>
            <a:lvl1pPr>
              <a:defRPr lang="en-US"/>
            </a:lvl1pPr>
          </a:lstStyle>
          <a:p>
            <a:endParaRPr lang="en-US"/>
          </a:p>
        </p:txBody>
      </p:sp>
      <p:sp>
        <p:nvSpPr>
          <p:cNvPr id="6" name="Slide Number Placeholder 5">
            <a:extLst>
              <a:ext uri="{FF2B5EF4-FFF2-40B4-BE49-F238E27FC236}">
                <a16:creationId xmlns:a16="http://schemas.microsoft.com/office/drawing/2014/main" id="{14F9C0B1-D794-36E8-AB68-2ACF514DDCD6}"/>
              </a:ext>
            </a:extLst>
          </p:cNvPr>
          <p:cNvSpPr>
            <a:spLocks noGrp="1"/>
          </p:cNvSpPr>
          <p:nvPr>
            <p:ph type="sldNum" sz="quarter" idx="12"/>
          </p:nvPr>
        </p:nvSpPr>
        <p:spPr/>
        <p:txBody>
          <a:bodyPr/>
          <a:lstStyle>
            <a:lvl1pPr>
              <a:defRPr lang="en-BE" smtClean="0"/>
            </a:lvl1pPr>
          </a:lstStyle>
          <a:p>
            <a:fld id="{94B3E216-A3C5-4E41-AE94-D003E76F1D3A}" type="slidenum">
              <a:rPr lang="en-US" smtClean="0"/>
              <a:pPr/>
              <a:t>‹#›</a:t>
            </a:fld>
            <a:endParaRPr lang="en-US"/>
          </a:p>
        </p:txBody>
      </p:sp>
    </p:spTree>
    <p:extLst>
      <p:ext uri="{BB962C8B-B14F-4D97-AF65-F5344CB8AC3E}">
        <p14:creationId xmlns:p14="http://schemas.microsoft.com/office/powerpoint/2010/main" val="387425637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29DC3-8AAE-DEDC-EB49-92CAD4E4038B}"/>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BE"/>
          </a:p>
        </p:txBody>
      </p:sp>
      <p:sp>
        <p:nvSpPr>
          <p:cNvPr id="3" name="Text Placeholder 2">
            <a:extLst>
              <a:ext uri="{FF2B5EF4-FFF2-40B4-BE49-F238E27FC236}">
                <a16:creationId xmlns:a16="http://schemas.microsoft.com/office/drawing/2014/main" id="{BA40AA02-1CBC-FFE6-61AD-45B18821D02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C58201DE-6807-8F50-7C1D-6A9824254BAC}"/>
              </a:ext>
            </a:extLst>
          </p:cNvPr>
          <p:cNvSpPr>
            <a:spLocks noGrp="1"/>
          </p:cNvSpPr>
          <p:nvPr>
            <p:ph type="dt" sz="half" idx="10"/>
          </p:nvPr>
        </p:nvSpPr>
        <p:spPr>
          <a:xfrm>
            <a:off x="433633" y="6459767"/>
            <a:ext cx="3147767" cy="261708"/>
          </a:xfrm>
          <a:prstGeom prst="rect">
            <a:avLst/>
          </a:prstGeom>
        </p:spPr>
        <p:txBody>
          <a:bodyPr/>
          <a:lstStyle/>
          <a:p>
            <a:fld id="{858A6A01-87E6-49E3-BB95-1C1D84F4E29B}" type="datetime8">
              <a:rPr lang="en-BE" smtClean="0"/>
              <a:t>10/18/2026 09:59</a:t>
            </a:fld>
            <a:endParaRPr lang="en-BE"/>
          </a:p>
        </p:txBody>
      </p:sp>
      <p:sp>
        <p:nvSpPr>
          <p:cNvPr id="5" name="Footer Placeholder 4">
            <a:extLst>
              <a:ext uri="{FF2B5EF4-FFF2-40B4-BE49-F238E27FC236}">
                <a16:creationId xmlns:a16="http://schemas.microsoft.com/office/drawing/2014/main" id="{E7F08137-91F7-C16D-6848-DAF48904F5D0}"/>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E48073F0-040C-7AB4-0FBC-12E7740D353E}"/>
              </a:ext>
            </a:extLst>
          </p:cNvPr>
          <p:cNvSpPr>
            <a:spLocks noGrp="1"/>
          </p:cNvSpPr>
          <p:nvPr>
            <p:ph type="sldNum" sz="quarter" idx="12"/>
          </p:nvPr>
        </p:nvSpPr>
        <p:spPr/>
        <p:txBody>
          <a:bodyPr/>
          <a:lstStyle/>
          <a:p>
            <a:fld id="{94B3E216-A3C5-4E41-AE94-D003E76F1D3A}" type="slidenum">
              <a:rPr lang="en-BE" smtClean="0"/>
              <a:t>‹#›</a:t>
            </a:fld>
            <a:endParaRPr lang="en-BE"/>
          </a:p>
        </p:txBody>
      </p:sp>
    </p:spTree>
    <p:extLst>
      <p:ext uri="{BB962C8B-B14F-4D97-AF65-F5344CB8AC3E}">
        <p14:creationId xmlns:p14="http://schemas.microsoft.com/office/powerpoint/2010/main" val="20648544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C5A02-220B-237D-9FE4-311584315A3B}"/>
              </a:ext>
            </a:extLst>
          </p:cNvPr>
          <p:cNvSpPr>
            <a:spLocks noGrp="1"/>
          </p:cNvSpPr>
          <p:nvPr>
            <p:ph type="title"/>
          </p:nvPr>
        </p:nvSpPr>
        <p:spPr/>
        <p:txBody>
          <a:bodyPr/>
          <a:lstStyle/>
          <a:p>
            <a:r>
              <a:rPr lang="en-GB"/>
              <a:t>Click to edit Master title style</a:t>
            </a:r>
            <a:endParaRPr lang="en-BE"/>
          </a:p>
        </p:txBody>
      </p:sp>
      <p:sp>
        <p:nvSpPr>
          <p:cNvPr id="3" name="Content Placeholder 2">
            <a:extLst>
              <a:ext uri="{FF2B5EF4-FFF2-40B4-BE49-F238E27FC236}">
                <a16:creationId xmlns:a16="http://schemas.microsoft.com/office/drawing/2014/main" id="{93C927E6-BA8E-AB88-7421-757A268D9073}"/>
              </a:ext>
            </a:extLst>
          </p:cNvPr>
          <p:cNvSpPr>
            <a:spLocks noGrp="1"/>
          </p:cNvSpPr>
          <p:nvPr>
            <p:ph sz="half" idx="1"/>
          </p:nvPr>
        </p:nvSpPr>
        <p:spPr>
          <a:xfrm>
            <a:off x="433633" y="1253765"/>
            <a:ext cx="5586167" cy="507162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Content Placeholder 3">
            <a:extLst>
              <a:ext uri="{FF2B5EF4-FFF2-40B4-BE49-F238E27FC236}">
                <a16:creationId xmlns:a16="http://schemas.microsoft.com/office/drawing/2014/main" id="{C92954B8-E4C9-4219-7811-8A1A1E0D647F}"/>
              </a:ext>
            </a:extLst>
          </p:cNvPr>
          <p:cNvSpPr>
            <a:spLocks noGrp="1"/>
          </p:cNvSpPr>
          <p:nvPr>
            <p:ph sz="half" idx="2"/>
          </p:nvPr>
        </p:nvSpPr>
        <p:spPr>
          <a:xfrm>
            <a:off x="6172199" y="1253764"/>
            <a:ext cx="5586167" cy="507162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5" name="Date Placeholder 4">
            <a:extLst>
              <a:ext uri="{FF2B5EF4-FFF2-40B4-BE49-F238E27FC236}">
                <a16:creationId xmlns:a16="http://schemas.microsoft.com/office/drawing/2014/main" id="{D28B685C-61CC-0404-2995-D328F279993B}"/>
              </a:ext>
            </a:extLst>
          </p:cNvPr>
          <p:cNvSpPr>
            <a:spLocks noGrp="1"/>
          </p:cNvSpPr>
          <p:nvPr>
            <p:ph type="dt" sz="half" idx="10"/>
          </p:nvPr>
        </p:nvSpPr>
        <p:spPr>
          <a:xfrm>
            <a:off x="433633" y="6459767"/>
            <a:ext cx="3147767" cy="261708"/>
          </a:xfrm>
          <a:prstGeom prst="rect">
            <a:avLst/>
          </a:prstGeom>
        </p:spPr>
        <p:txBody>
          <a:bodyPr/>
          <a:lstStyle/>
          <a:p>
            <a:fld id="{00FE062E-D11C-40F2-AC56-F7BFB1C87B09}" type="datetime8">
              <a:rPr lang="en-BE" smtClean="0"/>
              <a:t>10/18/2026 09:59</a:t>
            </a:fld>
            <a:endParaRPr lang="en-BE"/>
          </a:p>
        </p:txBody>
      </p:sp>
      <p:sp>
        <p:nvSpPr>
          <p:cNvPr id="6" name="Footer Placeholder 5">
            <a:extLst>
              <a:ext uri="{FF2B5EF4-FFF2-40B4-BE49-F238E27FC236}">
                <a16:creationId xmlns:a16="http://schemas.microsoft.com/office/drawing/2014/main" id="{282CBF2C-7DC6-6CDB-599F-4D2531B7EFD7}"/>
              </a:ext>
            </a:extLst>
          </p:cNvPr>
          <p:cNvSpPr>
            <a:spLocks noGrp="1"/>
          </p:cNvSpPr>
          <p:nvPr>
            <p:ph type="ftr" sz="quarter" idx="11"/>
          </p:nvPr>
        </p:nvSpPr>
        <p:spPr/>
        <p:txBody>
          <a:bodyPr/>
          <a:lstStyle/>
          <a:p>
            <a:endParaRPr lang="en-BE"/>
          </a:p>
        </p:txBody>
      </p:sp>
      <p:sp>
        <p:nvSpPr>
          <p:cNvPr id="7" name="Slide Number Placeholder 6">
            <a:extLst>
              <a:ext uri="{FF2B5EF4-FFF2-40B4-BE49-F238E27FC236}">
                <a16:creationId xmlns:a16="http://schemas.microsoft.com/office/drawing/2014/main" id="{E8FDAF82-8FCB-417A-9568-F2F4F799F4DE}"/>
              </a:ext>
            </a:extLst>
          </p:cNvPr>
          <p:cNvSpPr>
            <a:spLocks noGrp="1"/>
          </p:cNvSpPr>
          <p:nvPr>
            <p:ph type="sldNum" sz="quarter" idx="12"/>
          </p:nvPr>
        </p:nvSpPr>
        <p:spPr/>
        <p:txBody>
          <a:bodyPr/>
          <a:lstStyle/>
          <a:p>
            <a:fld id="{94B3E216-A3C5-4E41-AE94-D003E76F1D3A}" type="slidenum">
              <a:rPr lang="en-BE" smtClean="0"/>
              <a:t>‹#›</a:t>
            </a:fld>
            <a:endParaRPr lang="en-BE"/>
          </a:p>
        </p:txBody>
      </p:sp>
    </p:spTree>
    <p:extLst>
      <p:ext uri="{BB962C8B-B14F-4D97-AF65-F5344CB8AC3E}">
        <p14:creationId xmlns:p14="http://schemas.microsoft.com/office/powerpoint/2010/main" val="4658106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DCE99-BFE2-D0D6-CF3C-997712D01BF9}"/>
              </a:ext>
            </a:extLst>
          </p:cNvPr>
          <p:cNvSpPr>
            <a:spLocks noGrp="1"/>
          </p:cNvSpPr>
          <p:nvPr>
            <p:ph type="title"/>
          </p:nvPr>
        </p:nvSpPr>
        <p:spPr>
          <a:xfrm>
            <a:off x="839788" y="365125"/>
            <a:ext cx="10515600" cy="1325563"/>
          </a:xfrm>
        </p:spPr>
        <p:txBody>
          <a:bodyPr anchor="t"/>
          <a:lstStyle/>
          <a:p>
            <a:r>
              <a:rPr lang="en-GB"/>
              <a:t>Click to edit Master title style</a:t>
            </a:r>
            <a:endParaRPr lang="en-BE"/>
          </a:p>
        </p:txBody>
      </p:sp>
      <p:sp>
        <p:nvSpPr>
          <p:cNvPr id="3" name="Text Placeholder 2">
            <a:extLst>
              <a:ext uri="{FF2B5EF4-FFF2-40B4-BE49-F238E27FC236}">
                <a16:creationId xmlns:a16="http://schemas.microsoft.com/office/drawing/2014/main" id="{4C3DC899-0E87-4F3F-F936-290D33103AE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42FEB3DB-2664-F917-CC97-C5B24E74C704}"/>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5" name="Text Placeholder 4">
            <a:extLst>
              <a:ext uri="{FF2B5EF4-FFF2-40B4-BE49-F238E27FC236}">
                <a16:creationId xmlns:a16="http://schemas.microsoft.com/office/drawing/2014/main" id="{B4911868-5A70-0FE7-1E9D-68B932AE69C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C3FF1200-9003-F769-B17C-F8F3C04DB00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7" name="Date Placeholder 6">
            <a:extLst>
              <a:ext uri="{FF2B5EF4-FFF2-40B4-BE49-F238E27FC236}">
                <a16:creationId xmlns:a16="http://schemas.microsoft.com/office/drawing/2014/main" id="{358DB5A2-AB44-8908-3FA7-91F34DAE9D2D}"/>
              </a:ext>
            </a:extLst>
          </p:cNvPr>
          <p:cNvSpPr>
            <a:spLocks noGrp="1"/>
          </p:cNvSpPr>
          <p:nvPr>
            <p:ph type="dt" sz="half" idx="10"/>
          </p:nvPr>
        </p:nvSpPr>
        <p:spPr>
          <a:xfrm>
            <a:off x="433633" y="6459767"/>
            <a:ext cx="3147767" cy="261708"/>
          </a:xfrm>
          <a:prstGeom prst="rect">
            <a:avLst/>
          </a:prstGeom>
        </p:spPr>
        <p:txBody>
          <a:bodyPr/>
          <a:lstStyle/>
          <a:p>
            <a:fld id="{591105BC-8387-468C-BB78-9993150C77E8}" type="datetime8">
              <a:rPr lang="en-BE" smtClean="0"/>
              <a:t>10/18/2026 09:59</a:t>
            </a:fld>
            <a:endParaRPr lang="en-BE"/>
          </a:p>
        </p:txBody>
      </p:sp>
      <p:sp>
        <p:nvSpPr>
          <p:cNvPr id="8" name="Footer Placeholder 7">
            <a:extLst>
              <a:ext uri="{FF2B5EF4-FFF2-40B4-BE49-F238E27FC236}">
                <a16:creationId xmlns:a16="http://schemas.microsoft.com/office/drawing/2014/main" id="{2C28D419-E8D9-CCD0-BC41-E27C3A63828E}"/>
              </a:ext>
            </a:extLst>
          </p:cNvPr>
          <p:cNvSpPr>
            <a:spLocks noGrp="1"/>
          </p:cNvSpPr>
          <p:nvPr>
            <p:ph type="ftr" sz="quarter" idx="11"/>
          </p:nvPr>
        </p:nvSpPr>
        <p:spPr/>
        <p:txBody>
          <a:bodyPr/>
          <a:lstStyle/>
          <a:p>
            <a:endParaRPr lang="en-BE"/>
          </a:p>
        </p:txBody>
      </p:sp>
      <p:sp>
        <p:nvSpPr>
          <p:cNvPr id="9" name="Slide Number Placeholder 8">
            <a:extLst>
              <a:ext uri="{FF2B5EF4-FFF2-40B4-BE49-F238E27FC236}">
                <a16:creationId xmlns:a16="http://schemas.microsoft.com/office/drawing/2014/main" id="{6ECCCADE-35D4-F930-CD8D-095A3FD8E911}"/>
              </a:ext>
            </a:extLst>
          </p:cNvPr>
          <p:cNvSpPr>
            <a:spLocks noGrp="1"/>
          </p:cNvSpPr>
          <p:nvPr>
            <p:ph type="sldNum" sz="quarter" idx="12"/>
          </p:nvPr>
        </p:nvSpPr>
        <p:spPr/>
        <p:txBody>
          <a:bodyPr/>
          <a:lstStyle/>
          <a:p>
            <a:fld id="{94B3E216-A3C5-4E41-AE94-D003E76F1D3A}" type="slidenum">
              <a:rPr lang="en-BE" smtClean="0"/>
              <a:t>‹#›</a:t>
            </a:fld>
            <a:endParaRPr lang="en-BE"/>
          </a:p>
        </p:txBody>
      </p:sp>
    </p:spTree>
    <p:extLst>
      <p:ext uri="{BB962C8B-B14F-4D97-AF65-F5344CB8AC3E}">
        <p14:creationId xmlns:p14="http://schemas.microsoft.com/office/powerpoint/2010/main" val="42384862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D34C0-9FB6-1B1D-7010-75A1C0C308FB}"/>
              </a:ext>
            </a:extLst>
          </p:cNvPr>
          <p:cNvSpPr>
            <a:spLocks noGrp="1"/>
          </p:cNvSpPr>
          <p:nvPr>
            <p:ph type="title"/>
          </p:nvPr>
        </p:nvSpPr>
        <p:spPr/>
        <p:txBody>
          <a:bodyPr/>
          <a:lstStyle/>
          <a:p>
            <a:r>
              <a:rPr lang="en-GB"/>
              <a:t>Click to edit Master title style</a:t>
            </a:r>
            <a:endParaRPr lang="en-BE"/>
          </a:p>
        </p:txBody>
      </p:sp>
      <p:sp>
        <p:nvSpPr>
          <p:cNvPr id="3" name="Date Placeholder 2">
            <a:extLst>
              <a:ext uri="{FF2B5EF4-FFF2-40B4-BE49-F238E27FC236}">
                <a16:creationId xmlns:a16="http://schemas.microsoft.com/office/drawing/2014/main" id="{E16E80C2-3008-6421-7948-4B8A47EE77C9}"/>
              </a:ext>
            </a:extLst>
          </p:cNvPr>
          <p:cNvSpPr>
            <a:spLocks noGrp="1"/>
          </p:cNvSpPr>
          <p:nvPr>
            <p:ph type="dt" sz="half" idx="10"/>
          </p:nvPr>
        </p:nvSpPr>
        <p:spPr>
          <a:xfrm>
            <a:off x="433633" y="6459767"/>
            <a:ext cx="3147767" cy="261708"/>
          </a:xfrm>
          <a:prstGeom prst="rect">
            <a:avLst/>
          </a:prstGeom>
        </p:spPr>
        <p:txBody>
          <a:bodyPr/>
          <a:lstStyle/>
          <a:p>
            <a:fld id="{DC970503-348D-4AD8-B0F8-FDFDAECC1101}" type="datetime8">
              <a:rPr lang="en-BE" smtClean="0"/>
              <a:t>10/18/2026 09:59</a:t>
            </a:fld>
            <a:endParaRPr lang="en-BE"/>
          </a:p>
        </p:txBody>
      </p:sp>
      <p:sp>
        <p:nvSpPr>
          <p:cNvPr id="4" name="Footer Placeholder 3">
            <a:extLst>
              <a:ext uri="{FF2B5EF4-FFF2-40B4-BE49-F238E27FC236}">
                <a16:creationId xmlns:a16="http://schemas.microsoft.com/office/drawing/2014/main" id="{D19244BD-79F0-BDCF-7553-6F8AFC2CD80D}"/>
              </a:ext>
            </a:extLst>
          </p:cNvPr>
          <p:cNvSpPr>
            <a:spLocks noGrp="1"/>
          </p:cNvSpPr>
          <p:nvPr>
            <p:ph type="ftr" sz="quarter" idx="11"/>
          </p:nvPr>
        </p:nvSpPr>
        <p:spPr/>
        <p:txBody>
          <a:bodyPr/>
          <a:lstStyle/>
          <a:p>
            <a:endParaRPr lang="en-BE"/>
          </a:p>
        </p:txBody>
      </p:sp>
      <p:sp>
        <p:nvSpPr>
          <p:cNvPr id="5" name="Slide Number Placeholder 4">
            <a:extLst>
              <a:ext uri="{FF2B5EF4-FFF2-40B4-BE49-F238E27FC236}">
                <a16:creationId xmlns:a16="http://schemas.microsoft.com/office/drawing/2014/main" id="{86D591E2-2A4F-E3FB-8C9D-1B1A0288CBBA}"/>
              </a:ext>
            </a:extLst>
          </p:cNvPr>
          <p:cNvSpPr>
            <a:spLocks noGrp="1"/>
          </p:cNvSpPr>
          <p:nvPr>
            <p:ph type="sldNum" sz="quarter" idx="12"/>
          </p:nvPr>
        </p:nvSpPr>
        <p:spPr/>
        <p:txBody>
          <a:bodyPr/>
          <a:lstStyle/>
          <a:p>
            <a:fld id="{94B3E216-A3C5-4E41-AE94-D003E76F1D3A}" type="slidenum">
              <a:rPr lang="en-BE" smtClean="0"/>
              <a:t>‹#›</a:t>
            </a:fld>
            <a:endParaRPr lang="en-BE"/>
          </a:p>
        </p:txBody>
      </p:sp>
    </p:spTree>
    <p:extLst>
      <p:ext uri="{BB962C8B-B14F-4D97-AF65-F5344CB8AC3E}">
        <p14:creationId xmlns:p14="http://schemas.microsoft.com/office/powerpoint/2010/main" val="35058179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AA1A13D-2595-50CE-AC9F-F4BFCC2B2932}"/>
              </a:ext>
            </a:extLst>
          </p:cNvPr>
          <p:cNvSpPr>
            <a:spLocks noGrp="1"/>
          </p:cNvSpPr>
          <p:nvPr>
            <p:ph type="dt" sz="half" idx="10"/>
          </p:nvPr>
        </p:nvSpPr>
        <p:spPr>
          <a:xfrm>
            <a:off x="433633" y="6459767"/>
            <a:ext cx="3147767" cy="261708"/>
          </a:xfrm>
          <a:prstGeom prst="rect">
            <a:avLst/>
          </a:prstGeom>
        </p:spPr>
        <p:txBody>
          <a:bodyPr/>
          <a:lstStyle/>
          <a:p>
            <a:fld id="{639A8ADD-3D3E-4211-B3DA-099B5EF48C8A}" type="datetime8">
              <a:rPr lang="en-BE" smtClean="0"/>
              <a:t>10/18/2026 09:59</a:t>
            </a:fld>
            <a:endParaRPr lang="en-BE"/>
          </a:p>
        </p:txBody>
      </p:sp>
      <p:sp>
        <p:nvSpPr>
          <p:cNvPr id="3" name="Footer Placeholder 2">
            <a:extLst>
              <a:ext uri="{FF2B5EF4-FFF2-40B4-BE49-F238E27FC236}">
                <a16:creationId xmlns:a16="http://schemas.microsoft.com/office/drawing/2014/main" id="{9B8B9CF6-FC22-FD6C-4EA2-D6275E678ABE}"/>
              </a:ext>
            </a:extLst>
          </p:cNvPr>
          <p:cNvSpPr>
            <a:spLocks noGrp="1"/>
          </p:cNvSpPr>
          <p:nvPr>
            <p:ph type="ftr" sz="quarter" idx="11"/>
          </p:nvPr>
        </p:nvSpPr>
        <p:spPr/>
        <p:txBody>
          <a:bodyPr/>
          <a:lstStyle/>
          <a:p>
            <a:endParaRPr lang="en-BE"/>
          </a:p>
        </p:txBody>
      </p:sp>
      <p:sp>
        <p:nvSpPr>
          <p:cNvPr id="4" name="Slide Number Placeholder 3">
            <a:extLst>
              <a:ext uri="{FF2B5EF4-FFF2-40B4-BE49-F238E27FC236}">
                <a16:creationId xmlns:a16="http://schemas.microsoft.com/office/drawing/2014/main" id="{959B6BB4-2803-7AD3-3AF5-341799AD2DD1}"/>
              </a:ext>
            </a:extLst>
          </p:cNvPr>
          <p:cNvSpPr>
            <a:spLocks noGrp="1"/>
          </p:cNvSpPr>
          <p:nvPr>
            <p:ph type="sldNum" sz="quarter" idx="12"/>
          </p:nvPr>
        </p:nvSpPr>
        <p:spPr/>
        <p:txBody>
          <a:bodyPr/>
          <a:lstStyle/>
          <a:p>
            <a:fld id="{94B3E216-A3C5-4E41-AE94-D003E76F1D3A}" type="slidenum">
              <a:rPr lang="en-BE" smtClean="0"/>
              <a:t>‹#›</a:t>
            </a:fld>
            <a:endParaRPr lang="en-BE"/>
          </a:p>
        </p:txBody>
      </p:sp>
    </p:spTree>
    <p:extLst>
      <p:ext uri="{BB962C8B-B14F-4D97-AF65-F5344CB8AC3E}">
        <p14:creationId xmlns:p14="http://schemas.microsoft.com/office/powerpoint/2010/main" val="34409395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D239E-4E74-98A7-CEBB-C260A3AF4FE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BE"/>
          </a:p>
        </p:txBody>
      </p:sp>
      <p:sp>
        <p:nvSpPr>
          <p:cNvPr id="3" name="Content Placeholder 2">
            <a:extLst>
              <a:ext uri="{FF2B5EF4-FFF2-40B4-BE49-F238E27FC236}">
                <a16:creationId xmlns:a16="http://schemas.microsoft.com/office/drawing/2014/main" id="{06537D8C-0D6B-653A-8124-5AB48D6361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Text Placeholder 3">
            <a:extLst>
              <a:ext uri="{FF2B5EF4-FFF2-40B4-BE49-F238E27FC236}">
                <a16:creationId xmlns:a16="http://schemas.microsoft.com/office/drawing/2014/main" id="{EDF03FBA-5D49-1949-9A18-D4BE75F28C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9478A04-333D-D106-6228-7FE9A0078287}"/>
              </a:ext>
            </a:extLst>
          </p:cNvPr>
          <p:cNvSpPr>
            <a:spLocks noGrp="1"/>
          </p:cNvSpPr>
          <p:nvPr>
            <p:ph type="dt" sz="half" idx="10"/>
          </p:nvPr>
        </p:nvSpPr>
        <p:spPr>
          <a:xfrm>
            <a:off x="433633" y="6459767"/>
            <a:ext cx="3147767" cy="261708"/>
          </a:xfrm>
          <a:prstGeom prst="rect">
            <a:avLst/>
          </a:prstGeom>
        </p:spPr>
        <p:txBody>
          <a:bodyPr/>
          <a:lstStyle/>
          <a:p>
            <a:fld id="{60C02A96-A3E3-4B47-8922-B223B53966F5}" type="datetime8">
              <a:rPr lang="en-BE" smtClean="0"/>
              <a:t>10/18/2026 09:59</a:t>
            </a:fld>
            <a:endParaRPr lang="en-BE"/>
          </a:p>
        </p:txBody>
      </p:sp>
      <p:sp>
        <p:nvSpPr>
          <p:cNvPr id="6" name="Footer Placeholder 5">
            <a:extLst>
              <a:ext uri="{FF2B5EF4-FFF2-40B4-BE49-F238E27FC236}">
                <a16:creationId xmlns:a16="http://schemas.microsoft.com/office/drawing/2014/main" id="{1EA43E89-05D8-2567-C96D-E29C27A729BD}"/>
              </a:ext>
            </a:extLst>
          </p:cNvPr>
          <p:cNvSpPr>
            <a:spLocks noGrp="1"/>
          </p:cNvSpPr>
          <p:nvPr>
            <p:ph type="ftr" sz="quarter" idx="11"/>
          </p:nvPr>
        </p:nvSpPr>
        <p:spPr/>
        <p:txBody>
          <a:bodyPr/>
          <a:lstStyle/>
          <a:p>
            <a:endParaRPr lang="en-BE"/>
          </a:p>
        </p:txBody>
      </p:sp>
      <p:sp>
        <p:nvSpPr>
          <p:cNvPr id="7" name="Slide Number Placeholder 6">
            <a:extLst>
              <a:ext uri="{FF2B5EF4-FFF2-40B4-BE49-F238E27FC236}">
                <a16:creationId xmlns:a16="http://schemas.microsoft.com/office/drawing/2014/main" id="{163B97D3-2B7D-A37C-9B19-A57DE8EE2AE5}"/>
              </a:ext>
            </a:extLst>
          </p:cNvPr>
          <p:cNvSpPr>
            <a:spLocks noGrp="1"/>
          </p:cNvSpPr>
          <p:nvPr>
            <p:ph type="sldNum" sz="quarter" idx="12"/>
          </p:nvPr>
        </p:nvSpPr>
        <p:spPr/>
        <p:txBody>
          <a:bodyPr/>
          <a:lstStyle/>
          <a:p>
            <a:fld id="{94B3E216-A3C5-4E41-AE94-D003E76F1D3A}" type="slidenum">
              <a:rPr lang="en-BE" smtClean="0"/>
              <a:t>‹#›</a:t>
            </a:fld>
            <a:endParaRPr lang="en-BE"/>
          </a:p>
        </p:txBody>
      </p:sp>
    </p:spTree>
    <p:extLst>
      <p:ext uri="{BB962C8B-B14F-4D97-AF65-F5344CB8AC3E}">
        <p14:creationId xmlns:p14="http://schemas.microsoft.com/office/powerpoint/2010/main" val="38791387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2B9AA-1A3F-3172-C9EB-F2A54AB88B2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BE"/>
          </a:p>
        </p:txBody>
      </p:sp>
      <p:sp>
        <p:nvSpPr>
          <p:cNvPr id="3" name="Picture Placeholder 2">
            <a:extLst>
              <a:ext uri="{FF2B5EF4-FFF2-40B4-BE49-F238E27FC236}">
                <a16:creationId xmlns:a16="http://schemas.microsoft.com/office/drawing/2014/main" id="{BB4BD0E5-B450-8C62-44E6-26F791BBB95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BE"/>
          </a:p>
        </p:txBody>
      </p:sp>
      <p:sp>
        <p:nvSpPr>
          <p:cNvPr id="4" name="Text Placeholder 3">
            <a:extLst>
              <a:ext uri="{FF2B5EF4-FFF2-40B4-BE49-F238E27FC236}">
                <a16:creationId xmlns:a16="http://schemas.microsoft.com/office/drawing/2014/main" id="{3EE99DC3-DB93-78D2-BF5E-A068C38B90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2E20E9F-FBB8-46D9-CF71-30472851C116}"/>
              </a:ext>
            </a:extLst>
          </p:cNvPr>
          <p:cNvSpPr>
            <a:spLocks noGrp="1"/>
          </p:cNvSpPr>
          <p:nvPr>
            <p:ph type="dt" sz="half" idx="10"/>
          </p:nvPr>
        </p:nvSpPr>
        <p:spPr>
          <a:xfrm>
            <a:off x="433633" y="6459767"/>
            <a:ext cx="3147767" cy="261708"/>
          </a:xfrm>
          <a:prstGeom prst="rect">
            <a:avLst/>
          </a:prstGeom>
        </p:spPr>
        <p:txBody>
          <a:bodyPr/>
          <a:lstStyle/>
          <a:p>
            <a:fld id="{2798CD17-957B-4F15-80AA-6FA3D7FBF0A7}" type="datetime8">
              <a:rPr lang="en-BE" smtClean="0"/>
              <a:t>10/18/2026 09:59</a:t>
            </a:fld>
            <a:endParaRPr lang="en-BE"/>
          </a:p>
        </p:txBody>
      </p:sp>
      <p:sp>
        <p:nvSpPr>
          <p:cNvPr id="6" name="Footer Placeholder 5">
            <a:extLst>
              <a:ext uri="{FF2B5EF4-FFF2-40B4-BE49-F238E27FC236}">
                <a16:creationId xmlns:a16="http://schemas.microsoft.com/office/drawing/2014/main" id="{A225BC26-F783-F721-E9E5-33FFCF66C909}"/>
              </a:ext>
            </a:extLst>
          </p:cNvPr>
          <p:cNvSpPr>
            <a:spLocks noGrp="1"/>
          </p:cNvSpPr>
          <p:nvPr>
            <p:ph type="ftr" sz="quarter" idx="11"/>
          </p:nvPr>
        </p:nvSpPr>
        <p:spPr/>
        <p:txBody>
          <a:bodyPr/>
          <a:lstStyle/>
          <a:p>
            <a:endParaRPr lang="en-BE"/>
          </a:p>
        </p:txBody>
      </p:sp>
      <p:sp>
        <p:nvSpPr>
          <p:cNvPr id="7" name="Slide Number Placeholder 6">
            <a:extLst>
              <a:ext uri="{FF2B5EF4-FFF2-40B4-BE49-F238E27FC236}">
                <a16:creationId xmlns:a16="http://schemas.microsoft.com/office/drawing/2014/main" id="{6540B8E3-98A5-2761-9D49-F0B67C33B10D}"/>
              </a:ext>
            </a:extLst>
          </p:cNvPr>
          <p:cNvSpPr>
            <a:spLocks noGrp="1"/>
          </p:cNvSpPr>
          <p:nvPr>
            <p:ph type="sldNum" sz="quarter" idx="12"/>
          </p:nvPr>
        </p:nvSpPr>
        <p:spPr/>
        <p:txBody>
          <a:bodyPr/>
          <a:lstStyle/>
          <a:p>
            <a:fld id="{94B3E216-A3C5-4E41-AE94-D003E76F1D3A}" type="slidenum">
              <a:rPr lang="en-BE" smtClean="0"/>
              <a:t>‹#›</a:t>
            </a:fld>
            <a:endParaRPr lang="en-BE"/>
          </a:p>
        </p:txBody>
      </p:sp>
    </p:spTree>
    <p:extLst>
      <p:ext uri="{BB962C8B-B14F-4D97-AF65-F5344CB8AC3E}">
        <p14:creationId xmlns:p14="http://schemas.microsoft.com/office/powerpoint/2010/main" val="23735942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E4E1E-063B-AA21-912A-F83B72036528}"/>
              </a:ext>
            </a:extLst>
          </p:cNvPr>
          <p:cNvSpPr>
            <a:spLocks noGrp="1"/>
          </p:cNvSpPr>
          <p:nvPr>
            <p:ph type="title"/>
          </p:nvPr>
        </p:nvSpPr>
        <p:spPr/>
        <p:txBody>
          <a:bodyPr/>
          <a:lstStyle/>
          <a:p>
            <a:r>
              <a:rPr lang="en-GB"/>
              <a:t>Click to edit Master title style</a:t>
            </a:r>
            <a:endParaRPr lang="en-BE"/>
          </a:p>
        </p:txBody>
      </p:sp>
      <p:sp>
        <p:nvSpPr>
          <p:cNvPr id="3" name="Vertical Text Placeholder 2">
            <a:extLst>
              <a:ext uri="{FF2B5EF4-FFF2-40B4-BE49-F238E27FC236}">
                <a16:creationId xmlns:a16="http://schemas.microsoft.com/office/drawing/2014/main" id="{F54D790A-2FB7-C21C-DAC0-C803D405C1F2}"/>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Date Placeholder 3">
            <a:extLst>
              <a:ext uri="{FF2B5EF4-FFF2-40B4-BE49-F238E27FC236}">
                <a16:creationId xmlns:a16="http://schemas.microsoft.com/office/drawing/2014/main" id="{98AB05FD-34AF-3E35-8E94-C1712F94A67C}"/>
              </a:ext>
            </a:extLst>
          </p:cNvPr>
          <p:cNvSpPr>
            <a:spLocks noGrp="1"/>
          </p:cNvSpPr>
          <p:nvPr>
            <p:ph type="dt" sz="half" idx="10"/>
          </p:nvPr>
        </p:nvSpPr>
        <p:spPr>
          <a:xfrm>
            <a:off x="433633" y="6459767"/>
            <a:ext cx="3147767" cy="261708"/>
          </a:xfrm>
          <a:prstGeom prst="rect">
            <a:avLst/>
          </a:prstGeom>
        </p:spPr>
        <p:txBody>
          <a:bodyPr/>
          <a:lstStyle/>
          <a:p>
            <a:fld id="{18296E6A-B81C-42D4-B054-2E03431A5F8F}" type="datetime8">
              <a:rPr lang="en-BE" smtClean="0"/>
              <a:t>10/18/2026 09:59</a:t>
            </a:fld>
            <a:endParaRPr lang="en-BE"/>
          </a:p>
        </p:txBody>
      </p:sp>
      <p:sp>
        <p:nvSpPr>
          <p:cNvPr id="5" name="Footer Placeholder 4">
            <a:extLst>
              <a:ext uri="{FF2B5EF4-FFF2-40B4-BE49-F238E27FC236}">
                <a16:creationId xmlns:a16="http://schemas.microsoft.com/office/drawing/2014/main" id="{2877C186-A6B0-2478-EAEE-BD1E9840B076}"/>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0E113B3B-9579-E887-FA90-DE28987E5A53}"/>
              </a:ext>
            </a:extLst>
          </p:cNvPr>
          <p:cNvSpPr>
            <a:spLocks noGrp="1"/>
          </p:cNvSpPr>
          <p:nvPr>
            <p:ph type="sldNum" sz="quarter" idx="12"/>
          </p:nvPr>
        </p:nvSpPr>
        <p:spPr/>
        <p:txBody>
          <a:bodyPr/>
          <a:lstStyle/>
          <a:p>
            <a:fld id="{94B3E216-A3C5-4E41-AE94-D003E76F1D3A}" type="slidenum">
              <a:rPr lang="en-BE" smtClean="0"/>
              <a:t>‹#›</a:t>
            </a:fld>
            <a:endParaRPr lang="en-BE"/>
          </a:p>
        </p:txBody>
      </p:sp>
    </p:spTree>
    <p:extLst>
      <p:ext uri="{BB962C8B-B14F-4D97-AF65-F5344CB8AC3E}">
        <p14:creationId xmlns:p14="http://schemas.microsoft.com/office/powerpoint/2010/main" val="28379542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8020E95-7106-9B01-984D-25E5931682F8}"/>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BE"/>
          </a:p>
        </p:txBody>
      </p:sp>
      <p:sp>
        <p:nvSpPr>
          <p:cNvPr id="3" name="Vertical Text Placeholder 2">
            <a:extLst>
              <a:ext uri="{FF2B5EF4-FFF2-40B4-BE49-F238E27FC236}">
                <a16:creationId xmlns:a16="http://schemas.microsoft.com/office/drawing/2014/main" id="{7D19EB7B-37B5-0E28-DFA5-89543600AC16}"/>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Date Placeholder 3">
            <a:extLst>
              <a:ext uri="{FF2B5EF4-FFF2-40B4-BE49-F238E27FC236}">
                <a16:creationId xmlns:a16="http://schemas.microsoft.com/office/drawing/2014/main" id="{683CE053-5459-F91F-5969-D9B1B088B1B4}"/>
              </a:ext>
            </a:extLst>
          </p:cNvPr>
          <p:cNvSpPr>
            <a:spLocks noGrp="1"/>
          </p:cNvSpPr>
          <p:nvPr>
            <p:ph type="dt" sz="half" idx="10"/>
          </p:nvPr>
        </p:nvSpPr>
        <p:spPr>
          <a:xfrm>
            <a:off x="433633" y="6459767"/>
            <a:ext cx="3147767" cy="261708"/>
          </a:xfrm>
          <a:prstGeom prst="rect">
            <a:avLst/>
          </a:prstGeom>
        </p:spPr>
        <p:txBody>
          <a:bodyPr/>
          <a:lstStyle/>
          <a:p>
            <a:fld id="{E7202CB3-5427-4BA6-99B6-A5EA4F4F0019}" type="datetime8">
              <a:rPr lang="en-BE" smtClean="0"/>
              <a:t>10/18/2026 09:59</a:t>
            </a:fld>
            <a:endParaRPr lang="en-BE"/>
          </a:p>
        </p:txBody>
      </p:sp>
      <p:sp>
        <p:nvSpPr>
          <p:cNvPr id="5" name="Footer Placeholder 4">
            <a:extLst>
              <a:ext uri="{FF2B5EF4-FFF2-40B4-BE49-F238E27FC236}">
                <a16:creationId xmlns:a16="http://schemas.microsoft.com/office/drawing/2014/main" id="{16DE4691-D5D8-3528-889E-CB34E4306F83}"/>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B2727E4E-9593-1FBC-3FF8-D6FA9E0327D6}"/>
              </a:ext>
            </a:extLst>
          </p:cNvPr>
          <p:cNvSpPr>
            <a:spLocks noGrp="1"/>
          </p:cNvSpPr>
          <p:nvPr>
            <p:ph type="sldNum" sz="quarter" idx="12"/>
          </p:nvPr>
        </p:nvSpPr>
        <p:spPr/>
        <p:txBody>
          <a:bodyPr/>
          <a:lstStyle/>
          <a:p>
            <a:fld id="{94B3E216-A3C5-4E41-AE94-D003E76F1D3A}" type="slidenum">
              <a:rPr lang="en-BE" smtClean="0"/>
              <a:t>‹#›</a:t>
            </a:fld>
            <a:endParaRPr lang="en-BE"/>
          </a:p>
        </p:txBody>
      </p:sp>
    </p:spTree>
    <p:extLst>
      <p:ext uri="{BB962C8B-B14F-4D97-AF65-F5344CB8AC3E}">
        <p14:creationId xmlns:p14="http://schemas.microsoft.com/office/powerpoint/2010/main" val="10468006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3B2D071-8136-59B1-D0A6-46F0A037C97D}"/>
              </a:ext>
            </a:extLst>
          </p:cNvPr>
          <p:cNvSpPr>
            <a:spLocks noGrp="1"/>
          </p:cNvSpPr>
          <p:nvPr>
            <p:ph type="title"/>
          </p:nvPr>
        </p:nvSpPr>
        <p:spPr>
          <a:xfrm>
            <a:off x="433633" y="365125"/>
            <a:ext cx="11324734" cy="418128"/>
          </a:xfrm>
          <a:prstGeom prst="rect">
            <a:avLst/>
          </a:prstGeom>
        </p:spPr>
        <p:txBody>
          <a:bodyPr vert="horz" lIns="0" tIns="0" rIns="0" bIns="0" rtlCol="0" anchor="t">
            <a:spAutoFit/>
          </a:bodyPr>
          <a:lstStyle/>
          <a:p>
            <a:r>
              <a:rPr lang="en-GB"/>
              <a:t>Click to edit Master title style</a:t>
            </a:r>
            <a:endParaRPr lang="en-BE"/>
          </a:p>
        </p:txBody>
      </p:sp>
      <p:sp>
        <p:nvSpPr>
          <p:cNvPr id="3" name="Text Placeholder 2">
            <a:extLst>
              <a:ext uri="{FF2B5EF4-FFF2-40B4-BE49-F238E27FC236}">
                <a16:creationId xmlns:a16="http://schemas.microsoft.com/office/drawing/2014/main" id="{124FF3CE-AB41-3DBA-F1EE-46716E1D2C02}"/>
              </a:ext>
            </a:extLst>
          </p:cNvPr>
          <p:cNvSpPr>
            <a:spLocks noGrp="1"/>
          </p:cNvSpPr>
          <p:nvPr>
            <p:ph type="body" idx="1"/>
          </p:nvPr>
        </p:nvSpPr>
        <p:spPr>
          <a:xfrm>
            <a:off x="433633" y="1225485"/>
            <a:ext cx="11324734" cy="5109327"/>
          </a:xfrm>
          <a:prstGeom prst="rect">
            <a:avLst/>
          </a:prstGeom>
        </p:spPr>
        <p:txBody>
          <a:bodyPr vert="horz" lIns="0" tIns="0" rIns="0" bIns="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5" name="Footer Placeholder 4">
            <a:extLst>
              <a:ext uri="{FF2B5EF4-FFF2-40B4-BE49-F238E27FC236}">
                <a16:creationId xmlns:a16="http://schemas.microsoft.com/office/drawing/2014/main" id="{3DF3ED21-04A5-C9AD-0745-6D1BF969C464}"/>
              </a:ext>
            </a:extLst>
          </p:cNvPr>
          <p:cNvSpPr>
            <a:spLocks noGrp="1"/>
          </p:cNvSpPr>
          <p:nvPr>
            <p:ph type="ftr" sz="quarter" idx="3"/>
          </p:nvPr>
        </p:nvSpPr>
        <p:spPr>
          <a:xfrm>
            <a:off x="433633" y="6459767"/>
            <a:ext cx="10138411" cy="261708"/>
          </a:xfrm>
          <a:prstGeom prst="rect">
            <a:avLst/>
          </a:prstGeom>
        </p:spPr>
        <p:txBody>
          <a:bodyPr vert="horz" lIns="0" tIns="0" rIns="0" bIns="0" rtlCol="0" anchor="ctr"/>
          <a:lstStyle>
            <a:lvl1pPr algn="l">
              <a:defRPr sz="1050">
                <a:solidFill>
                  <a:schemeClr val="tx1">
                    <a:tint val="82000"/>
                  </a:schemeClr>
                </a:solidFill>
                <a:latin typeface="+mj-lt"/>
              </a:defRPr>
            </a:lvl1pPr>
          </a:lstStyle>
          <a:p>
            <a:endParaRPr lang="en-BE"/>
          </a:p>
        </p:txBody>
      </p:sp>
      <p:sp>
        <p:nvSpPr>
          <p:cNvPr id="6" name="Slide Number Placeholder 5">
            <a:extLst>
              <a:ext uri="{FF2B5EF4-FFF2-40B4-BE49-F238E27FC236}">
                <a16:creationId xmlns:a16="http://schemas.microsoft.com/office/drawing/2014/main" id="{EEE7EA51-DEF7-1B95-07B8-026BDF39496F}"/>
              </a:ext>
            </a:extLst>
          </p:cNvPr>
          <p:cNvSpPr>
            <a:spLocks noGrp="1"/>
          </p:cNvSpPr>
          <p:nvPr>
            <p:ph type="sldNum" sz="quarter" idx="4"/>
          </p:nvPr>
        </p:nvSpPr>
        <p:spPr>
          <a:xfrm>
            <a:off x="10684933" y="6459767"/>
            <a:ext cx="1073434" cy="261708"/>
          </a:xfrm>
          <a:prstGeom prst="rect">
            <a:avLst/>
          </a:prstGeom>
        </p:spPr>
        <p:txBody>
          <a:bodyPr vert="horz" lIns="0" tIns="0" rIns="0" bIns="0" rtlCol="0" anchor="ctr"/>
          <a:lstStyle>
            <a:lvl1pPr algn="r">
              <a:defRPr sz="1050">
                <a:solidFill>
                  <a:schemeClr val="tx1">
                    <a:tint val="82000"/>
                  </a:schemeClr>
                </a:solidFill>
                <a:latin typeface="+mj-lt"/>
              </a:defRPr>
            </a:lvl1pPr>
          </a:lstStyle>
          <a:p>
            <a:fld id="{94B3E216-A3C5-4E41-AE94-D003E76F1D3A}" type="slidenum">
              <a:rPr lang="en-BE" smtClean="0"/>
              <a:pPr/>
              <a:t>‹#›</a:t>
            </a:fld>
            <a:endParaRPr lang="en-BE"/>
          </a:p>
        </p:txBody>
      </p:sp>
    </p:spTree>
    <p:extLst>
      <p:ext uri="{BB962C8B-B14F-4D97-AF65-F5344CB8AC3E}">
        <p14:creationId xmlns:p14="http://schemas.microsoft.com/office/powerpoint/2010/main" val="247178353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3000" kern="1200">
          <a:solidFill>
            <a:schemeClr val="tx1"/>
          </a:solidFill>
          <a:latin typeface="Aptos SemiBold" panose="020B00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Aptos SemiBold"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ptos SemiBold"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ptos SemiBold"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ptos SemiBold"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ptos SemiBold"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3.xml.rels><?xml version="1.0" encoding="UTF-8" standalone="yes"?>
<Relationships xmlns="http://schemas.openxmlformats.org/package/2006/relationships"><Relationship Id="rId3" Type="http://schemas.openxmlformats.org/officeDocument/2006/relationships/hyperlink" Target="https://playground.tensorflow.org/#activation=sigmoid&amp;batchSize=10&amp;dataset=gauss&amp;regDataset=reg-plane&amp;learningRate=0.03&amp;regularizationRate=0&amp;noise=10&amp;networkShape=&amp;seed=0.31687&amp;showTestData=false&amp;discretize=false&amp;percTrainData=50&amp;x=true&amp;y=true&amp;xTimesY=false&amp;xSquared=false&amp;ySquared=false&amp;cosX=false&amp;sinX=false&amp;cosY=false&amp;sinY=false&amp;collectStats=false&amp;problem=classification&amp;initZero=false&amp;hideText=false"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7.png"/><Relationship Id="rId7"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9.png"/><Relationship Id="rId10" Type="http://schemas.openxmlformats.org/officeDocument/2006/relationships/image" Target="../media/image10.png"/><Relationship Id="rId4" Type="http://schemas.openxmlformats.org/officeDocument/2006/relationships/image" Target="../media/image8.png"/><Relationship Id="rId9" Type="http://schemas.openxmlformats.org/officeDocument/2006/relationships/image" Target="../media/image22.png"/></Relationships>
</file>

<file path=ppt/slides/_rels/slide5.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7.png"/><Relationship Id="rId7" Type="http://schemas.openxmlformats.org/officeDocument/2006/relationships/image" Target="../media/image21.png"/><Relationship Id="rId12" Type="http://schemas.openxmlformats.org/officeDocument/2006/relationships/image" Target="../media/image26.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image" Target="../media/image25.png"/><Relationship Id="rId5" Type="http://schemas.openxmlformats.org/officeDocument/2006/relationships/image" Target="../media/image9.png"/><Relationship Id="rId10" Type="http://schemas.openxmlformats.org/officeDocument/2006/relationships/image" Target="../media/image24.png"/><Relationship Id="rId4" Type="http://schemas.openxmlformats.org/officeDocument/2006/relationships/image" Target="../media/image8.png"/><Relationship Id="rId9" Type="http://schemas.openxmlformats.org/officeDocument/2006/relationships/image" Target="../media/image23.png"/></Relationships>
</file>

<file path=ppt/slides/_rels/slide6.xml.rels><?xml version="1.0" encoding="UTF-8" standalone="yes"?>
<Relationships xmlns="http://schemas.openxmlformats.org/package/2006/relationships"><Relationship Id="rId3" Type="http://schemas.openxmlformats.org/officeDocument/2006/relationships/hyperlink" Target="https://playground.tensorflow.org/#activation=sigmoid&amp;batchSize=10&amp;dataset=xor&amp;regDataset=reg-plane&amp;learningRate=0.03&amp;regularizationRate=0&amp;noise=10&amp;networkShape=4&amp;seed=0.14068&amp;showTestData=false&amp;discretize=false&amp;percTrainData=50&amp;x=true&amp;y=true&amp;xTimesY=false&amp;xSquared=false&amp;ySquared=false&amp;cosX=false&amp;sinX=false&amp;cosY=false&amp;sinY=false&amp;collectStats=false&amp;problem=classification&amp;initZero=false&amp;hideText=false"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37.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31.png"/><Relationship Id="rId11" Type="http://schemas.openxmlformats.org/officeDocument/2006/relationships/image" Target="../media/image36.png"/><Relationship Id="rId5" Type="http://schemas.openxmlformats.org/officeDocument/2006/relationships/image" Target="../media/image30.png"/><Relationship Id="rId15" Type="http://schemas.openxmlformats.org/officeDocument/2006/relationships/image" Target="../media/image40.pn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png"/></Relationships>
</file>

<file path=ppt/slides/_rels/slide8.xml.rels><?xml version="1.0" encoding="UTF-8" standalone="yes"?>
<Relationships xmlns="http://schemas.openxmlformats.org/package/2006/relationships"><Relationship Id="rId3" Type="http://schemas.openxmlformats.org/officeDocument/2006/relationships/hyperlink" Target="https://playground.tensorflow.org/#activation=sigmoid&amp;batchSize=10&amp;dataset=circle&amp;regDataset=reg-plane&amp;learningRate=0.03&amp;regularizationRate=0&amp;noise=10&amp;networkShape=3,3&amp;seed=0.99343&amp;showTestData=false&amp;discretize=false&amp;percTrainData=50&amp;x=true&amp;y=true&amp;xTimesY=false&amp;xSquared=false&amp;ySquared=false&amp;cosX=false&amp;sinX=false&amp;cosY=false&amp;sinY=false&amp;collectStats=false&amp;problem=classification&amp;initZero=false&amp;hideText=false"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16.xml.rels><?xml version="1.0" encoding="UTF-8" standalone="yes"?>
<Relationships xmlns="http://schemas.openxmlformats.org/package/2006/relationships"><Relationship Id="rId3" Type="http://schemas.openxmlformats.org/officeDocument/2006/relationships/hyperlink" Target="https://www.youtube.com/watch?v=Ilg3gGewQ5U&amp;t=548s&amp;ab_channel=3Blue1Brown"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17.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9.png"/><Relationship Id="rId7" Type="http://schemas.openxmlformats.org/officeDocument/2006/relationships/image" Target="../media/image63.png"/><Relationship Id="rId2" Type="http://schemas.openxmlformats.org/officeDocument/2006/relationships/notesSlide" Target="../notesSlides/notesSlide25.xml"/><Relationship Id="rId1" Type="http://schemas.openxmlformats.org/officeDocument/2006/relationships/slideLayout" Target="../slideLayouts/slideLayout6.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26.xml.rels><?xml version="1.0" encoding="UTF-8" standalone="yes"?>
<Relationships xmlns="http://schemas.openxmlformats.org/package/2006/relationships"><Relationship Id="rId8" Type="http://schemas.openxmlformats.org/officeDocument/2006/relationships/image" Target="../media/image66.png"/><Relationship Id="rId13" Type="http://schemas.openxmlformats.org/officeDocument/2006/relationships/image" Target="../media/image69.png"/><Relationship Id="rId3" Type="http://schemas.openxmlformats.org/officeDocument/2006/relationships/image" Target="../media/image59.png"/><Relationship Id="rId7" Type="http://schemas.openxmlformats.org/officeDocument/2006/relationships/image" Target="../media/image65.png"/><Relationship Id="rId12" Type="http://schemas.openxmlformats.org/officeDocument/2006/relationships/image" Target="../media/image68.png"/><Relationship Id="rId2" Type="http://schemas.openxmlformats.org/officeDocument/2006/relationships/notesSlide" Target="../notesSlides/notesSlide26.xml"/><Relationship Id="rId1" Type="http://schemas.openxmlformats.org/officeDocument/2006/relationships/slideLayout" Target="../slideLayouts/slideLayout6.xml"/><Relationship Id="rId6" Type="http://schemas.openxmlformats.org/officeDocument/2006/relationships/image" Target="../media/image64.png"/><Relationship Id="rId11" Type="http://schemas.openxmlformats.org/officeDocument/2006/relationships/image" Target="../media/image63.png"/><Relationship Id="rId5" Type="http://schemas.openxmlformats.org/officeDocument/2006/relationships/image" Target="../media/image61.png"/><Relationship Id="rId10" Type="http://schemas.openxmlformats.org/officeDocument/2006/relationships/image" Target="../media/image62.png"/><Relationship Id="rId4" Type="http://schemas.openxmlformats.org/officeDocument/2006/relationships/image" Target="../media/image60.png"/><Relationship Id="rId9" Type="http://schemas.openxmlformats.org/officeDocument/2006/relationships/image" Target="../media/image67.png"/><Relationship Id="rId14" Type="http://schemas.openxmlformats.org/officeDocument/2006/relationships/image" Target="../media/image70.png"/></Relationships>
</file>

<file path=ppt/slides/_rels/slide27.xml.rels><?xml version="1.0" encoding="UTF-8" standalone="yes"?>
<Relationships xmlns="http://schemas.openxmlformats.org/package/2006/relationships"><Relationship Id="rId8" Type="http://schemas.openxmlformats.org/officeDocument/2006/relationships/image" Target="../media/image65.png"/><Relationship Id="rId13" Type="http://schemas.openxmlformats.org/officeDocument/2006/relationships/image" Target="../media/image63.png"/><Relationship Id="rId3" Type="http://schemas.openxmlformats.org/officeDocument/2006/relationships/image" Target="../media/image71.png"/><Relationship Id="rId7" Type="http://schemas.openxmlformats.org/officeDocument/2006/relationships/image" Target="../media/image64.png"/><Relationship Id="rId12" Type="http://schemas.openxmlformats.org/officeDocument/2006/relationships/image" Target="../media/image62.png"/><Relationship Id="rId2" Type="http://schemas.openxmlformats.org/officeDocument/2006/relationships/notesSlide" Target="../notesSlides/notesSlide27.xml"/><Relationship Id="rId16" Type="http://schemas.openxmlformats.org/officeDocument/2006/relationships/image" Target="../media/image70.png"/><Relationship Id="rId1" Type="http://schemas.openxmlformats.org/officeDocument/2006/relationships/slideLayout" Target="../slideLayouts/slideLayout6.xml"/><Relationship Id="rId6" Type="http://schemas.openxmlformats.org/officeDocument/2006/relationships/image" Target="../media/image61.png"/><Relationship Id="rId11" Type="http://schemas.openxmlformats.org/officeDocument/2006/relationships/image" Target="../media/image67.png"/><Relationship Id="rId5" Type="http://schemas.openxmlformats.org/officeDocument/2006/relationships/image" Target="../media/image60.png"/><Relationship Id="rId15" Type="http://schemas.openxmlformats.org/officeDocument/2006/relationships/image" Target="../media/image69.png"/><Relationship Id="rId10" Type="http://schemas.openxmlformats.org/officeDocument/2006/relationships/image" Target="../media/image66.png"/><Relationship Id="rId4" Type="http://schemas.openxmlformats.org/officeDocument/2006/relationships/image" Target="../media/image59.png"/><Relationship Id="rId9" Type="http://schemas.openxmlformats.org/officeDocument/2006/relationships/image" Target="../media/image72.png"/><Relationship Id="rId14" Type="http://schemas.openxmlformats.org/officeDocument/2006/relationships/image" Target="../media/image68.png"/></Relationships>
</file>

<file path=ppt/slides/_rels/slide28.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05A5C-0392-658D-6CC3-CBD6B1E4E2D4}"/>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AEF3820D-7902-7D88-BA06-9E36D94D70FA}"/>
              </a:ext>
            </a:extLst>
          </p:cNvPr>
          <p:cNvPicPr>
            <a:picLocks noChangeAspect="1"/>
          </p:cNvPicPr>
          <p:nvPr/>
        </p:nvPicPr>
        <p:blipFill>
          <a:blip r:embed="rId3"/>
          <a:srcRect r="17847"/>
          <a:stretch/>
        </p:blipFill>
        <p:spPr>
          <a:xfrm>
            <a:off x="5725161" y="4485897"/>
            <a:ext cx="5853184" cy="676275"/>
          </a:xfrm>
          <a:prstGeom prst="rect">
            <a:avLst/>
          </a:prstGeom>
        </p:spPr>
      </p:pic>
      <p:pic>
        <p:nvPicPr>
          <p:cNvPr id="8" name="Picture 7">
            <a:extLst>
              <a:ext uri="{FF2B5EF4-FFF2-40B4-BE49-F238E27FC236}">
                <a16:creationId xmlns:a16="http://schemas.microsoft.com/office/drawing/2014/main" id="{2C8DB29B-CCC9-B64D-02B5-E843E7AAE430}"/>
              </a:ext>
            </a:extLst>
          </p:cNvPr>
          <p:cNvPicPr>
            <a:picLocks noChangeAspect="1"/>
          </p:cNvPicPr>
          <p:nvPr/>
        </p:nvPicPr>
        <p:blipFill>
          <a:blip r:embed="rId4"/>
          <a:stretch>
            <a:fillRect/>
          </a:stretch>
        </p:blipFill>
        <p:spPr>
          <a:xfrm>
            <a:off x="1029408" y="1714127"/>
            <a:ext cx="4514850" cy="4438650"/>
          </a:xfrm>
          <a:prstGeom prst="rect">
            <a:avLst/>
          </a:prstGeom>
        </p:spPr>
      </p:pic>
      <p:pic>
        <p:nvPicPr>
          <p:cNvPr id="9" name="Picture 8">
            <a:extLst>
              <a:ext uri="{FF2B5EF4-FFF2-40B4-BE49-F238E27FC236}">
                <a16:creationId xmlns:a16="http://schemas.microsoft.com/office/drawing/2014/main" id="{82C1C2FC-101F-D9E3-1328-9E8421ACC342}"/>
              </a:ext>
            </a:extLst>
          </p:cNvPr>
          <p:cNvPicPr>
            <a:picLocks noChangeAspect="1"/>
          </p:cNvPicPr>
          <p:nvPr/>
        </p:nvPicPr>
        <p:blipFill>
          <a:blip r:embed="rId5"/>
          <a:stretch>
            <a:fillRect/>
          </a:stretch>
        </p:blipFill>
        <p:spPr>
          <a:xfrm>
            <a:off x="5864861" y="2023001"/>
            <a:ext cx="3286125" cy="828675"/>
          </a:xfrm>
          <a:prstGeom prst="rect">
            <a:avLst/>
          </a:prstGeom>
        </p:spPr>
      </p:pic>
      <p:sp>
        <p:nvSpPr>
          <p:cNvPr id="13" name="TextBox 12">
            <a:extLst>
              <a:ext uri="{FF2B5EF4-FFF2-40B4-BE49-F238E27FC236}">
                <a16:creationId xmlns:a16="http://schemas.microsoft.com/office/drawing/2014/main" id="{CE8A54CF-30A1-73A0-EF0E-F508BB0BD640}"/>
              </a:ext>
            </a:extLst>
          </p:cNvPr>
          <p:cNvSpPr txBox="1"/>
          <p:nvPr/>
        </p:nvSpPr>
        <p:spPr>
          <a:xfrm>
            <a:off x="6924040" y="3247990"/>
            <a:ext cx="4932680" cy="646331"/>
          </a:xfrm>
          <a:prstGeom prst="rect">
            <a:avLst/>
          </a:prstGeom>
          <a:noFill/>
        </p:spPr>
        <p:txBody>
          <a:bodyPr wrap="square" rtlCol="0">
            <a:spAutoFit/>
          </a:bodyPr>
          <a:lstStyle/>
          <a:p>
            <a:r>
              <a:rPr lang="en-BE">
                <a:latin typeface="Calibri" panose="020F0502020204030204" pitchFamily="34" charset="0"/>
              </a:rPr>
              <a:t>More inputs,</a:t>
            </a:r>
          </a:p>
          <a:p>
            <a:r>
              <a:rPr lang="en-GB">
                <a:latin typeface="Calibri" panose="020F0502020204030204" pitchFamily="34" charset="0"/>
              </a:rPr>
              <a:t>M</a:t>
            </a:r>
            <a:r>
              <a:rPr lang="en-BE">
                <a:latin typeface="Calibri" panose="020F0502020204030204" pitchFamily="34" charset="0"/>
              </a:rPr>
              <a:t>ore parameters</a:t>
            </a:r>
            <a:endParaRPr lang="en-GB">
              <a:latin typeface="Calibri" panose="020F0502020204030204" pitchFamily="34" charset="0"/>
            </a:endParaRPr>
          </a:p>
        </p:txBody>
      </p:sp>
      <p:cxnSp>
        <p:nvCxnSpPr>
          <p:cNvPr id="14" name="Straight Arrow Connector 13">
            <a:extLst>
              <a:ext uri="{FF2B5EF4-FFF2-40B4-BE49-F238E27FC236}">
                <a16:creationId xmlns:a16="http://schemas.microsoft.com/office/drawing/2014/main" id="{72B3D4FB-9EDB-634E-C9C8-8A8A2DD4CFC3}"/>
              </a:ext>
            </a:extLst>
          </p:cNvPr>
          <p:cNvCxnSpPr/>
          <p:nvPr/>
        </p:nvCxnSpPr>
        <p:spPr>
          <a:xfrm>
            <a:off x="6616700" y="3124200"/>
            <a:ext cx="0" cy="101600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3" name="Title 2">
            <a:extLst>
              <a:ext uri="{FF2B5EF4-FFF2-40B4-BE49-F238E27FC236}">
                <a16:creationId xmlns:a16="http://schemas.microsoft.com/office/drawing/2014/main" id="{8262E66B-49C2-D196-101D-3339D043399C}"/>
              </a:ext>
            </a:extLst>
          </p:cNvPr>
          <p:cNvSpPr>
            <a:spLocks noGrp="1"/>
          </p:cNvSpPr>
          <p:nvPr>
            <p:ph type="title"/>
          </p:nvPr>
        </p:nvSpPr>
        <p:spPr/>
        <p:txBody>
          <a:bodyPr/>
          <a:lstStyle/>
          <a:p>
            <a:r>
              <a:rPr lang="en-US"/>
              <a:t>A quick recap on </a:t>
            </a:r>
            <a:r>
              <a:rPr lang="en-US" i="1"/>
              <a:t>logistic </a:t>
            </a:r>
            <a:r>
              <a:rPr lang="en-US"/>
              <a:t>regression</a:t>
            </a:r>
            <a:endParaRPr lang="en-BE"/>
          </a:p>
        </p:txBody>
      </p:sp>
      <p:sp>
        <p:nvSpPr>
          <p:cNvPr id="2" name="Slide Number Placeholder 3">
            <a:extLst>
              <a:ext uri="{FF2B5EF4-FFF2-40B4-BE49-F238E27FC236}">
                <a16:creationId xmlns:a16="http://schemas.microsoft.com/office/drawing/2014/main" id="{ACEB4751-5699-9FC7-7218-473BDFE05C63}"/>
              </a:ext>
            </a:extLst>
          </p:cNvPr>
          <p:cNvSpPr>
            <a:spLocks noGrp="1"/>
          </p:cNvSpPr>
          <p:nvPr>
            <p:ph type="sldNum" sz="quarter" idx="12"/>
          </p:nvPr>
        </p:nvSpPr>
        <p:spPr>
          <a:xfrm>
            <a:off x="10684933" y="6459767"/>
            <a:ext cx="1073434" cy="261708"/>
          </a:xfrm>
        </p:spPr>
        <p:txBody>
          <a:bodyPr/>
          <a:lstStyle/>
          <a:p>
            <a:fld id="{94B3E216-A3C5-4E41-AE94-D003E76F1D3A}" type="slidenum">
              <a:rPr lang="en-US" noProof="0" smtClean="0"/>
              <a:pPr/>
              <a:t>1</a:t>
            </a:fld>
            <a:endParaRPr lang="en-US" noProof="0"/>
          </a:p>
        </p:txBody>
      </p:sp>
    </p:spTree>
    <p:extLst>
      <p:ext uri="{BB962C8B-B14F-4D97-AF65-F5344CB8AC3E}">
        <p14:creationId xmlns:p14="http://schemas.microsoft.com/office/powerpoint/2010/main" val="16383254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val 8">
            <a:extLst>
              <a:ext uri="{FF2B5EF4-FFF2-40B4-BE49-F238E27FC236}">
                <a16:creationId xmlns:a16="http://schemas.microsoft.com/office/drawing/2014/main" id="{BB449EAA-A20E-5167-F114-F6DB29013E99}"/>
              </a:ext>
            </a:extLst>
          </p:cNvPr>
          <p:cNvSpPr/>
          <p:nvPr/>
        </p:nvSpPr>
        <p:spPr>
          <a:xfrm>
            <a:off x="5195245" y="2853701"/>
            <a:ext cx="649966" cy="64996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ln>
                <a:solidFill>
                  <a:schemeClr val="tx1"/>
                </a:solidFill>
              </a:ln>
              <a:noFill/>
            </a:endParaRPr>
          </a:p>
        </p:txBody>
      </p:sp>
      <p:sp>
        <p:nvSpPr>
          <p:cNvPr id="14" name="Oval 13">
            <a:extLst>
              <a:ext uri="{FF2B5EF4-FFF2-40B4-BE49-F238E27FC236}">
                <a16:creationId xmlns:a16="http://schemas.microsoft.com/office/drawing/2014/main" id="{454984B3-ADC9-2237-4EFD-93955A545128}"/>
              </a:ext>
            </a:extLst>
          </p:cNvPr>
          <p:cNvSpPr/>
          <p:nvPr/>
        </p:nvSpPr>
        <p:spPr>
          <a:xfrm>
            <a:off x="2527771" y="1995611"/>
            <a:ext cx="649966" cy="64996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ln>
                <a:solidFill>
                  <a:schemeClr val="tx1"/>
                </a:solidFill>
              </a:ln>
              <a:noFill/>
            </a:endParaRPr>
          </a:p>
        </p:txBody>
      </p:sp>
      <p:sp>
        <p:nvSpPr>
          <p:cNvPr id="16" name="Oval 15">
            <a:extLst>
              <a:ext uri="{FF2B5EF4-FFF2-40B4-BE49-F238E27FC236}">
                <a16:creationId xmlns:a16="http://schemas.microsoft.com/office/drawing/2014/main" id="{27EA0360-5424-63F1-64EB-14ECBB857A65}"/>
              </a:ext>
            </a:extLst>
          </p:cNvPr>
          <p:cNvSpPr/>
          <p:nvPr/>
        </p:nvSpPr>
        <p:spPr>
          <a:xfrm>
            <a:off x="2539224" y="2853701"/>
            <a:ext cx="649966" cy="64996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ln>
                <a:solidFill>
                  <a:schemeClr val="tx1"/>
                </a:solidFill>
              </a:ln>
              <a:noFill/>
            </a:endParaRPr>
          </a:p>
        </p:txBody>
      </p:sp>
      <p:sp>
        <p:nvSpPr>
          <p:cNvPr id="17" name="Oval 16">
            <a:extLst>
              <a:ext uri="{FF2B5EF4-FFF2-40B4-BE49-F238E27FC236}">
                <a16:creationId xmlns:a16="http://schemas.microsoft.com/office/drawing/2014/main" id="{1A667574-26DF-B73B-A17C-7C011E451A7C}"/>
              </a:ext>
            </a:extLst>
          </p:cNvPr>
          <p:cNvSpPr/>
          <p:nvPr/>
        </p:nvSpPr>
        <p:spPr>
          <a:xfrm>
            <a:off x="2539224" y="3706825"/>
            <a:ext cx="649966" cy="64996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ln>
                <a:solidFill>
                  <a:schemeClr val="tx1"/>
                </a:solidFill>
              </a:ln>
              <a:noFill/>
            </a:endParaRPr>
          </a:p>
        </p:txBody>
      </p:sp>
      <p:sp>
        <p:nvSpPr>
          <p:cNvPr id="18" name="Oval 17">
            <a:extLst>
              <a:ext uri="{FF2B5EF4-FFF2-40B4-BE49-F238E27FC236}">
                <a16:creationId xmlns:a16="http://schemas.microsoft.com/office/drawing/2014/main" id="{EE887998-1D96-CCE4-3883-42CF361A6F94}"/>
              </a:ext>
            </a:extLst>
          </p:cNvPr>
          <p:cNvSpPr/>
          <p:nvPr/>
        </p:nvSpPr>
        <p:spPr>
          <a:xfrm>
            <a:off x="2527771" y="4559949"/>
            <a:ext cx="649966" cy="64996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ln>
                <a:solidFill>
                  <a:schemeClr val="tx1"/>
                </a:solidFill>
              </a:ln>
              <a:noFill/>
            </a:endParaRPr>
          </a:p>
        </p:txBody>
      </p:sp>
      <p:cxnSp>
        <p:nvCxnSpPr>
          <p:cNvPr id="23" name="Straight Arrow Connector 22">
            <a:extLst>
              <a:ext uri="{FF2B5EF4-FFF2-40B4-BE49-F238E27FC236}">
                <a16:creationId xmlns:a16="http://schemas.microsoft.com/office/drawing/2014/main" id="{73376E35-B4B7-249C-43A2-15D53F7F9832}"/>
              </a:ext>
            </a:extLst>
          </p:cNvPr>
          <p:cNvCxnSpPr>
            <a:stCxn id="14" idx="6"/>
            <a:endCxn id="9" idx="2"/>
          </p:cNvCxnSpPr>
          <p:nvPr/>
        </p:nvCxnSpPr>
        <p:spPr>
          <a:xfrm>
            <a:off x="3177737" y="2320594"/>
            <a:ext cx="2017508" cy="858090"/>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F251449F-4D56-1F11-6E47-01471CD2CAA9}"/>
              </a:ext>
            </a:extLst>
          </p:cNvPr>
          <p:cNvCxnSpPr>
            <a:stCxn id="16" idx="6"/>
            <a:endCxn id="9" idx="2"/>
          </p:cNvCxnSpPr>
          <p:nvPr/>
        </p:nvCxnSpPr>
        <p:spPr>
          <a:xfrm>
            <a:off x="3189190" y="3178684"/>
            <a:ext cx="2006055" cy="0"/>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AB74FF88-F14C-EFE1-C9A3-3A7594C334B9}"/>
              </a:ext>
            </a:extLst>
          </p:cNvPr>
          <p:cNvCxnSpPr>
            <a:stCxn id="17" idx="6"/>
            <a:endCxn id="9" idx="2"/>
          </p:cNvCxnSpPr>
          <p:nvPr/>
        </p:nvCxnSpPr>
        <p:spPr>
          <a:xfrm flipV="1">
            <a:off x="3189190" y="3178684"/>
            <a:ext cx="2006055" cy="853124"/>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4C045294-F9D8-BFE1-AB35-B04E80B7BEE9}"/>
              </a:ext>
            </a:extLst>
          </p:cNvPr>
          <p:cNvCxnSpPr>
            <a:stCxn id="18" idx="6"/>
            <a:endCxn id="9" idx="2"/>
          </p:cNvCxnSpPr>
          <p:nvPr/>
        </p:nvCxnSpPr>
        <p:spPr>
          <a:xfrm flipV="1">
            <a:off x="3177737" y="3178684"/>
            <a:ext cx="2017508" cy="1706248"/>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DB3EFAEB-1B4A-F29D-C5E8-1125A3522EF9}"/>
              </a:ext>
            </a:extLst>
          </p:cNvPr>
          <p:cNvCxnSpPr>
            <a:cxnSpLocks/>
          </p:cNvCxnSpPr>
          <p:nvPr/>
        </p:nvCxnSpPr>
        <p:spPr>
          <a:xfrm>
            <a:off x="5847496" y="3173550"/>
            <a:ext cx="791134" cy="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7B8E9020-5802-0A83-2206-D42684EEAE78}"/>
                  </a:ext>
                </a:extLst>
              </p:cNvPr>
              <p:cNvSpPr txBox="1"/>
              <p:nvPr/>
            </p:nvSpPr>
            <p:spPr>
              <a:xfrm>
                <a:off x="2594149" y="2086350"/>
                <a:ext cx="599125" cy="369332"/>
              </a:xfrm>
              <a:prstGeom prst="rect">
                <a:avLst/>
              </a:prstGeom>
              <a:noFill/>
            </p:spPr>
            <p:txBody>
              <a:bodyPr wrap="square" lIns="0" tIns="0" rIns="0" bIns="0" rtlCol="0">
                <a:spAutoFit/>
              </a:bodyPr>
              <a:lstStyle/>
              <a:p>
                <a:pPr/>
                <a14:m>
                  <m:oMathPara xmlns:m="http://schemas.openxmlformats.org/officeDocument/2006/math">
                    <m:oMath>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𝑥</m:t>
                          </m:r>
                        </m:e>
                        <m:sub>
                          <m:r>
                            <a:rPr lang="en-GB" sz="2400" b="0" i="1" smtClean="0">
                              <a:latin typeface="Cambria Math" panose="02040503050406030204" pitchFamily="18" charset="0"/>
                            </a:rPr>
                            <m:t>0</m:t>
                          </m:r>
                        </m:sub>
                      </m:sSub>
                    </m:oMath>
                  </m:oMathPara>
                </a14:m>
                <a:endParaRPr lang="en-GB" b="0"/>
              </a:p>
            </p:txBody>
          </p:sp>
        </mc:Choice>
        <mc:Fallback xmlns="">
          <p:sp>
            <p:nvSpPr>
              <p:cNvPr id="3" name="TextBox 2">
                <a:extLst>
                  <a:ext uri="{FF2B5EF4-FFF2-40B4-BE49-F238E27FC236}">
                    <a16:creationId xmlns:a16="http://schemas.microsoft.com/office/drawing/2014/main" id="{7B8E9020-5802-0A83-2206-D42684EEAE78}"/>
                  </a:ext>
                </a:extLst>
              </p:cNvPr>
              <p:cNvSpPr txBox="1">
                <a:spLocks noRot="1" noChangeAspect="1" noMove="1" noResize="1" noEditPoints="1" noAdjustHandles="1" noChangeArrowheads="1" noChangeShapeType="1" noTextEdit="1"/>
              </p:cNvSpPr>
              <p:nvPr/>
            </p:nvSpPr>
            <p:spPr>
              <a:xfrm>
                <a:off x="2594149" y="2086350"/>
                <a:ext cx="599125" cy="369332"/>
              </a:xfrm>
              <a:prstGeom prst="rect">
                <a:avLst/>
              </a:prstGeom>
              <a:blipFill>
                <a:blip r:embed="rId3"/>
                <a:stretch>
                  <a:fillRect t="-24590" r="-18367" b="-4918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5922B71-CA4E-4F75-51B7-82976C9CA232}"/>
                  </a:ext>
                </a:extLst>
              </p:cNvPr>
              <p:cNvSpPr txBox="1"/>
              <p:nvPr/>
            </p:nvSpPr>
            <p:spPr>
              <a:xfrm>
                <a:off x="2594149" y="2954313"/>
                <a:ext cx="599125" cy="369332"/>
              </a:xfrm>
              <a:prstGeom prst="rect">
                <a:avLst/>
              </a:prstGeom>
              <a:noFill/>
            </p:spPr>
            <p:txBody>
              <a:bodyPr wrap="square" lIns="0" tIns="0" rIns="0" bIns="0" rtlCol="0">
                <a:spAutoFit/>
              </a:bodyPr>
              <a:lstStyle/>
              <a:p>
                <a:pPr/>
                <a14:m>
                  <m:oMathPara xmlns:m="http://schemas.openxmlformats.org/officeDocument/2006/math">
                    <m:oMath>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𝑥</m:t>
                          </m:r>
                        </m:e>
                        <m:sub>
                          <m:r>
                            <a:rPr lang="en-GB" sz="2400" b="0" i="1" smtClean="0">
                              <a:latin typeface="Cambria Math" panose="02040503050406030204" pitchFamily="18" charset="0"/>
                            </a:rPr>
                            <m:t>1</m:t>
                          </m:r>
                        </m:sub>
                      </m:sSub>
                    </m:oMath>
                  </m:oMathPara>
                </a14:m>
                <a:endParaRPr lang="en-GB" b="0"/>
              </a:p>
            </p:txBody>
          </p:sp>
        </mc:Choice>
        <mc:Fallback xmlns="">
          <p:sp>
            <p:nvSpPr>
              <p:cNvPr id="5" name="TextBox 4">
                <a:extLst>
                  <a:ext uri="{FF2B5EF4-FFF2-40B4-BE49-F238E27FC236}">
                    <a16:creationId xmlns:a16="http://schemas.microsoft.com/office/drawing/2014/main" id="{F5922B71-CA4E-4F75-51B7-82976C9CA232}"/>
                  </a:ext>
                </a:extLst>
              </p:cNvPr>
              <p:cNvSpPr txBox="1">
                <a:spLocks noRot="1" noChangeAspect="1" noMove="1" noResize="1" noEditPoints="1" noAdjustHandles="1" noChangeArrowheads="1" noChangeShapeType="1" noTextEdit="1"/>
              </p:cNvSpPr>
              <p:nvPr/>
            </p:nvSpPr>
            <p:spPr>
              <a:xfrm>
                <a:off x="2594149" y="2954313"/>
                <a:ext cx="599125" cy="369332"/>
              </a:xfrm>
              <a:prstGeom prst="rect">
                <a:avLst/>
              </a:prstGeom>
              <a:blipFill>
                <a:blip r:embed="rId4"/>
                <a:stretch>
                  <a:fillRect t="-26667" r="-18367" b="-5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36FF873-4955-58AE-C5EE-FBD3FB0FB632}"/>
                  </a:ext>
                </a:extLst>
              </p:cNvPr>
              <p:cNvSpPr txBox="1"/>
              <p:nvPr/>
            </p:nvSpPr>
            <p:spPr>
              <a:xfrm>
                <a:off x="2609759" y="3812571"/>
                <a:ext cx="599125" cy="369332"/>
              </a:xfrm>
              <a:prstGeom prst="rect">
                <a:avLst/>
              </a:prstGeom>
              <a:noFill/>
            </p:spPr>
            <p:txBody>
              <a:bodyPr wrap="square" lIns="0" tIns="0" rIns="0" bIns="0" rtlCol="0">
                <a:spAutoFit/>
              </a:bodyPr>
              <a:lstStyle/>
              <a:p>
                <a:pPr/>
                <a14:m>
                  <m:oMathPara xmlns:m="http://schemas.openxmlformats.org/officeDocument/2006/math">
                    <m:oMath>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𝑥</m:t>
                          </m:r>
                        </m:e>
                        <m:sub>
                          <m:r>
                            <a:rPr lang="en-GB" sz="2400" b="0" i="1" smtClean="0">
                              <a:latin typeface="Cambria Math" panose="02040503050406030204" pitchFamily="18" charset="0"/>
                            </a:rPr>
                            <m:t>2</m:t>
                          </m:r>
                        </m:sub>
                      </m:sSub>
                    </m:oMath>
                  </m:oMathPara>
                </a14:m>
                <a:endParaRPr lang="en-GB" b="0"/>
              </a:p>
            </p:txBody>
          </p:sp>
        </mc:Choice>
        <mc:Fallback xmlns="">
          <p:sp>
            <p:nvSpPr>
              <p:cNvPr id="6" name="TextBox 5">
                <a:extLst>
                  <a:ext uri="{FF2B5EF4-FFF2-40B4-BE49-F238E27FC236}">
                    <a16:creationId xmlns:a16="http://schemas.microsoft.com/office/drawing/2014/main" id="{036FF873-4955-58AE-C5EE-FBD3FB0FB632}"/>
                  </a:ext>
                </a:extLst>
              </p:cNvPr>
              <p:cNvSpPr txBox="1">
                <a:spLocks noRot="1" noChangeAspect="1" noMove="1" noResize="1" noEditPoints="1" noAdjustHandles="1" noChangeArrowheads="1" noChangeShapeType="1" noTextEdit="1"/>
              </p:cNvSpPr>
              <p:nvPr/>
            </p:nvSpPr>
            <p:spPr>
              <a:xfrm>
                <a:off x="2609759" y="3812571"/>
                <a:ext cx="599125" cy="369332"/>
              </a:xfrm>
              <a:prstGeom prst="rect">
                <a:avLst/>
              </a:prstGeom>
              <a:blipFill>
                <a:blip r:embed="rId5"/>
                <a:stretch>
                  <a:fillRect t="-24590" r="-19388" b="-4918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80B42B6-7D3E-7F36-151B-2EC7636572A7}"/>
                  </a:ext>
                </a:extLst>
              </p:cNvPr>
              <p:cNvSpPr txBox="1"/>
              <p:nvPr/>
            </p:nvSpPr>
            <p:spPr>
              <a:xfrm>
                <a:off x="2598306" y="4656057"/>
                <a:ext cx="599125" cy="369332"/>
              </a:xfrm>
              <a:prstGeom prst="rect">
                <a:avLst/>
              </a:prstGeom>
              <a:noFill/>
            </p:spPr>
            <p:txBody>
              <a:bodyPr wrap="square" lIns="0" tIns="0" rIns="0" bIns="0" rtlCol="0">
                <a:spAutoFit/>
              </a:bodyPr>
              <a:lstStyle/>
              <a:p>
                <a:pPr/>
                <a14:m>
                  <m:oMathPara xmlns:m="http://schemas.openxmlformats.org/officeDocument/2006/math">
                    <m:oMath>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𝑥</m:t>
                          </m:r>
                        </m:e>
                        <m:sub>
                          <m:r>
                            <a:rPr lang="en-GB" sz="2400" b="0" i="1" smtClean="0">
                              <a:latin typeface="Cambria Math" panose="02040503050406030204" pitchFamily="18" charset="0"/>
                            </a:rPr>
                            <m:t>3</m:t>
                          </m:r>
                        </m:sub>
                      </m:sSub>
                    </m:oMath>
                  </m:oMathPara>
                </a14:m>
                <a:endParaRPr lang="en-GB" b="0"/>
              </a:p>
            </p:txBody>
          </p:sp>
        </mc:Choice>
        <mc:Fallback xmlns="">
          <p:sp>
            <p:nvSpPr>
              <p:cNvPr id="8" name="TextBox 7">
                <a:extLst>
                  <a:ext uri="{FF2B5EF4-FFF2-40B4-BE49-F238E27FC236}">
                    <a16:creationId xmlns:a16="http://schemas.microsoft.com/office/drawing/2014/main" id="{F80B42B6-7D3E-7F36-151B-2EC7636572A7}"/>
                  </a:ext>
                </a:extLst>
              </p:cNvPr>
              <p:cNvSpPr txBox="1">
                <a:spLocks noRot="1" noChangeAspect="1" noMove="1" noResize="1" noEditPoints="1" noAdjustHandles="1" noChangeArrowheads="1" noChangeShapeType="1" noTextEdit="1"/>
              </p:cNvSpPr>
              <p:nvPr/>
            </p:nvSpPr>
            <p:spPr>
              <a:xfrm>
                <a:off x="2598306" y="4656057"/>
                <a:ext cx="599125" cy="369332"/>
              </a:xfrm>
              <a:prstGeom prst="rect">
                <a:avLst/>
              </a:prstGeom>
              <a:blipFill>
                <a:blip r:embed="rId6"/>
                <a:stretch>
                  <a:fillRect t="-26667" r="-18182" b="-5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72D857AD-973B-4233-54CC-932C76D30035}"/>
                  </a:ext>
                </a:extLst>
              </p:cNvPr>
              <p:cNvSpPr txBox="1"/>
              <p:nvPr/>
            </p:nvSpPr>
            <p:spPr>
              <a:xfrm>
                <a:off x="5244156" y="2999532"/>
                <a:ext cx="526264" cy="372859"/>
              </a:xfrm>
              <a:prstGeom prst="rect">
                <a:avLst/>
              </a:prstGeom>
              <a:noFill/>
            </p:spPr>
            <p:txBody>
              <a:bodyPr wrap="square" lIns="0" tIns="0" rIns="0" bIns="0" rtlCol="0">
                <a:spAutoFit/>
              </a:bodyPr>
              <a:lstStyle/>
              <a:p>
                <a:pPr/>
                <a14:m>
                  <m:oMathPara xmlns:m="http://schemas.openxmlformats.org/officeDocument/2006/math">
                    <m:oMath>
                      <m:sSubSup>
                        <m:sSubSupPr>
                          <m:ctrlPr>
                            <a:rPr lang="en-GB" sz="2400" b="0" i="1" smtClean="0">
                              <a:latin typeface="Cambria Math" panose="02040503050406030204" pitchFamily="18" charset="0"/>
                            </a:rPr>
                          </m:ctrlPr>
                        </m:sSubSupPr>
                        <m:e>
                          <m:r>
                            <a:rPr lang="en-GB" sz="2400" b="0" i="1" smtClean="0">
                              <a:latin typeface="Cambria Math" panose="02040503050406030204" pitchFamily="18" charset="0"/>
                            </a:rPr>
                            <m:t>𝑎</m:t>
                          </m:r>
                        </m:e>
                        <m:sub>
                          <m:r>
                            <a:rPr lang="en-GB" sz="2400" b="0" i="1" smtClean="0">
                              <a:latin typeface="Cambria Math" panose="02040503050406030204" pitchFamily="18" charset="0"/>
                            </a:rPr>
                            <m:t>1</m:t>
                          </m:r>
                        </m:sub>
                        <m:sup>
                          <m:r>
                            <a:rPr lang="en-GB" sz="2400" b="0" i="1" smtClean="0">
                              <a:latin typeface="Cambria Math" panose="02040503050406030204" pitchFamily="18" charset="0"/>
                            </a:rPr>
                            <m:t>1</m:t>
                          </m:r>
                        </m:sup>
                      </m:sSubSup>
                    </m:oMath>
                  </m:oMathPara>
                </a14:m>
                <a:endParaRPr lang="en-GB" sz="2400" b="0"/>
              </a:p>
            </p:txBody>
          </p:sp>
        </mc:Choice>
        <mc:Fallback xmlns="">
          <p:sp>
            <p:nvSpPr>
              <p:cNvPr id="44" name="TextBox 43">
                <a:extLst>
                  <a:ext uri="{FF2B5EF4-FFF2-40B4-BE49-F238E27FC236}">
                    <a16:creationId xmlns:a16="http://schemas.microsoft.com/office/drawing/2014/main" id="{72D857AD-973B-4233-54CC-932C76D30035}"/>
                  </a:ext>
                </a:extLst>
              </p:cNvPr>
              <p:cNvSpPr txBox="1">
                <a:spLocks noRot="1" noChangeAspect="1" noMove="1" noResize="1" noEditPoints="1" noAdjustHandles="1" noChangeArrowheads="1" noChangeShapeType="1" noTextEdit="1"/>
              </p:cNvSpPr>
              <p:nvPr/>
            </p:nvSpPr>
            <p:spPr>
              <a:xfrm>
                <a:off x="5244156" y="2999532"/>
                <a:ext cx="526264" cy="372859"/>
              </a:xfrm>
              <a:prstGeom prst="rect">
                <a:avLst/>
              </a:prstGeom>
              <a:blipFill>
                <a:blip r:embed="rId7"/>
                <a:stretch>
                  <a:fillRect t="-22951" r="-29885" b="-5082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959B0572-5956-5D4A-BDB3-EE880A283757}"/>
                  </a:ext>
                </a:extLst>
              </p:cNvPr>
              <p:cNvSpPr txBox="1"/>
              <p:nvPr/>
            </p:nvSpPr>
            <p:spPr>
              <a:xfrm>
                <a:off x="6755599" y="2954313"/>
                <a:ext cx="973152" cy="369332"/>
              </a:xfrm>
              <a:prstGeom prst="rect">
                <a:avLst/>
              </a:prstGeom>
              <a:noFill/>
            </p:spPr>
            <p:txBody>
              <a:bodyPr wrap="none" lIns="0" tIns="0" rIns="0" bIns="0" rtlCol="0">
                <a:spAutoFit/>
              </a:bodyPr>
              <a:lstStyle/>
              <a:p>
                <a:pPr/>
                <a14:m>
                  <m:oMathPara xmlns:m="http://schemas.openxmlformats.org/officeDocument/2006/math">
                    <m:oMath>
                      <m:r>
                        <a:rPr lang="en-GB" sz="2400" b="0" i="1" smtClean="0">
                          <a:latin typeface="Cambria Math" panose="02040503050406030204" pitchFamily="18" charset="0"/>
                        </a:rPr>
                        <m:t>𝑓</m:t>
                      </m:r>
                      <m:r>
                        <a:rPr lang="en-GB" sz="2400" b="0" i="1" smtClean="0">
                          <a:latin typeface="Cambria Math" panose="02040503050406030204" pitchFamily="18" charset="0"/>
                        </a:rPr>
                        <m:t>(</m:t>
                      </m:r>
                      <m:r>
                        <a:rPr lang="en-GB" sz="2400" b="0" i="1" smtClean="0">
                          <a:latin typeface="Cambria Math" panose="02040503050406030204" pitchFamily="18" charset="0"/>
                        </a:rPr>
                        <m:t>𝑥</m:t>
                      </m:r>
                      <m:r>
                        <a:rPr lang="en-GB" sz="2400" b="0" i="1" smtClean="0">
                          <a:latin typeface="Cambria Math" panose="02040503050406030204" pitchFamily="18" charset="0"/>
                        </a:rPr>
                        <m:t>,</m:t>
                      </m:r>
                      <m:r>
                        <a:rPr lang="en-GB" sz="2400" b="0" i="1" smtClean="0">
                          <a:latin typeface="Cambria Math" panose="02040503050406030204" pitchFamily="18" charset="0"/>
                        </a:rPr>
                        <m:t>𝜃</m:t>
                      </m:r>
                      <m:r>
                        <a:rPr lang="en-GB" sz="2400" b="0" i="1" smtClean="0">
                          <a:latin typeface="Cambria Math" panose="02040503050406030204" pitchFamily="18" charset="0"/>
                        </a:rPr>
                        <m:t>)</m:t>
                      </m:r>
                    </m:oMath>
                  </m:oMathPara>
                </a14:m>
                <a:endParaRPr lang="LID4096" sz="2400"/>
              </a:p>
            </p:txBody>
          </p:sp>
        </mc:Choice>
        <mc:Fallback xmlns="">
          <p:sp>
            <p:nvSpPr>
              <p:cNvPr id="49" name="TextBox 48">
                <a:extLst>
                  <a:ext uri="{FF2B5EF4-FFF2-40B4-BE49-F238E27FC236}">
                    <a16:creationId xmlns:a16="http://schemas.microsoft.com/office/drawing/2014/main" id="{959B0572-5956-5D4A-BDB3-EE880A283757}"/>
                  </a:ext>
                </a:extLst>
              </p:cNvPr>
              <p:cNvSpPr txBox="1">
                <a:spLocks noRot="1" noChangeAspect="1" noMove="1" noResize="1" noEditPoints="1" noAdjustHandles="1" noChangeArrowheads="1" noChangeShapeType="1" noTextEdit="1"/>
              </p:cNvSpPr>
              <p:nvPr/>
            </p:nvSpPr>
            <p:spPr>
              <a:xfrm>
                <a:off x="6755599" y="2954313"/>
                <a:ext cx="973152" cy="369332"/>
              </a:xfrm>
              <a:prstGeom prst="rect">
                <a:avLst/>
              </a:prstGeom>
              <a:blipFill>
                <a:blip r:embed="rId8"/>
                <a:stretch>
                  <a:fillRect l="-10625" t="-26667" r="-23125" b="-5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5B48E5F-9F50-8514-A689-65987D914389}"/>
                  </a:ext>
                </a:extLst>
              </p:cNvPr>
              <p:cNvSpPr txBox="1"/>
              <p:nvPr/>
            </p:nvSpPr>
            <p:spPr>
              <a:xfrm>
                <a:off x="3671940" y="2380307"/>
                <a:ext cx="373820" cy="369332"/>
              </a:xfrm>
              <a:prstGeom prst="rect">
                <a:avLst/>
              </a:prstGeom>
              <a:solidFill>
                <a:schemeClr val="bg1"/>
              </a:solidFill>
            </p:spPr>
            <p:txBody>
              <a:bodyPr wrap="none" lIns="0" tIns="0" rIns="0" bIns="0" rtlCol="0">
                <a:spAutoFit/>
              </a:bodyPr>
              <a:lstStyle/>
              <a:p>
                <a:pPr/>
                <a14:m>
                  <m:oMathPara xmlns:m="http://schemas.openxmlformats.org/officeDocument/2006/math">
                    <m:oMath>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𝜃</m:t>
                          </m:r>
                        </m:e>
                        <m:sub>
                          <m:r>
                            <a:rPr lang="en-GB" sz="2400" b="0" i="1" smtClean="0">
                              <a:latin typeface="Cambria Math" panose="02040503050406030204" pitchFamily="18" charset="0"/>
                            </a:rPr>
                            <m:t>0</m:t>
                          </m:r>
                        </m:sub>
                      </m:sSub>
                    </m:oMath>
                  </m:oMathPara>
                </a14:m>
                <a:endParaRPr lang="en-GB" b="0"/>
              </a:p>
            </p:txBody>
          </p:sp>
        </mc:Choice>
        <mc:Fallback xmlns="">
          <p:sp>
            <p:nvSpPr>
              <p:cNvPr id="7" name="TextBox 6">
                <a:extLst>
                  <a:ext uri="{FF2B5EF4-FFF2-40B4-BE49-F238E27FC236}">
                    <a16:creationId xmlns:a16="http://schemas.microsoft.com/office/drawing/2014/main" id="{95B48E5F-9F50-8514-A689-65987D914389}"/>
                  </a:ext>
                </a:extLst>
              </p:cNvPr>
              <p:cNvSpPr txBox="1">
                <a:spLocks noRot="1" noChangeAspect="1" noMove="1" noResize="1" noEditPoints="1" noAdjustHandles="1" noChangeArrowheads="1" noChangeShapeType="1" noTextEdit="1"/>
              </p:cNvSpPr>
              <p:nvPr/>
            </p:nvSpPr>
            <p:spPr>
              <a:xfrm>
                <a:off x="3671940" y="2380307"/>
                <a:ext cx="373820" cy="369332"/>
              </a:xfrm>
              <a:prstGeom prst="rect">
                <a:avLst/>
              </a:prstGeom>
              <a:blipFill>
                <a:blip r:embed="rId9"/>
                <a:stretch>
                  <a:fillRect l="-17742" t="-24590" r="-61290" b="-4918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95EA65A-DD61-D9FB-A9B7-8A11D6412BE6}"/>
                  </a:ext>
                </a:extLst>
              </p:cNvPr>
              <p:cNvSpPr txBox="1"/>
              <p:nvPr/>
            </p:nvSpPr>
            <p:spPr>
              <a:xfrm>
                <a:off x="3671940" y="2954313"/>
                <a:ext cx="366702" cy="369332"/>
              </a:xfrm>
              <a:prstGeom prst="rect">
                <a:avLst/>
              </a:prstGeom>
              <a:solidFill>
                <a:schemeClr val="bg1"/>
              </a:solidFill>
            </p:spPr>
            <p:txBody>
              <a:bodyPr wrap="none" lIns="0" tIns="0" rIns="0" bIns="0" rtlCol="0">
                <a:spAutoFit/>
              </a:bodyPr>
              <a:lstStyle/>
              <a:p>
                <a:pPr/>
                <a14:m>
                  <m:oMathPara xmlns:m="http://schemas.openxmlformats.org/officeDocument/2006/math">
                    <m:oMath>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𝜃</m:t>
                          </m:r>
                        </m:e>
                        <m:sub>
                          <m:r>
                            <a:rPr lang="en-GB" sz="2400" b="0" i="1" smtClean="0">
                              <a:latin typeface="Cambria Math" panose="02040503050406030204" pitchFamily="18" charset="0"/>
                            </a:rPr>
                            <m:t>1</m:t>
                          </m:r>
                        </m:sub>
                      </m:sSub>
                    </m:oMath>
                  </m:oMathPara>
                </a14:m>
                <a:endParaRPr lang="en-GB" b="0"/>
              </a:p>
            </p:txBody>
          </p:sp>
        </mc:Choice>
        <mc:Fallback xmlns="">
          <p:sp>
            <p:nvSpPr>
              <p:cNvPr id="10" name="TextBox 9">
                <a:extLst>
                  <a:ext uri="{FF2B5EF4-FFF2-40B4-BE49-F238E27FC236}">
                    <a16:creationId xmlns:a16="http://schemas.microsoft.com/office/drawing/2014/main" id="{195EA65A-DD61-D9FB-A9B7-8A11D6412BE6}"/>
                  </a:ext>
                </a:extLst>
              </p:cNvPr>
              <p:cNvSpPr txBox="1">
                <a:spLocks noRot="1" noChangeAspect="1" noMove="1" noResize="1" noEditPoints="1" noAdjustHandles="1" noChangeArrowheads="1" noChangeShapeType="1" noTextEdit="1"/>
              </p:cNvSpPr>
              <p:nvPr/>
            </p:nvSpPr>
            <p:spPr>
              <a:xfrm>
                <a:off x="3671940" y="2954313"/>
                <a:ext cx="366702" cy="369332"/>
              </a:xfrm>
              <a:prstGeom prst="rect">
                <a:avLst/>
              </a:prstGeom>
              <a:blipFill>
                <a:blip r:embed="rId10"/>
                <a:stretch>
                  <a:fillRect l="-18033" t="-26667" r="-60656" b="-5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C89BC4B-A266-5516-0A7F-824E08456F73}"/>
                  </a:ext>
                </a:extLst>
              </p:cNvPr>
              <p:cNvSpPr txBox="1"/>
              <p:nvPr/>
            </p:nvSpPr>
            <p:spPr>
              <a:xfrm>
                <a:off x="3671940" y="3503066"/>
                <a:ext cx="373820" cy="369332"/>
              </a:xfrm>
              <a:prstGeom prst="rect">
                <a:avLst/>
              </a:prstGeom>
              <a:solidFill>
                <a:schemeClr val="bg1"/>
              </a:solidFill>
            </p:spPr>
            <p:txBody>
              <a:bodyPr wrap="none" lIns="0" tIns="0" rIns="0" bIns="0" rtlCol="0">
                <a:spAutoFit/>
              </a:bodyPr>
              <a:lstStyle/>
              <a:p>
                <a:pPr/>
                <a14:m>
                  <m:oMathPara xmlns:m="http://schemas.openxmlformats.org/officeDocument/2006/math">
                    <m:oMath>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𝜃</m:t>
                          </m:r>
                        </m:e>
                        <m:sub>
                          <m:r>
                            <a:rPr lang="en-GB" sz="2400" b="0" i="1" smtClean="0">
                              <a:latin typeface="Cambria Math" panose="02040503050406030204" pitchFamily="18" charset="0"/>
                            </a:rPr>
                            <m:t>2</m:t>
                          </m:r>
                        </m:sub>
                      </m:sSub>
                    </m:oMath>
                  </m:oMathPara>
                </a14:m>
                <a:endParaRPr lang="en-GB" b="0"/>
              </a:p>
            </p:txBody>
          </p:sp>
        </mc:Choice>
        <mc:Fallback xmlns="">
          <p:sp>
            <p:nvSpPr>
              <p:cNvPr id="11" name="TextBox 10">
                <a:extLst>
                  <a:ext uri="{FF2B5EF4-FFF2-40B4-BE49-F238E27FC236}">
                    <a16:creationId xmlns:a16="http://schemas.microsoft.com/office/drawing/2014/main" id="{0C89BC4B-A266-5516-0A7F-824E08456F73}"/>
                  </a:ext>
                </a:extLst>
              </p:cNvPr>
              <p:cNvSpPr txBox="1">
                <a:spLocks noRot="1" noChangeAspect="1" noMove="1" noResize="1" noEditPoints="1" noAdjustHandles="1" noChangeArrowheads="1" noChangeShapeType="1" noTextEdit="1"/>
              </p:cNvSpPr>
              <p:nvPr/>
            </p:nvSpPr>
            <p:spPr>
              <a:xfrm>
                <a:off x="3671940" y="3503066"/>
                <a:ext cx="373820" cy="369332"/>
              </a:xfrm>
              <a:prstGeom prst="rect">
                <a:avLst/>
              </a:prstGeom>
              <a:blipFill>
                <a:blip r:embed="rId11"/>
                <a:stretch>
                  <a:fillRect l="-17742" t="-26667" r="-61290" b="-5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B7641CC6-96B7-E83F-1AA0-7EB4EEE0D511}"/>
                  </a:ext>
                </a:extLst>
              </p:cNvPr>
              <p:cNvSpPr txBox="1"/>
              <p:nvPr/>
            </p:nvSpPr>
            <p:spPr>
              <a:xfrm>
                <a:off x="3674243" y="4114355"/>
                <a:ext cx="373820" cy="369332"/>
              </a:xfrm>
              <a:prstGeom prst="rect">
                <a:avLst/>
              </a:prstGeom>
              <a:solidFill>
                <a:schemeClr val="bg1"/>
              </a:solidFill>
              <a:ln>
                <a:solidFill>
                  <a:schemeClr val="bg1"/>
                </a:solidFill>
              </a:ln>
            </p:spPr>
            <p:txBody>
              <a:bodyPr wrap="none" lIns="0" tIns="0" rIns="0" bIns="0" rtlCol="0">
                <a:spAutoFit/>
              </a:bodyPr>
              <a:lstStyle/>
              <a:p>
                <a:pPr/>
                <a14:m>
                  <m:oMathPara xmlns:m="http://schemas.openxmlformats.org/officeDocument/2006/math">
                    <m:oMath>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𝜃</m:t>
                          </m:r>
                        </m:e>
                        <m:sub>
                          <m:r>
                            <a:rPr lang="en-GB" sz="2400" b="0" i="1" smtClean="0">
                              <a:latin typeface="Cambria Math" panose="02040503050406030204" pitchFamily="18" charset="0"/>
                            </a:rPr>
                            <m:t>3</m:t>
                          </m:r>
                        </m:sub>
                      </m:sSub>
                    </m:oMath>
                  </m:oMathPara>
                </a14:m>
                <a:endParaRPr lang="en-GB" b="0"/>
              </a:p>
            </p:txBody>
          </p:sp>
        </mc:Choice>
        <mc:Fallback xmlns="">
          <p:sp>
            <p:nvSpPr>
              <p:cNvPr id="12" name="TextBox 11">
                <a:extLst>
                  <a:ext uri="{FF2B5EF4-FFF2-40B4-BE49-F238E27FC236}">
                    <a16:creationId xmlns:a16="http://schemas.microsoft.com/office/drawing/2014/main" id="{B7641CC6-96B7-E83F-1AA0-7EB4EEE0D511}"/>
                  </a:ext>
                </a:extLst>
              </p:cNvPr>
              <p:cNvSpPr txBox="1">
                <a:spLocks noRot="1" noChangeAspect="1" noMove="1" noResize="1" noEditPoints="1" noAdjustHandles="1" noChangeArrowheads="1" noChangeShapeType="1" noTextEdit="1"/>
              </p:cNvSpPr>
              <p:nvPr/>
            </p:nvSpPr>
            <p:spPr>
              <a:xfrm>
                <a:off x="3674243" y="4114355"/>
                <a:ext cx="373820" cy="369332"/>
              </a:xfrm>
              <a:prstGeom prst="rect">
                <a:avLst/>
              </a:prstGeom>
              <a:blipFill>
                <a:blip r:embed="rId12"/>
                <a:stretch>
                  <a:fillRect l="-17460" t="-23810" r="-58730" b="-44444"/>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494946E8-18C2-F39B-8077-DB77B3B7DEA2}"/>
                  </a:ext>
                </a:extLst>
              </p:cNvPr>
              <p:cNvSpPr txBox="1"/>
              <p:nvPr/>
            </p:nvSpPr>
            <p:spPr>
              <a:xfrm>
                <a:off x="4579605" y="3022980"/>
                <a:ext cx="672107" cy="369332"/>
              </a:xfrm>
              <a:prstGeom prst="rect">
                <a:avLst/>
              </a:prstGeom>
              <a:solidFill>
                <a:schemeClr val="bg1"/>
              </a:solidFill>
            </p:spPr>
            <p:txBody>
              <a:bodyPr wrap="none" lIns="0" tIns="0" rIns="0" bIns="0" rtlCol="0">
                <a:spAutoFit/>
              </a:bodyPr>
              <a:lstStyle/>
              <a:p>
                <a14:m>
                  <m:oMath xmlns:m="http://schemas.openxmlformats.org/officeDocument/2006/math">
                    <m:r>
                      <a:rPr lang="en-GB" sz="2400" b="0" i="1" smtClean="0">
                        <a:latin typeface="Cambria Math" panose="02040503050406030204" pitchFamily="18" charset="0"/>
                      </a:rPr>
                      <m:t>𝑔</m:t>
                    </m:r>
                    <m:r>
                      <a:rPr lang="en-GB" sz="2400" b="0" i="1" smtClean="0">
                        <a:latin typeface="Cambria Math" panose="02040503050406030204" pitchFamily="18" charset="0"/>
                      </a:rPr>
                      <m:t>()</m:t>
                    </m:r>
                  </m:oMath>
                </a14:m>
                <a:r>
                  <a:rPr lang="en-GB" sz="2400"/>
                  <a:t> =</a:t>
                </a:r>
                <a:endParaRPr lang="LID4096" sz="2400"/>
              </a:p>
            </p:txBody>
          </p:sp>
        </mc:Choice>
        <mc:Fallback xmlns="">
          <p:sp>
            <p:nvSpPr>
              <p:cNvPr id="13" name="TextBox 12">
                <a:extLst>
                  <a:ext uri="{FF2B5EF4-FFF2-40B4-BE49-F238E27FC236}">
                    <a16:creationId xmlns:a16="http://schemas.microsoft.com/office/drawing/2014/main" id="{494946E8-18C2-F39B-8077-DB77B3B7DEA2}"/>
                  </a:ext>
                </a:extLst>
              </p:cNvPr>
              <p:cNvSpPr txBox="1">
                <a:spLocks noRot="1" noChangeAspect="1" noMove="1" noResize="1" noEditPoints="1" noAdjustHandles="1" noChangeArrowheads="1" noChangeShapeType="1" noTextEdit="1"/>
              </p:cNvSpPr>
              <p:nvPr/>
            </p:nvSpPr>
            <p:spPr>
              <a:xfrm>
                <a:off x="4579605" y="3022980"/>
                <a:ext cx="672107" cy="369332"/>
              </a:xfrm>
              <a:prstGeom prst="rect">
                <a:avLst/>
              </a:prstGeom>
              <a:blipFill>
                <a:blip r:embed="rId13"/>
                <a:stretch>
                  <a:fillRect l="-16216" t="-26667" r="-43243" b="-50000"/>
                </a:stretch>
              </a:blipFill>
            </p:spPr>
            <p:txBody>
              <a:bodyPr/>
              <a:lstStyle/>
              <a:p>
                <a:r>
                  <a:rPr lang="en-US">
                    <a:noFill/>
                  </a:rPr>
                  <a:t> </a:t>
                </a:r>
              </a:p>
            </p:txBody>
          </p:sp>
        </mc:Fallback>
      </mc:AlternateContent>
      <p:sp>
        <p:nvSpPr>
          <p:cNvPr id="2" name="Title 1">
            <a:extLst>
              <a:ext uri="{FF2B5EF4-FFF2-40B4-BE49-F238E27FC236}">
                <a16:creationId xmlns:a16="http://schemas.microsoft.com/office/drawing/2014/main" id="{B8F56F25-A9EC-BCA9-C83E-61731132E592}"/>
              </a:ext>
            </a:extLst>
          </p:cNvPr>
          <p:cNvSpPr>
            <a:spLocks noGrp="1"/>
          </p:cNvSpPr>
          <p:nvPr>
            <p:ph type="title"/>
          </p:nvPr>
        </p:nvSpPr>
        <p:spPr/>
        <p:txBody>
          <a:bodyPr>
            <a:noAutofit/>
          </a:bodyPr>
          <a:lstStyle/>
          <a:p>
            <a:r>
              <a:rPr lang="en-US"/>
              <a:t>Logistic regression could be visualized as a network of information,</a:t>
            </a:r>
            <a:br>
              <a:rPr lang="en-US"/>
            </a:br>
            <a:r>
              <a:rPr lang="en-US"/>
              <a:t>flowing from features and weights to the output</a:t>
            </a:r>
            <a:endParaRPr lang="en-BE"/>
          </a:p>
        </p:txBody>
      </p:sp>
      <p:sp>
        <p:nvSpPr>
          <p:cNvPr id="22" name="TextBox 21">
            <a:extLst>
              <a:ext uri="{FF2B5EF4-FFF2-40B4-BE49-F238E27FC236}">
                <a16:creationId xmlns:a16="http://schemas.microsoft.com/office/drawing/2014/main" id="{41051219-3589-6D27-5273-BCC3F90AB64F}"/>
              </a:ext>
            </a:extLst>
          </p:cNvPr>
          <p:cNvSpPr txBox="1"/>
          <p:nvPr/>
        </p:nvSpPr>
        <p:spPr>
          <a:xfrm>
            <a:off x="2309055" y="5413513"/>
            <a:ext cx="1096754" cy="369332"/>
          </a:xfrm>
          <a:prstGeom prst="rect">
            <a:avLst/>
          </a:prstGeom>
          <a:noFill/>
        </p:spPr>
        <p:txBody>
          <a:bodyPr wrap="square" rtlCol="0">
            <a:spAutoFit/>
          </a:bodyPr>
          <a:lstStyle/>
          <a:p>
            <a:pPr algn="ctr"/>
            <a:r>
              <a:rPr lang="en-US" i="1"/>
              <a:t>features</a:t>
            </a:r>
            <a:endParaRPr lang="en-BE" i="1"/>
          </a:p>
        </p:txBody>
      </p:sp>
      <p:sp>
        <p:nvSpPr>
          <p:cNvPr id="24" name="TextBox 23">
            <a:extLst>
              <a:ext uri="{FF2B5EF4-FFF2-40B4-BE49-F238E27FC236}">
                <a16:creationId xmlns:a16="http://schemas.microsoft.com/office/drawing/2014/main" id="{6896B1B1-B20F-7539-C451-9C4CB3E6F397}"/>
              </a:ext>
            </a:extLst>
          </p:cNvPr>
          <p:cNvSpPr txBox="1"/>
          <p:nvPr/>
        </p:nvSpPr>
        <p:spPr>
          <a:xfrm>
            <a:off x="4486810" y="5413073"/>
            <a:ext cx="2017508" cy="369332"/>
          </a:xfrm>
          <a:prstGeom prst="rect">
            <a:avLst/>
          </a:prstGeom>
          <a:noFill/>
        </p:spPr>
        <p:txBody>
          <a:bodyPr wrap="square" rtlCol="0">
            <a:spAutoFit/>
          </a:bodyPr>
          <a:lstStyle/>
          <a:p>
            <a:pPr algn="ctr"/>
            <a:r>
              <a:rPr lang="en-US" i="1"/>
              <a:t>logistic regression</a:t>
            </a:r>
            <a:endParaRPr lang="en-BE" i="1"/>
          </a:p>
        </p:txBody>
      </p:sp>
      <p:sp>
        <p:nvSpPr>
          <p:cNvPr id="25" name="TextBox 24">
            <a:extLst>
              <a:ext uri="{FF2B5EF4-FFF2-40B4-BE49-F238E27FC236}">
                <a16:creationId xmlns:a16="http://schemas.microsoft.com/office/drawing/2014/main" id="{DD9E448E-964A-45E3-700B-CC65579BA50A}"/>
              </a:ext>
            </a:extLst>
          </p:cNvPr>
          <p:cNvSpPr txBox="1"/>
          <p:nvPr/>
        </p:nvSpPr>
        <p:spPr>
          <a:xfrm>
            <a:off x="3426987" y="4884932"/>
            <a:ext cx="1038644" cy="369332"/>
          </a:xfrm>
          <a:prstGeom prst="rect">
            <a:avLst/>
          </a:prstGeom>
          <a:noFill/>
        </p:spPr>
        <p:txBody>
          <a:bodyPr wrap="square" rtlCol="0">
            <a:spAutoFit/>
          </a:bodyPr>
          <a:lstStyle/>
          <a:p>
            <a:pPr algn="ctr"/>
            <a:r>
              <a:rPr lang="en-US" i="1"/>
              <a:t>weights</a:t>
            </a:r>
            <a:endParaRPr lang="en-BE" i="1"/>
          </a:p>
        </p:txBody>
      </p:sp>
      <p:sp>
        <p:nvSpPr>
          <p:cNvPr id="4" name="Slide Number Placeholder 3">
            <a:extLst>
              <a:ext uri="{FF2B5EF4-FFF2-40B4-BE49-F238E27FC236}">
                <a16:creationId xmlns:a16="http://schemas.microsoft.com/office/drawing/2014/main" id="{2F878457-B481-1720-4F21-A20BFCAB2DB9}"/>
              </a:ext>
            </a:extLst>
          </p:cNvPr>
          <p:cNvSpPr>
            <a:spLocks noGrp="1"/>
          </p:cNvSpPr>
          <p:nvPr>
            <p:ph type="sldNum" sz="quarter" idx="12"/>
          </p:nvPr>
        </p:nvSpPr>
        <p:spPr>
          <a:xfrm>
            <a:off x="10684933" y="6459767"/>
            <a:ext cx="1073434" cy="261708"/>
          </a:xfrm>
        </p:spPr>
        <p:txBody>
          <a:bodyPr/>
          <a:lstStyle/>
          <a:p>
            <a:fld id="{94B3E216-A3C5-4E41-AE94-D003E76F1D3A}" type="slidenum">
              <a:rPr lang="en-US" noProof="0" smtClean="0"/>
              <a:pPr/>
              <a:t>2</a:t>
            </a:fld>
            <a:endParaRPr lang="en-US" noProof="0"/>
          </a:p>
        </p:txBody>
      </p:sp>
    </p:spTree>
    <p:extLst>
      <p:ext uri="{BB962C8B-B14F-4D97-AF65-F5344CB8AC3E}">
        <p14:creationId xmlns:p14="http://schemas.microsoft.com/office/powerpoint/2010/main" val="537037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hlinkClick r:id="rId3"/>
            <a:extLst>
              <a:ext uri="{FF2B5EF4-FFF2-40B4-BE49-F238E27FC236}">
                <a16:creationId xmlns:a16="http://schemas.microsoft.com/office/drawing/2014/main" id="{0A67C3CB-9496-0233-A03C-3DB0BAD772E5}"/>
              </a:ext>
            </a:extLst>
          </p:cNvPr>
          <p:cNvPicPr>
            <a:picLocks noChangeAspect="1"/>
          </p:cNvPicPr>
          <p:nvPr/>
        </p:nvPicPr>
        <p:blipFill>
          <a:blip r:embed="rId4"/>
          <a:stretch>
            <a:fillRect/>
          </a:stretch>
        </p:blipFill>
        <p:spPr>
          <a:xfrm>
            <a:off x="2070234" y="1441665"/>
            <a:ext cx="8051531" cy="4769184"/>
          </a:xfrm>
          <a:prstGeom prst="rect">
            <a:avLst/>
          </a:prstGeom>
        </p:spPr>
      </p:pic>
      <p:sp>
        <p:nvSpPr>
          <p:cNvPr id="2" name="Title 1">
            <a:extLst>
              <a:ext uri="{FF2B5EF4-FFF2-40B4-BE49-F238E27FC236}">
                <a16:creationId xmlns:a16="http://schemas.microsoft.com/office/drawing/2014/main" id="{BCC45ED2-AE73-C4F0-BE9B-237F27BE7EC9}"/>
              </a:ext>
            </a:extLst>
          </p:cNvPr>
          <p:cNvSpPr>
            <a:spLocks noGrp="1"/>
          </p:cNvSpPr>
          <p:nvPr>
            <p:ph type="title"/>
          </p:nvPr>
        </p:nvSpPr>
        <p:spPr>
          <a:xfrm>
            <a:off x="433633" y="365125"/>
            <a:ext cx="11324734" cy="418128"/>
          </a:xfrm>
        </p:spPr>
        <p:txBody>
          <a:bodyPr>
            <a:noAutofit/>
          </a:bodyPr>
          <a:lstStyle/>
          <a:p>
            <a:r>
              <a:rPr lang="en-US"/>
              <a:t>Logistic regression could be visualized as a network of information,</a:t>
            </a:r>
            <a:br>
              <a:rPr lang="en-US"/>
            </a:br>
            <a:r>
              <a:rPr lang="en-US"/>
              <a:t>flowing from features and weights to the output</a:t>
            </a:r>
            <a:endParaRPr lang="en-BE"/>
          </a:p>
        </p:txBody>
      </p:sp>
      <p:sp>
        <p:nvSpPr>
          <p:cNvPr id="3" name="Footer Placeholder 2">
            <a:extLst>
              <a:ext uri="{FF2B5EF4-FFF2-40B4-BE49-F238E27FC236}">
                <a16:creationId xmlns:a16="http://schemas.microsoft.com/office/drawing/2014/main" id="{F858D012-D1D9-21B9-D891-1C859670FDF6}"/>
              </a:ext>
            </a:extLst>
          </p:cNvPr>
          <p:cNvSpPr>
            <a:spLocks noGrp="1"/>
          </p:cNvSpPr>
          <p:nvPr>
            <p:ph type="ftr" sz="quarter" idx="11"/>
          </p:nvPr>
        </p:nvSpPr>
        <p:spPr/>
        <p:txBody>
          <a:bodyPr/>
          <a:lstStyle/>
          <a:p>
            <a:r>
              <a:rPr lang="en-US"/>
              <a:t>https://playground.tensorflow.org</a:t>
            </a:r>
          </a:p>
        </p:txBody>
      </p:sp>
      <p:sp>
        <p:nvSpPr>
          <p:cNvPr id="4" name="Slide Number Placeholder 3">
            <a:extLst>
              <a:ext uri="{FF2B5EF4-FFF2-40B4-BE49-F238E27FC236}">
                <a16:creationId xmlns:a16="http://schemas.microsoft.com/office/drawing/2014/main" id="{EB2B0368-5E95-DE79-260C-A3C9CF273B01}"/>
              </a:ext>
            </a:extLst>
          </p:cNvPr>
          <p:cNvSpPr>
            <a:spLocks noGrp="1"/>
          </p:cNvSpPr>
          <p:nvPr>
            <p:ph type="sldNum" sz="quarter" idx="12"/>
          </p:nvPr>
        </p:nvSpPr>
        <p:spPr/>
        <p:txBody>
          <a:bodyPr/>
          <a:lstStyle/>
          <a:p>
            <a:fld id="{94B3E216-A3C5-4E41-AE94-D003E76F1D3A}" type="slidenum">
              <a:rPr lang="en-US" smtClean="0"/>
              <a:pPr/>
              <a:t>3</a:t>
            </a:fld>
            <a:endParaRPr lang="en-US"/>
          </a:p>
        </p:txBody>
      </p:sp>
    </p:spTree>
    <p:extLst>
      <p:ext uri="{BB962C8B-B14F-4D97-AF65-F5344CB8AC3E}">
        <p14:creationId xmlns:p14="http://schemas.microsoft.com/office/powerpoint/2010/main" val="12217499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AE5611A-0076-37A3-F109-B8CFB9A4F26C}"/>
              </a:ext>
            </a:extLst>
          </p:cNvPr>
          <p:cNvSpPr>
            <a:spLocks noGrp="1"/>
          </p:cNvSpPr>
          <p:nvPr>
            <p:ph type="title"/>
          </p:nvPr>
        </p:nvSpPr>
        <p:spPr>
          <a:xfrm>
            <a:off x="433633" y="365125"/>
            <a:ext cx="11324734" cy="709531"/>
          </a:xfrm>
        </p:spPr>
        <p:txBody>
          <a:bodyPr>
            <a:normAutofit/>
          </a:bodyPr>
          <a:lstStyle/>
          <a:p>
            <a:r>
              <a:rPr lang="en-GB"/>
              <a:t>A neural network is simply a layered stack of regression models</a:t>
            </a:r>
            <a:endParaRPr lang="en-BE"/>
          </a:p>
        </p:txBody>
      </p:sp>
      <p:sp>
        <p:nvSpPr>
          <p:cNvPr id="11" name="Content Placeholder 10">
            <a:extLst>
              <a:ext uri="{FF2B5EF4-FFF2-40B4-BE49-F238E27FC236}">
                <a16:creationId xmlns:a16="http://schemas.microsoft.com/office/drawing/2014/main" id="{E2A369D1-0527-74BE-F677-12535C9535EA}"/>
              </a:ext>
            </a:extLst>
          </p:cNvPr>
          <p:cNvSpPr>
            <a:spLocks noGrp="1"/>
          </p:cNvSpPr>
          <p:nvPr>
            <p:ph idx="1"/>
          </p:nvPr>
        </p:nvSpPr>
        <p:spPr>
          <a:xfrm>
            <a:off x="433388" y="1225551"/>
            <a:ext cx="11325225" cy="477617"/>
          </a:xfrm>
        </p:spPr>
        <p:txBody>
          <a:bodyPr/>
          <a:lstStyle/>
          <a:p>
            <a:pPr marL="0" indent="0">
              <a:buNone/>
            </a:pPr>
            <a:r>
              <a:rPr lang="en-US"/>
              <a:t>The features for each node (a regression model) are the output from the nodes in the previous layer</a:t>
            </a:r>
            <a:endParaRPr lang="en-BE"/>
          </a:p>
        </p:txBody>
      </p:sp>
      <p:sp>
        <p:nvSpPr>
          <p:cNvPr id="22" name="Oval 21">
            <a:extLst>
              <a:ext uri="{FF2B5EF4-FFF2-40B4-BE49-F238E27FC236}">
                <a16:creationId xmlns:a16="http://schemas.microsoft.com/office/drawing/2014/main" id="{3709829F-9549-C03B-4BE9-3C344C273A5F}"/>
              </a:ext>
            </a:extLst>
          </p:cNvPr>
          <p:cNvSpPr/>
          <p:nvPr/>
        </p:nvSpPr>
        <p:spPr>
          <a:xfrm>
            <a:off x="2527771" y="1995611"/>
            <a:ext cx="649966" cy="64996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ln>
                <a:solidFill>
                  <a:schemeClr val="tx1"/>
                </a:solidFill>
              </a:ln>
              <a:noFill/>
            </a:endParaRPr>
          </a:p>
        </p:txBody>
      </p:sp>
      <p:sp>
        <p:nvSpPr>
          <p:cNvPr id="25" name="Oval 24">
            <a:extLst>
              <a:ext uri="{FF2B5EF4-FFF2-40B4-BE49-F238E27FC236}">
                <a16:creationId xmlns:a16="http://schemas.microsoft.com/office/drawing/2014/main" id="{854E87AE-BBE5-E94B-D8F5-E550728EB56B}"/>
              </a:ext>
            </a:extLst>
          </p:cNvPr>
          <p:cNvSpPr/>
          <p:nvPr/>
        </p:nvSpPr>
        <p:spPr>
          <a:xfrm>
            <a:off x="2539224" y="2853701"/>
            <a:ext cx="649966" cy="64996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ln>
                <a:solidFill>
                  <a:schemeClr val="tx1"/>
                </a:solidFill>
              </a:ln>
              <a:noFill/>
            </a:endParaRPr>
          </a:p>
        </p:txBody>
      </p:sp>
      <p:sp>
        <p:nvSpPr>
          <p:cNvPr id="28" name="Oval 27">
            <a:extLst>
              <a:ext uri="{FF2B5EF4-FFF2-40B4-BE49-F238E27FC236}">
                <a16:creationId xmlns:a16="http://schemas.microsoft.com/office/drawing/2014/main" id="{203D02E7-6727-BCB9-BB28-C01B57EF1C2A}"/>
              </a:ext>
            </a:extLst>
          </p:cNvPr>
          <p:cNvSpPr/>
          <p:nvPr/>
        </p:nvSpPr>
        <p:spPr>
          <a:xfrm>
            <a:off x="2539224" y="3706825"/>
            <a:ext cx="649966" cy="64996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ln>
                <a:solidFill>
                  <a:schemeClr val="tx1"/>
                </a:solidFill>
              </a:ln>
              <a:noFill/>
            </a:endParaRPr>
          </a:p>
        </p:txBody>
      </p:sp>
      <p:sp>
        <p:nvSpPr>
          <p:cNvPr id="31" name="Oval 30">
            <a:extLst>
              <a:ext uri="{FF2B5EF4-FFF2-40B4-BE49-F238E27FC236}">
                <a16:creationId xmlns:a16="http://schemas.microsoft.com/office/drawing/2014/main" id="{433215AF-8AA7-21A6-A531-505E351DE7BE}"/>
              </a:ext>
            </a:extLst>
          </p:cNvPr>
          <p:cNvSpPr/>
          <p:nvPr/>
        </p:nvSpPr>
        <p:spPr>
          <a:xfrm>
            <a:off x="2527771" y="4559949"/>
            <a:ext cx="649966" cy="64996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ln>
                <a:solidFill>
                  <a:schemeClr val="tx1"/>
                </a:solidFill>
              </a:ln>
              <a:noFill/>
            </a:endParaRPr>
          </a:p>
        </p:txBody>
      </p:sp>
      <p:cxnSp>
        <p:nvCxnSpPr>
          <p:cNvPr id="34" name="Straight Arrow Connector 33">
            <a:extLst>
              <a:ext uri="{FF2B5EF4-FFF2-40B4-BE49-F238E27FC236}">
                <a16:creationId xmlns:a16="http://schemas.microsoft.com/office/drawing/2014/main" id="{C5967BF7-49D7-7263-7B6A-020A22EF6142}"/>
              </a:ext>
            </a:extLst>
          </p:cNvPr>
          <p:cNvCxnSpPr>
            <a:stCxn id="22" idx="6"/>
            <a:endCxn id="20" idx="2"/>
          </p:cNvCxnSpPr>
          <p:nvPr/>
        </p:nvCxnSpPr>
        <p:spPr>
          <a:xfrm>
            <a:off x="3177737" y="2320594"/>
            <a:ext cx="2017508" cy="858090"/>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1A521544-AF50-4D39-EA01-78F5D4ED1A8F}"/>
              </a:ext>
            </a:extLst>
          </p:cNvPr>
          <p:cNvCxnSpPr>
            <a:cxnSpLocks/>
            <a:stCxn id="22" idx="6"/>
            <a:endCxn id="21" idx="2"/>
          </p:cNvCxnSpPr>
          <p:nvPr/>
        </p:nvCxnSpPr>
        <p:spPr>
          <a:xfrm>
            <a:off x="3177737" y="2320594"/>
            <a:ext cx="2017508" cy="1711214"/>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8598C56F-3389-9AB3-9313-BFC8164330F2}"/>
              </a:ext>
            </a:extLst>
          </p:cNvPr>
          <p:cNvCxnSpPr>
            <a:stCxn id="25" idx="6"/>
            <a:endCxn id="20" idx="2"/>
          </p:cNvCxnSpPr>
          <p:nvPr/>
        </p:nvCxnSpPr>
        <p:spPr>
          <a:xfrm>
            <a:off x="3189190" y="3178684"/>
            <a:ext cx="2006055" cy="0"/>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DE81C6A8-E99C-5276-B6CF-2C6C9E0F76A3}"/>
              </a:ext>
            </a:extLst>
          </p:cNvPr>
          <p:cNvCxnSpPr>
            <a:cxnSpLocks/>
            <a:stCxn id="25" idx="6"/>
            <a:endCxn id="21" idx="2"/>
          </p:cNvCxnSpPr>
          <p:nvPr/>
        </p:nvCxnSpPr>
        <p:spPr>
          <a:xfrm>
            <a:off x="3189190" y="3178684"/>
            <a:ext cx="2006055" cy="853124"/>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049B568B-96BA-A88A-F8FC-A076E7D7C9F0}"/>
              </a:ext>
            </a:extLst>
          </p:cNvPr>
          <p:cNvCxnSpPr>
            <a:stCxn id="28" idx="6"/>
            <a:endCxn id="20" idx="2"/>
          </p:cNvCxnSpPr>
          <p:nvPr/>
        </p:nvCxnSpPr>
        <p:spPr>
          <a:xfrm flipV="1">
            <a:off x="3189190" y="3178684"/>
            <a:ext cx="2006055" cy="853124"/>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47FA95CF-6F59-15C2-B2F0-86311F2CBF3E}"/>
              </a:ext>
            </a:extLst>
          </p:cNvPr>
          <p:cNvCxnSpPr>
            <a:cxnSpLocks/>
            <a:stCxn id="28" idx="6"/>
            <a:endCxn id="21" idx="2"/>
          </p:cNvCxnSpPr>
          <p:nvPr/>
        </p:nvCxnSpPr>
        <p:spPr>
          <a:xfrm>
            <a:off x="3189190" y="4031808"/>
            <a:ext cx="2006055" cy="0"/>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7A6C7C71-5CC0-4F97-7EEF-03B15EEEA1B9}"/>
              </a:ext>
            </a:extLst>
          </p:cNvPr>
          <p:cNvCxnSpPr>
            <a:stCxn id="31" idx="6"/>
            <a:endCxn id="20" idx="2"/>
          </p:cNvCxnSpPr>
          <p:nvPr/>
        </p:nvCxnSpPr>
        <p:spPr>
          <a:xfrm flipV="1">
            <a:off x="3177737" y="3178684"/>
            <a:ext cx="2017508" cy="1706248"/>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9B7BFFC6-8832-ADE2-9DAA-772C2C6D0968}"/>
              </a:ext>
            </a:extLst>
          </p:cNvPr>
          <p:cNvCxnSpPr>
            <a:cxnSpLocks/>
            <a:stCxn id="31" idx="6"/>
            <a:endCxn id="21" idx="2"/>
          </p:cNvCxnSpPr>
          <p:nvPr/>
        </p:nvCxnSpPr>
        <p:spPr>
          <a:xfrm flipV="1">
            <a:off x="3177737" y="4031808"/>
            <a:ext cx="2017508" cy="853124"/>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792AD279-D92F-9ECB-501D-BA2B9AB23F3B}"/>
              </a:ext>
            </a:extLst>
          </p:cNvPr>
          <p:cNvCxnSpPr>
            <a:stCxn id="20" idx="6"/>
            <a:endCxn id="43" idx="2"/>
          </p:cNvCxnSpPr>
          <p:nvPr/>
        </p:nvCxnSpPr>
        <p:spPr>
          <a:xfrm>
            <a:off x="5845211" y="3178684"/>
            <a:ext cx="1913811" cy="426562"/>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6CFDA723-F703-FE62-A419-C9E7F9DC059E}"/>
              </a:ext>
            </a:extLst>
          </p:cNvPr>
          <p:cNvCxnSpPr>
            <a:cxnSpLocks/>
            <a:stCxn id="21" idx="6"/>
            <a:endCxn id="43" idx="2"/>
          </p:cNvCxnSpPr>
          <p:nvPr/>
        </p:nvCxnSpPr>
        <p:spPr>
          <a:xfrm flipV="1">
            <a:off x="5845211" y="3605246"/>
            <a:ext cx="1913811" cy="426562"/>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16C5475A-19F1-8F91-473D-5F8C1ACF382B}"/>
                  </a:ext>
                </a:extLst>
              </p:cNvPr>
              <p:cNvSpPr txBox="1"/>
              <p:nvPr/>
            </p:nvSpPr>
            <p:spPr>
              <a:xfrm>
                <a:off x="2594149" y="2086350"/>
                <a:ext cx="599125" cy="369332"/>
              </a:xfrm>
              <a:prstGeom prst="rect">
                <a:avLst/>
              </a:prstGeom>
              <a:noFill/>
            </p:spPr>
            <p:txBody>
              <a:bodyPr wrap="square" lIns="0" tIns="0" rIns="0" bIns="0" rtlCol="0">
                <a:spAutoFit/>
              </a:bodyPr>
              <a:lstStyle/>
              <a:p>
                <a:pPr/>
                <a14:m>
                  <m:oMathPara xmlns:m="http://schemas.openxmlformats.org/officeDocument/2006/math">
                    <m:oMath>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𝑥</m:t>
                          </m:r>
                        </m:e>
                        <m:sub>
                          <m:r>
                            <a:rPr lang="en-GB" sz="2400" b="0" i="1" smtClean="0">
                              <a:latin typeface="Cambria Math" panose="02040503050406030204" pitchFamily="18" charset="0"/>
                            </a:rPr>
                            <m:t>0</m:t>
                          </m:r>
                        </m:sub>
                      </m:sSub>
                    </m:oMath>
                  </m:oMathPara>
                </a14:m>
                <a:endParaRPr lang="en-GB" b="0"/>
              </a:p>
            </p:txBody>
          </p:sp>
        </mc:Choice>
        <mc:Fallback xmlns="">
          <p:sp>
            <p:nvSpPr>
              <p:cNvPr id="50" name="TextBox 49">
                <a:extLst>
                  <a:ext uri="{FF2B5EF4-FFF2-40B4-BE49-F238E27FC236}">
                    <a16:creationId xmlns:a16="http://schemas.microsoft.com/office/drawing/2014/main" id="{16C5475A-19F1-8F91-473D-5F8C1ACF382B}"/>
                  </a:ext>
                </a:extLst>
              </p:cNvPr>
              <p:cNvSpPr txBox="1">
                <a:spLocks noRot="1" noChangeAspect="1" noMove="1" noResize="1" noEditPoints="1" noAdjustHandles="1" noChangeArrowheads="1" noChangeShapeType="1" noTextEdit="1"/>
              </p:cNvSpPr>
              <p:nvPr/>
            </p:nvSpPr>
            <p:spPr>
              <a:xfrm>
                <a:off x="2594149" y="2086350"/>
                <a:ext cx="599125" cy="369332"/>
              </a:xfrm>
              <a:prstGeom prst="rect">
                <a:avLst/>
              </a:prstGeom>
              <a:blipFill>
                <a:blip r:embed="rId3"/>
                <a:stretch>
                  <a:fillRect t="-24590" r="-18367" b="-4918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15797903-FCEC-61E3-F1AA-B80491F4AEDC}"/>
                  </a:ext>
                </a:extLst>
              </p:cNvPr>
              <p:cNvSpPr txBox="1"/>
              <p:nvPr/>
            </p:nvSpPr>
            <p:spPr>
              <a:xfrm>
                <a:off x="2594149" y="2954313"/>
                <a:ext cx="599125" cy="369332"/>
              </a:xfrm>
              <a:prstGeom prst="rect">
                <a:avLst/>
              </a:prstGeom>
              <a:noFill/>
            </p:spPr>
            <p:txBody>
              <a:bodyPr wrap="square" lIns="0" tIns="0" rIns="0" bIns="0" rtlCol="0">
                <a:spAutoFit/>
              </a:bodyPr>
              <a:lstStyle/>
              <a:p>
                <a:pPr/>
                <a14:m>
                  <m:oMathPara xmlns:m="http://schemas.openxmlformats.org/officeDocument/2006/math">
                    <m:oMath>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𝑥</m:t>
                          </m:r>
                        </m:e>
                        <m:sub>
                          <m:r>
                            <a:rPr lang="en-GB" sz="2400" b="0" i="1" smtClean="0">
                              <a:latin typeface="Cambria Math" panose="02040503050406030204" pitchFamily="18" charset="0"/>
                            </a:rPr>
                            <m:t>1</m:t>
                          </m:r>
                        </m:sub>
                      </m:sSub>
                    </m:oMath>
                  </m:oMathPara>
                </a14:m>
                <a:endParaRPr lang="en-GB" b="0"/>
              </a:p>
            </p:txBody>
          </p:sp>
        </mc:Choice>
        <mc:Fallback xmlns="">
          <p:sp>
            <p:nvSpPr>
              <p:cNvPr id="51" name="TextBox 50">
                <a:extLst>
                  <a:ext uri="{FF2B5EF4-FFF2-40B4-BE49-F238E27FC236}">
                    <a16:creationId xmlns:a16="http://schemas.microsoft.com/office/drawing/2014/main" id="{15797903-FCEC-61E3-F1AA-B80491F4AEDC}"/>
                  </a:ext>
                </a:extLst>
              </p:cNvPr>
              <p:cNvSpPr txBox="1">
                <a:spLocks noRot="1" noChangeAspect="1" noMove="1" noResize="1" noEditPoints="1" noAdjustHandles="1" noChangeArrowheads="1" noChangeShapeType="1" noTextEdit="1"/>
              </p:cNvSpPr>
              <p:nvPr/>
            </p:nvSpPr>
            <p:spPr>
              <a:xfrm>
                <a:off x="2594149" y="2954313"/>
                <a:ext cx="599125" cy="369332"/>
              </a:xfrm>
              <a:prstGeom prst="rect">
                <a:avLst/>
              </a:prstGeom>
              <a:blipFill>
                <a:blip r:embed="rId4"/>
                <a:stretch>
                  <a:fillRect t="-26667" r="-18367" b="-5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7CABC6DC-8058-AC0D-D61F-3CCAECB88A19}"/>
                  </a:ext>
                </a:extLst>
              </p:cNvPr>
              <p:cNvSpPr txBox="1"/>
              <p:nvPr/>
            </p:nvSpPr>
            <p:spPr>
              <a:xfrm>
                <a:off x="2609759" y="3812571"/>
                <a:ext cx="599125" cy="369332"/>
              </a:xfrm>
              <a:prstGeom prst="rect">
                <a:avLst/>
              </a:prstGeom>
              <a:noFill/>
            </p:spPr>
            <p:txBody>
              <a:bodyPr wrap="square" lIns="0" tIns="0" rIns="0" bIns="0" rtlCol="0">
                <a:spAutoFit/>
              </a:bodyPr>
              <a:lstStyle/>
              <a:p>
                <a:pPr/>
                <a14:m>
                  <m:oMathPara xmlns:m="http://schemas.openxmlformats.org/officeDocument/2006/math">
                    <m:oMath>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𝑥</m:t>
                          </m:r>
                        </m:e>
                        <m:sub>
                          <m:r>
                            <a:rPr lang="en-GB" sz="2400" b="0" i="1" smtClean="0">
                              <a:latin typeface="Cambria Math" panose="02040503050406030204" pitchFamily="18" charset="0"/>
                            </a:rPr>
                            <m:t>2</m:t>
                          </m:r>
                        </m:sub>
                      </m:sSub>
                    </m:oMath>
                  </m:oMathPara>
                </a14:m>
                <a:endParaRPr lang="en-GB" b="0"/>
              </a:p>
            </p:txBody>
          </p:sp>
        </mc:Choice>
        <mc:Fallback xmlns="">
          <p:sp>
            <p:nvSpPr>
              <p:cNvPr id="52" name="TextBox 51">
                <a:extLst>
                  <a:ext uri="{FF2B5EF4-FFF2-40B4-BE49-F238E27FC236}">
                    <a16:creationId xmlns:a16="http://schemas.microsoft.com/office/drawing/2014/main" id="{7CABC6DC-8058-AC0D-D61F-3CCAECB88A19}"/>
                  </a:ext>
                </a:extLst>
              </p:cNvPr>
              <p:cNvSpPr txBox="1">
                <a:spLocks noRot="1" noChangeAspect="1" noMove="1" noResize="1" noEditPoints="1" noAdjustHandles="1" noChangeArrowheads="1" noChangeShapeType="1" noTextEdit="1"/>
              </p:cNvSpPr>
              <p:nvPr/>
            </p:nvSpPr>
            <p:spPr>
              <a:xfrm>
                <a:off x="2609759" y="3812571"/>
                <a:ext cx="599125" cy="369332"/>
              </a:xfrm>
              <a:prstGeom prst="rect">
                <a:avLst/>
              </a:prstGeom>
              <a:blipFill>
                <a:blip r:embed="rId5"/>
                <a:stretch>
                  <a:fillRect t="-24590" r="-19388" b="-49180"/>
                </a:stretch>
              </a:blipFill>
            </p:spPr>
            <p:txBody>
              <a:bodyPr/>
              <a:lstStyle/>
              <a:p>
                <a:r>
                  <a:rPr lang="en-US">
                    <a:noFill/>
                  </a:rPr>
                  <a:t> </a:t>
                </a:r>
              </a:p>
            </p:txBody>
          </p:sp>
        </mc:Fallback>
      </mc:AlternateContent>
      <p:grpSp>
        <p:nvGrpSpPr>
          <p:cNvPr id="2" name="Group 1">
            <a:extLst>
              <a:ext uri="{FF2B5EF4-FFF2-40B4-BE49-F238E27FC236}">
                <a16:creationId xmlns:a16="http://schemas.microsoft.com/office/drawing/2014/main" id="{17AFE18A-35F8-A344-D672-49F8495C56CB}"/>
              </a:ext>
            </a:extLst>
          </p:cNvPr>
          <p:cNvGrpSpPr/>
          <p:nvPr/>
        </p:nvGrpSpPr>
        <p:grpSpPr>
          <a:xfrm>
            <a:off x="5195245" y="2853701"/>
            <a:ext cx="649966" cy="1503090"/>
            <a:chOff x="5195245" y="2853701"/>
            <a:chExt cx="649966" cy="1503090"/>
          </a:xfrm>
        </p:grpSpPr>
        <p:sp>
          <p:nvSpPr>
            <p:cNvPr id="20" name="Oval 19">
              <a:extLst>
                <a:ext uri="{FF2B5EF4-FFF2-40B4-BE49-F238E27FC236}">
                  <a16:creationId xmlns:a16="http://schemas.microsoft.com/office/drawing/2014/main" id="{4B84958C-2148-A8BA-29E8-20CCBFFB7C60}"/>
                </a:ext>
              </a:extLst>
            </p:cNvPr>
            <p:cNvSpPr/>
            <p:nvPr/>
          </p:nvSpPr>
          <p:spPr>
            <a:xfrm>
              <a:off x="5195245" y="2853701"/>
              <a:ext cx="649966" cy="64996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ln>
                  <a:solidFill>
                    <a:schemeClr val="tx1"/>
                  </a:solidFill>
                </a:ln>
                <a:noFill/>
              </a:endParaRPr>
            </a:p>
          </p:txBody>
        </p:sp>
        <p:sp>
          <p:nvSpPr>
            <p:cNvPr id="21" name="Oval 20">
              <a:extLst>
                <a:ext uri="{FF2B5EF4-FFF2-40B4-BE49-F238E27FC236}">
                  <a16:creationId xmlns:a16="http://schemas.microsoft.com/office/drawing/2014/main" id="{B8910BA2-AE35-B695-876C-0670CF243B46}"/>
                </a:ext>
              </a:extLst>
            </p:cNvPr>
            <p:cNvSpPr/>
            <p:nvPr/>
          </p:nvSpPr>
          <p:spPr>
            <a:xfrm>
              <a:off x="5195245" y="3706825"/>
              <a:ext cx="649966" cy="64996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ln>
                  <a:solidFill>
                    <a:schemeClr val="tx1"/>
                  </a:solidFill>
                </a:ln>
                <a:noFill/>
              </a:endParaRPr>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912B9F65-B8A4-7439-4534-DEB04A955087}"/>
                    </a:ext>
                  </a:extLst>
                </p:cNvPr>
                <p:cNvSpPr txBox="1"/>
                <p:nvPr/>
              </p:nvSpPr>
              <p:spPr>
                <a:xfrm>
                  <a:off x="5244156" y="2987808"/>
                  <a:ext cx="526264" cy="372859"/>
                </a:xfrm>
                <a:prstGeom prst="rect">
                  <a:avLst/>
                </a:prstGeom>
                <a:noFill/>
              </p:spPr>
              <p:txBody>
                <a:bodyPr wrap="square" lIns="0" tIns="0" rIns="0" bIns="0" rtlCol="0">
                  <a:spAutoFit/>
                </a:bodyPr>
                <a:lstStyle/>
                <a:p>
                  <a:pPr/>
                  <a14:m>
                    <m:oMathPara xmlns:m="http://schemas.openxmlformats.org/officeDocument/2006/math">
                      <m:oMath>
                        <m:sSubSup>
                          <m:sSubSupPr>
                            <m:ctrlPr>
                              <a:rPr lang="en-GB" sz="2400" b="0" i="1" smtClean="0">
                                <a:latin typeface="Cambria Math" panose="02040503050406030204" pitchFamily="18" charset="0"/>
                              </a:rPr>
                            </m:ctrlPr>
                          </m:sSubSupPr>
                          <m:e>
                            <m:r>
                              <a:rPr lang="en-GB" sz="2400" b="0" i="1" smtClean="0">
                                <a:latin typeface="Cambria Math" panose="02040503050406030204" pitchFamily="18" charset="0"/>
                              </a:rPr>
                              <m:t>𝑎</m:t>
                            </m:r>
                          </m:e>
                          <m:sub>
                            <m:r>
                              <a:rPr lang="en-BE" sz="2400" b="0" i="1" smtClean="0">
                                <a:latin typeface="Cambria Math" panose="02040503050406030204" pitchFamily="18" charset="0"/>
                              </a:rPr>
                              <m:t>0</m:t>
                            </m:r>
                          </m:sub>
                          <m:sup>
                            <m:r>
                              <a:rPr lang="en-GB" sz="2400" b="0" i="1" smtClean="0">
                                <a:latin typeface="Cambria Math" panose="02040503050406030204" pitchFamily="18" charset="0"/>
                              </a:rPr>
                              <m:t>1</m:t>
                            </m:r>
                          </m:sup>
                        </m:sSubSup>
                      </m:oMath>
                    </m:oMathPara>
                  </a14:m>
                  <a:endParaRPr lang="en-GB" sz="2400" b="0"/>
                </a:p>
              </p:txBody>
            </p:sp>
          </mc:Choice>
          <mc:Fallback xmlns="">
            <p:sp>
              <p:nvSpPr>
                <p:cNvPr id="53" name="TextBox 52">
                  <a:extLst>
                    <a:ext uri="{FF2B5EF4-FFF2-40B4-BE49-F238E27FC236}">
                      <a16:creationId xmlns:a16="http://schemas.microsoft.com/office/drawing/2014/main" id="{912B9F65-B8A4-7439-4534-DEB04A955087}"/>
                    </a:ext>
                  </a:extLst>
                </p:cNvPr>
                <p:cNvSpPr txBox="1">
                  <a:spLocks noRot="1" noChangeAspect="1" noMove="1" noResize="1" noEditPoints="1" noAdjustHandles="1" noChangeArrowheads="1" noChangeShapeType="1" noTextEdit="1"/>
                </p:cNvSpPr>
                <p:nvPr/>
              </p:nvSpPr>
              <p:spPr>
                <a:xfrm>
                  <a:off x="5244156" y="2987808"/>
                  <a:ext cx="526264" cy="372859"/>
                </a:xfrm>
                <a:prstGeom prst="rect">
                  <a:avLst/>
                </a:prstGeom>
                <a:blipFill>
                  <a:blip r:embed="rId6"/>
                  <a:stretch>
                    <a:fillRect t="-22951" r="-29885" b="-5082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9B27A20D-DBBC-3860-817F-9B159F22CBFD}"/>
                    </a:ext>
                  </a:extLst>
                </p:cNvPr>
                <p:cNvSpPr txBox="1"/>
                <p:nvPr/>
              </p:nvSpPr>
              <p:spPr>
                <a:xfrm>
                  <a:off x="5232432" y="3825627"/>
                  <a:ext cx="526264" cy="372859"/>
                </a:xfrm>
                <a:prstGeom prst="rect">
                  <a:avLst/>
                </a:prstGeom>
                <a:noFill/>
              </p:spPr>
              <p:txBody>
                <a:bodyPr wrap="square" lIns="0" tIns="0" rIns="0" bIns="0" rtlCol="0">
                  <a:spAutoFit/>
                </a:bodyPr>
                <a:lstStyle/>
                <a:p>
                  <a:pPr/>
                  <a14:m>
                    <m:oMathPara xmlns:m="http://schemas.openxmlformats.org/officeDocument/2006/math">
                      <m:oMath>
                        <m:sSubSup>
                          <m:sSubSupPr>
                            <m:ctrlPr>
                              <a:rPr lang="en-GB" sz="2400" b="0" i="1" smtClean="0">
                                <a:latin typeface="Cambria Math" panose="02040503050406030204" pitchFamily="18" charset="0"/>
                              </a:rPr>
                            </m:ctrlPr>
                          </m:sSubSupPr>
                          <m:e>
                            <m:r>
                              <a:rPr lang="en-GB" sz="2400" b="0" i="1" smtClean="0">
                                <a:latin typeface="Cambria Math" panose="02040503050406030204" pitchFamily="18" charset="0"/>
                              </a:rPr>
                              <m:t>𝑎</m:t>
                            </m:r>
                          </m:e>
                          <m:sub>
                            <m:r>
                              <a:rPr lang="en-BE" sz="2400" b="0" i="1" smtClean="0">
                                <a:latin typeface="Cambria Math" panose="02040503050406030204" pitchFamily="18" charset="0"/>
                              </a:rPr>
                              <m:t>1</m:t>
                            </m:r>
                          </m:sub>
                          <m:sup>
                            <m:r>
                              <a:rPr lang="en-GB" sz="2400" b="0" i="1" smtClean="0">
                                <a:latin typeface="Cambria Math" panose="02040503050406030204" pitchFamily="18" charset="0"/>
                              </a:rPr>
                              <m:t>1</m:t>
                            </m:r>
                          </m:sup>
                        </m:sSubSup>
                      </m:oMath>
                    </m:oMathPara>
                  </a14:m>
                  <a:endParaRPr lang="en-GB" sz="2400" b="0"/>
                </a:p>
              </p:txBody>
            </p:sp>
          </mc:Choice>
          <mc:Fallback xmlns="">
            <p:sp>
              <p:nvSpPr>
                <p:cNvPr id="54" name="TextBox 53">
                  <a:extLst>
                    <a:ext uri="{FF2B5EF4-FFF2-40B4-BE49-F238E27FC236}">
                      <a16:creationId xmlns:a16="http://schemas.microsoft.com/office/drawing/2014/main" id="{9B27A20D-DBBC-3860-817F-9B159F22CBFD}"/>
                    </a:ext>
                  </a:extLst>
                </p:cNvPr>
                <p:cNvSpPr txBox="1">
                  <a:spLocks noRot="1" noChangeAspect="1" noMove="1" noResize="1" noEditPoints="1" noAdjustHandles="1" noChangeArrowheads="1" noChangeShapeType="1" noTextEdit="1"/>
                </p:cNvSpPr>
                <p:nvPr/>
              </p:nvSpPr>
              <p:spPr>
                <a:xfrm>
                  <a:off x="5232432" y="3825627"/>
                  <a:ext cx="526264" cy="372859"/>
                </a:xfrm>
                <a:prstGeom prst="rect">
                  <a:avLst/>
                </a:prstGeom>
                <a:blipFill>
                  <a:blip r:embed="rId7"/>
                  <a:stretch>
                    <a:fillRect t="-24590" r="-29885" b="-49180"/>
                  </a:stretch>
                </a:blipFill>
              </p:spPr>
              <p:txBody>
                <a:bodyPr/>
                <a:lstStyle/>
                <a:p>
                  <a:r>
                    <a:rPr lang="en-US">
                      <a:noFill/>
                    </a:rPr>
                    <a:t> </a:t>
                  </a:r>
                </a:p>
              </p:txBody>
            </p:sp>
          </mc:Fallback>
        </mc:AlternateContent>
      </p:grpSp>
      <p:grpSp>
        <p:nvGrpSpPr>
          <p:cNvPr id="3" name="Group 2">
            <a:extLst>
              <a:ext uri="{FF2B5EF4-FFF2-40B4-BE49-F238E27FC236}">
                <a16:creationId xmlns:a16="http://schemas.microsoft.com/office/drawing/2014/main" id="{B761DB2A-C12B-D1C5-E82F-6A7F3A17A90E}"/>
              </a:ext>
            </a:extLst>
          </p:cNvPr>
          <p:cNvGrpSpPr/>
          <p:nvPr/>
        </p:nvGrpSpPr>
        <p:grpSpPr>
          <a:xfrm>
            <a:off x="7759022" y="3280263"/>
            <a:ext cx="2531221" cy="649966"/>
            <a:chOff x="7759022" y="3706825"/>
            <a:chExt cx="2531221" cy="649966"/>
          </a:xfrm>
        </p:grpSpPr>
        <p:sp>
          <p:nvSpPr>
            <p:cNvPr id="43" name="Oval 42">
              <a:extLst>
                <a:ext uri="{FF2B5EF4-FFF2-40B4-BE49-F238E27FC236}">
                  <a16:creationId xmlns:a16="http://schemas.microsoft.com/office/drawing/2014/main" id="{AE0D57DC-9743-55AD-E6BF-91E9A81A58FA}"/>
                </a:ext>
              </a:extLst>
            </p:cNvPr>
            <p:cNvSpPr/>
            <p:nvPr/>
          </p:nvSpPr>
          <p:spPr>
            <a:xfrm>
              <a:off x="7759022" y="3706825"/>
              <a:ext cx="649966" cy="64996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ln>
                  <a:solidFill>
                    <a:schemeClr val="tx1"/>
                  </a:solidFill>
                </a:ln>
                <a:noFill/>
              </a:endParaRPr>
            </a:p>
          </p:txBody>
        </p:sp>
        <p:cxnSp>
          <p:nvCxnSpPr>
            <p:cNvPr id="48" name="Straight Arrow Connector 47">
              <a:extLst>
                <a:ext uri="{FF2B5EF4-FFF2-40B4-BE49-F238E27FC236}">
                  <a16:creationId xmlns:a16="http://schemas.microsoft.com/office/drawing/2014/main" id="{216573D4-6011-20BE-CDE8-46FC88706A8D}"/>
                </a:ext>
              </a:extLst>
            </p:cNvPr>
            <p:cNvCxnSpPr>
              <a:stCxn id="43" idx="6"/>
            </p:cNvCxnSpPr>
            <p:nvPr/>
          </p:nvCxnSpPr>
          <p:spPr>
            <a:xfrm>
              <a:off x="8408988" y="4031808"/>
              <a:ext cx="791134" cy="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2443FE15-0DE2-31F4-C09E-AE6E17796E2B}"/>
                    </a:ext>
                  </a:extLst>
                </p:cNvPr>
                <p:cNvSpPr txBox="1"/>
                <p:nvPr/>
              </p:nvSpPr>
              <p:spPr>
                <a:xfrm>
                  <a:off x="7901463" y="3839976"/>
                  <a:ext cx="390556" cy="369332"/>
                </a:xfrm>
                <a:prstGeom prst="rect">
                  <a:avLst/>
                </a:prstGeom>
                <a:noFill/>
              </p:spPr>
              <p:txBody>
                <a:bodyPr wrap="none" lIns="0" tIns="0" rIns="0" bIns="0" rtlCol="0">
                  <a:spAutoFit/>
                </a:bodyPr>
                <a:lstStyle/>
                <a:p>
                  <a:pPr/>
                  <a14:m>
                    <m:oMathPara xmlns:m="http://schemas.openxmlformats.org/officeDocument/2006/math">
                      <m:oMath>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𝑎</m:t>
                            </m:r>
                          </m:e>
                          <m:sup>
                            <m:r>
                              <a:rPr lang="en-GB" sz="2400" b="0" i="1" smtClean="0">
                                <a:latin typeface="Cambria Math" panose="02040503050406030204" pitchFamily="18" charset="0"/>
                              </a:rPr>
                              <m:t>2</m:t>
                            </m:r>
                          </m:sup>
                        </m:sSup>
                      </m:oMath>
                    </m:oMathPara>
                  </a14:m>
                  <a:endParaRPr lang="en-GB" b="0"/>
                </a:p>
              </p:txBody>
            </p:sp>
          </mc:Choice>
          <mc:Fallback xmlns="">
            <p:sp>
              <p:nvSpPr>
                <p:cNvPr id="55" name="TextBox 54">
                  <a:extLst>
                    <a:ext uri="{FF2B5EF4-FFF2-40B4-BE49-F238E27FC236}">
                      <a16:creationId xmlns:a16="http://schemas.microsoft.com/office/drawing/2014/main" id="{2443FE15-0DE2-31F4-C09E-AE6E17796E2B}"/>
                    </a:ext>
                  </a:extLst>
                </p:cNvPr>
                <p:cNvSpPr txBox="1">
                  <a:spLocks noRot="1" noChangeAspect="1" noMove="1" noResize="1" noEditPoints="1" noAdjustHandles="1" noChangeArrowheads="1" noChangeShapeType="1" noTextEdit="1"/>
                </p:cNvSpPr>
                <p:nvPr/>
              </p:nvSpPr>
              <p:spPr>
                <a:xfrm>
                  <a:off x="7901463" y="3839976"/>
                  <a:ext cx="390556" cy="369332"/>
                </a:xfrm>
                <a:prstGeom prst="rect">
                  <a:avLst/>
                </a:prstGeom>
                <a:blipFill>
                  <a:blip r:embed="rId8"/>
                  <a:stretch>
                    <a:fillRect l="-9375" t="-26230" r="-59375" b="-475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27DF0837-657E-13DE-1047-26428F4521AC}"/>
                    </a:ext>
                  </a:extLst>
                </p:cNvPr>
                <p:cNvSpPr txBox="1"/>
                <p:nvPr/>
              </p:nvSpPr>
              <p:spPr>
                <a:xfrm>
                  <a:off x="9317091" y="3812571"/>
                  <a:ext cx="973152" cy="369332"/>
                </a:xfrm>
                <a:prstGeom prst="rect">
                  <a:avLst/>
                </a:prstGeom>
                <a:noFill/>
              </p:spPr>
              <p:txBody>
                <a:bodyPr wrap="none" lIns="0" tIns="0" rIns="0" bIns="0" rtlCol="0">
                  <a:spAutoFit/>
                </a:bodyPr>
                <a:lstStyle/>
                <a:p>
                  <a:pPr/>
                  <a14:m>
                    <m:oMathPara xmlns:m="http://schemas.openxmlformats.org/officeDocument/2006/math">
                      <m:oMath>
                        <m:r>
                          <a:rPr lang="en-GB" sz="2400" b="0" i="1" smtClean="0">
                            <a:latin typeface="Cambria Math" panose="02040503050406030204" pitchFamily="18" charset="0"/>
                          </a:rPr>
                          <m:t>𝑓</m:t>
                        </m:r>
                        <m:r>
                          <a:rPr lang="en-GB" sz="2400" b="0" i="1" smtClean="0">
                            <a:latin typeface="Cambria Math" panose="02040503050406030204" pitchFamily="18" charset="0"/>
                          </a:rPr>
                          <m:t>(</m:t>
                        </m:r>
                        <m:r>
                          <a:rPr lang="en-GB" sz="2400" b="0" i="1" smtClean="0">
                            <a:latin typeface="Cambria Math" panose="02040503050406030204" pitchFamily="18" charset="0"/>
                          </a:rPr>
                          <m:t>𝑥</m:t>
                        </m:r>
                        <m:r>
                          <a:rPr lang="en-GB" sz="2400" b="0" i="1" smtClean="0">
                            <a:latin typeface="Cambria Math" panose="02040503050406030204" pitchFamily="18" charset="0"/>
                          </a:rPr>
                          <m:t>,</m:t>
                        </m:r>
                        <m:r>
                          <a:rPr lang="en-GB" sz="2400" b="0" i="1" smtClean="0">
                            <a:latin typeface="Cambria Math" panose="02040503050406030204" pitchFamily="18" charset="0"/>
                          </a:rPr>
                          <m:t>𝜃</m:t>
                        </m:r>
                        <m:r>
                          <a:rPr lang="en-GB" sz="2400" b="0" i="1" smtClean="0">
                            <a:latin typeface="Cambria Math" panose="02040503050406030204" pitchFamily="18" charset="0"/>
                          </a:rPr>
                          <m:t>)</m:t>
                        </m:r>
                      </m:oMath>
                    </m:oMathPara>
                  </a14:m>
                  <a:endParaRPr lang="LID4096" sz="2400"/>
                </a:p>
              </p:txBody>
            </p:sp>
          </mc:Choice>
          <mc:Fallback xmlns="">
            <p:sp>
              <p:nvSpPr>
                <p:cNvPr id="56" name="TextBox 55">
                  <a:extLst>
                    <a:ext uri="{FF2B5EF4-FFF2-40B4-BE49-F238E27FC236}">
                      <a16:creationId xmlns:a16="http://schemas.microsoft.com/office/drawing/2014/main" id="{27DF0837-657E-13DE-1047-26428F4521AC}"/>
                    </a:ext>
                  </a:extLst>
                </p:cNvPr>
                <p:cNvSpPr txBox="1">
                  <a:spLocks noRot="1" noChangeAspect="1" noMove="1" noResize="1" noEditPoints="1" noAdjustHandles="1" noChangeArrowheads="1" noChangeShapeType="1" noTextEdit="1"/>
                </p:cNvSpPr>
                <p:nvPr/>
              </p:nvSpPr>
              <p:spPr>
                <a:xfrm>
                  <a:off x="9317091" y="3812571"/>
                  <a:ext cx="973152" cy="369332"/>
                </a:xfrm>
                <a:prstGeom prst="rect">
                  <a:avLst/>
                </a:prstGeom>
                <a:blipFill>
                  <a:blip r:embed="rId9"/>
                  <a:stretch>
                    <a:fillRect l="-10625" t="-24590" r="-23125" b="-49180"/>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7937284A-FEB5-3560-569B-8E26DF48A9C7}"/>
                  </a:ext>
                </a:extLst>
              </p:cNvPr>
              <p:cNvSpPr txBox="1"/>
              <p:nvPr/>
            </p:nvSpPr>
            <p:spPr>
              <a:xfrm>
                <a:off x="2598306" y="4656057"/>
                <a:ext cx="599125" cy="369332"/>
              </a:xfrm>
              <a:prstGeom prst="rect">
                <a:avLst/>
              </a:prstGeom>
              <a:noFill/>
            </p:spPr>
            <p:txBody>
              <a:bodyPr wrap="square" lIns="0" tIns="0" rIns="0" bIns="0" rtlCol="0">
                <a:spAutoFit/>
              </a:bodyPr>
              <a:lstStyle/>
              <a:p>
                <a:pPr/>
                <a14:m>
                  <m:oMathPara xmlns:m="http://schemas.openxmlformats.org/officeDocument/2006/math">
                    <m:oMath>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𝑥</m:t>
                          </m:r>
                        </m:e>
                        <m:sub>
                          <m:r>
                            <a:rPr lang="en-GB" sz="2400" b="0" i="1" smtClean="0">
                              <a:latin typeface="Cambria Math" panose="02040503050406030204" pitchFamily="18" charset="0"/>
                            </a:rPr>
                            <m:t>3</m:t>
                          </m:r>
                        </m:sub>
                      </m:sSub>
                    </m:oMath>
                  </m:oMathPara>
                </a14:m>
                <a:endParaRPr lang="en-GB" b="0"/>
              </a:p>
            </p:txBody>
          </p:sp>
        </mc:Choice>
        <mc:Fallback xmlns="">
          <p:sp>
            <p:nvSpPr>
              <p:cNvPr id="57" name="TextBox 56">
                <a:extLst>
                  <a:ext uri="{FF2B5EF4-FFF2-40B4-BE49-F238E27FC236}">
                    <a16:creationId xmlns:a16="http://schemas.microsoft.com/office/drawing/2014/main" id="{7937284A-FEB5-3560-569B-8E26DF48A9C7}"/>
                  </a:ext>
                </a:extLst>
              </p:cNvPr>
              <p:cNvSpPr txBox="1">
                <a:spLocks noRot="1" noChangeAspect="1" noMove="1" noResize="1" noEditPoints="1" noAdjustHandles="1" noChangeArrowheads="1" noChangeShapeType="1" noTextEdit="1"/>
              </p:cNvSpPr>
              <p:nvPr/>
            </p:nvSpPr>
            <p:spPr>
              <a:xfrm>
                <a:off x="2598306" y="4656057"/>
                <a:ext cx="599125" cy="369332"/>
              </a:xfrm>
              <a:prstGeom prst="rect">
                <a:avLst/>
              </a:prstGeom>
              <a:blipFill>
                <a:blip r:embed="rId10"/>
                <a:stretch>
                  <a:fillRect t="-26667" r="-18182" b="-50000"/>
                </a:stretch>
              </a:blipFill>
            </p:spPr>
            <p:txBody>
              <a:bodyPr/>
              <a:lstStyle/>
              <a:p>
                <a:r>
                  <a:rPr lang="en-US">
                    <a:noFill/>
                  </a:rPr>
                  <a:t> </a:t>
                </a:r>
              </a:p>
            </p:txBody>
          </p:sp>
        </mc:Fallback>
      </mc:AlternateContent>
      <p:sp>
        <p:nvSpPr>
          <p:cNvPr id="58" name="TextBox 57">
            <a:extLst>
              <a:ext uri="{FF2B5EF4-FFF2-40B4-BE49-F238E27FC236}">
                <a16:creationId xmlns:a16="http://schemas.microsoft.com/office/drawing/2014/main" id="{F5553338-162E-90E7-5C43-4639E46B740D}"/>
              </a:ext>
            </a:extLst>
          </p:cNvPr>
          <p:cNvSpPr txBox="1"/>
          <p:nvPr/>
        </p:nvSpPr>
        <p:spPr>
          <a:xfrm>
            <a:off x="1848678" y="5797823"/>
            <a:ext cx="2017508" cy="369332"/>
          </a:xfrm>
          <a:prstGeom prst="rect">
            <a:avLst/>
          </a:prstGeom>
          <a:noFill/>
        </p:spPr>
        <p:txBody>
          <a:bodyPr wrap="square" rtlCol="0">
            <a:spAutoFit/>
          </a:bodyPr>
          <a:lstStyle/>
          <a:p>
            <a:pPr algn="ctr"/>
            <a:r>
              <a:rPr lang="en-US" i="1"/>
              <a:t>features</a:t>
            </a:r>
            <a:endParaRPr lang="en-BE" i="1"/>
          </a:p>
        </p:txBody>
      </p:sp>
      <p:sp>
        <p:nvSpPr>
          <p:cNvPr id="59" name="TextBox 58">
            <a:extLst>
              <a:ext uri="{FF2B5EF4-FFF2-40B4-BE49-F238E27FC236}">
                <a16:creationId xmlns:a16="http://schemas.microsoft.com/office/drawing/2014/main" id="{17B52AFC-38A2-74B5-83FD-2EB81229EA99}"/>
              </a:ext>
            </a:extLst>
          </p:cNvPr>
          <p:cNvSpPr txBox="1"/>
          <p:nvPr/>
        </p:nvSpPr>
        <p:spPr>
          <a:xfrm>
            <a:off x="4486810" y="5797383"/>
            <a:ext cx="2017508" cy="369332"/>
          </a:xfrm>
          <a:prstGeom prst="rect">
            <a:avLst/>
          </a:prstGeom>
          <a:noFill/>
        </p:spPr>
        <p:txBody>
          <a:bodyPr wrap="square" rtlCol="0">
            <a:spAutoFit/>
          </a:bodyPr>
          <a:lstStyle/>
          <a:p>
            <a:pPr algn="ctr"/>
            <a:r>
              <a:rPr lang="en-US" i="1"/>
              <a:t>hidden layer(s)</a:t>
            </a:r>
            <a:endParaRPr lang="en-BE" i="1"/>
          </a:p>
        </p:txBody>
      </p:sp>
      <p:sp>
        <p:nvSpPr>
          <p:cNvPr id="60" name="TextBox 59">
            <a:extLst>
              <a:ext uri="{FF2B5EF4-FFF2-40B4-BE49-F238E27FC236}">
                <a16:creationId xmlns:a16="http://schemas.microsoft.com/office/drawing/2014/main" id="{836BFC6E-3AE8-FC3B-21F4-B83D6014D932}"/>
              </a:ext>
            </a:extLst>
          </p:cNvPr>
          <p:cNvSpPr txBox="1"/>
          <p:nvPr/>
        </p:nvSpPr>
        <p:spPr>
          <a:xfrm>
            <a:off x="7075251" y="5797383"/>
            <a:ext cx="2017508" cy="369332"/>
          </a:xfrm>
          <a:prstGeom prst="rect">
            <a:avLst/>
          </a:prstGeom>
          <a:noFill/>
        </p:spPr>
        <p:txBody>
          <a:bodyPr wrap="square" rtlCol="0">
            <a:spAutoFit/>
          </a:bodyPr>
          <a:lstStyle/>
          <a:p>
            <a:pPr algn="ctr"/>
            <a:r>
              <a:rPr lang="en-US" i="1"/>
              <a:t>output layer</a:t>
            </a:r>
            <a:endParaRPr lang="en-BE" i="1"/>
          </a:p>
        </p:txBody>
      </p:sp>
      <p:sp>
        <p:nvSpPr>
          <p:cNvPr id="5" name="Slide Number Placeholder 3">
            <a:extLst>
              <a:ext uri="{FF2B5EF4-FFF2-40B4-BE49-F238E27FC236}">
                <a16:creationId xmlns:a16="http://schemas.microsoft.com/office/drawing/2014/main" id="{FA45FC3B-2DEA-46C6-ECF0-D6FA43537781}"/>
              </a:ext>
            </a:extLst>
          </p:cNvPr>
          <p:cNvSpPr>
            <a:spLocks noGrp="1"/>
          </p:cNvSpPr>
          <p:nvPr>
            <p:ph type="sldNum" sz="quarter" idx="12"/>
          </p:nvPr>
        </p:nvSpPr>
        <p:spPr>
          <a:xfrm>
            <a:off x="10684933" y="6459767"/>
            <a:ext cx="1073434" cy="261708"/>
          </a:xfrm>
        </p:spPr>
        <p:txBody>
          <a:bodyPr/>
          <a:lstStyle/>
          <a:p>
            <a:fld id="{94B3E216-A3C5-4E41-AE94-D003E76F1D3A}" type="slidenum">
              <a:rPr lang="en-US" smtClean="0"/>
              <a:pPr/>
              <a:t>4</a:t>
            </a:fld>
            <a:endParaRPr lang="en-US"/>
          </a:p>
        </p:txBody>
      </p:sp>
    </p:spTree>
    <p:extLst>
      <p:ext uri="{BB962C8B-B14F-4D97-AF65-F5344CB8AC3E}">
        <p14:creationId xmlns:p14="http://schemas.microsoft.com/office/powerpoint/2010/main" val="21300261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Straight Arrow Connector 22">
            <a:extLst>
              <a:ext uri="{FF2B5EF4-FFF2-40B4-BE49-F238E27FC236}">
                <a16:creationId xmlns:a16="http://schemas.microsoft.com/office/drawing/2014/main" id="{73376E35-B4B7-249C-43A2-15D53F7F9832}"/>
              </a:ext>
            </a:extLst>
          </p:cNvPr>
          <p:cNvCxnSpPr>
            <a:stCxn id="14" idx="6"/>
            <a:endCxn id="9" idx="2"/>
          </p:cNvCxnSpPr>
          <p:nvPr/>
        </p:nvCxnSpPr>
        <p:spPr>
          <a:xfrm>
            <a:off x="3177737" y="2320594"/>
            <a:ext cx="2017508" cy="858090"/>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C6BB5693-6CDF-621A-6A0F-656DFCF751CE}"/>
              </a:ext>
            </a:extLst>
          </p:cNvPr>
          <p:cNvCxnSpPr>
            <a:stCxn id="14" idx="6"/>
            <a:endCxn id="12" idx="2"/>
          </p:cNvCxnSpPr>
          <p:nvPr/>
        </p:nvCxnSpPr>
        <p:spPr>
          <a:xfrm>
            <a:off x="3177737" y="2320594"/>
            <a:ext cx="2017508" cy="1711214"/>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3BA704F4-1C13-9BE9-44B4-F6F921F27C1F}"/>
              </a:ext>
            </a:extLst>
          </p:cNvPr>
          <p:cNvCxnSpPr>
            <a:stCxn id="14" idx="6"/>
            <a:endCxn id="13" idx="2"/>
          </p:cNvCxnSpPr>
          <p:nvPr/>
        </p:nvCxnSpPr>
        <p:spPr>
          <a:xfrm>
            <a:off x="3177737" y="2320594"/>
            <a:ext cx="2006055" cy="2564338"/>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F251449F-4D56-1F11-6E47-01471CD2CAA9}"/>
              </a:ext>
            </a:extLst>
          </p:cNvPr>
          <p:cNvCxnSpPr>
            <a:stCxn id="16" idx="6"/>
            <a:endCxn id="9" idx="2"/>
          </p:cNvCxnSpPr>
          <p:nvPr/>
        </p:nvCxnSpPr>
        <p:spPr>
          <a:xfrm>
            <a:off x="3189190" y="3178684"/>
            <a:ext cx="2006055" cy="0"/>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F558CF0A-CAC6-CF3F-0939-D872D115D77F}"/>
              </a:ext>
            </a:extLst>
          </p:cNvPr>
          <p:cNvCxnSpPr>
            <a:stCxn id="16" idx="6"/>
            <a:endCxn id="12" idx="2"/>
          </p:cNvCxnSpPr>
          <p:nvPr/>
        </p:nvCxnSpPr>
        <p:spPr>
          <a:xfrm>
            <a:off x="3189190" y="3178684"/>
            <a:ext cx="2006055" cy="853124"/>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FD627221-A92A-A9A6-6805-65E3A96F1872}"/>
              </a:ext>
            </a:extLst>
          </p:cNvPr>
          <p:cNvCxnSpPr>
            <a:stCxn id="16" idx="6"/>
            <a:endCxn id="13" idx="2"/>
          </p:cNvCxnSpPr>
          <p:nvPr/>
        </p:nvCxnSpPr>
        <p:spPr>
          <a:xfrm>
            <a:off x="3189190" y="3178684"/>
            <a:ext cx="1994602" cy="1706248"/>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AB74FF88-F14C-EFE1-C9A3-3A7594C334B9}"/>
              </a:ext>
            </a:extLst>
          </p:cNvPr>
          <p:cNvCxnSpPr>
            <a:stCxn id="17" idx="6"/>
            <a:endCxn id="9" idx="2"/>
          </p:cNvCxnSpPr>
          <p:nvPr/>
        </p:nvCxnSpPr>
        <p:spPr>
          <a:xfrm flipV="1">
            <a:off x="3189190" y="3178684"/>
            <a:ext cx="2006055" cy="853124"/>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62B715CC-2E18-0FDA-4FAC-C8FEA2B64897}"/>
              </a:ext>
            </a:extLst>
          </p:cNvPr>
          <p:cNvCxnSpPr>
            <a:stCxn id="17" idx="6"/>
            <a:endCxn id="12" idx="2"/>
          </p:cNvCxnSpPr>
          <p:nvPr/>
        </p:nvCxnSpPr>
        <p:spPr>
          <a:xfrm>
            <a:off x="3189190" y="4031808"/>
            <a:ext cx="2006055" cy="0"/>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5296C71F-ECCA-78A3-0492-58852EBE1CB7}"/>
              </a:ext>
            </a:extLst>
          </p:cNvPr>
          <p:cNvCxnSpPr>
            <a:stCxn id="17" idx="6"/>
            <a:endCxn id="13" idx="2"/>
          </p:cNvCxnSpPr>
          <p:nvPr/>
        </p:nvCxnSpPr>
        <p:spPr>
          <a:xfrm>
            <a:off x="3189190" y="4031808"/>
            <a:ext cx="1994602" cy="853124"/>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4C045294-F9D8-BFE1-AB35-B04E80B7BEE9}"/>
              </a:ext>
            </a:extLst>
          </p:cNvPr>
          <p:cNvCxnSpPr>
            <a:stCxn id="18" idx="6"/>
            <a:endCxn id="9" idx="2"/>
          </p:cNvCxnSpPr>
          <p:nvPr/>
        </p:nvCxnSpPr>
        <p:spPr>
          <a:xfrm flipV="1">
            <a:off x="3177737" y="3178684"/>
            <a:ext cx="2017508" cy="1706248"/>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EF7FFD75-72EB-7370-0B17-F788309BA06C}"/>
              </a:ext>
            </a:extLst>
          </p:cNvPr>
          <p:cNvCxnSpPr>
            <a:stCxn id="18" idx="6"/>
            <a:endCxn id="12" idx="2"/>
          </p:cNvCxnSpPr>
          <p:nvPr/>
        </p:nvCxnSpPr>
        <p:spPr>
          <a:xfrm flipV="1">
            <a:off x="3177737" y="4031808"/>
            <a:ext cx="2017508" cy="853124"/>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0BD1AEC9-E6DA-469F-460B-3B36BEC2699A}"/>
              </a:ext>
            </a:extLst>
          </p:cNvPr>
          <p:cNvCxnSpPr>
            <a:stCxn id="18" idx="6"/>
            <a:endCxn id="13" idx="2"/>
          </p:cNvCxnSpPr>
          <p:nvPr/>
        </p:nvCxnSpPr>
        <p:spPr>
          <a:xfrm>
            <a:off x="3177737" y="4884932"/>
            <a:ext cx="2006055" cy="0"/>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33065150-9698-1E68-B8D3-9D2070540A5E}"/>
              </a:ext>
            </a:extLst>
          </p:cNvPr>
          <p:cNvCxnSpPr>
            <a:stCxn id="9" idx="6"/>
            <a:endCxn id="36" idx="2"/>
          </p:cNvCxnSpPr>
          <p:nvPr/>
        </p:nvCxnSpPr>
        <p:spPr>
          <a:xfrm>
            <a:off x="5845211" y="3178684"/>
            <a:ext cx="1913811" cy="426562"/>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071421FF-666C-E535-ED5E-B0BA7BDB7F59}"/>
              </a:ext>
            </a:extLst>
          </p:cNvPr>
          <p:cNvCxnSpPr>
            <a:stCxn id="12" idx="6"/>
            <a:endCxn id="36" idx="2"/>
          </p:cNvCxnSpPr>
          <p:nvPr/>
        </p:nvCxnSpPr>
        <p:spPr>
          <a:xfrm flipV="1">
            <a:off x="5845211" y="3605246"/>
            <a:ext cx="1913811" cy="426562"/>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93B884DF-3E89-7F47-2BA6-B75F4A2F8C75}"/>
              </a:ext>
            </a:extLst>
          </p:cNvPr>
          <p:cNvCxnSpPr>
            <a:stCxn id="13" idx="6"/>
            <a:endCxn id="36" idx="2"/>
          </p:cNvCxnSpPr>
          <p:nvPr/>
        </p:nvCxnSpPr>
        <p:spPr>
          <a:xfrm flipV="1">
            <a:off x="5833758" y="3605246"/>
            <a:ext cx="1925264" cy="1279686"/>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C5EF9F41-42FA-089B-6A12-CAD4D74D6D62}"/>
              </a:ext>
            </a:extLst>
          </p:cNvPr>
          <p:cNvGrpSpPr/>
          <p:nvPr/>
        </p:nvGrpSpPr>
        <p:grpSpPr>
          <a:xfrm>
            <a:off x="2527771" y="1995611"/>
            <a:ext cx="681113" cy="3214304"/>
            <a:chOff x="2527771" y="1995611"/>
            <a:chExt cx="681113" cy="3214304"/>
          </a:xfrm>
        </p:grpSpPr>
        <p:sp>
          <p:nvSpPr>
            <p:cNvPr id="14" name="Oval 13">
              <a:extLst>
                <a:ext uri="{FF2B5EF4-FFF2-40B4-BE49-F238E27FC236}">
                  <a16:creationId xmlns:a16="http://schemas.microsoft.com/office/drawing/2014/main" id="{454984B3-ADC9-2237-4EFD-93955A545128}"/>
                </a:ext>
              </a:extLst>
            </p:cNvPr>
            <p:cNvSpPr/>
            <p:nvPr/>
          </p:nvSpPr>
          <p:spPr>
            <a:xfrm>
              <a:off x="2527771" y="1995611"/>
              <a:ext cx="649966" cy="64996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ln>
                  <a:solidFill>
                    <a:schemeClr val="tx1"/>
                  </a:solidFill>
                </a:ln>
                <a:noFill/>
              </a:endParaRPr>
            </a:p>
          </p:txBody>
        </p:sp>
        <p:sp>
          <p:nvSpPr>
            <p:cNvPr id="16" name="Oval 15">
              <a:extLst>
                <a:ext uri="{FF2B5EF4-FFF2-40B4-BE49-F238E27FC236}">
                  <a16:creationId xmlns:a16="http://schemas.microsoft.com/office/drawing/2014/main" id="{27EA0360-5424-63F1-64EB-14ECBB857A65}"/>
                </a:ext>
              </a:extLst>
            </p:cNvPr>
            <p:cNvSpPr/>
            <p:nvPr/>
          </p:nvSpPr>
          <p:spPr>
            <a:xfrm>
              <a:off x="2539224" y="2853701"/>
              <a:ext cx="649966" cy="64996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ln>
                  <a:solidFill>
                    <a:schemeClr val="tx1"/>
                  </a:solidFill>
                </a:ln>
                <a:noFill/>
              </a:endParaRPr>
            </a:p>
          </p:txBody>
        </p:sp>
        <p:sp>
          <p:nvSpPr>
            <p:cNvPr id="17" name="Oval 16">
              <a:extLst>
                <a:ext uri="{FF2B5EF4-FFF2-40B4-BE49-F238E27FC236}">
                  <a16:creationId xmlns:a16="http://schemas.microsoft.com/office/drawing/2014/main" id="{1A667574-26DF-B73B-A17C-7C011E451A7C}"/>
                </a:ext>
              </a:extLst>
            </p:cNvPr>
            <p:cNvSpPr/>
            <p:nvPr/>
          </p:nvSpPr>
          <p:spPr>
            <a:xfrm>
              <a:off x="2539224" y="3706825"/>
              <a:ext cx="649966" cy="64996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ln>
                  <a:solidFill>
                    <a:schemeClr val="tx1"/>
                  </a:solidFill>
                </a:ln>
                <a:noFill/>
              </a:endParaRPr>
            </a:p>
          </p:txBody>
        </p:sp>
        <p:sp>
          <p:nvSpPr>
            <p:cNvPr id="18" name="Oval 17">
              <a:extLst>
                <a:ext uri="{FF2B5EF4-FFF2-40B4-BE49-F238E27FC236}">
                  <a16:creationId xmlns:a16="http://schemas.microsoft.com/office/drawing/2014/main" id="{EE887998-1D96-CCE4-3883-42CF361A6F94}"/>
                </a:ext>
              </a:extLst>
            </p:cNvPr>
            <p:cNvSpPr/>
            <p:nvPr/>
          </p:nvSpPr>
          <p:spPr>
            <a:xfrm>
              <a:off x="2527771" y="4559949"/>
              <a:ext cx="649966" cy="64996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ln>
                  <a:solidFill>
                    <a:schemeClr val="tx1"/>
                  </a:solidFill>
                </a:ln>
                <a:noFill/>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7B8E9020-5802-0A83-2206-D42684EEAE78}"/>
                    </a:ext>
                  </a:extLst>
                </p:cNvPr>
                <p:cNvSpPr txBox="1"/>
                <p:nvPr/>
              </p:nvSpPr>
              <p:spPr>
                <a:xfrm>
                  <a:off x="2594149" y="2086350"/>
                  <a:ext cx="599125" cy="369332"/>
                </a:xfrm>
                <a:prstGeom prst="rect">
                  <a:avLst/>
                </a:prstGeom>
                <a:noFill/>
              </p:spPr>
              <p:txBody>
                <a:bodyPr wrap="square" lIns="0" tIns="0" rIns="0" bIns="0" rtlCol="0">
                  <a:spAutoFit/>
                </a:bodyPr>
                <a:lstStyle/>
                <a:p>
                  <a:pPr/>
                  <a14:m>
                    <m:oMathPara xmlns:m="http://schemas.openxmlformats.org/officeDocument/2006/math">
                      <m:oMath>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𝑥</m:t>
                            </m:r>
                          </m:e>
                          <m:sub>
                            <m:r>
                              <a:rPr lang="en-GB" sz="2400" b="0" i="1" smtClean="0">
                                <a:latin typeface="Cambria Math" panose="02040503050406030204" pitchFamily="18" charset="0"/>
                              </a:rPr>
                              <m:t>0</m:t>
                            </m:r>
                          </m:sub>
                        </m:sSub>
                      </m:oMath>
                    </m:oMathPara>
                  </a14:m>
                  <a:endParaRPr lang="en-GB" b="0"/>
                </a:p>
              </p:txBody>
            </p:sp>
          </mc:Choice>
          <mc:Fallback xmlns="">
            <p:sp>
              <p:nvSpPr>
                <p:cNvPr id="3" name="TextBox 2">
                  <a:extLst>
                    <a:ext uri="{FF2B5EF4-FFF2-40B4-BE49-F238E27FC236}">
                      <a16:creationId xmlns:a16="http://schemas.microsoft.com/office/drawing/2014/main" id="{7B8E9020-5802-0A83-2206-D42684EEAE78}"/>
                    </a:ext>
                  </a:extLst>
                </p:cNvPr>
                <p:cNvSpPr txBox="1">
                  <a:spLocks noRot="1" noChangeAspect="1" noMove="1" noResize="1" noEditPoints="1" noAdjustHandles="1" noChangeArrowheads="1" noChangeShapeType="1" noTextEdit="1"/>
                </p:cNvSpPr>
                <p:nvPr/>
              </p:nvSpPr>
              <p:spPr>
                <a:xfrm>
                  <a:off x="2594149" y="2086350"/>
                  <a:ext cx="599125" cy="369332"/>
                </a:xfrm>
                <a:prstGeom prst="rect">
                  <a:avLst/>
                </a:prstGeom>
                <a:blipFill>
                  <a:blip r:embed="rId3"/>
                  <a:stretch>
                    <a:fillRect t="-24590" r="-18367" b="-4918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5922B71-CA4E-4F75-51B7-82976C9CA232}"/>
                    </a:ext>
                  </a:extLst>
                </p:cNvPr>
                <p:cNvSpPr txBox="1"/>
                <p:nvPr/>
              </p:nvSpPr>
              <p:spPr>
                <a:xfrm>
                  <a:off x="2594149" y="2954313"/>
                  <a:ext cx="599125" cy="369332"/>
                </a:xfrm>
                <a:prstGeom prst="rect">
                  <a:avLst/>
                </a:prstGeom>
                <a:noFill/>
              </p:spPr>
              <p:txBody>
                <a:bodyPr wrap="square" lIns="0" tIns="0" rIns="0" bIns="0" rtlCol="0">
                  <a:spAutoFit/>
                </a:bodyPr>
                <a:lstStyle/>
                <a:p>
                  <a:pPr/>
                  <a14:m>
                    <m:oMathPara xmlns:m="http://schemas.openxmlformats.org/officeDocument/2006/math">
                      <m:oMath>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𝑥</m:t>
                            </m:r>
                          </m:e>
                          <m:sub>
                            <m:r>
                              <a:rPr lang="en-GB" sz="2400" b="0" i="1" smtClean="0">
                                <a:latin typeface="Cambria Math" panose="02040503050406030204" pitchFamily="18" charset="0"/>
                              </a:rPr>
                              <m:t>1</m:t>
                            </m:r>
                          </m:sub>
                        </m:sSub>
                      </m:oMath>
                    </m:oMathPara>
                  </a14:m>
                  <a:endParaRPr lang="en-GB" b="0"/>
                </a:p>
              </p:txBody>
            </p:sp>
          </mc:Choice>
          <mc:Fallback xmlns="">
            <p:sp>
              <p:nvSpPr>
                <p:cNvPr id="5" name="TextBox 4">
                  <a:extLst>
                    <a:ext uri="{FF2B5EF4-FFF2-40B4-BE49-F238E27FC236}">
                      <a16:creationId xmlns:a16="http://schemas.microsoft.com/office/drawing/2014/main" id="{F5922B71-CA4E-4F75-51B7-82976C9CA232}"/>
                    </a:ext>
                  </a:extLst>
                </p:cNvPr>
                <p:cNvSpPr txBox="1">
                  <a:spLocks noRot="1" noChangeAspect="1" noMove="1" noResize="1" noEditPoints="1" noAdjustHandles="1" noChangeArrowheads="1" noChangeShapeType="1" noTextEdit="1"/>
                </p:cNvSpPr>
                <p:nvPr/>
              </p:nvSpPr>
              <p:spPr>
                <a:xfrm>
                  <a:off x="2594149" y="2954313"/>
                  <a:ext cx="599125" cy="369332"/>
                </a:xfrm>
                <a:prstGeom prst="rect">
                  <a:avLst/>
                </a:prstGeom>
                <a:blipFill>
                  <a:blip r:embed="rId4"/>
                  <a:stretch>
                    <a:fillRect t="-26667" r="-18367" b="-5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36FF873-4955-58AE-C5EE-FBD3FB0FB632}"/>
                    </a:ext>
                  </a:extLst>
                </p:cNvPr>
                <p:cNvSpPr txBox="1"/>
                <p:nvPr/>
              </p:nvSpPr>
              <p:spPr>
                <a:xfrm>
                  <a:off x="2609759" y="3812571"/>
                  <a:ext cx="599125" cy="369332"/>
                </a:xfrm>
                <a:prstGeom prst="rect">
                  <a:avLst/>
                </a:prstGeom>
                <a:noFill/>
              </p:spPr>
              <p:txBody>
                <a:bodyPr wrap="square" lIns="0" tIns="0" rIns="0" bIns="0" rtlCol="0">
                  <a:spAutoFit/>
                </a:bodyPr>
                <a:lstStyle/>
                <a:p>
                  <a:pPr/>
                  <a14:m>
                    <m:oMathPara xmlns:m="http://schemas.openxmlformats.org/officeDocument/2006/math">
                      <m:oMath>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𝑥</m:t>
                            </m:r>
                          </m:e>
                          <m:sub>
                            <m:r>
                              <a:rPr lang="en-GB" sz="2400" b="0" i="1" smtClean="0">
                                <a:latin typeface="Cambria Math" panose="02040503050406030204" pitchFamily="18" charset="0"/>
                              </a:rPr>
                              <m:t>2</m:t>
                            </m:r>
                          </m:sub>
                        </m:sSub>
                      </m:oMath>
                    </m:oMathPara>
                  </a14:m>
                  <a:endParaRPr lang="en-GB" b="0"/>
                </a:p>
              </p:txBody>
            </p:sp>
          </mc:Choice>
          <mc:Fallback xmlns="">
            <p:sp>
              <p:nvSpPr>
                <p:cNvPr id="6" name="TextBox 5">
                  <a:extLst>
                    <a:ext uri="{FF2B5EF4-FFF2-40B4-BE49-F238E27FC236}">
                      <a16:creationId xmlns:a16="http://schemas.microsoft.com/office/drawing/2014/main" id="{036FF873-4955-58AE-C5EE-FBD3FB0FB632}"/>
                    </a:ext>
                  </a:extLst>
                </p:cNvPr>
                <p:cNvSpPr txBox="1">
                  <a:spLocks noRot="1" noChangeAspect="1" noMove="1" noResize="1" noEditPoints="1" noAdjustHandles="1" noChangeArrowheads="1" noChangeShapeType="1" noTextEdit="1"/>
                </p:cNvSpPr>
                <p:nvPr/>
              </p:nvSpPr>
              <p:spPr>
                <a:xfrm>
                  <a:off x="2609759" y="3812571"/>
                  <a:ext cx="599125" cy="369332"/>
                </a:xfrm>
                <a:prstGeom prst="rect">
                  <a:avLst/>
                </a:prstGeom>
                <a:blipFill>
                  <a:blip r:embed="rId5"/>
                  <a:stretch>
                    <a:fillRect t="-24590" r="-19388" b="-4918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80B42B6-7D3E-7F36-151B-2EC7636572A7}"/>
                    </a:ext>
                  </a:extLst>
                </p:cNvPr>
                <p:cNvSpPr txBox="1"/>
                <p:nvPr/>
              </p:nvSpPr>
              <p:spPr>
                <a:xfrm>
                  <a:off x="2598306" y="4656057"/>
                  <a:ext cx="599125" cy="369332"/>
                </a:xfrm>
                <a:prstGeom prst="rect">
                  <a:avLst/>
                </a:prstGeom>
                <a:noFill/>
              </p:spPr>
              <p:txBody>
                <a:bodyPr wrap="square" lIns="0" tIns="0" rIns="0" bIns="0" rtlCol="0">
                  <a:spAutoFit/>
                </a:bodyPr>
                <a:lstStyle/>
                <a:p>
                  <a:pPr/>
                  <a14:m>
                    <m:oMathPara xmlns:m="http://schemas.openxmlformats.org/officeDocument/2006/math">
                      <m:oMath>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𝑥</m:t>
                            </m:r>
                          </m:e>
                          <m:sub>
                            <m:r>
                              <a:rPr lang="en-GB" sz="2400" b="0" i="1" smtClean="0">
                                <a:latin typeface="Cambria Math" panose="02040503050406030204" pitchFamily="18" charset="0"/>
                              </a:rPr>
                              <m:t>3</m:t>
                            </m:r>
                          </m:sub>
                        </m:sSub>
                      </m:oMath>
                    </m:oMathPara>
                  </a14:m>
                  <a:endParaRPr lang="en-GB" b="0"/>
                </a:p>
              </p:txBody>
            </p:sp>
          </mc:Choice>
          <mc:Fallback xmlns="">
            <p:sp>
              <p:nvSpPr>
                <p:cNvPr id="8" name="TextBox 7">
                  <a:extLst>
                    <a:ext uri="{FF2B5EF4-FFF2-40B4-BE49-F238E27FC236}">
                      <a16:creationId xmlns:a16="http://schemas.microsoft.com/office/drawing/2014/main" id="{F80B42B6-7D3E-7F36-151B-2EC7636572A7}"/>
                    </a:ext>
                  </a:extLst>
                </p:cNvPr>
                <p:cNvSpPr txBox="1">
                  <a:spLocks noRot="1" noChangeAspect="1" noMove="1" noResize="1" noEditPoints="1" noAdjustHandles="1" noChangeArrowheads="1" noChangeShapeType="1" noTextEdit="1"/>
                </p:cNvSpPr>
                <p:nvPr/>
              </p:nvSpPr>
              <p:spPr>
                <a:xfrm>
                  <a:off x="2598306" y="4656057"/>
                  <a:ext cx="599125" cy="369332"/>
                </a:xfrm>
                <a:prstGeom prst="rect">
                  <a:avLst/>
                </a:prstGeom>
                <a:blipFill>
                  <a:blip r:embed="rId6"/>
                  <a:stretch>
                    <a:fillRect t="-26667" r="-18182" b="-50000"/>
                  </a:stretch>
                </a:blipFill>
              </p:spPr>
              <p:txBody>
                <a:bodyPr/>
                <a:lstStyle/>
                <a:p>
                  <a:r>
                    <a:rPr lang="en-US">
                      <a:noFill/>
                    </a:rPr>
                    <a:t> </a:t>
                  </a:r>
                </a:p>
              </p:txBody>
            </p:sp>
          </mc:Fallback>
        </mc:AlternateContent>
      </p:grpSp>
      <p:grpSp>
        <p:nvGrpSpPr>
          <p:cNvPr id="35" name="Group 34">
            <a:extLst>
              <a:ext uri="{FF2B5EF4-FFF2-40B4-BE49-F238E27FC236}">
                <a16:creationId xmlns:a16="http://schemas.microsoft.com/office/drawing/2014/main" id="{27FCA70C-27FC-CA72-F599-37ECE8089E69}"/>
              </a:ext>
            </a:extLst>
          </p:cNvPr>
          <p:cNvGrpSpPr/>
          <p:nvPr/>
        </p:nvGrpSpPr>
        <p:grpSpPr>
          <a:xfrm>
            <a:off x="7759022" y="3280263"/>
            <a:ext cx="2531221" cy="649966"/>
            <a:chOff x="7759022" y="3706825"/>
            <a:chExt cx="2531221" cy="649966"/>
          </a:xfrm>
        </p:grpSpPr>
        <p:sp>
          <p:nvSpPr>
            <p:cNvPr id="36" name="Oval 35">
              <a:extLst>
                <a:ext uri="{FF2B5EF4-FFF2-40B4-BE49-F238E27FC236}">
                  <a16:creationId xmlns:a16="http://schemas.microsoft.com/office/drawing/2014/main" id="{33B50ABA-1347-5656-21EB-655C9DE994EE}"/>
                </a:ext>
              </a:extLst>
            </p:cNvPr>
            <p:cNvSpPr/>
            <p:nvPr/>
          </p:nvSpPr>
          <p:spPr>
            <a:xfrm>
              <a:off x="7759022" y="3706825"/>
              <a:ext cx="649966" cy="64996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ln>
                  <a:solidFill>
                    <a:schemeClr val="tx1"/>
                  </a:solidFill>
                </a:ln>
                <a:noFill/>
              </a:endParaRPr>
            </a:p>
          </p:txBody>
        </p:sp>
        <p:cxnSp>
          <p:nvCxnSpPr>
            <p:cNvPr id="41" name="Straight Arrow Connector 40">
              <a:extLst>
                <a:ext uri="{FF2B5EF4-FFF2-40B4-BE49-F238E27FC236}">
                  <a16:creationId xmlns:a16="http://schemas.microsoft.com/office/drawing/2014/main" id="{DB3EFAEB-1B4A-F29D-C5E8-1125A3522EF9}"/>
                </a:ext>
              </a:extLst>
            </p:cNvPr>
            <p:cNvCxnSpPr>
              <a:stCxn id="36" idx="6"/>
            </p:cNvCxnSpPr>
            <p:nvPr/>
          </p:nvCxnSpPr>
          <p:spPr>
            <a:xfrm>
              <a:off x="8408988" y="4031808"/>
              <a:ext cx="791134" cy="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95AD8E0D-D7AB-BF24-872B-314D70EEF0A1}"/>
                    </a:ext>
                  </a:extLst>
                </p:cNvPr>
                <p:cNvSpPr txBox="1"/>
                <p:nvPr/>
              </p:nvSpPr>
              <p:spPr>
                <a:xfrm>
                  <a:off x="7901463" y="3839976"/>
                  <a:ext cx="390556" cy="369332"/>
                </a:xfrm>
                <a:prstGeom prst="rect">
                  <a:avLst/>
                </a:prstGeom>
                <a:noFill/>
              </p:spPr>
              <p:txBody>
                <a:bodyPr wrap="none" lIns="0" tIns="0" rIns="0" bIns="0" rtlCol="0">
                  <a:spAutoFit/>
                </a:bodyPr>
                <a:lstStyle/>
                <a:p>
                  <a:pPr/>
                  <a14:m>
                    <m:oMathPara xmlns:m="http://schemas.openxmlformats.org/officeDocument/2006/math">
                      <m:oMath>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𝑎</m:t>
                            </m:r>
                          </m:e>
                          <m:sup>
                            <m:r>
                              <a:rPr lang="en-GB" sz="2400" b="0" i="1" smtClean="0">
                                <a:latin typeface="Cambria Math" panose="02040503050406030204" pitchFamily="18" charset="0"/>
                              </a:rPr>
                              <m:t>2</m:t>
                            </m:r>
                          </m:sup>
                        </m:sSup>
                      </m:oMath>
                    </m:oMathPara>
                  </a14:m>
                  <a:endParaRPr lang="en-GB" b="0"/>
                </a:p>
              </p:txBody>
            </p:sp>
          </mc:Choice>
          <mc:Fallback xmlns="">
            <p:sp>
              <p:nvSpPr>
                <p:cNvPr id="48" name="TextBox 47">
                  <a:extLst>
                    <a:ext uri="{FF2B5EF4-FFF2-40B4-BE49-F238E27FC236}">
                      <a16:creationId xmlns:a16="http://schemas.microsoft.com/office/drawing/2014/main" id="{95AD8E0D-D7AB-BF24-872B-314D70EEF0A1}"/>
                    </a:ext>
                  </a:extLst>
                </p:cNvPr>
                <p:cNvSpPr txBox="1">
                  <a:spLocks noRot="1" noChangeAspect="1" noMove="1" noResize="1" noEditPoints="1" noAdjustHandles="1" noChangeArrowheads="1" noChangeShapeType="1" noTextEdit="1"/>
                </p:cNvSpPr>
                <p:nvPr/>
              </p:nvSpPr>
              <p:spPr>
                <a:xfrm>
                  <a:off x="7901463" y="3839976"/>
                  <a:ext cx="390556" cy="369332"/>
                </a:xfrm>
                <a:prstGeom prst="rect">
                  <a:avLst/>
                </a:prstGeom>
                <a:blipFill>
                  <a:blip r:embed="rId7"/>
                  <a:stretch>
                    <a:fillRect l="-9375" t="-26230" r="-59375" b="-475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959B0572-5956-5D4A-BDB3-EE880A283757}"/>
                    </a:ext>
                  </a:extLst>
                </p:cNvPr>
                <p:cNvSpPr txBox="1"/>
                <p:nvPr/>
              </p:nvSpPr>
              <p:spPr>
                <a:xfrm>
                  <a:off x="9317091" y="3812571"/>
                  <a:ext cx="973152" cy="369332"/>
                </a:xfrm>
                <a:prstGeom prst="rect">
                  <a:avLst/>
                </a:prstGeom>
                <a:noFill/>
              </p:spPr>
              <p:txBody>
                <a:bodyPr wrap="none" lIns="0" tIns="0" rIns="0" bIns="0" rtlCol="0">
                  <a:spAutoFit/>
                </a:bodyPr>
                <a:lstStyle/>
                <a:p>
                  <a:pPr/>
                  <a14:m>
                    <m:oMathPara xmlns:m="http://schemas.openxmlformats.org/officeDocument/2006/math">
                      <m:oMath>
                        <m:r>
                          <a:rPr lang="en-GB" sz="2400" b="0" i="1" smtClean="0">
                            <a:latin typeface="Cambria Math" panose="02040503050406030204" pitchFamily="18" charset="0"/>
                          </a:rPr>
                          <m:t>𝑓</m:t>
                        </m:r>
                        <m:r>
                          <a:rPr lang="en-GB" sz="2400" b="0" i="1" smtClean="0">
                            <a:latin typeface="Cambria Math" panose="02040503050406030204" pitchFamily="18" charset="0"/>
                          </a:rPr>
                          <m:t>(</m:t>
                        </m:r>
                        <m:r>
                          <a:rPr lang="en-GB" sz="2400" b="0" i="1" smtClean="0">
                            <a:latin typeface="Cambria Math" panose="02040503050406030204" pitchFamily="18" charset="0"/>
                          </a:rPr>
                          <m:t>𝑥</m:t>
                        </m:r>
                        <m:r>
                          <a:rPr lang="en-GB" sz="2400" b="0" i="1" smtClean="0">
                            <a:latin typeface="Cambria Math" panose="02040503050406030204" pitchFamily="18" charset="0"/>
                          </a:rPr>
                          <m:t>,</m:t>
                        </m:r>
                        <m:r>
                          <a:rPr lang="en-GB" sz="2400" b="0" i="1" smtClean="0">
                            <a:latin typeface="Cambria Math" panose="02040503050406030204" pitchFamily="18" charset="0"/>
                          </a:rPr>
                          <m:t>𝜃</m:t>
                        </m:r>
                        <m:r>
                          <a:rPr lang="en-GB" sz="2400" b="0" i="1" smtClean="0">
                            <a:latin typeface="Cambria Math" panose="02040503050406030204" pitchFamily="18" charset="0"/>
                          </a:rPr>
                          <m:t>)</m:t>
                        </m:r>
                      </m:oMath>
                    </m:oMathPara>
                  </a14:m>
                  <a:endParaRPr lang="LID4096" sz="2400"/>
                </a:p>
              </p:txBody>
            </p:sp>
          </mc:Choice>
          <mc:Fallback xmlns="">
            <p:sp>
              <p:nvSpPr>
                <p:cNvPr id="49" name="TextBox 48">
                  <a:extLst>
                    <a:ext uri="{FF2B5EF4-FFF2-40B4-BE49-F238E27FC236}">
                      <a16:creationId xmlns:a16="http://schemas.microsoft.com/office/drawing/2014/main" id="{959B0572-5956-5D4A-BDB3-EE880A283757}"/>
                    </a:ext>
                  </a:extLst>
                </p:cNvPr>
                <p:cNvSpPr txBox="1">
                  <a:spLocks noRot="1" noChangeAspect="1" noMove="1" noResize="1" noEditPoints="1" noAdjustHandles="1" noChangeArrowheads="1" noChangeShapeType="1" noTextEdit="1"/>
                </p:cNvSpPr>
                <p:nvPr/>
              </p:nvSpPr>
              <p:spPr>
                <a:xfrm>
                  <a:off x="9317091" y="3812571"/>
                  <a:ext cx="973152" cy="369332"/>
                </a:xfrm>
                <a:prstGeom prst="rect">
                  <a:avLst/>
                </a:prstGeom>
                <a:blipFill>
                  <a:blip r:embed="rId8"/>
                  <a:stretch>
                    <a:fillRect l="-10625" t="-24590" r="-23125" b="-49180"/>
                  </a:stretch>
                </a:blipFill>
              </p:spPr>
              <p:txBody>
                <a:bodyPr/>
                <a:lstStyle/>
                <a:p>
                  <a:r>
                    <a:rPr lang="en-US">
                      <a:noFill/>
                    </a:rPr>
                    <a:t> </a:t>
                  </a:r>
                </a:p>
              </p:txBody>
            </p:sp>
          </mc:Fallback>
        </mc:AlternateContent>
      </p:grpSp>
      <p:sp>
        <p:nvSpPr>
          <p:cNvPr id="2" name="TextBox 1">
            <a:extLst>
              <a:ext uri="{FF2B5EF4-FFF2-40B4-BE49-F238E27FC236}">
                <a16:creationId xmlns:a16="http://schemas.microsoft.com/office/drawing/2014/main" id="{AF4EFB97-AD72-C5F0-5143-74086727BC0D}"/>
              </a:ext>
            </a:extLst>
          </p:cNvPr>
          <p:cNvSpPr txBox="1"/>
          <p:nvPr/>
        </p:nvSpPr>
        <p:spPr>
          <a:xfrm>
            <a:off x="5330828" y="5284112"/>
            <a:ext cx="911525" cy="369332"/>
          </a:xfrm>
          <a:prstGeom prst="rect">
            <a:avLst/>
          </a:prstGeom>
          <a:noFill/>
        </p:spPr>
        <p:txBody>
          <a:bodyPr wrap="square" rtlCol="0">
            <a:spAutoFit/>
          </a:bodyPr>
          <a:lstStyle/>
          <a:p>
            <a:r>
              <a:rPr lang="en-GB"/>
              <a:t>…</a:t>
            </a:r>
            <a:endParaRPr lang="LID4096"/>
          </a:p>
        </p:txBody>
      </p:sp>
      <p:cxnSp>
        <p:nvCxnSpPr>
          <p:cNvPr id="7" name="Straight Arrow Connector 6">
            <a:extLst>
              <a:ext uri="{FF2B5EF4-FFF2-40B4-BE49-F238E27FC236}">
                <a16:creationId xmlns:a16="http://schemas.microsoft.com/office/drawing/2014/main" id="{28EB5D84-3D3A-41CC-C6C9-E9B926CB7723}"/>
              </a:ext>
            </a:extLst>
          </p:cNvPr>
          <p:cNvCxnSpPr>
            <a:cxnSpLocks/>
            <a:endCxn id="4" idx="2"/>
          </p:cNvCxnSpPr>
          <p:nvPr/>
        </p:nvCxnSpPr>
        <p:spPr>
          <a:xfrm>
            <a:off x="3177737" y="2320594"/>
            <a:ext cx="2022282" cy="4966"/>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773AA15C-B6A8-A4D7-A37C-9B5F9E8A57FD}"/>
              </a:ext>
            </a:extLst>
          </p:cNvPr>
          <p:cNvCxnSpPr>
            <a:cxnSpLocks/>
            <a:endCxn id="4" idx="2"/>
          </p:cNvCxnSpPr>
          <p:nvPr/>
        </p:nvCxnSpPr>
        <p:spPr>
          <a:xfrm flipV="1">
            <a:off x="3189190" y="2325560"/>
            <a:ext cx="2010829" cy="853124"/>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2D53C317-2868-4B29-3FF8-97D914E934AE}"/>
              </a:ext>
            </a:extLst>
          </p:cNvPr>
          <p:cNvCxnSpPr>
            <a:cxnSpLocks/>
            <a:endCxn id="4" idx="2"/>
          </p:cNvCxnSpPr>
          <p:nvPr/>
        </p:nvCxnSpPr>
        <p:spPr>
          <a:xfrm flipV="1">
            <a:off x="3189190" y="2325560"/>
            <a:ext cx="2010829" cy="1706248"/>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D688E036-0EB8-4A31-D287-4A90D2FD84FD}"/>
              </a:ext>
            </a:extLst>
          </p:cNvPr>
          <p:cNvCxnSpPr>
            <a:cxnSpLocks/>
            <a:endCxn id="4" idx="2"/>
          </p:cNvCxnSpPr>
          <p:nvPr/>
        </p:nvCxnSpPr>
        <p:spPr>
          <a:xfrm flipV="1">
            <a:off x="3177737" y="2325560"/>
            <a:ext cx="2022282" cy="2559372"/>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AE58228D-B196-7FB9-0239-5816C1BE4FD0}"/>
              </a:ext>
            </a:extLst>
          </p:cNvPr>
          <p:cNvCxnSpPr>
            <a:cxnSpLocks/>
            <a:stCxn id="4" idx="6"/>
            <a:endCxn id="36" idx="2"/>
          </p:cNvCxnSpPr>
          <p:nvPr/>
        </p:nvCxnSpPr>
        <p:spPr>
          <a:xfrm>
            <a:off x="5849985" y="2325560"/>
            <a:ext cx="1909037" cy="1279686"/>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FEB41BF6-C4CD-54FA-A4EB-5E2617F6B972}"/>
              </a:ext>
            </a:extLst>
          </p:cNvPr>
          <p:cNvGrpSpPr/>
          <p:nvPr/>
        </p:nvGrpSpPr>
        <p:grpSpPr>
          <a:xfrm>
            <a:off x="5183792" y="2000577"/>
            <a:ext cx="666193" cy="3209338"/>
            <a:chOff x="5183792" y="2000577"/>
            <a:chExt cx="666193" cy="3209338"/>
          </a:xfrm>
        </p:grpSpPr>
        <p:sp>
          <p:nvSpPr>
            <p:cNvPr id="9" name="Oval 8">
              <a:extLst>
                <a:ext uri="{FF2B5EF4-FFF2-40B4-BE49-F238E27FC236}">
                  <a16:creationId xmlns:a16="http://schemas.microsoft.com/office/drawing/2014/main" id="{BB449EAA-A20E-5167-F114-F6DB29013E99}"/>
                </a:ext>
              </a:extLst>
            </p:cNvPr>
            <p:cNvSpPr/>
            <p:nvPr/>
          </p:nvSpPr>
          <p:spPr>
            <a:xfrm>
              <a:off x="5195245" y="2853701"/>
              <a:ext cx="649966" cy="64996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ln>
                  <a:solidFill>
                    <a:schemeClr val="tx1"/>
                  </a:solidFill>
                </a:ln>
                <a:noFill/>
              </a:endParaRPr>
            </a:p>
          </p:txBody>
        </p:sp>
        <p:sp>
          <p:nvSpPr>
            <p:cNvPr id="12" name="Oval 11">
              <a:extLst>
                <a:ext uri="{FF2B5EF4-FFF2-40B4-BE49-F238E27FC236}">
                  <a16:creationId xmlns:a16="http://schemas.microsoft.com/office/drawing/2014/main" id="{3A6FD789-DF9B-CE62-8B5C-61006D90A468}"/>
                </a:ext>
              </a:extLst>
            </p:cNvPr>
            <p:cNvSpPr/>
            <p:nvPr/>
          </p:nvSpPr>
          <p:spPr>
            <a:xfrm>
              <a:off x="5195245" y="3706825"/>
              <a:ext cx="649966" cy="64996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ln>
                  <a:solidFill>
                    <a:schemeClr val="tx1"/>
                  </a:solidFill>
                </a:ln>
                <a:noFill/>
              </a:endParaRPr>
            </a:p>
          </p:txBody>
        </p:sp>
        <p:sp>
          <p:nvSpPr>
            <p:cNvPr id="13" name="Oval 12">
              <a:extLst>
                <a:ext uri="{FF2B5EF4-FFF2-40B4-BE49-F238E27FC236}">
                  <a16:creationId xmlns:a16="http://schemas.microsoft.com/office/drawing/2014/main" id="{03AA5CA7-ADBF-FBEF-801A-2DA076D53997}"/>
                </a:ext>
              </a:extLst>
            </p:cNvPr>
            <p:cNvSpPr/>
            <p:nvPr/>
          </p:nvSpPr>
          <p:spPr>
            <a:xfrm>
              <a:off x="5183792" y="4559949"/>
              <a:ext cx="649966" cy="64996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ln>
                  <a:solidFill>
                    <a:schemeClr val="tx1"/>
                  </a:solidFill>
                </a:ln>
                <a:noFill/>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72D857AD-973B-4233-54CC-932C76D30035}"/>
                    </a:ext>
                  </a:extLst>
                </p:cNvPr>
                <p:cNvSpPr txBox="1"/>
                <p:nvPr/>
              </p:nvSpPr>
              <p:spPr>
                <a:xfrm>
                  <a:off x="5244156" y="2987808"/>
                  <a:ext cx="526264" cy="372859"/>
                </a:xfrm>
                <a:prstGeom prst="rect">
                  <a:avLst/>
                </a:prstGeom>
                <a:noFill/>
              </p:spPr>
              <p:txBody>
                <a:bodyPr wrap="square" lIns="0" tIns="0" rIns="0" bIns="0" rtlCol="0">
                  <a:spAutoFit/>
                </a:bodyPr>
                <a:lstStyle/>
                <a:p>
                  <a:pPr/>
                  <a14:m>
                    <m:oMathPara xmlns:m="http://schemas.openxmlformats.org/officeDocument/2006/math">
                      <m:oMath>
                        <m:sSubSup>
                          <m:sSubSupPr>
                            <m:ctrlPr>
                              <a:rPr lang="en-GB" sz="2400" b="0" i="1" smtClean="0">
                                <a:latin typeface="Cambria Math" panose="02040503050406030204" pitchFamily="18" charset="0"/>
                              </a:rPr>
                            </m:ctrlPr>
                          </m:sSubSupPr>
                          <m:e>
                            <m:r>
                              <a:rPr lang="en-GB" sz="2400" b="0" i="1" smtClean="0">
                                <a:latin typeface="Cambria Math" panose="02040503050406030204" pitchFamily="18" charset="0"/>
                              </a:rPr>
                              <m:t>𝑎</m:t>
                            </m:r>
                          </m:e>
                          <m:sub>
                            <m:r>
                              <a:rPr lang="en-BE" sz="2400" b="0" i="1" smtClean="0">
                                <a:latin typeface="Cambria Math" panose="02040503050406030204" pitchFamily="18" charset="0"/>
                              </a:rPr>
                              <m:t>1</m:t>
                            </m:r>
                          </m:sub>
                          <m:sup>
                            <m:r>
                              <a:rPr lang="en-GB" sz="2400" b="0" i="1" smtClean="0">
                                <a:latin typeface="Cambria Math" panose="02040503050406030204" pitchFamily="18" charset="0"/>
                              </a:rPr>
                              <m:t>1</m:t>
                            </m:r>
                          </m:sup>
                        </m:sSubSup>
                      </m:oMath>
                    </m:oMathPara>
                  </a14:m>
                  <a:endParaRPr lang="en-GB" sz="2400" b="0"/>
                </a:p>
              </p:txBody>
            </p:sp>
          </mc:Choice>
          <mc:Fallback xmlns="">
            <p:sp>
              <p:nvSpPr>
                <p:cNvPr id="44" name="TextBox 43">
                  <a:extLst>
                    <a:ext uri="{FF2B5EF4-FFF2-40B4-BE49-F238E27FC236}">
                      <a16:creationId xmlns:a16="http://schemas.microsoft.com/office/drawing/2014/main" id="{72D857AD-973B-4233-54CC-932C76D30035}"/>
                    </a:ext>
                  </a:extLst>
                </p:cNvPr>
                <p:cNvSpPr txBox="1">
                  <a:spLocks noRot="1" noChangeAspect="1" noMove="1" noResize="1" noEditPoints="1" noAdjustHandles="1" noChangeArrowheads="1" noChangeShapeType="1" noTextEdit="1"/>
                </p:cNvSpPr>
                <p:nvPr/>
              </p:nvSpPr>
              <p:spPr>
                <a:xfrm>
                  <a:off x="5244156" y="2987808"/>
                  <a:ext cx="526264" cy="372859"/>
                </a:xfrm>
                <a:prstGeom prst="rect">
                  <a:avLst/>
                </a:prstGeom>
                <a:blipFill>
                  <a:blip r:embed="rId9"/>
                  <a:stretch>
                    <a:fillRect t="-22951" r="-29885" b="-5082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F0EDFF59-D224-FA49-6201-6CFC4F092530}"/>
                    </a:ext>
                  </a:extLst>
                </p:cNvPr>
                <p:cNvSpPr txBox="1"/>
                <p:nvPr/>
              </p:nvSpPr>
              <p:spPr>
                <a:xfrm>
                  <a:off x="5232432" y="3825627"/>
                  <a:ext cx="526264" cy="373564"/>
                </a:xfrm>
                <a:prstGeom prst="rect">
                  <a:avLst/>
                </a:prstGeom>
                <a:noFill/>
              </p:spPr>
              <p:txBody>
                <a:bodyPr wrap="square" lIns="0" tIns="0" rIns="0" bIns="0" rtlCol="0">
                  <a:spAutoFit/>
                </a:bodyPr>
                <a:lstStyle/>
                <a:p>
                  <a:pPr/>
                  <a14:m>
                    <m:oMathPara xmlns:m="http://schemas.openxmlformats.org/officeDocument/2006/math">
                      <m:oMath>
                        <m:sSubSup>
                          <m:sSubSupPr>
                            <m:ctrlPr>
                              <a:rPr lang="en-GB" sz="2400" b="0" i="1" smtClean="0">
                                <a:latin typeface="Cambria Math" panose="02040503050406030204" pitchFamily="18" charset="0"/>
                              </a:rPr>
                            </m:ctrlPr>
                          </m:sSubSupPr>
                          <m:e>
                            <m:r>
                              <a:rPr lang="en-GB" sz="2400" b="0" i="1" smtClean="0">
                                <a:latin typeface="Cambria Math" panose="02040503050406030204" pitchFamily="18" charset="0"/>
                              </a:rPr>
                              <m:t>𝑎</m:t>
                            </m:r>
                          </m:e>
                          <m:sub>
                            <m:r>
                              <a:rPr lang="en-BE" sz="2400" b="0" i="1" smtClean="0">
                                <a:latin typeface="Cambria Math" panose="02040503050406030204" pitchFamily="18" charset="0"/>
                              </a:rPr>
                              <m:t>2</m:t>
                            </m:r>
                          </m:sub>
                          <m:sup>
                            <m:r>
                              <a:rPr lang="en-GB" sz="2400" b="0" i="1" smtClean="0">
                                <a:latin typeface="Cambria Math" panose="02040503050406030204" pitchFamily="18" charset="0"/>
                              </a:rPr>
                              <m:t>1</m:t>
                            </m:r>
                          </m:sup>
                        </m:sSubSup>
                      </m:oMath>
                    </m:oMathPara>
                  </a14:m>
                  <a:endParaRPr lang="en-GB" sz="2400" b="0"/>
                </a:p>
              </p:txBody>
            </p:sp>
          </mc:Choice>
          <mc:Fallback xmlns="">
            <p:sp>
              <p:nvSpPr>
                <p:cNvPr id="45" name="TextBox 44">
                  <a:extLst>
                    <a:ext uri="{FF2B5EF4-FFF2-40B4-BE49-F238E27FC236}">
                      <a16:creationId xmlns:a16="http://schemas.microsoft.com/office/drawing/2014/main" id="{F0EDFF59-D224-FA49-6201-6CFC4F092530}"/>
                    </a:ext>
                  </a:extLst>
                </p:cNvPr>
                <p:cNvSpPr txBox="1">
                  <a:spLocks noRot="1" noChangeAspect="1" noMove="1" noResize="1" noEditPoints="1" noAdjustHandles="1" noChangeArrowheads="1" noChangeShapeType="1" noTextEdit="1"/>
                </p:cNvSpPr>
                <p:nvPr/>
              </p:nvSpPr>
              <p:spPr>
                <a:xfrm>
                  <a:off x="5232432" y="3825627"/>
                  <a:ext cx="526264" cy="373564"/>
                </a:xfrm>
                <a:prstGeom prst="rect">
                  <a:avLst/>
                </a:prstGeom>
                <a:blipFill>
                  <a:blip r:embed="rId10"/>
                  <a:stretch>
                    <a:fillRect t="-24590" r="-29885" b="-4918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DC289F7-8EFF-AAFB-FA06-6237D0AA3104}"/>
                    </a:ext>
                  </a:extLst>
                </p:cNvPr>
                <p:cNvSpPr txBox="1"/>
                <p:nvPr/>
              </p:nvSpPr>
              <p:spPr>
                <a:xfrm>
                  <a:off x="5225506" y="4683323"/>
                  <a:ext cx="526264" cy="373564"/>
                </a:xfrm>
                <a:prstGeom prst="rect">
                  <a:avLst/>
                </a:prstGeom>
                <a:noFill/>
              </p:spPr>
              <p:txBody>
                <a:bodyPr wrap="square" lIns="0" tIns="0" rIns="0" bIns="0" rtlCol="0">
                  <a:spAutoFit/>
                </a:bodyPr>
                <a:lstStyle/>
                <a:p>
                  <a:pPr/>
                  <a14:m>
                    <m:oMathPara xmlns:m="http://schemas.openxmlformats.org/officeDocument/2006/math">
                      <m:oMath>
                        <m:sSubSup>
                          <m:sSubSupPr>
                            <m:ctrlPr>
                              <a:rPr lang="en-GB" sz="2400" b="0" i="1" smtClean="0">
                                <a:latin typeface="Cambria Math" panose="02040503050406030204" pitchFamily="18" charset="0"/>
                              </a:rPr>
                            </m:ctrlPr>
                          </m:sSubSupPr>
                          <m:e>
                            <m:r>
                              <a:rPr lang="en-GB" sz="2400" b="0" i="1" smtClean="0">
                                <a:latin typeface="Cambria Math" panose="02040503050406030204" pitchFamily="18" charset="0"/>
                              </a:rPr>
                              <m:t>𝑎</m:t>
                            </m:r>
                          </m:e>
                          <m:sub>
                            <m:r>
                              <a:rPr lang="en-BE" sz="2400" b="0" i="1" smtClean="0">
                                <a:latin typeface="Cambria Math" panose="02040503050406030204" pitchFamily="18" charset="0"/>
                              </a:rPr>
                              <m:t>3</m:t>
                            </m:r>
                          </m:sub>
                          <m:sup>
                            <m:r>
                              <a:rPr lang="en-GB" sz="2400" b="0" i="1" smtClean="0">
                                <a:latin typeface="Cambria Math" panose="02040503050406030204" pitchFamily="18" charset="0"/>
                              </a:rPr>
                              <m:t>1</m:t>
                            </m:r>
                          </m:sup>
                        </m:sSubSup>
                      </m:oMath>
                    </m:oMathPara>
                  </a14:m>
                  <a:endParaRPr lang="en-GB" sz="2400" b="0"/>
                </a:p>
              </p:txBody>
            </p:sp>
          </mc:Choice>
          <mc:Fallback xmlns="">
            <p:sp>
              <p:nvSpPr>
                <p:cNvPr id="46" name="TextBox 45">
                  <a:extLst>
                    <a:ext uri="{FF2B5EF4-FFF2-40B4-BE49-F238E27FC236}">
                      <a16:creationId xmlns:a16="http://schemas.microsoft.com/office/drawing/2014/main" id="{5DC289F7-8EFF-AAFB-FA06-6237D0AA3104}"/>
                    </a:ext>
                  </a:extLst>
                </p:cNvPr>
                <p:cNvSpPr txBox="1">
                  <a:spLocks noRot="1" noChangeAspect="1" noMove="1" noResize="1" noEditPoints="1" noAdjustHandles="1" noChangeArrowheads="1" noChangeShapeType="1" noTextEdit="1"/>
                </p:cNvSpPr>
                <p:nvPr/>
              </p:nvSpPr>
              <p:spPr>
                <a:xfrm>
                  <a:off x="5225506" y="4683323"/>
                  <a:ext cx="526264" cy="373564"/>
                </a:xfrm>
                <a:prstGeom prst="rect">
                  <a:avLst/>
                </a:prstGeom>
                <a:blipFill>
                  <a:blip r:embed="rId11"/>
                  <a:stretch>
                    <a:fillRect t="-22581" r="-29885" b="-48387"/>
                  </a:stretch>
                </a:blipFill>
              </p:spPr>
              <p:txBody>
                <a:bodyPr/>
                <a:lstStyle/>
                <a:p>
                  <a:r>
                    <a:rPr lang="en-US">
                      <a:noFill/>
                    </a:rPr>
                    <a:t> </a:t>
                  </a:r>
                </a:p>
              </p:txBody>
            </p:sp>
          </mc:Fallback>
        </mc:AlternateContent>
        <p:sp>
          <p:nvSpPr>
            <p:cNvPr id="4" name="Oval 3">
              <a:extLst>
                <a:ext uri="{FF2B5EF4-FFF2-40B4-BE49-F238E27FC236}">
                  <a16:creationId xmlns:a16="http://schemas.microsoft.com/office/drawing/2014/main" id="{D86AE20D-1E47-06C1-5872-526F40FAA6F1}"/>
                </a:ext>
              </a:extLst>
            </p:cNvPr>
            <p:cNvSpPr/>
            <p:nvPr/>
          </p:nvSpPr>
          <p:spPr>
            <a:xfrm>
              <a:off x="5200019" y="2000577"/>
              <a:ext cx="649966" cy="64996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ln>
                  <a:solidFill>
                    <a:schemeClr val="tx1"/>
                  </a:solidFill>
                </a:ln>
                <a:noFill/>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57299DB2-5835-68D4-5828-FE387B58F4AD}"/>
                    </a:ext>
                  </a:extLst>
                </p:cNvPr>
                <p:cNvSpPr txBox="1"/>
                <p:nvPr/>
              </p:nvSpPr>
              <p:spPr>
                <a:xfrm>
                  <a:off x="5248930" y="2134684"/>
                  <a:ext cx="526264" cy="372859"/>
                </a:xfrm>
                <a:prstGeom prst="rect">
                  <a:avLst/>
                </a:prstGeom>
                <a:noFill/>
              </p:spPr>
              <p:txBody>
                <a:bodyPr wrap="square" lIns="0" tIns="0" rIns="0" bIns="0" rtlCol="0">
                  <a:spAutoFit/>
                </a:bodyPr>
                <a:lstStyle/>
                <a:p>
                  <a:pPr/>
                  <a14:m>
                    <m:oMathPara xmlns:m="http://schemas.openxmlformats.org/officeDocument/2006/math">
                      <m:oMath>
                        <m:sSubSup>
                          <m:sSubSupPr>
                            <m:ctrlPr>
                              <a:rPr lang="en-GB" sz="2400" b="0" i="1" smtClean="0">
                                <a:latin typeface="Cambria Math" panose="02040503050406030204" pitchFamily="18" charset="0"/>
                              </a:rPr>
                            </m:ctrlPr>
                          </m:sSubSupPr>
                          <m:e>
                            <m:r>
                              <a:rPr lang="en-GB" sz="2400" b="0" i="1" smtClean="0">
                                <a:latin typeface="Cambria Math" panose="02040503050406030204" pitchFamily="18" charset="0"/>
                              </a:rPr>
                              <m:t>𝑎</m:t>
                            </m:r>
                          </m:e>
                          <m:sub>
                            <m:r>
                              <a:rPr lang="en-BE" sz="2400" b="0" i="1" smtClean="0">
                                <a:latin typeface="Cambria Math" panose="02040503050406030204" pitchFamily="18" charset="0"/>
                              </a:rPr>
                              <m:t>0</m:t>
                            </m:r>
                          </m:sub>
                          <m:sup>
                            <m:r>
                              <a:rPr lang="en-GB" sz="2400" b="0" i="1" smtClean="0">
                                <a:latin typeface="Cambria Math" panose="02040503050406030204" pitchFamily="18" charset="0"/>
                              </a:rPr>
                              <m:t>1</m:t>
                            </m:r>
                          </m:sup>
                        </m:sSubSup>
                      </m:oMath>
                    </m:oMathPara>
                  </a14:m>
                  <a:endParaRPr lang="en-GB" sz="2400" b="0"/>
                </a:p>
              </p:txBody>
            </p:sp>
          </mc:Choice>
          <mc:Fallback xmlns="">
            <p:sp>
              <p:nvSpPr>
                <p:cNvPr id="22" name="TextBox 21">
                  <a:extLst>
                    <a:ext uri="{FF2B5EF4-FFF2-40B4-BE49-F238E27FC236}">
                      <a16:creationId xmlns:a16="http://schemas.microsoft.com/office/drawing/2014/main" id="{57299DB2-5835-68D4-5828-FE387B58F4AD}"/>
                    </a:ext>
                  </a:extLst>
                </p:cNvPr>
                <p:cNvSpPr txBox="1">
                  <a:spLocks noRot="1" noChangeAspect="1" noMove="1" noResize="1" noEditPoints="1" noAdjustHandles="1" noChangeArrowheads="1" noChangeShapeType="1" noTextEdit="1"/>
                </p:cNvSpPr>
                <p:nvPr/>
              </p:nvSpPr>
              <p:spPr>
                <a:xfrm>
                  <a:off x="5248930" y="2134684"/>
                  <a:ext cx="526264" cy="372859"/>
                </a:xfrm>
                <a:prstGeom prst="rect">
                  <a:avLst/>
                </a:prstGeom>
                <a:blipFill>
                  <a:blip r:embed="rId12"/>
                  <a:stretch>
                    <a:fillRect t="-22951" r="-31395" b="-50820"/>
                  </a:stretch>
                </a:blipFill>
              </p:spPr>
              <p:txBody>
                <a:bodyPr/>
                <a:lstStyle/>
                <a:p>
                  <a:r>
                    <a:rPr lang="en-US">
                      <a:noFill/>
                    </a:rPr>
                    <a:t> </a:t>
                  </a:r>
                </a:p>
              </p:txBody>
            </p:sp>
          </mc:Fallback>
        </mc:AlternateContent>
      </p:grpSp>
      <p:sp>
        <p:nvSpPr>
          <p:cNvPr id="50" name="TextBox 49">
            <a:extLst>
              <a:ext uri="{FF2B5EF4-FFF2-40B4-BE49-F238E27FC236}">
                <a16:creationId xmlns:a16="http://schemas.microsoft.com/office/drawing/2014/main" id="{A8E9595E-6BA4-3D37-9CAE-EB233C058031}"/>
              </a:ext>
            </a:extLst>
          </p:cNvPr>
          <p:cNvSpPr txBox="1"/>
          <p:nvPr/>
        </p:nvSpPr>
        <p:spPr>
          <a:xfrm>
            <a:off x="1848678" y="5797823"/>
            <a:ext cx="2017508" cy="369332"/>
          </a:xfrm>
          <a:prstGeom prst="rect">
            <a:avLst/>
          </a:prstGeom>
          <a:noFill/>
        </p:spPr>
        <p:txBody>
          <a:bodyPr wrap="square" rtlCol="0">
            <a:spAutoFit/>
          </a:bodyPr>
          <a:lstStyle/>
          <a:p>
            <a:pPr algn="ctr"/>
            <a:r>
              <a:rPr lang="en-US" i="1"/>
              <a:t>features</a:t>
            </a:r>
            <a:endParaRPr lang="en-BE" i="1"/>
          </a:p>
        </p:txBody>
      </p:sp>
      <p:sp>
        <p:nvSpPr>
          <p:cNvPr id="51" name="TextBox 50">
            <a:extLst>
              <a:ext uri="{FF2B5EF4-FFF2-40B4-BE49-F238E27FC236}">
                <a16:creationId xmlns:a16="http://schemas.microsoft.com/office/drawing/2014/main" id="{1EE0D6F5-7443-A358-2935-8BBE5B423ABE}"/>
              </a:ext>
            </a:extLst>
          </p:cNvPr>
          <p:cNvSpPr txBox="1"/>
          <p:nvPr/>
        </p:nvSpPr>
        <p:spPr>
          <a:xfrm>
            <a:off x="4486810" y="5797383"/>
            <a:ext cx="2017508" cy="369332"/>
          </a:xfrm>
          <a:prstGeom prst="rect">
            <a:avLst/>
          </a:prstGeom>
          <a:noFill/>
        </p:spPr>
        <p:txBody>
          <a:bodyPr wrap="square" rtlCol="0">
            <a:spAutoFit/>
          </a:bodyPr>
          <a:lstStyle/>
          <a:p>
            <a:pPr algn="ctr"/>
            <a:r>
              <a:rPr lang="en-US" i="1"/>
              <a:t>hidden layer(s)</a:t>
            </a:r>
            <a:endParaRPr lang="en-BE" i="1"/>
          </a:p>
        </p:txBody>
      </p:sp>
      <p:sp>
        <p:nvSpPr>
          <p:cNvPr id="52" name="TextBox 51">
            <a:extLst>
              <a:ext uri="{FF2B5EF4-FFF2-40B4-BE49-F238E27FC236}">
                <a16:creationId xmlns:a16="http://schemas.microsoft.com/office/drawing/2014/main" id="{C0841212-222F-C6D8-E3AA-8E824CD043E0}"/>
              </a:ext>
            </a:extLst>
          </p:cNvPr>
          <p:cNvSpPr txBox="1"/>
          <p:nvPr/>
        </p:nvSpPr>
        <p:spPr>
          <a:xfrm>
            <a:off x="7075251" y="5797383"/>
            <a:ext cx="2017508" cy="369332"/>
          </a:xfrm>
          <a:prstGeom prst="rect">
            <a:avLst/>
          </a:prstGeom>
          <a:noFill/>
        </p:spPr>
        <p:txBody>
          <a:bodyPr wrap="square" rtlCol="0">
            <a:spAutoFit/>
          </a:bodyPr>
          <a:lstStyle/>
          <a:p>
            <a:pPr algn="ctr"/>
            <a:r>
              <a:rPr lang="en-US" i="1"/>
              <a:t>output layer</a:t>
            </a:r>
            <a:endParaRPr lang="en-BE" i="1"/>
          </a:p>
        </p:txBody>
      </p:sp>
      <p:sp>
        <p:nvSpPr>
          <p:cNvPr id="65" name="Title 64">
            <a:extLst>
              <a:ext uri="{FF2B5EF4-FFF2-40B4-BE49-F238E27FC236}">
                <a16:creationId xmlns:a16="http://schemas.microsoft.com/office/drawing/2014/main" id="{77D97064-A071-1C50-1775-35F09D99D2B6}"/>
              </a:ext>
            </a:extLst>
          </p:cNvPr>
          <p:cNvSpPr>
            <a:spLocks noGrp="1"/>
          </p:cNvSpPr>
          <p:nvPr>
            <p:ph type="title"/>
          </p:nvPr>
        </p:nvSpPr>
        <p:spPr/>
        <p:txBody>
          <a:bodyPr/>
          <a:lstStyle/>
          <a:p>
            <a:r>
              <a:rPr lang="en-GB"/>
              <a:t>A neural network is simply a layered stack of regression models</a:t>
            </a:r>
            <a:endParaRPr lang="en-BE"/>
          </a:p>
        </p:txBody>
      </p:sp>
      <p:sp>
        <p:nvSpPr>
          <p:cNvPr id="66" name="Content Placeholder 65">
            <a:extLst>
              <a:ext uri="{FF2B5EF4-FFF2-40B4-BE49-F238E27FC236}">
                <a16:creationId xmlns:a16="http://schemas.microsoft.com/office/drawing/2014/main" id="{1A4D920E-3923-35BB-B8E1-94A2E281EC3A}"/>
              </a:ext>
            </a:extLst>
          </p:cNvPr>
          <p:cNvSpPr>
            <a:spLocks noGrp="1"/>
          </p:cNvSpPr>
          <p:nvPr>
            <p:ph idx="1"/>
          </p:nvPr>
        </p:nvSpPr>
        <p:spPr/>
        <p:txBody>
          <a:bodyPr/>
          <a:lstStyle/>
          <a:p>
            <a:pPr marL="0" indent="0">
              <a:buNone/>
            </a:pPr>
            <a:r>
              <a:rPr lang="en-US"/>
              <a:t>The features for each node (a regression model) are the output from the nodes in the previous layer</a:t>
            </a:r>
            <a:endParaRPr lang="en-BE"/>
          </a:p>
        </p:txBody>
      </p:sp>
      <p:sp>
        <p:nvSpPr>
          <p:cNvPr id="42" name="Slide Number Placeholder 3">
            <a:extLst>
              <a:ext uri="{FF2B5EF4-FFF2-40B4-BE49-F238E27FC236}">
                <a16:creationId xmlns:a16="http://schemas.microsoft.com/office/drawing/2014/main" id="{F680C8EB-49C6-131D-953C-A09DD3DDBC12}"/>
              </a:ext>
            </a:extLst>
          </p:cNvPr>
          <p:cNvSpPr>
            <a:spLocks noGrp="1"/>
          </p:cNvSpPr>
          <p:nvPr>
            <p:ph type="sldNum" sz="quarter" idx="12"/>
          </p:nvPr>
        </p:nvSpPr>
        <p:spPr>
          <a:xfrm>
            <a:off x="10684933" y="6459767"/>
            <a:ext cx="1073434" cy="261708"/>
          </a:xfrm>
        </p:spPr>
        <p:txBody>
          <a:bodyPr/>
          <a:lstStyle/>
          <a:p>
            <a:fld id="{94B3E216-A3C5-4E41-AE94-D003E76F1D3A}" type="slidenum">
              <a:rPr lang="en-US" smtClean="0"/>
              <a:pPr/>
              <a:t>5</a:t>
            </a:fld>
            <a:endParaRPr lang="en-US"/>
          </a:p>
        </p:txBody>
      </p:sp>
    </p:spTree>
    <p:extLst>
      <p:ext uri="{BB962C8B-B14F-4D97-AF65-F5344CB8AC3E}">
        <p14:creationId xmlns:p14="http://schemas.microsoft.com/office/powerpoint/2010/main" val="36849699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B3D4F2-241E-E8A5-B31B-2383B1D5BCEC}"/>
            </a:ext>
          </a:extLst>
        </p:cNvPr>
        <p:cNvGrpSpPr/>
        <p:nvPr/>
      </p:nvGrpSpPr>
      <p:grpSpPr>
        <a:xfrm>
          <a:off x="0" y="0"/>
          <a:ext cx="0" cy="0"/>
          <a:chOff x="0" y="0"/>
          <a:chExt cx="0" cy="0"/>
        </a:xfrm>
      </p:grpSpPr>
      <p:sp>
        <p:nvSpPr>
          <p:cNvPr id="43" name="Title 42">
            <a:extLst>
              <a:ext uri="{FF2B5EF4-FFF2-40B4-BE49-F238E27FC236}">
                <a16:creationId xmlns:a16="http://schemas.microsoft.com/office/drawing/2014/main" id="{F6EF28BD-E8BA-2476-60B8-CDDE3F47C7D0}"/>
              </a:ext>
            </a:extLst>
          </p:cNvPr>
          <p:cNvSpPr>
            <a:spLocks noGrp="1"/>
          </p:cNvSpPr>
          <p:nvPr>
            <p:ph type="title"/>
          </p:nvPr>
        </p:nvSpPr>
        <p:spPr>
          <a:xfrm>
            <a:off x="453511" y="365125"/>
            <a:ext cx="11324734" cy="418128"/>
          </a:xfrm>
        </p:spPr>
        <p:txBody>
          <a:bodyPr/>
          <a:lstStyle/>
          <a:p>
            <a:r>
              <a:rPr lang="en-GB"/>
              <a:t>A neural network is simply layered stacks of logistic regressions</a:t>
            </a:r>
            <a:endParaRPr lang="en-BE" i="1"/>
          </a:p>
        </p:txBody>
      </p:sp>
      <p:pic>
        <p:nvPicPr>
          <p:cNvPr id="3" name="Picture 2">
            <a:hlinkClick r:id="rId3"/>
            <a:extLst>
              <a:ext uri="{FF2B5EF4-FFF2-40B4-BE49-F238E27FC236}">
                <a16:creationId xmlns:a16="http://schemas.microsoft.com/office/drawing/2014/main" id="{4D1A05E5-FB35-5282-B369-3EFA6A826004}"/>
              </a:ext>
            </a:extLst>
          </p:cNvPr>
          <p:cNvPicPr>
            <a:picLocks noChangeAspect="1"/>
          </p:cNvPicPr>
          <p:nvPr/>
        </p:nvPicPr>
        <p:blipFill>
          <a:blip r:embed="rId4"/>
          <a:stretch>
            <a:fillRect/>
          </a:stretch>
        </p:blipFill>
        <p:spPr>
          <a:xfrm>
            <a:off x="2246243" y="1357694"/>
            <a:ext cx="7699514" cy="4950996"/>
          </a:xfrm>
          <a:prstGeom prst="rect">
            <a:avLst/>
          </a:prstGeom>
        </p:spPr>
      </p:pic>
      <p:sp>
        <p:nvSpPr>
          <p:cNvPr id="4" name="Footer Placeholder 2">
            <a:extLst>
              <a:ext uri="{FF2B5EF4-FFF2-40B4-BE49-F238E27FC236}">
                <a16:creationId xmlns:a16="http://schemas.microsoft.com/office/drawing/2014/main" id="{8DAD57D3-E45A-2CBB-24B0-11F7074132FF}"/>
              </a:ext>
            </a:extLst>
          </p:cNvPr>
          <p:cNvSpPr>
            <a:spLocks noGrp="1"/>
          </p:cNvSpPr>
          <p:nvPr>
            <p:ph type="ftr" sz="quarter" idx="11"/>
          </p:nvPr>
        </p:nvSpPr>
        <p:spPr>
          <a:xfrm>
            <a:off x="433633" y="6459767"/>
            <a:ext cx="10138411" cy="261708"/>
          </a:xfrm>
        </p:spPr>
        <p:txBody>
          <a:bodyPr/>
          <a:lstStyle/>
          <a:p>
            <a:r>
              <a:rPr lang="en-US"/>
              <a:t>https://playground.tensorflow.org</a:t>
            </a:r>
          </a:p>
        </p:txBody>
      </p:sp>
      <p:sp>
        <p:nvSpPr>
          <p:cNvPr id="5" name="Slide Number Placeholder 3">
            <a:extLst>
              <a:ext uri="{FF2B5EF4-FFF2-40B4-BE49-F238E27FC236}">
                <a16:creationId xmlns:a16="http://schemas.microsoft.com/office/drawing/2014/main" id="{C7FBE7B7-C201-A268-2F3D-2893595235DD}"/>
              </a:ext>
            </a:extLst>
          </p:cNvPr>
          <p:cNvSpPr>
            <a:spLocks noGrp="1"/>
          </p:cNvSpPr>
          <p:nvPr>
            <p:ph type="sldNum" sz="quarter" idx="12"/>
          </p:nvPr>
        </p:nvSpPr>
        <p:spPr>
          <a:xfrm>
            <a:off x="10684933" y="6459767"/>
            <a:ext cx="1073434" cy="261708"/>
          </a:xfrm>
        </p:spPr>
        <p:txBody>
          <a:bodyPr/>
          <a:lstStyle/>
          <a:p>
            <a:fld id="{94B3E216-A3C5-4E41-AE94-D003E76F1D3A}" type="slidenum">
              <a:rPr lang="en-US" smtClean="0"/>
              <a:pPr/>
              <a:t>6</a:t>
            </a:fld>
            <a:endParaRPr lang="en-US"/>
          </a:p>
        </p:txBody>
      </p:sp>
    </p:spTree>
    <p:extLst>
      <p:ext uri="{BB962C8B-B14F-4D97-AF65-F5344CB8AC3E}">
        <p14:creationId xmlns:p14="http://schemas.microsoft.com/office/powerpoint/2010/main" val="20083251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val 13">
            <a:extLst>
              <a:ext uri="{FF2B5EF4-FFF2-40B4-BE49-F238E27FC236}">
                <a16:creationId xmlns:a16="http://schemas.microsoft.com/office/drawing/2014/main" id="{454984B3-ADC9-2237-4EFD-93955A545128}"/>
              </a:ext>
            </a:extLst>
          </p:cNvPr>
          <p:cNvSpPr/>
          <p:nvPr/>
        </p:nvSpPr>
        <p:spPr>
          <a:xfrm>
            <a:off x="1050664" y="1819774"/>
            <a:ext cx="649966" cy="64996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ln>
                <a:solidFill>
                  <a:schemeClr val="tx1"/>
                </a:solidFill>
              </a:ln>
              <a:noFill/>
            </a:endParaRPr>
          </a:p>
        </p:txBody>
      </p:sp>
      <p:sp>
        <p:nvSpPr>
          <p:cNvPr id="16" name="Oval 15">
            <a:extLst>
              <a:ext uri="{FF2B5EF4-FFF2-40B4-BE49-F238E27FC236}">
                <a16:creationId xmlns:a16="http://schemas.microsoft.com/office/drawing/2014/main" id="{27EA0360-5424-63F1-64EB-14ECBB857A65}"/>
              </a:ext>
            </a:extLst>
          </p:cNvPr>
          <p:cNvSpPr/>
          <p:nvPr/>
        </p:nvSpPr>
        <p:spPr>
          <a:xfrm>
            <a:off x="1062117" y="2677864"/>
            <a:ext cx="649966" cy="64996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ln>
                <a:solidFill>
                  <a:schemeClr val="tx1"/>
                </a:solidFill>
              </a:ln>
              <a:noFill/>
            </a:endParaRPr>
          </a:p>
        </p:txBody>
      </p:sp>
      <p:sp>
        <p:nvSpPr>
          <p:cNvPr id="17" name="Oval 16">
            <a:extLst>
              <a:ext uri="{FF2B5EF4-FFF2-40B4-BE49-F238E27FC236}">
                <a16:creationId xmlns:a16="http://schemas.microsoft.com/office/drawing/2014/main" id="{1A667574-26DF-B73B-A17C-7C011E451A7C}"/>
              </a:ext>
            </a:extLst>
          </p:cNvPr>
          <p:cNvSpPr/>
          <p:nvPr/>
        </p:nvSpPr>
        <p:spPr>
          <a:xfrm>
            <a:off x="1062117" y="3530988"/>
            <a:ext cx="649966" cy="64996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ln>
                <a:solidFill>
                  <a:schemeClr val="tx1"/>
                </a:solidFill>
              </a:ln>
              <a:noFill/>
            </a:endParaRPr>
          </a:p>
        </p:txBody>
      </p:sp>
      <p:sp>
        <p:nvSpPr>
          <p:cNvPr id="18" name="Oval 17">
            <a:extLst>
              <a:ext uri="{FF2B5EF4-FFF2-40B4-BE49-F238E27FC236}">
                <a16:creationId xmlns:a16="http://schemas.microsoft.com/office/drawing/2014/main" id="{EE887998-1D96-CCE4-3883-42CF361A6F94}"/>
              </a:ext>
            </a:extLst>
          </p:cNvPr>
          <p:cNvSpPr/>
          <p:nvPr/>
        </p:nvSpPr>
        <p:spPr>
          <a:xfrm>
            <a:off x="1050664" y="4384112"/>
            <a:ext cx="649966" cy="64996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ln>
                <a:solidFill>
                  <a:schemeClr val="tx1"/>
                </a:solidFill>
              </a:ln>
              <a:noFill/>
            </a:endParaRPr>
          </a:p>
        </p:txBody>
      </p:sp>
      <p:cxnSp>
        <p:nvCxnSpPr>
          <p:cNvPr id="23" name="Straight Arrow Connector 22">
            <a:extLst>
              <a:ext uri="{FF2B5EF4-FFF2-40B4-BE49-F238E27FC236}">
                <a16:creationId xmlns:a16="http://schemas.microsoft.com/office/drawing/2014/main" id="{73376E35-B4B7-249C-43A2-15D53F7F9832}"/>
              </a:ext>
            </a:extLst>
          </p:cNvPr>
          <p:cNvCxnSpPr>
            <a:stCxn id="14" idx="6"/>
            <a:endCxn id="9" idx="2"/>
          </p:cNvCxnSpPr>
          <p:nvPr/>
        </p:nvCxnSpPr>
        <p:spPr>
          <a:xfrm>
            <a:off x="1700630" y="2144757"/>
            <a:ext cx="2017508" cy="858090"/>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C6BB5693-6CDF-621A-6A0F-656DFCF751CE}"/>
              </a:ext>
            </a:extLst>
          </p:cNvPr>
          <p:cNvCxnSpPr>
            <a:stCxn id="14" idx="6"/>
            <a:endCxn id="12" idx="2"/>
          </p:cNvCxnSpPr>
          <p:nvPr/>
        </p:nvCxnSpPr>
        <p:spPr>
          <a:xfrm>
            <a:off x="1700630" y="2144757"/>
            <a:ext cx="2017508" cy="1711214"/>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3BA704F4-1C13-9BE9-44B4-F6F921F27C1F}"/>
              </a:ext>
            </a:extLst>
          </p:cNvPr>
          <p:cNvCxnSpPr>
            <a:stCxn id="14" idx="6"/>
            <a:endCxn id="13" idx="2"/>
          </p:cNvCxnSpPr>
          <p:nvPr/>
        </p:nvCxnSpPr>
        <p:spPr>
          <a:xfrm>
            <a:off x="1700630" y="2144757"/>
            <a:ext cx="2006055" cy="2564338"/>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F251449F-4D56-1F11-6E47-01471CD2CAA9}"/>
              </a:ext>
            </a:extLst>
          </p:cNvPr>
          <p:cNvCxnSpPr>
            <a:stCxn id="16" idx="6"/>
            <a:endCxn id="9" idx="2"/>
          </p:cNvCxnSpPr>
          <p:nvPr/>
        </p:nvCxnSpPr>
        <p:spPr>
          <a:xfrm>
            <a:off x="1712083" y="3002847"/>
            <a:ext cx="2006055" cy="0"/>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F558CF0A-CAC6-CF3F-0939-D872D115D77F}"/>
              </a:ext>
            </a:extLst>
          </p:cNvPr>
          <p:cNvCxnSpPr>
            <a:stCxn id="16" idx="6"/>
            <a:endCxn id="12" idx="2"/>
          </p:cNvCxnSpPr>
          <p:nvPr/>
        </p:nvCxnSpPr>
        <p:spPr>
          <a:xfrm>
            <a:off x="1712083" y="3002847"/>
            <a:ext cx="2006055" cy="853124"/>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FD627221-A92A-A9A6-6805-65E3A96F1872}"/>
              </a:ext>
            </a:extLst>
          </p:cNvPr>
          <p:cNvCxnSpPr>
            <a:stCxn id="16" idx="6"/>
            <a:endCxn id="13" idx="2"/>
          </p:cNvCxnSpPr>
          <p:nvPr/>
        </p:nvCxnSpPr>
        <p:spPr>
          <a:xfrm>
            <a:off x="1712083" y="3002847"/>
            <a:ext cx="1994602" cy="1706248"/>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AB74FF88-F14C-EFE1-C9A3-3A7594C334B9}"/>
              </a:ext>
            </a:extLst>
          </p:cNvPr>
          <p:cNvCxnSpPr>
            <a:stCxn id="17" idx="6"/>
            <a:endCxn id="9" idx="2"/>
          </p:cNvCxnSpPr>
          <p:nvPr/>
        </p:nvCxnSpPr>
        <p:spPr>
          <a:xfrm flipV="1">
            <a:off x="1712083" y="3002847"/>
            <a:ext cx="2006055" cy="853124"/>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62B715CC-2E18-0FDA-4FAC-C8FEA2B64897}"/>
              </a:ext>
            </a:extLst>
          </p:cNvPr>
          <p:cNvCxnSpPr>
            <a:stCxn id="17" idx="6"/>
            <a:endCxn id="12" idx="2"/>
          </p:cNvCxnSpPr>
          <p:nvPr/>
        </p:nvCxnSpPr>
        <p:spPr>
          <a:xfrm>
            <a:off x="1712083" y="3855971"/>
            <a:ext cx="2006055" cy="0"/>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5296C71F-ECCA-78A3-0492-58852EBE1CB7}"/>
              </a:ext>
            </a:extLst>
          </p:cNvPr>
          <p:cNvCxnSpPr>
            <a:stCxn id="17" idx="6"/>
            <a:endCxn id="13" idx="2"/>
          </p:cNvCxnSpPr>
          <p:nvPr/>
        </p:nvCxnSpPr>
        <p:spPr>
          <a:xfrm>
            <a:off x="1712083" y="3855971"/>
            <a:ext cx="1994602" cy="853124"/>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4C045294-F9D8-BFE1-AB35-B04E80B7BEE9}"/>
              </a:ext>
            </a:extLst>
          </p:cNvPr>
          <p:cNvCxnSpPr>
            <a:stCxn id="18" idx="6"/>
            <a:endCxn id="9" idx="2"/>
          </p:cNvCxnSpPr>
          <p:nvPr/>
        </p:nvCxnSpPr>
        <p:spPr>
          <a:xfrm flipV="1">
            <a:off x="1700630" y="3002847"/>
            <a:ext cx="2017508" cy="1706248"/>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EF7FFD75-72EB-7370-0B17-F788309BA06C}"/>
              </a:ext>
            </a:extLst>
          </p:cNvPr>
          <p:cNvCxnSpPr>
            <a:stCxn id="18" idx="6"/>
            <a:endCxn id="12" idx="2"/>
          </p:cNvCxnSpPr>
          <p:nvPr/>
        </p:nvCxnSpPr>
        <p:spPr>
          <a:xfrm flipV="1">
            <a:off x="1700630" y="3855971"/>
            <a:ext cx="2017508" cy="853124"/>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0BD1AEC9-E6DA-469F-460B-3B36BEC2699A}"/>
              </a:ext>
            </a:extLst>
          </p:cNvPr>
          <p:cNvCxnSpPr>
            <a:stCxn id="18" idx="6"/>
            <a:endCxn id="13" idx="2"/>
          </p:cNvCxnSpPr>
          <p:nvPr/>
        </p:nvCxnSpPr>
        <p:spPr>
          <a:xfrm>
            <a:off x="1700630" y="4709095"/>
            <a:ext cx="2006055" cy="0"/>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7B8E9020-5802-0A83-2206-D42684EEAE78}"/>
                  </a:ext>
                </a:extLst>
              </p:cNvPr>
              <p:cNvSpPr txBox="1"/>
              <p:nvPr/>
            </p:nvSpPr>
            <p:spPr>
              <a:xfrm>
                <a:off x="1117042" y="1910513"/>
                <a:ext cx="599125" cy="369332"/>
              </a:xfrm>
              <a:prstGeom prst="rect">
                <a:avLst/>
              </a:prstGeom>
              <a:noFill/>
            </p:spPr>
            <p:txBody>
              <a:bodyPr wrap="square" lIns="0" tIns="0" rIns="0" bIns="0" rtlCol="0">
                <a:spAutoFit/>
              </a:bodyPr>
              <a:lstStyle/>
              <a:p>
                <a:pPr/>
                <a14:m>
                  <m:oMathPara xmlns:m="http://schemas.openxmlformats.org/officeDocument/2006/math">
                    <m:oMath>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𝑥</m:t>
                          </m:r>
                        </m:e>
                        <m:sub>
                          <m:r>
                            <a:rPr lang="en-GB" sz="2400" b="0" i="1" smtClean="0">
                              <a:latin typeface="Cambria Math" panose="02040503050406030204" pitchFamily="18" charset="0"/>
                            </a:rPr>
                            <m:t>0</m:t>
                          </m:r>
                        </m:sub>
                      </m:sSub>
                    </m:oMath>
                  </m:oMathPara>
                </a14:m>
                <a:endParaRPr lang="en-GB" b="0"/>
              </a:p>
            </p:txBody>
          </p:sp>
        </mc:Choice>
        <mc:Fallback xmlns="">
          <p:sp>
            <p:nvSpPr>
              <p:cNvPr id="3" name="TextBox 2">
                <a:extLst>
                  <a:ext uri="{FF2B5EF4-FFF2-40B4-BE49-F238E27FC236}">
                    <a16:creationId xmlns:a16="http://schemas.microsoft.com/office/drawing/2014/main" id="{7B8E9020-5802-0A83-2206-D42684EEAE78}"/>
                  </a:ext>
                </a:extLst>
              </p:cNvPr>
              <p:cNvSpPr txBox="1">
                <a:spLocks noRot="1" noChangeAspect="1" noMove="1" noResize="1" noEditPoints="1" noAdjustHandles="1" noChangeArrowheads="1" noChangeShapeType="1" noTextEdit="1"/>
              </p:cNvSpPr>
              <p:nvPr/>
            </p:nvSpPr>
            <p:spPr>
              <a:xfrm>
                <a:off x="1117042" y="1910513"/>
                <a:ext cx="599125" cy="369332"/>
              </a:xfrm>
              <a:prstGeom prst="rect">
                <a:avLst/>
              </a:prstGeom>
              <a:blipFill>
                <a:blip r:embed="rId3"/>
                <a:stretch>
                  <a:fillRect t="-24590" r="-18182" b="-4918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5922B71-CA4E-4F75-51B7-82976C9CA232}"/>
                  </a:ext>
                </a:extLst>
              </p:cNvPr>
              <p:cNvSpPr txBox="1"/>
              <p:nvPr/>
            </p:nvSpPr>
            <p:spPr>
              <a:xfrm>
                <a:off x="1117042" y="2778476"/>
                <a:ext cx="599125" cy="369332"/>
              </a:xfrm>
              <a:prstGeom prst="rect">
                <a:avLst/>
              </a:prstGeom>
              <a:noFill/>
            </p:spPr>
            <p:txBody>
              <a:bodyPr wrap="square" lIns="0" tIns="0" rIns="0" bIns="0" rtlCol="0">
                <a:spAutoFit/>
              </a:bodyPr>
              <a:lstStyle/>
              <a:p>
                <a:pPr/>
                <a14:m>
                  <m:oMathPara xmlns:m="http://schemas.openxmlformats.org/officeDocument/2006/math">
                    <m:oMath>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𝑥</m:t>
                          </m:r>
                        </m:e>
                        <m:sub>
                          <m:r>
                            <a:rPr lang="en-GB" sz="2400" b="0" i="1" smtClean="0">
                              <a:latin typeface="Cambria Math" panose="02040503050406030204" pitchFamily="18" charset="0"/>
                            </a:rPr>
                            <m:t>1</m:t>
                          </m:r>
                        </m:sub>
                      </m:sSub>
                    </m:oMath>
                  </m:oMathPara>
                </a14:m>
                <a:endParaRPr lang="en-GB" b="0"/>
              </a:p>
            </p:txBody>
          </p:sp>
        </mc:Choice>
        <mc:Fallback xmlns="">
          <p:sp>
            <p:nvSpPr>
              <p:cNvPr id="5" name="TextBox 4">
                <a:extLst>
                  <a:ext uri="{FF2B5EF4-FFF2-40B4-BE49-F238E27FC236}">
                    <a16:creationId xmlns:a16="http://schemas.microsoft.com/office/drawing/2014/main" id="{F5922B71-CA4E-4F75-51B7-82976C9CA232}"/>
                  </a:ext>
                </a:extLst>
              </p:cNvPr>
              <p:cNvSpPr txBox="1">
                <a:spLocks noRot="1" noChangeAspect="1" noMove="1" noResize="1" noEditPoints="1" noAdjustHandles="1" noChangeArrowheads="1" noChangeShapeType="1" noTextEdit="1"/>
              </p:cNvSpPr>
              <p:nvPr/>
            </p:nvSpPr>
            <p:spPr>
              <a:xfrm>
                <a:off x="1117042" y="2778476"/>
                <a:ext cx="599125" cy="369332"/>
              </a:xfrm>
              <a:prstGeom prst="rect">
                <a:avLst/>
              </a:prstGeom>
              <a:blipFill>
                <a:blip r:embed="rId4"/>
                <a:stretch>
                  <a:fillRect t="-26667" r="-18182" b="-5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36FF873-4955-58AE-C5EE-FBD3FB0FB632}"/>
                  </a:ext>
                </a:extLst>
              </p:cNvPr>
              <p:cNvSpPr txBox="1"/>
              <p:nvPr/>
            </p:nvSpPr>
            <p:spPr>
              <a:xfrm>
                <a:off x="1132652" y="3636734"/>
                <a:ext cx="599125" cy="369332"/>
              </a:xfrm>
              <a:prstGeom prst="rect">
                <a:avLst/>
              </a:prstGeom>
              <a:noFill/>
            </p:spPr>
            <p:txBody>
              <a:bodyPr wrap="square" lIns="0" tIns="0" rIns="0" bIns="0" rtlCol="0">
                <a:spAutoFit/>
              </a:bodyPr>
              <a:lstStyle/>
              <a:p>
                <a:pPr/>
                <a14:m>
                  <m:oMathPara xmlns:m="http://schemas.openxmlformats.org/officeDocument/2006/math">
                    <m:oMath>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𝑥</m:t>
                          </m:r>
                        </m:e>
                        <m:sub>
                          <m:r>
                            <a:rPr lang="en-GB" sz="2400" b="0" i="1" smtClean="0">
                              <a:latin typeface="Cambria Math" panose="02040503050406030204" pitchFamily="18" charset="0"/>
                            </a:rPr>
                            <m:t>2</m:t>
                          </m:r>
                        </m:sub>
                      </m:sSub>
                    </m:oMath>
                  </m:oMathPara>
                </a14:m>
                <a:endParaRPr lang="en-GB" b="0"/>
              </a:p>
            </p:txBody>
          </p:sp>
        </mc:Choice>
        <mc:Fallback xmlns="">
          <p:sp>
            <p:nvSpPr>
              <p:cNvPr id="6" name="TextBox 5">
                <a:extLst>
                  <a:ext uri="{FF2B5EF4-FFF2-40B4-BE49-F238E27FC236}">
                    <a16:creationId xmlns:a16="http://schemas.microsoft.com/office/drawing/2014/main" id="{036FF873-4955-58AE-C5EE-FBD3FB0FB632}"/>
                  </a:ext>
                </a:extLst>
              </p:cNvPr>
              <p:cNvSpPr txBox="1">
                <a:spLocks noRot="1" noChangeAspect="1" noMove="1" noResize="1" noEditPoints="1" noAdjustHandles="1" noChangeArrowheads="1" noChangeShapeType="1" noTextEdit="1"/>
              </p:cNvSpPr>
              <p:nvPr/>
            </p:nvSpPr>
            <p:spPr>
              <a:xfrm>
                <a:off x="1132652" y="3636734"/>
                <a:ext cx="599125" cy="369332"/>
              </a:xfrm>
              <a:prstGeom prst="rect">
                <a:avLst/>
              </a:prstGeom>
              <a:blipFill>
                <a:blip r:embed="rId5"/>
                <a:stretch>
                  <a:fillRect t="-26667" r="-18367" b="-5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80B42B6-7D3E-7F36-151B-2EC7636572A7}"/>
                  </a:ext>
                </a:extLst>
              </p:cNvPr>
              <p:cNvSpPr txBox="1"/>
              <p:nvPr/>
            </p:nvSpPr>
            <p:spPr>
              <a:xfrm>
                <a:off x="1121199" y="4480220"/>
                <a:ext cx="599125" cy="369332"/>
              </a:xfrm>
              <a:prstGeom prst="rect">
                <a:avLst/>
              </a:prstGeom>
              <a:noFill/>
            </p:spPr>
            <p:txBody>
              <a:bodyPr wrap="square" lIns="0" tIns="0" rIns="0" bIns="0" rtlCol="0">
                <a:spAutoFit/>
              </a:bodyPr>
              <a:lstStyle/>
              <a:p>
                <a:pPr/>
                <a14:m>
                  <m:oMathPara xmlns:m="http://schemas.openxmlformats.org/officeDocument/2006/math">
                    <m:oMath>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𝑥</m:t>
                          </m:r>
                        </m:e>
                        <m:sub>
                          <m:r>
                            <a:rPr lang="en-GB" sz="2400" b="0" i="1" smtClean="0">
                              <a:latin typeface="Cambria Math" panose="02040503050406030204" pitchFamily="18" charset="0"/>
                            </a:rPr>
                            <m:t>3</m:t>
                          </m:r>
                        </m:sub>
                      </m:sSub>
                    </m:oMath>
                  </m:oMathPara>
                </a14:m>
                <a:endParaRPr lang="en-GB" b="0"/>
              </a:p>
            </p:txBody>
          </p:sp>
        </mc:Choice>
        <mc:Fallback xmlns="">
          <p:sp>
            <p:nvSpPr>
              <p:cNvPr id="8" name="TextBox 7">
                <a:extLst>
                  <a:ext uri="{FF2B5EF4-FFF2-40B4-BE49-F238E27FC236}">
                    <a16:creationId xmlns:a16="http://schemas.microsoft.com/office/drawing/2014/main" id="{F80B42B6-7D3E-7F36-151B-2EC7636572A7}"/>
                  </a:ext>
                </a:extLst>
              </p:cNvPr>
              <p:cNvSpPr txBox="1">
                <a:spLocks noRot="1" noChangeAspect="1" noMove="1" noResize="1" noEditPoints="1" noAdjustHandles="1" noChangeArrowheads="1" noChangeShapeType="1" noTextEdit="1"/>
              </p:cNvSpPr>
              <p:nvPr/>
            </p:nvSpPr>
            <p:spPr>
              <a:xfrm>
                <a:off x="1121199" y="4480220"/>
                <a:ext cx="599125" cy="369332"/>
              </a:xfrm>
              <a:prstGeom prst="rect">
                <a:avLst/>
              </a:prstGeom>
              <a:blipFill>
                <a:blip r:embed="rId6"/>
                <a:stretch>
                  <a:fillRect t="-26230" r="-18367" b="-47541"/>
                </a:stretch>
              </a:blipFill>
            </p:spPr>
            <p:txBody>
              <a:bodyPr/>
              <a:lstStyle/>
              <a:p>
                <a:r>
                  <a:rPr lang="en-US">
                    <a:noFill/>
                  </a:rPr>
                  <a:t> </a:t>
                </a:r>
              </a:p>
            </p:txBody>
          </p:sp>
        </mc:Fallback>
      </mc:AlternateContent>
      <p:grpSp>
        <p:nvGrpSpPr>
          <p:cNvPr id="72" name="Group 71">
            <a:extLst>
              <a:ext uri="{FF2B5EF4-FFF2-40B4-BE49-F238E27FC236}">
                <a16:creationId xmlns:a16="http://schemas.microsoft.com/office/drawing/2014/main" id="{53D549B8-EC0C-2B8D-B883-D6AC7CCF9413}"/>
              </a:ext>
            </a:extLst>
          </p:cNvPr>
          <p:cNvGrpSpPr/>
          <p:nvPr/>
        </p:nvGrpSpPr>
        <p:grpSpPr>
          <a:xfrm>
            <a:off x="9083721" y="3101943"/>
            <a:ext cx="2531221" cy="649966"/>
            <a:chOff x="9083721" y="2995257"/>
            <a:chExt cx="2531221" cy="649966"/>
          </a:xfrm>
        </p:grpSpPr>
        <p:cxnSp>
          <p:nvCxnSpPr>
            <p:cNvPr id="41" name="Straight Arrow Connector 40">
              <a:extLst>
                <a:ext uri="{FF2B5EF4-FFF2-40B4-BE49-F238E27FC236}">
                  <a16:creationId xmlns:a16="http://schemas.microsoft.com/office/drawing/2014/main" id="{DB3EFAEB-1B4A-F29D-C5E8-1125A3522EF9}"/>
                </a:ext>
              </a:extLst>
            </p:cNvPr>
            <p:cNvCxnSpPr>
              <a:stCxn id="36" idx="6"/>
            </p:cNvCxnSpPr>
            <p:nvPr/>
          </p:nvCxnSpPr>
          <p:spPr>
            <a:xfrm>
              <a:off x="9733687" y="3320240"/>
              <a:ext cx="791134" cy="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grpSp>
          <p:nvGrpSpPr>
            <p:cNvPr id="62" name="Group 61">
              <a:extLst>
                <a:ext uri="{FF2B5EF4-FFF2-40B4-BE49-F238E27FC236}">
                  <a16:creationId xmlns:a16="http://schemas.microsoft.com/office/drawing/2014/main" id="{0640D26C-12C9-7B7D-634E-997FD2188CD4}"/>
                </a:ext>
              </a:extLst>
            </p:cNvPr>
            <p:cNvGrpSpPr/>
            <p:nvPr/>
          </p:nvGrpSpPr>
          <p:grpSpPr>
            <a:xfrm>
              <a:off x="9083721" y="2995257"/>
              <a:ext cx="649966" cy="649966"/>
              <a:chOff x="9083721" y="2995257"/>
              <a:chExt cx="649966" cy="649966"/>
            </a:xfrm>
          </p:grpSpPr>
          <p:sp>
            <p:nvSpPr>
              <p:cNvPr id="36" name="Oval 35">
                <a:extLst>
                  <a:ext uri="{FF2B5EF4-FFF2-40B4-BE49-F238E27FC236}">
                    <a16:creationId xmlns:a16="http://schemas.microsoft.com/office/drawing/2014/main" id="{33B50ABA-1347-5656-21EB-655C9DE994EE}"/>
                  </a:ext>
                </a:extLst>
              </p:cNvPr>
              <p:cNvSpPr/>
              <p:nvPr/>
            </p:nvSpPr>
            <p:spPr>
              <a:xfrm>
                <a:off x="9083721" y="2995257"/>
                <a:ext cx="649966" cy="64996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ln>
                    <a:solidFill>
                      <a:schemeClr val="tx1"/>
                    </a:solidFill>
                  </a:ln>
                  <a:noFill/>
                </a:endParaRPr>
              </a:p>
            </p:txBody>
          </p: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95AD8E0D-D7AB-BF24-872B-314D70EEF0A1}"/>
                      </a:ext>
                    </a:extLst>
                  </p:cNvPr>
                  <p:cNvSpPr txBox="1"/>
                  <p:nvPr/>
                </p:nvSpPr>
                <p:spPr>
                  <a:xfrm>
                    <a:off x="9226162" y="3128408"/>
                    <a:ext cx="390555" cy="369332"/>
                  </a:xfrm>
                  <a:prstGeom prst="rect">
                    <a:avLst/>
                  </a:prstGeom>
                  <a:noFill/>
                </p:spPr>
                <p:txBody>
                  <a:bodyPr wrap="none" lIns="0" tIns="0" rIns="0" bIns="0" rtlCol="0">
                    <a:spAutoFit/>
                  </a:bodyPr>
                  <a:lstStyle/>
                  <a:p>
                    <a:pPr/>
                    <a14:m>
                      <m:oMathPara xmlns:m="http://schemas.openxmlformats.org/officeDocument/2006/math">
                        <m:oMath>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𝑎</m:t>
                              </m:r>
                            </m:e>
                            <m:sup>
                              <m:r>
                                <a:rPr lang="en-GB" sz="2400" b="0" i="1" smtClean="0">
                                  <a:latin typeface="Cambria Math" panose="02040503050406030204" pitchFamily="18" charset="0"/>
                                </a:rPr>
                                <m:t>3</m:t>
                              </m:r>
                            </m:sup>
                          </m:sSup>
                        </m:oMath>
                      </m:oMathPara>
                    </a14:m>
                    <a:endParaRPr lang="en-GB" b="0"/>
                  </a:p>
                </p:txBody>
              </p:sp>
            </mc:Choice>
            <mc:Fallback xmlns="">
              <p:sp>
                <p:nvSpPr>
                  <p:cNvPr id="48" name="TextBox 47">
                    <a:extLst>
                      <a:ext uri="{FF2B5EF4-FFF2-40B4-BE49-F238E27FC236}">
                        <a16:creationId xmlns:a16="http://schemas.microsoft.com/office/drawing/2014/main" id="{95AD8E0D-D7AB-BF24-872B-314D70EEF0A1}"/>
                      </a:ext>
                    </a:extLst>
                  </p:cNvPr>
                  <p:cNvSpPr txBox="1">
                    <a:spLocks noRot="1" noChangeAspect="1" noMove="1" noResize="1" noEditPoints="1" noAdjustHandles="1" noChangeArrowheads="1" noChangeShapeType="1" noTextEdit="1"/>
                  </p:cNvSpPr>
                  <p:nvPr/>
                </p:nvSpPr>
                <p:spPr>
                  <a:xfrm>
                    <a:off x="9226162" y="3128408"/>
                    <a:ext cx="390555" cy="369332"/>
                  </a:xfrm>
                  <a:prstGeom prst="rect">
                    <a:avLst/>
                  </a:prstGeom>
                  <a:blipFill>
                    <a:blip r:embed="rId7"/>
                    <a:stretch>
                      <a:fillRect l="-9231" t="-26667" r="-56923" b="-50000"/>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959B0572-5956-5D4A-BDB3-EE880A283757}"/>
                    </a:ext>
                  </a:extLst>
                </p:cNvPr>
                <p:cNvSpPr txBox="1"/>
                <p:nvPr/>
              </p:nvSpPr>
              <p:spPr>
                <a:xfrm>
                  <a:off x="10641790" y="3101003"/>
                  <a:ext cx="973152" cy="369332"/>
                </a:xfrm>
                <a:prstGeom prst="rect">
                  <a:avLst/>
                </a:prstGeom>
                <a:noFill/>
              </p:spPr>
              <p:txBody>
                <a:bodyPr wrap="none" lIns="0" tIns="0" rIns="0" bIns="0" rtlCol="0">
                  <a:spAutoFit/>
                </a:bodyPr>
                <a:lstStyle/>
                <a:p>
                  <a:pPr/>
                  <a14:m>
                    <m:oMathPara xmlns:m="http://schemas.openxmlformats.org/officeDocument/2006/math">
                      <m:oMath>
                        <m:r>
                          <a:rPr lang="en-GB" sz="2400" b="0" i="1" smtClean="0">
                            <a:latin typeface="Cambria Math" panose="02040503050406030204" pitchFamily="18" charset="0"/>
                          </a:rPr>
                          <m:t>𝑓</m:t>
                        </m:r>
                        <m:r>
                          <a:rPr lang="en-GB" sz="2400" b="0" i="1" smtClean="0">
                            <a:latin typeface="Cambria Math" panose="02040503050406030204" pitchFamily="18" charset="0"/>
                          </a:rPr>
                          <m:t>(</m:t>
                        </m:r>
                        <m:r>
                          <a:rPr lang="en-GB" sz="2400" b="0" i="1" smtClean="0">
                            <a:latin typeface="Cambria Math" panose="02040503050406030204" pitchFamily="18" charset="0"/>
                          </a:rPr>
                          <m:t>𝑥</m:t>
                        </m:r>
                        <m:r>
                          <a:rPr lang="en-GB" sz="2400" b="0" i="1" smtClean="0">
                            <a:latin typeface="Cambria Math" panose="02040503050406030204" pitchFamily="18" charset="0"/>
                          </a:rPr>
                          <m:t>,</m:t>
                        </m:r>
                        <m:r>
                          <a:rPr lang="en-GB" sz="2400" b="0" i="1" smtClean="0">
                            <a:latin typeface="Cambria Math" panose="02040503050406030204" pitchFamily="18" charset="0"/>
                          </a:rPr>
                          <m:t>𝜃</m:t>
                        </m:r>
                        <m:r>
                          <a:rPr lang="en-GB" sz="2400" b="0" i="1" smtClean="0">
                            <a:latin typeface="Cambria Math" panose="02040503050406030204" pitchFamily="18" charset="0"/>
                          </a:rPr>
                          <m:t>)</m:t>
                        </m:r>
                      </m:oMath>
                    </m:oMathPara>
                  </a14:m>
                  <a:endParaRPr lang="LID4096" sz="2400"/>
                </a:p>
              </p:txBody>
            </p:sp>
          </mc:Choice>
          <mc:Fallback xmlns="">
            <p:sp>
              <p:nvSpPr>
                <p:cNvPr id="49" name="TextBox 48">
                  <a:extLst>
                    <a:ext uri="{FF2B5EF4-FFF2-40B4-BE49-F238E27FC236}">
                      <a16:creationId xmlns:a16="http://schemas.microsoft.com/office/drawing/2014/main" id="{959B0572-5956-5D4A-BDB3-EE880A283757}"/>
                    </a:ext>
                  </a:extLst>
                </p:cNvPr>
                <p:cNvSpPr txBox="1">
                  <a:spLocks noRot="1" noChangeAspect="1" noMove="1" noResize="1" noEditPoints="1" noAdjustHandles="1" noChangeArrowheads="1" noChangeShapeType="1" noTextEdit="1"/>
                </p:cNvSpPr>
                <p:nvPr/>
              </p:nvSpPr>
              <p:spPr>
                <a:xfrm>
                  <a:off x="10641790" y="3101003"/>
                  <a:ext cx="973152" cy="369332"/>
                </a:xfrm>
                <a:prstGeom prst="rect">
                  <a:avLst/>
                </a:prstGeom>
                <a:blipFill>
                  <a:blip r:embed="rId8"/>
                  <a:stretch>
                    <a:fillRect l="-11321" t="-24590" r="-23270" b="-49180"/>
                  </a:stretch>
                </a:blipFill>
              </p:spPr>
              <p:txBody>
                <a:bodyPr/>
                <a:lstStyle/>
                <a:p>
                  <a:r>
                    <a:rPr lang="en-US">
                      <a:noFill/>
                    </a:rPr>
                    <a:t> </a:t>
                  </a:r>
                </a:p>
              </p:txBody>
            </p:sp>
          </mc:Fallback>
        </mc:AlternateContent>
      </p:grpSp>
      <p:sp>
        <p:nvSpPr>
          <p:cNvPr id="2" name="TextBox 1">
            <a:extLst>
              <a:ext uri="{FF2B5EF4-FFF2-40B4-BE49-F238E27FC236}">
                <a16:creationId xmlns:a16="http://schemas.microsoft.com/office/drawing/2014/main" id="{AF4EFB97-AD72-C5F0-5143-74086727BC0D}"/>
              </a:ext>
            </a:extLst>
          </p:cNvPr>
          <p:cNvSpPr txBox="1"/>
          <p:nvPr/>
        </p:nvSpPr>
        <p:spPr>
          <a:xfrm>
            <a:off x="3853721" y="5078971"/>
            <a:ext cx="911525" cy="369332"/>
          </a:xfrm>
          <a:prstGeom prst="rect">
            <a:avLst/>
          </a:prstGeom>
          <a:noFill/>
        </p:spPr>
        <p:txBody>
          <a:bodyPr wrap="square" rtlCol="0">
            <a:spAutoFit/>
          </a:bodyPr>
          <a:lstStyle/>
          <a:p>
            <a:r>
              <a:rPr lang="en-GB"/>
              <a:t>…</a:t>
            </a:r>
            <a:endParaRPr lang="LID4096"/>
          </a:p>
        </p:txBody>
      </p:sp>
      <p:grpSp>
        <p:nvGrpSpPr>
          <p:cNvPr id="60" name="Group 59">
            <a:extLst>
              <a:ext uri="{FF2B5EF4-FFF2-40B4-BE49-F238E27FC236}">
                <a16:creationId xmlns:a16="http://schemas.microsoft.com/office/drawing/2014/main" id="{23A2AFE4-1CF7-51BD-FF02-8F059D356498}"/>
              </a:ext>
            </a:extLst>
          </p:cNvPr>
          <p:cNvGrpSpPr/>
          <p:nvPr/>
        </p:nvGrpSpPr>
        <p:grpSpPr>
          <a:xfrm>
            <a:off x="6363311" y="2248819"/>
            <a:ext cx="661419" cy="2356214"/>
            <a:chOff x="6363311" y="2677864"/>
            <a:chExt cx="661419" cy="2356214"/>
          </a:xfrm>
        </p:grpSpPr>
        <p:sp>
          <p:nvSpPr>
            <p:cNvPr id="53" name="Oval 52">
              <a:extLst>
                <a:ext uri="{FF2B5EF4-FFF2-40B4-BE49-F238E27FC236}">
                  <a16:creationId xmlns:a16="http://schemas.microsoft.com/office/drawing/2014/main" id="{E1F1C12A-A309-CA3B-EE82-D534A382B462}"/>
                </a:ext>
              </a:extLst>
            </p:cNvPr>
            <p:cNvSpPr/>
            <p:nvPr/>
          </p:nvSpPr>
          <p:spPr>
            <a:xfrm>
              <a:off x="6374764" y="2677864"/>
              <a:ext cx="649966" cy="64996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ln>
                  <a:solidFill>
                    <a:schemeClr val="tx1"/>
                  </a:solidFill>
                </a:ln>
                <a:noFill/>
              </a:endParaRPr>
            </a:p>
          </p:txBody>
        </p:sp>
        <p:sp>
          <p:nvSpPr>
            <p:cNvPr id="54" name="Oval 53">
              <a:extLst>
                <a:ext uri="{FF2B5EF4-FFF2-40B4-BE49-F238E27FC236}">
                  <a16:creationId xmlns:a16="http://schemas.microsoft.com/office/drawing/2014/main" id="{9E4180CF-B55D-B7D7-2DF9-609DA35D7343}"/>
                </a:ext>
              </a:extLst>
            </p:cNvPr>
            <p:cNvSpPr/>
            <p:nvPr/>
          </p:nvSpPr>
          <p:spPr>
            <a:xfrm>
              <a:off x="6374764" y="3530988"/>
              <a:ext cx="649966" cy="64996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ln>
                  <a:solidFill>
                    <a:schemeClr val="tx1"/>
                  </a:solidFill>
                </a:ln>
                <a:noFill/>
              </a:endParaRPr>
            </a:p>
          </p:txBody>
        </p:sp>
        <p:sp>
          <p:nvSpPr>
            <p:cNvPr id="55" name="Oval 54">
              <a:extLst>
                <a:ext uri="{FF2B5EF4-FFF2-40B4-BE49-F238E27FC236}">
                  <a16:creationId xmlns:a16="http://schemas.microsoft.com/office/drawing/2014/main" id="{8CF17501-0BFE-76C3-6955-53FA12BAABAA}"/>
                </a:ext>
              </a:extLst>
            </p:cNvPr>
            <p:cNvSpPr/>
            <p:nvPr/>
          </p:nvSpPr>
          <p:spPr>
            <a:xfrm>
              <a:off x="6363311" y="4384112"/>
              <a:ext cx="649966" cy="64996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ln>
                  <a:solidFill>
                    <a:schemeClr val="tx1"/>
                  </a:solidFill>
                </a:ln>
                <a:noFill/>
              </a:endParaRPr>
            </a:p>
          </p:txBody>
        </p: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5E2B6B3C-D673-8FE1-CC1F-481BF02FFB90}"/>
                    </a:ext>
                  </a:extLst>
                </p:cNvPr>
                <p:cNvSpPr txBox="1"/>
                <p:nvPr/>
              </p:nvSpPr>
              <p:spPr>
                <a:xfrm>
                  <a:off x="6423675" y="2811971"/>
                  <a:ext cx="526264" cy="373628"/>
                </a:xfrm>
                <a:prstGeom prst="rect">
                  <a:avLst/>
                </a:prstGeom>
                <a:noFill/>
              </p:spPr>
              <p:txBody>
                <a:bodyPr wrap="square" lIns="0" tIns="0" rIns="0" bIns="0" rtlCol="0">
                  <a:spAutoFit/>
                </a:bodyPr>
                <a:lstStyle/>
                <a:p>
                  <a:pPr/>
                  <a14:m>
                    <m:oMathPara xmlns:m="http://schemas.openxmlformats.org/officeDocument/2006/math">
                      <m:oMath>
                        <m:sSubSup>
                          <m:sSubSupPr>
                            <m:ctrlPr>
                              <a:rPr lang="en-GB" sz="2400" b="0" i="1" smtClean="0">
                                <a:latin typeface="Cambria Math" panose="02040503050406030204" pitchFamily="18" charset="0"/>
                              </a:rPr>
                            </m:ctrlPr>
                          </m:sSubSupPr>
                          <m:e>
                            <m:r>
                              <a:rPr lang="en-GB" sz="2400" b="0" i="1" smtClean="0">
                                <a:latin typeface="Cambria Math" panose="02040503050406030204" pitchFamily="18" charset="0"/>
                              </a:rPr>
                              <m:t>𝑎</m:t>
                            </m:r>
                          </m:e>
                          <m:sub>
                            <m:r>
                              <a:rPr lang="en-GB" sz="2400" b="0" i="1" smtClean="0">
                                <a:latin typeface="Cambria Math" panose="02040503050406030204" pitchFamily="18" charset="0"/>
                              </a:rPr>
                              <m:t>1</m:t>
                            </m:r>
                          </m:sub>
                          <m:sup>
                            <m:r>
                              <a:rPr lang="en-GB" sz="2400" b="0" i="1" smtClean="0">
                                <a:latin typeface="Cambria Math" panose="02040503050406030204" pitchFamily="18" charset="0"/>
                              </a:rPr>
                              <m:t>2</m:t>
                            </m:r>
                          </m:sup>
                        </m:sSubSup>
                      </m:oMath>
                    </m:oMathPara>
                  </a14:m>
                  <a:endParaRPr lang="en-GB" sz="2400" b="0"/>
                </a:p>
              </p:txBody>
            </p:sp>
          </mc:Choice>
          <mc:Fallback xmlns="">
            <p:sp>
              <p:nvSpPr>
                <p:cNvPr id="57" name="TextBox 56">
                  <a:extLst>
                    <a:ext uri="{FF2B5EF4-FFF2-40B4-BE49-F238E27FC236}">
                      <a16:creationId xmlns:a16="http://schemas.microsoft.com/office/drawing/2014/main" id="{5E2B6B3C-D673-8FE1-CC1F-481BF02FFB90}"/>
                    </a:ext>
                  </a:extLst>
                </p:cNvPr>
                <p:cNvSpPr txBox="1">
                  <a:spLocks noRot="1" noChangeAspect="1" noMove="1" noResize="1" noEditPoints="1" noAdjustHandles="1" noChangeArrowheads="1" noChangeShapeType="1" noTextEdit="1"/>
                </p:cNvSpPr>
                <p:nvPr/>
              </p:nvSpPr>
              <p:spPr>
                <a:xfrm>
                  <a:off x="6423675" y="2811971"/>
                  <a:ext cx="526264" cy="373628"/>
                </a:xfrm>
                <a:prstGeom prst="rect">
                  <a:avLst/>
                </a:prstGeom>
                <a:blipFill>
                  <a:blip r:embed="rId9"/>
                  <a:stretch>
                    <a:fillRect t="-24590" r="-30233" b="-4918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5C2ED240-AA66-F9D7-6A09-03794CE3C155}"/>
                    </a:ext>
                  </a:extLst>
                </p:cNvPr>
                <p:cNvSpPr txBox="1"/>
                <p:nvPr/>
              </p:nvSpPr>
              <p:spPr>
                <a:xfrm>
                  <a:off x="6411951" y="3649790"/>
                  <a:ext cx="526264" cy="374333"/>
                </a:xfrm>
                <a:prstGeom prst="rect">
                  <a:avLst/>
                </a:prstGeom>
                <a:noFill/>
              </p:spPr>
              <p:txBody>
                <a:bodyPr wrap="square" lIns="0" tIns="0" rIns="0" bIns="0" rtlCol="0">
                  <a:spAutoFit/>
                </a:bodyPr>
                <a:lstStyle/>
                <a:p>
                  <a:pPr/>
                  <a14:m>
                    <m:oMathPara xmlns:m="http://schemas.openxmlformats.org/officeDocument/2006/math">
                      <m:oMath>
                        <m:sSubSup>
                          <m:sSubSupPr>
                            <m:ctrlPr>
                              <a:rPr lang="en-GB" sz="2400" b="0" i="1" smtClean="0">
                                <a:latin typeface="Cambria Math" panose="02040503050406030204" pitchFamily="18" charset="0"/>
                              </a:rPr>
                            </m:ctrlPr>
                          </m:sSubSupPr>
                          <m:e>
                            <m:r>
                              <a:rPr lang="en-GB" sz="2400" b="0" i="1" smtClean="0">
                                <a:latin typeface="Cambria Math" panose="02040503050406030204" pitchFamily="18" charset="0"/>
                              </a:rPr>
                              <m:t>𝑎</m:t>
                            </m:r>
                          </m:e>
                          <m:sub>
                            <m:r>
                              <a:rPr lang="en-GB" sz="2400" b="0" i="1" smtClean="0">
                                <a:latin typeface="Cambria Math" panose="02040503050406030204" pitchFamily="18" charset="0"/>
                              </a:rPr>
                              <m:t>2</m:t>
                            </m:r>
                          </m:sub>
                          <m:sup>
                            <m:r>
                              <a:rPr lang="en-GB" sz="2400" b="0" i="1" smtClean="0">
                                <a:latin typeface="Cambria Math" panose="02040503050406030204" pitchFamily="18" charset="0"/>
                              </a:rPr>
                              <m:t>2</m:t>
                            </m:r>
                          </m:sup>
                        </m:sSubSup>
                      </m:oMath>
                    </m:oMathPara>
                  </a14:m>
                  <a:endParaRPr lang="en-GB" sz="2400" b="0"/>
                </a:p>
              </p:txBody>
            </p:sp>
          </mc:Choice>
          <mc:Fallback xmlns="">
            <p:sp>
              <p:nvSpPr>
                <p:cNvPr id="58" name="TextBox 57">
                  <a:extLst>
                    <a:ext uri="{FF2B5EF4-FFF2-40B4-BE49-F238E27FC236}">
                      <a16:creationId xmlns:a16="http://schemas.microsoft.com/office/drawing/2014/main" id="{5C2ED240-AA66-F9D7-6A09-03794CE3C155}"/>
                    </a:ext>
                  </a:extLst>
                </p:cNvPr>
                <p:cNvSpPr txBox="1">
                  <a:spLocks noRot="1" noChangeAspect="1" noMove="1" noResize="1" noEditPoints="1" noAdjustHandles="1" noChangeArrowheads="1" noChangeShapeType="1" noTextEdit="1"/>
                </p:cNvSpPr>
                <p:nvPr/>
              </p:nvSpPr>
              <p:spPr>
                <a:xfrm>
                  <a:off x="6411951" y="3649790"/>
                  <a:ext cx="526264" cy="374333"/>
                </a:xfrm>
                <a:prstGeom prst="rect">
                  <a:avLst/>
                </a:prstGeom>
                <a:blipFill>
                  <a:blip r:embed="rId10"/>
                  <a:stretch>
                    <a:fillRect t="-22581" r="-30233" b="-483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B3BA1D6C-76B2-C4F1-D88E-42B744D5B14B}"/>
                    </a:ext>
                  </a:extLst>
                </p:cNvPr>
                <p:cNvSpPr txBox="1"/>
                <p:nvPr/>
              </p:nvSpPr>
              <p:spPr>
                <a:xfrm>
                  <a:off x="6405025" y="4507486"/>
                  <a:ext cx="526264" cy="376193"/>
                </a:xfrm>
                <a:prstGeom prst="rect">
                  <a:avLst/>
                </a:prstGeom>
                <a:noFill/>
              </p:spPr>
              <p:txBody>
                <a:bodyPr wrap="square" lIns="0" tIns="0" rIns="0" bIns="0" rtlCol="0">
                  <a:spAutoFit/>
                </a:bodyPr>
                <a:lstStyle/>
                <a:p>
                  <a:pPr/>
                  <a14:m>
                    <m:oMathPara xmlns:m="http://schemas.openxmlformats.org/officeDocument/2006/math">
                      <m:oMath>
                        <m:sSubSup>
                          <m:sSubSupPr>
                            <m:ctrlPr>
                              <a:rPr lang="en-GB" sz="2400" b="0" i="1" smtClean="0">
                                <a:latin typeface="Cambria Math" panose="02040503050406030204" pitchFamily="18" charset="0"/>
                              </a:rPr>
                            </m:ctrlPr>
                          </m:sSubSupPr>
                          <m:e>
                            <m:r>
                              <a:rPr lang="en-GB" sz="2400" b="0" i="1" smtClean="0">
                                <a:latin typeface="Cambria Math" panose="02040503050406030204" pitchFamily="18" charset="0"/>
                              </a:rPr>
                              <m:t>𝑎</m:t>
                            </m:r>
                          </m:e>
                          <m:sub>
                            <m:r>
                              <a:rPr lang="en-GB" sz="2400" b="0" i="1" smtClean="0">
                                <a:latin typeface="Cambria Math" panose="02040503050406030204" pitchFamily="18" charset="0"/>
                              </a:rPr>
                              <m:t>3</m:t>
                            </m:r>
                          </m:sub>
                          <m:sup>
                            <m:r>
                              <a:rPr lang="en-GB" sz="2400" b="0" i="1" smtClean="0">
                                <a:latin typeface="Cambria Math" panose="02040503050406030204" pitchFamily="18" charset="0"/>
                              </a:rPr>
                              <m:t>2</m:t>
                            </m:r>
                          </m:sup>
                        </m:sSubSup>
                      </m:oMath>
                    </m:oMathPara>
                  </a14:m>
                  <a:endParaRPr lang="en-GB" sz="2400" b="0"/>
                </a:p>
              </p:txBody>
            </p:sp>
          </mc:Choice>
          <mc:Fallback xmlns="">
            <p:sp>
              <p:nvSpPr>
                <p:cNvPr id="59" name="TextBox 58">
                  <a:extLst>
                    <a:ext uri="{FF2B5EF4-FFF2-40B4-BE49-F238E27FC236}">
                      <a16:creationId xmlns:a16="http://schemas.microsoft.com/office/drawing/2014/main" id="{B3BA1D6C-76B2-C4F1-D88E-42B744D5B14B}"/>
                    </a:ext>
                  </a:extLst>
                </p:cNvPr>
                <p:cNvSpPr txBox="1">
                  <a:spLocks noRot="1" noChangeAspect="1" noMove="1" noResize="1" noEditPoints="1" noAdjustHandles="1" noChangeArrowheads="1" noChangeShapeType="1" noTextEdit="1"/>
                </p:cNvSpPr>
                <p:nvPr/>
              </p:nvSpPr>
              <p:spPr>
                <a:xfrm>
                  <a:off x="6405025" y="4507486"/>
                  <a:ext cx="526264" cy="376193"/>
                </a:xfrm>
                <a:prstGeom prst="rect">
                  <a:avLst/>
                </a:prstGeom>
                <a:blipFill>
                  <a:blip r:embed="rId11"/>
                  <a:stretch>
                    <a:fillRect t="-20968" r="-30233" b="-50000"/>
                  </a:stretch>
                </a:blipFill>
              </p:spPr>
              <p:txBody>
                <a:bodyPr/>
                <a:lstStyle/>
                <a:p>
                  <a:r>
                    <a:rPr lang="en-US">
                      <a:noFill/>
                    </a:rPr>
                    <a:t> </a:t>
                  </a:r>
                </a:p>
              </p:txBody>
            </p:sp>
          </mc:Fallback>
        </mc:AlternateContent>
      </p:grpSp>
      <p:cxnSp>
        <p:nvCxnSpPr>
          <p:cNvPr id="63" name="Straight Arrow Connector 62">
            <a:extLst>
              <a:ext uri="{FF2B5EF4-FFF2-40B4-BE49-F238E27FC236}">
                <a16:creationId xmlns:a16="http://schemas.microsoft.com/office/drawing/2014/main" id="{52343CA3-CDF5-3525-BF78-AD3096C1538E}"/>
              </a:ext>
            </a:extLst>
          </p:cNvPr>
          <p:cNvCxnSpPr>
            <a:cxnSpLocks/>
            <a:endCxn id="53" idx="2"/>
          </p:cNvCxnSpPr>
          <p:nvPr/>
        </p:nvCxnSpPr>
        <p:spPr>
          <a:xfrm flipV="1">
            <a:off x="4359850" y="2573802"/>
            <a:ext cx="2014914" cy="419372"/>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C56C0335-51BC-8363-6670-CCAACD414CF3}"/>
              </a:ext>
            </a:extLst>
          </p:cNvPr>
          <p:cNvCxnSpPr>
            <a:cxnSpLocks/>
            <a:endCxn id="54" idx="2"/>
          </p:cNvCxnSpPr>
          <p:nvPr/>
        </p:nvCxnSpPr>
        <p:spPr>
          <a:xfrm>
            <a:off x="4359850" y="2993174"/>
            <a:ext cx="2014914" cy="433752"/>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1BF7691A-2542-414B-D922-45E48FA51CA7}"/>
              </a:ext>
            </a:extLst>
          </p:cNvPr>
          <p:cNvCxnSpPr>
            <a:cxnSpLocks/>
            <a:endCxn id="55" idx="2"/>
          </p:cNvCxnSpPr>
          <p:nvPr/>
        </p:nvCxnSpPr>
        <p:spPr>
          <a:xfrm>
            <a:off x="4359850" y="2993174"/>
            <a:ext cx="2003461" cy="1286876"/>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0C7ECB0C-D227-52E6-9DBC-49A3E95826CC}"/>
              </a:ext>
            </a:extLst>
          </p:cNvPr>
          <p:cNvCxnSpPr>
            <a:cxnSpLocks/>
            <a:endCxn id="53" idx="2"/>
          </p:cNvCxnSpPr>
          <p:nvPr/>
        </p:nvCxnSpPr>
        <p:spPr>
          <a:xfrm flipV="1">
            <a:off x="4359850" y="2573802"/>
            <a:ext cx="2014914" cy="1272496"/>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5255E536-2F23-4C35-3222-1C725D164037}"/>
              </a:ext>
            </a:extLst>
          </p:cNvPr>
          <p:cNvCxnSpPr>
            <a:cxnSpLocks/>
            <a:endCxn id="54" idx="2"/>
          </p:cNvCxnSpPr>
          <p:nvPr/>
        </p:nvCxnSpPr>
        <p:spPr>
          <a:xfrm flipV="1">
            <a:off x="4359850" y="3426926"/>
            <a:ext cx="2014914" cy="419372"/>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9E5DC5B0-7160-89A7-4813-0CA9D06BCDED}"/>
              </a:ext>
            </a:extLst>
          </p:cNvPr>
          <p:cNvCxnSpPr>
            <a:cxnSpLocks/>
            <a:endCxn id="55" idx="2"/>
          </p:cNvCxnSpPr>
          <p:nvPr/>
        </p:nvCxnSpPr>
        <p:spPr>
          <a:xfrm>
            <a:off x="4359850" y="3846298"/>
            <a:ext cx="2003461" cy="433752"/>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723273C2-0D76-3645-BDB0-1600CD989B59}"/>
              </a:ext>
            </a:extLst>
          </p:cNvPr>
          <p:cNvCxnSpPr>
            <a:cxnSpLocks/>
            <a:endCxn id="53" idx="2"/>
          </p:cNvCxnSpPr>
          <p:nvPr/>
        </p:nvCxnSpPr>
        <p:spPr>
          <a:xfrm flipV="1">
            <a:off x="4348397" y="2573802"/>
            <a:ext cx="2026367" cy="2125620"/>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18F39940-9304-7055-615D-AC78F0DB06AB}"/>
              </a:ext>
            </a:extLst>
          </p:cNvPr>
          <p:cNvCxnSpPr>
            <a:cxnSpLocks/>
            <a:endCxn id="54" idx="2"/>
          </p:cNvCxnSpPr>
          <p:nvPr/>
        </p:nvCxnSpPr>
        <p:spPr>
          <a:xfrm flipV="1">
            <a:off x="4348397" y="3426926"/>
            <a:ext cx="2026367" cy="1272496"/>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13C9FC94-EC1F-96D4-595A-86C345439081}"/>
              </a:ext>
            </a:extLst>
          </p:cNvPr>
          <p:cNvCxnSpPr>
            <a:cxnSpLocks/>
            <a:endCxn id="55" idx="2"/>
          </p:cNvCxnSpPr>
          <p:nvPr/>
        </p:nvCxnSpPr>
        <p:spPr>
          <a:xfrm flipV="1">
            <a:off x="4348397" y="4280050"/>
            <a:ext cx="2014914" cy="419372"/>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DCE5A662-E90E-6BA0-0D3B-8058BAD37B56}"/>
              </a:ext>
            </a:extLst>
          </p:cNvPr>
          <p:cNvCxnSpPr>
            <a:cxnSpLocks/>
            <a:stCxn id="53" idx="6"/>
            <a:endCxn id="36" idx="2"/>
          </p:cNvCxnSpPr>
          <p:nvPr/>
        </p:nvCxnSpPr>
        <p:spPr>
          <a:xfrm>
            <a:off x="7024730" y="2573802"/>
            <a:ext cx="2058991" cy="853124"/>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C167626B-47F4-AC6D-CC88-ABE88EA43F1D}"/>
              </a:ext>
            </a:extLst>
          </p:cNvPr>
          <p:cNvCxnSpPr>
            <a:cxnSpLocks/>
            <a:stCxn id="54" idx="6"/>
            <a:endCxn id="36" idx="2"/>
          </p:cNvCxnSpPr>
          <p:nvPr/>
        </p:nvCxnSpPr>
        <p:spPr>
          <a:xfrm>
            <a:off x="7024730" y="3426926"/>
            <a:ext cx="2058991" cy="0"/>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11044939-0FB5-1DF5-E066-B777B02CC708}"/>
              </a:ext>
            </a:extLst>
          </p:cNvPr>
          <p:cNvCxnSpPr>
            <a:cxnSpLocks/>
            <a:stCxn id="55" idx="6"/>
            <a:endCxn id="36" idx="2"/>
          </p:cNvCxnSpPr>
          <p:nvPr/>
        </p:nvCxnSpPr>
        <p:spPr>
          <a:xfrm flipV="1">
            <a:off x="7013277" y="3426926"/>
            <a:ext cx="2070444" cy="853124"/>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4" name="TextBox 83">
            <a:extLst>
              <a:ext uri="{FF2B5EF4-FFF2-40B4-BE49-F238E27FC236}">
                <a16:creationId xmlns:a16="http://schemas.microsoft.com/office/drawing/2014/main" id="{9D808DB4-8EB6-70EB-327F-D12F1168810E}"/>
              </a:ext>
            </a:extLst>
          </p:cNvPr>
          <p:cNvSpPr txBox="1"/>
          <p:nvPr/>
        </p:nvSpPr>
        <p:spPr>
          <a:xfrm>
            <a:off x="6532817" y="5051090"/>
            <a:ext cx="911525" cy="369332"/>
          </a:xfrm>
          <a:prstGeom prst="rect">
            <a:avLst/>
          </a:prstGeom>
          <a:noFill/>
        </p:spPr>
        <p:txBody>
          <a:bodyPr wrap="square" rtlCol="0">
            <a:spAutoFit/>
          </a:bodyPr>
          <a:lstStyle/>
          <a:p>
            <a:r>
              <a:rPr lang="en-GB"/>
              <a:t>…</a:t>
            </a:r>
            <a:endParaRPr lang="LID4096"/>
          </a:p>
        </p:txBody>
      </p:sp>
      <p:cxnSp>
        <p:nvCxnSpPr>
          <p:cNvPr id="7" name="Straight Arrow Connector 6">
            <a:extLst>
              <a:ext uri="{FF2B5EF4-FFF2-40B4-BE49-F238E27FC236}">
                <a16:creationId xmlns:a16="http://schemas.microsoft.com/office/drawing/2014/main" id="{42FAF47D-814E-1740-A317-5E7AE167516A}"/>
              </a:ext>
            </a:extLst>
          </p:cNvPr>
          <p:cNvCxnSpPr>
            <a:cxnSpLocks/>
            <a:endCxn id="4" idx="2"/>
          </p:cNvCxnSpPr>
          <p:nvPr/>
        </p:nvCxnSpPr>
        <p:spPr>
          <a:xfrm>
            <a:off x="1704702" y="2139791"/>
            <a:ext cx="2022282" cy="4966"/>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E1F239C7-8CCA-3E5D-30A5-3D84221CC1AF}"/>
              </a:ext>
            </a:extLst>
          </p:cNvPr>
          <p:cNvCxnSpPr>
            <a:cxnSpLocks/>
            <a:endCxn id="4" idx="2"/>
          </p:cNvCxnSpPr>
          <p:nvPr/>
        </p:nvCxnSpPr>
        <p:spPr>
          <a:xfrm flipV="1">
            <a:off x="1716155" y="2144757"/>
            <a:ext cx="2010829" cy="853124"/>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4566E058-96E1-5DED-B715-1B36AB34559F}"/>
              </a:ext>
            </a:extLst>
          </p:cNvPr>
          <p:cNvCxnSpPr>
            <a:cxnSpLocks/>
            <a:endCxn id="4" idx="2"/>
          </p:cNvCxnSpPr>
          <p:nvPr/>
        </p:nvCxnSpPr>
        <p:spPr>
          <a:xfrm flipV="1">
            <a:off x="1716155" y="2144757"/>
            <a:ext cx="2010829" cy="1706248"/>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38122814-DF7E-7E29-DD1F-DE7D28374A0F}"/>
              </a:ext>
            </a:extLst>
          </p:cNvPr>
          <p:cNvCxnSpPr>
            <a:cxnSpLocks/>
            <a:endCxn id="4" idx="2"/>
          </p:cNvCxnSpPr>
          <p:nvPr/>
        </p:nvCxnSpPr>
        <p:spPr>
          <a:xfrm flipV="1">
            <a:off x="1704702" y="2144757"/>
            <a:ext cx="2022282" cy="2559372"/>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126C43CA-FDFA-256D-CA07-2746540D1A13}"/>
              </a:ext>
            </a:extLst>
          </p:cNvPr>
          <p:cNvCxnSpPr>
            <a:cxnSpLocks/>
            <a:stCxn id="4" idx="6"/>
            <a:endCxn id="54" idx="2"/>
          </p:cNvCxnSpPr>
          <p:nvPr/>
        </p:nvCxnSpPr>
        <p:spPr>
          <a:xfrm>
            <a:off x="4376950" y="2144757"/>
            <a:ext cx="1997814" cy="1282169"/>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61" name="Group 60">
            <a:extLst>
              <a:ext uri="{FF2B5EF4-FFF2-40B4-BE49-F238E27FC236}">
                <a16:creationId xmlns:a16="http://schemas.microsoft.com/office/drawing/2014/main" id="{757C81EC-591B-BB46-EDC3-8F12BAA7DFA1}"/>
              </a:ext>
            </a:extLst>
          </p:cNvPr>
          <p:cNvGrpSpPr/>
          <p:nvPr/>
        </p:nvGrpSpPr>
        <p:grpSpPr>
          <a:xfrm>
            <a:off x="3706685" y="1819774"/>
            <a:ext cx="670265" cy="3214304"/>
            <a:chOff x="3706685" y="1819774"/>
            <a:chExt cx="670265" cy="3214304"/>
          </a:xfrm>
        </p:grpSpPr>
        <p:sp>
          <p:nvSpPr>
            <p:cNvPr id="9" name="Oval 8">
              <a:extLst>
                <a:ext uri="{FF2B5EF4-FFF2-40B4-BE49-F238E27FC236}">
                  <a16:creationId xmlns:a16="http://schemas.microsoft.com/office/drawing/2014/main" id="{BB449EAA-A20E-5167-F114-F6DB29013E99}"/>
                </a:ext>
              </a:extLst>
            </p:cNvPr>
            <p:cNvSpPr/>
            <p:nvPr/>
          </p:nvSpPr>
          <p:spPr>
            <a:xfrm>
              <a:off x="3718138" y="2677864"/>
              <a:ext cx="649966" cy="64996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ln>
                  <a:solidFill>
                    <a:schemeClr val="tx1"/>
                  </a:solidFill>
                </a:ln>
                <a:noFill/>
              </a:endParaRPr>
            </a:p>
          </p:txBody>
        </p:sp>
        <p:sp>
          <p:nvSpPr>
            <p:cNvPr id="12" name="Oval 11">
              <a:extLst>
                <a:ext uri="{FF2B5EF4-FFF2-40B4-BE49-F238E27FC236}">
                  <a16:creationId xmlns:a16="http://schemas.microsoft.com/office/drawing/2014/main" id="{3A6FD789-DF9B-CE62-8B5C-61006D90A468}"/>
                </a:ext>
              </a:extLst>
            </p:cNvPr>
            <p:cNvSpPr/>
            <p:nvPr/>
          </p:nvSpPr>
          <p:spPr>
            <a:xfrm>
              <a:off x="3718138" y="3530988"/>
              <a:ext cx="649966" cy="64996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ln>
                  <a:solidFill>
                    <a:schemeClr val="tx1"/>
                  </a:solidFill>
                </a:ln>
                <a:noFill/>
              </a:endParaRPr>
            </a:p>
          </p:txBody>
        </p:sp>
        <p:sp>
          <p:nvSpPr>
            <p:cNvPr id="13" name="Oval 12">
              <a:extLst>
                <a:ext uri="{FF2B5EF4-FFF2-40B4-BE49-F238E27FC236}">
                  <a16:creationId xmlns:a16="http://schemas.microsoft.com/office/drawing/2014/main" id="{03AA5CA7-ADBF-FBEF-801A-2DA076D53997}"/>
                </a:ext>
              </a:extLst>
            </p:cNvPr>
            <p:cNvSpPr/>
            <p:nvPr/>
          </p:nvSpPr>
          <p:spPr>
            <a:xfrm>
              <a:off x="3706685" y="4384112"/>
              <a:ext cx="649966" cy="64996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ln>
                  <a:solidFill>
                    <a:schemeClr val="tx1"/>
                  </a:solidFill>
                </a:ln>
                <a:noFill/>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72D857AD-973B-4233-54CC-932C76D30035}"/>
                    </a:ext>
                  </a:extLst>
                </p:cNvPr>
                <p:cNvSpPr txBox="1"/>
                <p:nvPr/>
              </p:nvSpPr>
              <p:spPr>
                <a:xfrm>
                  <a:off x="3767049" y="2811971"/>
                  <a:ext cx="526264" cy="372859"/>
                </a:xfrm>
                <a:prstGeom prst="rect">
                  <a:avLst/>
                </a:prstGeom>
                <a:noFill/>
              </p:spPr>
              <p:txBody>
                <a:bodyPr wrap="square" lIns="0" tIns="0" rIns="0" bIns="0" rtlCol="0">
                  <a:spAutoFit/>
                </a:bodyPr>
                <a:lstStyle/>
                <a:p>
                  <a:pPr/>
                  <a14:m>
                    <m:oMathPara xmlns:m="http://schemas.openxmlformats.org/officeDocument/2006/math">
                      <m:oMath>
                        <m:sSubSup>
                          <m:sSubSupPr>
                            <m:ctrlPr>
                              <a:rPr lang="en-GB" sz="2400" b="0" i="1" smtClean="0">
                                <a:latin typeface="Cambria Math" panose="02040503050406030204" pitchFamily="18" charset="0"/>
                              </a:rPr>
                            </m:ctrlPr>
                          </m:sSubSupPr>
                          <m:e>
                            <m:r>
                              <a:rPr lang="en-GB" sz="2400" b="0" i="1" smtClean="0">
                                <a:latin typeface="Cambria Math" panose="02040503050406030204" pitchFamily="18" charset="0"/>
                              </a:rPr>
                              <m:t>𝑎</m:t>
                            </m:r>
                          </m:e>
                          <m:sub>
                            <m:r>
                              <a:rPr lang="en-GB" sz="2400" b="0" i="1" smtClean="0">
                                <a:latin typeface="Cambria Math" panose="02040503050406030204" pitchFamily="18" charset="0"/>
                              </a:rPr>
                              <m:t>1</m:t>
                            </m:r>
                          </m:sub>
                          <m:sup>
                            <m:r>
                              <a:rPr lang="en-GB" sz="2400" b="0" i="1" smtClean="0">
                                <a:latin typeface="Cambria Math" panose="02040503050406030204" pitchFamily="18" charset="0"/>
                              </a:rPr>
                              <m:t>1</m:t>
                            </m:r>
                          </m:sup>
                        </m:sSubSup>
                      </m:oMath>
                    </m:oMathPara>
                  </a14:m>
                  <a:endParaRPr lang="en-GB" sz="2400" b="0"/>
                </a:p>
              </p:txBody>
            </p:sp>
          </mc:Choice>
          <mc:Fallback xmlns="">
            <p:sp>
              <p:nvSpPr>
                <p:cNvPr id="44" name="TextBox 43">
                  <a:extLst>
                    <a:ext uri="{FF2B5EF4-FFF2-40B4-BE49-F238E27FC236}">
                      <a16:creationId xmlns:a16="http://schemas.microsoft.com/office/drawing/2014/main" id="{72D857AD-973B-4233-54CC-932C76D30035}"/>
                    </a:ext>
                  </a:extLst>
                </p:cNvPr>
                <p:cNvSpPr txBox="1">
                  <a:spLocks noRot="1" noChangeAspect="1" noMove="1" noResize="1" noEditPoints="1" noAdjustHandles="1" noChangeArrowheads="1" noChangeShapeType="1" noTextEdit="1"/>
                </p:cNvSpPr>
                <p:nvPr/>
              </p:nvSpPr>
              <p:spPr>
                <a:xfrm>
                  <a:off x="3767049" y="2811971"/>
                  <a:ext cx="526264" cy="372859"/>
                </a:xfrm>
                <a:prstGeom prst="rect">
                  <a:avLst/>
                </a:prstGeom>
                <a:blipFill>
                  <a:blip r:embed="rId12"/>
                  <a:stretch>
                    <a:fillRect t="-22951" r="-30233" b="-5082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F0EDFF59-D224-FA49-6201-6CFC4F092530}"/>
                    </a:ext>
                  </a:extLst>
                </p:cNvPr>
                <p:cNvSpPr txBox="1"/>
                <p:nvPr/>
              </p:nvSpPr>
              <p:spPr>
                <a:xfrm>
                  <a:off x="3755325" y="3649790"/>
                  <a:ext cx="526264" cy="373564"/>
                </a:xfrm>
                <a:prstGeom prst="rect">
                  <a:avLst/>
                </a:prstGeom>
                <a:noFill/>
              </p:spPr>
              <p:txBody>
                <a:bodyPr wrap="square" lIns="0" tIns="0" rIns="0" bIns="0" rtlCol="0">
                  <a:spAutoFit/>
                </a:bodyPr>
                <a:lstStyle/>
                <a:p>
                  <a:pPr/>
                  <a14:m>
                    <m:oMathPara xmlns:m="http://schemas.openxmlformats.org/officeDocument/2006/math">
                      <m:oMath>
                        <m:sSubSup>
                          <m:sSubSupPr>
                            <m:ctrlPr>
                              <a:rPr lang="en-GB" sz="2400" b="0" i="1" smtClean="0">
                                <a:latin typeface="Cambria Math" panose="02040503050406030204" pitchFamily="18" charset="0"/>
                              </a:rPr>
                            </m:ctrlPr>
                          </m:sSubSupPr>
                          <m:e>
                            <m:r>
                              <a:rPr lang="en-GB" sz="2400" b="0" i="1" smtClean="0">
                                <a:latin typeface="Cambria Math" panose="02040503050406030204" pitchFamily="18" charset="0"/>
                              </a:rPr>
                              <m:t>𝑎</m:t>
                            </m:r>
                          </m:e>
                          <m:sub>
                            <m:r>
                              <a:rPr lang="en-GB" sz="2400" b="0" i="1" smtClean="0">
                                <a:latin typeface="Cambria Math" panose="02040503050406030204" pitchFamily="18" charset="0"/>
                              </a:rPr>
                              <m:t>2</m:t>
                            </m:r>
                          </m:sub>
                          <m:sup>
                            <m:r>
                              <a:rPr lang="en-GB" sz="2400" b="0" i="1" smtClean="0">
                                <a:latin typeface="Cambria Math" panose="02040503050406030204" pitchFamily="18" charset="0"/>
                              </a:rPr>
                              <m:t>1</m:t>
                            </m:r>
                          </m:sup>
                        </m:sSubSup>
                      </m:oMath>
                    </m:oMathPara>
                  </a14:m>
                  <a:endParaRPr lang="en-GB" sz="2400" b="0"/>
                </a:p>
              </p:txBody>
            </p:sp>
          </mc:Choice>
          <mc:Fallback xmlns="">
            <p:sp>
              <p:nvSpPr>
                <p:cNvPr id="45" name="TextBox 44">
                  <a:extLst>
                    <a:ext uri="{FF2B5EF4-FFF2-40B4-BE49-F238E27FC236}">
                      <a16:creationId xmlns:a16="http://schemas.microsoft.com/office/drawing/2014/main" id="{F0EDFF59-D224-FA49-6201-6CFC4F092530}"/>
                    </a:ext>
                  </a:extLst>
                </p:cNvPr>
                <p:cNvSpPr txBox="1">
                  <a:spLocks noRot="1" noChangeAspect="1" noMove="1" noResize="1" noEditPoints="1" noAdjustHandles="1" noChangeArrowheads="1" noChangeShapeType="1" noTextEdit="1"/>
                </p:cNvSpPr>
                <p:nvPr/>
              </p:nvSpPr>
              <p:spPr>
                <a:xfrm>
                  <a:off x="3755325" y="3649790"/>
                  <a:ext cx="526264" cy="373564"/>
                </a:xfrm>
                <a:prstGeom prst="rect">
                  <a:avLst/>
                </a:prstGeom>
                <a:blipFill>
                  <a:blip r:embed="rId13"/>
                  <a:stretch>
                    <a:fillRect t="-24590" r="-31395" b="-4918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DC289F7-8EFF-AAFB-FA06-6237D0AA3104}"/>
                    </a:ext>
                  </a:extLst>
                </p:cNvPr>
                <p:cNvSpPr txBox="1"/>
                <p:nvPr/>
              </p:nvSpPr>
              <p:spPr>
                <a:xfrm>
                  <a:off x="3748399" y="4507486"/>
                  <a:ext cx="526264" cy="375424"/>
                </a:xfrm>
                <a:prstGeom prst="rect">
                  <a:avLst/>
                </a:prstGeom>
                <a:noFill/>
              </p:spPr>
              <p:txBody>
                <a:bodyPr wrap="square" lIns="0" tIns="0" rIns="0" bIns="0" rtlCol="0">
                  <a:spAutoFit/>
                </a:bodyPr>
                <a:lstStyle/>
                <a:p>
                  <a:pPr/>
                  <a14:m>
                    <m:oMathPara xmlns:m="http://schemas.openxmlformats.org/officeDocument/2006/math">
                      <m:oMath>
                        <m:sSubSup>
                          <m:sSubSupPr>
                            <m:ctrlPr>
                              <a:rPr lang="en-GB" sz="2400" b="0" i="1" smtClean="0">
                                <a:latin typeface="Cambria Math" panose="02040503050406030204" pitchFamily="18" charset="0"/>
                              </a:rPr>
                            </m:ctrlPr>
                          </m:sSubSupPr>
                          <m:e>
                            <m:r>
                              <a:rPr lang="en-GB" sz="2400" b="0" i="1" smtClean="0">
                                <a:latin typeface="Cambria Math" panose="02040503050406030204" pitchFamily="18" charset="0"/>
                              </a:rPr>
                              <m:t>𝑎</m:t>
                            </m:r>
                          </m:e>
                          <m:sub>
                            <m:r>
                              <a:rPr lang="en-GB" sz="2400" b="0" i="1" smtClean="0">
                                <a:latin typeface="Cambria Math" panose="02040503050406030204" pitchFamily="18" charset="0"/>
                              </a:rPr>
                              <m:t>3</m:t>
                            </m:r>
                          </m:sub>
                          <m:sup>
                            <m:r>
                              <a:rPr lang="en-GB" sz="2400" b="0" i="1" smtClean="0">
                                <a:latin typeface="Cambria Math" panose="02040503050406030204" pitchFamily="18" charset="0"/>
                              </a:rPr>
                              <m:t>1</m:t>
                            </m:r>
                          </m:sup>
                        </m:sSubSup>
                      </m:oMath>
                    </m:oMathPara>
                  </a14:m>
                  <a:endParaRPr lang="en-GB" sz="2400" b="0"/>
                </a:p>
              </p:txBody>
            </p:sp>
          </mc:Choice>
          <mc:Fallback xmlns="">
            <p:sp>
              <p:nvSpPr>
                <p:cNvPr id="46" name="TextBox 45">
                  <a:extLst>
                    <a:ext uri="{FF2B5EF4-FFF2-40B4-BE49-F238E27FC236}">
                      <a16:creationId xmlns:a16="http://schemas.microsoft.com/office/drawing/2014/main" id="{5DC289F7-8EFF-AAFB-FA06-6237D0AA3104}"/>
                    </a:ext>
                  </a:extLst>
                </p:cNvPr>
                <p:cNvSpPr txBox="1">
                  <a:spLocks noRot="1" noChangeAspect="1" noMove="1" noResize="1" noEditPoints="1" noAdjustHandles="1" noChangeArrowheads="1" noChangeShapeType="1" noTextEdit="1"/>
                </p:cNvSpPr>
                <p:nvPr/>
              </p:nvSpPr>
              <p:spPr>
                <a:xfrm>
                  <a:off x="3748399" y="4507486"/>
                  <a:ext cx="526264" cy="375424"/>
                </a:xfrm>
                <a:prstGeom prst="rect">
                  <a:avLst/>
                </a:prstGeom>
                <a:blipFill>
                  <a:blip r:embed="rId14"/>
                  <a:stretch>
                    <a:fillRect t="-22581" r="-30233" b="-48387"/>
                  </a:stretch>
                </a:blipFill>
              </p:spPr>
              <p:txBody>
                <a:bodyPr/>
                <a:lstStyle/>
                <a:p>
                  <a:r>
                    <a:rPr lang="en-US">
                      <a:noFill/>
                    </a:rPr>
                    <a:t> </a:t>
                  </a:r>
                </a:p>
              </p:txBody>
            </p:sp>
          </mc:Fallback>
        </mc:AlternateContent>
        <p:sp>
          <p:nvSpPr>
            <p:cNvPr id="4" name="Oval 3">
              <a:extLst>
                <a:ext uri="{FF2B5EF4-FFF2-40B4-BE49-F238E27FC236}">
                  <a16:creationId xmlns:a16="http://schemas.microsoft.com/office/drawing/2014/main" id="{6523451F-E1C9-1950-1FDF-E122B6DB051C}"/>
                </a:ext>
              </a:extLst>
            </p:cNvPr>
            <p:cNvSpPr/>
            <p:nvPr/>
          </p:nvSpPr>
          <p:spPr>
            <a:xfrm>
              <a:off x="3726984" y="1819774"/>
              <a:ext cx="649966" cy="64996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ln>
                  <a:solidFill>
                    <a:schemeClr val="tx1"/>
                  </a:solidFill>
                </a:ln>
                <a:noFill/>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98F0A425-AFAF-646D-CB99-08D75522F7E0}"/>
                    </a:ext>
                  </a:extLst>
                </p:cNvPr>
                <p:cNvSpPr txBox="1"/>
                <p:nvPr/>
              </p:nvSpPr>
              <p:spPr>
                <a:xfrm>
                  <a:off x="3775895" y="1953881"/>
                  <a:ext cx="526264" cy="372859"/>
                </a:xfrm>
                <a:prstGeom prst="rect">
                  <a:avLst/>
                </a:prstGeom>
                <a:noFill/>
              </p:spPr>
              <p:txBody>
                <a:bodyPr wrap="square" lIns="0" tIns="0" rIns="0" bIns="0" rtlCol="0">
                  <a:spAutoFit/>
                </a:bodyPr>
                <a:lstStyle/>
                <a:p>
                  <a:pPr/>
                  <a14:m>
                    <m:oMathPara xmlns:m="http://schemas.openxmlformats.org/officeDocument/2006/math">
                      <m:oMath>
                        <m:sSubSup>
                          <m:sSubSupPr>
                            <m:ctrlPr>
                              <a:rPr lang="en-GB" sz="2400" b="0" i="1" smtClean="0">
                                <a:latin typeface="Cambria Math" panose="02040503050406030204" pitchFamily="18" charset="0"/>
                              </a:rPr>
                            </m:ctrlPr>
                          </m:sSubSupPr>
                          <m:e>
                            <m:r>
                              <a:rPr lang="en-GB" sz="2400" b="0" i="1" smtClean="0">
                                <a:latin typeface="Cambria Math" panose="02040503050406030204" pitchFamily="18" charset="0"/>
                              </a:rPr>
                              <m:t>𝑎</m:t>
                            </m:r>
                          </m:e>
                          <m:sub>
                            <m:r>
                              <a:rPr lang="en-BE" sz="2400" b="0" i="1" smtClean="0">
                                <a:latin typeface="Cambria Math" panose="02040503050406030204" pitchFamily="18" charset="0"/>
                              </a:rPr>
                              <m:t>0</m:t>
                            </m:r>
                          </m:sub>
                          <m:sup>
                            <m:r>
                              <a:rPr lang="en-GB" sz="2400" b="0" i="1" smtClean="0">
                                <a:latin typeface="Cambria Math" panose="02040503050406030204" pitchFamily="18" charset="0"/>
                              </a:rPr>
                              <m:t>1</m:t>
                            </m:r>
                          </m:sup>
                        </m:sSubSup>
                      </m:oMath>
                    </m:oMathPara>
                  </a14:m>
                  <a:endParaRPr lang="en-GB" sz="2400" b="0"/>
                </a:p>
              </p:txBody>
            </p:sp>
          </mc:Choice>
          <mc:Fallback xmlns="">
            <p:sp>
              <p:nvSpPr>
                <p:cNvPr id="21" name="TextBox 20">
                  <a:extLst>
                    <a:ext uri="{FF2B5EF4-FFF2-40B4-BE49-F238E27FC236}">
                      <a16:creationId xmlns:a16="http://schemas.microsoft.com/office/drawing/2014/main" id="{98F0A425-AFAF-646D-CB99-08D75522F7E0}"/>
                    </a:ext>
                  </a:extLst>
                </p:cNvPr>
                <p:cNvSpPr txBox="1">
                  <a:spLocks noRot="1" noChangeAspect="1" noMove="1" noResize="1" noEditPoints="1" noAdjustHandles="1" noChangeArrowheads="1" noChangeShapeType="1" noTextEdit="1"/>
                </p:cNvSpPr>
                <p:nvPr/>
              </p:nvSpPr>
              <p:spPr>
                <a:xfrm>
                  <a:off x="3775895" y="1953881"/>
                  <a:ext cx="526264" cy="372859"/>
                </a:xfrm>
                <a:prstGeom prst="rect">
                  <a:avLst/>
                </a:prstGeom>
                <a:blipFill>
                  <a:blip r:embed="rId15"/>
                  <a:stretch>
                    <a:fillRect t="-24590" r="-29885" b="-49180"/>
                  </a:stretch>
                </a:blipFill>
              </p:spPr>
              <p:txBody>
                <a:bodyPr/>
                <a:lstStyle/>
                <a:p>
                  <a:r>
                    <a:rPr lang="en-US">
                      <a:noFill/>
                    </a:rPr>
                    <a:t> </a:t>
                  </a:r>
                </a:p>
              </p:txBody>
            </p:sp>
          </mc:Fallback>
        </mc:AlternateContent>
      </p:grpSp>
      <p:sp>
        <p:nvSpPr>
          <p:cNvPr id="37" name="Title 36">
            <a:extLst>
              <a:ext uri="{FF2B5EF4-FFF2-40B4-BE49-F238E27FC236}">
                <a16:creationId xmlns:a16="http://schemas.microsoft.com/office/drawing/2014/main" id="{0479F544-41C8-8D71-9935-DF990C014C06}"/>
              </a:ext>
            </a:extLst>
          </p:cNvPr>
          <p:cNvSpPr>
            <a:spLocks noGrp="1"/>
          </p:cNvSpPr>
          <p:nvPr>
            <p:ph type="title"/>
          </p:nvPr>
        </p:nvSpPr>
        <p:spPr>
          <a:xfrm>
            <a:off x="433633" y="365125"/>
            <a:ext cx="11324734" cy="418128"/>
          </a:xfrm>
        </p:spPr>
        <p:txBody>
          <a:bodyPr>
            <a:noAutofit/>
          </a:bodyPr>
          <a:lstStyle/>
          <a:p>
            <a:r>
              <a:rPr lang="en-US"/>
              <a:t>A deep neural network adds many layers to capture</a:t>
            </a:r>
            <a:br>
              <a:rPr lang="en-US"/>
            </a:br>
            <a:r>
              <a:rPr lang="en-US"/>
              <a:t>complex patterns</a:t>
            </a:r>
            <a:endParaRPr lang="en-BE"/>
          </a:p>
        </p:txBody>
      </p:sp>
      <p:sp>
        <p:nvSpPr>
          <p:cNvPr id="39" name="TextBox 38">
            <a:extLst>
              <a:ext uri="{FF2B5EF4-FFF2-40B4-BE49-F238E27FC236}">
                <a16:creationId xmlns:a16="http://schemas.microsoft.com/office/drawing/2014/main" id="{70C2DC61-901F-50E1-D4B8-4AEF29349BEF}"/>
              </a:ext>
            </a:extLst>
          </p:cNvPr>
          <p:cNvSpPr txBox="1"/>
          <p:nvPr/>
        </p:nvSpPr>
        <p:spPr>
          <a:xfrm>
            <a:off x="433633" y="5577751"/>
            <a:ext cx="2017508" cy="369332"/>
          </a:xfrm>
          <a:prstGeom prst="rect">
            <a:avLst/>
          </a:prstGeom>
          <a:noFill/>
        </p:spPr>
        <p:txBody>
          <a:bodyPr wrap="square" rtlCol="0">
            <a:spAutoFit/>
          </a:bodyPr>
          <a:lstStyle/>
          <a:p>
            <a:pPr algn="ctr"/>
            <a:r>
              <a:rPr lang="en-US" i="1"/>
              <a:t>features</a:t>
            </a:r>
            <a:endParaRPr lang="en-BE" i="1"/>
          </a:p>
        </p:txBody>
      </p:sp>
      <p:sp>
        <p:nvSpPr>
          <p:cNvPr id="40" name="TextBox 39">
            <a:extLst>
              <a:ext uri="{FF2B5EF4-FFF2-40B4-BE49-F238E27FC236}">
                <a16:creationId xmlns:a16="http://schemas.microsoft.com/office/drawing/2014/main" id="{22AB06F6-13C2-ABD5-0C1E-D111AA3DE2D7}"/>
              </a:ext>
            </a:extLst>
          </p:cNvPr>
          <p:cNvSpPr txBox="1"/>
          <p:nvPr/>
        </p:nvSpPr>
        <p:spPr>
          <a:xfrm>
            <a:off x="3071765" y="5577311"/>
            <a:ext cx="2017508" cy="369332"/>
          </a:xfrm>
          <a:prstGeom prst="rect">
            <a:avLst/>
          </a:prstGeom>
          <a:noFill/>
        </p:spPr>
        <p:txBody>
          <a:bodyPr wrap="square" rtlCol="0">
            <a:spAutoFit/>
          </a:bodyPr>
          <a:lstStyle/>
          <a:p>
            <a:pPr algn="ctr"/>
            <a:r>
              <a:rPr lang="en-US" i="1"/>
              <a:t>hidden layer 1</a:t>
            </a:r>
            <a:endParaRPr lang="en-BE" i="1"/>
          </a:p>
        </p:txBody>
      </p:sp>
      <p:sp>
        <p:nvSpPr>
          <p:cNvPr id="42" name="TextBox 41">
            <a:extLst>
              <a:ext uri="{FF2B5EF4-FFF2-40B4-BE49-F238E27FC236}">
                <a16:creationId xmlns:a16="http://schemas.microsoft.com/office/drawing/2014/main" id="{45D4674C-9E7A-858C-B7C7-305AF7FFC883}"/>
              </a:ext>
            </a:extLst>
          </p:cNvPr>
          <p:cNvSpPr txBox="1"/>
          <p:nvPr/>
        </p:nvSpPr>
        <p:spPr>
          <a:xfrm>
            <a:off x="5660206" y="5577311"/>
            <a:ext cx="2017508" cy="369332"/>
          </a:xfrm>
          <a:prstGeom prst="rect">
            <a:avLst/>
          </a:prstGeom>
          <a:noFill/>
        </p:spPr>
        <p:txBody>
          <a:bodyPr wrap="square" rtlCol="0">
            <a:spAutoFit/>
          </a:bodyPr>
          <a:lstStyle/>
          <a:p>
            <a:pPr algn="ctr"/>
            <a:r>
              <a:rPr lang="en-US" i="1"/>
              <a:t>hidden layer 2</a:t>
            </a:r>
            <a:endParaRPr lang="en-BE" i="1"/>
          </a:p>
        </p:txBody>
      </p:sp>
      <p:sp>
        <p:nvSpPr>
          <p:cNvPr id="43" name="TextBox 42">
            <a:extLst>
              <a:ext uri="{FF2B5EF4-FFF2-40B4-BE49-F238E27FC236}">
                <a16:creationId xmlns:a16="http://schemas.microsoft.com/office/drawing/2014/main" id="{3394FBF0-E608-2905-27A2-892877751971}"/>
              </a:ext>
            </a:extLst>
          </p:cNvPr>
          <p:cNvSpPr txBox="1"/>
          <p:nvPr/>
        </p:nvSpPr>
        <p:spPr>
          <a:xfrm>
            <a:off x="8412685" y="5577311"/>
            <a:ext cx="2017508" cy="369332"/>
          </a:xfrm>
          <a:prstGeom prst="rect">
            <a:avLst/>
          </a:prstGeom>
          <a:noFill/>
        </p:spPr>
        <p:txBody>
          <a:bodyPr wrap="square" rtlCol="0">
            <a:spAutoFit/>
          </a:bodyPr>
          <a:lstStyle/>
          <a:p>
            <a:pPr algn="ctr"/>
            <a:r>
              <a:rPr lang="en-US" i="1"/>
              <a:t>output layer</a:t>
            </a:r>
            <a:endParaRPr lang="en-BE" i="1"/>
          </a:p>
        </p:txBody>
      </p:sp>
      <p:cxnSp>
        <p:nvCxnSpPr>
          <p:cNvPr id="89" name="Straight Arrow Connector 88">
            <a:extLst>
              <a:ext uri="{FF2B5EF4-FFF2-40B4-BE49-F238E27FC236}">
                <a16:creationId xmlns:a16="http://schemas.microsoft.com/office/drawing/2014/main" id="{F2420607-0C17-54A9-CEC8-C63FB7C073FD}"/>
              </a:ext>
            </a:extLst>
          </p:cNvPr>
          <p:cNvCxnSpPr>
            <a:cxnSpLocks/>
            <a:stCxn id="4" idx="6"/>
            <a:endCxn id="53" idx="2"/>
          </p:cNvCxnSpPr>
          <p:nvPr/>
        </p:nvCxnSpPr>
        <p:spPr>
          <a:xfrm>
            <a:off x="4376950" y="2144757"/>
            <a:ext cx="1997814" cy="429045"/>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8D0F14F0-C956-6693-E5F1-5F1FED933BC2}"/>
              </a:ext>
            </a:extLst>
          </p:cNvPr>
          <p:cNvCxnSpPr>
            <a:cxnSpLocks/>
            <a:stCxn id="4" idx="6"/>
            <a:endCxn id="55" idx="2"/>
          </p:cNvCxnSpPr>
          <p:nvPr/>
        </p:nvCxnSpPr>
        <p:spPr>
          <a:xfrm>
            <a:off x="4376950" y="2144757"/>
            <a:ext cx="1986361" cy="2135293"/>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5" name="Slide Number Placeholder 3">
            <a:extLst>
              <a:ext uri="{FF2B5EF4-FFF2-40B4-BE49-F238E27FC236}">
                <a16:creationId xmlns:a16="http://schemas.microsoft.com/office/drawing/2014/main" id="{886A03EE-86C2-A971-7E68-49981D5DFDBF}"/>
              </a:ext>
            </a:extLst>
          </p:cNvPr>
          <p:cNvSpPr>
            <a:spLocks noGrp="1"/>
          </p:cNvSpPr>
          <p:nvPr>
            <p:ph type="sldNum" sz="quarter" idx="12"/>
          </p:nvPr>
        </p:nvSpPr>
        <p:spPr>
          <a:xfrm>
            <a:off x="10684933" y="6459767"/>
            <a:ext cx="1073434" cy="261708"/>
          </a:xfrm>
        </p:spPr>
        <p:txBody>
          <a:bodyPr/>
          <a:lstStyle/>
          <a:p>
            <a:fld id="{94B3E216-A3C5-4E41-AE94-D003E76F1D3A}" type="slidenum">
              <a:rPr lang="en-US" smtClean="0"/>
              <a:pPr/>
              <a:t>7</a:t>
            </a:fld>
            <a:endParaRPr lang="en-US"/>
          </a:p>
        </p:txBody>
      </p:sp>
    </p:spTree>
    <p:extLst>
      <p:ext uri="{BB962C8B-B14F-4D97-AF65-F5344CB8AC3E}">
        <p14:creationId xmlns:p14="http://schemas.microsoft.com/office/powerpoint/2010/main" val="6332272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F0B203-EE73-2C0F-273F-AAFA09259996}"/>
            </a:ext>
          </a:extLst>
        </p:cNvPr>
        <p:cNvGrpSpPr/>
        <p:nvPr/>
      </p:nvGrpSpPr>
      <p:grpSpPr>
        <a:xfrm>
          <a:off x="0" y="0"/>
          <a:ext cx="0" cy="0"/>
          <a:chOff x="0" y="0"/>
          <a:chExt cx="0" cy="0"/>
        </a:xfrm>
      </p:grpSpPr>
      <p:sp>
        <p:nvSpPr>
          <p:cNvPr id="37" name="Title 36">
            <a:extLst>
              <a:ext uri="{FF2B5EF4-FFF2-40B4-BE49-F238E27FC236}">
                <a16:creationId xmlns:a16="http://schemas.microsoft.com/office/drawing/2014/main" id="{339BC3CC-4DAC-686D-6B25-3330E7814AE2}"/>
              </a:ext>
            </a:extLst>
          </p:cNvPr>
          <p:cNvSpPr>
            <a:spLocks noGrp="1"/>
          </p:cNvSpPr>
          <p:nvPr>
            <p:ph type="title"/>
          </p:nvPr>
        </p:nvSpPr>
        <p:spPr/>
        <p:txBody>
          <a:bodyPr>
            <a:noAutofit/>
          </a:bodyPr>
          <a:lstStyle/>
          <a:p>
            <a:r>
              <a:rPr lang="en-US"/>
              <a:t>A deep neural network adds many layers to capture</a:t>
            </a:r>
            <a:br>
              <a:rPr lang="en-US"/>
            </a:br>
            <a:r>
              <a:rPr lang="en-US"/>
              <a:t>complex patterns</a:t>
            </a:r>
            <a:endParaRPr lang="en-BE"/>
          </a:p>
        </p:txBody>
      </p:sp>
      <p:pic>
        <p:nvPicPr>
          <p:cNvPr id="15" name="Picture 14">
            <a:hlinkClick r:id="rId3"/>
            <a:extLst>
              <a:ext uri="{FF2B5EF4-FFF2-40B4-BE49-F238E27FC236}">
                <a16:creationId xmlns:a16="http://schemas.microsoft.com/office/drawing/2014/main" id="{9BCAF053-3B23-0FA9-0EDA-E8079D97875F}"/>
              </a:ext>
            </a:extLst>
          </p:cNvPr>
          <p:cNvPicPr>
            <a:picLocks noChangeAspect="1"/>
          </p:cNvPicPr>
          <p:nvPr/>
        </p:nvPicPr>
        <p:blipFill>
          <a:blip r:embed="rId4"/>
          <a:stretch>
            <a:fillRect/>
          </a:stretch>
        </p:blipFill>
        <p:spPr>
          <a:xfrm>
            <a:off x="2266901" y="1380757"/>
            <a:ext cx="7658198" cy="4545886"/>
          </a:xfrm>
          <a:prstGeom prst="rect">
            <a:avLst/>
          </a:prstGeom>
        </p:spPr>
      </p:pic>
      <p:sp>
        <p:nvSpPr>
          <p:cNvPr id="2" name="Slide Number Placeholder 3">
            <a:extLst>
              <a:ext uri="{FF2B5EF4-FFF2-40B4-BE49-F238E27FC236}">
                <a16:creationId xmlns:a16="http://schemas.microsoft.com/office/drawing/2014/main" id="{3FDA7157-E713-2906-3374-90725CFFFD00}"/>
              </a:ext>
            </a:extLst>
          </p:cNvPr>
          <p:cNvSpPr>
            <a:spLocks noGrp="1"/>
          </p:cNvSpPr>
          <p:nvPr>
            <p:ph type="sldNum" sz="quarter" idx="12"/>
          </p:nvPr>
        </p:nvSpPr>
        <p:spPr>
          <a:xfrm>
            <a:off x="10684933" y="6459767"/>
            <a:ext cx="1073434" cy="261708"/>
          </a:xfrm>
        </p:spPr>
        <p:txBody>
          <a:bodyPr/>
          <a:lstStyle/>
          <a:p>
            <a:fld id="{94B3E216-A3C5-4E41-AE94-D003E76F1D3A}" type="slidenum">
              <a:rPr lang="en-US" smtClean="0"/>
              <a:pPr/>
              <a:t>8</a:t>
            </a:fld>
            <a:endParaRPr lang="en-US"/>
          </a:p>
        </p:txBody>
      </p:sp>
      <p:sp>
        <p:nvSpPr>
          <p:cNvPr id="3" name="Footer Placeholder 2">
            <a:extLst>
              <a:ext uri="{FF2B5EF4-FFF2-40B4-BE49-F238E27FC236}">
                <a16:creationId xmlns:a16="http://schemas.microsoft.com/office/drawing/2014/main" id="{853AAFCE-C5EF-7571-F9D8-2E05F77AA118}"/>
              </a:ext>
            </a:extLst>
          </p:cNvPr>
          <p:cNvSpPr>
            <a:spLocks noGrp="1"/>
          </p:cNvSpPr>
          <p:nvPr>
            <p:ph type="ftr" sz="quarter" idx="11"/>
          </p:nvPr>
        </p:nvSpPr>
        <p:spPr>
          <a:xfrm>
            <a:off x="433633" y="6459767"/>
            <a:ext cx="10138411" cy="261708"/>
          </a:xfrm>
        </p:spPr>
        <p:txBody>
          <a:bodyPr/>
          <a:lstStyle/>
          <a:p>
            <a:r>
              <a:rPr lang="en-US"/>
              <a:t>https://playground.tensorflow.org</a:t>
            </a:r>
          </a:p>
        </p:txBody>
      </p:sp>
    </p:spTree>
    <p:extLst>
      <p:ext uri="{BB962C8B-B14F-4D97-AF65-F5344CB8AC3E}">
        <p14:creationId xmlns:p14="http://schemas.microsoft.com/office/powerpoint/2010/main" val="21293555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384A4-6824-D74C-9063-91019B30A60F}"/>
              </a:ext>
            </a:extLst>
          </p:cNvPr>
          <p:cNvSpPr>
            <a:spLocks noGrp="1"/>
          </p:cNvSpPr>
          <p:nvPr>
            <p:ph type="title"/>
          </p:nvPr>
        </p:nvSpPr>
        <p:spPr/>
        <p:txBody>
          <a:bodyPr/>
          <a:lstStyle/>
          <a:p>
            <a:r>
              <a:rPr lang="en-US" i="1"/>
              <a:t>Activation functions</a:t>
            </a:r>
            <a:r>
              <a:rPr lang="en-US"/>
              <a:t> can be added on the output of each node</a:t>
            </a:r>
            <a:endParaRPr lang="en-BE" i="1"/>
          </a:p>
        </p:txBody>
      </p:sp>
      <p:sp>
        <p:nvSpPr>
          <p:cNvPr id="3" name="Content Placeholder 2">
            <a:extLst>
              <a:ext uri="{FF2B5EF4-FFF2-40B4-BE49-F238E27FC236}">
                <a16:creationId xmlns:a16="http://schemas.microsoft.com/office/drawing/2014/main" id="{DA3E83D0-A7B8-608E-DE3F-19F3C178D75A}"/>
              </a:ext>
            </a:extLst>
          </p:cNvPr>
          <p:cNvSpPr>
            <a:spLocks noGrp="1"/>
          </p:cNvSpPr>
          <p:nvPr>
            <p:ph idx="1"/>
          </p:nvPr>
        </p:nvSpPr>
        <p:spPr/>
        <p:txBody>
          <a:bodyPr/>
          <a:lstStyle/>
          <a:p>
            <a:pPr marL="0" indent="0">
              <a:buNone/>
            </a:pPr>
            <a:r>
              <a:rPr lang="en-US"/>
              <a:t>➡️ Capture non-linear relationships</a:t>
            </a:r>
          </a:p>
          <a:p>
            <a:pPr marL="0" indent="0">
              <a:buNone/>
            </a:pPr>
            <a:r>
              <a:rPr lang="en-US"/>
              <a:t>➡️ Avoid exploding or diminishing outputs in deep networks</a:t>
            </a:r>
            <a:endParaRPr lang="en-BE"/>
          </a:p>
        </p:txBody>
      </p:sp>
      <p:sp>
        <p:nvSpPr>
          <p:cNvPr id="4" name="Slide Number Placeholder 3">
            <a:extLst>
              <a:ext uri="{FF2B5EF4-FFF2-40B4-BE49-F238E27FC236}">
                <a16:creationId xmlns:a16="http://schemas.microsoft.com/office/drawing/2014/main" id="{657701FF-871F-A0CE-B6A5-12232CDBBEAA}"/>
              </a:ext>
            </a:extLst>
          </p:cNvPr>
          <p:cNvSpPr>
            <a:spLocks noGrp="1"/>
          </p:cNvSpPr>
          <p:nvPr>
            <p:ph type="sldNum" sz="quarter" idx="12"/>
          </p:nvPr>
        </p:nvSpPr>
        <p:spPr/>
        <p:txBody>
          <a:bodyPr/>
          <a:lstStyle/>
          <a:p>
            <a:fld id="{94B3E216-A3C5-4E41-AE94-D003E76F1D3A}" type="slidenum">
              <a:rPr lang="en-US" smtClean="0"/>
              <a:pPr/>
              <a:t>9</a:t>
            </a:fld>
            <a:endParaRPr lang="en-US"/>
          </a:p>
        </p:txBody>
      </p:sp>
      <p:pic>
        <p:nvPicPr>
          <p:cNvPr id="5" name="Picture 4">
            <a:extLst>
              <a:ext uri="{FF2B5EF4-FFF2-40B4-BE49-F238E27FC236}">
                <a16:creationId xmlns:a16="http://schemas.microsoft.com/office/drawing/2014/main" id="{8FCDCAE5-3DEB-ED48-D7B3-8CE0712C884C}"/>
              </a:ext>
            </a:extLst>
          </p:cNvPr>
          <p:cNvPicPr>
            <a:picLocks noChangeAspect="1"/>
          </p:cNvPicPr>
          <p:nvPr/>
        </p:nvPicPr>
        <p:blipFill>
          <a:blip r:embed="rId3"/>
          <a:stretch>
            <a:fillRect/>
          </a:stretch>
        </p:blipFill>
        <p:spPr>
          <a:xfrm>
            <a:off x="1658816" y="2362153"/>
            <a:ext cx="8874368" cy="3845747"/>
          </a:xfrm>
          <a:prstGeom prst="rect">
            <a:avLst/>
          </a:prstGeom>
        </p:spPr>
      </p:pic>
    </p:spTree>
    <p:extLst>
      <p:ext uri="{BB962C8B-B14F-4D97-AF65-F5344CB8AC3E}">
        <p14:creationId xmlns:p14="http://schemas.microsoft.com/office/powerpoint/2010/main" val="34285703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090D2-573C-0940-F527-6DB092E4B6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91751E-871E-01D2-A7D2-8A735BFE59EC}"/>
              </a:ext>
            </a:extLst>
          </p:cNvPr>
          <p:cNvSpPr>
            <a:spLocks noGrp="1"/>
          </p:cNvSpPr>
          <p:nvPr>
            <p:ph type="title"/>
          </p:nvPr>
        </p:nvSpPr>
        <p:spPr>
          <a:xfrm>
            <a:off x="433633" y="365125"/>
            <a:ext cx="11324734" cy="418128"/>
          </a:xfrm>
        </p:spPr>
        <p:txBody>
          <a:bodyPr/>
          <a:lstStyle/>
          <a:p>
            <a:r>
              <a:rPr lang="en-US"/>
              <a:t>Do we need to go deeper?</a:t>
            </a:r>
            <a:endParaRPr lang="en-BE"/>
          </a:p>
        </p:txBody>
      </p:sp>
      <p:sp>
        <p:nvSpPr>
          <p:cNvPr id="3" name="Content Placeholder 2">
            <a:extLst>
              <a:ext uri="{FF2B5EF4-FFF2-40B4-BE49-F238E27FC236}">
                <a16:creationId xmlns:a16="http://schemas.microsoft.com/office/drawing/2014/main" id="{EF21D9BE-2142-8365-8E22-C990FA6D1DCC}"/>
              </a:ext>
            </a:extLst>
          </p:cNvPr>
          <p:cNvSpPr>
            <a:spLocks noGrp="1"/>
          </p:cNvSpPr>
          <p:nvPr>
            <p:ph idx="1"/>
          </p:nvPr>
        </p:nvSpPr>
        <p:spPr>
          <a:xfrm>
            <a:off x="433389" y="1225550"/>
            <a:ext cx="5186236" cy="5108575"/>
          </a:xfrm>
        </p:spPr>
        <p:txBody>
          <a:bodyPr anchor="ctr"/>
          <a:lstStyle/>
          <a:p>
            <a:pPr marL="0" indent="0">
              <a:buNone/>
            </a:pPr>
            <a:r>
              <a:rPr lang="en-US"/>
              <a:t>Deeper networks…</a:t>
            </a:r>
          </a:p>
          <a:p>
            <a:pPr marL="0" indent="0">
              <a:buNone/>
            </a:pPr>
            <a:r>
              <a:rPr lang="en-US"/>
              <a:t>➡️  … can learn more complex patterns</a:t>
            </a:r>
          </a:p>
          <a:p>
            <a:pPr marL="0" indent="0">
              <a:buNone/>
            </a:pPr>
            <a:r>
              <a:rPr lang="en-US"/>
              <a:t>➡️  … require more data to be trained</a:t>
            </a:r>
          </a:p>
          <a:p>
            <a:pPr marL="0" indent="0">
              <a:buNone/>
            </a:pPr>
            <a:endParaRPr lang="en-US"/>
          </a:p>
          <a:p>
            <a:pPr marL="0" indent="0">
              <a:buNone/>
            </a:pPr>
            <a:endParaRPr lang="nl-BE"/>
          </a:p>
          <a:p>
            <a:pPr marL="0" indent="0">
              <a:buNone/>
            </a:pPr>
            <a:endParaRPr lang="nl-BE"/>
          </a:p>
          <a:p>
            <a:pPr marL="0" indent="0">
              <a:buNone/>
            </a:pPr>
            <a:endParaRPr lang="nl-BE"/>
          </a:p>
          <a:p>
            <a:pPr marL="0" indent="0">
              <a:buNone/>
            </a:pPr>
            <a:endParaRPr lang="nl-BE"/>
          </a:p>
          <a:p>
            <a:pPr marL="0" indent="0">
              <a:buNone/>
            </a:pPr>
            <a:endParaRPr lang="en-BE"/>
          </a:p>
        </p:txBody>
      </p:sp>
      <p:sp>
        <p:nvSpPr>
          <p:cNvPr id="4" name="Slide Number Placeholder 3">
            <a:extLst>
              <a:ext uri="{FF2B5EF4-FFF2-40B4-BE49-F238E27FC236}">
                <a16:creationId xmlns:a16="http://schemas.microsoft.com/office/drawing/2014/main" id="{DCF8FF05-1B32-2FE3-14BE-A89E8C2C71AF}"/>
              </a:ext>
            </a:extLst>
          </p:cNvPr>
          <p:cNvSpPr>
            <a:spLocks noGrp="1"/>
          </p:cNvSpPr>
          <p:nvPr>
            <p:ph type="sldNum" sz="quarter" idx="12"/>
          </p:nvPr>
        </p:nvSpPr>
        <p:spPr>
          <a:xfrm>
            <a:off x="10684933" y="6459767"/>
            <a:ext cx="1073434" cy="261708"/>
          </a:xfrm>
        </p:spPr>
        <p:txBody>
          <a:bodyPr/>
          <a:lstStyle/>
          <a:p>
            <a:fld id="{94B3E216-A3C5-4E41-AE94-D003E76F1D3A}" type="slidenum">
              <a:rPr lang="en-US" smtClean="0"/>
              <a:pPr/>
              <a:t>10</a:t>
            </a:fld>
            <a:endParaRPr lang="en-US"/>
          </a:p>
        </p:txBody>
      </p:sp>
      <p:pic>
        <p:nvPicPr>
          <p:cNvPr id="6" name="Picture 4" descr="Related image">
            <a:extLst>
              <a:ext uri="{FF2B5EF4-FFF2-40B4-BE49-F238E27FC236}">
                <a16:creationId xmlns:a16="http://schemas.microsoft.com/office/drawing/2014/main" id="{3951A24A-A5F1-4A87-E85E-06A9C98A905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5830966" y="2046188"/>
            <a:ext cx="5927401" cy="36305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6174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4C766A1-B906-5458-804A-6FC35C7F494C}"/>
              </a:ext>
            </a:extLst>
          </p:cNvPr>
          <p:cNvSpPr>
            <a:spLocks noGrp="1"/>
          </p:cNvSpPr>
          <p:nvPr>
            <p:ph type="title"/>
          </p:nvPr>
        </p:nvSpPr>
        <p:spPr/>
        <p:txBody>
          <a:bodyPr/>
          <a:lstStyle/>
          <a:p>
            <a:r>
              <a:rPr lang="en-US"/>
              <a:t>For complex tasks, deeper seems better…</a:t>
            </a:r>
            <a:endParaRPr lang="en-BE"/>
          </a:p>
        </p:txBody>
      </p:sp>
      <p:sp>
        <p:nvSpPr>
          <p:cNvPr id="4" name="Content Placeholder 3">
            <a:extLst>
              <a:ext uri="{FF2B5EF4-FFF2-40B4-BE49-F238E27FC236}">
                <a16:creationId xmlns:a16="http://schemas.microsoft.com/office/drawing/2014/main" id="{D66B9E8F-8ADC-15D4-EAB6-58EA09609E6C}"/>
              </a:ext>
            </a:extLst>
          </p:cNvPr>
          <p:cNvSpPr>
            <a:spLocks noGrp="1"/>
          </p:cNvSpPr>
          <p:nvPr>
            <p:ph idx="1"/>
          </p:nvPr>
        </p:nvSpPr>
        <p:spPr/>
        <p:txBody>
          <a:bodyPr/>
          <a:lstStyle/>
          <a:p>
            <a:pPr marL="0" indent="0">
              <a:buNone/>
            </a:pPr>
            <a:r>
              <a:rPr lang="en-US"/>
              <a:t>However, more complicated architecture setups are required to make the models learn well.</a:t>
            </a:r>
            <a:endParaRPr lang="en-BE"/>
          </a:p>
        </p:txBody>
      </p:sp>
      <p:sp>
        <p:nvSpPr>
          <p:cNvPr id="2" name="Slide Number Placeholder 1">
            <a:extLst>
              <a:ext uri="{FF2B5EF4-FFF2-40B4-BE49-F238E27FC236}">
                <a16:creationId xmlns:a16="http://schemas.microsoft.com/office/drawing/2014/main" id="{715B50C2-9079-577E-9E36-DE4258EEF85D}"/>
              </a:ext>
            </a:extLst>
          </p:cNvPr>
          <p:cNvSpPr>
            <a:spLocks noGrp="1"/>
          </p:cNvSpPr>
          <p:nvPr>
            <p:ph type="sldNum" sz="quarter" idx="12"/>
          </p:nvPr>
        </p:nvSpPr>
        <p:spPr/>
        <p:txBody>
          <a:bodyPr/>
          <a:lstStyle/>
          <a:p>
            <a:fld id="{94B3E216-A3C5-4E41-AE94-D003E76F1D3A}" type="slidenum">
              <a:rPr lang="en-BE" smtClean="0"/>
              <a:t>11</a:t>
            </a:fld>
            <a:endParaRPr lang="en-BE"/>
          </a:p>
        </p:txBody>
      </p:sp>
      <p:pic>
        <p:nvPicPr>
          <p:cNvPr id="5" name="Picture 2">
            <a:extLst>
              <a:ext uri="{FF2B5EF4-FFF2-40B4-BE49-F238E27FC236}">
                <a16:creationId xmlns:a16="http://schemas.microsoft.com/office/drawing/2014/main" id="{1140B63B-6C83-D270-AAB8-14FF8E097A6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50599" y="1709944"/>
            <a:ext cx="7280030" cy="4696793"/>
          </a:xfrm>
          <a:prstGeom prst="rect">
            <a:avLst/>
          </a:prstGeom>
          <a:noFill/>
          <a:extLst>
            <a:ext uri="{909E8E84-426E-40DD-AFC4-6F175D3DCCD1}">
              <a14:hiddenFill xmlns:a14="http://schemas.microsoft.com/office/drawing/2010/main">
                <a:solidFill>
                  <a:srgbClr val="FFFFFF"/>
                </a:solidFill>
              </a14:hiddenFill>
            </a:ext>
          </a:extLst>
        </p:spPr>
      </p:pic>
      <p:sp>
        <p:nvSpPr>
          <p:cNvPr id="6" name="Footer Placeholder 5">
            <a:extLst>
              <a:ext uri="{FF2B5EF4-FFF2-40B4-BE49-F238E27FC236}">
                <a16:creationId xmlns:a16="http://schemas.microsoft.com/office/drawing/2014/main" id="{A530488C-D42D-7AD8-E898-3702E70FE5B9}"/>
              </a:ext>
            </a:extLst>
          </p:cNvPr>
          <p:cNvSpPr>
            <a:spLocks noGrp="1"/>
          </p:cNvSpPr>
          <p:nvPr>
            <p:ph type="ftr" sz="quarter" idx="11"/>
          </p:nvPr>
        </p:nvSpPr>
        <p:spPr/>
        <p:txBody>
          <a:bodyPr/>
          <a:lstStyle/>
          <a:p>
            <a:r>
              <a:rPr lang="en-US"/>
              <a:t>https://huggingface.co/blog/large-language-models</a:t>
            </a:r>
          </a:p>
        </p:txBody>
      </p:sp>
    </p:spTree>
    <p:extLst>
      <p:ext uri="{BB962C8B-B14F-4D97-AF65-F5344CB8AC3E}">
        <p14:creationId xmlns:p14="http://schemas.microsoft.com/office/powerpoint/2010/main" val="15839110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E248F-D24D-CE75-E061-8AF3EFB0B22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F0F29D5-8308-592E-A3C0-AE6EB1980984}"/>
              </a:ext>
            </a:extLst>
          </p:cNvPr>
          <p:cNvSpPr>
            <a:spLocks noGrp="1"/>
          </p:cNvSpPr>
          <p:nvPr>
            <p:ph type="title"/>
          </p:nvPr>
        </p:nvSpPr>
        <p:spPr/>
        <p:txBody>
          <a:bodyPr/>
          <a:lstStyle/>
          <a:p>
            <a:r>
              <a:rPr lang="en-US"/>
              <a:t>For complex tasks, deeper seems better…</a:t>
            </a:r>
            <a:endParaRPr lang="en-BE"/>
          </a:p>
        </p:txBody>
      </p:sp>
      <p:sp>
        <p:nvSpPr>
          <p:cNvPr id="4" name="Content Placeholder 3">
            <a:extLst>
              <a:ext uri="{FF2B5EF4-FFF2-40B4-BE49-F238E27FC236}">
                <a16:creationId xmlns:a16="http://schemas.microsoft.com/office/drawing/2014/main" id="{2702D642-DE3F-DA4E-8798-25DA1686F7DE}"/>
              </a:ext>
            </a:extLst>
          </p:cNvPr>
          <p:cNvSpPr>
            <a:spLocks noGrp="1"/>
          </p:cNvSpPr>
          <p:nvPr>
            <p:ph idx="1"/>
          </p:nvPr>
        </p:nvSpPr>
        <p:spPr/>
        <p:txBody>
          <a:bodyPr/>
          <a:lstStyle/>
          <a:p>
            <a:pPr marL="0" indent="0">
              <a:buNone/>
            </a:pPr>
            <a:r>
              <a:rPr lang="en-US"/>
              <a:t>However, more complicated architecture setups are required to make the models learn well.</a:t>
            </a:r>
            <a:endParaRPr lang="en-BE"/>
          </a:p>
        </p:txBody>
      </p:sp>
      <p:sp>
        <p:nvSpPr>
          <p:cNvPr id="2" name="Slide Number Placeholder 1">
            <a:extLst>
              <a:ext uri="{FF2B5EF4-FFF2-40B4-BE49-F238E27FC236}">
                <a16:creationId xmlns:a16="http://schemas.microsoft.com/office/drawing/2014/main" id="{BA5B210A-DC11-2209-C47A-CA3EDBED0CA3}"/>
              </a:ext>
            </a:extLst>
          </p:cNvPr>
          <p:cNvSpPr>
            <a:spLocks noGrp="1"/>
          </p:cNvSpPr>
          <p:nvPr>
            <p:ph type="sldNum" sz="quarter" idx="12"/>
          </p:nvPr>
        </p:nvSpPr>
        <p:spPr/>
        <p:txBody>
          <a:bodyPr/>
          <a:lstStyle/>
          <a:p>
            <a:fld id="{94B3E216-A3C5-4E41-AE94-D003E76F1D3A}" type="slidenum">
              <a:rPr lang="en-BE" smtClean="0"/>
              <a:t>12</a:t>
            </a:fld>
            <a:endParaRPr lang="en-BE"/>
          </a:p>
        </p:txBody>
      </p:sp>
      <p:sp>
        <p:nvSpPr>
          <p:cNvPr id="6" name="Footer Placeholder 5">
            <a:extLst>
              <a:ext uri="{FF2B5EF4-FFF2-40B4-BE49-F238E27FC236}">
                <a16:creationId xmlns:a16="http://schemas.microsoft.com/office/drawing/2014/main" id="{3C4977BB-AA4F-238A-2189-A785ECF6505C}"/>
              </a:ext>
            </a:extLst>
          </p:cNvPr>
          <p:cNvSpPr>
            <a:spLocks noGrp="1"/>
          </p:cNvSpPr>
          <p:nvPr>
            <p:ph type="ftr" sz="quarter" idx="11"/>
          </p:nvPr>
        </p:nvSpPr>
        <p:spPr/>
        <p:txBody>
          <a:bodyPr/>
          <a:lstStyle/>
          <a:p>
            <a:r>
              <a:rPr lang="en-US"/>
              <a:t>https://openai.com/product/gpt-4</a:t>
            </a:r>
          </a:p>
        </p:txBody>
      </p:sp>
      <p:pic>
        <p:nvPicPr>
          <p:cNvPr id="7" name="Picture 2" descr="GPT-4: Facts, Rumors and Expectations about next-gen AI model | by Nick  Babich | UX Planet">
            <a:extLst>
              <a:ext uri="{FF2B5EF4-FFF2-40B4-BE49-F238E27FC236}">
                <a16:creationId xmlns:a16="http://schemas.microsoft.com/office/drawing/2014/main" id="{8F20F040-61B5-0F07-0846-B43ADFC98F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03160" y="1935038"/>
            <a:ext cx="5585680" cy="423859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71684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DBFC5A-FFC9-B587-35A1-0397BF1B9B6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B1C5F92-10D0-9A4B-B741-3E72BB266EF3}"/>
              </a:ext>
            </a:extLst>
          </p:cNvPr>
          <p:cNvSpPr>
            <a:spLocks noGrp="1"/>
          </p:cNvSpPr>
          <p:nvPr>
            <p:ph type="title"/>
          </p:nvPr>
        </p:nvSpPr>
        <p:spPr/>
        <p:txBody>
          <a:bodyPr/>
          <a:lstStyle/>
          <a:p>
            <a:r>
              <a:rPr lang="en-US"/>
              <a:t>For complex tasks, deeper seems better…</a:t>
            </a:r>
            <a:endParaRPr lang="en-BE"/>
          </a:p>
        </p:txBody>
      </p:sp>
      <p:sp>
        <p:nvSpPr>
          <p:cNvPr id="4" name="Content Placeholder 3">
            <a:extLst>
              <a:ext uri="{FF2B5EF4-FFF2-40B4-BE49-F238E27FC236}">
                <a16:creationId xmlns:a16="http://schemas.microsoft.com/office/drawing/2014/main" id="{ACFFFA63-1CC7-AA0A-07F3-3F3D0BD143BD}"/>
              </a:ext>
            </a:extLst>
          </p:cNvPr>
          <p:cNvSpPr>
            <a:spLocks noGrp="1"/>
          </p:cNvSpPr>
          <p:nvPr>
            <p:ph idx="1"/>
          </p:nvPr>
        </p:nvSpPr>
        <p:spPr/>
        <p:txBody>
          <a:bodyPr/>
          <a:lstStyle/>
          <a:p>
            <a:pPr marL="0" indent="0">
              <a:buNone/>
            </a:pPr>
            <a:r>
              <a:rPr lang="en-US"/>
              <a:t>However, more complicated architecture setups are required to make the models learn well.</a:t>
            </a:r>
            <a:endParaRPr lang="en-BE"/>
          </a:p>
        </p:txBody>
      </p:sp>
      <p:sp>
        <p:nvSpPr>
          <p:cNvPr id="2" name="Slide Number Placeholder 1">
            <a:extLst>
              <a:ext uri="{FF2B5EF4-FFF2-40B4-BE49-F238E27FC236}">
                <a16:creationId xmlns:a16="http://schemas.microsoft.com/office/drawing/2014/main" id="{D41FD7B1-E758-A905-21A1-13812D4CABB5}"/>
              </a:ext>
            </a:extLst>
          </p:cNvPr>
          <p:cNvSpPr>
            <a:spLocks noGrp="1"/>
          </p:cNvSpPr>
          <p:nvPr>
            <p:ph type="sldNum" sz="quarter" idx="12"/>
          </p:nvPr>
        </p:nvSpPr>
        <p:spPr/>
        <p:txBody>
          <a:bodyPr/>
          <a:lstStyle/>
          <a:p>
            <a:fld id="{94B3E216-A3C5-4E41-AE94-D003E76F1D3A}" type="slidenum">
              <a:rPr lang="en-BE" smtClean="0"/>
              <a:t>13</a:t>
            </a:fld>
            <a:endParaRPr lang="en-BE"/>
          </a:p>
        </p:txBody>
      </p:sp>
      <p:sp>
        <p:nvSpPr>
          <p:cNvPr id="6" name="Footer Placeholder 5">
            <a:extLst>
              <a:ext uri="{FF2B5EF4-FFF2-40B4-BE49-F238E27FC236}">
                <a16:creationId xmlns:a16="http://schemas.microsoft.com/office/drawing/2014/main" id="{08674E6C-C3E3-FF91-3C4D-BB0D3F49224B}"/>
              </a:ext>
            </a:extLst>
          </p:cNvPr>
          <p:cNvSpPr>
            <a:spLocks noGrp="1"/>
          </p:cNvSpPr>
          <p:nvPr>
            <p:ph type="ftr" sz="quarter" idx="11"/>
          </p:nvPr>
        </p:nvSpPr>
        <p:spPr/>
        <p:txBody>
          <a:bodyPr/>
          <a:lstStyle/>
          <a:p>
            <a:r>
              <a:rPr lang="en-US"/>
              <a:t>https://openai.com/product/gpt-4</a:t>
            </a:r>
          </a:p>
        </p:txBody>
      </p:sp>
      <p:pic>
        <p:nvPicPr>
          <p:cNvPr id="5" name="Picture 2" descr="Mostfa on Twitter: &quot;@AndrewSteinwold Let's put that into perspective, of  course the number of parameters doesn't mean anything, since from human to  human there is a large gap in the model processing">
            <a:extLst>
              <a:ext uri="{FF2B5EF4-FFF2-40B4-BE49-F238E27FC236}">
                <a16:creationId xmlns:a16="http://schemas.microsoft.com/office/drawing/2014/main" id="{6C6D9AFA-8871-AFCE-F5B8-F565568E108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15307" y="1837243"/>
            <a:ext cx="7561385" cy="425131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19924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83832-9215-7377-3A91-72099ABEA52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7985420-0418-65D1-8263-2FB689373BCD}"/>
              </a:ext>
            </a:extLst>
          </p:cNvPr>
          <p:cNvSpPr>
            <a:spLocks noGrp="1"/>
          </p:cNvSpPr>
          <p:nvPr>
            <p:ph type="title"/>
          </p:nvPr>
        </p:nvSpPr>
        <p:spPr>
          <a:xfrm>
            <a:off x="433633" y="365125"/>
            <a:ext cx="11324734" cy="418128"/>
          </a:xfrm>
        </p:spPr>
        <p:txBody>
          <a:bodyPr/>
          <a:lstStyle/>
          <a:p>
            <a:r>
              <a:rPr lang="en-US" noProof="0"/>
              <a:t>The </a:t>
            </a:r>
            <a:r>
              <a:rPr lang="en-US" i="1" noProof="0"/>
              <a:t>loss function </a:t>
            </a:r>
            <a:r>
              <a:rPr lang="en-US" noProof="0"/>
              <a:t>should be minimized to find the optimal model</a:t>
            </a:r>
          </a:p>
        </p:txBody>
      </p:sp>
      <p:sp>
        <p:nvSpPr>
          <p:cNvPr id="8" name="Content Placeholder 2">
            <a:extLst>
              <a:ext uri="{FF2B5EF4-FFF2-40B4-BE49-F238E27FC236}">
                <a16:creationId xmlns:a16="http://schemas.microsoft.com/office/drawing/2014/main" id="{E1086813-7E9A-FC80-B726-7E3067EF15F8}"/>
              </a:ext>
            </a:extLst>
          </p:cNvPr>
          <p:cNvSpPr>
            <a:spLocks noGrp="1"/>
          </p:cNvSpPr>
          <p:nvPr>
            <p:ph idx="1"/>
          </p:nvPr>
        </p:nvSpPr>
        <p:spPr>
          <a:xfrm>
            <a:off x="433388" y="1225551"/>
            <a:ext cx="5356298" cy="4424354"/>
          </a:xfrm>
        </p:spPr>
        <p:txBody>
          <a:bodyPr anchor="ctr">
            <a:normAutofit/>
          </a:bodyPr>
          <a:lstStyle/>
          <a:p>
            <a:pPr marL="0" indent="0" algn="r">
              <a:buNone/>
            </a:pPr>
            <a:r>
              <a:rPr lang="en-US" sz="2400" noProof="0"/>
              <a:t>regression</a:t>
            </a:r>
          </a:p>
          <a:p>
            <a:pPr marL="0" indent="0" algn="r">
              <a:buNone/>
            </a:pPr>
            <a:r>
              <a:rPr lang="en-US" sz="2400" noProof="0"/>
              <a:t>binary classification</a:t>
            </a:r>
          </a:p>
          <a:p>
            <a:pPr marL="0" indent="0" algn="r">
              <a:buNone/>
            </a:pPr>
            <a:r>
              <a:rPr lang="en-US" sz="2400" noProof="0"/>
              <a:t>multi-class classification</a:t>
            </a:r>
          </a:p>
          <a:p>
            <a:pPr marL="0" indent="0" algn="r">
              <a:buNone/>
            </a:pPr>
            <a:r>
              <a:rPr lang="en-US" sz="2400" noProof="0"/>
              <a:t>…</a:t>
            </a:r>
          </a:p>
        </p:txBody>
      </p:sp>
      <p:sp>
        <p:nvSpPr>
          <p:cNvPr id="6" name="Footer Placeholder 5">
            <a:extLst>
              <a:ext uri="{FF2B5EF4-FFF2-40B4-BE49-F238E27FC236}">
                <a16:creationId xmlns:a16="http://schemas.microsoft.com/office/drawing/2014/main" id="{AD807AB9-4A73-7D5D-1A39-8B8E872D156D}"/>
              </a:ext>
            </a:extLst>
          </p:cNvPr>
          <p:cNvSpPr>
            <a:spLocks noGrp="1"/>
          </p:cNvSpPr>
          <p:nvPr>
            <p:ph type="ftr" sz="quarter" idx="11"/>
          </p:nvPr>
        </p:nvSpPr>
        <p:spPr>
          <a:xfrm>
            <a:off x="433633" y="6459767"/>
            <a:ext cx="10138411" cy="261708"/>
          </a:xfrm>
        </p:spPr>
        <p:txBody>
          <a:bodyPr/>
          <a:lstStyle/>
          <a:p>
            <a:endParaRPr lang="en-US" noProof="0"/>
          </a:p>
        </p:txBody>
      </p:sp>
      <p:sp>
        <p:nvSpPr>
          <p:cNvPr id="2" name="Slide Number Placeholder 1">
            <a:extLst>
              <a:ext uri="{FF2B5EF4-FFF2-40B4-BE49-F238E27FC236}">
                <a16:creationId xmlns:a16="http://schemas.microsoft.com/office/drawing/2014/main" id="{5C7DC9D0-9186-8B55-2E02-316BDACB1D7B}"/>
              </a:ext>
            </a:extLst>
          </p:cNvPr>
          <p:cNvSpPr>
            <a:spLocks noGrp="1"/>
          </p:cNvSpPr>
          <p:nvPr>
            <p:ph type="sldNum" sz="quarter" idx="12"/>
          </p:nvPr>
        </p:nvSpPr>
        <p:spPr>
          <a:xfrm>
            <a:off x="10684933" y="6459767"/>
            <a:ext cx="1073434" cy="261708"/>
          </a:xfrm>
        </p:spPr>
        <p:txBody>
          <a:bodyPr/>
          <a:lstStyle/>
          <a:p>
            <a:fld id="{94B3E216-A3C5-4E41-AE94-D003E76F1D3A}" type="slidenum">
              <a:rPr lang="en-US" noProof="0" smtClean="0"/>
              <a:pPr/>
              <a:t>14</a:t>
            </a:fld>
            <a:endParaRPr lang="en-US" noProof="0"/>
          </a:p>
        </p:txBody>
      </p:sp>
      <p:sp>
        <p:nvSpPr>
          <p:cNvPr id="13" name="Content Placeholder 2">
            <a:extLst>
              <a:ext uri="{FF2B5EF4-FFF2-40B4-BE49-F238E27FC236}">
                <a16:creationId xmlns:a16="http://schemas.microsoft.com/office/drawing/2014/main" id="{D0578012-C0E8-5EFD-E745-38C7D2115419}"/>
              </a:ext>
            </a:extLst>
          </p:cNvPr>
          <p:cNvSpPr txBox="1">
            <a:spLocks/>
          </p:cNvSpPr>
          <p:nvPr/>
        </p:nvSpPr>
        <p:spPr>
          <a:xfrm>
            <a:off x="5789686" y="1225550"/>
            <a:ext cx="612628" cy="4424354"/>
          </a:xfrm>
          <a:prstGeom prst="rect">
            <a:avLst/>
          </a:prstGeom>
        </p:spPr>
        <p:txBody>
          <a:bodyPr vert="horz" lIns="0" tIns="0" rIns="0" bIns="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en-GB" sz="2000" kern="1200">
                <a:solidFill>
                  <a:schemeClr val="tx1"/>
                </a:solidFill>
                <a:latin typeface="Aptos SemiBold"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en-GB" sz="1800" kern="1200">
                <a:solidFill>
                  <a:schemeClr val="tx1"/>
                </a:solidFill>
                <a:latin typeface="Aptos SemiBold"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en-GB" sz="1600" kern="1200">
                <a:solidFill>
                  <a:schemeClr val="tx1"/>
                </a:solidFill>
                <a:latin typeface="Aptos SemiBold"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en-GB" sz="1400" kern="1200">
                <a:solidFill>
                  <a:schemeClr val="tx1"/>
                </a:solidFill>
                <a:latin typeface="Aptos SemiBold"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en-BE" sz="1400" kern="1200">
                <a:solidFill>
                  <a:schemeClr val="tx1"/>
                </a:solidFill>
                <a:latin typeface="Aptos SemiBold"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400" noProof="0"/>
              <a:t>➡️</a:t>
            </a:r>
          </a:p>
          <a:p>
            <a:pPr marL="0" indent="0" algn="ctr">
              <a:buFont typeface="Arial" panose="020B0604020202020204" pitchFamily="34" charset="0"/>
              <a:buNone/>
            </a:pPr>
            <a:r>
              <a:rPr lang="en-US" sz="2400" noProof="0"/>
              <a:t>➡️</a:t>
            </a:r>
          </a:p>
          <a:p>
            <a:pPr marL="0" indent="0" algn="ctr">
              <a:buFont typeface="Arial" panose="020B0604020202020204" pitchFamily="34" charset="0"/>
              <a:buNone/>
            </a:pPr>
            <a:r>
              <a:rPr lang="en-US" sz="2400" noProof="0"/>
              <a:t>➡️</a:t>
            </a:r>
          </a:p>
          <a:p>
            <a:pPr marL="0" indent="0" algn="ctr">
              <a:buFont typeface="Arial" panose="020B0604020202020204" pitchFamily="34" charset="0"/>
              <a:buNone/>
            </a:pPr>
            <a:r>
              <a:rPr lang="en-US" sz="2400" noProof="0"/>
              <a:t>➡️</a:t>
            </a:r>
          </a:p>
        </p:txBody>
      </p:sp>
      <p:sp>
        <p:nvSpPr>
          <p:cNvPr id="14" name="Content Placeholder 2">
            <a:extLst>
              <a:ext uri="{FF2B5EF4-FFF2-40B4-BE49-F238E27FC236}">
                <a16:creationId xmlns:a16="http://schemas.microsoft.com/office/drawing/2014/main" id="{A66634EA-05A4-436F-3F3B-A68EB9F13931}"/>
              </a:ext>
            </a:extLst>
          </p:cNvPr>
          <p:cNvSpPr txBox="1">
            <a:spLocks/>
          </p:cNvSpPr>
          <p:nvPr/>
        </p:nvSpPr>
        <p:spPr>
          <a:xfrm>
            <a:off x="6402314" y="1225549"/>
            <a:ext cx="5356298" cy="4424354"/>
          </a:xfrm>
          <a:prstGeom prst="rect">
            <a:avLst/>
          </a:prstGeom>
        </p:spPr>
        <p:txBody>
          <a:bodyPr vert="horz" lIns="0" tIns="0" rIns="0" bIns="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en-GB" sz="2000" kern="1200">
                <a:solidFill>
                  <a:schemeClr val="tx1"/>
                </a:solidFill>
                <a:latin typeface="Aptos SemiBold"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en-GB" sz="1800" kern="1200">
                <a:solidFill>
                  <a:schemeClr val="tx1"/>
                </a:solidFill>
                <a:latin typeface="Aptos SemiBold"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en-GB" sz="1600" kern="1200">
                <a:solidFill>
                  <a:schemeClr val="tx1"/>
                </a:solidFill>
                <a:latin typeface="Aptos SemiBold"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en-GB" sz="1400" kern="1200">
                <a:solidFill>
                  <a:schemeClr val="tx1"/>
                </a:solidFill>
                <a:latin typeface="Aptos SemiBold"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en-BE" sz="1400" kern="1200">
                <a:solidFill>
                  <a:schemeClr val="tx1"/>
                </a:solidFill>
                <a:latin typeface="Aptos SemiBold"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noProof="0"/>
              <a:t>MSE</a:t>
            </a:r>
          </a:p>
          <a:p>
            <a:pPr marL="0" indent="0">
              <a:buFont typeface="Arial" panose="020B0604020202020204" pitchFamily="34" charset="0"/>
              <a:buNone/>
            </a:pPr>
            <a:r>
              <a:rPr lang="en-US" sz="2400"/>
              <a:t>b</a:t>
            </a:r>
            <a:r>
              <a:rPr lang="en-US" sz="2400" noProof="0" err="1"/>
              <a:t>inary</a:t>
            </a:r>
            <a:r>
              <a:rPr lang="en-US" sz="2400" noProof="0"/>
              <a:t> cross entropy</a:t>
            </a:r>
          </a:p>
          <a:p>
            <a:pPr marL="0" indent="0">
              <a:buFont typeface="Arial" panose="020B0604020202020204" pitchFamily="34" charset="0"/>
              <a:buNone/>
            </a:pPr>
            <a:r>
              <a:rPr lang="en-US" sz="2400" noProof="0"/>
              <a:t>categorical cross entropy</a:t>
            </a:r>
          </a:p>
          <a:p>
            <a:pPr marL="0" indent="0">
              <a:buFont typeface="Arial" panose="020B0604020202020204" pitchFamily="34" charset="0"/>
              <a:buNone/>
            </a:pPr>
            <a:r>
              <a:rPr lang="en-US" sz="2400" noProof="0"/>
              <a:t>…</a:t>
            </a:r>
          </a:p>
        </p:txBody>
      </p:sp>
    </p:spTree>
    <p:extLst>
      <p:ext uri="{BB962C8B-B14F-4D97-AF65-F5344CB8AC3E}">
        <p14:creationId xmlns:p14="http://schemas.microsoft.com/office/powerpoint/2010/main" val="21453043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8BEAE-4465-86A8-5428-DF928805C07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F8E36E8-8CBA-7573-0CD6-F2F7F3B2DC26}"/>
              </a:ext>
            </a:extLst>
          </p:cNvPr>
          <p:cNvSpPr>
            <a:spLocks noGrp="1"/>
          </p:cNvSpPr>
          <p:nvPr>
            <p:ph type="title"/>
          </p:nvPr>
        </p:nvSpPr>
        <p:spPr>
          <a:xfrm>
            <a:off x="433633" y="365125"/>
            <a:ext cx="11324734" cy="418128"/>
          </a:xfrm>
        </p:spPr>
        <p:txBody>
          <a:bodyPr/>
          <a:lstStyle/>
          <a:p>
            <a:r>
              <a:rPr lang="en-US" noProof="0"/>
              <a:t>Neural nets also rely on </a:t>
            </a:r>
            <a:r>
              <a:rPr lang="en-US" i="1" noProof="0"/>
              <a:t>gradient descent </a:t>
            </a:r>
            <a:r>
              <a:rPr lang="en-US" noProof="0"/>
              <a:t>to minimize the loss</a:t>
            </a:r>
          </a:p>
        </p:txBody>
      </p:sp>
      <p:sp>
        <p:nvSpPr>
          <p:cNvPr id="17" name="Content Placeholder 16">
            <a:extLst>
              <a:ext uri="{FF2B5EF4-FFF2-40B4-BE49-F238E27FC236}">
                <a16:creationId xmlns:a16="http://schemas.microsoft.com/office/drawing/2014/main" id="{3E048599-77B5-7820-B8CA-61BAFD9264DB}"/>
              </a:ext>
            </a:extLst>
          </p:cNvPr>
          <p:cNvSpPr>
            <a:spLocks noGrp="1"/>
          </p:cNvSpPr>
          <p:nvPr>
            <p:ph idx="1"/>
          </p:nvPr>
        </p:nvSpPr>
        <p:spPr/>
        <p:txBody>
          <a:bodyPr>
            <a:normAutofit/>
          </a:bodyPr>
          <a:lstStyle/>
          <a:p>
            <a:pPr marL="0" indent="0">
              <a:buNone/>
            </a:pPr>
            <a:r>
              <a:rPr lang="en-GB" sz="2400"/>
              <a:t>Iteratively adjusting the weights and biases in the direction that reduces the loss</a:t>
            </a:r>
            <a:endParaRPr lang="nl-BE" sz="2400" i="1"/>
          </a:p>
        </p:txBody>
      </p:sp>
      <p:sp>
        <p:nvSpPr>
          <p:cNvPr id="6" name="Footer Placeholder 5">
            <a:extLst>
              <a:ext uri="{FF2B5EF4-FFF2-40B4-BE49-F238E27FC236}">
                <a16:creationId xmlns:a16="http://schemas.microsoft.com/office/drawing/2014/main" id="{3E225BC3-D257-B86C-D55A-5E96238B9F27}"/>
              </a:ext>
            </a:extLst>
          </p:cNvPr>
          <p:cNvSpPr>
            <a:spLocks noGrp="1"/>
          </p:cNvSpPr>
          <p:nvPr>
            <p:ph type="ftr" sz="quarter" idx="11"/>
          </p:nvPr>
        </p:nvSpPr>
        <p:spPr>
          <a:xfrm>
            <a:off x="433633" y="6459767"/>
            <a:ext cx="10138411" cy="261708"/>
          </a:xfrm>
        </p:spPr>
        <p:txBody>
          <a:bodyPr/>
          <a:lstStyle/>
          <a:p>
            <a:endParaRPr lang="en-US" noProof="0"/>
          </a:p>
        </p:txBody>
      </p:sp>
      <p:sp>
        <p:nvSpPr>
          <p:cNvPr id="2" name="Slide Number Placeholder 1">
            <a:extLst>
              <a:ext uri="{FF2B5EF4-FFF2-40B4-BE49-F238E27FC236}">
                <a16:creationId xmlns:a16="http://schemas.microsoft.com/office/drawing/2014/main" id="{DD6C01D1-58EB-576F-79A7-C868B1847795}"/>
              </a:ext>
            </a:extLst>
          </p:cNvPr>
          <p:cNvSpPr>
            <a:spLocks noGrp="1"/>
          </p:cNvSpPr>
          <p:nvPr>
            <p:ph type="sldNum" sz="quarter" idx="12"/>
          </p:nvPr>
        </p:nvSpPr>
        <p:spPr>
          <a:xfrm>
            <a:off x="10684933" y="6459767"/>
            <a:ext cx="1073434" cy="261708"/>
          </a:xfrm>
        </p:spPr>
        <p:txBody>
          <a:bodyPr/>
          <a:lstStyle/>
          <a:p>
            <a:fld id="{94B3E216-A3C5-4E41-AE94-D003E76F1D3A}" type="slidenum">
              <a:rPr lang="en-US" noProof="0" smtClean="0"/>
              <a:pPr/>
              <a:t>15</a:t>
            </a:fld>
            <a:endParaRPr lang="en-US" noProof="0"/>
          </a:p>
        </p:txBody>
      </p:sp>
      <p:grpSp>
        <p:nvGrpSpPr>
          <p:cNvPr id="11" name="Group 10">
            <a:extLst>
              <a:ext uri="{FF2B5EF4-FFF2-40B4-BE49-F238E27FC236}">
                <a16:creationId xmlns:a16="http://schemas.microsoft.com/office/drawing/2014/main" id="{09145C85-8F59-7E43-D0E1-8DE6F9649779}"/>
              </a:ext>
            </a:extLst>
          </p:cNvPr>
          <p:cNvGrpSpPr/>
          <p:nvPr/>
        </p:nvGrpSpPr>
        <p:grpSpPr>
          <a:xfrm>
            <a:off x="2261955" y="2338743"/>
            <a:ext cx="7663702" cy="3480882"/>
            <a:chOff x="2261955" y="1708958"/>
            <a:chExt cx="7663702" cy="3480882"/>
          </a:xfrm>
        </p:grpSpPr>
        <p:pic>
          <p:nvPicPr>
            <p:cNvPr id="7" name="Picture 6">
              <a:extLst>
                <a:ext uri="{FF2B5EF4-FFF2-40B4-BE49-F238E27FC236}">
                  <a16:creationId xmlns:a16="http://schemas.microsoft.com/office/drawing/2014/main" id="{B31D2B4D-8797-BD86-7B59-CDB6FE165B71}"/>
                </a:ext>
              </a:extLst>
            </p:cNvPr>
            <p:cNvPicPr>
              <a:picLocks noChangeAspect="1"/>
            </p:cNvPicPr>
            <p:nvPr/>
          </p:nvPicPr>
          <p:blipFill>
            <a:blip r:embed="rId3"/>
            <a:stretch>
              <a:fillRect/>
            </a:stretch>
          </p:blipFill>
          <p:spPr>
            <a:xfrm>
              <a:off x="2261955" y="1708958"/>
              <a:ext cx="3478306" cy="3440083"/>
            </a:xfrm>
            <a:prstGeom prst="rect">
              <a:avLst/>
            </a:prstGeom>
          </p:spPr>
        </p:pic>
        <p:pic>
          <p:nvPicPr>
            <p:cNvPr id="9" name="Picture 8">
              <a:extLst>
                <a:ext uri="{FF2B5EF4-FFF2-40B4-BE49-F238E27FC236}">
                  <a16:creationId xmlns:a16="http://schemas.microsoft.com/office/drawing/2014/main" id="{89884CE0-BEDE-6F66-98A1-1EAB7A32421B}"/>
                </a:ext>
              </a:extLst>
            </p:cNvPr>
            <p:cNvPicPr>
              <a:picLocks noChangeAspect="1"/>
            </p:cNvPicPr>
            <p:nvPr/>
          </p:nvPicPr>
          <p:blipFill>
            <a:blip r:embed="rId4"/>
            <a:stretch>
              <a:fillRect/>
            </a:stretch>
          </p:blipFill>
          <p:spPr>
            <a:xfrm>
              <a:off x="6284119" y="1708958"/>
              <a:ext cx="3641538" cy="3480882"/>
            </a:xfrm>
            <a:prstGeom prst="rect">
              <a:avLst/>
            </a:prstGeom>
          </p:spPr>
        </p:pic>
      </p:grpSp>
    </p:spTree>
    <p:extLst>
      <p:ext uri="{BB962C8B-B14F-4D97-AF65-F5344CB8AC3E}">
        <p14:creationId xmlns:p14="http://schemas.microsoft.com/office/powerpoint/2010/main" val="27626515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12F59-FD74-0F2D-F879-E708E44305B9}"/>
              </a:ext>
            </a:extLst>
          </p:cNvPr>
          <p:cNvSpPr>
            <a:spLocks noGrp="1"/>
          </p:cNvSpPr>
          <p:nvPr>
            <p:ph type="title"/>
          </p:nvPr>
        </p:nvSpPr>
        <p:spPr/>
        <p:txBody>
          <a:bodyPr/>
          <a:lstStyle/>
          <a:p>
            <a:r>
              <a:rPr lang="nl-BE"/>
              <a:t>The big trick is </a:t>
            </a:r>
            <a:r>
              <a:rPr lang="nl-BE" err="1"/>
              <a:t>to</a:t>
            </a:r>
            <a:r>
              <a:rPr lang="nl-BE"/>
              <a:t> </a:t>
            </a:r>
            <a:r>
              <a:rPr lang="nl-BE" err="1"/>
              <a:t>use</a:t>
            </a:r>
            <a:r>
              <a:rPr lang="nl-BE"/>
              <a:t> </a:t>
            </a:r>
            <a:r>
              <a:rPr lang="nl-BE" i="1" err="1"/>
              <a:t>backpropagation</a:t>
            </a:r>
            <a:r>
              <a:rPr lang="nl-BE"/>
              <a:t> </a:t>
            </a:r>
            <a:r>
              <a:rPr lang="nl-BE" err="1"/>
              <a:t>to</a:t>
            </a:r>
            <a:r>
              <a:rPr lang="nl-BE"/>
              <a:t> </a:t>
            </a:r>
            <a:r>
              <a:rPr lang="nl-BE" err="1"/>
              <a:t>efficiently</a:t>
            </a:r>
            <a:r>
              <a:rPr lang="nl-BE"/>
              <a:t> </a:t>
            </a:r>
            <a:r>
              <a:rPr lang="nl-BE" err="1"/>
              <a:t>calculate</a:t>
            </a:r>
            <a:r>
              <a:rPr lang="nl-BE"/>
              <a:t> </a:t>
            </a:r>
            <a:r>
              <a:rPr lang="nl-BE" err="1"/>
              <a:t>gradients</a:t>
            </a:r>
            <a:r>
              <a:rPr lang="nl-BE"/>
              <a:t> </a:t>
            </a:r>
            <a:r>
              <a:rPr lang="nl-BE" err="1"/>
              <a:t>for</a:t>
            </a:r>
            <a:r>
              <a:rPr lang="nl-BE"/>
              <a:t> </a:t>
            </a:r>
            <a:r>
              <a:rPr lang="nl-BE" err="1"/>
              <a:t>each</a:t>
            </a:r>
            <a:r>
              <a:rPr lang="nl-BE"/>
              <a:t> parameter </a:t>
            </a:r>
            <a:r>
              <a:rPr lang="nl-BE" err="1"/>
              <a:t>across</a:t>
            </a:r>
            <a:r>
              <a:rPr lang="nl-BE"/>
              <a:t> </a:t>
            </a:r>
            <a:r>
              <a:rPr lang="nl-BE" err="1"/>
              <a:t>many</a:t>
            </a:r>
            <a:r>
              <a:rPr lang="nl-BE"/>
              <a:t> </a:t>
            </a:r>
            <a:r>
              <a:rPr lang="nl-BE" err="1"/>
              <a:t>layers</a:t>
            </a:r>
            <a:endParaRPr lang="en-BE"/>
          </a:p>
        </p:txBody>
      </p:sp>
      <p:sp>
        <p:nvSpPr>
          <p:cNvPr id="4" name="Slide Number Placeholder 3">
            <a:extLst>
              <a:ext uri="{FF2B5EF4-FFF2-40B4-BE49-F238E27FC236}">
                <a16:creationId xmlns:a16="http://schemas.microsoft.com/office/drawing/2014/main" id="{A3F3D195-9930-349D-0B2B-56EDDD937C47}"/>
              </a:ext>
            </a:extLst>
          </p:cNvPr>
          <p:cNvSpPr>
            <a:spLocks noGrp="1"/>
          </p:cNvSpPr>
          <p:nvPr>
            <p:ph type="sldNum" sz="quarter" idx="12"/>
          </p:nvPr>
        </p:nvSpPr>
        <p:spPr/>
        <p:txBody>
          <a:bodyPr/>
          <a:lstStyle/>
          <a:p>
            <a:fld id="{94B3E216-A3C5-4E41-AE94-D003E76F1D3A}" type="slidenum">
              <a:rPr lang="en-US" smtClean="0"/>
              <a:pPr/>
              <a:t>16</a:t>
            </a:fld>
            <a:endParaRPr lang="en-US"/>
          </a:p>
        </p:txBody>
      </p:sp>
      <p:pic>
        <p:nvPicPr>
          <p:cNvPr id="5" name="Picture 4">
            <a:hlinkClick r:id="rId3"/>
            <a:extLst>
              <a:ext uri="{FF2B5EF4-FFF2-40B4-BE49-F238E27FC236}">
                <a16:creationId xmlns:a16="http://schemas.microsoft.com/office/drawing/2014/main" id="{13D674EB-CF01-2EF7-0D11-177F65CBB11E}"/>
              </a:ext>
            </a:extLst>
          </p:cNvPr>
          <p:cNvPicPr>
            <a:picLocks noChangeAspect="1"/>
          </p:cNvPicPr>
          <p:nvPr/>
        </p:nvPicPr>
        <p:blipFill>
          <a:blip r:embed="rId4"/>
          <a:stretch>
            <a:fillRect/>
          </a:stretch>
        </p:blipFill>
        <p:spPr>
          <a:xfrm>
            <a:off x="3098268" y="1513906"/>
            <a:ext cx="5995463" cy="4649766"/>
          </a:xfrm>
          <a:prstGeom prst="rect">
            <a:avLst/>
          </a:prstGeom>
        </p:spPr>
      </p:pic>
      <p:sp>
        <p:nvSpPr>
          <p:cNvPr id="6" name="Footer Placeholder 5">
            <a:extLst>
              <a:ext uri="{FF2B5EF4-FFF2-40B4-BE49-F238E27FC236}">
                <a16:creationId xmlns:a16="http://schemas.microsoft.com/office/drawing/2014/main" id="{BEF2B148-1D7A-2611-BFBD-68086C453768}"/>
              </a:ext>
            </a:extLst>
          </p:cNvPr>
          <p:cNvSpPr>
            <a:spLocks noGrp="1"/>
          </p:cNvSpPr>
          <p:nvPr>
            <p:ph type="ftr" sz="quarter" idx="11"/>
          </p:nvPr>
        </p:nvSpPr>
        <p:spPr/>
        <p:txBody>
          <a:bodyPr/>
          <a:lstStyle/>
          <a:p>
            <a:r>
              <a:rPr lang="en-US"/>
              <a:t>https://www.youtube.com/watch?v=Ilg3gGewQ5U&amp;t=548s</a:t>
            </a:r>
          </a:p>
        </p:txBody>
      </p:sp>
    </p:spTree>
    <p:extLst>
      <p:ext uri="{BB962C8B-B14F-4D97-AF65-F5344CB8AC3E}">
        <p14:creationId xmlns:p14="http://schemas.microsoft.com/office/powerpoint/2010/main" val="32259170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computer screen shot of a network&#10;&#10;Description automatically generated">
            <a:extLst>
              <a:ext uri="{FF2B5EF4-FFF2-40B4-BE49-F238E27FC236}">
                <a16:creationId xmlns:a16="http://schemas.microsoft.com/office/drawing/2014/main" id="{0B8DDEB1-C9A0-468A-A46E-846CA03FC9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906C0F04-D0FE-F70D-2FE6-53B8A914A5E3}"/>
              </a:ext>
            </a:extLst>
          </p:cNvPr>
          <p:cNvSpPr txBox="1"/>
          <p:nvPr/>
        </p:nvSpPr>
        <p:spPr>
          <a:xfrm>
            <a:off x="241301" y="129804"/>
            <a:ext cx="11747500" cy="523220"/>
          </a:xfrm>
          <a:prstGeom prst="rect">
            <a:avLst/>
          </a:prstGeom>
          <a:noFill/>
        </p:spPr>
        <p:txBody>
          <a:bodyPr wrap="square" rtlCol="0">
            <a:spAutoFit/>
          </a:bodyPr>
          <a:lstStyle/>
          <a:p>
            <a:r>
              <a:rPr lang="en-BE" sz="2800">
                <a:solidFill>
                  <a:schemeClr val="bg1"/>
                </a:solidFill>
                <a:ea typeface="Lato" panose="020B0604020202020204" pitchFamily="34" charset="0"/>
                <a:cs typeface="Helvetica" panose="020B0604020202020204" pitchFamily="34" charset="0"/>
              </a:rPr>
              <a:t>backpropagation</a:t>
            </a:r>
            <a:endParaRPr lang="en-GB" sz="2800">
              <a:solidFill>
                <a:schemeClr val="bg1"/>
              </a:solidFill>
              <a:ea typeface="Lato" panose="020B0604020202020204" pitchFamily="34" charset="0"/>
              <a:cs typeface="Helvetica" panose="020B0604020202020204" pitchFamily="34" charset="0"/>
            </a:endParaRPr>
          </a:p>
        </p:txBody>
      </p:sp>
      <p:sp>
        <p:nvSpPr>
          <p:cNvPr id="7" name="TextBox 6">
            <a:extLst>
              <a:ext uri="{FF2B5EF4-FFF2-40B4-BE49-F238E27FC236}">
                <a16:creationId xmlns:a16="http://schemas.microsoft.com/office/drawing/2014/main" id="{24BD7D5B-E682-FED8-4A4C-94535BA624DD}"/>
              </a:ext>
            </a:extLst>
          </p:cNvPr>
          <p:cNvSpPr txBox="1"/>
          <p:nvPr/>
        </p:nvSpPr>
        <p:spPr>
          <a:xfrm>
            <a:off x="914401" y="6581001"/>
            <a:ext cx="11277599" cy="276999"/>
          </a:xfrm>
          <a:prstGeom prst="rect">
            <a:avLst/>
          </a:prstGeom>
          <a:noFill/>
        </p:spPr>
        <p:txBody>
          <a:bodyPr wrap="square">
            <a:spAutoFit/>
          </a:bodyPr>
          <a:lstStyle/>
          <a:p>
            <a:pPr algn="r"/>
            <a:r>
              <a:rPr lang="en-GB" sz="1200">
                <a:solidFill>
                  <a:schemeClr val="tx1">
                    <a:lumMod val="50000"/>
                    <a:lumOff val="50000"/>
                  </a:schemeClr>
                </a:solidFill>
              </a:rPr>
              <a:t>https://youtu.be/Ilg3gGewQ5U?si=hvb1oqZ-GgHn3kl9&amp;t=409</a:t>
            </a:r>
          </a:p>
        </p:txBody>
      </p:sp>
    </p:spTree>
    <p:extLst>
      <p:ext uri="{BB962C8B-B14F-4D97-AF65-F5344CB8AC3E}">
        <p14:creationId xmlns:p14="http://schemas.microsoft.com/office/powerpoint/2010/main" val="21644213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screenshot of a computer&#10;&#10;Description automatically generated">
            <a:extLst>
              <a:ext uri="{FF2B5EF4-FFF2-40B4-BE49-F238E27FC236}">
                <a16:creationId xmlns:a16="http://schemas.microsoft.com/office/drawing/2014/main" id="{A22F21F7-375D-6FB5-7FF9-E70FBB93B8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1" name="TextBox 10">
            <a:extLst>
              <a:ext uri="{FF2B5EF4-FFF2-40B4-BE49-F238E27FC236}">
                <a16:creationId xmlns:a16="http://schemas.microsoft.com/office/drawing/2014/main" id="{E112411A-9D3D-C189-65DC-AFBA17DA801D}"/>
              </a:ext>
            </a:extLst>
          </p:cNvPr>
          <p:cNvSpPr txBox="1"/>
          <p:nvPr/>
        </p:nvSpPr>
        <p:spPr>
          <a:xfrm>
            <a:off x="914401" y="6581001"/>
            <a:ext cx="11277599" cy="276999"/>
          </a:xfrm>
          <a:prstGeom prst="rect">
            <a:avLst/>
          </a:prstGeom>
          <a:noFill/>
        </p:spPr>
        <p:txBody>
          <a:bodyPr wrap="square">
            <a:spAutoFit/>
          </a:bodyPr>
          <a:lstStyle/>
          <a:p>
            <a:pPr algn="r"/>
            <a:r>
              <a:rPr lang="en-GB" sz="1200">
                <a:solidFill>
                  <a:schemeClr val="tx1">
                    <a:lumMod val="50000"/>
                    <a:lumOff val="50000"/>
                  </a:schemeClr>
                </a:solidFill>
              </a:rPr>
              <a:t>https://youtu.be/Ilg3gGewQ5U?si=hvb1oqZ-GgHn3kl9&amp;t=409</a:t>
            </a:r>
          </a:p>
        </p:txBody>
      </p:sp>
    </p:spTree>
    <p:extLst>
      <p:ext uri="{BB962C8B-B14F-4D97-AF65-F5344CB8AC3E}">
        <p14:creationId xmlns:p14="http://schemas.microsoft.com/office/powerpoint/2010/main" val="35424824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a network&#10;&#10;Description automatically generated">
            <a:extLst>
              <a:ext uri="{FF2B5EF4-FFF2-40B4-BE49-F238E27FC236}">
                <a16:creationId xmlns:a16="http://schemas.microsoft.com/office/drawing/2014/main" id="{11E41C67-23DD-77B7-8CDE-4B362C97E4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98F5591A-A8C5-3737-747C-0F9DE5C6F636}"/>
              </a:ext>
            </a:extLst>
          </p:cNvPr>
          <p:cNvSpPr txBox="1"/>
          <p:nvPr/>
        </p:nvSpPr>
        <p:spPr>
          <a:xfrm>
            <a:off x="914401" y="6581001"/>
            <a:ext cx="11277599" cy="276999"/>
          </a:xfrm>
          <a:prstGeom prst="rect">
            <a:avLst/>
          </a:prstGeom>
          <a:noFill/>
        </p:spPr>
        <p:txBody>
          <a:bodyPr wrap="square">
            <a:spAutoFit/>
          </a:bodyPr>
          <a:lstStyle/>
          <a:p>
            <a:pPr algn="r"/>
            <a:r>
              <a:rPr lang="en-GB" sz="1200">
                <a:solidFill>
                  <a:schemeClr val="tx1">
                    <a:lumMod val="50000"/>
                    <a:lumOff val="50000"/>
                  </a:schemeClr>
                </a:solidFill>
              </a:rPr>
              <a:t>https://youtu.be/Ilg3gGewQ5U?si=hvb1oqZ-GgHn3kl9&amp;t=409</a:t>
            </a:r>
          </a:p>
        </p:txBody>
      </p:sp>
    </p:spTree>
    <p:extLst>
      <p:ext uri="{BB962C8B-B14F-4D97-AF65-F5344CB8AC3E}">
        <p14:creationId xmlns:p14="http://schemas.microsoft.com/office/powerpoint/2010/main" val="3467068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 shot of a black board with numbers and eyes&#10;&#10;Description automatically generated">
            <a:extLst>
              <a:ext uri="{FF2B5EF4-FFF2-40B4-BE49-F238E27FC236}">
                <a16:creationId xmlns:a16="http://schemas.microsoft.com/office/drawing/2014/main" id="{19045EDB-702B-F047-C0EA-DB1C0F47B4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3DABE869-DC56-D834-CCDC-196D8054BBF1}"/>
              </a:ext>
            </a:extLst>
          </p:cNvPr>
          <p:cNvSpPr txBox="1"/>
          <p:nvPr/>
        </p:nvSpPr>
        <p:spPr>
          <a:xfrm>
            <a:off x="914401" y="6581001"/>
            <a:ext cx="11277599" cy="276999"/>
          </a:xfrm>
          <a:prstGeom prst="rect">
            <a:avLst/>
          </a:prstGeom>
          <a:noFill/>
        </p:spPr>
        <p:txBody>
          <a:bodyPr wrap="square">
            <a:spAutoFit/>
          </a:bodyPr>
          <a:lstStyle/>
          <a:p>
            <a:pPr algn="r"/>
            <a:r>
              <a:rPr lang="en-GB" sz="1200">
                <a:solidFill>
                  <a:schemeClr val="tx1">
                    <a:lumMod val="50000"/>
                    <a:lumOff val="50000"/>
                  </a:schemeClr>
                </a:solidFill>
              </a:rPr>
              <a:t>https://youtu.be/Ilg3gGewQ5U?si=hvb1oqZ-GgHn3kl9&amp;t=409</a:t>
            </a:r>
          </a:p>
        </p:txBody>
      </p:sp>
    </p:spTree>
    <p:extLst>
      <p:ext uri="{BB962C8B-B14F-4D97-AF65-F5344CB8AC3E}">
        <p14:creationId xmlns:p14="http://schemas.microsoft.com/office/powerpoint/2010/main" val="9621463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52B8BAE-B6E1-B3E1-895C-3B169A017C7D}"/>
              </a:ext>
            </a:extLst>
          </p:cNvPr>
          <p:cNvSpPr>
            <a:spLocks noGrp="1"/>
          </p:cNvSpPr>
          <p:nvPr>
            <p:ph type="title"/>
          </p:nvPr>
        </p:nvSpPr>
        <p:spPr/>
        <p:txBody>
          <a:bodyPr/>
          <a:lstStyle/>
          <a:p>
            <a:r>
              <a:rPr lang="nl-BE"/>
              <a:t>The </a:t>
            </a:r>
            <a:r>
              <a:rPr lang="nl-BE" err="1"/>
              <a:t>loss</a:t>
            </a:r>
            <a:r>
              <a:rPr lang="nl-BE"/>
              <a:t> </a:t>
            </a:r>
            <a:r>
              <a:rPr lang="nl-BE" err="1"/>
              <a:t>surface</a:t>
            </a:r>
            <a:r>
              <a:rPr lang="nl-BE"/>
              <a:t> </a:t>
            </a:r>
            <a:r>
              <a:rPr lang="nl-BE" err="1"/>
              <a:t>can</a:t>
            </a:r>
            <a:r>
              <a:rPr lang="nl-BE"/>
              <a:t> </a:t>
            </a:r>
            <a:r>
              <a:rPr lang="nl-BE" err="1"/>
              <a:t>be</a:t>
            </a:r>
            <a:r>
              <a:rPr lang="nl-BE"/>
              <a:t> </a:t>
            </a:r>
            <a:r>
              <a:rPr lang="nl-BE" err="1"/>
              <a:t>highly</a:t>
            </a:r>
            <a:r>
              <a:rPr lang="nl-BE"/>
              <a:t> complex, </a:t>
            </a:r>
            <a:r>
              <a:rPr lang="nl-BE" err="1"/>
              <a:t>with</a:t>
            </a:r>
            <a:r>
              <a:rPr lang="nl-BE"/>
              <a:t> </a:t>
            </a:r>
            <a:r>
              <a:rPr lang="nl-BE" err="1"/>
              <a:t>many</a:t>
            </a:r>
            <a:r>
              <a:rPr lang="nl-BE"/>
              <a:t> </a:t>
            </a:r>
            <a:r>
              <a:rPr lang="nl-BE" err="1"/>
              <a:t>local</a:t>
            </a:r>
            <a:r>
              <a:rPr lang="nl-BE"/>
              <a:t> minima </a:t>
            </a:r>
            <a:endParaRPr lang="en-BE"/>
          </a:p>
        </p:txBody>
      </p:sp>
      <p:sp>
        <p:nvSpPr>
          <p:cNvPr id="2" name="Slide Number Placeholder 1">
            <a:extLst>
              <a:ext uri="{FF2B5EF4-FFF2-40B4-BE49-F238E27FC236}">
                <a16:creationId xmlns:a16="http://schemas.microsoft.com/office/drawing/2014/main" id="{C0E2BAA3-334A-8196-9F93-A0BF411F6FA8}"/>
              </a:ext>
            </a:extLst>
          </p:cNvPr>
          <p:cNvSpPr>
            <a:spLocks noGrp="1"/>
          </p:cNvSpPr>
          <p:nvPr>
            <p:ph type="sldNum" sz="quarter" idx="12"/>
          </p:nvPr>
        </p:nvSpPr>
        <p:spPr/>
        <p:txBody>
          <a:bodyPr/>
          <a:lstStyle/>
          <a:p>
            <a:fld id="{94B3E216-A3C5-4E41-AE94-D003E76F1D3A}" type="slidenum">
              <a:rPr lang="en-BE" smtClean="0"/>
              <a:t>21</a:t>
            </a:fld>
            <a:endParaRPr lang="en-BE"/>
          </a:p>
        </p:txBody>
      </p:sp>
      <p:pic>
        <p:nvPicPr>
          <p:cNvPr id="3" name="Picture 4" descr="Intro to optimization in deep learning: Gradient Descent">
            <a:extLst>
              <a:ext uri="{FF2B5EF4-FFF2-40B4-BE49-F238E27FC236}">
                <a16:creationId xmlns:a16="http://schemas.microsoft.com/office/drawing/2014/main" id="{440FE112-B9FD-4C94-C3C9-C8DA429DB6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4410" y="1205715"/>
            <a:ext cx="9460523" cy="517618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9BDE1CB-49B7-9993-0DB4-0B36533D546D}"/>
              </a:ext>
            </a:extLst>
          </p:cNvPr>
          <p:cNvSpPr txBox="1"/>
          <p:nvPr/>
        </p:nvSpPr>
        <p:spPr>
          <a:xfrm>
            <a:off x="2761600" y="6159488"/>
            <a:ext cx="8258908" cy="369332"/>
          </a:xfrm>
          <a:prstGeom prst="rect">
            <a:avLst/>
          </a:prstGeom>
          <a:noFill/>
        </p:spPr>
        <p:txBody>
          <a:bodyPr wrap="square" rtlCol="0">
            <a:spAutoFit/>
          </a:bodyPr>
          <a:lstStyle/>
          <a:p>
            <a:r>
              <a:rPr lang="en-GB"/>
              <a:t>logistic regression                                                       (small) neural network</a:t>
            </a:r>
            <a:endParaRPr lang="LID4096"/>
          </a:p>
        </p:txBody>
      </p:sp>
    </p:spTree>
    <p:extLst>
      <p:ext uri="{BB962C8B-B14F-4D97-AF65-F5344CB8AC3E}">
        <p14:creationId xmlns:p14="http://schemas.microsoft.com/office/powerpoint/2010/main" val="17902544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B9FC0-8330-BE1D-1E9F-AB7AF6EA132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EE2A4C6-59C3-7C5F-58A9-70BE854EFD20}"/>
              </a:ext>
            </a:extLst>
          </p:cNvPr>
          <p:cNvSpPr>
            <a:spLocks noGrp="1"/>
          </p:cNvSpPr>
          <p:nvPr>
            <p:ph type="title"/>
          </p:nvPr>
        </p:nvSpPr>
        <p:spPr/>
        <p:txBody>
          <a:bodyPr/>
          <a:lstStyle/>
          <a:p>
            <a:r>
              <a:rPr lang="nl-BE"/>
              <a:t>The </a:t>
            </a:r>
            <a:r>
              <a:rPr lang="nl-BE" err="1"/>
              <a:t>loss</a:t>
            </a:r>
            <a:r>
              <a:rPr lang="nl-BE"/>
              <a:t> </a:t>
            </a:r>
            <a:r>
              <a:rPr lang="nl-BE" err="1"/>
              <a:t>surface</a:t>
            </a:r>
            <a:r>
              <a:rPr lang="nl-BE"/>
              <a:t> </a:t>
            </a:r>
            <a:r>
              <a:rPr lang="nl-BE" err="1"/>
              <a:t>can</a:t>
            </a:r>
            <a:r>
              <a:rPr lang="nl-BE"/>
              <a:t> </a:t>
            </a:r>
            <a:r>
              <a:rPr lang="nl-BE" err="1"/>
              <a:t>be</a:t>
            </a:r>
            <a:r>
              <a:rPr lang="nl-BE"/>
              <a:t> </a:t>
            </a:r>
            <a:r>
              <a:rPr lang="nl-BE" err="1"/>
              <a:t>highly</a:t>
            </a:r>
            <a:r>
              <a:rPr lang="nl-BE"/>
              <a:t> complex, </a:t>
            </a:r>
            <a:r>
              <a:rPr lang="nl-BE" err="1"/>
              <a:t>with</a:t>
            </a:r>
            <a:r>
              <a:rPr lang="nl-BE"/>
              <a:t> </a:t>
            </a:r>
            <a:r>
              <a:rPr lang="nl-BE" err="1"/>
              <a:t>many</a:t>
            </a:r>
            <a:r>
              <a:rPr lang="nl-BE"/>
              <a:t> </a:t>
            </a:r>
            <a:r>
              <a:rPr lang="nl-BE" err="1"/>
              <a:t>local</a:t>
            </a:r>
            <a:r>
              <a:rPr lang="nl-BE"/>
              <a:t> minima </a:t>
            </a:r>
            <a:endParaRPr lang="en-BE"/>
          </a:p>
        </p:txBody>
      </p:sp>
      <p:sp>
        <p:nvSpPr>
          <p:cNvPr id="2" name="Slide Number Placeholder 1">
            <a:extLst>
              <a:ext uri="{FF2B5EF4-FFF2-40B4-BE49-F238E27FC236}">
                <a16:creationId xmlns:a16="http://schemas.microsoft.com/office/drawing/2014/main" id="{E4292116-5327-DDBC-AF34-FB69C01F80A9}"/>
              </a:ext>
            </a:extLst>
          </p:cNvPr>
          <p:cNvSpPr>
            <a:spLocks noGrp="1"/>
          </p:cNvSpPr>
          <p:nvPr>
            <p:ph type="sldNum" sz="quarter" idx="12"/>
          </p:nvPr>
        </p:nvSpPr>
        <p:spPr/>
        <p:txBody>
          <a:bodyPr/>
          <a:lstStyle/>
          <a:p>
            <a:fld id="{94B3E216-A3C5-4E41-AE94-D003E76F1D3A}" type="slidenum">
              <a:rPr lang="en-BE" smtClean="0"/>
              <a:t>22</a:t>
            </a:fld>
            <a:endParaRPr lang="en-BE"/>
          </a:p>
        </p:txBody>
      </p:sp>
      <p:pic>
        <p:nvPicPr>
          <p:cNvPr id="6" name="Picture 2">
            <a:extLst>
              <a:ext uri="{FF2B5EF4-FFF2-40B4-BE49-F238E27FC236}">
                <a16:creationId xmlns:a16="http://schemas.microsoft.com/office/drawing/2014/main" id="{0BD2917F-5E76-1F7D-FF2D-047D2B3F64D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60155" y="1126347"/>
            <a:ext cx="8871690" cy="499032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B5E484BA-9A51-E363-9185-3FDB122D77E9}"/>
              </a:ext>
            </a:extLst>
          </p:cNvPr>
          <p:cNvSpPr txBox="1"/>
          <p:nvPr/>
        </p:nvSpPr>
        <p:spPr>
          <a:xfrm>
            <a:off x="4769094" y="6221289"/>
            <a:ext cx="2653811" cy="369332"/>
          </a:xfrm>
          <a:prstGeom prst="rect">
            <a:avLst/>
          </a:prstGeom>
          <a:noFill/>
        </p:spPr>
        <p:txBody>
          <a:bodyPr wrap="square" rtlCol="0">
            <a:spAutoFit/>
          </a:bodyPr>
          <a:lstStyle/>
          <a:p>
            <a:r>
              <a:rPr lang="en-GB"/>
              <a:t> deep neural network</a:t>
            </a:r>
            <a:endParaRPr lang="LID4096"/>
          </a:p>
        </p:txBody>
      </p:sp>
    </p:spTree>
    <p:extLst>
      <p:ext uri="{BB962C8B-B14F-4D97-AF65-F5344CB8AC3E}">
        <p14:creationId xmlns:p14="http://schemas.microsoft.com/office/powerpoint/2010/main" val="6488580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FD5C6-58BC-7AF2-0436-936F35AF95D8}"/>
              </a:ext>
            </a:extLst>
          </p:cNvPr>
          <p:cNvSpPr>
            <a:spLocks noGrp="1"/>
          </p:cNvSpPr>
          <p:nvPr>
            <p:ph type="title"/>
          </p:nvPr>
        </p:nvSpPr>
        <p:spPr/>
        <p:txBody>
          <a:bodyPr/>
          <a:lstStyle/>
          <a:p>
            <a:r>
              <a:rPr lang="en-US"/>
              <a:t>Neural networks are trained over multiple </a:t>
            </a:r>
            <a:r>
              <a:rPr lang="en-US" i="1"/>
              <a:t>epochs</a:t>
            </a:r>
            <a:endParaRPr lang="en-US"/>
          </a:p>
        </p:txBody>
      </p:sp>
      <p:sp>
        <p:nvSpPr>
          <p:cNvPr id="3" name="Content Placeholder 2">
            <a:extLst>
              <a:ext uri="{FF2B5EF4-FFF2-40B4-BE49-F238E27FC236}">
                <a16:creationId xmlns:a16="http://schemas.microsoft.com/office/drawing/2014/main" id="{3AF11DFC-6661-E3AF-1282-AE43421AF5C1}"/>
              </a:ext>
            </a:extLst>
          </p:cNvPr>
          <p:cNvSpPr>
            <a:spLocks noGrp="1"/>
          </p:cNvSpPr>
          <p:nvPr>
            <p:ph idx="1"/>
          </p:nvPr>
        </p:nvSpPr>
        <p:spPr/>
        <p:txBody>
          <a:bodyPr>
            <a:normAutofit/>
          </a:bodyPr>
          <a:lstStyle/>
          <a:p>
            <a:pPr marL="0" indent="0">
              <a:buNone/>
            </a:pPr>
            <a:r>
              <a:rPr lang="en-US" b="1"/>
              <a:t>General training loop</a:t>
            </a:r>
          </a:p>
          <a:p>
            <a:pPr>
              <a:buFontTx/>
              <a:buChar char="-"/>
            </a:pPr>
            <a:r>
              <a:rPr lang="en-US"/>
              <a:t>For each epoch</a:t>
            </a:r>
          </a:p>
          <a:p>
            <a:pPr lvl="1">
              <a:buFontTx/>
              <a:buChar char="-"/>
            </a:pPr>
            <a:r>
              <a:rPr lang="en-US"/>
              <a:t>For each mini-batch (one step)</a:t>
            </a:r>
          </a:p>
          <a:p>
            <a:pPr lvl="2">
              <a:buFontTx/>
              <a:buChar char="-"/>
            </a:pPr>
            <a:r>
              <a:rPr lang="en-US"/>
              <a:t>Forward pass</a:t>
            </a:r>
            <a:br>
              <a:rPr lang="en-US"/>
            </a:br>
            <a:r>
              <a:rPr lang="en-US" i="1"/>
              <a:t>make predictions</a:t>
            </a:r>
          </a:p>
          <a:p>
            <a:pPr lvl="2">
              <a:buFontTx/>
              <a:buChar char="-"/>
            </a:pPr>
            <a:r>
              <a:rPr lang="en-US"/>
              <a:t>Calculate loss</a:t>
            </a:r>
            <a:br>
              <a:rPr lang="en-US"/>
            </a:br>
            <a:r>
              <a:rPr lang="en-US" i="1"/>
              <a:t>compare with targets</a:t>
            </a:r>
          </a:p>
          <a:p>
            <a:pPr lvl="2">
              <a:buFontTx/>
              <a:buChar char="-"/>
            </a:pPr>
            <a:r>
              <a:rPr lang="en-US"/>
              <a:t>Calculate gradients (aka backward pass)</a:t>
            </a:r>
            <a:br>
              <a:rPr lang="en-US"/>
            </a:br>
            <a:r>
              <a:rPr lang="en-US" i="1"/>
              <a:t>how should parameters be updated?</a:t>
            </a:r>
          </a:p>
          <a:p>
            <a:pPr lvl="2">
              <a:buFontTx/>
              <a:buChar char="-"/>
            </a:pPr>
            <a:r>
              <a:rPr lang="en-US"/>
              <a:t>Update model parameters</a:t>
            </a:r>
          </a:p>
          <a:p>
            <a:pPr lvl="1">
              <a:buFontTx/>
              <a:buChar char="-"/>
            </a:pPr>
            <a:r>
              <a:rPr lang="en-US"/>
              <a:t>Forward pass on validation data</a:t>
            </a:r>
          </a:p>
          <a:p>
            <a:pPr lvl="2">
              <a:buFontTx/>
              <a:buChar char="-"/>
            </a:pPr>
            <a:r>
              <a:rPr lang="en-US"/>
              <a:t>Did model improve? Continue.</a:t>
            </a:r>
          </a:p>
          <a:p>
            <a:pPr lvl="2">
              <a:buFontTx/>
              <a:buChar char="-"/>
            </a:pPr>
            <a:r>
              <a:rPr lang="en-US"/>
              <a:t>Did it stop improving? Stop training.</a:t>
            </a:r>
          </a:p>
        </p:txBody>
      </p:sp>
      <p:sp>
        <p:nvSpPr>
          <p:cNvPr id="4" name="Slide Number Placeholder 3">
            <a:extLst>
              <a:ext uri="{FF2B5EF4-FFF2-40B4-BE49-F238E27FC236}">
                <a16:creationId xmlns:a16="http://schemas.microsoft.com/office/drawing/2014/main" id="{D4852851-B750-7B9C-F255-6C720A291EA8}"/>
              </a:ext>
            </a:extLst>
          </p:cNvPr>
          <p:cNvSpPr>
            <a:spLocks noGrp="1"/>
          </p:cNvSpPr>
          <p:nvPr>
            <p:ph type="sldNum" sz="quarter" idx="12"/>
          </p:nvPr>
        </p:nvSpPr>
        <p:spPr/>
        <p:txBody>
          <a:bodyPr/>
          <a:lstStyle/>
          <a:p>
            <a:fld id="{94B3E216-A3C5-4E41-AE94-D003E76F1D3A}" type="slidenum">
              <a:rPr lang="en-US" smtClean="0"/>
              <a:pPr/>
              <a:t>23</a:t>
            </a:fld>
            <a:endParaRPr lang="en-US"/>
          </a:p>
        </p:txBody>
      </p:sp>
      <p:grpSp>
        <p:nvGrpSpPr>
          <p:cNvPr id="8" name="Group 7">
            <a:extLst>
              <a:ext uri="{FF2B5EF4-FFF2-40B4-BE49-F238E27FC236}">
                <a16:creationId xmlns:a16="http://schemas.microsoft.com/office/drawing/2014/main" id="{79A9747A-3302-295A-4E19-2E2D1E5578E2}"/>
              </a:ext>
            </a:extLst>
          </p:cNvPr>
          <p:cNvGrpSpPr/>
          <p:nvPr/>
        </p:nvGrpSpPr>
        <p:grpSpPr>
          <a:xfrm>
            <a:off x="6666014" y="1425037"/>
            <a:ext cx="4864924" cy="3652011"/>
            <a:chOff x="6666014" y="1425037"/>
            <a:chExt cx="4864924" cy="3652011"/>
          </a:xfrm>
        </p:grpSpPr>
        <p:pic>
          <p:nvPicPr>
            <p:cNvPr id="1026" name="Picture 2" descr="How to use Learning Curves to Diagnose Machine Learning Model ...">
              <a:extLst>
                <a:ext uri="{FF2B5EF4-FFF2-40B4-BE49-F238E27FC236}">
                  <a16:creationId xmlns:a16="http://schemas.microsoft.com/office/drawing/2014/main" id="{2461FB87-2543-7AD9-F47A-6B5D1FCF72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66014" y="1425037"/>
              <a:ext cx="4864924" cy="364869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D27332C3-44B2-7848-26D4-35E83350987C}"/>
                </a:ext>
              </a:extLst>
            </p:cNvPr>
            <p:cNvSpPr txBox="1"/>
            <p:nvPr/>
          </p:nvSpPr>
          <p:spPr>
            <a:xfrm>
              <a:off x="7285512" y="4815438"/>
              <a:ext cx="3782291" cy="261610"/>
            </a:xfrm>
            <a:prstGeom prst="rect">
              <a:avLst/>
            </a:prstGeom>
            <a:noFill/>
          </p:spPr>
          <p:txBody>
            <a:bodyPr wrap="square" rtlCol="0">
              <a:spAutoFit/>
            </a:bodyPr>
            <a:lstStyle/>
            <a:p>
              <a:pPr algn="ctr"/>
              <a:r>
                <a:rPr lang="en-US" sz="1100"/>
                <a:t>training steps</a:t>
              </a:r>
            </a:p>
          </p:txBody>
        </p:sp>
        <p:sp>
          <p:nvSpPr>
            <p:cNvPr id="7" name="TextBox 6">
              <a:extLst>
                <a:ext uri="{FF2B5EF4-FFF2-40B4-BE49-F238E27FC236}">
                  <a16:creationId xmlns:a16="http://schemas.microsoft.com/office/drawing/2014/main" id="{27C74653-7F3B-9A8E-F1FC-89ED7DF12073}"/>
                </a:ext>
              </a:extLst>
            </p:cNvPr>
            <p:cNvSpPr txBox="1"/>
            <p:nvPr/>
          </p:nvSpPr>
          <p:spPr>
            <a:xfrm rot="16200000">
              <a:off x="5434764" y="3131940"/>
              <a:ext cx="2820390" cy="261610"/>
            </a:xfrm>
            <a:prstGeom prst="rect">
              <a:avLst/>
            </a:prstGeom>
            <a:noFill/>
          </p:spPr>
          <p:txBody>
            <a:bodyPr wrap="square" rtlCol="0">
              <a:spAutoFit/>
            </a:bodyPr>
            <a:lstStyle/>
            <a:p>
              <a:pPr algn="ctr"/>
              <a:r>
                <a:rPr lang="en-US" sz="1100"/>
                <a:t>loss metric (lower is better)</a:t>
              </a:r>
            </a:p>
          </p:txBody>
        </p:sp>
      </p:grpSp>
      <p:sp>
        <p:nvSpPr>
          <p:cNvPr id="9" name="TextBox 8">
            <a:extLst>
              <a:ext uri="{FF2B5EF4-FFF2-40B4-BE49-F238E27FC236}">
                <a16:creationId xmlns:a16="http://schemas.microsoft.com/office/drawing/2014/main" id="{C8C119EC-6C72-B7A3-E411-41897519BB9E}"/>
              </a:ext>
            </a:extLst>
          </p:cNvPr>
          <p:cNvSpPr txBox="1"/>
          <p:nvPr/>
        </p:nvSpPr>
        <p:spPr>
          <a:xfrm>
            <a:off x="7038107" y="5198685"/>
            <a:ext cx="4120738" cy="307777"/>
          </a:xfrm>
          <a:prstGeom prst="rect">
            <a:avLst/>
          </a:prstGeom>
          <a:noFill/>
        </p:spPr>
        <p:txBody>
          <a:bodyPr wrap="square" rtlCol="0">
            <a:spAutoFit/>
          </a:bodyPr>
          <a:lstStyle/>
          <a:p>
            <a:pPr algn="ctr"/>
            <a:r>
              <a:rPr lang="en-US" sz="1400" b="1"/>
              <a:t>When should you stop fitting this model?</a:t>
            </a:r>
          </a:p>
        </p:txBody>
      </p:sp>
      <p:sp>
        <p:nvSpPr>
          <p:cNvPr id="10" name="Footer Placeholder 9">
            <a:extLst>
              <a:ext uri="{FF2B5EF4-FFF2-40B4-BE49-F238E27FC236}">
                <a16:creationId xmlns:a16="http://schemas.microsoft.com/office/drawing/2014/main" id="{DBE02165-1F81-3735-C478-126B24286C7E}"/>
              </a:ext>
            </a:extLst>
          </p:cNvPr>
          <p:cNvSpPr>
            <a:spLocks noGrp="1"/>
          </p:cNvSpPr>
          <p:nvPr>
            <p:ph type="ftr" sz="quarter" idx="11"/>
          </p:nvPr>
        </p:nvSpPr>
        <p:spPr/>
        <p:txBody>
          <a:bodyPr/>
          <a:lstStyle/>
          <a:p>
            <a:r>
              <a:rPr lang="en-US"/>
              <a:t>Figure from https://machinelearningmastery.com/learning-curves-for-diagnosing-machine-learning-model-performance/</a:t>
            </a:r>
          </a:p>
        </p:txBody>
      </p:sp>
    </p:spTree>
    <p:extLst>
      <p:ext uri="{BB962C8B-B14F-4D97-AF65-F5344CB8AC3E}">
        <p14:creationId xmlns:p14="http://schemas.microsoft.com/office/powerpoint/2010/main" val="4381260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D9A34-B5C3-B6C6-5ACB-C143F47A47C1}"/>
              </a:ext>
            </a:extLst>
          </p:cNvPr>
          <p:cNvSpPr>
            <a:spLocks noGrp="1"/>
          </p:cNvSpPr>
          <p:nvPr>
            <p:ph type="title"/>
          </p:nvPr>
        </p:nvSpPr>
        <p:spPr/>
        <p:txBody>
          <a:bodyPr/>
          <a:lstStyle/>
          <a:p>
            <a:r>
              <a:rPr lang="nl-BE" err="1"/>
              <a:t>Neural</a:t>
            </a:r>
            <a:r>
              <a:rPr lang="nl-BE"/>
              <a:t> </a:t>
            </a:r>
            <a:r>
              <a:rPr lang="nl-BE" err="1"/>
              <a:t>networks</a:t>
            </a:r>
            <a:r>
              <a:rPr lang="nl-BE"/>
              <a:t> are </a:t>
            </a:r>
            <a:r>
              <a:rPr lang="nl-BE" err="1"/>
              <a:t>highly</a:t>
            </a:r>
            <a:r>
              <a:rPr lang="nl-BE"/>
              <a:t> </a:t>
            </a:r>
            <a:r>
              <a:rPr lang="nl-BE" err="1"/>
              <a:t>flexible</a:t>
            </a:r>
            <a:endParaRPr lang="en-BE"/>
          </a:p>
        </p:txBody>
      </p:sp>
      <p:sp>
        <p:nvSpPr>
          <p:cNvPr id="3" name="Content Placeholder 2">
            <a:extLst>
              <a:ext uri="{FF2B5EF4-FFF2-40B4-BE49-F238E27FC236}">
                <a16:creationId xmlns:a16="http://schemas.microsoft.com/office/drawing/2014/main" id="{A7984050-83DC-66BD-224A-5412A22A3DDA}"/>
              </a:ext>
            </a:extLst>
          </p:cNvPr>
          <p:cNvSpPr>
            <a:spLocks noGrp="1"/>
          </p:cNvSpPr>
          <p:nvPr>
            <p:ph idx="1"/>
          </p:nvPr>
        </p:nvSpPr>
        <p:spPr/>
        <p:txBody>
          <a:bodyPr/>
          <a:lstStyle/>
          <a:p>
            <a:pPr marL="0" indent="0">
              <a:buNone/>
            </a:pPr>
            <a:r>
              <a:rPr lang="en-GB" sz="2000" b="1"/>
              <a:t>modules</a:t>
            </a:r>
            <a:r>
              <a:rPr lang="en-GB" sz="2000"/>
              <a:t> == building block == transformation == function</a:t>
            </a:r>
          </a:p>
          <a:p>
            <a:pPr marL="0" indent="0">
              <a:buNone/>
            </a:pPr>
            <a:endParaRPr lang="en-GB" sz="2000"/>
          </a:p>
          <a:p>
            <a:pPr marL="0" indent="0">
              <a:buNone/>
            </a:pPr>
            <a:r>
              <a:rPr lang="en-GB" sz="2000"/>
              <a:t>a module receives as input either data 𝑥</a:t>
            </a:r>
            <a:r>
              <a:rPr lang="en-BE" sz="2000"/>
              <a:t> </a:t>
            </a:r>
            <a:r>
              <a:rPr lang="en-GB" sz="2000"/>
              <a:t>or another</a:t>
            </a:r>
            <a:br>
              <a:rPr lang="en-GB" sz="2000"/>
            </a:br>
            <a:r>
              <a:rPr lang="en-GB" sz="2000"/>
              <a:t>module’s output.</a:t>
            </a:r>
          </a:p>
          <a:p>
            <a:pPr marL="0" indent="0">
              <a:buNone/>
            </a:pPr>
            <a:r>
              <a:rPr lang="en-GB"/>
              <a:t>a</a:t>
            </a:r>
            <a:r>
              <a:rPr lang="en-GB" sz="2000"/>
              <a:t> module returns an output based on its activation function</a:t>
            </a:r>
          </a:p>
          <a:p>
            <a:pPr marL="0" indent="0">
              <a:buNone/>
            </a:pPr>
            <a:r>
              <a:rPr lang="en-GB"/>
              <a:t>a</a:t>
            </a:r>
            <a:r>
              <a:rPr lang="en-GB" sz="2000"/>
              <a:t> module may or may not have trainable model</a:t>
            </a:r>
            <a:r>
              <a:rPr lang="en-BE" sz="2000"/>
              <a:t> </a:t>
            </a:r>
            <a:r>
              <a:rPr lang="en-GB" sz="2000"/>
              <a:t>parameters.</a:t>
            </a:r>
          </a:p>
        </p:txBody>
      </p:sp>
      <p:pic>
        <p:nvPicPr>
          <p:cNvPr id="4" name="Picture 2" descr="The mostly complete chart of Neural Networks, explained | by Andrew Tch |  Towards Data Science">
            <a:extLst>
              <a:ext uri="{FF2B5EF4-FFF2-40B4-BE49-F238E27FC236}">
                <a16:creationId xmlns:a16="http://schemas.microsoft.com/office/drawing/2014/main" id="{5691FC6F-49C5-246A-843B-A22C297E81B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24595" y="365125"/>
            <a:ext cx="4133772" cy="6200658"/>
          </a:xfrm>
          <a:prstGeom prst="rect">
            <a:avLst/>
          </a:prstGeom>
          <a:noFill/>
          <a:extLst>
            <a:ext uri="{909E8E84-426E-40DD-AFC4-6F175D3DCCD1}">
              <a14:hiddenFill xmlns:a14="http://schemas.microsoft.com/office/drawing/2010/main">
                <a:solidFill>
                  <a:srgbClr val="FFFFFF"/>
                </a:solidFill>
              </a14:hiddenFill>
            </a:ext>
          </a:extLst>
        </p:spPr>
      </p:pic>
      <p:sp>
        <p:nvSpPr>
          <p:cNvPr id="5" name="Footer Placeholder 4">
            <a:extLst>
              <a:ext uri="{FF2B5EF4-FFF2-40B4-BE49-F238E27FC236}">
                <a16:creationId xmlns:a16="http://schemas.microsoft.com/office/drawing/2014/main" id="{8547F1A9-E5BA-9FE9-FE4B-4479709D6DBC}"/>
              </a:ext>
            </a:extLst>
          </p:cNvPr>
          <p:cNvSpPr>
            <a:spLocks noGrp="1"/>
          </p:cNvSpPr>
          <p:nvPr>
            <p:ph type="ftr" sz="quarter" idx="11"/>
          </p:nvPr>
        </p:nvSpPr>
        <p:spPr/>
        <p:txBody>
          <a:bodyPr/>
          <a:lstStyle/>
          <a:p>
            <a:r>
              <a:rPr lang="en-US"/>
              <a:t>https://kim.hfg-karlsruhe.de/neural-network-chart/</a:t>
            </a:r>
          </a:p>
        </p:txBody>
      </p:sp>
      <p:sp>
        <p:nvSpPr>
          <p:cNvPr id="6" name="Slide Number Placeholder 5">
            <a:extLst>
              <a:ext uri="{FF2B5EF4-FFF2-40B4-BE49-F238E27FC236}">
                <a16:creationId xmlns:a16="http://schemas.microsoft.com/office/drawing/2014/main" id="{34AB0675-504E-53BC-9547-86AF153C01F6}"/>
              </a:ext>
            </a:extLst>
          </p:cNvPr>
          <p:cNvSpPr>
            <a:spLocks noGrp="1"/>
          </p:cNvSpPr>
          <p:nvPr>
            <p:ph type="sldNum" sz="quarter" idx="12"/>
          </p:nvPr>
        </p:nvSpPr>
        <p:spPr/>
        <p:txBody>
          <a:bodyPr/>
          <a:lstStyle/>
          <a:p>
            <a:fld id="{94B3E216-A3C5-4E41-AE94-D003E76F1D3A}" type="slidenum">
              <a:rPr lang="en-US" smtClean="0"/>
              <a:pPr/>
              <a:t>24</a:t>
            </a:fld>
            <a:endParaRPr lang="en-US"/>
          </a:p>
        </p:txBody>
      </p:sp>
    </p:spTree>
    <p:extLst>
      <p:ext uri="{BB962C8B-B14F-4D97-AF65-F5344CB8AC3E}">
        <p14:creationId xmlns:p14="http://schemas.microsoft.com/office/powerpoint/2010/main" val="30275872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97F4B-9608-AF61-7A8C-3C37EE709CE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6708BD2-83C0-7D2A-9B51-F17D1BE44550}"/>
              </a:ext>
            </a:extLst>
          </p:cNvPr>
          <p:cNvSpPr txBox="1"/>
          <p:nvPr/>
        </p:nvSpPr>
        <p:spPr>
          <a:xfrm>
            <a:off x="241301" y="129804"/>
            <a:ext cx="11747500" cy="523220"/>
          </a:xfrm>
          <a:prstGeom prst="rect">
            <a:avLst/>
          </a:prstGeom>
          <a:noFill/>
        </p:spPr>
        <p:txBody>
          <a:bodyPr wrap="square" rtlCol="0">
            <a:spAutoFit/>
          </a:bodyPr>
          <a:lstStyle/>
          <a:p>
            <a:r>
              <a:rPr lang="en-BE" sz="2800">
                <a:solidFill>
                  <a:schemeClr val="bg1"/>
                </a:solidFill>
                <a:ea typeface="Lato" panose="020B0604020202020204" pitchFamily="34" charset="0"/>
                <a:cs typeface="Helvetica" panose="020B0604020202020204" pitchFamily="34" charset="0"/>
              </a:rPr>
              <a:t>matrix representation of weights, biases, and activations</a:t>
            </a:r>
            <a:endParaRPr lang="en-GB" sz="2800">
              <a:solidFill>
                <a:schemeClr val="bg1"/>
              </a:solidFill>
              <a:ea typeface="Lato" panose="020B0604020202020204" pitchFamily="34" charset="0"/>
              <a:cs typeface="Helvetica" panose="020B0604020202020204" pitchFamily="34" charset="0"/>
            </a:endParaRPr>
          </a:p>
        </p:txBody>
      </p:sp>
      <p:sp>
        <p:nvSpPr>
          <p:cNvPr id="57" name="Oval 56">
            <a:extLst>
              <a:ext uri="{FF2B5EF4-FFF2-40B4-BE49-F238E27FC236}">
                <a16:creationId xmlns:a16="http://schemas.microsoft.com/office/drawing/2014/main" id="{7BBFFE63-659D-630B-E91C-F965B926C8B8}"/>
              </a:ext>
            </a:extLst>
          </p:cNvPr>
          <p:cNvSpPr/>
          <p:nvPr/>
        </p:nvSpPr>
        <p:spPr>
          <a:xfrm>
            <a:off x="443131" y="975261"/>
            <a:ext cx="649966" cy="64996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ln>
                <a:solidFill>
                  <a:schemeClr val="tx1"/>
                </a:solidFill>
              </a:ln>
              <a:noFill/>
            </a:endParaRPr>
          </a:p>
        </p:txBody>
      </p:sp>
      <p:sp>
        <p:nvSpPr>
          <p:cNvPr id="58" name="Oval 57">
            <a:extLst>
              <a:ext uri="{FF2B5EF4-FFF2-40B4-BE49-F238E27FC236}">
                <a16:creationId xmlns:a16="http://schemas.microsoft.com/office/drawing/2014/main" id="{BD8DBA17-1767-DF0B-91B5-A22B7A839082}"/>
              </a:ext>
            </a:extLst>
          </p:cNvPr>
          <p:cNvSpPr/>
          <p:nvPr/>
        </p:nvSpPr>
        <p:spPr>
          <a:xfrm>
            <a:off x="454584" y="1833351"/>
            <a:ext cx="649966" cy="64996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ln>
                <a:solidFill>
                  <a:schemeClr val="tx1"/>
                </a:solidFill>
              </a:ln>
              <a:noFill/>
            </a:endParaRPr>
          </a:p>
        </p:txBody>
      </p:sp>
      <p:sp>
        <p:nvSpPr>
          <p:cNvPr id="59" name="Oval 58">
            <a:extLst>
              <a:ext uri="{FF2B5EF4-FFF2-40B4-BE49-F238E27FC236}">
                <a16:creationId xmlns:a16="http://schemas.microsoft.com/office/drawing/2014/main" id="{CF6E3504-B47C-B6E7-CB52-58CA228FCBC8}"/>
              </a:ext>
            </a:extLst>
          </p:cNvPr>
          <p:cNvSpPr/>
          <p:nvPr/>
        </p:nvSpPr>
        <p:spPr>
          <a:xfrm>
            <a:off x="454584" y="2686475"/>
            <a:ext cx="649966" cy="64996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ln>
                <a:solidFill>
                  <a:schemeClr val="tx1"/>
                </a:solidFill>
              </a:ln>
              <a:noFill/>
            </a:endParaRPr>
          </a:p>
        </p:txBody>
      </p:sp>
      <p:sp>
        <p:nvSpPr>
          <p:cNvPr id="60" name="Oval 59">
            <a:extLst>
              <a:ext uri="{FF2B5EF4-FFF2-40B4-BE49-F238E27FC236}">
                <a16:creationId xmlns:a16="http://schemas.microsoft.com/office/drawing/2014/main" id="{0519D429-1648-E591-7854-E20DC94D4FDC}"/>
              </a:ext>
            </a:extLst>
          </p:cNvPr>
          <p:cNvSpPr/>
          <p:nvPr/>
        </p:nvSpPr>
        <p:spPr>
          <a:xfrm>
            <a:off x="443131" y="3539599"/>
            <a:ext cx="649966" cy="64996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ln>
                <a:solidFill>
                  <a:schemeClr val="tx1"/>
                </a:solidFill>
              </a:ln>
              <a:noFill/>
            </a:endParaRPr>
          </a:p>
        </p:txBody>
      </p:sp>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D4A40207-A257-EFEA-89D2-A9CBED2F5423}"/>
                  </a:ext>
                </a:extLst>
              </p:cNvPr>
              <p:cNvSpPr txBox="1"/>
              <p:nvPr/>
            </p:nvSpPr>
            <p:spPr>
              <a:xfrm>
                <a:off x="509509" y="1066000"/>
                <a:ext cx="599125" cy="668645"/>
              </a:xfrm>
              <a:prstGeom prst="rect">
                <a:avLst/>
              </a:prstGeom>
              <a:noFill/>
            </p:spPr>
            <p:txBody>
              <a:bodyPr wrap="square" lIns="0" tIns="0" rIns="0" bIns="0" rtlCol="0">
                <a:spAutoFit/>
              </a:bodyPr>
              <a:lstStyle/>
              <a:p>
                <a:pPr/>
                <a14:m>
                  <m:oMathPara xmlns:m="http://schemas.openxmlformats.org/officeDocument/2006/math">
                    <m:oMath>
                      <m:sSubSup>
                        <m:sSubSupPr>
                          <m:ctrlPr>
                            <a:rPr lang="en-BE" sz="2400" b="0" i="1" smtClean="0">
                              <a:latin typeface="Cambria Math" panose="02040503050406030204" pitchFamily="18" charset="0"/>
                            </a:rPr>
                          </m:ctrlPr>
                        </m:sSubSupPr>
                        <m:e>
                          <m:r>
                            <a:rPr lang="en-BE" sz="2400" b="0" i="1" smtClean="0">
                              <a:latin typeface="Cambria Math" panose="02040503050406030204" pitchFamily="18" charset="0"/>
                            </a:rPr>
                            <m:t>𝑎</m:t>
                          </m:r>
                        </m:e>
                        <m:sub>
                          <m:r>
                            <a:rPr lang="en-GB" sz="2400" b="0" i="1" smtClean="0">
                              <a:latin typeface="Cambria Math" panose="02040503050406030204" pitchFamily="18" charset="0"/>
                            </a:rPr>
                            <m:t>0</m:t>
                          </m:r>
                        </m:sub>
                        <m:sup>
                          <m:r>
                            <a:rPr lang="en-BE" sz="2400" b="0" i="1" smtClean="0">
                              <a:latin typeface="Cambria Math" panose="02040503050406030204" pitchFamily="18" charset="0"/>
                            </a:rPr>
                            <m:t>0</m:t>
                          </m:r>
                        </m:sup>
                      </m:sSubSup>
                    </m:oMath>
                  </m:oMathPara>
                </a14:m>
                <a:endParaRPr lang="en-GB" sz="2400" b="0"/>
              </a:p>
              <a:p>
                <a:endParaRPr lang="en-GB" b="0"/>
              </a:p>
            </p:txBody>
          </p:sp>
        </mc:Choice>
        <mc:Fallback xmlns="">
          <p:sp>
            <p:nvSpPr>
              <p:cNvPr id="73" name="TextBox 72">
                <a:extLst>
                  <a:ext uri="{FF2B5EF4-FFF2-40B4-BE49-F238E27FC236}">
                    <a16:creationId xmlns:a16="http://schemas.microsoft.com/office/drawing/2014/main" id="{D4A40207-A257-EFEA-89D2-A9CBED2F5423}"/>
                  </a:ext>
                </a:extLst>
              </p:cNvPr>
              <p:cNvSpPr txBox="1">
                <a:spLocks noRot="1" noChangeAspect="1" noMove="1" noResize="1" noEditPoints="1" noAdjustHandles="1" noChangeArrowheads="1" noChangeShapeType="1" noTextEdit="1"/>
              </p:cNvSpPr>
              <p:nvPr/>
            </p:nvSpPr>
            <p:spPr>
              <a:xfrm>
                <a:off x="509509" y="1066000"/>
                <a:ext cx="599125" cy="668645"/>
              </a:xfrm>
              <a:prstGeom prst="rect">
                <a:avLst/>
              </a:prstGeom>
              <a:blipFill>
                <a:blip r:embed="rId3"/>
                <a:stretch>
                  <a:fillRect l="-24490" t="-12727" r="-20408" b="-181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B7400F53-D821-96DD-0B9F-FBC34987A726}"/>
                  </a:ext>
                </a:extLst>
              </p:cNvPr>
              <p:cNvSpPr txBox="1"/>
              <p:nvPr/>
            </p:nvSpPr>
            <p:spPr>
              <a:xfrm>
                <a:off x="509509" y="1933963"/>
                <a:ext cx="599125" cy="652871"/>
              </a:xfrm>
              <a:prstGeom prst="rect">
                <a:avLst/>
              </a:prstGeom>
              <a:noFill/>
            </p:spPr>
            <p:txBody>
              <a:bodyPr wrap="square" lIns="0" tIns="0" rIns="0" bIns="0" rtlCol="0">
                <a:spAutoFit/>
              </a:bodyPr>
              <a:lstStyle/>
              <a:p>
                <a:pPr/>
                <a14:m>
                  <m:oMathPara xmlns:m="http://schemas.openxmlformats.org/officeDocument/2006/math">
                    <m:oMath>
                      <m:sSubSup>
                        <m:sSubSupPr>
                          <m:ctrlPr>
                            <a:rPr lang="en-BE" sz="2400" b="0" i="1" smtClean="0">
                              <a:latin typeface="Cambria Math" panose="02040503050406030204" pitchFamily="18" charset="0"/>
                            </a:rPr>
                          </m:ctrlPr>
                        </m:sSubSupPr>
                        <m:e>
                          <m:r>
                            <a:rPr lang="en-BE" sz="2400" b="0" i="1" smtClean="0">
                              <a:latin typeface="Cambria Math" panose="02040503050406030204" pitchFamily="18" charset="0"/>
                            </a:rPr>
                            <m:t>𝑎</m:t>
                          </m:r>
                        </m:e>
                        <m:sub>
                          <m:r>
                            <a:rPr lang="en-GB" sz="2400" b="0" i="1" smtClean="0">
                              <a:latin typeface="Cambria Math" panose="02040503050406030204" pitchFamily="18" charset="0"/>
                            </a:rPr>
                            <m:t>1</m:t>
                          </m:r>
                        </m:sub>
                        <m:sup>
                          <m:r>
                            <a:rPr lang="en-BE" sz="2400" b="0" i="1" smtClean="0">
                              <a:latin typeface="Cambria Math" panose="02040503050406030204" pitchFamily="18" charset="0"/>
                            </a:rPr>
                            <m:t>0</m:t>
                          </m:r>
                        </m:sup>
                      </m:sSubSup>
                    </m:oMath>
                  </m:oMathPara>
                </a14:m>
                <a:endParaRPr lang="en-GB" sz="2400" b="0"/>
              </a:p>
              <a:p>
                <a:endParaRPr lang="en-GB" b="0"/>
              </a:p>
            </p:txBody>
          </p:sp>
        </mc:Choice>
        <mc:Fallback xmlns="">
          <p:sp>
            <p:nvSpPr>
              <p:cNvPr id="74" name="TextBox 73">
                <a:extLst>
                  <a:ext uri="{FF2B5EF4-FFF2-40B4-BE49-F238E27FC236}">
                    <a16:creationId xmlns:a16="http://schemas.microsoft.com/office/drawing/2014/main" id="{B7400F53-D821-96DD-0B9F-FBC34987A726}"/>
                  </a:ext>
                </a:extLst>
              </p:cNvPr>
              <p:cNvSpPr txBox="1">
                <a:spLocks noRot="1" noChangeAspect="1" noMove="1" noResize="1" noEditPoints="1" noAdjustHandles="1" noChangeArrowheads="1" noChangeShapeType="1" noTextEdit="1"/>
              </p:cNvSpPr>
              <p:nvPr/>
            </p:nvSpPr>
            <p:spPr>
              <a:xfrm>
                <a:off x="509509" y="1933963"/>
                <a:ext cx="599125" cy="652871"/>
              </a:xfrm>
              <a:prstGeom prst="rect">
                <a:avLst/>
              </a:prstGeom>
              <a:blipFill>
                <a:blip r:embed="rId4"/>
                <a:stretch>
                  <a:fillRect l="-24490" t="-13084" r="-20408" b="-214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TextBox 74">
                <a:extLst>
                  <a:ext uri="{FF2B5EF4-FFF2-40B4-BE49-F238E27FC236}">
                    <a16:creationId xmlns:a16="http://schemas.microsoft.com/office/drawing/2014/main" id="{A4B38517-57BB-5503-AFD4-E85D33D9D6D6}"/>
                  </a:ext>
                </a:extLst>
              </p:cNvPr>
              <p:cNvSpPr txBox="1"/>
              <p:nvPr/>
            </p:nvSpPr>
            <p:spPr>
              <a:xfrm>
                <a:off x="443131" y="2823426"/>
                <a:ext cx="665503" cy="369332"/>
              </a:xfrm>
              <a:prstGeom prst="rect">
                <a:avLst/>
              </a:prstGeom>
              <a:noFill/>
            </p:spPr>
            <p:txBody>
              <a:bodyPr wrap="square" lIns="0" tIns="0" rIns="0" bIns="0" rtlCol="0">
                <a:spAutoFit/>
              </a:bodyPr>
              <a:lstStyle/>
              <a:p>
                <a:pPr/>
                <a14:m>
                  <m:oMathPara xmlns:m="http://schemas.openxmlformats.org/officeDocument/2006/math">
                    <m:oMathParaPr>
                      <m:jc m:val="center"/>
                    </m:oMathParaPr>
                    <m:oMath>
                      <m:r>
                        <a:rPr lang="en-GB" sz="2400" i="1">
                          <a:latin typeface="Cambria Math" panose="02040503050406030204" pitchFamily="18" charset="0"/>
                        </a:rPr>
                        <m:t>⋯</m:t>
                      </m:r>
                    </m:oMath>
                  </m:oMathPara>
                </a14:m>
                <a:endParaRPr lang="en-GB" sz="2400"/>
              </a:p>
            </p:txBody>
          </p:sp>
        </mc:Choice>
        <mc:Fallback xmlns="">
          <p:sp>
            <p:nvSpPr>
              <p:cNvPr id="75" name="TextBox 74">
                <a:extLst>
                  <a:ext uri="{FF2B5EF4-FFF2-40B4-BE49-F238E27FC236}">
                    <a16:creationId xmlns:a16="http://schemas.microsoft.com/office/drawing/2014/main" id="{A4B38517-57BB-5503-AFD4-E85D33D9D6D6}"/>
                  </a:ext>
                </a:extLst>
              </p:cNvPr>
              <p:cNvSpPr txBox="1">
                <a:spLocks noRot="1" noChangeAspect="1" noMove="1" noResize="1" noEditPoints="1" noAdjustHandles="1" noChangeArrowheads="1" noChangeShapeType="1" noTextEdit="1"/>
              </p:cNvSpPr>
              <p:nvPr/>
            </p:nvSpPr>
            <p:spPr>
              <a:xfrm>
                <a:off x="443131" y="2823426"/>
                <a:ext cx="665503" cy="369332"/>
              </a:xfrm>
              <a:prstGeom prst="rect">
                <a:avLst/>
              </a:prstGeom>
              <a:blipFill>
                <a:blip r:embed="rId5"/>
                <a:stretch>
                  <a:fillRect t="-24590" r="-9174" b="-49180"/>
                </a:stretch>
              </a:blipFill>
            </p:spPr>
            <p:txBody>
              <a:bodyPr/>
              <a:lstStyle/>
              <a:p>
                <a:r>
                  <a:rPr lang="en-US">
                    <a:noFill/>
                  </a:rPr>
                  <a:t> </a:t>
                </a:r>
              </a:p>
            </p:txBody>
          </p:sp>
        </mc:Fallback>
      </mc:AlternateContent>
      <p:sp>
        <p:nvSpPr>
          <p:cNvPr id="80" name="Oval 79">
            <a:extLst>
              <a:ext uri="{FF2B5EF4-FFF2-40B4-BE49-F238E27FC236}">
                <a16:creationId xmlns:a16="http://schemas.microsoft.com/office/drawing/2014/main" id="{1EDF3E73-8FC2-D514-455D-C7214AADD267}"/>
              </a:ext>
            </a:extLst>
          </p:cNvPr>
          <p:cNvSpPr/>
          <p:nvPr/>
        </p:nvSpPr>
        <p:spPr>
          <a:xfrm>
            <a:off x="3115379" y="980227"/>
            <a:ext cx="649966" cy="64996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ln>
                <a:solidFill>
                  <a:schemeClr val="tx1"/>
                </a:solidFill>
              </a:ln>
              <a:noFill/>
            </a:endParaRPr>
          </a:p>
        </p:txBody>
      </p:sp>
      <p:cxnSp>
        <p:nvCxnSpPr>
          <p:cNvPr id="81" name="Straight Arrow Connector 80">
            <a:extLst>
              <a:ext uri="{FF2B5EF4-FFF2-40B4-BE49-F238E27FC236}">
                <a16:creationId xmlns:a16="http://schemas.microsoft.com/office/drawing/2014/main" id="{B4F4D034-7BA5-071F-B2C4-3EC2B8514BF8}"/>
              </a:ext>
            </a:extLst>
          </p:cNvPr>
          <p:cNvCxnSpPr>
            <a:cxnSpLocks/>
            <a:endCxn id="80" idx="2"/>
          </p:cNvCxnSpPr>
          <p:nvPr/>
        </p:nvCxnSpPr>
        <p:spPr>
          <a:xfrm>
            <a:off x="1093097" y="1300244"/>
            <a:ext cx="2022282" cy="4966"/>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2D8ED9CB-69AC-7D3F-332B-430E3728C551}"/>
              </a:ext>
            </a:extLst>
          </p:cNvPr>
          <p:cNvCxnSpPr>
            <a:cxnSpLocks/>
            <a:endCxn id="80" idx="2"/>
          </p:cNvCxnSpPr>
          <p:nvPr/>
        </p:nvCxnSpPr>
        <p:spPr>
          <a:xfrm flipV="1">
            <a:off x="1104550" y="1305210"/>
            <a:ext cx="2010829" cy="853124"/>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1F3B59D-3750-063A-CDB1-A8C0985D93E9}"/>
                  </a:ext>
                </a:extLst>
              </p:cNvPr>
              <p:cNvSpPr txBox="1"/>
              <p:nvPr/>
            </p:nvSpPr>
            <p:spPr>
              <a:xfrm>
                <a:off x="3164290" y="1114334"/>
                <a:ext cx="526264" cy="372859"/>
              </a:xfrm>
              <a:prstGeom prst="rect">
                <a:avLst/>
              </a:prstGeom>
              <a:noFill/>
            </p:spPr>
            <p:txBody>
              <a:bodyPr wrap="square" lIns="0" tIns="0" rIns="0" bIns="0" rtlCol="0">
                <a:spAutoFit/>
              </a:bodyPr>
              <a:lstStyle/>
              <a:p>
                <a:pPr/>
                <a14:m>
                  <m:oMathPara xmlns:m="http://schemas.openxmlformats.org/officeDocument/2006/math">
                    <m:oMath>
                      <m:sSubSup>
                        <m:sSubSupPr>
                          <m:ctrlPr>
                            <a:rPr lang="en-GB" sz="2400" b="0" i="1" smtClean="0">
                              <a:solidFill>
                                <a:schemeClr val="accent2"/>
                              </a:solidFill>
                              <a:latin typeface="Cambria Math" panose="02040503050406030204" pitchFamily="18" charset="0"/>
                            </a:rPr>
                          </m:ctrlPr>
                        </m:sSubSupPr>
                        <m:e>
                          <m:r>
                            <a:rPr lang="en-GB" sz="2400" b="0" i="1" smtClean="0">
                              <a:solidFill>
                                <a:schemeClr val="accent2"/>
                              </a:solidFill>
                              <a:latin typeface="Cambria Math" panose="02040503050406030204" pitchFamily="18" charset="0"/>
                            </a:rPr>
                            <m:t>𝑎</m:t>
                          </m:r>
                        </m:e>
                        <m:sub>
                          <m:r>
                            <a:rPr lang="en-BE" sz="2400" b="0" i="1" smtClean="0">
                              <a:solidFill>
                                <a:schemeClr val="accent2"/>
                              </a:solidFill>
                              <a:latin typeface="Cambria Math" panose="02040503050406030204" pitchFamily="18" charset="0"/>
                            </a:rPr>
                            <m:t>0</m:t>
                          </m:r>
                        </m:sub>
                        <m:sup>
                          <m:r>
                            <a:rPr lang="en-GB" sz="2400" b="0" i="1" smtClean="0">
                              <a:solidFill>
                                <a:schemeClr val="accent2"/>
                              </a:solidFill>
                              <a:latin typeface="Cambria Math" panose="02040503050406030204" pitchFamily="18" charset="0"/>
                            </a:rPr>
                            <m:t>1</m:t>
                          </m:r>
                        </m:sup>
                      </m:sSubSup>
                    </m:oMath>
                  </m:oMathPara>
                </a14:m>
                <a:endParaRPr lang="en-GB" sz="2400" b="0">
                  <a:solidFill>
                    <a:schemeClr val="accent2"/>
                  </a:solidFill>
                </a:endParaRPr>
              </a:p>
            </p:txBody>
          </p:sp>
        </mc:Choice>
        <mc:Fallback xmlns="">
          <p:sp>
            <p:nvSpPr>
              <p:cNvPr id="6" name="TextBox 5">
                <a:extLst>
                  <a:ext uri="{FF2B5EF4-FFF2-40B4-BE49-F238E27FC236}">
                    <a16:creationId xmlns:a16="http://schemas.microsoft.com/office/drawing/2014/main" id="{41F3B59D-3750-063A-CDB1-A8C0985D93E9}"/>
                  </a:ext>
                </a:extLst>
              </p:cNvPr>
              <p:cNvSpPr txBox="1">
                <a:spLocks noRot="1" noChangeAspect="1" noMove="1" noResize="1" noEditPoints="1" noAdjustHandles="1" noChangeArrowheads="1" noChangeShapeType="1" noTextEdit="1"/>
              </p:cNvSpPr>
              <p:nvPr/>
            </p:nvSpPr>
            <p:spPr>
              <a:xfrm>
                <a:off x="3164290" y="1114334"/>
                <a:ext cx="526264" cy="372859"/>
              </a:xfrm>
              <a:prstGeom prst="rect">
                <a:avLst/>
              </a:prstGeom>
              <a:blipFill>
                <a:blip r:embed="rId6"/>
                <a:stretch>
                  <a:fillRect t="-24590" r="-31395" b="-4918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194EB51-AF92-6747-5EB6-EFB1980A53AD}"/>
                  </a:ext>
                </a:extLst>
              </p:cNvPr>
              <p:cNvSpPr txBox="1"/>
              <p:nvPr/>
            </p:nvSpPr>
            <p:spPr>
              <a:xfrm>
                <a:off x="4491418" y="1105251"/>
                <a:ext cx="7255064" cy="399918"/>
              </a:xfrm>
              <a:prstGeom prst="rect">
                <a:avLst/>
              </a:prstGeom>
              <a:noFill/>
            </p:spPr>
            <p:txBody>
              <a:bodyPr wrap="square" lIns="0" tIns="0" rIns="0" bIns="0" rtlCol="0">
                <a:spAutoFit/>
              </a:bodyPr>
              <a:lstStyle/>
              <a:p>
                <a:pPr algn="ctr"/>
                <a14:m>
                  <m:oMath xmlns:m="http://schemas.openxmlformats.org/officeDocument/2006/math">
                    <m:sSubSup>
                      <m:sSubSupPr>
                        <m:ctrlPr>
                          <a:rPr lang="en-BE" sz="2400" i="1">
                            <a:solidFill>
                              <a:schemeClr val="accent2"/>
                            </a:solidFill>
                            <a:latin typeface="Cambria Math" panose="02040503050406030204" pitchFamily="18" charset="0"/>
                          </a:rPr>
                        </m:ctrlPr>
                      </m:sSubSupPr>
                      <m:e>
                        <m:r>
                          <a:rPr lang="en-BE" sz="2400" i="1">
                            <a:solidFill>
                              <a:schemeClr val="accent2"/>
                            </a:solidFill>
                            <a:latin typeface="Cambria Math" panose="02040503050406030204" pitchFamily="18" charset="0"/>
                          </a:rPr>
                          <m:t>𝑎</m:t>
                        </m:r>
                      </m:e>
                      <m:sub>
                        <m:r>
                          <a:rPr lang="en-BE" sz="2400" i="1">
                            <a:solidFill>
                              <a:schemeClr val="accent2"/>
                            </a:solidFill>
                            <a:latin typeface="Cambria Math" panose="02040503050406030204" pitchFamily="18" charset="0"/>
                          </a:rPr>
                          <m:t>0</m:t>
                        </m:r>
                      </m:sub>
                      <m:sup>
                        <m:r>
                          <a:rPr lang="en-BE" sz="2400" b="0" i="1" smtClean="0">
                            <a:solidFill>
                              <a:schemeClr val="accent2"/>
                            </a:solidFill>
                            <a:latin typeface="Cambria Math" panose="02040503050406030204" pitchFamily="18" charset="0"/>
                          </a:rPr>
                          <m:t>1</m:t>
                        </m:r>
                      </m:sup>
                    </m:sSubSup>
                    <m:r>
                      <a:rPr lang="en-BE" sz="2400" b="0" i="1" smtClean="0">
                        <a:latin typeface="Cambria Math" panose="02040503050406030204" pitchFamily="18" charset="0"/>
                      </a:rPr>
                      <m:t>=</m:t>
                    </m:r>
                    <m:r>
                      <a:rPr lang="en-BE" sz="2400" b="0" i="1" smtClean="0">
                        <a:latin typeface="Cambria Math" panose="02040503050406030204" pitchFamily="18" charset="0"/>
                        <a:ea typeface="Cambria Math" panose="02040503050406030204" pitchFamily="18" charset="0"/>
                      </a:rPr>
                      <m:t>𝜎</m:t>
                    </m:r>
                    <m:r>
                      <a:rPr lang="en-BE" sz="2400" b="0" i="1" smtClean="0">
                        <a:latin typeface="Cambria Math" panose="02040503050406030204" pitchFamily="18" charset="0"/>
                        <a:ea typeface="Cambria Math" panose="02040503050406030204" pitchFamily="18" charset="0"/>
                      </a:rPr>
                      <m:t>(</m:t>
                    </m:r>
                    <m:sSub>
                      <m:sSubPr>
                        <m:ctrlPr>
                          <a:rPr lang="en-BE" sz="2400" i="1">
                            <a:solidFill>
                              <a:schemeClr val="accent1"/>
                            </a:solidFill>
                            <a:latin typeface="Cambria Math" panose="02040503050406030204" pitchFamily="18" charset="0"/>
                          </a:rPr>
                        </m:ctrlPr>
                      </m:sSubPr>
                      <m:e>
                        <m:r>
                          <a:rPr lang="en-BE" sz="2400" i="1">
                            <a:solidFill>
                              <a:schemeClr val="accent1"/>
                            </a:solidFill>
                            <a:latin typeface="Cambria Math" panose="02040503050406030204" pitchFamily="18" charset="0"/>
                          </a:rPr>
                          <m:t>𝑤</m:t>
                        </m:r>
                      </m:e>
                      <m:sub>
                        <m:r>
                          <a:rPr lang="en-BE" sz="2400" i="1">
                            <a:solidFill>
                              <a:schemeClr val="accent1"/>
                            </a:solidFill>
                            <a:latin typeface="Cambria Math" panose="02040503050406030204" pitchFamily="18" charset="0"/>
                          </a:rPr>
                          <m:t>0,0</m:t>
                        </m:r>
                      </m:sub>
                    </m:sSub>
                    <m:r>
                      <a:rPr lang="en-BE" sz="2400" i="1" smtClean="0">
                        <a:latin typeface="Cambria Math" panose="02040503050406030204" pitchFamily="18" charset="0"/>
                        <a:ea typeface="Cambria Math" panose="02040503050406030204" pitchFamily="18" charset="0"/>
                      </a:rPr>
                      <m:t>∙</m:t>
                    </m:r>
                    <m:sSubSup>
                      <m:sSubSupPr>
                        <m:ctrlPr>
                          <a:rPr lang="en-BE" sz="2400" i="1">
                            <a:latin typeface="Cambria Math" panose="02040503050406030204" pitchFamily="18" charset="0"/>
                          </a:rPr>
                        </m:ctrlPr>
                      </m:sSubSupPr>
                      <m:e>
                        <m:r>
                          <a:rPr lang="en-BE" sz="2400" i="1">
                            <a:latin typeface="Cambria Math" panose="02040503050406030204" pitchFamily="18" charset="0"/>
                          </a:rPr>
                          <m:t>𝑎</m:t>
                        </m:r>
                      </m:e>
                      <m:sub>
                        <m:r>
                          <a:rPr lang="en-BE" sz="2400" i="1">
                            <a:latin typeface="Cambria Math" panose="02040503050406030204" pitchFamily="18" charset="0"/>
                          </a:rPr>
                          <m:t>0</m:t>
                        </m:r>
                      </m:sub>
                      <m:sup>
                        <m:r>
                          <a:rPr lang="en-BE" sz="2400" i="1" smtClean="0">
                            <a:latin typeface="Cambria Math" panose="02040503050406030204" pitchFamily="18" charset="0"/>
                          </a:rPr>
                          <m:t>0</m:t>
                        </m:r>
                      </m:sup>
                    </m:sSubSup>
                    <m:r>
                      <a:rPr lang="en-BE" sz="2400" b="0" i="1" smtClean="0">
                        <a:latin typeface="Cambria Math" panose="02040503050406030204" pitchFamily="18" charset="0"/>
                      </a:rPr>
                      <m:t>+</m:t>
                    </m:r>
                    <m:sSub>
                      <m:sSubPr>
                        <m:ctrlPr>
                          <a:rPr lang="en-BE" sz="2400" i="1">
                            <a:solidFill>
                              <a:schemeClr val="accent1"/>
                            </a:solidFill>
                            <a:latin typeface="Cambria Math" panose="02040503050406030204" pitchFamily="18" charset="0"/>
                          </a:rPr>
                        </m:ctrlPr>
                      </m:sSubPr>
                      <m:e>
                        <m:r>
                          <a:rPr lang="en-BE" sz="2400" i="1">
                            <a:solidFill>
                              <a:schemeClr val="accent1"/>
                            </a:solidFill>
                            <a:latin typeface="Cambria Math" panose="02040503050406030204" pitchFamily="18" charset="0"/>
                          </a:rPr>
                          <m:t>𝑤</m:t>
                        </m:r>
                      </m:e>
                      <m:sub>
                        <m:r>
                          <a:rPr lang="en-BE" sz="2400" i="1">
                            <a:solidFill>
                              <a:schemeClr val="accent1"/>
                            </a:solidFill>
                            <a:latin typeface="Cambria Math" panose="02040503050406030204" pitchFamily="18" charset="0"/>
                          </a:rPr>
                          <m:t>0,1</m:t>
                        </m:r>
                      </m:sub>
                    </m:sSub>
                    <m:r>
                      <a:rPr lang="en-BE" sz="2400" i="1">
                        <a:latin typeface="Cambria Math" panose="02040503050406030204" pitchFamily="18" charset="0"/>
                        <a:ea typeface="Cambria Math" panose="02040503050406030204" pitchFamily="18" charset="0"/>
                      </a:rPr>
                      <m:t>∙</m:t>
                    </m:r>
                    <m:sSubSup>
                      <m:sSubSupPr>
                        <m:ctrlPr>
                          <a:rPr lang="en-BE" sz="2400" i="1">
                            <a:latin typeface="Cambria Math" panose="02040503050406030204" pitchFamily="18" charset="0"/>
                          </a:rPr>
                        </m:ctrlPr>
                      </m:sSubSupPr>
                      <m:e>
                        <m:r>
                          <a:rPr lang="en-BE" sz="2400" i="1">
                            <a:latin typeface="Cambria Math" panose="02040503050406030204" pitchFamily="18" charset="0"/>
                          </a:rPr>
                          <m:t>𝑎</m:t>
                        </m:r>
                      </m:e>
                      <m:sub>
                        <m:r>
                          <a:rPr lang="en-BE" sz="2400" i="1">
                            <a:latin typeface="Cambria Math" panose="02040503050406030204" pitchFamily="18" charset="0"/>
                          </a:rPr>
                          <m:t>1</m:t>
                        </m:r>
                      </m:sub>
                      <m:sup>
                        <m:r>
                          <a:rPr lang="en-BE" sz="2400" i="1" smtClean="0">
                            <a:latin typeface="Cambria Math" panose="02040503050406030204" pitchFamily="18" charset="0"/>
                          </a:rPr>
                          <m:t>0</m:t>
                        </m:r>
                      </m:sup>
                    </m:sSubSup>
                    <m:r>
                      <a:rPr lang="en-BE" sz="2400" b="0" i="1" smtClean="0">
                        <a:latin typeface="Cambria Math" panose="02040503050406030204" pitchFamily="18" charset="0"/>
                      </a:rPr>
                      <m:t>+ …+</m:t>
                    </m:r>
                    <m:sSub>
                      <m:sSubPr>
                        <m:ctrlPr>
                          <a:rPr lang="en-BE" sz="2400" i="1">
                            <a:solidFill>
                              <a:schemeClr val="accent1"/>
                            </a:solidFill>
                            <a:latin typeface="Cambria Math" panose="02040503050406030204" pitchFamily="18" charset="0"/>
                          </a:rPr>
                        </m:ctrlPr>
                      </m:sSubPr>
                      <m:e>
                        <m:r>
                          <a:rPr lang="en-BE" sz="2400" i="1">
                            <a:solidFill>
                              <a:schemeClr val="accent1"/>
                            </a:solidFill>
                            <a:latin typeface="Cambria Math" panose="02040503050406030204" pitchFamily="18" charset="0"/>
                          </a:rPr>
                          <m:t>𝑤</m:t>
                        </m:r>
                      </m:e>
                      <m:sub>
                        <m:r>
                          <a:rPr lang="en-BE" sz="2400" i="1">
                            <a:solidFill>
                              <a:schemeClr val="accent1"/>
                            </a:solidFill>
                            <a:latin typeface="Cambria Math" panose="02040503050406030204" pitchFamily="18" charset="0"/>
                          </a:rPr>
                          <m:t>0,</m:t>
                        </m:r>
                        <m:r>
                          <a:rPr lang="en-BE" sz="2400" b="0" i="1" smtClean="0">
                            <a:solidFill>
                              <a:schemeClr val="accent1"/>
                            </a:solidFill>
                            <a:latin typeface="Cambria Math" panose="02040503050406030204" pitchFamily="18" charset="0"/>
                          </a:rPr>
                          <m:t>𝑛</m:t>
                        </m:r>
                      </m:sub>
                    </m:sSub>
                    <m:r>
                      <a:rPr lang="en-BE" sz="2400" i="1">
                        <a:latin typeface="Cambria Math" panose="02040503050406030204" pitchFamily="18" charset="0"/>
                        <a:ea typeface="Cambria Math" panose="02040503050406030204" pitchFamily="18" charset="0"/>
                      </a:rPr>
                      <m:t>∙</m:t>
                    </m:r>
                    <m:sSubSup>
                      <m:sSubSupPr>
                        <m:ctrlPr>
                          <a:rPr lang="en-BE" sz="2400" i="1">
                            <a:latin typeface="Cambria Math" panose="02040503050406030204" pitchFamily="18" charset="0"/>
                          </a:rPr>
                        </m:ctrlPr>
                      </m:sSubSupPr>
                      <m:e>
                        <m:r>
                          <a:rPr lang="en-BE" sz="2400" i="1">
                            <a:latin typeface="Cambria Math" panose="02040503050406030204" pitchFamily="18" charset="0"/>
                          </a:rPr>
                          <m:t>𝑎</m:t>
                        </m:r>
                      </m:e>
                      <m:sub>
                        <m:r>
                          <a:rPr lang="en-BE" sz="2400" b="0" i="1" smtClean="0">
                            <a:latin typeface="Cambria Math" panose="02040503050406030204" pitchFamily="18" charset="0"/>
                          </a:rPr>
                          <m:t>𝑛</m:t>
                        </m:r>
                      </m:sub>
                      <m:sup>
                        <m:r>
                          <a:rPr lang="en-BE" sz="2400" i="1" smtClean="0">
                            <a:latin typeface="Cambria Math" panose="02040503050406030204" pitchFamily="18" charset="0"/>
                          </a:rPr>
                          <m:t>0</m:t>
                        </m:r>
                      </m:sup>
                    </m:sSubSup>
                    <m:r>
                      <a:rPr lang="en-BE" sz="2400" b="0" i="1" smtClean="0">
                        <a:latin typeface="Cambria Math" panose="02040503050406030204" pitchFamily="18" charset="0"/>
                      </a:rPr>
                      <m:t>+</m:t>
                    </m:r>
                    <m:sSub>
                      <m:sSubPr>
                        <m:ctrlPr>
                          <a:rPr lang="en-BE" sz="2400" i="1">
                            <a:solidFill>
                              <a:schemeClr val="accent6"/>
                            </a:solidFill>
                            <a:latin typeface="Cambria Math" panose="02040503050406030204" pitchFamily="18" charset="0"/>
                          </a:rPr>
                        </m:ctrlPr>
                      </m:sSubPr>
                      <m:e>
                        <m:r>
                          <a:rPr lang="en-BE" sz="2400" i="1">
                            <a:solidFill>
                              <a:schemeClr val="accent6"/>
                            </a:solidFill>
                            <a:latin typeface="Cambria Math" panose="02040503050406030204" pitchFamily="18" charset="0"/>
                          </a:rPr>
                          <m:t>𝑏</m:t>
                        </m:r>
                      </m:e>
                      <m:sub>
                        <m:r>
                          <a:rPr lang="en-BE" sz="2400" i="1">
                            <a:solidFill>
                              <a:schemeClr val="accent6"/>
                            </a:solidFill>
                            <a:latin typeface="Cambria Math" panose="02040503050406030204" pitchFamily="18" charset="0"/>
                          </a:rPr>
                          <m:t>0</m:t>
                        </m:r>
                      </m:sub>
                    </m:sSub>
                    <m:r>
                      <a:rPr lang="en-BE" sz="2400" b="0" i="1" smtClean="0">
                        <a:latin typeface="Cambria Math" panose="02040503050406030204" pitchFamily="18" charset="0"/>
                        <a:ea typeface="Cambria Math" panose="02040503050406030204" pitchFamily="18" charset="0"/>
                      </a:rPr>
                      <m:t>)</m:t>
                    </m:r>
                  </m:oMath>
                </a14:m>
                <a:r>
                  <a:rPr lang="en-BE" sz="2400"/>
                  <a:t> </a:t>
                </a:r>
              </a:p>
            </p:txBody>
          </p:sp>
        </mc:Choice>
        <mc:Fallback xmlns="">
          <p:sp>
            <p:nvSpPr>
              <p:cNvPr id="7" name="TextBox 6">
                <a:extLst>
                  <a:ext uri="{FF2B5EF4-FFF2-40B4-BE49-F238E27FC236}">
                    <a16:creationId xmlns:a16="http://schemas.microsoft.com/office/drawing/2014/main" id="{C194EB51-AF92-6747-5EB6-EFB1980A53AD}"/>
                  </a:ext>
                </a:extLst>
              </p:cNvPr>
              <p:cNvSpPr txBox="1">
                <a:spLocks noRot="1" noChangeAspect="1" noMove="1" noResize="1" noEditPoints="1" noAdjustHandles="1" noChangeArrowheads="1" noChangeShapeType="1" noTextEdit="1"/>
              </p:cNvSpPr>
              <p:nvPr/>
            </p:nvSpPr>
            <p:spPr>
              <a:xfrm>
                <a:off x="4491418" y="1105251"/>
                <a:ext cx="7255064" cy="399918"/>
              </a:xfrm>
              <a:prstGeom prst="rect">
                <a:avLst/>
              </a:prstGeom>
              <a:blipFill>
                <a:blip r:embed="rId7"/>
                <a:stretch>
                  <a:fillRect t="-18182" b="-42424"/>
                </a:stretch>
              </a:blipFill>
            </p:spPr>
            <p:txBody>
              <a:bodyPr/>
              <a:lstStyle/>
              <a:p>
                <a:r>
                  <a:rPr lang="en-US">
                    <a:noFill/>
                  </a:rPr>
                  <a:t> </a:t>
                </a:r>
              </a:p>
            </p:txBody>
          </p:sp>
        </mc:Fallback>
      </mc:AlternateContent>
      <p:sp>
        <p:nvSpPr>
          <p:cNvPr id="14" name="Title 1">
            <a:extLst>
              <a:ext uri="{FF2B5EF4-FFF2-40B4-BE49-F238E27FC236}">
                <a16:creationId xmlns:a16="http://schemas.microsoft.com/office/drawing/2014/main" id="{327F2C68-82C9-A386-0D3D-4B91B0D4EEC7}"/>
              </a:ext>
            </a:extLst>
          </p:cNvPr>
          <p:cNvSpPr>
            <a:spLocks noGrp="1"/>
          </p:cNvSpPr>
          <p:nvPr>
            <p:ph type="title"/>
          </p:nvPr>
        </p:nvSpPr>
        <p:spPr>
          <a:xfrm>
            <a:off x="433388" y="365125"/>
            <a:ext cx="11325225" cy="446084"/>
          </a:xfrm>
        </p:spPr>
        <p:txBody>
          <a:bodyPr/>
          <a:lstStyle/>
          <a:p>
            <a:r>
              <a:rPr lang="en-US" sz="3200">
                <a:ea typeface="Lato" panose="020B0604020202020204" pitchFamily="34" charset="0"/>
                <a:cs typeface="Helvetica" panose="020B0604020202020204" pitchFamily="34" charset="0"/>
              </a:rPr>
              <a:t>A neural network layer can be represented as a matrix</a:t>
            </a:r>
            <a:endParaRPr lang="en-BE"/>
          </a:p>
        </p:txBody>
      </p:sp>
      <p:sp>
        <p:nvSpPr>
          <p:cNvPr id="15" name="Slide Number Placeholder 14">
            <a:extLst>
              <a:ext uri="{FF2B5EF4-FFF2-40B4-BE49-F238E27FC236}">
                <a16:creationId xmlns:a16="http://schemas.microsoft.com/office/drawing/2014/main" id="{47E6452D-FF58-B7A7-7DCE-B68E202BA3BB}"/>
              </a:ext>
            </a:extLst>
          </p:cNvPr>
          <p:cNvSpPr>
            <a:spLocks noGrp="1"/>
          </p:cNvSpPr>
          <p:nvPr>
            <p:ph type="sldNum" sz="quarter" idx="12"/>
          </p:nvPr>
        </p:nvSpPr>
        <p:spPr/>
        <p:txBody>
          <a:bodyPr/>
          <a:lstStyle/>
          <a:p>
            <a:fld id="{94B3E216-A3C5-4E41-AE94-D003E76F1D3A}" type="slidenum">
              <a:rPr lang="en-BE" smtClean="0"/>
              <a:t>25</a:t>
            </a:fld>
            <a:endParaRPr lang="en-BE"/>
          </a:p>
        </p:txBody>
      </p:sp>
      <p:cxnSp>
        <p:nvCxnSpPr>
          <p:cNvPr id="11" name="Straight Arrow Connector 10">
            <a:extLst>
              <a:ext uri="{FF2B5EF4-FFF2-40B4-BE49-F238E27FC236}">
                <a16:creationId xmlns:a16="http://schemas.microsoft.com/office/drawing/2014/main" id="{E138F490-71CB-323C-D672-BA5F4C70FB14}"/>
              </a:ext>
            </a:extLst>
          </p:cNvPr>
          <p:cNvCxnSpPr>
            <a:cxnSpLocks/>
            <a:endCxn id="80" idx="2"/>
          </p:cNvCxnSpPr>
          <p:nvPr/>
        </p:nvCxnSpPr>
        <p:spPr>
          <a:xfrm flipV="1">
            <a:off x="1093097" y="1305210"/>
            <a:ext cx="2022282" cy="2559372"/>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A7485CB1-D16C-9F45-2578-367ACFCC387B}"/>
              </a:ext>
            </a:extLst>
          </p:cNvPr>
          <p:cNvCxnSpPr>
            <a:cxnSpLocks/>
            <a:stCxn id="75" idx="3"/>
            <a:endCxn id="80" idx="2"/>
          </p:cNvCxnSpPr>
          <p:nvPr/>
        </p:nvCxnSpPr>
        <p:spPr>
          <a:xfrm flipV="1">
            <a:off x="1108634" y="1305210"/>
            <a:ext cx="2006745" cy="1702882"/>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92096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459F5-8308-49BD-FDB4-CE31C0FFA69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EEA5FCA-AA43-AF3B-422A-14440C3034FB}"/>
              </a:ext>
            </a:extLst>
          </p:cNvPr>
          <p:cNvSpPr txBox="1"/>
          <p:nvPr/>
        </p:nvSpPr>
        <p:spPr>
          <a:xfrm>
            <a:off x="241301" y="129804"/>
            <a:ext cx="11747500" cy="523220"/>
          </a:xfrm>
          <a:prstGeom prst="rect">
            <a:avLst/>
          </a:prstGeom>
          <a:noFill/>
        </p:spPr>
        <p:txBody>
          <a:bodyPr wrap="square" rtlCol="0">
            <a:spAutoFit/>
          </a:bodyPr>
          <a:lstStyle/>
          <a:p>
            <a:r>
              <a:rPr lang="en-BE" sz="2800">
                <a:solidFill>
                  <a:schemeClr val="bg1"/>
                </a:solidFill>
                <a:ea typeface="Lato" panose="020B0604020202020204" pitchFamily="34" charset="0"/>
                <a:cs typeface="Helvetica" panose="020B0604020202020204" pitchFamily="34" charset="0"/>
              </a:rPr>
              <a:t>matrix representation of weights, biases, and activations</a:t>
            </a:r>
            <a:endParaRPr lang="en-GB" sz="2800">
              <a:solidFill>
                <a:schemeClr val="bg1"/>
              </a:solidFill>
              <a:ea typeface="Lato" panose="020B0604020202020204" pitchFamily="34" charset="0"/>
              <a:cs typeface="Helvetica" panose="020B0604020202020204" pitchFamily="34" charset="0"/>
            </a:endParaRPr>
          </a:p>
        </p:txBody>
      </p:sp>
      <p:sp>
        <p:nvSpPr>
          <p:cNvPr id="54" name="Oval 53">
            <a:extLst>
              <a:ext uri="{FF2B5EF4-FFF2-40B4-BE49-F238E27FC236}">
                <a16:creationId xmlns:a16="http://schemas.microsoft.com/office/drawing/2014/main" id="{C37F3F67-A1D0-0D54-5936-A8616FE35F2B}"/>
              </a:ext>
            </a:extLst>
          </p:cNvPr>
          <p:cNvSpPr/>
          <p:nvPr/>
        </p:nvSpPr>
        <p:spPr>
          <a:xfrm>
            <a:off x="3110605" y="1833351"/>
            <a:ext cx="649966" cy="64996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ln>
                <a:solidFill>
                  <a:schemeClr val="tx1"/>
                </a:solidFill>
              </a:ln>
              <a:noFill/>
            </a:endParaRPr>
          </a:p>
        </p:txBody>
      </p:sp>
      <p:sp>
        <p:nvSpPr>
          <p:cNvPr id="55" name="Oval 54">
            <a:extLst>
              <a:ext uri="{FF2B5EF4-FFF2-40B4-BE49-F238E27FC236}">
                <a16:creationId xmlns:a16="http://schemas.microsoft.com/office/drawing/2014/main" id="{9C9666D0-8DF0-313C-2720-23B71AB1D16D}"/>
              </a:ext>
            </a:extLst>
          </p:cNvPr>
          <p:cNvSpPr/>
          <p:nvPr/>
        </p:nvSpPr>
        <p:spPr>
          <a:xfrm>
            <a:off x="3110605" y="2686475"/>
            <a:ext cx="649966" cy="64996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ln>
                <a:solidFill>
                  <a:schemeClr val="tx1"/>
                </a:solidFill>
              </a:ln>
              <a:noFill/>
            </a:endParaRPr>
          </a:p>
        </p:txBody>
      </p:sp>
      <p:sp>
        <p:nvSpPr>
          <p:cNvPr id="56" name="Oval 55">
            <a:extLst>
              <a:ext uri="{FF2B5EF4-FFF2-40B4-BE49-F238E27FC236}">
                <a16:creationId xmlns:a16="http://schemas.microsoft.com/office/drawing/2014/main" id="{8B141816-4650-9E2D-8C4B-E73F69D6B929}"/>
              </a:ext>
            </a:extLst>
          </p:cNvPr>
          <p:cNvSpPr/>
          <p:nvPr/>
        </p:nvSpPr>
        <p:spPr>
          <a:xfrm>
            <a:off x="3099152" y="3539599"/>
            <a:ext cx="649966" cy="64996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ln>
                <a:solidFill>
                  <a:schemeClr val="tx1"/>
                </a:solidFill>
              </a:ln>
              <a:noFill/>
            </a:endParaRPr>
          </a:p>
        </p:txBody>
      </p:sp>
      <p:sp>
        <p:nvSpPr>
          <p:cNvPr id="57" name="Oval 56">
            <a:extLst>
              <a:ext uri="{FF2B5EF4-FFF2-40B4-BE49-F238E27FC236}">
                <a16:creationId xmlns:a16="http://schemas.microsoft.com/office/drawing/2014/main" id="{837A7F82-33AD-D4BD-24FB-D22A5C9E9551}"/>
              </a:ext>
            </a:extLst>
          </p:cNvPr>
          <p:cNvSpPr/>
          <p:nvPr/>
        </p:nvSpPr>
        <p:spPr>
          <a:xfrm>
            <a:off x="443131" y="975261"/>
            <a:ext cx="649966" cy="64996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ln>
                <a:solidFill>
                  <a:schemeClr val="tx1"/>
                </a:solidFill>
              </a:ln>
              <a:noFill/>
            </a:endParaRPr>
          </a:p>
        </p:txBody>
      </p:sp>
      <p:sp>
        <p:nvSpPr>
          <p:cNvPr id="58" name="Oval 57">
            <a:extLst>
              <a:ext uri="{FF2B5EF4-FFF2-40B4-BE49-F238E27FC236}">
                <a16:creationId xmlns:a16="http://schemas.microsoft.com/office/drawing/2014/main" id="{B68ADA5A-15D3-82C4-C562-1CA5C3713D0F}"/>
              </a:ext>
            </a:extLst>
          </p:cNvPr>
          <p:cNvSpPr/>
          <p:nvPr/>
        </p:nvSpPr>
        <p:spPr>
          <a:xfrm>
            <a:off x="454584" y="1833351"/>
            <a:ext cx="649966" cy="64996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ln>
                <a:solidFill>
                  <a:schemeClr val="tx1"/>
                </a:solidFill>
              </a:ln>
              <a:noFill/>
            </a:endParaRPr>
          </a:p>
        </p:txBody>
      </p:sp>
      <p:sp>
        <p:nvSpPr>
          <p:cNvPr id="59" name="Oval 58">
            <a:extLst>
              <a:ext uri="{FF2B5EF4-FFF2-40B4-BE49-F238E27FC236}">
                <a16:creationId xmlns:a16="http://schemas.microsoft.com/office/drawing/2014/main" id="{79379600-1AC7-42EA-639F-F9A0467E578F}"/>
              </a:ext>
            </a:extLst>
          </p:cNvPr>
          <p:cNvSpPr/>
          <p:nvPr/>
        </p:nvSpPr>
        <p:spPr>
          <a:xfrm>
            <a:off x="454584" y="2686475"/>
            <a:ext cx="649966" cy="64996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ln>
                <a:solidFill>
                  <a:schemeClr val="tx1"/>
                </a:solidFill>
              </a:ln>
              <a:noFill/>
            </a:endParaRPr>
          </a:p>
        </p:txBody>
      </p:sp>
      <p:sp>
        <p:nvSpPr>
          <p:cNvPr id="60" name="Oval 59">
            <a:extLst>
              <a:ext uri="{FF2B5EF4-FFF2-40B4-BE49-F238E27FC236}">
                <a16:creationId xmlns:a16="http://schemas.microsoft.com/office/drawing/2014/main" id="{2255D520-BEAE-8F6A-9CB5-E259C108646D}"/>
              </a:ext>
            </a:extLst>
          </p:cNvPr>
          <p:cNvSpPr/>
          <p:nvPr/>
        </p:nvSpPr>
        <p:spPr>
          <a:xfrm>
            <a:off x="443131" y="3539599"/>
            <a:ext cx="649966" cy="64996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ln>
                <a:solidFill>
                  <a:schemeClr val="tx1"/>
                </a:solidFill>
              </a:ln>
              <a:noFill/>
            </a:endParaRPr>
          </a:p>
        </p:txBody>
      </p:sp>
      <p:cxnSp>
        <p:nvCxnSpPr>
          <p:cNvPr id="61" name="Straight Arrow Connector 60">
            <a:extLst>
              <a:ext uri="{FF2B5EF4-FFF2-40B4-BE49-F238E27FC236}">
                <a16:creationId xmlns:a16="http://schemas.microsoft.com/office/drawing/2014/main" id="{A38ABDF4-7E1B-A554-763B-35D881489DD5}"/>
              </a:ext>
            </a:extLst>
          </p:cNvPr>
          <p:cNvCxnSpPr>
            <a:stCxn id="57" idx="6"/>
            <a:endCxn id="54" idx="2"/>
          </p:cNvCxnSpPr>
          <p:nvPr/>
        </p:nvCxnSpPr>
        <p:spPr>
          <a:xfrm>
            <a:off x="1093097" y="1300244"/>
            <a:ext cx="2017508" cy="858090"/>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7ABFD2A4-EF05-7B11-496C-DF332AB4D627}"/>
              </a:ext>
            </a:extLst>
          </p:cNvPr>
          <p:cNvCxnSpPr>
            <a:stCxn id="57" idx="6"/>
            <a:endCxn id="55" idx="2"/>
          </p:cNvCxnSpPr>
          <p:nvPr/>
        </p:nvCxnSpPr>
        <p:spPr>
          <a:xfrm>
            <a:off x="1093097" y="1300244"/>
            <a:ext cx="2017508" cy="1711214"/>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F85B8DE8-EA08-102E-020F-4A025748AB5B}"/>
              </a:ext>
            </a:extLst>
          </p:cNvPr>
          <p:cNvCxnSpPr>
            <a:stCxn id="57" idx="6"/>
            <a:endCxn id="56" idx="2"/>
          </p:cNvCxnSpPr>
          <p:nvPr/>
        </p:nvCxnSpPr>
        <p:spPr>
          <a:xfrm>
            <a:off x="1093097" y="1300244"/>
            <a:ext cx="2006055" cy="2564338"/>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50F0AC11-9807-9D31-0116-E6E6E42D20AE}"/>
              </a:ext>
            </a:extLst>
          </p:cNvPr>
          <p:cNvCxnSpPr>
            <a:stCxn id="58" idx="6"/>
            <a:endCxn id="54" idx="2"/>
          </p:cNvCxnSpPr>
          <p:nvPr/>
        </p:nvCxnSpPr>
        <p:spPr>
          <a:xfrm>
            <a:off x="1104550" y="2158334"/>
            <a:ext cx="2006055" cy="0"/>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4C36C4D1-481F-CD47-C13C-4DD31D600CC9}"/>
              </a:ext>
            </a:extLst>
          </p:cNvPr>
          <p:cNvCxnSpPr>
            <a:stCxn id="58" idx="6"/>
            <a:endCxn id="55" idx="2"/>
          </p:cNvCxnSpPr>
          <p:nvPr/>
        </p:nvCxnSpPr>
        <p:spPr>
          <a:xfrm>
            <a:off x="1104550" y="2158334"/>
            <a:ext cx="2006055" cy="853124"/>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6C9034C4-A073-1D9A-0A1A-36FA31B224BC}"/>
              </a:ext>
            </a:extLst>
          </p:cNvPr>
          <p:cNvCxnSpPr>
            <a:stCxn id="58" idx="6"/>
            <a:endCxn id="56" idx="2"/>
          </p:cNvCxnSpPr>
          <p:nvPr/>
        </p:nvCxnSpPr>
        <p:spPr>
          <a:xfrm>
            <a:off x="1104550" y="2158334"/>
            <a:ext cx="1994602" cy="1706248"/>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BE438302-0BFB-3F16-BA43-73286FB84014}"/>
              </a:ext>
            </a:extLst>
          </p:cNvPr>
          <p:cNvCxnSpPr>
            <a:stCxn id="59" idx="6"/>
            <a:endCxn id="54" idx="2"/>
          </p:cNvCxnSpPr>
          <p:nvPr/>
        </p:nvCxnSpPr>
        <p:spPr>
          <a:xfrm flipV="1">
            <a:off x="1104550" y="2158334"/>
            <a:ext cx="2006055" cy="853124"/>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1D75172A-270C-ABBD-5724-6B3C5350615B}"/>
              </a:ext>
            </a:extLst>
          </p:cNvPr>
          <p:cNvCxnSpPr>
            <a:stCxn id="59" idx="6"/>
            <a:endCxn id="55" idx="2"/>
          </p:cNvCxnSpPr>
          <p:nvPr/>
        </p:nvCxnSpPr>
        <p:spPr>
          <a:xfrm>
            <a:off x="1104550" y="3011458"/>
            <a:ext cx="2006055" cy="0"/>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B9EAC6EA-65D3-D503-2270-D221B7AAEBFD}"/>
              </a:ext>
            </a:extLst>
          </p:cNvPr>
          <p:cNvCxnSpPr>
            <a:stCxn id="59" idx="6"/>
            <a:endCxn id="56" idx="2"/>
          </p:cNvCxnSpPr>
          <p:nvPr/>
        </p:nvCxnSpPr>
        <p:spPr>
          <a:xfrm>
            <a:off x="1104550" y="3011458"/>
            <a:ext cx="1994602" cy="853124"/>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C2183F6D-16D0-A49D-1D3B-3CECA3F14A7A}"/>
              </a:ext>
            </a:extLst>
          </p:cNvPr>
          <p:cNvCxnSpPr>
            <a:stCxn id="60" idx="6"/>
            <a:endCxn id="54" idx="2"/>
          </p:cNvCxnSpPr>
          <p:nvPr/>
        </p:nvCxnSpPr>
        <p:spPr>
          <a:xfrm flipV="1">
            <a:off x="1093097" y="2158334"/>
            <a:ext cx="2017508" cy="1706248"/>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10AFB4BF-988A-4B8C-C337-561A1DA1FF43}"/>
              </a:ext>
            </a:extLst>
          </p:cNvPr>
          <p:cNvCxnSpPr>
            <a:stCxn id="60" idx="6"/>
            <a:endCxn id="55" idx="2"/>
          </p:cNvCxnSpPr>
          <p:nvPr/>
        </p:nvCxnSpPr>
        <p:spPr>
          <a:xfrm flipV="1">
            <a:off x="1093097" y="3011458"/>
            <a:ext cx="2017508" cy="853124"/>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F1E76BD5-B4A6-242C-4F4F-513116A5B4F9}"/>
              </a:ext>
            </a:extLst>
          </p:cNvPr>
          <p:cNvCxnSpPr>
            <a:stCxn id="60" idx="6"/>
            <a:endCxn id="56" idx="2"/>
          </p:cNvCxnSpPr>
          <p:nvPr/>
        </p:nvCxnSpPr>
        <p:spPr>
          <a:xfrm>
            <a:off x="1093097" y="3864582"/>
            <a:ext cx="2006055" cy="0"/>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4761928F-1949-2A16-9014-040C90C5ABFD}"/>
                  </a:ext>
                </a:extLst>
              </p:cNvPr>
              <p:cNvSpPr txBox="1"/>
              <p:nvPr/>
            </p:nvSpPr>
            <p:spPr>
              <a:xfrm>
                <a:off x="509509" y="1066000"/>
                <a:ext cx="599125" cy="668645"/>
              </a:xfrm>
              <a:prstGeom prst="rect">
                <a:avLst/>
              </a:prstGeom>
              <a:noFill/>
            </p:spPr>
            <p:txBody>
              <a:bodyPr wrap="square" lIns="0" tIns="0" rIns="0" bIns="0" rtlCol="0">
                <a:spAutoFit/>
              </a:bodyPr>
              <a:lstStyle/>
              <a:p>
                <a:pPr/>
                <a14:m>
                  <m:oMathPara xmlns:m="http://schemas.openxmlformats.org/officeDocument/2006/math">
                    <m:oMath>
                      <m:sSubSup>
                        <m:sSubSupPr>
                          <m:ctrlPr>
                            <a:rPr lang="en-BE" sz="2400" b="0" i="1" smtClean="0">
                              <a:latin typeface="Cambria Math" panose="02040503050406030204" pitchFamily="18" charset="0"/>
                            </a:rPr>
                          </m:ctrlPr>
                        </m:sSubSupPr>
                        <m:e>
                          <m:r>
                            <a:rPr lang="en-BE" sz="2400" b="0" i="1" smtClean="0">
                              <a:latin typeface="Cambria Math" panose="02040503050406030204" pitchFamily="18" charset="0"/>
                            </a:rPr>
                            <m:t>𝑎</m:t>
                          </m:r>
                        </m:e>
                        <m:sub>
                          <m:r>
                            <a:rPr lang="en-GB" sz="2400" b="0" i="1" smtClean="0">
                              <a:latin typeface="Cambria Math" panose="02040503050406030204" pitchFamily="18" charset="0"/>
                            </a:rPr>
                            <m:t>0</m:t>
                          </m:r>
                        </m:sub>
                        <m:sup>
                          <m:r>
                            <a:rPr lang="en-BE" sz="2400" b="0" i="1" smtClean="0">
                              <a:latin typeface="Cambria Math" panose="02040503050406030204" pitchFamily="18" charset="0"/>
                            </a:rPr>
                            <m:t>0</m:t>
                          </m:r>
                        </m:sup>
                      </m:sSubSup>
                    </m:oMath>
                  </m:oMathPara>
                </a14:m>
                <a:endParaRPr lang="en-GB" sz="2400" b="0"/>
              </a:p>
              <a:p>
                <a:endParaRPr lang="en-GB" b="0"/>
              </a:p>
            </p:txBody>
          </p:sp>
        </mc:Choice>
        <mc:Fallback xmlns="">
          <p:sp>
            <p:nvSpPr>
              <p:cNvPr id="73" name="TextBox 72">
                <a:extLst>
                  <a:ext uri="{FF2B5EF4-FFF2-40B4-BE49-F238E27FC236}">
                    <a16:creationId xmlns:a16="http://schemas.microsoft.com/office/drawing/2014/main" id="{4761928F-1949-2A16-9014-040C90C5ABFD}"/>
                  </a:ext>
                </a:extLst>
              </p:cNvPr>
              <p:cNvSpPr txBox="1">
                <a:spLocks noRot="1" noChangeAspect="1" noMove="1" noResize="1" noEditPoints="1" noAdjustHandles="1" noChangeArrowheads="1" noChangeShapeType="1" noTextEdit="1"/>
              </p:cNvSpPr>
              <p:nvPr/>
            </p:nvSpPr>
            <p:spPr>
              <a:xfrm>
                <a:off x="509509" y="1066000"/>
                <a:ext cx="599125" cy="668645"/>
              </a:xfrm>
              <a:prstGeom prst="rect">
                <a:avLst/>
              </a:prstGeom>
              <a:blipFill>
                <a:blip r:embed="rId3"/>
                <a:stretch>
                  <a:fillRect l="-24490" t="-12727" r="-20408" b="-181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49A35B46-D236-0B7A-9045-368D2E7D5CB9}"/>
                  </a:ext>
                </a:extLst>
              </p:cNvPr>
              <p:cNvSpPr txBox="1"/>
              <p:nvPr/>
            </p:nvSpPr>
            <p:spPr>
              <a:xfrm>
                <a:off x="509509" y="1933963"/>
                <a:ext cx="599125" cy="652871"/>
              </a:xfrm>
              <a:prstGeom prst="rect">
                <a:avLst/>
              </a:prstGeom>
              <a:noFill/>
            </p:spPr>
            <p:txBody>
              <a:bodyPr wrap="square" lIns="0" tIns="0" rIns="0" bIns="0" rtlCol="0">
                <a:spAutoFit/>
              </a:bodyPr>
              <a:lstStyle/>
              <a:p>
                <a:pPr/>
                <a14:m>
                  <m:oMathPara xmlns:m="http://schemas.openxmlformats.org/officeDocument/2006/math">
                    <m:oMath>
                      <m:sSubSup>
                        <m:sSubSupPr>
                          <m:ctrlPr>
                            <a:rPr lang="en-BE" sz="2400" b="0" i="1" smtClean="0">
                              <a:latin typeface="Cambria Math" panose="02040503050406030204" pitchFamily="18" charset="0"/>
                            </a:rPr>
                          </m:ctrlPr>
                        </m:sSubSupPr>
                        <m:e>
                          <m:r>
                            <a:rPr lang="en-BE" sz="2400" b="0" i="1" smtClean="0">
                              <a:latin typeface="Cambria Math" panose="02040503050406030204" pitchFamily="18" charset="0"/>
                            </a:rPr>
                            <m:t>𝑎</m:t>
                          </m:r>
                        </m:e>
                        <m:sub>
                          <m:r>
                            <a:rPr lang="en-GB" sz="2400" b="0" i="1" smtClean="0">
                              <a:latin typeface="Cambria Math" panose="02040503050406030204" pitchFamily="18" charset="0"/>
                            </a:rPr>
                            <m:t>1</m:t>
                          </m:r>
                        </m:sub>
                        <m:sup>
                          <m:r>
                            <a:rPr lang="en-BE" sz="2400" b="0" i="1" smtClean="0">
                              <a:latin typeface="Cambria Math" panose="02040503050406030204" pitchFamily="18" charset="0"/>
                            </a:rPr>
                            <m:t>0</m:t>
                          </m:r>
                        </m:sup>
                      </m:sSubSup>
                    </m:oMath>
                  </m:oMathPara>
                </a14:m>
                <a:endParaRPr lang="en-GB" sz="2400" b="0"/>
              </a:p>
              <a:p>
                <a:endParaRPr lang="en-GB" b="0"/>
              </a:p>
            </p:txBody>
          </p:sp>
        </mc:Choice>
        <mc:Fallback xmlns="">
          <p:sp>
            <p:nvSpPr>
              <p:cNvPr id="74" name="TextBox 73">
                <a:extLst>
                  <a:ext uri="{FF2B5EF4-FFF2-40B4-BE49-F238E27FC236}">
                    <a16:creationId xmlns:a16="http://schemas.microsoft.com/office/drawing/2014/main" id="{49A35B46-D236-0B7A-9045-368D2E7D5CB9}"/>
                  </a:ext>
                </a:extLst>
              </p:cNvPr>
              <p:cNvSpPr txBox="1">
                <a:spLocks noRot="1" noChangeAspect="1" noMove="1" noResize="1" noEditPoints="1" noAdjustHandles="1" noChangeArrowheads="1" noChangeShapeType="1" noTextEdit="1"/>
              </p:cNvSpPr>
              <p:nvPr/>
            </p:nvSpPr>
            <p:spPr>
              <a:xfrm>
                <a:off x="509509" y="1933963"/>
                <a:ext cx="599125" cy="652871"/>
              </a:xfrm>
              <a:prstGeom prst="rect">
                <a:avLst/>
              </a:prstGeom>
              <a:blipFill>
                <a:blip r:embed="rId4"/>
                <a:stretch>
                  <a:fillRect l="-24490" t="-13084" r="-20408" b="-214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TextBox 74">
                <a:extLst>
                  <a:ext uri="{FF2B5EF4-FFF2-40B4-BE49-F238E27FC236}">
                    <a16:creationId xmlns:a16="http://schemas.microsoft.com/office/drawing/2014/main" id="{6FD30C96-B4A1-E590-DC3B-1B7A5D356570}"/>
                  </a:ext>
                </a:extLst>
              </p:cNvPr>
              <p:cNvSpPr txBox="1"/>
              <p:nvPr/>
            </p:nvSpPr>
            <p:spPr>
              <a:xfrm>
                <a:off x="443131" y="2823426"/>
                <a:ext cx="665503" cy="369332"/>
              </a:xfrm>
              <a:prstGeom prst="rect">
                <a:avLst/>
              </a:prstGeom>
              <a:noFill/>
            </p:spPr>
            <p:txBody>
              <a:bodyPr wrap="square" lIns="0" tIns="0" rIns="0" bIns="0" rtlCol="0">
                <a:spAutoFit/>
              </a:bodyPr>
              <a:lstStyle/>
              <a:p>
                <a:pPr/>
                <a14:m>
                  <m:oMathPara xmlns:m="http://schemas.openxmlformats.org/officeDocument/2006/math">
                    <m:oMathParaPr>
                      <m:jc m:val="center"/>
                    </m:oMathParaPr>
                    <m:oMath>
                      <m:r>
                        <a:rPr lang="en-GB" sz="2400" i="1">
                          <a:latin typeface="Cambria Math" panose="02040503050406030204" pitchFamily="18" charset="0"/>
                        </a:rPr>
                        <m:t>⋯</m:t>
                      </m:r>
                    </m:oMath>
                  </m:oMathPara>
                </a14:m>
                <a:endParaRPr lang="en-GB" sz="2400"/>
              </a:p>
            </p:txBody>
          </p:sp>
        </mc:Choice>
        <mc:Fallback xmlns="">
          <p:sp>
            <p:nvSpPr>
              <p:cNvPr id="75" name="TextBox 74">
                <a:extLst>
                  <a:ext uri="{FF2B5EF4-FFF2-40B4-BE49-F238E27FC236}">
                    <a16:creationId xmlns:a16="http://schemas.microsoft.com/office/drawing/2014/main" id="{6FD30C96-B4A1-E590-DC3B-1B7A5D356570}"/>
                  </a:ext>
                </a:extLst>
              </p:cNvPr>
              <p:cNvSpPr txBox="1">
                <a:spLocks noRot="1" noChangeAspect="1" noMove="1" noResize="1" noEditPoints="1" noAdjustHandles="1" noChangeArrowheads="1" noChangeShapeType="1" noTextEdit="1"/>
              </p:cNvSpPr>
              <p:nvPr/>
            </p:nvSpPr>
            <p:spPr>
              <a:xfrm>
                <a:off x="443131" y="2823426"/>
                <a:ext cx="665503" cy="369332"/>
              </a:xfrm>
              <a:prstGeom prst="rect">
                <a:avLst/>
              </a:prstGeom>
              <a:blipFill>
                <a:blip r:embed="rId5"/>
                <a:stretch>
                  <a:fillRect t="-24590" r="-9174" b="-4918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D909FA28-0A70-F9B2-CA79-30A9B3B7EE70}"/>
                  </a:ext>
                </a:extLst>
              </p:cNvPr>
              <p:cNvSpPr txBox="1"/>
              <p:nvPr/>
            </p:nvSpPr>
            <p:spPr>
              <a:xfrm>
                <a:off x="513666" y="3635707"/>
                <a:ext cx="599125" cy="663258"/>
              </a:xfrm>
              <a:prstGeom prst="rect">
                <a:avLst/>
              </a:prstGeom>
              <a:noFill/>
            </p:spPr>
            <p:txBody>
              <a:bodyPr wrap="square" lIns="0" tIns="0" rIns="0" bIns="0" rtlCol="0">
                <a:spAutoFit/>
              </a:bodyPr>
              <a:lstStyle/>
              <a:p>
                <a:pPr/>
                <a14:m>
                  <m:oMathPara xmlns:m="http://schemas.openxmlformats.org/officeDocument/2006/math">
                    <m:oMath>
                      <m:sSubSup>
                        <m:sSubSupPr>
                          <m:ctrlPr>
                            <a:rPr lang="en-BE" sz="2400" b="0" i="1" smtClean="0">
                              <a:latin typeface="Cambria Math" panose="02040503050406030204" pitchFamily="18" charset="0"/>
                            </a:rPr>
                          </m:ctrlPr>
                        </m:sSubSupPr>
                        <m:e>
                          <m:r>
                            <a:rPr lang="en-BE" sz="2400" b="0" i="1" smtClean="0">
                              <a:latin typeface="Cambria Math" panose="02040503050406030204" pitchFamily="18" charset="0"/>
                            </a:rPr>
                            <m:t>𝑎</m:t>
                          </m:r>
                        </m:e>
                        <m:sub>
                          <m:r>
                            <a:rPr lang="en-BE" sz="2400" b="0" i="1" smtClean="0">
                              <a:latin typeface="Cambria Math" panose="02040503050406030204" pitchFamily="18" charset="0"/>
                            </a:rPr>
                            <m:t>𝑘</m:t>
                          </m:r>
                        </m:sub>
                        <m:sup>
                          <m:r>
                            <a:rPr lang="en-BE" sz="2400" b="0" i="1" smtClean="0">
                              <a:latin typeface="Cambria Math" panose="02040503050406030204" pitchFamily="18" charset="0"/>
                            </a:rPr>
                            <m:t>0</m:t>
                          </m:r>
                        </m:sup>
                      </m:sSubSup>
                    </m:oMath>
                  </m:oMathPara>
                </a14:m>
                <a:endParaRPr lang="en-GB" sz="2400" b="0"/>
              </a:p>
              <a:p>
                <a:endParaRPr lang="en-GB" b="0"/>
              </a:p>
            </p:txBody>
          </p:sp>
        </mc:Choice>
        <mc:Fallback xmlns="">
          <p:sp>
            <p:nvSpPr>
              <p:cNvPr id="76" name="TextBox 75">
                <a:extLst>
                  <a:ext uri="{FF2B5EF4-FFF2-40B4-BE49-F238E27FC236}">
                    <a16:creationId xmlns:a16="http://schemas.microsoft.com/office/drawing/2014/main" id="{D909FA28-0A70-F9B2-CA79-30A9B3B7EE70}"/>
                  </a:ext>
                </a:extLst>
              </p:cNvPr>
              <p:cNvSpPr txBox="1">
                <a:spLocks noRot="1" noChangeAspect="1" noMove="1" noResize="1" noEditPoints="1" noAdjustHandles="1" noChangeArrowheads="1" noChangeShapeType="1" noTextEdit="1"/>
              </p:cNvSpPr>
              <p:nvPr/>
            </p:nvSpPr>
            <p:spPr>
              <a:xfrm>
                <a:off x="513666" y="3635707"/>
                <a:ext cx="599125" cy="663258"/>
              </a:xfrm>
              <a:prstGeom prst="rect">
                <a:avLst/>
              </a:prstGeom>
              <a:blipFill>
                <a:blip r:embed="rId6"/>
                <a:stretch>
                  <a:fillRect l="-23232" t="-11009" r="-21212" b="-21101"/>
                </a:stretch>
              </a:blipFill>
            </p:spPr>
            <p:txBody>
              <a:bodyPr/>
              <a:lstStyle/>
              <a:p>
                <a:r>
                  <a:rPr lang="en-US">
                    <a:noFill/>
                  </a:rPr>
                  <a:t> </a:t>
                </a:r>
              </a:p>
            </p:txBody>
          </p:sp>
        </mc:Fallback>
      </mc:AlternateContent>
      <p:sp>
        <p:nvSpPr>
          <p:cNvPr id="80" name="Oval 79">
            <a:extLst>
              <a:ext uri="{FF2B5EF4-FFF2-40B4-BE49-F238E27FC236}">
                <a16:creationId xmlns:a16="http://schemas.microsoft.com/office/drawing/2014/main" id="{B8833C5D-739B-A9A4-EFBF-693B4B60903B}"/>
              </a:ext>
            </a:extLst>
          </p:cNvPr>
          <p:cNvSpPr/>
          <p:nvPr/>
        </p:nvSpPr>
        <p:spPr>
          <a:xfrm>
            <a:off x="3115379" y="980227"/>
            <a:ext cx="649966" cy="64996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ln>
                <a:solidFill>
                  <a:schemeClr val="tx1"/>
                </a:solidFill>
              </a:ln>
              <a:noFill/>
            </a:endParaRPr>
          </a:p>
        </p:txBody>
      </p:sp>
      <p:cxnSp>
        <p:nvCxnSpPr>
          <p:cNvPr id="81" name="Straight Arrow Connector 80">
            <a:extLst>
              <a:ext uri="{FF2B5EF4-FFF2-40B4-BE49-F238E27FC236}">
                <a16:creationId xmlns:a16="http://schemas.microsoft.com/office/drawing/2014/main" id="{8A83F93D-837C-F868-A66B-39F2D4F8E5C2}"/>
              </a:ext>
            </a:extLst>
          </p:cNvPr>
          <p:cNvCxnSpPr>
            <a:cxnSpLocks/>
            <a:endCxn id="80" idx="2"/>
          </p:cNvCxnSpPr>
          <p:nvPr/>
        </p:nvCxnSpPr>
        <p:spPr>
          <a:xfrm>
            <a:off x="1093097" y="1300244"/>
            <a:ext cx="2022282" cy="4966"/>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72851402-4241-163A-66D8-8725A29EBBE2}"/>
              </a:ext>
            </a:extLst>
          </p:cNvPr>
          <p:cNvCxnSpPr>
            <a:cxnSpLocks/>
            <a:endCxn id="80" idx="2"/>
          </p:cNvCxnSpPr>
          <p:nvPr/>
        </p:nvCxnSpPr>
        <p:spPr>
          <a:xfrm flipV="1">
            <a:off x="1104550" y="1305210"/>
            <a:ext cx="2010829" cy="853124"/>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9" name="TextBox 88">
                <a:extLst>
                  <a:ext uri="{FF2B5EF4-FFF2-40B4-BE49-F238E27FC236}">
                    <a16:creationId xmlns:a16="http://schemas.microsoft.com/office/drawing/2014/main" id="{2FFE63B8-3B84-0E99-17C6-020446E819D7}"/>
                  </a:ext>
                </a:extLst>
              </p:cNvPr>
              <p:cNvSpPr txBox="1"/>
              <p:nvPr/>
            </p:nvSpPr>
            <p:spPr>
              <a:xfrm>
                <a:off x="3097110" y="2827417"/>
                <a:ext cx="665503" cy="369332"/>
              </a:xfrm>
              <a:prstGeom prst="rect">
                <a:avLst/>
              </a:prstGeom>
              <a:noFill/>
            </p:spPr>
            <p:txBody>
              <a:bodyPr wrap="square" lIns="0" tIns="0" rIns="0" bIns="0" rtlCol="0" anchor="ctr">
                <a:spAutoFit/>
              </a:bodyPr>
              <a:lstStyle/>
              <a:p>
                <a:pPr/>
                <a14:m>
                  <m:oMathPara xmlns:m="http://schemas.openxmlformats.org/officeDocument/2006/math">
                    <m:oMathParaPr>
                      <m:jc m:val="center"/>
                    </m:oMathParaPr>
                    <m:oMath>
                      <m:r>
                        <a:rPr lang="en-GB" sz="2400" i="1" smtClean="0">
                          <a:latin typeface="Cambria Math" panose="02040503050406030204" pitchFamily="18" charset="0"/>
                        </a:rPr>
                        <m:t>⋯</m:t>
                      </m:r>
                    </m:oMath>
                  </m:oMathPara>
                </a14:m>
                <a:endParaRPr lang="en-GB" sz="2400" b="0"/>
              </a:p>
            </p:txBody>
          </p:sp>
        </mc:Choice>
        <mc:Fallback xmlns="">
          <p:sp>
            <p:nvSpPr>
              <p:cNvPr id="89" name="TextBox 88">
                <a:extLst>
                  <a:ext uri="{FF2B5EF4-FFF2-40B4-BE49-F238E27FC236}">
                    <a16:creationId xmlns:a16="http://schemas.microsoft.com/office/drawing/2014/main" id="{2FFE63B8-3B84-0E99-17C6-020446E819D7}"/>
                  </a:ext>
                </a:extLst>
              </p:cNvPr>
              <p:cNvSpPr txBox="1">
                <a:spLocks noRot="1" noChangeAspect="1" noMove="1" noResize="1" noEditPoints="1" noAdjustHandles="1" noChangeArrowheads="1" noChangeShapeType="1" noTextEdit="1"/>
              </p:cNvSpPr>
              <p:nvPr/>
            </p:nvSpPr>
            <p:spPr>
              <a:xfrm>
                <a:off x="3097110" y="2827417"/>
                <a:ext cx="665503" cy="369332"/>
              </a:xfrm>
              <a:prstGeom prst="rect">
                <a:avLst/>
              </a:prstGeom>
              <a:blipFill>
                <a:blip r:embed="rId7"/>
                <a:stretch>
                  <a:fillRect t="-25000" r="-10092" b="-51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5DA7D49-0DAE-B65E-C652-53619F7E0237}"/>
                  </a:ext>
                </a:extLst>
              </p:cNvPr>
              <p:cNvSpPr txBox="1"/>
              <p:nvPr/>
            </p:nvSpPr>
            <p:spPr>
              <a:xfrm>
                <a:off x="3159516" y="1967458"/>
                <a:ext cx="526264" cy="372859"/>
              </a:xfrm>
              <a:prstGeom prst="rect">
                <a:avLst/>
              </a:prstGeom>
              <a:noFill/>
            </p:spPr>
            <p:txBody>
              <a:bodyPr wrap="square" lIns="0" tIns="0" rIns="0" bIns="0" rtlCol="0">
                <a:spAutoFit/>
              </a:bodyPr>
              <a:lstStyle/>
              <a:p>
                <a:pPr/>
                <a14:m>
                  <m:oMathPara xmlns:m="http://schemas.openxmlformats.org/officeDocument/2006/math">
                    <m:oMath>
                      <m:sSubSup>
                        <m:sSubSupPr>
                          <m:ctrlPr>
                            <a:rPr lang="en-GB" sz="2400" b="0" i="1" smtClean="0">
                              <a:solidFill>
                                <a:schemeClr val="accent2"/>
                              </a:solidFill>
                              <a:latin typeface="Cambria Math" panose="02040503050406030204" pitchFamily="18" charset="0"/>
                            </a:rPr>
                          </m:ctrlPr>
                        </m:sSubSupPr>
                        <m:e>
                          <m:r>
                            <a:rPr lang="en-GB" sz="2400" b="0" i="1" smtClean="0">
                              <a:solidFill>
                                <a:schemeClr val="accent2"/>
                              </a:solidFill>
                              <a:latin typeface="Cambria Math" panose="02040503050406030204" pitchFamily="18" charset="0"/>
                            </a:rPr>
                            <m:t>𝑎</m:t>
                          </m:r>
                        </m:e>
                        <m:sub>
                          <m:r>
                            <a:rPr lang="en-GB" sz="2400" b="0" i="1" smtClean="0">
                              <a:solidFill>
                                <a:schemeClr val="accent2"/>
                              </a:solidFill>
                              <a:latin typeface="Cambria Math" panose="02040503050406030204" pitchFamily="18" charset="0"/>
                            </a:rPr>
                            <m:t>1</m:t>
                          </m:r>
                        </m:sub>
                        <m:sup>
                          <m:r>
                            <a:rPr lang="en-GB" sz="2400" b="0" i="1" smtClean="0">
                              <a:solidFill>
                                <a:schemeClr val="accent2"/>
                              </a:solidFill>
                              <a:latin typeface="Cambria Math" panose="02040503050406030204" pitchFamily="18" charset="0"/>
                            </a:rPr>
                            <m:t>1</m:t>
                          </m:r>
                        </m:sup>
                      </m:sSubSup>
                    </m:oMath>
                  </m:oMathPara>
                </a14:m>
                <a:endParaRPr lang="en-GB" sz="2400" b="0">
                  <a:solidFill>
                    <a:schemeClr val="accent2"/>
                  </a:solidFill>
                </a:endParaRPr>
              </a:p>
            </p:txBody>
          </p:sp>
        </mc:Choice>
        <mc:Fallback xmlns="">
          <p:sp>
            <p:nvSpPr>
              <p:cNvPr id="2" name="TextBox 1">
                <a:extLst>
                  <a:ext uri="{FF2B5EF4-FFF2-40B4-BE49-F238E27FC236}">
                    <a16:creationId xmlns:a16="http://schemas.microsoft.com/office/drawing/2014/main" id="{65DA7D49-0DAE-B65E-C652-53619F7E0237}"/>
                  </a:ext>
                </a:extLst>
              </p:cNvPr>
              <p:cNvSpPr txBox="1">
                <a:spLocks noRot="1" noChangeAspect="1" noMove="1" noResize="1" noEditPoints="1" noAdjustHandles="1" noChangeArrowheads="1" noChangeShapeType="1" noTextEdit="1"/>
              </p:cNvSpPr>
              <p:nvPr/>
            </p:nvSpPr>
            <p:spPr>
              <a:xfrm>
                <a:off x="3159516" y="1967458"/>
                <a:ext cx="526264" cy="372859"/>
              </a:xfrm>
              <a:prstGeom prst="rect">
                <a:avLst/>
              </a:prstGeom>
              <a:blipFill>
                <a:blip r:embed="rId8"/>
                <a:stretch>
                  <a:fillRect t="-24590" r="-29885" b="-4918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7F47909B-D459-629A-B75E-96CB0DBB2B4B}"/>
                  </a:ext>
                </a:extLst>
              </p:cNvPr>
              <p:cNvSpPr txBox="1"/>
              <p:nvPr/>
            </p:nvSpPr>
            <p:spPr>
              <a:xfrm>
                <a:off x="3140866" y="3662973"/>
                <a:ext cx="526264" cy="375424"/>
              </a:xfrm>
              <a:prstGeom prst="rect">
                <a:avLst/>
              </a:prstGeom>
              <a:noFill/>
            </p:spPr>
            <p:txBody>
              <a:bodyPr wrap="square" lIns="0" tIns="0" rIns="0" bIns="0" rtlCol="0">
                <a:spAutoFit/>
              </a:bodyPr>
              <a:lstStyle/>
              <a:p>
                <a:pPr/>
                <a14:m>
                  <m:oMathPara xmlns:m="http://schemas.openxmlformats.org/officeDocument/2006/math">
                    <m:oMath>
                      <m:sSubSup>
                        <m:sSubSupPr>
                          <m:ctrlPr>
                            <a:rPr lang="en-GB" sz="2400" b="0" i="1" smtClean="0">
                              <a:solidFill>
                                <a:schemeClr val="accent2"/>
                              </a:solidFill>
                              <a:latin typeface="Cambria Math" panose="02040503050406030204" pitchFamily="18" charset="0"/>
                            </a:rPr>
                          </m:ctrlPr>
                        </m:sSubSupPr>
                        <m:e>
                          <m:r>
                            <a:rPr lang="en-GB" sz="2400" b="0" i="1" smtClean="0">
                              <a:solidFill>
                                <a:schemeClr val="accent2"/>
                              </a:solidFill>
                              <a:latin typeface="Cambria Math" panose="02040503050406030204" pitchFamily="18" charset="0"/>
                            </a:rPr>
                            <m:t>𝑎</m:t>
                          </m:r>
                        </m:e>
                        <m:sub>
                          <m:r>
                            <a:rPr lang="en-BE" sz="2400" b="0" i="1" smtClean="0">
                              <a:solidFill>
                                <a:schemeClr val="accent2"/>
                              </a:solidFill>
                              <a:latin typeface="Cambria Math" panose="02040503050406030204" pitchFamily="18" charset="0"/>
                            </a:rPr>
                            <m:t>𝑛</m:t>
                          </m:r>
                        </m:sub>
                        <m:sup>
                          <m:r>
                            <a:rPr lang="en-GB" sz="2400" b="0" i="1" smtClean="0">
                              <a:solidFill>
                                <a:schemeClr val="accent2"/>
                              </a:solidFill>
                              <a:latin typeface="Cambria Math" panose="02040503050406030204" pitchFamily="18" charset="0"/>
                            </a:rPr>
                            <m:t>1</m:t>
                          </m:r>
                        </m:sup>
                      </m:sSubSup>
                    </m:oMath>
                  </m:oMathPara>
                </a14:m>
                <a:endParaRPr lang="en-GB" sz="2400" b="0">
                  <a:solidFill>
                    <a:schemeClr val="accent2"/>
                  </a:solidFill>
                </a:endParaRPr>
              </a:p>
            </p:txBody>
          </p:sp>
        </mc:Choice>
        <mc:Fallback xmlns="">
          <p:sp>
            <p:nvSpPr>
              <p:cNvPr id="3" name="TextBox 2">
                <a:extLst>
                  <a:ext uri="{FF2B5EF4-FFF2-40B4-BE49-F238E27FC236}">
                    <a16:creationId xmlns:a16="http://schemas.microsoft.com/office/drawing/2014/main" id="{7F47909B-D459-629A-B75E-96CB0DBB2B4B}"/>
                  </a:ext>
                </a:extLst>
              </p:cNvPr>
              <p:cNvSpPr txBox="1">
                <a:spLocks noRot="1" noChangeAspect="1" noMove="1" noResize="1" noEditPoints="1" noAdjustHandles="1" noChangeArrowheads="1" noChangeShapeType="1" noTextEdit="1"/>
              </p:cNvSpPr>
              <p:nvPr/>
            </p:nvSpPr>
            <p:spPr>
              <a:xfrm>
                <a:off x="3140866" y="3662973"/>
                <a:ext cx="526264" cy="375424"/>
              </a:xfrm>
              <a:prstGeom prst="rect">
                <a:avLst/>
              </a:prstGeom>
              <a:blipFill>
                <a:blip r:embed="rId9"/>
                <a:stretch>
                  <a:fillRect t="-26230" r="-31034" b="-475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8F1AA74-C6F5-B9FC-EB59-469A8FE7D30C}"/>
                  </a:ext>
                </a:extLst>
              </p:cNvPr>
              <p:cNvSpPr txBox="1"/>
              <p:nvPr/>
            </p:nvSpPr>
            <p:spPr>
              <a:xfrm>
                <a:off x="3164290" y="1114334"/>
                <a:ext cx="526264" cy="372859"/>
              </a:xfrm>
              <a:prstGeom prst="rect">
                <a:avLst/>
              </a:prstGeom>
              <a:noFill/>
            </p:spPr>
            <p:txBody>
              <a:bodyPr wrap="square" lIns="0" tIns="0" rIns="0" bIns="0" rtlCol="0">
                <a:spAutoFit/>
              </a:bodyPr>
              <a:lstStyle/>
              <a:p>
                <a:pPr/>
                <a14:m>
                  <m:oMathPara xmlns:m="http://schemas.openxmlformats.org/officeDocument/2006/math">
                    <m:oMath>
                      <m:sSubSup>
                        <m:sSubSupPr>
                          <m:ctrlPr>
                            <a:rPr lang="en-GB" sz="2400" b="0" i="1" smtClean="0">
                              <a:solidFill>
                                <a:schemeClr val="accent2"/>
                              </a:solidFill>
                              <a:latin typeface="Cambria Math" panose="02040503050406030204" pitchFamily="18" charset="0"/>
                            </a:rPr>
                          </m:ctrlPr>
                        </m:sSubSupPr>
                        <m:e>
                          <m:r>
                            <a:rPr lang="en-GB" sz="2400" b="0" i="1" smtClean="0">
                              <a:solidFill>
                                <a:schemeClr val="accent2"/>
                              </a:solidFill>
                              <a:latin typeface="Cambria Math" panose="02040503050406030204" pitchFamily="18" charset="0"/>
                            </a:rPr>
                            <m:t>𝑎</m:t>
                          </m:r>
                        </m:e>
                        <m:sub>
                          <m:r>
                            <a:rPr lang="en-BE" sz="2400" b="0" i="1" smtClean="0">
                              <a:solidFill>
                                <a:schemeClr val="accent2"/>
                              </a:solidFill>
                              <a:latin typeface="Cambria Math" panose="02040503050406030204" pitchFamily="18" charset="0"/>
                            </a:rPr>
                            <m:t>0</m:t>
                          </m:r>
                        </m:sub>
                        <m:sup>
                          <m:r>
                            <a:rPr lang="en-GB" sz="2400" b="0" i="1" smtClean="0">
                              <a:solidFill>
                                <a:schemeClr val="accent2"/>
                              </a:solidFill>
                              <a:latin typeface="Cambria Math" panose="02040503050406030204" pitchFamily="18" charset="0"/>
                            </a:rPr>
                            <m:t>1</m:t>
                          </m:r>
                        </m:sup>
                      </m:sSubSup>
                    </m:oMath>
                  </m:oMathPara>
                </a14:m>
                <a:endParaRPr lang="en-GB" sz="2400" b="0">
                  <a:solidFill>
                    <a:schemeClr val="accent2"/>
                  </a:solidFill>
                </a:endParaRPr>
              </a:p>
            </p:txBody>
          </p:sp>
        </mc:Choice>
        <mc:Fallback xmlns="">
          <p:sp>
            <p:nvSpPr>
              <p:cNvPr id="6" name="TextBox 5">
                <a:extLst>
                  <a:ext uri="{FF2B5EF4-FFF2-40B4-BE49-F238E27FC236}">
                    <a16:creationId xmlns:a16="http://schemas.microsoft.com/office/drawing/2014/main" id="{98F1AA74-C6F5-B9FC-EB59-469A8FE7D30C}"/>
                  </a:ext>
                </a:extLst>
              </p:cNvPr>
              <p:cNvSpPr txBox="1">
                <a:spLocks noRot="1" noChangeAspect="1" noMove="1" noResize="1" noEditPoints="1" noAdjustHandles="1" noChangeArrowheads="1" noChangeShapeType="1" noTextEdit="1"/>
              </p:cNvSpPr>
              <p:nvPr/>
            </p:nvSpPr>
            <p:spPr>
              <a:xfrm>
                <a:off x="3164290" y="1114334"/>
                <a:ext cx="526264" cy="372859"/>
              </a:xfrm>
              <a:prstGeom prst="rect">
                <a:avLst/>
              </a:prstGeom>
              <a:blipFill>
                <a:blip r:embed="rId10"/>
                <a:stretch>
                  <a:fillRect t="-24590" r="-31395" b="-4918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76DEFB4-3273-C618-6B26-43B957D03CA2}"/>
                  </a:ext>
                </a:extLst>
              </p:cNvPr>
              <p:cNvSpPr txBox="1"/>
              <p:nvPr/>
            </p:nvSpPr>
            <p:spPr>
              <a:xfrm>
                <a:off x="4491418" y="1105251"/>
                <a:ext cx="7255064" cy="399918"/>
              </a:xfrm>
              <a:prstGeom prst="rect">
                <a:avLst/>
              </a:prstGeom>
              <a:noFill/>
            </p:spPr>
            <p:txBody>
              <a:bodyPr wrap="square" lIns="0" tIns="0" rIns="0" bIns="0" rtlCol="0">
                <a:spAutoFit/>
              </a:bodyPr>
              <a:lstStyle/>
              <a:p>
                <a:pPr algn="ctr"/>
                <a14:m>
                  <m:oMath xmlns:m="http://schemas.openxmlformats.org/officeDocument/2006/math">
                    <m:sSubSup>
                      <m:sSubSupPr>
                        <m:ctrlPr>
                          <a:rPr lang="en-BE" sz="2400" i="1">
                            <a:solidFill>
                              <a:schemeClr val="accent2"/>
                            </a:solidFill>
                            <a:latin typeface="Cambria Math" panose="02040503050406030204" pitchFamily="18" charset="0"/>
                          </a:rPr>
                        </m:ctrlPr>
                      </m:sSubSupPr>
                      <m:e>
                        <m:r>
                          <a:rPr lang="en-BE" sz="2400" i="1">
                            <a:solidFill>
                              <a:schemeClr val="accent2"/>
                            </a:solidFill>
                            <a:latin typeface="Cambria Math" panose="02040503050406030204" pitchFamily="18" charset="0"/>
                          </a:rPr>
                          <m:t>𝑎</m:t>
                        </m:r>
                      </m:e>
                      <m:sub>
                        <m:r>
                          <a:rPr lang="en-BE" sz="2400" i="1">
                            <a:solidFill>
                              <a:schemeClr val="accent2"/>
                            </a:solidFill>
                            <a:latin typeface="Cambria Math" panose="02040503050406030204" pitchFamily="18" charset="0"/>
                          </a:rPr>
                          <m:t>0</m:t>
                        </m:r>
                      </m:sub>
                      <m:sup>
                        <m:r>
                          <a:rPr lang="en-BE" sz="2400" b="0" i="1" smtClean="0">
                            <a:solidFill>
                              <a:schemeClr val="accent2"/>
                            </a:solidFill>
                            <a:latin typeface="Cambria Math" panose="02040503050406030204" pitchFamily="18" charset="0"/>
                          </a:rPr>
                          <m:t>1</m:t>
                        </m:r>
                      </m:sup>
                    </m:sSubSup>
                    <m:r>
                      <a:rPr lang="en-BE" sz="2400" b="0" i="1" smtClean="0">
                        <a:latin typeface="Cambria Math" panose="02040503050406030204" pitchFamily="18" charset="0"/>
                      </a:rPr>
                      <m:t>=</m:t>
                    </m:r>
                    <m:r>
                      <a:rPr lang="en-BE" sz="2400" b="0" i="1" smtClean="0">
                        <a:latin typeface="Cambria Math" panose="02040503050406030204" pitchFamily="18" charset="0"/>
                        <a:ea typeface="Cambria Math" panose="02040503050406030204" pitchFamily="18" charset="0"/>
                      </a:rPr>
                      <m:t>𝜎</m:t>
                    </m:r>
                    <m:r>
                      <a:rPr lang="en-BE" sz="2400" b="0" i="1" smtClean="0">
                        <a:latin typeface="Cambria Math" panose="02040503050406030204" pitchFamily="18" charset="0"/>
                        <a:ea typeface="Cambria Math" panose="02040503050406030204" pitchFamily="18" charset="0"/>
                      </a:rPr>
                      <m:t>(</m:t>
                    </m:r>
                    <m:sSub>
                      <m:sSubPr>
                        <m:ctrlPr>
                          <a:rPr lang="en-BE" sz="2400" i="1">
                            <a:solidFill>
                              <a:schemeClr val="accent1"/>
                            </a:solidFill>
                            <a:latin typeface="Cambria Math" panose="02040503050406030204" pitchFamily="18" charset="0"/>
                          </a:rPr>
                        </m:ctrlPr>
                      </m:sSubPr>
                      <m:e>
                        <m:r>
                          <a:rPr lang="en-BE" sz="2400" i="1">
                            <a:solidFill>
                              <a:schemeClr val="accent1"/>
                            </a:solidFill>
                            <a:latin typeface="Cambria Math" panose="02040503050406030204" pitchFamily="18" charset="0"/>
                          </a:rPr>
                          <m:t>𝑤</m:t>
                        </m:r>
                      </m:e>
                      <m:sub>
                        <m:r>
                          <a:rPr lang="en-BE" sz="2400" i="1">
                            <a:solidFill>
                              <a:schemeClr val="accent1"/>
                            </a:solidFill>
                            <a:latin typeface="Cambria Math" panose="02040503050406030204" pitchFamily="18" charset="0"/>
                          </a:rPr>
                          <m:t>0,0</m:t>
                        </m:r>
                      </m:sub>
                    </m:sSub>
                    <m:r>
                      <a:rPr lang="en-BE" sz="2400" i="1" smtClean="0">
                        <a:latin typeface="Cambria Math" panose="02040503050406030204" pitchFamily="18" charset="0"/>
                        <a:ea typeface="Cambria Math" panose="02040503050406030204" pitchFamily="18" charset="0"/>
                      </a:rPr>
                      <m:t>∙</m:t>
                    </m:r>
                    <m:sSubSup>
                      <m:sSubSupPr>
                        <m:ctrlPr>
                          <a:rPr lang="en-BE" sz="2400" i="1">
                            <a:latin typeface="Cambria Math" panose="02040503050406030204" pitchFamily="18" charset="0"/>
                          </a:rPr>
                        </m:ctrlPr>
                      </m:sSubSupPr>
                      <m:e>
                        <m:r>
                          <a:rPr lang="en-BE" sz="2400" i="1">
                            <a:latin typeface="Cambria Math" panose="02040503050406030204" pitchFamily="18" charset="0"/>
                          </a:rPr>
                          <m:t>𝑎</m:t>
                        </m:r>
                      </m:e>
                      <m:sub>
                        <m:r>
                          <a:rPr lang="en-BE" sz="2400" i="1">
                            <a:latin typeface="Cambria Math" panose="02040503050406030204" pitchFamily="18" charset="0"/>
                          </a:rPr>
                          <m:t>0</m:t>
                        </m:r>
                      </m:sub>
                      <m:sup>
                        <m:r>
                          <a:rPr lang="en-BE" sz="2400" i="1" smtClean="0">
                            <a:latin typeface="Cambria Math" panose="02040503050406030204" pitchFamily="18" charset="0"/>
                          </a:rPr>
                          <m:t>0</m:t>
                        </m:r>
                      </m:sup>
                    </m:sSubSup>
                    <m:r>
                      <a:rPr lang="en-BE" sz="2400" b="0" i="1" smtClean="0">
                        <a:latin typeface="Cambria Math" panose="02040503050406030204" pitchFamily="18" charset="0"/>
                      </a:rPr>
                      <m:t>+</m:t>
                    </m:r>
                    <m:sSub>
                      <m:sSubPr>
                        <m:ctrlPr>
                          <a:rPr lang="en-BE" sz="2400" i="1">
                            <a:solidFill>
                              <a:schemeClr val="accent1"/>
                            </a:solidFill>
                            <a:latin typeface="Cambria Math" panose="02040503050406030204" pitchFamily="18" charset="0"/>
                          </a:rPr>
                        </m:ctrlPr>
                      </m:sSubPr>
                      <m:e>
                        <m:r>
                          <a:rPr lang="en-BE" sz="2400" i="1">
                            <a:solidFill>
                              <a:schemeClr val="accent1"/>
                            </a:solidFill>
                            <a:latin typeface="Cambria Math" panose="02040503050406030204" pitchFamily="18" charset="0"/>
                          </a:rPr>
                          <m:t>𝑤</m:t>
                        </m:r>
                      </m:e>
                      <m:sub>
                        <m:r>
                          <a:rPr lang="en-BE" sz="2400" i="1">
                            <a:solidFill>
                              <a:schemeClr val="accent1"/>
                            </a:solidFill>
                            <a:latin typeface="Cambria Math" panose="02040503050406030204" pitchFamily="18" charset="0"/>
                          </a:rPr>
                          <m:t>0,1</m:t>
                        </m:r>
                      </m:sub>
                    </m:sSub>
                    <m:r>
                      <a:rPr lang="en-BE" sz="2400" i="1">
                        <a:latin typeface="Cambria Math" panose="02040503050406030204" pitchFamily="18" charset="0"/>
                        <a:ea typeface="Cambria Math" panose="02040503050406030204" pitchFamily="18" charset="0"/>
                      </a:rPr>
                      <m:t>∙</m:t>
                    </m:r>
                    <m:sSubSup>
                      <m:sSubSupPr>
                        <m:ctrlPr>
                          <a:rPr lang="en-BE" sz="2400" i="1">
                            <a:latin typeface="Cambria Math" panose="02040503050406030204" pitchFamily="18" charset="0"/>
                          </a:rPr>
                        </m:ctrlPr>
                      </m:sSubSupPr>
                      <m:e>
                        <m:r>
                          <a:rPr lang="en-BE" sz="2400" i="1">
                            <a:latin typeface="Cambria Math" panose="02040503050406030204" pitchFamily="18" charset="0"/>
                          </a:rPr>
                          <m:t>𝑎</m:t>
                        </m:r>
                      </m:e>
                      <m:sub>
                        <m:r>
                          <a:rPr lang="en-BE" sz="2400" i="1">
                            <a:latin typeface="Cambria Math" panose="02040503050406030204" pitchFamily="18" charset="0"/>
                          </a:rPr>
                          <m:t>1</m:t>
                        </m:r>
                      </m:sub>
                      <m:sup>
                        <m:r>
                          <a:rPr lang="en-BE" sz="2400" i="1" smtClean="0">
                            <a:latin typeface="Cambria Math" panose="02040503050406030204" pitchFamily="18" charset="0"/>
                          </a:rPr>
                          <m:t>0</m:t>
                        </m:r>
                      </m:sup>
                    </m:sSubSup>
                    <m:r>
                      <a:rPr lang="en-BE" sz="2400" b="0" i="1" smtClean="0">
                        <a:latin typeface="Cambria Math" panose="02040503050406030204" pitchFamily="18" charset="0"/>
                      </a:rPr>
                      <m:t>+ …+</m:t>
                    </m:r>
                    <m:sSub>
                      <m:sSubPr>
                        <m:ctrlPr>
                          <a:rPr lang="en-BE" sz="2400" i="1">
                            <a:solidFill>
                              <a:schemeClr val="accent1"/>
                            </a:solidFill>
                            <a:latin typeface="Cambria Math" panose="02040503050406030204" pitchFamily="18" charset="0"/>
                          </a:rPr>
                        </m:ctrlPr>
                      </m:sSubPr>
                      <m:e>
                        <m:r>
                          <a:rPr lang="en-BE" sz="2400" i="1">
                            <a:solidFill>
                              <a:schemeClr val="accent1"/>
                            </a:solidFill>
                            <a:latin typeface="Cambria Math" panose="02040503050406030204" pitchFamily="18" charset="0"/>
                          </a:rPr>
                          <m:t>𝑤</m:t>
                        </m:r>
                      </m:e>
                      <m:sub>
                        <m:r>
                          <a:rPr lang="en-BE" sz="2400" i="1">
                            <a:solidFill>
                              <a:schemeClr val="accent1"/>
                            </a:solidFill>
                            <a:latin typeface="Cambria Math" panose="02040503050406030204" pitchFamily="18" charset="0"/>
                          </a:rPr>
                          <m:t>0,</m:t>
                        </m:r>
                        <m:r>
                          <a:rPr lang="en-BE" sz="2400" b="0" i="1" smtClean="0">
                            <a:solidFill>
                              <a:schemeClr val="accent1"/>
                            </a:solidFill>
                            <a:latin typeface="Cambria Math" panose="02040503050406030204" pitchFamily="18" charset="0"/>
                          </a:rPr>
                          <m:t>𝑛</m:t>
                        </m:r>
                      </m:sub>
                    </m:sSub>
                    <m:r>
                      <a:rPr lang="en-BE" sz="2400" i="1">
                        <a:latin typeface="Cambria Math" panose="02040503050406030204" pitchFamily="18" charset="0"/>
                        <a:ea typeface="Cambria Math" panose="02040503050406030204" pitchFamily="18" charset="0"/>
                      </a:rPr>
                      <m:t>∙</m:t>
                    </m:r>
                    <m:sSubSup>
                      <m:sSubSupPr>
                        <m:ctrlPr>
                          <a:rPr lang="en-BE" sz="2400" i="1">
                            <a:latin typeface="Cambria Math" panose="02040503050406030204" pitchFamily="18" charset="0"/>
                          </a:rPr>
                        </m:ctrlPr>
                      </m:sSubSupPr>
                      <m:e>
                        <m:r>
                          <a:rPr lang="en-BE" sz="2400" i="1">
                            <a:latin typeface="Cambria Math" panose="02040503050406030204" pitchFamily="18" charset="0"/>
                          </a:rPr>
                          <m:t>𝑎</m:t>
                        </m:r>
                      </m:e>
                      <m:sub>
                        <m:r>
                          <a:rPr lang="en-BE" sz="2400" b="0" i="1" smtClean="0">
                            <a:latin typeface="Cambria Math" panose="02040503050406030204" pitchFamily="18" charset="0"/>
                          </a:rPr>
                          <m:t>𝑛</m:t>
                        </m:r>
                      </m:sub>
                      <m:sup>
                        <m:r>
                          <a:rPr lang="en-BE" sz="2400" i="1" smtClean="0">
                            <a:latin typeface="Cambria Math" panose="02040503050406030204" pitchFamily="18" charset="0"/>
                          </a:rPr>
                          <m:t>0</m:t>
                        </m:r>
                      </m:sup>
                    </m:sSubSup>
                    <m:r>
                      <a:rPr lang="en-BE" sz="2400" b="0" i="1" smtClean="0">
                        <a:latin typeface="Cambria Math" panose="02040503050406030204" pitchFamily="18" charset="0"/>
                      </a:rPr>
                      <m:t>+</m:t>
                    </m:r>
                    <m:sSub>
                      <m:sSubPr>
                        <m:ctrlPr>
                          <a:rPr lang="en-BE" sz="2400" i="1">
                            <a:solidFill>
                              <a:schemeClr val="accent6"/>
                            </a:solidFill>
                            <a:latin typeface="Cambria Math" panose="02040503050406030204" pitchFamily="18" charset="0"/>
                          </a:rPr>
                        </m:ctrlPr>
                      </m:sSubPr>
                      <m:e>
                        <m:r>
                          <a:rPr lang="en-BE" sz="2400" i="1">
                            <a:solidFill>
                              <a:schemeClr val="accent6"/>
                            </a:solidFill>
                            <a:latin typeface="Cambria Math" panose="02040503050406030204" pitchFamily="18" charset="0"/>
                          </a:rPr>
                          <m:t>𝑏</m:t>
                        </m:r>
                      </m:e>
                      <m:sub>
                        <m:r>
                          <a:rPr lang="en-BE" sz="2400" i="1">
                            <a:solidFill>
                              <a:schemeClr val="accent6"/>
                            </a:solidFill>
                            <a:latin typeface="Cambria Math" panose="02040503050406030204" pitchFamily="18" charset="0"/>
                          </a:rPr>
                          <m:t>0</m:t>
                        </m:r>
                      </m:sub>
                    </m:sSub>
                    <m:r>
                      <a:rPr lang="en-BE" sz="2400" b="0" i="1" smtClean="0">
                        <a:latin typeface="Cambria Math" panose="02040503050406030204" pitchFamily="18" charset="0"/>
                        <a:ea typeface="Cambria Math" panose="02040503050406030204" pitchFamily="18" charset="0"/>
                      </a:rPr>
                      <m:t>)</m:t>
                    </m:r>
                  </m:oMath>
                </a14:m>
                <a:r>
                  <a:rPr lang="en-BE" sz="2400"/>
                  <a:t> </a:t>
                </a:r>
              </a:p>
            </p:txBody>
          </p:sp>
        </mc:Choice>
        <mc:Fallback xmlns="">
          <p:sp>
            <p:nvSpPr>
              <p:cNvPr id="7" name="TextBox 6">
                <a:extLst>
                  <a:ext uri="{FF2B5EF4-FFF2-40B4-BE49-F238E27FC236}">
                    <a16:creationId xmlns:a16="http://schemas.microsoft.com/office/drawing/2014/main" id="{B76DEFB4-3273-C618-6B26-43B957D03CA2}"/>
                  </a:ext>
                </a:extLst>
              </p:cNvPr>
              <p:cNvSpPr txBox="1">
                <a:spLocks noRot="1" noChangeAspect="1" noMove="1" noResize="1" noEditPoints="1" noAdjustHandles="1" noChangeArrowheads="1" noChangeShapeType="1" noTextEdit="1"/>
              </p:cNvSpPr>
              <p:nvPr/>
            </p:nvSpPr>
            <p:spPr>
              <a:xfrm>
                <a:off x="4491418" y="1105251"/>
                <a:ext cx="7255064" cy="399918"/>
              </a:xfrm>
              <a:prstGeom prst="rect">
                <a:avLst/>
              </a:prstGeom>
              <a:blipFill>
                <a:blip r:embed="rId11"/>
                <a:stretch>
                  <a:fillRect t="-18182" b="-424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755918B-3DEA-A950-85E1-13E7F9B6102A}"/>
                  </a:ext>
                </a:extLst>
              </p:cNvPr>
              <p:cNvSpPr txBox="1"/>
              <p:nvPr/>
            </p:nvSpPr>
            <p:spPr>
              <a:xfrm>
                <a:off x="4491418" y="1958375"/>
                <a:ext cx="7255064" cy="399918"/>
              </a:xfrm>
              <a:prstGeom prst="rect">
                <a:avLst/>
              </a:prstGeom>
              <a:noFill/>
            </p:spPr>
            <p:txBody>
              <a:bodyPr wrap="square" lIns="0" tIns="0" rIns="0" bIns="0" rtlCol="0">
                <a:spAutoFit/>
              </a:bodyPr>
              <a:lstStyle/>
              <a:p>
                <a:pPr algn="ctr"/>
                <a14:m>
                  <m:oMath xmlns:m="http://schemas.openxmlformats.org/officeDocument/2006/math">
                    <m:sSubSup>
                      <m:sSubSupPr>
                        <m:ctrlPr>
                          <a:rPr lang="en-BE" sz="2400" i="1">
                            <a:solidFill>
                              <a:schemeClr val="accent2"/>
                            </a:solidFill>
                            <a:latin typeface="Cambria Math" panose="02040503050406030204" pitchFamily="18" charset="0"/>
                          </a:rPr>
                        </m:ctrlPr>
                      </m:sSubSupPr>
                      <m:e>
                        <m:r>
                          <a:rPr lang="en-BE" sz="2400" i="1">
                            <a:solidFill>
                              <a:schemeClr val="accent2"/>
                            </a:solidFill>
                            <a:latin typeface="Cambria Math" panose="02040503050406030204" pitchFamily="18" charset="0"/>
                          </a:rPr>
                          <m:t>𝑎</m:t>
                        </m:r>
                      </m:e>
                      <m:sub>
                        <m:r>
                          <a:rPr lang="en-BE" sz="2400" b="0" i="1" smtClean="0">
                            <a:solidFill>
                              <a:schemeClr val="accent2"/>
                            </a:solidFill>
                            <a:latin typeface="Cambria Math" panose="02040503050406030204" pitchFamily="18" charset="0"/>
                          </a:rPr>
                          <m:t>1</m:t>
                        </m:r>
                      </m:sub>
                      <m:sup>
                        <m:r>
                          <a:rPr lang="en-BE" sz="2400" b="0" i="1" smtClean="0">
                            <a:solidFill>
                              <a:schemeClr val="accent2"/>
                            </a:solidFill>
                            <a:latin typeface="Cambria Math" panose="02040503050406030204" pitchFamily="18" charset="0"/>
                          </a:rPr>
                          <m:t>1</m:t>
                        </m:r>
                      </m:sup>
                    </m:sSubSup>
                    <m:r>
                      <a:rPr lang="en-BE" sz="2400" b="0" i="1" smtClean="0">
                        <a:latin typeface="Cambria Math" panose="02040503050406030204" pitchFamily="18" charset="0"/>
                      </a:rPr>
                      <m:t>=</m:t>
                    </m:r>
                    <m:r>
                      <a:rPr lang="en-BE" sz="2400" b="0" i="1" smtClean="0">
                        <a:latin typeface="Cambria Math" panose="02040503050406030204" pitchFamily="18" charset="0"/>
                        <a:ea typeface="Cambria Math" panose="02040503050406030204" pitchFamily="18" charset="0"/>
                      </a:rPr>
                      <m:t>𝜎</m:t>
                    </m:r>
                    <m:r>
                      <a:rPr lang="en-BE" sz="2400" b="0" i="1" smtClean="0">
                        <a:latin typeface="Cambria Math" panose="02040503050406030204" pitchFamily="18" charset="0"/>
                        <a:ea typeface="Cambria Math" panose="02040503050406030204" pitchFamily="18" charset="0"/>
                      </a:rPr>
                      <m:t>(</m:t>
                    </m:r>
                    <m:sSub>
                      <m:sSubPr>
                        <m:ctrlPr>
                          <a:rPr lang="en-BE" sz="2400" i="1">
                            <a:solidFill>
                              <a:schemeClr val="accent1"/>
                            </a:solidFill>
                            <a:latin typeface="Cambria Math" panose="02040503050406030204" pitchFamily="18" charset="0"/>
                          </a:rPr>
                        </m:ctrlPr>
                      </m:sSubPr>
                      <m:e>
                        <m:r>
                          <a:rPr lang="en-BE" sz="2400" i="1">
                            <a:solidFill>
                              <a:schemeClr val="accent1"/>
                            </a:solidFill>
                            <a:latin typeface="Cambria Math" panose="02040503050406030204" pitchFamily="18" charset="0"/>
                          </a:rPr>
                          <m:t>𝑤</m:t>
                        </m:r>
                      </m:e>
                      <m:sub>
                        <m:r>
                          <a:rPr lang="en-BE" sz="2400" b="0" i="1" smtClean="0">
                            <a:solidFill>
                              <a:schemeClr val="accent1"/>
                            </a:solidFill>
                            <a:latin typeface="Cambria Math" panose="02040503050406030204" pitchFamily="18" charset="0"/>
                          </a:rPr>
                          <m:t>1</m:t>
                        </m:r>
                        <m:r>
                          <a:rPr lang="en-BE" sz="2400" i="1">
                            <a:solidFill>
                              <a:schemeClr val="accent1"/>
                            </a:solidFill>
                            <a:latin typeface="Cambria Math" panose="02040503050406030204" pitchFamily="18" charset="0"/>
                          </a:rPr>
                          <m:t>,0</m:t>
                        </m:r>
                      </m:sub>
                    </m:sSub>
                    <m:r>
                      <a:rPr lang="en-BE" sz="2400" i="1" smtClean="0">
                        <a:latin typeface="Cambria Math" panose="02040503050406030204" pitchFamily="18" charset="0"/>
                        <a:ea typeface="Cambria Math" panose="02040503050406030204" pitchFamily="18" charset="0"/>
                      </a:rPr>
                      <m:t>∙</m:t>
                    </m:r>
                    <m:sSubSup>
                      <m:sSubSupPr>
                        <m:ctrlPr>
                          <a:rPr lang="en-BE" sz="2400" i="1">
                            <a:latin typeface="Cambria Math" panose="02040503050406030204" pitchFamily="18" charset="0"/>
                          </a:rPr>
                        </m:ctrlPr>
                      </m:sSubSupPr>
                      <m:e>
                        <m:r>
                          <a:rPr lang="en-BE" sz="2400" i="1">
                            <a:latin typeface="Cambria Math" panose="02040503050406030204" pitchFamily="18" charset="0"/>
                          </a:rPr>
                          <m:t>𝑎</m:t>
                        </m:r>
                      </m:e>
                      <m:sub>
                        <m:r>
                          <a:rPr lang="en-BE" sz="2400" i="1">
                            <a:latin typeface="Cambria Math" panose="02040503050406030204" pitchFamily="18" charset="0"/>
                          </a:rPr>
                          <m:t>0</m:t>
                        </m:r>
                      </m:sub>
                      <m:sup>
                        <m:r>
                          <a:rPr lang="en-BE" sz="2400" i="1" smtClean="0">
                            <a:latin typeface="Cambria Math" panose="02040503050406030204" pitchFamily="18" charset="0"/>
                          </a:rPr>
                          <m:t>0</m:t>
                        </m:r>
                      </m:sup>
                    </m:sSubSup>
                    <m:r>
                      <a:rPr lang="en-BE" sz="2400" b="0" i="1" smtClean="0">
                        <a:latin typeface="Cambria Math" panose="02040503050406030204" pitchFamily="18" charset="0"/>
                      </a:rPr>
                      <m:t>+</m:t>
                    </m:r>
                    <m:sSub>
                      <m:sSubPr>
                        <m:ctrlPr>
                          <a:rPr lang="en-BE" sz="2400" i="1">
                            <a:solidFill>
                              <a:schemeClr val="accent1"/>
                            </a:solidFill>
                            <a:latin typeface="Cambria Math" panose="02040503050406030204" pitchFamily="18" charset="0"/>
                          </a:rPr>
                        </m:ctrlPr>
                      </m:sSubPr>
                      <m:e>
                        <m:r>
                          <a:rPr lang="en-BE" sz="2400" i="1">
                            <a:solidFill>
                              <a:schemeClr val="accent1"/>
                            </a:solidFill>
                            <a:latin typeface="Cambria Math" panose="02040503050406030204" pitchFamily="18" charset="0"/>
                          </a:rPr>
                          <m:t>𝑤</m:t>
                        </m:r>
                      </m:e>
                      <m:sub>
                        <m:r>
                          <a:rPr lang="en-BE" sz="2400" b="0" i="1" smtClean="0">
                            <a:solidFill>
                              <a:schemeClr val="accent1"/>
                            </a:solidFill>
                            <a:latin typeface="Cambria Math" panose="02040503050406030204" pitchFamily="18" charset="0"/>
                          </a:rPr>
                          <m:t>1</m:t>
                        </m:r>
                        <m:r>
                          <a:rPr lang="en-BE" sz="2400" i="1">
                            <a:solidFill>
                              <a:schemeClr val="accent1"/>
                            </a:solidFill>
                            <a:latin typeface="Cambria Math" panose="02040503050406030204" pitchFamily="18" charset="0"/>
                          </a:rPr>
                          <m:t>,1</m:t>
                        </m:r>
                      </m:sub>
                    </m:sSub>
                    <m:r>
                      <a:rPr lang="en-BE" sz="2400" i="1">
                        <a:latin typeface="Cambria Math" panose="02040503050406030204" pitchFamily="18" charset="0"/>
                        <a:ea typeface="Cambria Math" panose="02040503050406030204" pitchFamily="18" charset="0"/>
                      </a:rPr>
                      <m:t>∙</m:t>
                    </m:r>
                    <m:sSubSup>
                      <m:sSubSupPr>
                        <m:ctrlPr>
                          <a:rPr lang="en-BE" sz="2400" i="1">
                            <a:latin typeface="Cambria Math" panose="02040503050406030204" pitchFamily="18" charset="0"/>
                          </a:rPr>
                        </m:ctrlPr>
                      </m:sSubSupPr>
                      <m:e>
                        <m:r>
                          <a:rPr lang="en-BE" sz="2400" i="1">
                            <a:latin typeface="Cambria Math" panose="02040503050406030204" pitchFamily="18" charset="0"/>
                          </a:rPr>
                          <m:t>𝑎</m:t>
                        </m:r>
                      </m:e>
                      <m:sub>
                        <m:r>
                          <a:rPr lang="en-BE" sz="2400" i="1">
                            <a:latin typeface="Cambria Math" panose="02040503050406030204" pitchFamily="18" charset="0"/>
                          </a:rPr>
                          <m:t>1</m:t>
                        </m:r>
                      </m:sub>
                      <m:sup>
                        <m:r>
                          <a:rPr lang="en-BE" sz="2400" i="1" smtClean="0">
                            <a:latin typeface="Cambria Math" panose="02040503050406030204" pitchFamily="18" charset="0"/>
                          </a:rPr>
                          <m:t>0</m:t>
                        </m:r>
                      </m:sup>
                    </m:sSubSup>
                    <m:r>
                      <a:rPr lang="en-BE" sz="2400" b="0" i="1" smtClean="0">
                        <a:latin typeface="Cambria Math" panose="02040503050406030204" pitchFamily="18" charset="0"/>
                      </a:rPr>
                      <m:t>+ …+</m:t>
                    </m:r>
                    <m:sSub>
                      <m:sSubPr>
                        <m:ctrlPr>
                          <a:rPr lang="en-BE" sz="2400" i="1">
                            <a:solidFill>
                              <a:schemeClr val="accent1"/>
                            </a:solidFill>
                            <a:latin typeface="Cambria Math" panose="02040503050406030204" pitchFamily="18" charset="0"/>
                          </a:rPr>
                        </m:ctrlPr>
                      </m:sSubPr>
                      <m:e>
                        <m:r>
                          <a:rPr lang="en-BE" sz="2400" i="1">
                            <a:solidFill>
                              <a:schemeClr val="accent1"/>
                            </a:solidFill>
                            <a:latin typeface="Cambria Math" panose="02040503050406030204" pitchFamily="18" charset="0"/>
                          </a:rPr>
                          <m:t>𝑤</m:t>
                        </m:r>
                      </m:e>
                      <m:sub>
                        <m:r>
                          <a:rPr lang="en-BE" sz="2400" b="0" i="1" smtClean="0">
                            <a:solidFill>
                              <a:schemeClr val="accent1"/>
                            </a:solidFill>
                            <a:latin typeface="Cambria Math" panose="02040503050406030204" pitchFamily="18" charset="0"/>
                          </a:rPr>
                          <m:t>1</m:t>
                        </m:r>
                        <m:r>
                          <a:rPr lang="en-BE" sz="2400" i="1">
                            <a:solidFill>
                              <a:schemeClr val="accent1"/>
                            </a:solidFill>
                            <a:latin typeface="Cambria Math" panose="02040503050406030204" pitchFamily="18" charset="0"/>
                          </a:rPr>
                          <m:t>,</m:t>
                        </m:r>
                        <m:r>
                          <a:rPr lang="en-BE" sz="2400" b="0" i="1" smtClean="0">
                            <a:solidFill>
                              <a:schemeClr val="accent1"/>
                            </a:solidFill>
                            <a:latin typeface="Cambria Math" panose="02040503050406030204" pitchFamily="18" charset="0"/>
                          </a:rPr>
                          <m:t>𝑛</m:t>
                        </m:r>
                      </m:sub>
                    </m:sSub>
                    <m:r>
                      <a:rPr lang="en-BE" sz="2400" i="1">
                        <a:latin typeface="Cambria Math" panose="02040503050406030204" pitchFamily="18" charset="0"/>
                        <a:ea typeface="Cambria Math" panose="02040503050406030204" pitchFamily="18" charset="0"/>
                      </a:rPr>
                      <m:t>∙</m:t>
                    </m:r>
                    <m:sSubSup>
                      <m:sSubSupPr>
                        <m:ctrlPr>
                          <a:rPr lang="en-BE" sz="2400" i="1">
                            <a:latin typeface="Cambria Math" panose="02040503050406030204" pitchFamily="18" charset="0"/>
                          </a:rPr>
                        </m:ctrlPr>
                      </m:sSubSupPr>
                      <m:e>
                        <m:r>
                          <a:rPr lang="en-BE" sz="2400" i="1">
                            <a:latin typeface="Cambria Math" panose="02040503050406030204" pitchFamily="18" charset="0"/>
                          </a:rPr>
                          <m:t>𝑎</m:t>
                        </m:r>
                      </m:e>
                      <m:sub>
                        <m:r>
                          <a:rPr lang="en-BE" sz="2400" b="0" i="1" smtClean="0">
                            <a:latin typeface="Cambria Math" panose="02040503050406030204" pitchFamily="18" charset="0"/>
                          </a:rPr>
                          <m:t>𝑛</m:t>
                        </m:r>
                      </m:sub>
                      <m:sup>
                        <m:r>
                          <a:rPr lang="en-BE" sz="2400" i="1" smtClean="0">
                            <a:latin typeface="Cambria Math" panose="02040503050406030204" pitchFamily="18" charset="0"/>
                          </a:rPr>
                          <m:t>0</m:t>
                        </m:r>
                      </m:sup>
                    </m:sSubSup>
                    <m:r>
                      <a:rPr lang="en-BE" sz="2400" b="0" i="1" smtClean="0">
                        <a:latin typeface="Cambria Math" panose="02040503050406030204" pitchFamily="18" charset="0"/>
                      </a:rPr>
                      <m:t>+</m:t>
                    </m:r>
                    <m:sSub>
                      <m:sSubPr>
                        <m:ctrlPr>
                          <a:rPr lang="en-BE" sz="2400" i="1">
                            <a:solidFill>
                              <a:schemeClr val="accent6"/>
                            </a:solidFill>
                            <a:latin typeface="Cambria Math" panose="02040503050406030204" pitchFamily="18" charset="0"/>
                          </a:rPr>
                        </m:ctrlPr>
                      </m:sSubPr>
                      <m:e>
                        <m:r>
                          <a:rPr lang="en-BE" sz="2400" i="1">
                            <a:solidFill>
                              <a:schemeClr val="accent6"/>
                            </a:solidFill>
                            <a:latin typeface="Cambria Math" panose="02040503050406030204" pitchFamily="18" charset="0"/>
                          </a:rPr>
                          <m:t>𝑏</m:t>
                        </m:r>
                      </m:e>
                      <m:sub>
                        <m:r>
                          <a:rPr lang="en-BE" sz="2400" b="0" i="1" smtClean="0">
                            <a:solidFill>
                              <a:schemeClr val="accent6"/>
                            </a:solidFill>
                            <a:latin typeface="Cambria Math" panose="02040503050406030204" pitchFamily="18" charset="0"/>
                          </a:rPr>
                          <m:t>1</m:t>
                        </m:r>
                      </m:sub>
                    </m:sSub>
                    <m:r>
                      <a:rPr lang="en-BE" sz="2400" b="0" i="1" smtClean="0">
                        <a:latin typeface="Cambria Math" panose="02040503050406030204" pitchFamily="18" charset="0"/>
                        <a:ea typeface="Cambria Math" panose="02040503050406030204" pitchFamily="18" charset="0"/>
                      </a:rPr>
                      <m:t>)</m:t>
                    </m:r>
                  </m:oMath>
                </a14:m>
                <a:r>
                  <a:rPr lang="en-BE" sz="2400"/>
                  <a:t> </a:t>
                </a:r>
              </a:p>
            </p:txBody>
          </p:sp>
        </mc:Choice>
        <mc:Fallback xmlns="">
          <p:sp>
            <p:nvSpPr>
              <p:cNvPr id="8" name="TextBox 7">
                <a:extLst>
                  <a:ext uri="{FF2B5EF4-FFF2-40B4-BE49-F238E27FC236}">
                    <a16:creationId xmlns:a16="http://schemas.microsoft.com/office/drawing/2014/main" id="{2755918B-3DEA-A950-85E1-13E7F9B6102A}"/>
                  </a:ext>
                </a:extLst>
              </p:cNvPr>
              <p:cNvSpPr txBox="1">
                <a:spLocks noRot="1" noChangeAspect="1" noMove="1" noResize="1" noEditPoints="1" noAdjustHandles="1" noChangeArrowheads="1" noChangeShapeType="1" noTextEdit="1"/>
              </p:cNvSpPr>
              <p:nvPr/>
            </p:nvSpPr>
            <p:spPr>
              <a:xfrm>
                <a:off x="4491418" y="1958375"/>
                <a:ext cx="7255064" cy="399918"/>
              </a:xfrm>
              <a:prstGeom prst="rect">
                <a:avLst/>
              </a:prstGeom>
              <a:blipFill>
                <a:blip r:embed="rId12"/>
                <a:stretch>
                  <a:fillRect t="-18182" b="-424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5CA3D4A-5D8F-FA30-283F-40C8A2F41775}"/>
                  </a:ext>
                </a:extLst>
              </p:cNvPr>
              <p:cNvSpPr txBox="1"/>
              <p:nvPr/>
            </p:nvSpPr>
            <p:spPr>
              <a:xfrm>
                <a:off x="4491418" y="3664623"/>
                <a:ext cx="7255064" cy="399918"/>
              </a:xfrm>
              <a:prstGeom prst="rect">
                <a:avLst/>
              </a:prstGeom>
              <a:noFill/>
            </p:spPr>
            <p:txBody>
              <a:bodyPr wrap="square" lIns="0" tIns="0" rIns="0" bIns="0" rtlCol="0">
                <a:spAutoFit/>
              </a:bodyPr>
              <a:lstStyle/>
              <a:p>
                <a:pPr algn="ctr"/>
                <a14:m>
                  <m:oMath xmlns:m="http://schemas.openxmlformats.org/officeDocument/2006/math">
                    <m:sSubSup>
                      <m:sSubSupPr>
                        <m:ctrlPr>
                          <a:rPr lang="en-BE" sz="2400" i="1">
                            <a:solidFill>
                              <a:schemeClr val="accent2"/>
                            </a:solidFill>
                            <a:latin typeface="Cambria Math" panose="02040503050406030204" pitchFamily="18" charset="0"/>
                          </a:rPr>
                        </m:ctrlPr>
                      </m:sSubSupPr>
                      <m:e>
                        <m:r>
                          <a:rPr lang="en-BE" sz="2400" i="1">
                            <a:solidFill>
                              <a:schemeClr val="accent2"/>
                            </a:solidFill>
                            <a:latin typeface="Cambria Math" panose="02040503050406030204" pitchFamily="18" charset="0"/>
                          </a:rPr>
                          <m:t>𝑎</m:t>
                        </m:r>
                      </m:e>
                      <m:sub>
                        <m:r>
                          <a:rPr lang="en-BE" sz="2400" b="0" i="1" smtClean="0">
                            <a:solidFill>
                              <a:schemeClr val="accent2"/>
                            </a:solidFill>
                            <a:latin typeface="Cambria Math" panose="02040503050406030204" pitchFamily="18" charset="0"/>
                          </a:rPr>
                          <m:t>𝑛</m:t>
                        </m:r>
                      </m:sub>
                      <m:sup>
                        <m:r>
                          <a:rPr lang="en-BE" sz="2400" b="0" i="1" smtClean="0">
                            <a:solidFill>
                              <a:schemeClr val="accent2"/>
                            </a:solidFill>
                            <a:latin typeface="Cambria Math" panose="02040503050406030204" pitchFamily="18" charset="0"/>
                          </a:rPr>
                          <m:t>1</m:t>
                        </m:r>
                      </m:sup>
                    </m:sSubSup>
                    <m:r>
                      <a:rPr lang="en-BE" sz="2400" b="0" i="1" smtClean="0">
                        <a:latin typeface="Cambria Math" panose="02040503050406030204" pitchFamily="18" charset="0"/>
                      </a:rPr>
                      <m:t>=</m:t>
                    </m:r>
                    <m:r>
                      <a:rPr lang="en-BE" sz="2400" b="0" i="1" smtClean="0">
                        <a:latin typeface="Cambria Math" panose="02040503050406030204" pitchFamily="18" charset="0"/>
                        <a:ea typeface="Cambria Math" panose="02040503050406030204" pitchFamily="18" charset="0"/>
                      </a:rPr>
                      <m:t>𝜎</m:t>
                    </m:r>
                    <m:r>
                      <a:rPr lang="en-BE" sz="2400" b="0" i="1" smtClean="0">
                        <a:latin typeface="Cambria Math" panose="02040503050406030204" pitchFamily="18" charset="0"/>
                        <a:ea typeface="Cambria Math" panose="02040503050406030204" pitchFamily="18" charset="0"/>
                      </a:rPr>
                      <m:t>(</m:t>
                    </m:r>
                    <m:sSub>
                      <m:sSubPr>
                        <m:ctrlPr>
                          <a:rPr lang="en-BE" sz="2400" i="1">
                            <a:solidFill>
                              <a:schemeClr val="accent1"/>
                            </a:solidFill>
                            <a:latin typeface="Cambria Math" panose="02040503050406030204" pitchFamily="18" charset="0"/>
                          </a:rPr>
                        </m:ctrlPr>
                      </m:sSubPr>
                      <m:e>
                        <m:r>
                          <a:rPr lang="en-BE" sz="2400" i="1">
                            <a:solidFill>
                              <a:schemeClr val="accent1"/>
                            </a:solidFill>
                            <a:latin typeface="Cambria Math" panose="02040503050406030204" pitchFamily="18" charset="0"/>
                          </a:rPr>
                          <m:t>𝑤</m:t>
                        </m:r>
                      </m:e>
                      <m:sub>
                        <m:r>
                          <a:rPr lang="en-BE" sz="2400" b="0" i="1" smtClean="0">
                            <a:solidFill>
                              <a:schemeClr val="accent1"/>
                            </a:solidFill>
                            <a:latin typeface="Cambria Math" panose="02040503050406030204" pitchFamily="18" charset="0"/>
                          </a:rPr>
                          <m:t>𝑘</m:t>
                        </m:r>
                        <m:r>
                          <a:rPr lang="en-BE" sz="2400" i="1">
                            <a:solidFill>
                              <a:schemeClr val="accent1"/>
                            </a:solidFill>
                            <a:latin typeface="Cambria Math" panose="02040503050406030204" pitchFamily="18" charset="0"/>
                          </a:rPr>
                          <m:t>,0</m:t>
                        </m:r>
                      </m:sub>
                    </m:sSub>
                    <m:r>
                      <a:rPr lang="en-BE" sz="2400" i="1" smtClean="0">
                        <a:latin typeface="Cambria Math" panose="02040503050406030204" pitchFamily="18" charset="0"/>
                        <a:ea typeface="Cambria Math" panose="02040503050406030204" pitchFamily="18" charset="0"/>
                      </a:rPr>
                      <m:t>∙</m:t>
                    </m:r>
                    <m:sSubSup>
                      <m:sSubSupPr>
                        <m:ctrlPr>
                          <a:rPr lang="en-BE" sz="2400" i="1">
                            <a:latin typeface="Cambria Math" panose="02040503050406030204" pitchFamily="18" charset="0"/>
                          </a:rPr>
                        </m:ctrlPr>
                      </m:sSubSupPr>
                      <m:e>
                        <m:r>
                          <a:rPr lang="en-BE" sz="2400" i="1">
                            <a:latin typeface="Cambria Math" panose="02040503050406030204" pitchFamily="18" charset="0"/>
                          </a:rPr>
                          <m:t>𝑎</m:t>
                        </m:r>
                      </m:e>
                      <m:sub>
                        <m:r>
                          <a:rPr lang="en-BE" sz="2400" i="1">
                            <a:latin typeface="Cambria Math" panose="02040503050406030204" pitchFamily="18" charset="0"/>
                          </a:rPr>
                          <m:t>0</m:t>
                        </m:r>
                      </m:sub>
                      <m:sup>
                        <m:r>
                          <a:rPr lang="en-BE" sz="2400" b="0" i="1" smtClean="0">
                            <a:latin typeface="Cambria Math" panose="02040503050406030204" pitchFamily="18" charset="0"/>
                          </a:rPr>
                          <m:t>0</m:t>
                        </m:r>
                      </m:sup>
                    </m:sSubSup>
                    <m:r>
                      <a:rPr lang="en-BE" sz="2400" b="0" i="1" smtClean="0">
                        <a:latin typeface="Cambria Math" panose="02040503050406030204" pitchFamily="18" charset="0"/>
                      </a:rPr>
                      <m:t>+</m:t>
                    </m:r>
                    <m:sSub>
                      <m:sSubPr>
                        <m:ctrlPr>
                          <a:rPr lang="en-BE" sz="2400" i="1">
                            <a:solidFill>
                              <a:schemeClr val="accent1"/>
                            </a:solidFill>
                            <a:latin typeface="Cambria Math" panose="02040503050406030204" pitchFamily="18" charset="0"/>
                          </a:rPr>
                        </m:ctrlPr>
                      </m:sSubPr>
                      <m:e>
                        <m:r>
                          <a:rPr lang="en-BE" sz="2400" i="1">
                            <a:solidFill>
                              <a:schemeClr val="accent1"/>
                            </a:solidFill>
                            <a:latin typeface="Cambria Math" panose="02040503050406030204" pitchFamily="18" charset="0"/>
                          </a:rPr>
                          <m:t>𝑤</m:t>
                        </m:r>
                      </m:e>
                      <m:sub>
                        <m:r>
                          <a:rPr lang="en-BE" sz="2400" b="0" i="1" smtClean="0">
                            <a:solidFill>
                              <a:schemeClr val="accent1"/>
                            </a:solidFill>
                            <a:latin typeface="Cambria Math" panose="02040503050406030204" pitchFamily="18" charset="0"/>
                          </a:rPr>
                          <m:t>𝑘</m:t>
                        </m:r>
                        <m:r>
                          <a:rPr lang="en-BE" sz="2400" i="1">
                            <a:solidFill>
                              <a:schemeClr val="accent1"/>
                            </a:solidFill>
                            <a:latin typeface="Cambria Math" panose="02040503050406030204" pitchFamily="18" charset="0"/>
                          </a:rPr>
                          <m:t>,1</m:t>
                        </m:r>
                      </m:sub>
                    </m:sSub>
                    <m:r>
                      <a:rPr lang="en-BE" sz="2400" i="1">
                        <a:latin typeface="Cambria Math" panose="02040503050406030204" pitchFamily="18" charset="0"/>
                        <a:ea typeface="Cambria Math" panose="02040503050406030204" pitchFamily="18" charset="0"/>
                      </a:rPr>
                      <m:t>∙</m:t>
                    </m:r>
                    <m:sSubSup>
                      <m:sSubSupPr>
                        <m:ctrlPr>
                          <a:rPr lang="en-BE" sz="2400" i="1">
                            <a:latin typeface="Cambria Math" panose="02040503050406030204" pitchFamily="18" charset="0"/>
                          </a:rPr>
                        </m:ctrlPr>
                      </m:sSubSupPr>
                      <m:e>
                        <m:r>
                          <a:rPr lang="en-BE" sz="2400" i="1">
                            <a:latin typeface="Cambria Math" panose="02040503050406030204" pitchFamily="18" charset="0"/>
                          </a:rPr>
                          <m:t>𝑎</m:t>
                        </m:r>
                      </m:e>
                      <m:sub>
                        <m:r>
                          <a:rPr lang="en-BE" sz="2400" i="1">
                            <a:latin typeface="Cambria Math" panose="02040503050406030204" pitchFamily="18" charset="0"/>
                          </a:rPr>
                          <m:t>1</m:t>
                        </m:r>
                      </m:sub>
                      <m:sup>
                        <m:r>
                          <a:rPr lang="en-BE" sz="2400" b="0" i="1" smtClean="0">
                            <a:latin typeface="Cambria Math" panose="02040503050406030204" pitchFamily="18" charset="0"/>
                          </a:rPr>
                          <m:t>0</m:t>
                        </m:r>
                      </m:sup>
                    </m:sSubSup>
                    <m:r>
                      <a:rPr lang="en-BE" sz="2400" b="0" i="1" smtClean="0">
                        <a:latin typeface="Cambria Math" panose="02040503050406030204" pitchFamily="18" charset="0"/>
                      </a:rPr>
                      <m:t>+ …+</m:t>
                    </m:r>
                    <m:sSub>
                      <m:sSubPr>
                        <m:ctrlPr>
                          <a:rPr lang="en-BE" sz="2400" i="1">
                            <a:solidFill>
                              <a:schemeClr val="accent1"/>
                            </a:solidFill>
                            <a:latin typeface="Cambria Math" panose="02040503050406030204" pitchFamily="18" charset="0"/>
                          </a:rPr>
                        </m:ctrlPr>
                      </m:sSubPr>
                      <m:e>
                        <m:r>
                          <a:rPr lang="en-BE" sz="2400" i="1">
                            <a:solidFill>
                              <a:schemeClr val="accent1"/>
                            </a:solidFill>
                            <a:latin typeface="Cambria Math" panose="02040503050406030204" pitchFamily="18" charset="0"/>
                          </a:rPr>
                          <m:t>𝑤</m:t>
                        </m:r>
                      </m:e>
                      <m:sub>
                        <m:r>
                          <a:rPr lang="en-BE" sz="2400" b="0" i="1" smtClean="0">
                            <a:solidFill>
                              <a:schemeClr val="accent1"/>
                            </a:solidFill>
                            <a:latin typeface="Cambria Math" panose="02040503050406030204" pitchFamily="18" charset="0"/>
                          </a:rPr>
                          <m:t>𝑘</m:t>
                        </m:r>
                        <m:r>
                          <a:rPr lang="en-BE" sz="2400" i="1">
                            <a:solidFill>
                              <a:schemeClr val="accent1"/>
                            </a:solidFill>
                            <a:latin typeface="Cambria Math" panose="02040503050406030204" pitchFamily="18" charset="0"/>
                          </a:rPr>
                          <m:t>,</m:t>
                        </m:r>
                        <m:r>
                          <a:rPr lang="en-BE" sz="2400" b="0" i="1" smtClean="0">
                            <a:solidFill>
                              <a:schemeClr val="accent1"/>
                            </a:solidFill>
                            <a:latin typeface="Cambria Math" panose="02040503050406030204" pitchFamily="18" charset="0"/>
                          </a:rPr>
                          <m:t>𝑛</m:t>
                        </m:r>
                      </m:sub>
                    </m:sSub>
                    <m:r>
                      <a:rPr lang="en-BE" sz="2400" i="1">
                        <a:latin typeface="Cambria Math" panose="02040503050406030204" pitchFamily="18" charset="0"/>
                        <a:ea typeface="Cambria Math" panose="02040503050406030204" pitchFamily="18" charset="0"/>
                      </a:rPr>
                      <m:t>∙</m:t>
                    </m:r>
                    <m:sSubSup>
                      <m:sSubSupPr>
                        <m:ctrlPr>
                          <a:rPr lang="en-BE" sz="2400" i="1">
                            <a:latin typeface="Cambria Math" panose="02040503050406030204" pitchFamily="18" charset="0"/>
                          </a:rPr>
                        </m:ctrlPr>
                      </m:sSubSupPr>
                      <m:e>
                        <m:r>
                          <a:rPr lang="en-BE" sz="2400" i="1">
                            <a:latin typeface="Cambria Math" panose="02040503050406030204" pitchFamily="18" charset="0"/>
                          </a:rPr>
                          <m:t>𝑎</m:t>
                        </m:r>
                      </m:e>
                      <m:sub>
                        <m:r>
                          <a:rPr lang="en-BE" sz="2400" b="0" i="1" smtClean="0">
                            <a:latin typeface="Cambria Math" panose="02040503050406030204" pitchFamily="18" charset="0"/>
                          </a:rPr>
                          <m:t>𝑛</m:t>
                        </m:r>
                      </m:sub>
                      <m:sup>
                        <m:r>
                          <a:rPr lang="en-BE" sz="2400" b="0" i="1" smtClean="0">
                            <a:latin typeface="Cambria Math" panose="02040503050406030204" pitchFamily="18" charset="0"/>
                          </a:rPr>
                          <m:t>0</m:t>
                        </m:r>
                      </m:sup>
                    </m:sSubSup>
                    <m:r>
                      <a:rPr lang="en-BE" sz="2400" b="0" i="1" smtClean="0">
                        <a:latin typeface="Cambria Math" panose="02040503050406030204" pitchFamily="18" charset="0"/>
                      </a:rPr>
                      <m:t>+</m:t>
                    </m:r>
                    <m:sSub>
                      <m:sSubPr>
                        <m:ctrlPr>
                          <a:rPr lang="en-BE" sz="2400" i="1">
                            <a:solidFill>
                              <a:schemeClr val="accent6"/>
                            </a:solidFill>
                            <a:latin typeface="Cambria Math" panose="02040503050406030204" pitchFamily="18" charset="0"/>
                          </a:rPr>
                        </m:ctrlPr>
                      </m:sSubPr>
                      <m:e>
                        <m:r>
                          <a:rPr lang="en-BE" sz="2400" i="1">
                            <a:solidFill>
                              <a:schemeClr val="accent6"/>
                            </a:solidFill>
                            <a:latin typeface="Cambria Math" panose="02040503050406030204" pitchFamily="18" charset="0"/>
                          </a:rPr>
                          <m:t>𝑏</m:t>
                        </m:r>
                      </m:e>
                      <m:sub>
                        <m:r>
                          <a:rPr lang="en-BE" sz="2400" b="0" i="1" smtClean="0">
                            <a:solidFill>
                              <a:schemeClr val="accent6"/>
                            </a:solidFill>
                            <a:latin typeface="Cambria Math" panose="02040503050406030204" pitchFamily="18" charset="0"/>
                          </a:rPr>
                          <m:t>𝑛</m:t>
                        </m:r>
                      </m:sub>
                    </m:sSub>
                    <m:r>
                      <a:rPr lang="en-BE" sz="2400" b="0" i="1" smtClean="0">
                        <a:latin typeface="Cambria Math" panose="02040503050406030204" pitchFamily="18" charset="0"/>
                        <a:ea typeface="Cambria Math" panose="02040503050406030204" pitchFamily="18" charset="0"/>
                      </a:rPr>
                      <m:t>)</m:t>
                    </m:r>
                  </m:oMath>
                </a14:m>
                <a:r>
                  <a:rPr lang="en-BE" sz="2400"/>
                  <a:t> </a:t>
                </a:r>
              </a:p>
            </p:txBody>
          </p:sp>
        </mc:Choice>
        <mc:Fallback xmlns="">
          <p:sp>
            <p:nvSpPr>
              <p:cNvPr id="9" name="TextBox 8">
                <a:extLst>
                  <a:ext uri="{FF2B5EF4-FFF2-40B4-BE49-F238E27FC236}">
                    <a16:creationId xmlns:a16="http://schemas.microsoft.com/office/drawing/2014/main" id="{A5CA3D4A-5D8F-FA30-283F-40C8A2F41775}"/>
                  </a:ext>
                </a:extLst>
              </p:cNvPr>
              <p:cNvSpPr txBox="1">
                <a:spLocks noRot="1" noChangeAspect="1" noMove="1" noResize="1" noEditPoints="1" noAdjustHandles="1" noChangeArrowheads="1" noChangeShapeType="1" noTextEdit="1"/>
              </p:cNvSpPr>
              <p:nvPr/>
            </p:nvSpPr>
            <p:spPr>
              <a:xfrm>
                <a:off x="4491418" y="3664623"/>
                <a:ext cx="7255064" cy="399918"/>
              </a:xfrm>
              <a:prstGeom prst="rect">
                <a:avLst/>
              </a:prstGeom>
              <a:blipFill>
                <a:blip r:embed="rId13"/>
                <a:stretch>
                  <a:fillRect t="-18182" b="-424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B62AB63-EF10-F1DC-89B0-2BFBBA60E105}"/>
                  </a:ext>
                </a:extLst>
              </p:cNvPr>
              <p:cNvSpPr txBox="1"/>
              <p:nvPr/>
            </p:nvSpPr>
            <p:spPr>
              <a:xfrm>
                <a:off x="4482352" y="2825301"/>
                <a:ext cx="7255064" cy="373564"/>
              </a:xfrm>
              <a:prstGeom prst="rect">
                <a:avLst/>
              </a:prstGeom>
              <a:noFill/>
            </p:spPr>
            <p:txBody>
              <a:bodyPr wrap="square" lIns="0" tIns="0" rIns="0" bIns="0" rtlCol="0">
                <a:spAutoFit/>
              </a:bodyPr>
              <a:lstStyle/>
              <a:p>
                <a:pPr algn="ctr"/>
                <a14:m>
                  <m:oMathPara xmlns:m="http://schemas.openxmlformats.org/officeDocument/2006/math">
                    <m:oMath>
                      <m:r>
                        <a:rPr lang="en-GB" sz="2400" b="0" i="1" smtClean="0">
                          <a:latin typeface="Cambria Math" panose="02040503050406030204" pitchFamily="18" charset="0"/>
                        </a:rPr>
                        <m:t>…</m:t>
                      </m:r>
                    </m:oMath>
                  </m:oMathPara>
                </a14:m>
                <a:endParaRPr lang="en-GB" sz="2400" b="0"/>
              </a:p>
            </p:txBody>
          </p:sp>
        </mc:Choice>
        <mc:Fallback xmlns="">
          <p:sp>
            <p:nvSpPr>
              <p:cNvPr id="10" name="TextBox 9">
                <a:extLst>
                  <a:ext uri="{FF2B5EF4-FFF2-40B4-BE49-F238E27FC236}">
                    <a16:creationId xmlns:a16="http://schemas.microsoft.com/office/drawing/2014/main" id="{5B62AB63-EF10-F1DC-89B0-2BFBBA60E105}"/>
                  </a:ext>
                </a:extLst>
              </p:cNvPr>
              <p:cNvSpPr txBox="1">
                <a:spLocks noRot="1" noChangeAspect="1" noMove="1" noResize="1" noEditPoints="1" noAdjustHandles="1" noChangeArrowheads="1" noChangeShapeType="1" noTextEdit="1"/>
              </p:cNvSpPr>
              <p:nvPr/>
            </p:nvSpPr>
            <p:spPr>
              <a:xfrm>
                <a:off x="4482352" y="2825301"/>
                <a:ext cx="7255064" cy="373564"/>
              </a:xfrm>
              <a:prstGeom prst="rect">
                <a:avLst/>
              </a:prstGeom>
              <a:blipFill>
                <a:blip r:embed="rId14"/>
                <a:stretch>
                  <a:fillRect t="-24194" b="-46774"/>
                </a:stretch>
              </a:blipFill>
            </p:spPr>
            <p:txBody>
              <a:bodyPr/>
              <a:lstStyle/>
              <a:p>
                <a:r>
                  <a:rPr lang="en-US">
                    <a:noFill/>
                  </a:rPr>
                  <a:t> </a:t>
                </a:r>
              </a:p>
            </p:txBody>
          </p:sp>
        </mc:Fallback>
      </mc:AlternateContent>
      <p:sp>
        <p:nvSpPr>
          <p:cNvPr id="14" name="Title 1">
            <a:extLst>
              <a:ext uri="{FF2B5EF4-FFF2-40B4-BE49-F238E27FC236}">
                <a16:creationId xmlns:a16="http://schemas.microsoft.com/office/drawing/2014/main" id="{3DD2AE91-19A2-6C6B-2A9C-8759FF3146C7}"/>
              </a:ext>
            </a:extLst>
          </p:cNvPr>
          <p:cNvSpPr>
            <a:spLocks noGrp="1"/>
          </p:cNvSpPr>
          <p:nvPr>
            <p:ph type="title"/>
          </p:nvPr>
        </p:nvSpPr>
        <p:spPr>
          <a:xfrm>
            <a:off x="433388" y="365125"/>
            <a:ext cx="11325225" cy="446084"/>
          </a:xfrm>
        </p:spPr>
        <p:txBody>
          <a:bodyPr/>
          <a:lstStyle/>
          <a:p>
            <a:r>
              <a:rPr lang="en-US" sz="3200">
                <a:ea typeface="Lato" panose="020B0604020202020204" pitchFamily="34" charset="0"/>
                <a:cs typeface="Helvetica" panose="020B0604020202020204" pitchFamily="34" charset="0"/>
              </a:rPr>
              <a:t>A neural network layer can be represented as a matrix</a:t>
            </a:r>
            <a:endParaRPr lang="en-BE"/>
          </a:p>
        </p:txBody>
      </p:sp>
      <p:sp>
        <p:nvSpPr>
          <p:cNvPr id="15" name="Slide Number Placeholder 14">
            <a:extLst>
              <a:ext uri="{FF2B5EF4-FFF2-40B4-BE49-F238E27FC236}">
                <a16:creationId xmlns:a16="http://schemas.microsoft.com/office/drawing/2014/main" id="{FB7A6495-A9D0-C3D5-FCB9-C3F0F098AD48}"/>
              </a:ext>
            </a:extLst>
          </p:cNvPr>
          <p:cNvSpPr>
            <a:spLocks noGrp="1"/>
          </p:cNvSpPr>
          <p:nvPr>
            <p:ph type="sldNum" sz="quarter" idx="12"/>
          </p:nvPr>
        </p:nvSpPr>
        <p:spPr/>
        <p:txBody>
          <a:bodyPr/>
          <a:lstStyle/>
          <a:p>
            <a:fld id="{94B3E216-A3C5-4E41-AE94-D003E76F1D3A}" type="slidenum">
              <a:rPr lang="en-BE" smtClean="0"/>
              <a:t>26</a:t>
            </a:fld>
            <a:endParaRPr lang="en-BE"/>
          </a:p>
        </p:txBody>
      </p:sp>
      <p:cxnSp>
        <p:nvCxnSpPr>
          <p:cNvPr id="11" name="Straight Arrow Connector 10">
            <a:extLst>
              <a:ext uri="{FF2B5EF4-FFF2-40B4-BE49-F238E27FC236}">
                <a16:creationId xmlns:a16="http://schemas.microsoft.com/office/drawing/2014/main" id="{924E90E8-B816-9037-A09E-D7A0C5D58D90}"/>
              </a:ext>
            </a:extLst>
          </p:cNvPr>
          <p:cNvCxnSpPr>
            <a:cxnSpLocks/>
            <a:endCxn id="80" idx="2"/>
          </p:cNvCxnSpPr>
          <p:nvPr/>
        </p:nvCxnSpPr>
        <p:spPr>
          <a:xfrm flipV="1">
            <a:off x="1093097" y="1305210"/>
            <a:ext cx="2022282" cy="2559372"/>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9EF56499-29C2-BF34-A451-464701E54C31}"/>
              </a:ext>
            </a:extLst>
          </p:cNvPr>
          <p:cNvCxnSpPr>
            <a:cxnSpLocks/>
            <a:stCxn id="75" idx="3"/>
            <a:endCxn id="80" idx="2"/>
          </p:cNvCxnSpPr>
          <p:nvPr/>
        </p:nvCxnSpPr>
        <p:spPr>
          <a:xfrm flipV="1">
            <a:off x="1108634" y="1305210"/>
            <a:ext cx="2006745" cy="1702882"/>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57097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2F449-DE01-424E-99CD-C331529DF9E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21BF593-8EDA-FA9E-3D10-CCE7F5C4F734}"/>
              </a:ext>
            </a:extLst>
          </p:cNvPr>
          <p:cNvSpPr txBox="1"/>
          <p:nvPr/>
        </p:nvSpPr>
        <p:spPr>
          <a:xfrm>
            <a:off x="241301" y="129804"/>
            <a:ext cx="11747500" cy="523220"/>
          </a:xfrm>
          <a:prstGeom prst="rect">
            <a:avLst/>
          </a:prstGeom>
          <a:noFill/>
        </p:spPr>
        <p:txBody>
          <a:bodyPr wrap="square" rtlCol="0">
            <a:spAutoFit/>
          </a:bodyPr>
          <a:lstStyle/>
          <a:p>
            <a:r>
              <a:rPr lang="en-BE" sz="2800">
                <a:solidFill>
                  <a:schemeClr val="bg1"/>
                </a:solidFill>
                <a:ea typeface="Lato" panose="020B0604020202020204" pitchFamily="34" charset="0"/>
                <a:cs typeface="Helvetica" panose="020B0604020202020204" pitchFamily="34" charset="0"/>
              </a:rPr>
              <a:t>matrix representation of weights, biases, and activations</a:t>
            </a:r>
            <a:endParaRPr lang="en-GB" sz="2800">
              <a:solidFill>
                <a:schemeClr val="bg1"/>
              </a:solidFill>
              <a:ea typeface="Lato" panose="020B0604020202020204" pitchFamily="34" charset="0"/>
              <a:cs typeface="Helvetica" panose="020B0604020202020204" pitchFamily="34" charset="0"/>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24EDD51-B66E-6642-FC6B-F584AF2CC3C1}"/>
                  </a:ext>
                </a:extLst>
              </p:cNvPr>
              <p:cNvSpPr txBox="1"/>
              <p:nvPr/>
            </p:nvSpPr>
            <p:spPr>
              <a:xfrm>
                <a:off x="4491417" y="4788892"/>
                <a:ext cx="7245995" cy="1753429"/>
              </a:xfrm>
              <a:prstGeom prst="rect">
                <a:avLst/>
              </a:prstGeom>
              <a:noFill/>
            </p:spPr>
            <p:txBody>
              <a:bodyPr wrap="square" lIns="0" tIns="0" rIns="0" bIns="0" rtlCol="0">
                <a:spAutoFit/>
              </a:bodyPr>
              <a:lstStyle/>
              <a:p>
                <a:pPr/>
                <a14:m>
                  <m:oMathPara xmlns:m="http://schemas.openxmlformats.org/officeDocument/2006/math">
                    <m:oMath>
                      <m:d>
                        <m:dPr>
                          <m:begChr m:val="["/>
                          <m:endChr m:val="]"/>
                          <m:ctrlPr>
                            <a:rPr lang="en-BE" sz="2400" i="1">
                              <a:solidFill>
                                <a:schemeClr val="accent2"/>
                              </a:solidFill>
                              <a:latin typeface="Cambria Math" panose="02040503050406030204" pitchFamily="18" charset="0"/>
                            </a:rPr>
                          </m:ctrlPr>
                        </m:dPr>
                        <m:e>
                          <m:m>
                            <m:mPr>
                              <m:mcs>
                                <m:mc>
                                  <m:mcPr>
                                    <m:count m:val="1"/>
                                    <m:mcJc m:val="center"/>
                                  </m:mcPr>
                                </m:mc>
                              </m:mcs>
                              <m:ctrlPr>
                                <a:rPr lang="en-BE" sz="2400" i="1">
                                  <a:solidFill>
                                    <a:schemeClr val="accent2"/>
                                  </a:solidFill>
                                  <a:latin typeface="Cambria Math" panose="02040503050406030204" pitchFamily="18" charset="0"/>
                                </a:rPr>
                              </m:ctrlPr>
                            </m:mPr>
                            <m:mr>
                              <m:e>
                                <m:sSubSup>
                                  <m:sSubSupPr>
                                    <m:ctrlPr>
                                      <a:rPr lang="en-BE" sz="2400" i="1">
                                        <a:solidFill>
                                          <a:schemeClr val="accent2"/>
                                        </a:solidFill>
                                        <a:latin typeface="Cambria Math" panose="02040503050406030204" pitchFamily="18" charset="0"/>
                                      </a:rPr>
                                    </m:ctrlPr>
                                  </m:sSubSupPr>
                                  <m:e>
                                    <m:r>
                                      <a:rPr lang="en-BE" sz="2400" i="1">
                                        <a:solidFill>
                                          <a:schemeClr val="accent2"/>
                                        </a:solidFill>
                                        <a:latin typeface="Cambria Math" panose="02040503050406030204" pitchFamily="18" charset="0"/>
                                      </a:rPr>
                                      <m:t>𝑎</m:t>
                                    </m:r>
                                  </m:e>
                                  <m:sub>
                                    <m:r>
                                      <a:rPr lang="en-BE" sz="2400" i="1">
                                        <a:solidFill>
                                          <a:schemeClr val="accent2"/>
                                        </a:solidFill>
                                        <a:latin typeface="Cambria Math" panose="02040503050406030204" pitchFamily="18" charset="0"/>
                                      </a:rPr>
                                      <m:t>0</m:t>
                                    </m:r>
                                  </m:sub>
                                  <m:sup>
                                    <m:r>
                                      <a:rPr lang="en-BE" sz="2400" i="1" smtClean="0">
                                        <a:solidFill>
                                          <a:schemeClr val="accent2"/>
                                        </a:solidFill>
                                        <a:latin typeface="Cambria Math" panose="02040503050406030204" pitchFamily="18" charset="0"/>
                                      </a:rPr>
                                      <m:t>1</m:t>
                                    </m:r>
                                  </m:sup>
                                </m:sSubSup>
                              </m:e>
                            </m:mr>
                            <m:mr>
                              <m:e>
                                <m:sSubSup>
                                  <m:sSubSupPr>
                                    <m:ctrlPr>
                                      <a:rPr lang="en-BE" sz="2400" i="1">
                                        <a:solidFill>
                                          <a:schemeClr val="accent2"/>
                                        </a:solidFill>
                                        <a:latin typeface="Cambria Math" panose="02040503050406030204" pitchFamily="18" charset="0"/>
                                      </a:rPr>
                                    </m:ctrlPr>
                                  </m:sSubSupPr>
                                  <m:e>
                                    <m:r>
                                      <a:rPr lang="en-BE" sz="2400" i="1">
                                        <a:solidFill>
                                          <a:schemeClr val="accent2"/>
                                        </a:solidFill>
                                        <a:latin typeface="Cambria Math" panose="02040503050406030204" pitchFamily="18" charset="0"/>
                                      </a:rPr>
                                      <m:t>𝑎</m:t>
                                    </m:r>
                                  </m:e>
                                  <m:sub>
                                    <m:r>
                                      <a:rPr lang="en-BE" sz="2400" i="1">
                                        <a:solidFill>
                                          <a:schemeClr val="accent2"/>
                                        </a:solidFill>
                                        <a:latin typeface="Cambria Math" panose="02040503050406030204" pitchFamily="18" charset="0"/>
                                      </a:rPr>
                                      <m:t>1</m:t>
                                    </m:r>
                                  </m:sub>
                                  <m:sup>
                                    <m:r>
                                      <a:rPr lang="en-BE" sz="2400" i="1" smtClean="0">
                                        <a:solidFill>
                                          <a:schemeClr val="accent2"/>
                                        </a:solidFill>
                                        <a:latin typeface="Cambria Math" panose="02040503050406030204" pitchFamily="18" charset="0"/>
                                      </a:rPr>
                                      <m:t>1</m:t>
                                    </m:r>
                                  </m:sup>
                                </m:sSubSup>
                              </m:e>
                            </m:mr>
                            <m:mr>
                              <m:e>
                                <m:r>
                                  <a:rPr lang="en-BE" sz="2400" i="1">
                                    <a:solidFill>
                                      <a:schemeClr val="accent2"/>
                                    </a:solidFill>
                                    <a:latin typeface="Cambria Math" panose="02040503050406030204" pitchFamily="18" charset="0"/>
                                  </a:rPr>
                                  <m:t>⋮</m:t>
                                </m:r>
                              </m:e>
                            </m:mr>
                            <m:mr>
                              <m:e>
                                <m:sSubSup>
                                  <m:sSubSupPr>
                                    <m:ctrlPr>
                                      <a:rPr lang="en-BE" sz="2400" i="1">
                                        <a:solidFill>
                                          <a:schemeClr val="accent2"/>
                                        </a:solidFill>
                                        <a:latin typeface="Cambria Math" panose="02040503050406030204" pitchFamily="18" charset="0"/>
                                      </a:rPr>
                                    </m:ctrlPr>
                                  </m:sSubSupPr>
                                  <m:e>
                                    <m:r>
                                      <a:rPr lang="en-BE" sz="2400" i="1">
                                        <a:solidFill>
                                          <a:schemeClr val="accent2"/>
                                        </a:solidFill>
                                        <a:latin typeface="Cambria Math" panose="02040503050406030204" pitchFamily="18" charset="0"/>
                                      </a:rPr>
                                      <m:t>𝑎</m:t>
                                    </m:r>
                                  </m:e>
                                  <m:sub>
                                    <m:r>
                                      <a:rPr lang="en-BE" sz="2400" i="1">
                                        <a:solidFill>
                                          <a:schemeClr val="accent2"/>
                                        </a:solidFill>
                                        <a:latin typeface="Cambria Math" panose="02040503050406030204" pitchFamily="18" charset="0"/>
                                      </a:rPr>
                                      <m:t>𝑛</m:t>
                                    </m:r>
                                  </m:sub>
                                  <m:sup>
                                    <m:r>
                                      <a:rPr lang="en-BE" sz="2400" b="0" i="1" smtClean="0">
                                        <a:solidFill>
                                          <a:schemeClr val="accent2"/>
                                        </a:solidFill>
                                        <a:latin typeface="Cambria Math" panose="02040503050406030204" pitchFamily="18" charset="0"/>
                                      </a:rPr>
                                      <m:t>1</m:t>
                                    </m:r>
                                  </m:sup>
                                </m:sSubSup>
                              </m:e>
                            </m:mr>
                          </m:m>
                        </m:e>
                      </m:d>
                      <m:r>
                        <a:rPr lang="en-BE" sz="2400" b="0" i="1" smtClean="0">
                          <a:latin typeface="Cambria Math" panose="02040503050406030204" pitchFamily="18" charset="0"/>
                        </a:rPr>
                        <m:t>=</m:t>
                      </m:r>
                      <m:r>
                        <a:rPr lang="en-BE" sz="2400" i="1">
                          <a:latin typeface="Cambria Math" panose="02040503050406030204" pitchFamily="18" charset="0"/>
                          <a:ea typeface="Cambria Math" panose="02040503050406030204" pitchFamily="18" charset="0"/>
                        </a:rPr>
                        <m:t>𝜎</m:t>
                      </m:r>
                      <m:d>
                        <m:dPr>
                          <m:ctrlPr>
                            <a:rPr lang="en-BE" sz="2400" i="1">
                              <a:solidFill>
                                <a:schemeClr val="accent1"/>
                              </a:solidFill>
                              <a:latin typeface="Cambria Math" panose="02040503050406030204" pitchFamily="18" charset="0"/>
                            </a:rPr>
                          </m:ctrlPr>
                        </m:dPr>
                        <m:e>
                          <m:d>
                            <m:dPr>
                              <m:begChr m:val="["/>
                              <m:endChr m:val="]"/>
                              <m:ctrlPr>
                                <a:rPr lang="en-BE" sz="2400" i="1">
                                  <a:solidFill>
                                    <a:schemeClr val="accent1"/>
                                  </a:solidFill>
                                  <a:latin typeface="Cambria Math" panose="02040503050406030204" pitchFamily="18" charset="0"/>
                                </a:rPr>
                              </m:ctrlPr>
                            </m:dPr>
                            <m:e>
                              <m:m>
                                <m:mPr>
                                  <m:mcs>
                                    <m:mc>
                                      <m:mcPr>
                                        <m:count m:val="4"/>
                                        <m:mcJc m:val="center"/>
                                      </m:mcPr>
                                    </m:mc>
                                  </m:mcs>
                                  <m:ctrlPr>
                                    <a:rPr lang="en-BE" sz="2400" i="1">
                                      <a:solidFill>
                                        <a:schemeClr val="accent1"/>
                                      </a:solidFill>
                                      <a:latin typeface="Cambria Math" panose="02040503050406030204" pitchFamily="18" charset="0"/>
                                    </a:rPr>
                                  </m:ctrlPr>
                                </m:mPr>
                                <m:mr>
                                  <m:e>
                                    <m:sSub>
                                      <m:sSubPr>
                                        <m:ctrlPr>
                                          <a:rPr lang="en-BE" sz="2400" i="1">
                                            <a:solidFill>
                                              <a:schemeClr val="accent1"/>
                                            </a:solidFill>
                                            <a:latin typeface="Cambria Math" panose="02040503050406030204" pitchFamily="18" charset="0"/>
                                          </a:rPr>
                                        </m:ctrlPr>
                                      </m:sSubPr>
                                      <m:e>
                                        <m:r>
                                          <a:rPr lang="en-BE" sz="2400" i="1">
                                            <a:solidFill>
                                              <a:schemeClr val="accent1"/>
                                            </a:solidFill>
                                            <a:latin typeface="Cambria Math" panose="02040503050406030204" pitchFamily="18" charset="0"/>
                                          </a:rPr>
                                          <m:t>𝑤</m:t>
                                        </m:r>
                                      </m:e>
                                      <m:sub>
                                        <m:r>
                                          <a:rPr lang="en-BE" sz="2400" i="1">
                                            <a:solidFill>
                                              <a:schemeClr val="accent1"/>
                                            </a:solidFill>
                                            <a:latin typeface="Cambria Math" panose="02040503050406030204" pitchFamily="18" charset="0"/>
                                          </a:rPr>
                                          <m:t>0,0</m:t>
                                        </m:r>
                                      </m:sub>
                                    </m:sSub>
                                  </m:e>
                                  <m:e>
                                    <m:sSub>
                                      <m:sSubPr>
                                        <m:ctrlPr>
                                          <a:rPr lang="en-BE" sz="2400" i="1">
                                            <a:solidFill>
                                              <a:schemeClr val="accent1"/>
                                            </a:solidFill>
                                            <a:latin typeface="Cambria Math" panose="02040503050406030204" pitchFamily="18" charset="0"/>
                                          </a:rPr>
                                        </m:ctrlPr>
                                      </m:sSubPr>
                                      <m:e>
                                        <m:r>
                                          <a:rPr lang="en-BE" sz="2400" i="1">
                                            <a:solidFill>
                                              <a:schemeClr val="accent1"/>
                                            </a:solidFill>
                                            <a:latin typeface="Cambria Math" panose="02040503050406030204" pitchFamily="18" charset="0"/>
                                          </a:rPr>
                                          <m:t>𝑤</m:t>
                                        </m:r>
                                      </m:e>
                                      <m:sub>
                                        <m:r>
                                          <a:rPr lang="en-BE" sz="2400" i="1">
                                            <a:solidFill>
                                              <a:schemeClr val="accent1"/>
                                            </a:solidFill>
                                            <a:latin typeface="Cambria Math" panose="02040503050406030204" pitchFamily="18" charset="0"/>
                                          </a:rPr>
                                          <m:t>0,1</m:t>
                                        </m:r>
                                      </m:sub>
                                    </m:sSub>
                                  </m:e>
                                  <m:e>
                                    <m:r>
                                      <a:rPr lang="en-BE" sz="2400" i="1">
                                        <a:solidFill>
                                          <a:schemeClr val="accent1"/>
                                        </a:solidFill>
                                        <a:latin typeface="Cambria Math" panose="02040503050406030204" pitchFamily="18" charset="0"/>
                                      </a:rPr>
                                      <m:t>⋯</m:t>
                                    </m:r>
                                  </m:e>
                                  <m:e>
                                    <m:sSub>
                                      <m:sSubPr>
                                        <m:ctrlPr>
                                          <a:rPr lang="en-BE" sz="2400" i="1">
                                            <a:solidFill>
                                              <a:schemeClr val="accent1"/>
                                            </a:solidFill>
                                            <a:latin typeface="Cambria Math" panose="02040503050406030204" pitchFamily="18" charset="0"/>
                                          </a:rPr>
                                        </m:ctrlPr>
                                      </m:sSubPr>
                                      <m:e>
                                        <m:r>
                                          <a:rPr lang="en-BE" sz="2400" i="1">
                                            <a:solidFill>
                                              <a:schemeClr val="accent1"/>
                                            </a:solidFill>
                                            <a:latin typeface="Cambria Math" panose="02040503050406030204" pitchFamily="18" charset="0"/>
                                          </a:rPr>
                                          <m:t>𝑤</m:t>
                                        </m:r>
                                      </m:e>
                                      <m:sub>
                                        <m:r>
                                          <a:rPr lang="en-BE" sz="2400" i="1">
                                            <a:solidFill>
                                              <a:schemeClr val="accent1"/>
                                            </a:solidFill>
                                            <a:latin typeface="Cambria Math" panose="02040503050406030204" pitchFamily="18" charset="0"/>
                                          </a:rPr>
                                          <m:t>0,</m:t>
                                        </m:r>
                                        <m:r>
                                          <a:rPr lang="en-BE" sz="2400" i="1">
                                            <a:solidFill>
                                              <a:schemeClr val="accent1"/>
                                            </a:solidFill>
                                            <a:latin typeface="Cambria Math" panose="02040503050406030204" pitchFamily="18" charset="0"/>
                                          </a:rPr>
                                          <m:t>𝑛</m:t>
                                        </m:r>
                                      </m:sub>
                                    </m:sSub>
                                  </m:e>
                                </m:mr>
                                <m:mr>
                                  <m:e>
                                    <m:sSub>
                                      <m:sSubPr>
                                        <m:ctrlPr>
                                          <a:rPr lang="en-BE" sz="2400" i="1">
                                            <a:solidFill>
                                              <a:schemeClr val="accent1"/>
                                            </a:solidFill>
                                            <a:latin typeface="Cambria Math" panose="02040503050406030204" pitchFamily="18" charset="0"/>
                                          </a:rPr>
                                        </m:ctrlPr>
                                      </m:sSubPr>
                                      <m:e>
                                        <m:r>
                                          <a:rPr lang="en-BE" sz="2400" i="1">
                                            <a:solidFill>
                                              <a:schemeClr val="accent1"/>
                                            </a:solidFill>
                                            <a:latin typeface="Cambria Math" panose="02040503050406030204" pitchFamily="18" charset="0"/>
                                          </a:rPr>
                                          <m:t>𝑤</m:t>
                                        </m:r>
                                      </m:e>
                                      <m:sub>
                                        <m:r>
                                          <a:rPr lang="en-BE" sz="2400" i="1">
                                            <a:solidFill>
                                              <a:schemeClr val="accent1"/>
                                            </a:solidFill>
                                            <a:latin typeface="Cambria Math" panose="02040503050406030204" pitchFamily="18" charset="0"/>
                                          </a:rPr>
                                          <m:t>1,0</m:t>
                                        </m:r>
                                      </m:sub>
                                    </m:sSub>
                                  </m:e>
                                  <m:e>
                                    <m:sSub>
                                      <m:sSubPr>
                                        <m:ctrlPr>
                                          <a:rPr lang="en-BE" sz="2400" i="1">
                                            <a:solidFill>
                                              <a:schemeClr val="accent1"/>
                                            </a:solidFill>
                                            <a:latin typeface="Cambria Math" panose="02040503050406030204" pitchFamily="18" charset="0"/>
                                          </a:rPr>
                                        </m:ctrlPr>
                                      </m:sSubPr>
                                      <m:e>
                                        <m:r>
                                          <a:rPr lang="en-BE" sz="2400" i="1">
                                            <a:solidFill>
                                              <a:schemeClr val="accent1"/>
                                            </a:solidFill>
                                            <a:latin typeface="Cambria Math" panose="02040503050406030204" pitchFamily="18" charset="0"/>
                                          </a:rPr>
                                          <m:t>𝑤</m:t>
                                        </m:r>
                                      </m:e>
                                      <m:sub>
                                        <m:r>
                                          <a:rPr lang="en-BE" sz="2400" i="1">
                                            <a:solidFill>
                                              <a:schemeClr val="accent1"/>
                                            </a:solidFill>
                                            <a:latin typeface="Cambria Math" panose="02040503050406030204" pitchFamily="18" charset="0"/>
                                          </a:rPr>
                                          <m:t>1,1</m:t>
                                        </m:r>
                                      </m:sub>
                                    </m:sSub>
                                  </m:e>
                                  <m:e>
                                    <m:r>
                                      <a:rPr lang="en-BE" sz="2400" i="1">
                                        <a:solidFill>
                                          <a:schemeClr val="accent1"/>
                                        </a:solidFill>
                                        <a:latin typeface="Cambria Math" panose="02040503050406030204" pitchFamily="18" charset="0"/>
                                      </a:rPr>
                                      <m:t>⋯</m:t>
                                    </m:r>
                                  </m:e>
                                  <m:e>
                                    <m:sSub>
                                      <m:sSubPr>
                                        <m:ctrlPr>
                                          <a:rPr lang="en-BE" sz="2400" i="1">
                                            <a:solidFill>
                                              <a:schemeClr val="accent1"/>
                                            </a:solidFill>
                                            <a:latin typeface="Cambria Math" panose="02040503050406030204" pitchFamily="18" charset="0"/>
                                          </a:rPr>
                                        </m:ctrlPr>
                                      </m:sSubPr>
                                      <m:e>
                                        <m:r>
                                          <a:rPr lang="en-BE" sz="2400" i="1">
                                            <a:solidFill>
                                              <a:schemeClr val="accent1"/>
                                            </a:solidFill>
                                            <a:latin typeface="Cambria Math" panose="02040503050406030204" pitchFamily="18" charset="0"/>
                                          </a:rPr>
                                          <m:t>𝑤</m:t>
                                        </m:r>
                                      </m:e>
                                      <m:sub>
                                        <m:r>
                                          <a:rPr lang="en-BE" sz="2400" i="1">
                                            <a:solidFill>
                                              <a:schemeClr val="accent1"/>
                                            </a:solidFill>
                                            <a:latin typeface="Cambria Math" panose="02040503050406030204" pitchFamily="18" charset="0"/>
                                          </a:rPr>
                                          <m:t>1,</m:t>
                                        </m:r>
                                        <m:r>
                                          <a:rPr lang="en-BE" sz="2400" i="1">
                                            <a:solidFill>
                                              <a:schemeClr val="accent1"/>
                                            </a:solidFill>
                                            <a:latin typeface="Cambria Math" panose="02040503050406030204" pitchFamily="18" charset="0"/>
                                          </a:rPr>
                                          <m:t>𝑛</m:t>
                                        </m:r>
                                      </m:sub>
                                    </m:sSub>
                                  </m:e>
                                </m:mr>
                                <m:mr>
                                  <m:e>
                                    <m:r>
                                      <a:rPr lang="en-BE" sz="2400" i="1">
                                        <a:solidFill>
                                          <a:schemeClr val="accent1"/>
                                        </a:solidFill>
                                        <a:latin typeface="Cambria Math" panose="02040503050406030204" pitchFamily="18" charset="0"/>
                                      </a:rPr>
                                      <m:t>⋮</m:t>
                                    </m:r>
                                  </m:e>
                                  <m:e>
                                    <m:r>
                                      <a:rPr lang="en-BE" sz="2400" i="1">
                                        <a:solidFill>
                                          <a:schemeClr val="accent1"/>
                                        </a:solidFill>
                                        <a:latin typeface="Cambria Math" panose="02040503050406030204" pitchFamily="18" charset="0"/>
                                      </a:rPr>
                                      <m:t>⋮</m:t>
                                    </m:r>
                                  </m:e>
                                  <m:e>
                                    <m:r>
                                      <a:rPr lang="en-BE" sz="2400" i="1">
                                        <a:solidFill>
                                          <a:schemeClr val="accent1"/>
                                        </a:solidFill>
                                        <a:latin typeface="Cambria Math" panose="02040503050406030204" pitchFamily="18" charset="0"/>
                                      </a:rPr>
                                      <m:t>⋱</m:t>
                                    </m:r>
                                  </m:e>
                                  <m:e>
                                    <m:r>
                                      <a:rPr lang="en-BE" sz="2400" i="1">
                                        <a:solidFill>
                                          <a:schemeClr val="accent1"/>
                                        </a:solidFill>
                                        <a:latin typeface="Cambria Math" panose="02040503050406030204" pitchFamily="18" charset="0"/>
                                      </a:rPr>
                                      <m:t>⋮</m:t>
                                    </m:r>
                                  </m:e>
                                </m:mr>
                                <m:mr>
                                  <m:e>
                                    <m:sSub>
                                      <m:sSubPr>
                                        <m:ctrlPr>
                                          <a:rPr lang="en-BE" sz="2400" i="1">
                                            <a:solidFill>
                                              <a:schemeClr val="accent1"/>
                                            </a:solidFill>
                                            <a:latin typeface="Cambria Math" panose="02040503050406030204" pitchFamily="18" charset="0"/>
                                          </a:rPr>
                                        </m:ctrlPr>
                                      </m:sSubPr>
                                      <m:e>
                                        <m:r>
                                          <a:rPr lang="en-BE" sz="2400" i="1">
                                            <a:solidFill>
                                              <a:schemeClr val="accent1"/>
                                            </a:solidFill>
                                            <a:latin typeface="Cambria Math" panose="02040503050406030204" pitchFamily="18" charset="0"/>
                                          </a:rPr>
                                          <m:t>𝑤</m:t>
                                        </m:r>
                                      </m:e>
                                      <m:sub>
                                        <m:r>
                                          <a:rPr lang="en-BE" sz="2400" i="1">
                                            <a:solidFill>
                                              <a:schemeClr val="accent1"/>
                                            </a:solidFill>
                                            <a:latin typeface="Cambria Math" panose="02040503050406030204" pitchFamily="18" charset="0"/>
                                          </a:rPr>
                                          <m:t>𝑘</m:t>
                                        </m:r>
                                        <m:r>
                                          <a:rPr lang="en-BE" sz="2400" i="1">
                                            <a:solidFill>
                                              <a:schemeClr val="accent1"/>
                                            </a:solidFill>
                                            <a:latin typeface="Cambria Math" panose="02040503050406030204" pitchFamily="18" charset="0"/>
                                          </a:rPr>
                                          <m:t>,0</m:t>
                                        </m:r>
                                      </m:sub>
                                    </m:sSub>
                                  </m:e>
                                  <m:e>
                                    <m:sSub>
                                      <m:sSubPr>
                                        <m:ctrlPr>
                                          <a:rPr lang="en-BE" sz="2400" i="1">
                                            <a:solidFill>
                                              <a:schemeClr val="accent1"/>
                                            </a:solidFill>
                                            <a:latin typeface="Cambria Math" panose="02040503050406030204" pitchFamily="18" charset="0"/>
                                          </a:rPr>
                                        </m:ctrlPr>
                                      </m:sSubPr>
                                      <m:e>
                                        <m:r>
                                          <a:rPr lang="en-BE" sz="2400" i="1">
                                            <a:solidFill>
                                              <a:schemeClr val="accent1"/>
                                            </a:solidFill>
                                            <a:latin typeface="Cambria Math" panose="02040503050406030204" pitchFamily="18" charset="0"/>
                                          </a:rPr>
                                          <m:t>𝑤</m:t>
                                        </m:r>
                                      </m:e>
                                      <m:sub>
                                        <m:r>
                                          <a:rPr lang="en-BE" sz="2400" i="1">
                                            <a:solidFill>
                                              <a:schemeClr val="accent1"/>
                                            </a:solidFill>
                                            <a:latin typeface="Cambria Math" panose="02040503050406030204" pitchFamily="18" charset="0"/>
                                          </a:rPr>
                                          <m:t>𝑘</m:t>
                                        </m:r>
                                        <m:r>
                                          <a:rPr lang="en-BE" sz="2400" i="1">
                                            <a:solidFill>
                                              <a:schemeClr val="accent1"/>
                                            </a:solidFill>
                                            <a:latin typeface="Cambria Math" panose="02040503050406030204" pitchFamily="18" charset="0"/>
                                          </a:rPr>
                                          <m:t>,1</m:t>
                                        </m:r>
                                      </m:sub>
                                    </m:sSub>
                                  </m:e>
                                  <m:e>
                                    <m:r>
                                      <a:rPr lang="en-BE" sz="2400" i="1">
                                        <a:solidFill>
                                          <a:schemeClr val="accent1"/>
                                        </a:solidFill>
                                        <a:latin typeface="Cambria Math" panose="02040503050406030204" pitchFamily="18" charset="0"/>
                                      </a:rPr>
                                      <m:t>⋯</m:t>
                                    </m:r>
                                  </m:e>
                                  <m:e>
                                    <m:sSub>
                                      <m:sSubPr>
                                        <m:ctrlPr>
                                          <a:rPr lang="en-BE" sz="2400" i="1">
                                            <a:solidFill>
                                              <a:schemeClr val="accent1"/>
                                            </a:solidFill>
                                            <a:latin typeface="Cambria Math" panose="02040503050406030204" pitchFamily="18" charset="0"/>
                                          </a:rPr>
                                        </m:ctrlPr>
                                      </m:sSubPr>
                                      <m:e>
                                        <m:r>
                                          <a:rPr lang="en-BE" sz="2400" i="1">
                                            <a:solidFill>
                                              <a:schemeClr val="accent1"/>
                                            </a:solidFill>
                                            <a:latin typeface="Cambria Math" panose="02040503050406030204" pitchFamily="18" charset="0"/>
                                          </a:rPr>
                                          <m:t>𝑤</m:t>
                                        </m:r>
                                      </m:e>
                                      <m:sub>
                                        <m:r>
                                          <a:rPr lang="en-BE" sz="2400" i="1">
                                            <a:solidFill>
                                              <a:schemeClr val="accent1"/>
                                            </a:solidFill>
                                            <a:latin typeface="Cambria Math" panose="02040503050406030204" pitchFamily="18" charset="0"/>
                                          </a:rPr>
                                          <m:t>𝑘</m:t>
                                        </m:r>
                                        <m:r>
                                          <a:rPr lang="en-BE" sz="2400" i="1">
                                            <a:solidFill>
                                              <a:schemeClr val="accent1"/>
                                            </a:solidFill>
                                            <a:latin typeface="Cambria Math" panose="02040503050406030204" pitchFamily="18" charset="0"/>
                                          </a:rPr>
                                          <m:t>,</m:t>
                                        </m:r>
                                        <m:r>
                                          <a:rPr lang="en-BE" sz="2400" i="1">
                                            <a:solidFill>
                                              <a:schemeClr val="accent1"/>
                                            </a:solidFill>
                                            <a:latin typeface="Cambria Math" panose="02040503050406030204" pitchFamily="18" charset="0"/>
                                          </a:rPr>
                                          <m:t>𝑛</m:t>
                                        </m:r>
                                      </m:sub>
                                    </m:sSub>
                                  </m:e>
                                </m:mr>
                              </m:m>
                            </m:e>
                          </m:d>
                          <m:d>
                            <m:dPr>
                              <m:begChr m:val="["/>
                              <m:endChr m:val="]"/>
                              <m:ctrlPr>
                                <a:rPr lang="en-BE" sz="2400" i="1">
                                  <a:latin typeface="Cambria Math" panose="02040503050406030204" pitchFamily="18" charset="0"/>
                                </a:rPr>
                              </m:ctrlPr>
                            </m:dPr>
                            <m:e>
                              <m:m>
                                <m:mPr>
                                  <m:mcs>
                                    <m:mc>
                                      <m:mcPr>
                                        <m:count m:val="1"/>
                                        <m:mcJc m:val="center"/>
                                      </m:mcPr>
                                    </m:mc>
                                  </m:mcs>
                                  <m:ctrlPr>
                                    <a:rPr lang="en-BE" sz="2400" i="1">
                                      <a:latin typeface="Cambria Math" panose="02040503050406030204" pitchFamily="18" charset="0"/>
                                    </a:rPr>
                                  </m:ctrlPr>
                                </m:mPr>
                                <m:mr>
                                  <m:e>
                                    <m:sSubSup>
                                      <m:sSubSupPr>
                                        <m:ctrlPr>
                                          <a:rPr lang="en-BE" sz="2400" i="1">
                                            <a:latin typeface="Cambria Math" panose="02040503050406030204" pitchFamily="18" charset="0"/>
                                          </a:rPr>
                                        </m:ctrlPr>
                                      </m:sSubSupPr>
                                      <m:e>
                                        <m:r>
                                          <a:rPr lang="en-BE" sz="2400" i="1">
                                            <a:latin typeface="Cambria Math" panose="02040503050406030204" pitchFamily="18" charset="0"/>
                                          </a:rPr>
                                          <m:t>𝑎</m:t>
                                        </m:r>
                                      </m:e>
                                      <m:sub>
                                        <m:r>
                                          <a:rPr lang="en-BE" sz="2400" i="1">
                                            <a:latin typeface="Cambria Math" panose="02040503050406030204" pitchFamily="18" charset="0"/>
                                          </a:rPr>
                                          <m:t>0</m:t>
                                        </m:r>
                                      </m:sub>
                                      <m:sup>
                                        <m:r>
                                          <a:rPr lang="en-BE" sz="2400" i="1">
                                            <a:latin typeface="Cambria Math" panose="02040503050406030204" pitchFamily="18" charset="0"/>
                                          </a:rPr>
                                          <m:t>0</m:t>
                                        </m:r>
                                      </m:sup>
                                    </m:sSubSup>
                                  </m:e>
                                </m:mr>
                                <m:mr>
                                  <m:e>
                                    <m:sSubSup>
                                      <m:sSubSupPr>
                                        <m:ctrlPr>
                                          <a:rPr lang="en-BE" sz="2400" i="1">
                                            <a:latin typeface="Cambria Math" panose="02040503050406030204" pitchFamily="18" charset="0"/>
                                          </a:rPr>
                                        </m:ctrlPr>
                                      </m:sSubSupPr>
                                      <m:e>
                                        <m:r>
                                          <a:rPr lang="en-BE" sz="2400" i="1">
                                            <a:latin typeface="Cambria Math" panose="02040503050406030204" pitchFamily="18" charset="0"/>
                                          </a:rPr>
                                          <m:t>𝑎</m:t>
                                        </m:r>
                                      </m:e>
                                      <m:sub>
                                        <m:r>
                                          <a:rPr lang="en-BE" sz="2400" i="1">
                                            <a:latin typeface="Cambria Math" panose="02040503050406030204" pitchFamily="18" charset="0"/>
                                          </a:rPr>
                                          <m:t>1</m:t>
                                        </m:r>
                                      </m:sub>
                                      <m:sup>
                                        <m:r>
                                          <a:rPr lang="en-BE" sz="2400" i="1">
                                            <a:latin typeface="Cambria Math" panose="02040503050406030204" pitchFamily="18" charset="0"/>
                                          </a:rPr>
                                          <m:t>0</m:t>
                                        </m:r>
                                      </m:sup>
                                    </m:sSubSup>
                                  </m:e>
                                </m:mr>
                                <m:mr>
                                  <m:e>
                                    <m:r>
                                      <a:rPr lang="en-BE" sz="2400" i="1">
                                        <a:latin typeface="Cambria Math" panose="02040503050406030204" pitchFamily="18" charset="0"/>
                                      </a:rPr>
                                      <m:t>⋮</m:t>
                                    </m:r>
                                  </m:e>
                                </m:mr>
                                <m:mr>
                                  <m:e>
                                    <m:sSubSup>
                                      <m:sSubSupPr>
                                        <m:ctrlPr>
                                          <a:rPr lang="en-BE" sz="2400" i="1">
                                            <a:latin typeface="Cambria Math" panose="02040503050406030204" pitchFamily="18" charset="0"/>
                                          </a:rPr>
                                        </m:ctrlPr>
                                      </m:sSubSupPr>
                                      <m:e>
                                        <m:r>
                                          <a:rPr lang="en-BE" sz="2400" i="1">
                                            <a:latin typeface="Cambria Math" panose="02040503050406030204" pitchFamily="18" charset="0"/>
                                          </a:rPr>
                                          <m:t>𝑎</m:t>
                                        </m:r>
                                      </m:e>
                                      <m:sub>
                                        <m:r>
                                          <a:rPr lang="en-BE" sz="2400" i="1">
                                            <a:latin typeface="Cambria Math" panose="02040503050406030204" pitchFamily="18" charset="0"/>
                                          </a:rPr>
                                          <m:t>𝑛</m:t>
                                        </m:r>
                                      </m:sub>
                                      <m:sup>
                                        <m:r>
                                          <a:rPr lang="en-BE" sz="2400" i="1">
                                            <a:latin typeface="Cambria Math" panose="02040503050406030204" pitchFamily="18" charset="0"/>
                                          </a:rPr>
                                          <m:t>0</m:t>
                                        </m:r>
                                      </m:sup>
                                    </m:sSubSup>
                                  </m:e>
                                </m:mr>
                              </m:m>
                            </m:e>
                          </m:d>
                          <m:r>
                            <a:rPr lang="en-BE" sz="2400" i="1">
                              <a:latin typeface="Cambria Math" panose="02040503050406030204" pitchFamily="18" charset="0"/>
                            </a:rPr>
                            <m:t>+</m:t>
                          </m:r>
                          <m:d>
                            <m:dPr>
                              <m:begChr m:val="["/>
                              <m:endChr m:val="]"/>
                              <m:ctrlPr>
                                <a:rPr lang="en-BE" sz="2400" i="1">
                                  <a:solidFill>
                                    <a:schemeClr val="accent6"/>
                                  </a:solidFill>
                                  <a:latin typeface="Cambria Math" panose="02040503050406030204" pitchFamily="18" charset="0"/>
                                </a:rPr>
                              </m:ctrlPr>
                            </m:dPr>
                            <m:e>
                              <m:m>
                                <m:mPr>
                                  <m:mcs>
                                    <m:mc>
                                      <m:mcPr>
                                        <m:count m:val="1"/>
                                        <m:mcJc m:val="center"/>
                                      </m:mcPr>
                                    </m:mc>
                                  </m:mcs>
                                  <m:ctrlPr>
                                    <a:rPr lang="en-BE" sz="2400" i="1">
                                      <a:solidFill>
                                        <a:schemeClr val="accent6"/>
                                      </a:solidFill>
                                      <a:latin typeface="Cambria Math" panose="02040503050406030204" pitchFamily="18" charset="0"/>
                                    </a:rPr>
                                  </m:ctrlPr>
                                </m:mPr>
                                <m:mr>
                                  <m:e>
                                    <m:sSub>
                                      <m:sSubPr>
                                        <m:ctrlPr>
                                          <a:rPr lang="en-BE" sz="2400" i="1">
                                            <a:solidFill>
                                              <a:schemeClr val="accent6"/>
                                            </a:solidFill>
                                            <a:latin typeface="Cambria Math" panose="02040503050406030204" pitchFamily="18" charset="0"/>
                                          </a:rPr>
                                        </m:ctrlPr>
                                      </m:sSubPr>
                                      <m:e>
                                        <m:r>
                                          <a:rPr lang="en-BE" sz="2400" i="1">
                                            <a:solidFill>
                                              <a:schemeClr val="accent6"/>
                                            </a:solidFill>
                                            <a:latin typeface="Cambria Math" panose="02040503050406030204" pitchFamily="18" charset="0"/>
                                          </a:rPr>
                                          <m:t>𝑏</m:t>
                                        </m:r>
                                      </m:e>
                                      <m:sub>
                                        <m:r>
                                          <a:rPr lang="en-BE" sz="2400" i="1">
                                            <a:solidFill>
                                              <a:schemeClr val="accent6"/>
                                            </a:solidFill>
                                            <a:latin typeface="Cambria Math" panose="02040503050406030204" pitchFamily="18" charset="0"/>
                                          </a:rPr>
                                          <m:t>0</m:t>
                                        </m:r>
                                      </m:sub>
                                    </m:sSub>
                                  </m:e>
                                </m:mr>
                                <m:mr>
                                  <m:e>
                                    <m:sSub>
                                      <m:sSubPr>
                                        <m:ctrlPr>
                                          <a:rPr lang="en-BE" sz="2400" i="1">
                                            <a:solidFill>
                                              <a:schemeClr val="accent6"/>
                                            </a:solidFill>
                                            <a:latin typeface="Cambria Math" panose="02040503050406030204" pitchFamily="18" charset="0"/>
                                          </a:rPr>
                                        </m:ctrlPr>
                                      </m:sSubPr>
                                      <m:e>
                                        <m:r>
                                          <a:rPr lang="en-BE" sz="2400" i="1">
                                            <a:solidFill>
                                              <a:schemeClr val="accent6"/>
                                            </a:solidFill>
                                            <a:latin typeface="Cambria Math" panose="02040503050406030204" pitchFamily="18" charset="0"/>
                                          </a:rPr>
                                          <m:t>𝑏</m:t>
                                        </m:r>
                                      </m:e>
                                      <m:sub>
                                        <m:r>
                                          <a:rPr lang="en-BE" sz="2400" i="1">
                                            <a:solidFill>
                                              <a:schemeClr val="accent6"/>
                                            </a:solidFill>
                                            <a:latin typeface="Cambria Math" panose="02040503050406030204" pitchFamily="18" charset="0"/>
                                          </a:rPr>
                                          <m:t>1</m:t>
                                        </m:r>
                                      </m:sub>
                                    </m:sSub>
                                  </m:e>
                                </m:mr>
                                <m:mr>
                                  <m:e>
                                    <m:r>
                                      <a:rPr lang="en-BE" sz="2400" i="1">
                                        <a:solidFill>
                                          <a:schemeClr val="accent6"/>
                                        </a:solidFill>
                                        <a:latin typeface="Cambria Math" panose="02040503050406030204" pitchFamily="18" charset="0"/>
                                      </a:rPr>
                                      <m:t>⋮</m:t>
                                    </m:r>
                                  </m:e>
                                </m:mr>
                                <m:mr>
                                  <m:e>
                                    <m:sSub>
                                      <m:sSubPr>
                                        <m:ctrlPr>
                                          <a:rPr lang="en-BE" sz="2400" i="1">
                                            <a:solidFill>
                                              <a:schemeClr val="accent6"/>
                                            </a:solidFill>
                                            <a:latin typeface="Cambria Math" panose="02040503050406030204" pitchFamily="18" charset="0"/>
                                          </a:rPr>
                                        </m:ctrlPr>
                                      </m:sSubPr>
                                      <m:e>
                                        <m:r>
                                          <a:rPr lang="en-BE" sz="2400" i="1">
                                            <a:solidFill>
                                              <a:schemeClr val="accent6"/>
                                            </a:solidFill>
                                            <a:latin typeface="Cambria Math" panose="02040503050406030204" pitchFamily="18" charset="0"/>
                                          </a:rPr>
                                          <m:t>𝑏</m:t>
                                        </m:r>
                                      </m:e>
                                      <m:sub>
                                        <m:r>
                                          <a:rPr lang="en-BE" sz="2400" i="1">
                                            <a:solidFill>
                                              <a:schemeClr val="accent6"/>
                                            </a:solidFill>
                                            <a:latin typeface="Cambria Math" panose="02040503050406030204" pitchFamily="18" charset="0"/>
                                          </a:rPr>
                                          <m:t>𝑛</m:t>
                                        </m:r>
                                      </m:sub>
                                    </m:sSub>
                                  </m:e>
                                </m:mr>
                              </m:m>
                            </m:e>
                          </m:d>
                          <m:r>
                            <m:rPr>
                              <m:nor/>
                            </m:rPr>
                            <a:rPr lang="en-BE" sz="2400" i="0" dirty="0"/>
                            <m:t> </m:t>
                          </m:r>
                        </m:e>
                      </m:d>
                    </m:oMath>
                  </m:oMathPara>
                </a14:m>
                <a:endParaRPr lang="en-BE" sz="2400"/>
              </a:p>
            </p:txBody>
          </p:sp>
        </mc:Choice>
        <mc:Fallback xmlns="">
          <p:sp>
            <p:nvSpPr>
              <p:cNvPr id="5" name="TextBox 4">
                <a:extLst>
                  <a:ext uri="{FF2B5EF4-FFF2-40B4-BE49-F238E27FC236}">
                    <a16:creationId xmlns:a16="http://schemas.microsoft.com/office/drawing/2014/main" id="{724EDD51-B66E-6642-FC6B-F584AF2CC3C1}"/>
                  </a:ext>
                </a:extLst>
              </p:cNvPr>
              <p:cNvSpPr txBox="1">
                <a:spLocks noRot="1" noChangeAspect="1" noMove="1" noResize="1" noEditPoints="1" noAdjustHandles="1" noChangeArrowheads="1" noChangeShapeType="1" noTextEdit="1"/>
              </p:cNvSpPr>
              <p:nvPr/>
            </p:nvSpPr>
            <p:spPr>
              <a:xfrm>
                <a:off x="4491417" y="4788892"/>
                <a:ext cx="7245995" cy="1753429"/>
              </a:xfrm>
              <a:prstGeom prst="rect">
                <a:avLst/>
              </a:prstGeom>
              <a:blipFill>
                <a:blip r:embed="rId3"/>
                <a:stretch>
                  <a:fillRect/>
                </a:stretch>
              </a:blipFill>
            </p:spPr>
            <p:txBody>
              <a:bodyPr/>
              <a:lstStyle/>
              <a:p>
                <a:r>
                  <a:rPr lang="en-US">
                    <a:noFill/>
                  </a:rPr>
                  <a:t> </a:t>
                </a:r>
              </a:p>
            </p:txBody>
          </p:sp>
        </mc:Fallback>
      </mc:AlternateContent>
      <p:sp>
        <p:nvSpPr>
          <p:cNvPr id="54" name="Oval 53">
            <a:extLst>
              <a:ext uri="{FF2B5EF4-FFF2-40B4-BE49-F238E27FC236}">
                <a16:creationId xmlns:a16="http://schemas.microsoft.com/office/drawing/2014/main" id="{90A0FEF0-6864-609E-E721-EA26FA8EC15E}"/>
              </a:ext>
            </a:extLst>
          </p:cNvPr>
          <p:cNvSpPr/>
          <p:nvPr/>
        </p:nvSpPr>
        <p:spPr>
          <a:xfrm>
            <a:off x="3110605" y="1833351"/>
            <a:ext cx="649966" cy="64996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ln>
                <a:solidFill>
                  <a:schemeClr val="tx1"/>
                </a:solidFill>
              </a:ln>
              <a:noFill/>
            </a:endParaRPr>
          </a:p>
        </p:txBody>
      </p:sp>
      <p:sp>
        <p:nvSpPr>
          <p:cNvPr id="55" name="Oval 54">
            <a:extLst>
              <a:ext uri="{FF2B5EF4-FFF2-40B4-BE49-F238E27FC236}">
                <a16:creationId xmlns:a16="http://schemas.microsoft.com/office/drawing/2014/main" id="{E1862FEA-A27F-D51F-218D-E32AE934455B}"/>
              </a:ext>
            </a:extLst>
          </p:cNvPr>
          <p:cNvSpPr/>
          <p:nvPr/>
        </p:nvSpPr>
        <p:spPr>
          <a:xfrm>
            <a:off x="3110605" y="2686475"/>
            <a:ext cx="649966" cy="64996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ln>
                <a:solidFill>
                  <a:schemeClr val="tx1"/>
                </a:solidFill>
              </a:ln>
              <a:noFill/>
            </a:endParaRPr>
          </a:p>
        </p:txBody>
      </p:sp>
      <p:sp>
        <p:nvSpPr>
          <p:cNvPr id="56" name="Oval 55">
            <a:extLst>
              <a:ext uri="{FF2B5EF4-FFF2-40B4-BE49-F238E27FC236}">
                <a16:creationId xmlns:a16="http://schemas.microsoft.com/office/drawing/2014/main" id="{90EDFD8F-8291-4B91-956D-2AC91E83A73C}"/>
              </a:ext>
            </a:extLst>
          </p:cNvPr>
          <p:cNvSpPr/>
          <p:nvPr/>
        </p:nvSpPr>
        <p:spPr>
          <a:xfrm>
            <a:off x="3099152" y="3539599"/>
            <a:ext cx="649966" cy="64996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ln>
                <a:solidFill>
                  <a:schemeClr val="tx1"/>
                </a:solidFill>
              </a:ln>
              <a:noFill/>
            </a:endParaRPr>
          </a:p>
        </p:txBody>
      </p:sp>
      <p:sp>
        <p:nvSpPr>
          <p:cNvPr id="57" name="Oval 56">
            <a:extLst>
              <a:ext uri="{FF2B5EF4-FFF2-40B4-BE49-F238E27FC236}">
                <a16:creationId xmlns:a16="http://schemas.microsoft.com/office/drawing/2014/main" id="{AB1C2168-F313-1B73-355C-031C4868244E}"/>
              </a:ext>
            </a:extLst>
          </p:cNvPr>
          <p:cNvSpPr/>
          <p:nvPr/>
        </p:nvSpPr>
        <p:spPr>
          <a:xfrm>
            <a:off x="443131" y="975261"/>
            <a:ext cx="649966" cy="64996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ln>
                <a:solidFill>
                  <a:schemeClr val="tx1"/>
                </a:solidFill>
              </a:ln>
              <a:noFill/>
            </a:endParaRPr>
          </a:p>
        </p:txBody>
      </p:sp>
      <p:sp>
        <p:nvSpPr>
          <p:cNvPr id="58" name="Oval 57">
            <a:extLst>
              <a:ext uri="{FF2B5EF4-FFF2-40B4-BE49-F238E27FC236}">
                <a16:creationId xmlns:a16="http://schemas.microsoft.com/office/drawing/2014/main" id="{AC941D44-EB19-5320-C1AD-C7AAD9AA4B8B}"/>
              </a:ext>
            </a:extLst>
          </p:cNvPr>
          <p:cNvSpPr/>
          <p:nvPr/>
        </p:nvSpPr>
        <p:spPr>
          <a:xfrm>
            <a:off x="454584" y="1833351"/>
            <a:ext cx="649966" cy="64996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ln>
                <a:solidFill>
                  <a:schemeClr val="tx1"/>
                </a:solidFill>
              </a:ln>
              <a:noFill/>
            </a:endParaRPr>
          </a:p>
        </p:txBody>
      </p:sp>
      <p:sp>
        <p:nvSpPr>
          <p:cNvPr id="59" name="Oval 58">
            <a:extLst>
              <a:ext uri="{FF2B5EF4-FFF2-40B4-BE49-F238E27FC236}">
                <a16:creationId xmlns:a16="http://schemas.microsoft.com/office/drawing/2014/main" id="{1B091D01-5F26-7D47-0521-02C196EC8213}"/>
              </a:ext>
            </a:extLst>
          </p:cNvPr>
          <p:cNvSpPr/>
          <p:nvPr/>
        </p:nvSpPr>
        <p:spPr>
          <a:xfrm>
            <a:off x="454584" y="2686475"/>
            <a:ext cx="649966" cy="64996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ln>
                <a:solidFill>
                  <a:schemeClr val="tx1"/>
                </a:solidFill>
              </a:ln>
              <a:noFill/>
            </a:endParaRPr>
          </a:p>
        </p:txBody>
      </p:sp>
      <p:sp>
        <p:nvSpPr>
          <p:cNvPr id="60" name="Oval 59">
            <a:extLst>
              <a:ext uri="{FF2B5EF4-FFF2-40B4-BE49-F238E27FC236}">
                <a16:creationId xmlns:a16="http://schemas.microsoft.com/office/drawing/2014/main" id="{1CC0A124-1806-866E-4D78-1FAC4ADED3B4}"/>
              </a:ext>
            </a:extLst>
          </p:cNvPr>
          <p:cNvSpPr/>
          <p:nvPr/>
        </p:nvSpPr>
        <p:spPr>
          <a:xfrm>
            <a:off x="443131" y="3539599"/>
            <a:ext cx="649966" cy="64996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ln>
                <a:solidFill>
                  <a:schemeClr val="tx1"/>
                </a:solidFill>
              </a:ln>
              <a:noFill/>
            </a:endParaRPr>
          </a:p>
        </p:txBody>
      </p:sp>
      <p:cxnSp>
        <p:nvCxnSpPr>
          <p:cNvPr id="61" name="Straight Arrow Connector 60">
            <a:extLst>
              <a:ext uri="{FF2B5EF4-FFF2-40B4-BE49-F238E27FC236}">
                <a16:creationId xmlns:a16="http://schemas.microsoft.com/office/drawing/2014/main" id="{C9B583DB-A3A1-3941-4A28-E33064259924}"/>
              </a:ext>
            </a:extLst>
          </p:cNvPr>
          <p:cNvCxnSpPr>
            <a:stCxn id="57" idx="6"/>
            <a:endCxn id="54" idx="2"/>
          </p:cNvCxnSpPr>
          <p:nvPr/>
        </p:nvCxnSpPr>
        <p:spPr>
          <a:xfrm>
            <a:off x="1093097" y="1300244"/>
            <a:ext cx="2017508" cy="858090"/>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D3CB7C37-7BFA-8EA3-ACB7-240597D2B86D}"/>
              </a:ext>
            </a:extLst>
          </p:cNvPr>
          <p:cNvCxnSpPr>
            <a:stCxn id="57" idx="6"/>
            <a:endCxn id="55" idx="2"/>
          </p:cNvCxnSpPr>
          <p:nvPr/>
        </p:nvCxnSpPr>
        <p:spPr>
          <a:xfrm>
            <a:off x="1093097" y="1300244"/>
            <a:ext cx="2017508" cy="1711214"/>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3BFC44AC-F695-145B-4785-BCEB5D30ED8D}"/>
              </a:ext>
            </a:extLst>
          </p:cNvPr>
          <p:cNvCxnSpPr>
            <a:stCxn id="57" idx="6"/>
            <a:endCxn id="56" idx="2"/>
          </p:cNvCxnSpPr>
          <p:nvPr/>
        </p:nvCxnSpPr>
        <p:spPr>
          <a:xfrm>
            <a:off x="1093097" y="1300244"/>
            <a:ext cx="2006055" cy="2564338"/>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89614F8F-C1F1-4BFE-FA71-F872448C4B95}"/>
              </a:ext>
            </a:extLst>
          </p:cNvPr>
          <p:cNvCxnSpPr>
            <a:stCxn id="58" idx="6"/>
            <a:endCxn id="54" idx="2"/>
          </p:cNvCxnSpPr>
          <p:nvPr/>
        </p:nvCxnSpPr>
        <p:spPr>
          <a:xfrm>
            <a:off x="1104550" y="2158334"/>
            <a:ext cx="2006055" cy="0"/>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3180ED9C-7187-43F0-B598-A2619F086D42}"/>
              </a:ext>
            </a:extLst>
          </p:cNvPr>
          <p:cNvCxnSpPr>
            <a:stCxn id="58" idx="6"/>
            <a:endCxn id="55" idx="2"/>
          </p:cNvCxnSpPr>
          <p:nvPr/>
        </p:nvCxnSpPr>
        <p:spPr>
          <a:xfrm>
            <a:off x="1104550" y="2158334"/>
            <a:ext cx="2006055" cy="853124"/>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A51A16A9-BA2E-5DF1-6C22-1D8E0767FFA8}"/>
              </a:ext>
            </a:extLst>
          </p:cNvPr>
          <p:cNvCxnSpPr>
            <a:stCxn id="58" idx="6"/>
            <a:endCxn id="56" idx="2"/>
          </p:cNvCxnSpPr>
          <p:nvPr/>
        </p:nvCxnSpPr>
        <p:spPr>
          <a:xfrm>
            <a:off x="1104550" y="2158334"/>
            <a:ext cx="1994602" cy="1706248"/>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5BFB95AF-A5F0-4C86-9A7A-7491BC80FDDB}"/>
              </a:ext>
            </a:extLst>
          </p:cNvPr>
          <p:cNvCxnSpPr>
            <a:stCxn id="59" idx="6"/>
            <a:endCxn id="54" idx="2"/>
          </p:cNvCxnSpPr>
          <p:nvPr/>
        </p:nvCxnSpPr>
        <p:spPr>
          <a:xfrm flipV="1">
            <a:off x="1104550" y="2158334"/>
            <a:ext cx="2006055" cy="853124"/>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DC5DA929-7D5D-7918-6BA5-CCD77A747540}"/>
              </a:ext>
            </a:extLst>
          </p:cNvPr>
          <p:cNvCxnSpPr>
            <a:stCxn id="59" idx="6"/>
            <a:endCxn id="55" idx="2"/>
          </p:cNvCxnSpPr>
          <p:nvPr/>
        </p:nvCxnSpPr>
        <p:spPr>
          <a:xfrm>
            <a:off x="1104550" y="3011458"/>
            <a:ext cx="2006055" cy="0"/>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886A9B45-B98B-E89B-4665-926EEE0F4DFD}"/>
              </a:ext>
            </a:extLst>
          </p:cNvPr>
          <p:cNvCxnSpPr>
            <a:stCxn id="59" idx="6"/>
            <a:endCxn id="56" idx="2"/>
          </p:cNvCxnSpPr>
          <p:nvPr/>
        </p:nvCxnSpPr>
        <p:spPr>
          <a:xfrm>
            <a:off x="1104550" y="3011458"/>
            <a:ext cx="1994602" cy="853124"/>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1839150C-0B0D-F376-00B0-65BBD80BFDD6}"/>
              </a:ext>
            </a:extLst>
          </p:cNvPr>
          <p:cNvCxnSpPr>
            <a:stCxn id="60" idx="6"/>
            <a:endCxn id="54" idx="2"/>
          </p:cNvCxnSpPr>
          <p:nvPr/>
        </p:nvCxnSpPr>
        <p:spPr>
          <a:xfrm flipV="1">
            <a:off x="1093097" y="2158334"/>
            <a:ext cx="2017508" cy="1706248"/>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5EAB5D70-A4A6-B700-AAE2-133D36D6B6FF}"/>
              </a:ext>
            </a:extLst>
          </p:cNvPr>
          <p:cNvCxnSpPr>
            <a:stCxn id="60" idx="6"/>
            <a:endCxn id="55" idx="2"/>
          </p:cNvCxnSpPr>
          <p:nvPr/>
        </p:nvCxnSpPr>
        <p:spPr>
          <a:xfrm flipV="1">
            <a:off x="1093097" y="3011458"/>
            <a:ext cx="2017508" cy="853124"/>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9C1DEFED-BDB6-4DB8-BE76-328DFE3B9929}"/>
              </a:ext>
            </a:extLst>
          </p:cNvPr>
          <p:cNvCxnSpPr>
            <a:stCxn id="60" idx="6"/>
            <a:endCxn id="56" idx="2"/>
          </p:cNvCxnSpPr>
          <p:nvPr/>
        </p:nvCxnSpPr>
        <p:spPr>
          <a:xfrm>
            <a:off x="1093097" y="3864582"/>
            <a:ext cx="2006055" cy="0"/>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0929AD0D-F148-88AF-ACD3-E4DD7C1D93E2}"/>
                  </a:ext>
                </a:extLst>
              </p:cNvPr>
              <p:cNvSpPr txBox="1"/>
              <p:nvPr/>
            </p:nvSpPr>
            <p:spPr>
              <a:xfrm>
                <a:off x="509509" y="1066000"/>
                <a:ext cx="599125" cy="668645"/>
              </a:xfrm>
              <a:prstGeom prst="rect">
                <a:avLst/>
              </a:prstGeom>
              <a:noFill/>
            </p:spPr>
            <p:txBody>
              <a:bodyPr wrap="square" lIns="0" tIns="0" rIns="0" bIns="0" rtlCol="0">
                <a:spAutoFit/>
              </a:bodyPr>
              <a:lstStyle/>
              <a:p>
                <a:pPr/>
                <a14:m>
                  <m:oMathPara xmlns:m="http://schemas.openxmlformats.org/officeDocument/2006/math">
                    <m:oMath>
                      <m:sSubSup>
                        <m:sSubSupPr>
                          <m:ctrlPr>
                            <a:rPr lang="en-BE" sz="2400" b="0" i="1" smtClean="0">
                              <a:latin typeface="Cambria Math" panose="02040503050406030204" pitchFamily="18" charset="0"/>
                            </a:rPr>
                          </m:ctrlPr>
                        </m:sSubSupPr>
                        <m:e>
                          <m:r>
                            <a:rPr lang="en-BE" sz="2400" b="0" i="1" smtClean="0">
                              <a:latin typeface="Cambria Math" panose="02040503050406030204" pitchFamily="18" charset="0"/>
                            </a:rPr>
                            <m:t>𝑎</m:t>
                          </m:r>
                        </m:e>
                        <m:sub>
                          <m:r>
                            <a:rPr lang="en-GB" sz="2400" b="0" i="1" smtClean="0">
                              <a:latin typeface="Cambria Math" panose="02040503050406030204" pitchFamily="18" charset="0"/>
                            </a:rPr>
                            <m:t>0</m:t>
                          </m:r>
                        </m:sub>
                        <m:sup>
                          <m:r>
                            <a:rPr lang="en-BE" sz="2400" b="0" i="1" smtClean="0">
                              <a:latin typeface="Cambria Math" panose="02040503050406030204" pitchFamily="18" charset="0"/>
                            </a:rPr>
                            <m:t>0</m:t>
                          </m:r>
                        </m:sup>
                      </m:sSubSup>
                    </m:oMath>
                  </m:oMathPara>
                </a14:m>
                <a:endParaRPr lang="en-GB" sz="2400" b="0"/>
              </a:p>
              <a:p>
                <a:endParaRPr lang="en-GB" b="0"/>
              </a:p>
            </p:txBody>
          </p:sp>
        </mc:Choice>
        <mc:Fallback xmlns="">
          <p:sp>
            <p:nvSpPr>
              <p:cNvPr id="73" name="TextBox 72">
                <a:extLst>
                  <a:ext uri="{FF2B5EF4-FFF2-40B4-BE49-F238E27FC236}">
                    <a16:creationId xmlns:a16="http://schemas.microsoft.com/office/drawing/2014/main" id="{0929AD0D-F148-88AF-ACD3-E4DD7C1D93E2}"/>
                  </a:ext>
                </a:extLst>
              </p:cNvPr>
              <p:cNvSpPr txBox="1">
                <a:spLocks noRot="1" noChangeAspect="1" noMove="1" noResize="1" noEditPoints="1" noAdjustHandles="1" noChangeArrowheads="1" noChangeShapeType="1" noTextEdit="1"/>
              </p:cNvSpPr>
              <p:nvPr/>
            </p:nvSpPr>
            <p:spPr>
              <a:xfrm>
                <a:off x="509509" y="1066000"/>
                <a:ext cx="599125" cy="668645"/>
              </a:xfrm>
              <a:prstGeom prst="rect">
                <a:avLst/>
              </a:prstGeom>
              <a:blipFill>
                <a:blip r:embed="rId4"/>
                <a:stretch>
                  <a:fillRect l="-24490" t="-12727" r="-20408" b="-181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D24FB990-5D29-1383-DE1C-FCD66B95B000}"/>
                  </a:ext>
                </a:extLst>
              </p:cNvPr>
              <p:cNvSpPr txBox="1"/>
              <p:nvPr/>
            </p:nvSpPr>
            <p:spPr>
              <a:xfrm>
                <a:off x="509509" y="1933963"/>
                <a:ext cx="599125" cy="652871"/>
              </a:xfrm>
              <a:prstGeom prst="rect">
                <a:avLst/>
              </a:prstGeom>
              <a:noFill/>
            </p:spPr>
            <p:txBody>
              <a:bodyPr wrap="square" lIns="0" tIns="0" rIns="0" bIns="0" rtlCol="0">
                <a:spAutoFit/>
              </a:bodyPr>
              <a:lstStyle/>
              <a:p>
                <a:pPr/>
                <a14:m>
                  <m:oMathPara xmlns:m="http://schemas.openxmlformats.org/officeDocument/2006/math">
                    <m:oMath>
                      <m:sSubSup>
                        <m:sSubSupPr>
                          <m:ctrlPr>
                            <a:rPr lang="en-BE" sz="2400" b="0" i="1" smtClean="0">
                              <a:latin typeface="Cambria Math" panose="02040503050406030204" pitchFamily="18" charset="0"/>
                            </a:rPr>
                          </m:ctrlPr>
                        </m:sSubSupPr>
                        <m:e>
                          <m:r>
                            <a:rPr lang="en-BE" sz="2400" b="0" i="1" smtClean="0">
                              <a:latin typeface="Cambria Math" panose="02040503050406030204" pitchFamily="18" charset="0"/>
                            </a:rPr>
                            <m:t>𝑎</m:t>
                          </m:r>
                        </m:e>
                        <m:sub>
                          <m:r>
                            <a:rPr lang="en-GB" sz="2400" b="0" i="1" smtClean="0">
                              <a:latin typeface="Cambria Math" panose="02040503050406030204" pitchFamily="18" charset="0"/>
                            </a:rPr>
                            <m:t>1</m:t>
                          </m:r>
                        </m:sub>
                        <m:sup>
                          <m:r>
                            <a:rPr lang="en-BE" sz="2400" b="0" i="1" smtClean="0">
                              <a:latin typeface="Cambria Math" panose="02040503050406030204" pitchFamily="18" charset="0"/>
                            </a:rPr>
                            <m:t>0</m:t>
                          </m:r>
                        </m:sup>
                      </m:sSubSup>
                    </m:oMath>
                  </m:oMathPara>
                </a14:m>
                <a:endParaRPr lang="en-GB" sz="2400" b="0"/>
              </a:p>
              <a:p>
                <a:endParaRPr lang="en-GB" b="0"/>
              </a:p>
            </p:txBody>
          </p:sp>
        </mc:Choice>
        <mc:Fallback xmlns="">
          <p:sp>
            <p:nvSpPr>
              <p:cNvPr id="74" name="TextBox 73">
                <a:extLst>
                  <a:ext uri="{FF2B5EF4-FFF2-40B4-BE49-F238E27FC236}">
                    <a16:creationId xmlns:a16="http://schemas.microsoft.com/office/drawing/2014/main" id="{D24FB990-5D29-1383-DE1C-FCD66B95B000}"/>
                  </a:ext>
                </a:extLst>
              </p:cNvPr>
              <p:cNvSpPr txBox="1">
                <a:spLocks noRot="1" noChangeAspect="1" noMove="1" noResize="1" noEditPoints="1" noAdjustHandles="1" noChangeArrowheads="1" noChangeShapeType="1" noTextEdit="1"/>
              </p:cNvSpPr>
              <p:nvPr/>
            </p:nvSpPr>
            <p:spPr>
              <a:xfrm>
                <a:off x="509509" y="1933963"/>
                <a:ext cx="599125" cy="652871"/>
              </a:xfrm>
              <a:prstGeom prst="rect">
                <a:avLst/>
              </a:prstGeom>
              <a:blipFill>
                <a:blip r:embed="rId5"/>
                <a:stretch>
                  <a:fillRect l="-24490" t="-13084" r="-20408" b="-214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TextBox 74">
                <a:extLst>
                  <a:ext uri="{FF2B5EF4-FFF2-40B4-BE49-F238E27FC236}">
                    <a16:creationId xmlns:a16="http://schemas.microsoft.com/office/drawing/2014/main" id="{FE39B99C-9CC3-BCC9-1929-44A20B984BBB}"/>
                  </a:ext>
                </a:extLst>
              </p:cNvPr>
              <p:cNvSpPr txBox="1"/>
              <p:nvPr/>
            </p:nvSpPr>
            <p:spPr>
              <a:xfrm>
                <a:off x="443131" y="2823426"/>
                <a:ext cx="665503" cy="369332"/>
              </a:xfrm>
              <a:prstGeom prst="rect">
                <a:avLst/>
              </a:prstGeom>
              <a:noFill/>
            </p:spPr>
            <p:txBody>
              <a:bodyPr wrap="square" lIns="0" tIns="0" rIns="0" bIns="0" rtlCol="0">
                <a:spAutoFit/>
              </a:bodyPr>
              <a:lstStyle/>
              <a:p>
                <a:pPr/>
                <a14:m>
                  <m:oMathPara xmlns:m="http://schemas.openxmlformats.org/officeDocument/2006/math">
                    <m:oMathParaPr>
                      <m:jc m:val="center"/>
                    </m:oMathParaPr>
                    <m:oMath>
                      <m:r>
                        <a:rPr lang="en-GB" sz="2400" i="1">
                          <a:latin typeface="Cambria Math" panose="02040503050406030204" pitchFamily="18" charset="0"/>
                        </a:rPr>
                        <m:t>⋯</m:t>
                      </m:r>
                    </m:oMath>
                  </m:oMathPara>
                </a14:m>
                <a:endParaRPr lang="en-GB" sz="2400"/>
              </a:p>
            </p:txBody>
          </p:sp>
        </mc:Choice>
        <mc:Fallback xmlns="">
          <p:sp>
            <p:nvSpPr>
              <p:cNvPr id="75" name="TextBox 74">
                <a:extLst>
                  <a:ext uri="{FF2B5EF4-FFF2-40B4-BE49-F238E27FC236}">
                    <a16:creationId xmlns:a16="http://schemas.microsoft.com/office/drawing/2014/main" id="{FE39B99C-9CC3-BCC9-1929-44A20B984BBB}"/>
                  </a:ext>
                </a:extLst>
              </p:cNvPr>
              <p:cNvSpPr txBox="1">
                <a:spLocks noRot="1" noChangeAspect="1" noMove="1" noResize="1" noEditPoints="1" noAdjustHandles="1" noChangeArrowheads="1" noChangeShapeType="1" noTextEdit="1"/>
              </p:cNvSpPr>
              <p:nvPr/>
            </p:nvSpPr>
            <p:spPr>
              <a:xfrm>
                <a:off x="443131" y="2823426"/>
                <a:ext cx="665503" cy="369332"/>
              </a:xfrm>
              <a:prstGeom prst="rect">
                <a:avLst/>
              </a:prstGeom>
              <a:blipFill>
                <a:blip r:embed="rId6"/>
                <a:stretch>
                  <a:fillRect t="-24590" r="-9174" b="-4918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75097D95-D595-0B17-F4E9-5C3511BFDC07}"/>
                  </a:ext>
                </a:extLst>
              </p:cNvPr>
              <p:cNvSpPr txBox="1"/>
              <p:nvPr/>
            </p:nvSpPr>
            <p:spPr>
              <a:xfrm>
                <a:off x="513666" y="3635707"/>
                <a:ext cx="599125" cy="663258"/>
              </a:xfrm>
              <a:prstGeom prst="rect">
                <a:avLst/>
              </a:prstGeom>
              <a:noFill/>
            </p:spPr>
            <p:txBody>
              <a:bodyPr wrap="square" lIns="0" tIns="0" rIns="0" bIns="0" rtlCol="0">
                <a:spAutoFit/>
              </a:bodyPr>
              <a:lstStyle/>
              <a:p>
                <a:pPr/>
                <a14:m>
                  <m:oMathPara xmlns:m="http://schemas.openxmlformats.org/officeDocument/2006/math">
                    <m:oMath>
                      <m:sSubSup>
                        <m:sSubSupPr>
                          <m:ctrlPr>
                            <a:rPr lang="en-BE" sz="2400" b="0" i="1" smtClean="0">
                              <a:latin typeface="Cambria Math" panose="02040503050406030204" pitchFamily="18" charset="0"/>
                            </a:rPr>
                          </m:ctrlPr>
                        </m:sSubSupPr>
                        <m:e>
                          <m:r>
                            <a:rPr lang="en-BE" sz="2400" b="0" i="1" smtClean="0">
                              <a:latin typeface="Cambria Math" panose="02040503050406030204" pitchFamily="18" charset="0"/>
                            </a:rPr>
                            <m:t>𝑎</m:t>
                          </m:r>
                        </m:e>
                        <m:sub>
                          <m:r>
                            <a:rPr lang="en-BE" sz="2400" b="0" i="1" smtClean="0">
                              <a:latin typeface="Cambria Math" panose="02040503050406030204" pitchFamily="18" charset="0"/>
                            </a:rPr>
                            <m:t>𝑘</m:t>
                          </m:r>
                        </m:sub>
                        <m:sup>
                          <m:r>
                            <a:rPr lang="en-BE" sz="2400" b="0" i="1" smtClean="0">
                              <a:latin typeface="Cambria Math" panose="02040503050406030204" pitchFamily="18" charset="0"/>
                            </a:rPr>
                            <m:t>0</m:t>
                          </m:r>
                        </m:sup>
                      </m:sSubSup>
                    </m:oMath>
                  </m:oMathPara>
                </a14:m>
                <a:endParaRPr lang="en-GB" sz="2400" b="0"/>
              </a:p>
              <a:p>
                <a:endParaRPr lang="en-GB" b="0"/>
              </a:p>
            </p:txBody>
          </p:sp>
        </mc:Choice>
        <mc:Fallback xmlns="">
          <p:sp>
            <p:nvSpPr>
              <p:cNvPr id="76" name="TextBox 75">
                <a:extLst>
                  <a:ext uri="{FF2B5EF4-FFF2-40B4-BE49-F238E27FC236}">
                    <a16:creationId xmlns:a16="http://schemas.microsoft.com/office/drawing/2014/main" id="{75097D95-D595-0B17-F4E9-5C3511BFDC07}"/>
                  </a:ext>
                </a:extLst>
              </p:cNvPr>
              <p:cNvSpPr txBox="1">
                <a:spLocks noRot="1" noChangeAspect="1" noMove="1" noResize="1" noEditPoints="1" noAdjustHandles="1" noChangeArrowheads="1" noChangeShapeType="1" noTextEdit="1"/>
              </p:cNvSpPr>
              <p:nvPr/>
            </p:nvSpPr>
            <p:spPr>
              <a:xfrm>
                <a:off x="513666" y="3635707"/>
                <a:ext cx="599125" cy="663258"/>
              </a:xfrm>
              <a:prstGeom prst="rect">
                <a:avLst/>
              </a:prstGeom>
              <a:blipFill>
                <a:blip r:embed="rId7"/>
                <a:stretch>
                  <a:fillRect l="-23232" t="-11009" r="-21212" b="-21101"/>
                </a:stretch>
              </a:blipFill>
            </p:spPr>
            <p:txBody>
              <a:bodyPr/>
              <a:lstStyle/>
              <a:p>
                <a:r>
                  <a:rPr lang="en-US">
                    <a:noFill/>
                  </a:rPr>
                  <a:t> </a:t>
                </a:r>
              </a:p>
            </p:txBody>
          </p:sp>
        </mc:Fallback>
      </mc:AlternateContent>
      <p:sp>
        <p:nvSpPr>
          <p:cNvPr id="80" name="Oval 79">
            <a:extLst>
              <a:ext uri="{FF2B5EF4-FFF2-40B4-BE49-F238E27FC236}">
                <a16:creationId xmlns:a16="http://schemas.microsoft.com/office/drawing/2014/main" id="{3D60586F-820F-55BD-CF76-2E92AC00E0BE}"/>
              </a:ext>
            </a:extLst>
          </p:cNvPr>
          <p:cNvSpPr/>
          <p:nvPr/>
        </p:nvSpPr>
        <p:spPr>
          <a:xfrm>
            <a:off x="3115379" y="980227"/>
            <a:ext cx="649966" cy="64996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ln>
                <a:solidFill>
                  <a:schemeClr val="tx1"/>
                </a:solidFill>
              </a:ln>
              <a:noFill/>
            </a:endParaRPr>
          </a:p>
        </p:txBody>
      </p:sp>
      <p:cxnSp>
        <p:nvCxnSpPr>
          <p:cNvPr id="81" name="Straight Arrow Connector 80">
            <a:extLst>
              <a:ext uri="{FF2B5EF4-FFF2-40B4-BE49-F238E27FC236}">
                <a16:creationId xmlns:a16="http://schemas.microsoft.com/office/drawing/2014/main" id="{6B678673-AA99-6B87-ECA9-11A4B9DF8863}"/>
              </a:ext>
            </a:extLst>
          </p:cNvPr>
          <p:cNvCxnSpPr>
            <a:cxnSpLocks/>
            <a:endCxn id="80" idx="2"/>
          </p:cNvCxnSpPr>
          <p:nvPr/>
        </p:nvCxnSpPr>
        <p:spPr>
          <a:xfrm>
            <a:off x="1093097" y="1300244"/>
            <a:ext cx="2022282" cy="4966"/>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89FBD84D-3E14-0E1C-C6E5-F6BEFAADD5F1}"/>
              </a:ext>
            </a:extLst>
          </p:cNvPr>
          <p:cNvCxnSpPr>
            <a:cxnSpLocks/>
            <a:endCxn id="80" idx="2"/>
          </p:cNvCxnSpPr>
          <p:nvPr/>
        </p:nvCxnSpPr>
        <p:spPr>
          <a:xfrm flipV="1">
            <a:off x="1104550" y="1305210"/>
            <a:ext cx="2010829" cy="853124"/>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9" name="TextBox 88">
                <a:extLst>
                  <a:ext uri="{FF2B5EF4-FFF2-40B4-BE49-F238E27FC236}">
                    <a16:creationId xmlns:a16="http://schemas.microsoft.com/office/drawing/2014/main" id="{0FDBAD96-A719-7FA5-3083-95F5D85F91D2}"/>
                  </a:ext>
                </a:extLst>
              </p:cNvPr>
              <p:cNvSpPr txBox="1"/>
              <p:nvPr/>
            </p:nvSpPr>
            <p:spPr>
              <a:xfrm>
                <a:off x="3097110" y="2827417"/>
                <a:ext cx="665503" cy="369332"/>
              </a:xfrm>
              <a:prstGeom prst="rect">
                <a:avLst/>
              </a:prstGeom>
              <a:noFill/>
            </p:spPr>
            <p:txBody>
              <a:bodyPr wrap="square" lIns="0" tIns="0" rIns="0" bIns="0" rtlCol="0" anchor="ctr">
                <a:spAutoFit/>
              </a:bodyPr>
              <a:lstStyle/>
              <a:p>
                <a:pPr/>
                <a14:m>
                  <m:oMathPara xmlns:m="http://schemas.openxmlformats.org/officeDocument/2006/math">
                    <m:oMathParaPr>
                      <m:jc m:val="center"/>
                    </m:oMathParaPr>
                    <m:oMath>
                      <m:r>
                        <a:rPr lang="en-GB" sz="2400" i="1" smtClean="0">
                          <a:latin typeface="Cambria Math" panose="02040503050406030204" pitchFamily="18" charset="0"/>
                        </a:rPr>
                        <m:t>⋯</m:t>
                      </m:r>
                    </m:oMath>
                  </m:oMathPara>
                </a14:m>
                <a:endParaRPr lang="en-GB" sz="2400" b="0"/>
              </a:p>
            </p:txBody>
          </p:sp>
        </mc:Choice>
        <mc:Fallback xmlns="">
          <p:sp>
            <p:nvSpPr>
              <p:cNvPr id="89" name="TextBox 88">
                <a:extLst>
                  <a:ext uri="{FF2B5EF4-FFF2-40B4-BE49-F238E27FC236}">
                    <a16:creationId xmlns:a16="http://schemas.microsoft.com/office/drawing/2014/main" id="{0FDBAD96-A719-7FA5-3083-95F5D85F91D2}"/>
                  </a:ext>
                </a:extLst>
              </p:cNvPr>
              <p:cNvSpPr txBox="1">
                <a:spLocks noRot="1" noChangeAspect="1" noMove="1" noResize="1" noEditPoints="1" noAdjustHandles="1" noChangeArrowheads="1" noChangeShapeType="1" noTextEdit="1"/>
              </p:cNvSpPr>
              <p:nvPr/>
            </p:nvSpPr>
            <p:spPr>
              <a:xfrm>
                <a:off x="3097110" y="2827417"/>
                <a:ext cx="665503" cy="369332"/>
              </a:xfrm>
              <a:prstGeom prst="rect">
                <a:avLst/>
              </a:prstGeom>
              <a:blipFill>
                <a:blip r:embed="rId8"/>
                <a:stretch>
                  <a:fillRect t="-25000" r="-10092" b="-51667"/>
                </a:stretch>
              </a:blipFill>
            </p:spPr>
            <p:txBody>
              <a:bodyPr/>
              <a:lstStyle/>
              <a:p>
                <a:r>
                  <a:rPr lang="en-US">
                    <a:noFill/>
                  </a:rPr>
                  <a:t> </a:t>
                </a:r>
              </a:p>
            </p:txBody>
          </p:sp>
        </mc:Fallback>
      </mc:AlternateContent>
      <p:cxnSp>
        <p:nvCxnSpPr>
          <p:cNvPr id="94" name="Straight Arrow Connector 93">
            <a:extLst>
              <a:ext uri="{FF2B5EF4-FFF2-40B4-BE49-F238E27FC236}">
                <a16:creationId xmlns:a16="http://schemas.microsoft.com/office/drawing/2014/main" id="{D293ED30-840C-CC74-65D6-F0D09A980499}"/>
              </a:ext>
            </a:extLst>
          </p:cNvPr>
          <p:cNvCxnSpPr>
            <a:cxnSpLocks/>
          </p:cNvCxnSpPr>
          <p:nvPr/>
        </p:nvCxnSpPr>
        <p:spPr>
          <a:xfrm>
            <a:off x="8089900" y="4298965"/>
            <a:ext cx="0" cy="477227"/>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96" name="Straight Arrow Connector 95">
            <a:extLst>
              <a:ext uri="{FF2B5EF4-FFF2-40B4-BE49-F238E27FC236}">
                <a16:creationId xmlns:a16="http://schemas.microsoft.com/office/drawing/2014/main" id="{688ACC76-F634-37AC-D934-070878BD483E}"/>
              </a:ext>
            </a:extLst>
          </p:cNvPr>
          <p:cNvCxnSpPr>
            <a:cxnSpLocks/>
          </p:cNvCxnSpPr>
          <p:nvPr/>
        </p:nvCxnSpPr>
        <p:spPr>
          <a:xfrm rot="16200000" flipH="1" flipV="1">
            <a:off x="4007343" y="5426994"/>
            <a:ext cx="0" cy="477227"/>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1DF10D2C-AA6F-E2CE-76CF-D3D8654FA045}"/>
                  </a:ext>
                </a:extLst>
              </p:cNvPr>
              <p:cNvSpPr txBox="1"/>
              <p:nvPr/>
            </p:nvSpPr>
            <p:spPr>
              <a:xfrm>
                <a:off x="433389" y="5468240"/>
                <a:ext cx="2900361" cy="369332"/>
              </a:xfrm>
              <a:prstGeom prst="rect">
                <a:avLst/>
              </a:prstGeom>
              <a:noFill/>
            </p:spPr>
            <p:txBody>
              <a:bodyPr wrap="square" lIns="0" tIns="0" rIns="0" bIns="0" rtlCol="0">
                <a:spAutoFit/>
              </a:bodyPr>
              <a:lstStyle/>
              <a:p>
                <a:pPr/>
                <a14:m>
                  <m:oMathPara xmlns:m="http://schemas.openxmlformats.org/officeDocument/2006/math">
                    <m:oMathParaPr>
                      <m:jc m:val="left"/>
                    </m:oMathParaPr>
                    <m:oMath>
                      <m:sSup>
                        <m:sSupPr>
                          <m:ctrlPr>
                            <a:rPr lang="en-BE" sz="2400" b="0" i="1" smtClean="0">
                              <a:solidFill>
                                <a:schemeClr val="accent2"/>
                              </a:solidFill>
                              <a:latin typeface="Cambria Math" panose="02040503050406030204" pitchFamily="18" charset="0"/>
                            </a:rPr>
                          </m:ctrlPr>
                        </m:sSupPr>
                        <m:e>
                          <m:r>
                            <a:rPr lang="en-BE" sz="2400" b="0" i="1" smtClean="0">
                              <a:solidFill>
                                <a:schemeClr val="accent2"/>
                              </a:solidFill>
                              <a:latin typeface="Cambria Math" panose="02040503050406030204" pitchFamily="18" charset="0"/>
                            </a:rPr>
                            <m:t>𝑎</m:t>
                          </m:r>
                        </m:e>
                        <m:sup>
                          <m:r>
                            <a:rPr lang="en-BE" sz="2400" b="0" i="1" smtClean="0">
                              <a:solidFill>
                                <a:schemeClr val="accent2"/>
                              </a:solidFill>
                              <a:latin typeface="Cambria Math" panose="02040503050406030204" pitchFamily="18" charset="0"/>
                            </a:rPr>
                            <m:t>1</m:t>
                          </m:r>
                        </m:sup>
                      </m:sSup>
                      <m:r>
                        <a:rPr lang="en-BE" sz="2400" b="0" i="1" smtClean="0">
                          <a:latin typeface="Cambria Math" panose="02040503050406030204" pitchFamily="18" charset="0"/>
                        </a:rPr>
                        <m:t>=</m:t>
                      </m:r>
                      <m:r>
                        <a:rPr lang="en-BE" sz="2400" b="0" i="1" smtClean="0">
                          <a:latin typeface="Cambria Math" panose="02040503050406030204" pitchFamily="18" charset="0"/>
                          <a:ea typeface="Cambria Math" panose="02040503050406030204" pitchFamily="18" charset="0"/>
                        </a:rPr>
                        <m:t>𝜎</m:t>
                      </m:r>
                      <m:r>
                        <a:rPr lang="en-BE" sz="2400" b="0" i="1" smtClean="0">
                          <a:latin typeface="Cambria Math" panose="02040503050406030204" pitchFamily="18" charset="0"/>
                          <a:ea typeface="Cambria Math" panose="02040503050406030204" pitchFamily="18" charset="0"/>
                        </a:rPr>
                        <m:t>(</m:t>
                      </m:r>
                      <m:sSup>
                        <m:sSupPr>
                          <m:ctrlPr>
                            <a:rPr lang="en-BE" sz="2400" b="0" i="1" smtClean="0">
                              <a:solidFill>
                                <a:schemeClr val="accent1"/>
                              </a:solidFill>
                              <a:latin typeface="Cambria Math" panose="02040503050406030204" pitchFamily="18" charset="0"/>
                              <a:ea typeface="Cambria Math" panose="02040503050406030204" pitchFamily="18" charset="0"/>
                            </a:rPr>
                          </m:ctrlPr>
                        </m:sSupPr>
                        <m:e>
                          <m:r>
                            <a:rPr lang="en-BE" sz="2400" b="0" i="1" smtClean="0">
                              <a:solidFill>
                                <a:schemeClr val="accent1"/>
                              </a:solidFill>
                              <a:latin typeface="Cambria Math" panose="02040503050406030204" pitchFamily="18" charset="0"/>
                              <a:ea typeface="Cambria Math" panose="02040503050406030204" pitchFamily="18" charset="0"/>
                            </a:rPr>
                            <m:t>𝑊</m:t>
                          </m:r>
                        </m:e>
                        <m:sup>
                          <m:r>
                            <a:rPr lang="en-BE" sz="2400" b="0" i="1" smtClean="0">
                              <a:solidFill>
                                <a:schemeClr val="accent1"/>
                              </a:solidFill>
                              <a:latin typeface="Cambria Math" panose="02040503050406030204" pitchFamily="18" charset="0"/>
                              <a:ea typeface="Cambria Math" panose="02040503050406030204" pitchFamily="18" charset="0"/>
                            </a:rPr>
                            <m:t>1</m:t>
                          </m:r>
                        </m:sup>
                      </m:sSup>
                      <m:r>
                        <a:rPr lang="en-BE" sz="2400" i="1" smtClean="0">
                          <a:latin typeface="Cambria Math" panose="02040503050406030204" pitchFamily="18" charset="0"/>
                          <a:ea typeface="Cambria Math" panose="02040503050406030204" pitchFamily="18" charset="0"/>
                        </a:rPr>
                        <m:t>∙</m:t>
                      </m:r>
                      <m:sSup>
                        <m:sSupPr>
                          <m:ctrlPr>
                            <a:rPr lang="en-BE" sz="2400" b="0" i="1" smtClean="0">
                              <a:latin typeface="Cambria Math" panose="02040503050406030204" pitchFamily="18" charset="0"/>
                              <a:ea typeface="Cambria Math" panose="02040503050406030204" pitchFamily="18" charset="0"/>
                            </a:rPr>
                          </m:ctrlPr>
                        </m:sSupPr>
                        <m:e>
                          <m:r>
                            <a:rPr lang="en-BE" sz="2400" b="0" i="1" smtClean="0">
                              <a:latin typeface="Cambria Math" panose="02040503050406030204" pitchFamily="18" charset="0"/>
                              <a:ea typeface="Cambria Math" panose="02040503050406030204" pitchFamily="18" charset="0"/>
                            </a:rPr>
                            <m:t>𝑎</m:t>
                          </m:r>
                        </m:e>
                        <m:sup>
                          <m:r>
                            <a:rPr lang="en-BE" sz="2400" b="0" i="1" smtClean="0">
                              <a:latin typeface="Cambria Math" panose="02040503050406030204" pitchFamily="18" charset="0"/>
                              <a:ea typeface="Cambria Math" panose="02040503050406030204" pitchFamily="18" charset="0"/>
                            </a:rPr>
                            <m:t>0</m:t>
                          </m:r>
                        </m:sup>
                      </m:sSup>
                      <m:r>
                        <a:rPr lang="en-BE" sz="2400" b="0" i="1" smtClean="0">
                          <a:latin typeface="Cambria Math" panose="02040503050406030204" pitchFamily="18" charset="0"/>
                          <a:ea typeface="Cambria Math" panose="02040503050406030204" pitchFamily="18" charset="0"/>
                        </a:rPr>
                        <m:t>+</m:t>
                      </m:r>
                      <m:sSup>
                        <m:sSupPr>
                          <m:ctrlPr>
                            <a:rPr lang="en-BE" sz="2400" b="0" i="1" smtClean="0">
                              <a:solidFill>
                                <a:schemeClr val="accent6"/>
                              </a:solidFill>
                              <a:latin typeface="Cambria Math" panose="02040503050406030204" pitchFamily="18" charset="0"/>
                              <a:ea typeface="Cambria Math" panose="02040503050406030204" pitchFamily="18" charset="0"/>
                            </a:rPr>
                          </m:ctrlPr>
                        </m:sSupPr>
                        <m:e>
                          <m:r>
                            <a:rPr lang="en-BE" sz="2400" b="0" i="1" smtClean="0">
                              <a:solidFill>
                                <a:schemeClr val="accent6"/>
                              </a:solidFill>
                              <a:latin typeface="Cambria Math" panose="02040503050406030204" pitchFamily="18" charset="0"/>
                              <a:ea typeface="Cambria Math" panose="02040503050406030204" pitchFamily="18" charset="0"/>
                            </a:rPr>
                            <m:t>𝑏</m:t>
                          </m:r>
                        </m:e>
                        <m:sup>
                          <m:r>
                            <a:rPr lang="en-BE" sz="2400" i="1">
                              <a:solidFill>
                                <a:schemeClr val="accent6"/>
                              </a:solidFill>
                              <a:latin typeface="Cambria Math" panose="02040503050406030204" pitchFamily="18" charset="0"/>
                              <a:ea typeface="Cambria Math" panose="02040503050406030204" pitchFamily="18" charset="0"/>
                            </a:rPr>
                            <m:t>1</m:t>
                          </m:r>
                        </m:sup>
                      </m:sSup>
                      <m:r>
                        <a:rPr lang="en-BE" sz="2400" b="0" i="1" smtClean="0">
                          <a:latin typeface="Cambria Math" panose="02040503050406030204" pitchFamily="18" charset="0"/>
                          <a:ea typeface="Cambria Math" panose="02040503050406030204" pitchFamily="18" charset="0"/>
                        </a:rPr>
                        <m:t>)</m:t>
                      </m:r>
                    </m:oMath>
                  </m:oMathPara>
                </a14:m>
                <a:endParaRPr lang="en-BE" sz="2400"/>
              </a:p>
            </p:txBody>
          </p:sp>
        </mc:Choice>
        <mc:Fallback xmlns="">
          <p:sp>
            <p:nvSpPr>
              <p:cNvPr id="97" name="TextBox 96">
                <a:extLst>
                  <a:ext uri="{FF2B5EF4-FFF2-40B4-BE49-F238E27FC236}">
                    <a16:creationId xmlns:a16="http://schemas.microsoft.com/office/drawing/2014/main" id="{1DF10D2C-AA6F-E2CE-76CF-D3D8654FA045}"/>
                  </a:ext>
                </a:extLst>
              </p:cNvPr>
              <p:cNvSpPr txBox="1">
                <a:spLocks noRot="1" noChangeAspect="1" noMove="1" noResize="1" noEditPoints="1" noAdjustHandles="1" noChangeArrowheads="1" noChangeShapeType="1" noTextEdit="1"/>
              </p:cNvSpPr>
              <p:nvPr/>
            </p:nvSpPr>
            <p:spPr>
              <a:xfrm>
                <a:off x="433389" y="5468240"/>
                <a:ext cx="2900361" cy="369332"/>
              </a:xfrm>
              <a:prstGeom prst="rect">
                <a:avLst/>
              </a:prstGeom>
              <a:blipFill>
                <a:blip r:embed="rId9"/>
                <a:stretch>
                  <a:fillRect l="-2521" t="-24590" r="-5882" b="-4918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AD079A61-1CB5-DB17-BF4B-0766DB615BD2}"/>
                  </a:ext>
                </a:extLst>
              </p:cNvPr>
              <p:cNvSpPr txBox="1"/>
              <p:nvPr/>
            </p:nvSpPr>
            <p:spPr>
              <a:xfrm>
                <a:off x="3159516" y="1967458"/>
                <a:ext cx="526264" cy="372859"/>
              </a:xfrm>
              <a:prstGeom prst="rect">
                <a:avLst/>
              </a:prstGeom>
              <a:noFill/>
            </p:spPr>
            <p:txBody>
              <a:bodyPr wrap="square" lIns="0" tIns="0" rIns="0" bIns="0" rtlCol="0">
                <a:spAutoFit/>
              </a:bodyPr>
              <a:lstStyle/>
              <a:p>
                <a:pPr/>
                <a14:m>
                  <m:oMathPara xmlns:m="http://schemas.openxmlformats.org/officeDocument/2006/math">
                    <m:oMath>
                      <m:sSubSup>
                        <m:sSubSupPr>
                          <m:ctrlPr>
                            <a:rPr lang="en-GB" sz="2400" b="0" i="1" smtClean="0">
                              <a:solidFill>
                                <a:schemeClr val="accent2"/>
                              </a:solidFill>
                              <a:latin typeface="Cambria Math" panose="02040503050406030204" pitchFamily="18" charset="0"/>
                            </a:rPr>
                          </m:ctrlPr>
                        </m:sSubSupPr>
                        <m:e>
                          <m:r>
                            <a:rPr lang="en-GB" sz="2400" b="0" i="1" smtClean="0">
                              <a:solidFill>
                                <a:schemeClr val="accent2"/>
                              </a:solidFill>
                              <a:latin typeface="Cambria Math" panose="02040503050406030204" pitchFamily="18" charset="0"/>
                            </a:rPr>
                            <m:t>𝑎</m:t>
                          </m:r>
                        </m:e>
                        <m:sub>
                          <m:r>
                            <a:rPr lang="en-GB" sz="2400" b="0" i="1" smtClean="0">
                              <a:solidFill>
                                <a:schemeClr val="accent2"/>
                              </a:solidFill>
                              <a:latin typeface="Cambria Math" panose="02040503050406030204" pitchFamily="18" charset="0"/>
                            </a:rPr>
                            <m:t>1</m:t>
                          </m:r>
                        </m:sub>
                        <m:sup>
                          <m:r>
                            <a:rPr lang="en-GB" sz="2400" b="0" i="1" smtClean="0">
                              <a:solidFill>
                                <a:schemeClr val="accent2"/>
                              </a:solidFill>
                              <a:latin typeface="Cambria Math" panose="02040503050406030204" pitchFamily="18" charset="0"/>
                            </a:rPr>
                            <m:t>1</m:t>
                          </m:r>
                        </m:sup>
                      </m:sSubSup>
                    </m:oMath>
                  </m:oMathPara>
                </a14:m>
                <a:endParaRPr lang="en-GB" sz="2400" b="0">
                  <a:solidFill>
                    <a:schemeClr val="accent2"/>
                  </a:solidFill>
                </a:endParaRPr>
              </a:p>
            </p:txBody>
          </p:sp>
        </mc:Choice>
        <mc:Fallback xmlns="">
          <p:sp>
            <p:nvSpPr>
              <p:cNvPr id="2" name="TextBox 1">
                <a:extLst>
                  <a:ext uri="{FF2B5EF4-FFF2-40B4-BE49-F238E27FC236}">
                    <a16:creationId xmlns:a16="http://schemas.microsoft.com/office/drawing/2014/main" id="{AD079A61-1CB5-DB17-BF4B-0766DB615BD2}"/>
                  </a:ext>
                </a:extLst>
              </p:cNvPr>
              <p:cNvSpPr txBox="1">
                <a:spLocks noRot="1" noChangeAspect="1" noMove="1" noResize="1" noEditPoints="1" noAdjustHandles="1" noChangeArrowheads="1" noChangeShapeType="1" noTextEdit="1"/>
              </p:cNvSpPr>
              <p:nvPr/>
            </p:nvSpPr>
            <p:spPr>
              <a:xfrm>
                <a:off x="3159516" y="1967458"/>
                <a:ext cx="526264" cy="372859"/>
              </a:xfrm>
              <a:prstGeom prst="rect">
                <a:avLst/>
              </a:prstGeom>
              <a:blipFill>
                <a:blip r:embed="rId10"/>
                <a:stretch>
                  <a:fillRect t="-24590" r="-29885" b="-4918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5E7CE9E-6B25-7030-EF97-E17513104271}"/>
                  </a:ext>
                </a:extLst>
              </p:cNvPr>
              <p:cNvSpPr txBox="1"/>
              <p:nvPr/>
            </p:nvSpPr>
            <p:spPr>
              <a:xfrm>
                <a:off x="3140866" y="3662973"/>
                <a:ext cx="526264" cy="375424"/>
              </a:xfrm>
              <a:prstGeom prst="rect">
                <a:avLst/>
              </a:prstGeom>
              <a:noFill/>
            </p:spPr>
            <p:txBody>
              <a:bodyPr wrap="square" lIns="0" tIns="0" rIns="0" bIns="0" rtlCol="0">
                <a:spAutoFit/>
              </a:bodyPr>
              <a:lstStyle/>
              <a:p>
                <a:pPr/>
                <a14:m>
                  <m:oMathPara xmlns:m="http://schemas.openxmlformats.org/officeDocument/2006/math">
                    <m:oMath>
                      <m:sSubSup>
                        <m:sSubSupPr>
                          <m:ctrlPr>
                            <a:rPr lang="en-GB" sz="2400" b="0" i="1" smtClean="0">
                              <a:solidFill>
                                <a:schemeClr val="accent2"/>
                              </a:solidFill>
                              <a:latin typeface="Cambria Math" panose="02040503050406030204" pitchFamily="18" charset="0"/>
                            </a:rPr>
                          </m:ctrlPr>
                        </m:sSubSupPr>
                        <m:e>
                          <m:r>
                            <a:rPr lang="en-GB" sz="2400" b="0" i="1" smtClean="0">
                              <a:solidFill>
                                <a:schemeClr val="accent2"/>
                              </a:solidFill>
                              <a:latin typeface="Cambria Math" panose="02040503050406030204" pitchFamily="18" charset="0"/>
                            </a:rPr>
                            <m:t>𝑎</m:t>
                          </m:r>
                        </m:e>
                        <m:sub>
                          <m:r>
                            <a:rPr lang="en-BE" sz="2400" b="0" i="1" smtClean="0">
                              <a:solidFill>
                                <a:schemeClr val="accent2"/>
                              </a:solidFill>
                              <a:latin typeface="Cambria Math" panose="02040503050406030204" pitchFamily="18" charset="0"/>
                            </a:rPr>
                            <m:t>𝑛</m:t>
                          </m:r>
                        </m:sub>
                        <m:sup>
                          <m:r>
                            <a:rPr lang="en-GB" sz="2400" b="0" i="1" smtClean="0">
                              <a:solidFill>
                                <a:schemeClr val="accent2"/>
                              </a:solidFill>
                              <a:latin typeface="Cambria Math" panose="02040503050406030204" pitchFamily="18" charset="0"/>
                            </a:rPr>
                            <m:t>1</m:t>
                          </m:r>
                        </m:sup>
                      </m:sSubSup>
                    </m:oMath>
                  </m:oMathPara>
                </a14:m>
                <a:endParaRPr lang="en-GB" sz="2400" b="0">
                  <a:solidFill>
                    <a:schemeClr val="accent2"/>
                  </a:solidFill>
                </a:endParaRPr>
              </a:p>
            </p:txBody>
          </p:sp>
        </mc:Choice>
        <mc:Fallback xmlns="">
          <p:sp>
            <p:nvSpPr>
              <p:cNvPr id="3" name="TextBox 2">
                <a:extLst>
                  <a:ext uri="{FF2B5EF4-FFF2-40B4-BE49-F238E27FC236}">
                    <a16:creationId xmlns:a16="http://schemas.microsoft.com/office/drawing/2014/main" id="{D5E7CE9E-6B25-7030-EF97-E17513104271}"/>
                  </a:ext>
                </a:extLst>
              </p:cNvPr>
              <p:cNvSpPr txBox="1">
                <a:spLocks noRot="1" noChangeAspect="1" noMove="1" noResize="1" noEditPoints="1" noAdjustHandles="1" noChangeArrowheads="1" noChangeShapeType="1" noTextEdit="1"/>
              </p:cNvSpPr>
              <p:nvPr/>
            </p:nvSpPr>
            <p:spPr>
              <a:xfrm>
                <a:off x="3140866" y="3662973"/>
                <a:ext cx="526264" cy="375424"/>
              </a:xfrm>
              <a:prstGeom prst="rect">
                <a:avLst/>
              </a:prstGeom>
              <a:blipFill>
                <a:blip r:embed="rId11"/>
                <a:stretch>
                  <a:fillRect t="-26230" r="-31034" b="-475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DF77958-5EED-8E4B-85F2-3A67949408B6}"/>
                  </a:ext>
                </a:extLst>
              </p:cNvPr>
              <p:cNvSpPr txBox="1"/>
              <p:nvPr/>
            </p:nvSpPr>
            <p:spPr>
              <a:xfrm>
                <a:off x="3164290" y="1114334"/>
                <a:ext cx="526264" cy="372859"/>
              </a:xfrm>
              <a:prstGeom prst="rect">
                <a:avLst/>
              </a:prstGeom>
              <a:noFill/>
            </p:spPr>
            <p:txBody>
              <a:bodyPr wrap="square" lIns="0" tIns="0" rIns="0" bIns="0" rtlCol="0">
                <a:spAutoFit/>
              </a:bodyPr>
              <a:lstStyle/>
              <a:p>
                <a:pPr/>
                <a14:m>
                  <m:oMathPara xmlns:m="http://schemas.openxmlformats.org/officeDocument/2006/math">
                    <m:oMath>
                      <m:sSubSup>
                        <m:sSubSupPr>
                          <m:ctrlPr>
                            <a:rPr lang="en-GB" sz="2400" b="0" i="1" smtClean="0">
                              <a:solidFill>
                                <a:schemeClr val="accent2"/>
                              </a:solidFill>
                              <a:latin typeface="Cambria Math" panose="02040503050406030204" pitchFamily="18" charset="0"/>
                            </a:rPr>
                          </m:ctrlPr>
                        </m:sSubSupPr>
                        <m:e>
                          <m:r>
                            <a:rPr lang="en-GB" sz="2400" b="0" i="1" smtClean="0">
                              <a:solidFill>
                                <a:schemeClr val="accent2"/>
                              </a:solidFill>
                              <a:latin typeface="Cambria Math" panose="02040503050406030204" pitchFamily="18" charset="0"/>
                            </a:rPr>
                            <m:t>𝑎</m:t>
                          </m:r>
                        </m:e>
                        <m:sub>
                          <m:r>
                            <a:rPr lang="en-BE" sz="2400" b="0" i="1" smtClean="0">
                              <a:solidFill>
                                <a:schemeClr val="accent2"/>
                              </a:solidFill>
                              <a:latin typeface="Cambria Math" panose="02040503050406030204" pitchFamily="18" charset="0"/>
                            </a:rPr>
                            <m:t>0</m:t>
                          </m:r>
                        </m:sub>
                        <m:sup>
                          <m:r>
                            <a:rPr lang="en-GB" sz="2400" b="0" i="1" smtClean="0">
                              <a:solidFill>
                                <a:schemeClr val="accent2"/>
                              </a:solidFill>
                              <a:latin typeface="Cambria Math" panose="02040503050406030204" pitchFamily="18" charset="0"/>
                            </a:rPr>
                            <m:t>1</m:t>
                          </m:r>
                        </m:sup>
                      </m:sSubSup>
                    </m:oMath>
                  </m:oMathPara>
                </a14:m>
                <a:endParaRPr lang="en-GB" sz="2400" b="0">
                  <a:solidFill>
                    <a:schemeClr val="accent2"/>
                  </a:solidFill>
                </a:endParaRPr>
              </a:p>
            </p:txBody>
          </p:sp>
        </mc:Choice>
        <mc:Fallback xmlns="">
          <p:sp>
            <p:nvSpPr>
              <p:cNvPr id="6" name="TextBox 5">
                <a:extLst>
                  <a:ext uri="{FF2B5EF4-FFF2-40B4-BE49-F238E27FC236}">
                    <a16:creationId xmlns:a16="http://schemas.microsoft.com/office/drawing/2014/main" id="{ADF77958-5EED-8E4B-85F2-3A67949408B6}"/>
                  </a:ext>
                </a:extLst>
              </p:cNvPr>
              <p:cNvSpPr txBox="1">
                <a:spLocks noRot="1" noChangeAspect="1" noMove="1" noResize="1" noEditPoints="1" noAdjustHandles="1" noChangeArrowheads="1" noChangeShapeType="1" noTextEdit="1"/>
              </p:cNvSpPr>
              <p:nvPr/>
            </p:nvSpPr>
            <p:spPr>
              <a:xfrm>
                <a:off x="3164290" y="1114334"/>
                <a:ext cx="526264" cy="372859"/>
              </a:xfrm>
              <a:prstGeom prst="rect">
                <a:avLst/>
              </a:prstGeom>
              <a:blipFill>
                <a:blip r:embed="rId12"/>
                <a:stretch>
                  <a:fillRect t="-24590" r="-31395" b="-4918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1C15D1A-1B80-20D2-1763-6828D400FB73}"/>
                  </a:ext>
                </a:extLst>
              </p:cNvPr>
              <p:cNvSpPr txBox="1"/>
              <p:nvPr/>
            </p:nvSpPr>
            <p:spPr>
              <a:xfrm>
                <a:off x="4491418" y="1105251"/>
                <a:ext cx="7255064" cy="399918"/>
              </a:xfrm>
              <a:prstGeom prst="rect">
                <a:avLst/>
              </a:prstGeom>
              <a:noFill/>
            </p:spPr>
            <p:txBody>
              <a:bodyPr wrap="square" lIns="0" tIns="0" rIns="0" bIns="0" rtlCol="0">
                <a:spAutoFit/>
              </a:bodyPr>
              <a:lstStyle/>
              <a:p>
                <a:pPr algn="ctr"/>
                <a14:m>
                  <m:oMath xmlns:m="http://schemas.openxmlformats.org/officeDocument/2006/math">
                    <m:sSubSup>
                      <m:sSubSupPr>
                        <m:ctrlPr>
                          <a:rPr lang="en-BE" sz="2400" i="1">
                            <a:solidFill>
                              <a:schemeClr val="accent2"/>
                            </a:solidFill>
                            <a:latin typeface="Cambria Math" panose="02040503050406030204" pitchFamily="18" charset="0"/>
                          </a:rPr>
                        </m:ctrlPr>
                      </m:sSubSupPr>
                      <m:e>
                        <m:r>
                          <a:rPr lang="en-BE" sz="2400" i="1">
                            <a:solidFill>
                              <a:schemeClr val="accent2"/>
                            </a:solidFill>
                            <a:latin typeface="Cambria Math" panose="02040503050406030204" pitchFamily="18" charset="0"/>
                          </a:rPr>
                          <m:t>𝑎</m:t>
                        </m:r>
                      </m:e>
                      <m:sub>
                        <m:r>
                          <a:rPr lang="en-BE" sz="2400" i="1">
                            <a:solidFill>
                              <a:schemeClr val="accent2"/>
                            </a:solidFill>
                            <a:latin typeface="Cambria Math" panose="02040503050406030204" pitchFamily="18" charset="0"/>
                          </a:rPr>
                          <m:t>0</m:t>
                        </m:r>
                      </m:sub>
                      <m:sup>
                        <m:r>
                          <a:rPr lang="en-BE" sz="2400" b="0" i="1" smtClean="0">
                            <a:solidFill>
                              <a:schemeClr val="accent2"/>
                            </a:solidFill>
                            <a:latin typeface="Cambria Math" panose="02040503050406030204" pitchFamily="18" charset="0"/>
                          </a:rPr>
                          <m:t>1</m:t>
                        </m:r>
                      </m:sup>
                    </m:sSubSup>
                    <m:r>
                      <a:rPr lang="en-BE" sz="2400" b="0" i="1" smtClean="0">
                        <a:latin typeface="Cambria Math" panose="02040503050406030204" pitchFamily="18" charset="0"/>
                      </a:rPr>
                      <m:t>=</m:t>
                    </m:r>
                    <m:r>
                      <a:rPr lang="en-BE" sz="2400" b="0" i="1" smtClean="0">
                        <a:latin typeface="Cambria Math" panose="02040503050406030204" pitchFamily="18" charset="0"/>
                        <a:ea typeface="Cambria Math" panose="02040503050406030204" pitchFamily="18" charset="0"/>
                      </a:rPr>
                      <m:t>𝜎</m:t>
                    </m:r>
                    <m:r>
                      <a:rPr lang="en-BE" sz="2400" b="0" i="1" smtClean="0">
                        <a:latin typeface="Cambria Math" panose="02040503050406030204" pitchFamily="18" charset="0"/>
                        <a:ea typeface="Cambria Math" panose="02040503050406030204" pitchFamily="18" charset="0"/>
                      </a:rPr>
                      <m:t>(</m:t>
                    </m:r>
                    <m:sSub>
                      <m:sSubPr>
                        <m:ctrlPr>
                          <a:rPr lang="en-BE" sz="2400" i="1">
                            <a:solidFill>
                              <a:schemeClr val="accent1"/>
                            </a:solidFill>
                            <a:latin typeface="Cambria Math" panose="02040503050406030204" pitchFamily="18" charset="0"/>
                          </a:rPr>
                        </m:ctrlPr>
                      </m:sSubPr>
                      <m:e>
                        <m:r>
                          <a:rPr lang="en-BE" sz="2400" i="1">
                            <a:solidFill>
                              <a:schemeClr val="accent1"/>
                            </a:solidFill>
                            <a:latin typeface="Cambria Math" panose="02040503050406030204" pitchFamily="18" charset="0"/>
                          </a:rPr>
                          <m:t>𝑤</m:t>
                        </m:r>
                      </m:e>
                      <m:sub>
                        <m:r>
                          <a:rPr lang="en-BE" sz="2400" i="1">
                            <a:solidFill>
                              <a:schemeClr val="accent1"/>
                            </a:solidFill>
                            <a:latin typeface="Cambria Math" panose="02040503050406030204" pitchFamily="18" charset="0"/>
                          </a:rPr>
                          <m:t>0,0</m:t>
                        </m:r>
                      </m:sub>
                    </m:sSub>
                    <m:r>
                      <a:rPr lang="en-BE" sz="2400" i="1" smtClean="0">
                        <a:latin typeface="Cambria Math" panose="02040503050406030204" pitchFamily="18" charset="0"/>
                        <a:ea typeface="Cambria Math" panose="02040503050406030204" pitchFamily="18" charset="0"/>
                      </a:rPr>
                      <m:t>∙</m:t>
                    </m:r>
                    <m:sSubSup>
                      <m:sSubSupPr>
                        <m:ctrlPr>
                          <a:rPr lang="en-BE" sz="2400" i="1">
                            <a:latin typeface="Cambria Math" panose="02040503050406030204" pitchFamily="18" charset="0"/>
                          </a:rPr>
                        </m:ctrlPr>
                      </m:sSubSupPr>
                      <m:e>
                        <m:r>
                          <a:rPr lang="en-BE" sz="2400" i="1">
                            <a:latin typeface="Cambria Math" panose="02040503050406030204" pitchFamily="18" charset="0"/>
                          </a:rPr>
                          <m:t>𝑎</m:t>
                        </m:r>
                      </m:e>
                      <m:sub>
                        <m:r>
                          <a:rPr lang="en-BE" sz="2400" i="1">
                            <a:latin typeface="Cambria Math" panose="02040503050406030204" pitchFamily="18" charset="0"/>
                          </a:rPr>
                          <m:t>0</m:t>
                        </m:r>
                      </m:sub>
                      <m:sup>
                        <m:r>
                          <a:rPr lang="en-BE" sz="2400" i="1" smtClean="0">
                            <a:latin typeface="Cambria Math" panose="02040503050406030204" pitchFamily="18" charset="0"/>
                          </a:rPr>
                          <m:t>0</m:t>
                        </m:r>
                      </m:sup>
                    </m:sSubSup>
                    <m:r>
                      <a:rPr lang="en-BE" sz="2400" b="0" i="1" smtClean="0">
                        <a:latin typeface="Cambria Math" panose="02040503050406030204" pitchFamily="18" charset="0"/>
                      </a:rPr>
                      <m:t>+</m:t>
                    </m:r>
                    <m:sSub>
                      <m:sSubPr>
                        <m:ctrlPr>
                          <a:rPr lang="en-BE" sz="2400" i="1">
                            <a:solidFill>
                              <a:schemeClr val="accent1"/>
                            </a:solidFill>
                            <a:latin typeface="Cambria Math" panose="02040503050406030204" pitchFamily="18" charset="0"/>
                          </a:rPr>
                        </m:ctrlPr>
                      </m:sSubPr>
                      <m:e>
                        <m:r>
                          <a:rPr lang="en-BE" sz="2400" i="1">
                            <a:solidFill>
                              <a:schemeClr val="accent1"/>
                            </a:solidFill>
                            <a:latin typeface="Cambria Math" panose="02040503050406030204" pitchFamily="18" charset="0"/>
                          </a:rPr>
                          <m:t>𝑤</m:t>
                        </m:r>
                      </m:e>
                      <m:sub>
                        <m:r>
                          <a:rPr lang="en-BE" sz="2400" i="1">
                            <a:solidFill>
                              <a:schemeClr val="accent1"/>
                            </a:solidFill>
                            <a:latin typeface="Cambria Math" panose="02040503050406030204" pitchFamily="18" charset="0"/>
                          </a:rPr>
                          <m:t>0,1</m:t>
                        </m:r>
                      </m:sub>
                    </m:sSub>
                    <m:r>
                      <a:rPr lang="en-BE" sz="2400" i="1">
                        <a:latin typeface="Cambria Math" panose="02040503050406030204" pitchFamily="18" charset="0"/>
                        <a:ea typeface="Cambria Math" panose="02040503050406030204" pitchFamily="18" charset="0"/>
                      </a:rPr>
                      <m:t>∙</m:t>
                    </m:r>
                    <m:sSubSup>
                      <m:sSubSupPr>
                        <m:ctrlPr>
                          <a:rPr lang="en-BE" sz="2400" i="1">
                            <a:latin typeface="Cambria Math" panose="02040503050406030204" pitchFamily="18" charset="0"/>
                          </a:rPr>
                        </m:ctrlPr>
                      </m:sSubSupPr>
                      <m:e>
                        <m:r>
                          <a:rPr lang="en-BE" sz="2400" i="1">
                            <a:latin typeface="Cambria Math" panose="02040503050406030204" pitchFamily="18" charset="0"/>
                          </a:rPr>
                          <m:t>𝑎</m:t>
                        </m:r>
                      </m:e>
                      <m:sub>
                        <m:r>
                          <a:rPr lang="en-BE" sz="2400" i="1">
                            <a:latin typeface="Cambria Math" panose="02040503050406030204" pitchFamily="18" charset="0"/>
                          </a:rPr>
                          <m:t>1</m:t>
                        </m:r>
                      </m:sub>
                      <m:sup>
                        <m:r>
                          <a:rPr lang="en-BE" sz="2400" i="1" smtClean="0">
                            <a:latin typeface="Cambria Math" panose="02040503050406030204" pitchFamily="18" charset="0"/>
                          </a:rPr>
                          <m:t>0</m:t>
                        </m:r>
                      </m:sup>
                    </m:sSubSup>
                    <m:r>
                      <a:rPr lang="en-BE" sz="2400" b="0" i="1" smtClean="0">
                        <a:latin typeface="Cambria Math" panose="02040503050406030204" pitchFamily="18" charset="0"/>
                      </a:rPr>
                      <m:t>+ …+</m:t>
                    </m:r>
                    <m:sSub>
                      <m:sSubPr>
                        <m:ctrlPr>
                          <a:rPr lang="en-BE" sz="2400" i="1">
                            <a:solidFill>
                              <a:schemeClr val="accent1"/>
                            </a:solidFill>
                            <a:latin typeface="Cambria Math" panose="02040503050406030204" pitchFamily="18" charset="0"/>
                          </a:rPr>
                        </m:ctrlPr>
                      </m:sSubPr>
                      <m:e>
                        <m:r>
                          <a:rPr lang="en-BE" sz="2400" i="1">
                            <a:solidFill>
                              <a:schemeClr val="accent1"/>
                            </a:solidFill>
                            <a:latin typeface="Cambria Math" panose="02040503050406030204" pitchFamily="18" charset="0"/>
                          </a:rPr>
                          <m:t>𝑤</m:t>
                        </m:r>
                      </m:e>
                      <m:sub>
                        <m:r>
                          <a:rPr lang="en-BE" sz="2400" i="1">
                            <a:solidFill>
                              <a:schemeClr val="accent1"/>
                            </a:solidFill>
                            <a:latin typeface="Cambria Math" panose="02040503050406030204" pitchFamily="18" charset="0"/>
                          </a:rPr>
                          <m:t>0,</m:t>
                        </m:r>
                        <m:r>
                          <a:rPr lang="en-BE" sz="2400" b="0" i="1" smtClean="0">
                            <a:solidFill>
                              <a:schemeClr val="accent1"/>
                            </a:solidFill>
                            <a:latin typeface="Cambria Math" panose="02040503050406030204" pitchFamily="18" charset="0"/>
                          </a:rPr>
                          <m:t>𝑛</m:t>
                        </m:r>
                      </m:sub>
                    </m:sSub>
                    <m:r>
                      <a:rPr lang="en-BE" sz="2400" i="1">
                        <a:latin typeface="Cambria Math" panose="02040503050406030204" pitchFamily="18" charset="0"/>
                        <a:ea typeface="Cambria Math" panose="02040503050406030204" pitchFamily="18" charset="0"/>
                      </a:rPr>
                      <m:t>∙</m:t>
                    </m:r>
                    <m:sSubSup>
                      <m:sSubSupPr>
                        <m:ctrlPr>
                          <a:rPr lang="en-BE" sz="2400" i="1">
                            <a:latin typeface="Cambria Math" panose="02040503050406030204" pitchFamily="18" charset="0"/>
                          </a:rPr>
                        </m:ctrlPr>
                      </m:sSubSupPr>
                      <m:e>
                        <m:r>
                          <a:rPr lang="en-BE" sz="2400" i="1">
                            <a:latin typeface="Cambria Math" panose="02040503050406030204" pitchFamily="18" charset="0"/>
                          </a:rPr>
                          <m:t>𝑎</m:t>
                        </m:r>
                      </m:e>
                      <m:sub>
                        <m:r>
                          <a:rPr lang="en-BE" sz="2400" b="0" i="1" smtClean="0">
                            <a:latin typeface="Cambria Math" panose="02040503050406030204" pitchFamily="18" charset="0"/>
                          </a:rPr>
                          <m:t>𝑛</m:t>
                        </m:r>
                      </m:sub>
                      <m:sup>
                        <m:r>
                          <a:rPr lang="en-BE" sz="2400" i="1" smtClean="0">
                            <a:latin typeface="Cambria Math" panose="02040503050406030204" pitchFamily="18" charset="0"/>
                          </a:rPr>
                          <m:t>0</m:t>
                        </m:r>
                      </m:sup>
                    </m:sSubSup>
                    <m:r>
                      <a:rPr lang="en-BE" sz="2400" b="0" i="1" smtClean="0">
                        <a:latin typeface="Cambria Math" panose="02040503050406030204" pitchFamily="18" charset="0"/>
                      </a:rPr>
                      <m:t>+</m:t>
                    </m:r>
                    <m:sSub>
                      <m:sSubPr>
                        <m:ctrlPr>
                          <a:rPr lang="en-BE" sz="2400" i="1">
                            <a:solidFill>
                              <a:schemeClr val="accent6"/>
                            </a:solidFill>
                            <a:latin typeface="Cambria Math" panose="02040503050406030204" pitchFamily="18" charset="0"/>
                          </a:rPr>
                        </m:ctrlPr>
                      </m:sSubPr>
                      <m:e>
                        <m:r>
                          <a:rPr lang="en-BE" sz="2400" i="1">
                            <a:solidFill>
                              <a:schemeClr val="accent6"/>
                            </a:solidFill>
                            <a:latin typeface="Cambria Math" panose="02040503050406030204" pitchFamily="18" charset="0"/>
                          </a:rPr>
                          <m:t>𝑏</m:t>
                        </m:r>
                      </m:e>
                      <m:sub>
                        <m:r>
                          <a:rPr lang="en-BE" sz="2400" i="1">
                            <a:solidFill>
                              <a:schemeClr val="accent6"/>
                            </a:solidFill>
                            <a:latin typeface="Cambria Math" panose="02040503050406030204" pitchFamily="18" charset="0"/>
                          </a:rPr>
                          <m:t>0</m:t>
                        </m:r>
                      </m:sub>
                    </m:sSub>
                    <m:r>
                      <a:rPr lang="en-BE" sz="2400" b="0" i="1" smtClean="0">
                        <a:latin typeface="Cambria Math" panose="02040503050406030204" pitchFamily="18" charset="0"/>
                        <a:ea typeface="Cambria Math" panose="02040503050406030204" pitchFamily="18" charset="0"/>
                      </a:rPr>
                      <m:t>)</m:t>
                    </m:r>
                  </m:oMath>
                </a14:m>
                <a:r>
                  <a:rPr lang="en-BE" sz="2400"/>
                  <a:t> </a:t>
                </a:r>
              </a:p>
            </p:txBody>
          </p:sp>
        </mc:Choice>
        <mc:Fallback xmlns="">
          <p:sp>
            <p:nvSpPr>
              <p:cNvPr id="7" name="TextBox 6">
                <a:extLst>
                  <a:ext uri="{FF2B5EF4-FFF2-40B4-BE49-F238E27FC236}">
                    <a16:creationId xmlns:a16="http://schemas.microsoft.com/office/drawing/2014/main" id="{E1C15D1A-1B80-20D2-1763-6828D400FB73}"/>
                  </a:ext>
                </a:extLst>
              </p:cNvPr>
              <p:cNvSpPr txBox="1">
                <a:spLocks noRot="1" noChangeAspect="1" noMove="1" noResize="1" noEditPoints="1" noAdjustHandles="1" noChangeArrowheads="1" noChangeShapeType="1" noTextEdit="1"/>
              </p:cNvSpPr>
              <p:nvPr/>
            </p:nvSpPr>
            <p:spPr>
              <a:xfrm>
                <a:off x="4491418" y="1105251"/>
                <a:ext cx="7255064" cy="399918"/>
              </a:xfrm>
              <a:prstGeom prst="rect">
                <a:avLst/>
              </a:prstGeom>
              <a:blipFill>
                <a:blip r:embed="rId13"/>
                <a:stretch>
                  <a:fillRect t="-18182" b="-424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2FE59C7-4489-FCFC-BDDD-A54C5CA669C2}"/>
                  </a:ext>
                </a:extLst>
              </p:cNvPr>
              <p:cNvSpPr txBox="1"/>
              <p:nvPr/>
            </p:nvSpPr>
            <p:spPr>
              <a:xfrm>
                <a:off x="4491418" y="1958375"/>
                <a:ext cx="7255064" cy="399918"/>
              </a:xfrm>
              <a:prstGeom prst="rect">
                <a:avLst/>
              </a:prstGeom>
              <a:noFill/>
            </p:spPr>
            <p:txBody>
              <a:bodyPr wrap="square" lIns="0" tIns="0" rIns="0" bIns="0" rtlCol="0">
                <a:spAutoFit/>
              </a:bodyPr>
              <a:lstStyle/>
              <a:p>
                <a:pPr algn="ctr"/>
                <a14:m>
                  <m:oMath xmlns:m="http://schemas.openxmlformats.org/officeDocument/2006/math">
                    <m:sSubSup>
                      <m:sSubSupPr>
                        <m:ctrlPr>
                          <a:rPr lang="en-BE" sz="2400" i="1">
                            <a:solidFill>
                              <a:schemeClr val="accent2"/>
                            </a:solidFill>
                            <a:latin typeface="Cambria Math" panose="02040503050406030204" pitchFamily="18" charset="0"/>
                          </a:rPr>
                        </m:ctrlPr>
                      </m:sSubSupPr>
                      <m:e>
                        <m:r>
                          <a:rPr lang="en-BE" sz="2400" i="1">
                            <a:solidFill>
                              <a:schemeClr val="accent2"/>
                            </a:solidFill>
                            <a:latin typeface="Cambria Math" panose="02040503050406030204" pitchFamily="18" charset="0"/>
                          </a:rPr>
                          <m:t>𝑎</m:t>
                        </m:r>
                      </m:e>
                      <m:sub>
                        <m:r>
                          <a:rPr lang="en-BE" sz="2400" b="0" i="1" smtClean="0">
                            <a:solidFill>
                              <a:schemeClr val="accent2"/>
                            </a:solidFill>
                            <a:latin typeface="Cambria Math" panose="02040503050406030204" pitchFamily="18" charset="0"/>
                          </a:rPr>
                          <m:t>1</m:t>
                        </m:r>
                      </m:sub>
                      <m:sup>
                        <m:r>
                          <a:rPr lang="en-BE" sz="2400" b="0" i="1" smtClean="0">
                            <a:solidFill>
                              <a:schemeClr val="accent2"/>
                            </a:solidFill>
                            <a:latin typeface="Cambria Math" panose="02040503050406030204" pitchFamily="18" charset="0"/>
                          </a:rPr>
                          <m:t>1</m:t>
                        </m:r>
                      </m:sup>
                    </m:sSubSup>
                    <m:r>
                      <a:rPr lang="en-BE" sz="2400" b="0" i="1" smtClean="0">
                        <a:latin typeface="Cambria Math" panose="02040503050406030204" pitchFamily="18" charset="0"/>
                      </a:rPr>
                      <m:t>=</m:t>
                    </m:r>
                    <m:r>
                      <a:rPr lang="en-BE" sz="2400" b="0" i="1" smtClean="0">
                        <a:latin typeface="Cambria Math" panose="02040503050406030204" pitchFamily="18" charset="0"/>
                        <a:ea typeface="Cambria Math" panose="02040503050406030204" pitchFamily="18" charset="0"/>
                      </a:rPr>
                      <m:t>𝜎</m:t>
                    </m:r>
                    <m:r>
                      <a:rPr lang="en-BE" sz="2400" b="0" i="1" smtClean="0">
                        <a:latin typeface="Cambria Math" panose="02040503050406030204" pitchFamily="18" charset="0"/>
                        <a:ea typeface="Cambria Math" panose="02040503050406030204" pitchFamily="18" charset="0"/>
                      </a:rPr>
                      <m:t>(</m:t>
                    </m:r>
                    <m:sSub>
                      <m:sSubPr>
                        <m:ctrlPr>
                          <a:rPr lang="en-BE" sz="2400" i="1">
                            <a:solidFill>
                              <a:schemeClr val="accent1"/>
                            </a:solidFill>
                            <a:latin typeface="Cambria Math" panose="02040503050406030204" pitchFamily="18" charset="0"/>
                          </a:rPr>
                        </m:ctrlPr>
                      </m:sSubPr>
                      <m:e>
                        <m:r>
                          <a:rPr lang="en-BE" sz="2400" i="1">
                            <a:solidFill>
                              <a:schemeClr val="accent1"/>
                            </a:solidFill>
                            <a:latin typeface="Cambria Math" panose="02040503050406030204" pitchFamily="18" charset="0"/>
                          </a:rPr>
                          <m:t>𝑤</m:t>
                        </m:r>
                      </m:e>
                      <m:sub>
                        <m:r>
                          <a:rPr lang="en-BE" sz="2400" b="0" i="1" smtClean="0">
                            <a:solidFill>
                              <a:schemeClr val="accent1"/>
                            </a:solidFill>
                            <a:latin typeface="Cambria Math" panose="02040503050406030204" pitchFamily="18" charset="0"/>
                          </a:rPr>
                          <m:t>1</m:t>
                        </m:r>
                        <m:r>
                          <a:rPr lang="en-BE" sz="2400" i="1">
                            <a:solidFill>
                              <a:schemeClr val="accent1"/>
                            </a:solidFill>
                            <a:latin typeface="Cambria Math" panose="02040503050406030204" pitchFamily="18" charset="0"/>
                          </a:rPr>
                          <m:t>,0</m:t>
                        </m:r>
                      </m:sub>
                    </m:sSub>
                    <m:r>
                      <a:rPr lang="en-BE" sz="2400" i="1" smtClean="0">
                        <a:latin typeface="Cambria Math" panose="02040503050406030204" pitchFamily="18" charset="0"/>
                        <a:ea typeface="Cambria Math" panose="02040503050406030204" pitchFamily="18" charset="0"/>
                      </a:rPr>
                      <m:t>∙</m:t>
                    </m:r>
                    <m:sSubSup>
                      <m:sSubSupPr>
                        <m:ctrlPr>
                          <a:rPr lang="en-BE" sz="2400" i="1">
                            <a:latin typeface="Cambria Math" panose="02040503050406030204" pitchFamily="18" charset="0"/>
                          </a:rPr>
                        </m:ctrlPr>
                      </m:sSubSupPr>
                      <m:e>
                        <m:r>
                          <a:rPr lang="en-BE" sz="2400" i="1">
                            <a:latin typeface="Cambria Math" panose="02040503050406030204" pitchFamily="18" charset="0"/>
                          </a:rPr>
                          <m:t>𝑎</m:t>
                        </m:r>
                      </m:e>
                      <m:sub>
                        <m:r>
                          <a:rPr lang="en-BE" sz="2400" i="1">
                            <a:latin typeface="Cambria Math" panose="02040503050406030204" pitchFamily="18" charset="0"/>
                          </a:rPr>
                          <m:t>0</m:t>
                        </m:r>
                      </m:sub>
                      <m:sup>
                        <m:r>
                          <a:rPr lang="en-BE" sz="2400" i="1" smtClean="0">
                            <a:latin typeface="Cambria Math" panose="02040503050406030204" pitchFamily="18" charset="0"/>
                          </a:rPr>
                          <m:t>0</m:t>
                        </m:r>
                      </m:sup>
                    </m:sSubSup>
                    <m:r>
                      <a:rPr lang="en-BE" sz="2400" b="0" i="1" smtClean="0">
                        <a:latin typeface="Cambria Math" panose="02040503050406030204" pitchFamily="18" charset="0"/>
                      </a:rPr>
                      <m:t>+</m:t>
                    </m:r>
                    <m:sSub>
                      <m:sSubPr>
                        <m:ctrlPr>
                          <a:rPr lang="en-BE" sz="2400" i="1">
                            <a:solidFill>
                              <a:schemeClr val="accent1"/>
                            </a:solidFill>
                            <a:latin typeface="Cambria Math" panose="02040503050406030204" pitchFamily="18" charset="0"/>
                          </a:rPr>
                        </m:ctrlPr>
                      </m:sSubPr>
                      <m:e>
                        <m:r>
                          <a:rPr lang="en-BE" sz="2400" i="1">
                            <a:solidFill>
                              <a:schemeClr val="accent1"/>
                            </a:solidFill>
                            <a:latin typeface="Cambria Math" panose="02040503050406030204" pitchFamily="18" charset="0"/>
                          </a:rPr>
                          <m:t>𝑤</m:t>
                        </m:r>
                      </m:e>
                      <m:sub>
                        <m:r>
                          <a:rPr lang="en-BE" sz="2400" b="0" i="1" smtClean="0">
                            <a:solidFill>
                              <a:schemeClr val="accent1"/>
                            </a:solidFill>
                            <a:latin typeface="Cambria Math" panose="02040503050406030204" pitchFamily="18" charset="0"/>
                          </a:rPr>
                          <m:t>1</m:t>
                        </m:r>
                        <m:r>
                          <a:rPr lang="en-BE" sz="2400" i="1">
                            <a:solidFill>
                              <a:schemeClr val="accent1"/>
                            </a:solidFill>
                            <a:latin typeface="Cambria Math" panose="02040503050406030204" pitchFamily="18" charset="0"/>
                          </a:rPr>
                          <m:t>,1</m:t>
                        </m:r>
                      </m:sub>
                    </m:sSub>
                    <m:r>
                      <a:rPr lang="en-BE" sz="2400" i="1">
                        <a:latin typeface="Cambria Math" panose="02040503050406030204" pitchFamily="18" charset="0"/>
                        <a:ea typeface="Cambria Math" panose="02040503050406030204" pitchFamily="18" charset="0"/>
                      </a:rPr>
                      <m:t>∙</m:t>
                    </m:r>
                    <m:sSubSup>
                      <m:sSubSupPr>
                        <m:ctrlPr>
                          <a:rPr lang="en-BE" sz="2400" i="1">
                            <a:latin typeface="Cambria Math" panose="02040503050406030204" pitchFamily="18" charset="0"/>
                          </a:rPr>
                        </m:ctrlPr>
                      </m:sSubSupPr>
                      <m:e>
                        <m:r>
                          <a:rPr lang="en-BE" sz="2400" i="1">
                            <a:latin typeface="Cambria Math" panose="02040503050406030204" pitchFamily="18" charset="0"/>
                          </a:rPr>
                          <m:t>𝑎</m:t>
                        </m:r>
                      </m:e>
                      <m:sub>
                        <m:r>
                          <a:rPr lang="en-BE" sz="2400" i="1">
                            <a:latin typeface="Cambria Math" panose="02040503050406030204" pitchFamily="18" charset="0"/>
                          </a:rPr>
                          <m:t>1</m:t>
                        </m:r>
                      </m:sub>
                      <m:sup>
                        <m:r>
                          <a:rPr lang="en-BE" sz="2400" i="1" smtClean="0">
                            <a:latin typeface="Cambria Math" panose="02040503050406030204" pitchFamily="18" charset="0"/>
                          </a:rPr>
                          <m:t>0</m:t>
                        </m:r>
                      </m:sup>
                    </m:sSubSup>
                    <m:r>
                      <a:rPr lang="en-BE" sz="2400" b="0" i="1" smtClean="0">
                        <a:latin typeface="Cambria Math" panose="02040503050406030204" pitchFamily="18" charset="0"/>
                      </a:rPr>
                      <m:t>+ …+</m:t>
                    </m:r>
                    <m:sSub>
                      <m:sSubPr>
                        <m:ctrlPr>
                          <a:rPr lang="en-BE" sz="2400" i="1">
                            <a:solidFill>
                              <a:schemeClr val="accent1"/>
                            </a:solidFill>
                            <a:latin typeface="Cambria Math" panose="02040503050406030204" pitchFamily="18" charset="0"/>
                          </a:rPr>
                        </m:ctrlPr>
                      </m:sSubPr>
                      <m:e>
                        <m:r>
                          <a:rPr lang="en-BE" sz="2400" i="1">
                            <a:solidFill>
                              <a:schemeClr val="accent1"/>
                            </a:solidFill>
                            <a:latin typeface="Cambria Math" panose="02040503050406030204" pitchFamily="18" charset="0"/>
                          </a:rPr>
                          <m:t>𝑤</m:t>
                        </m:r>
                      </m:e>
                      <m:sub>
                        <m:r>
                          <a:rPr lang="en-BE" sz="2400" b="0" i="1" smtClean="0">
                            <a:solidFill>
                              <a:schemeClr val="accent1"/>
                            </a:solidFill>
                            <a:latin typeface="Cambria Math" panose="02040503050406030204" pitchFamily="18" charset="0"/>
                          </a:rPr>
                          <m:t>1</m:t>
                        </m:r>
                        <m:r>
                          <a:rPr lang="en-BE" sz="2400" i="1">
                            <a:solidFill>
                              <a:schemeClr val="accent1"/>
                            </a:solidFill>
                            <a:latin typeface="Cambria Math" panose="02040503050406030204" pitchFamily="18" charset="0"/>
                          </a:rPr>
                          <m:t>,</m:t>
                        </m:r>
                        <m:r>
                          <a:rPr lang="en-BE" sz="2400" b="0" i="1" smtClean="0">
                            <a:solidFill>
                              <a:schemeClr val="accent1"/>
                            </a:solidFill>
                            <a:latin typeface="Cambria Math" panose="02040503050406030204" pitchFamily="18" charset="0"/>
                          </a:rPr>
                          <m:t>𝑛</m:t>
                        </m:r>
                      </m:sub>
                    </m:sSub>
                    <m:r>
                      <a:rPr lang="en-BE" sz="2400" i="1">
                        <a:latin typeface="Cambria Math" panose="02040503050406030204" pitchFamily="18" charset="0"/>
                        <a:ea typeface="Cambria Math" panose="02040503050406030204" pitchFamily="18" charset="0"/>
                      </a:rPr>
                      <m:t>∙</m:t>
                    </m:r>
                    <m:sSubSup>
                      <m:sSubSupPr>
                        <m:ctrlPr>
                          <a:rPr lang="en-BE" sz="2400" i="1">
                            <a:latin typeface="Cambria Math" panose="02040503050406030204" pitchFamily="18" charset="0"/>
                          </a:rPr>
                        </m:ctrlPr>
                      </m:sSubSupPr>
                      <m:e>
                        <m:r>
                          <a:rPr lang="en-BE" sz="2400" i="1">
                            <a:latin typeface="Cambria Math" panose="02040503050406030204" pitchFamily="18" charset="0"/>
                          </a:rPr>
                          <m:t>𝑎</m:t>
                        </m:r>
                      </m:e>
                      <m:sub>
                        <m:r>
                          <a:rPr lang="en-BE" sz="2400" b="0" i="1" smtClean="0">
                            <a:latin typeface="Cambria Math" panose="02040503050406030204" pitchFamily="18" charset="0"/>
                          </a:rPr>
                          <m:t>𝑛</m:t>
                        </m:r>
                      </m:sub>
                      <m:sup>
                        <m:r>
                          <a:rPr lang="en-BE" sz="2400" i="1" smtClean="0">
                            <a:latin typeface="Cambria Math" panose="02040503050406030204" pitchFamily="18" charset="0"/>
                          </a:rPr>
                          <m:t>0</m:t>
                        </m:r>
                      </m:sup>
                    </m:sSubSup>
                    <m:r>
                      <a:rPr lang="en-BE" sz="2400" b="0" i="1" smtClean="0">
                        <a:latin typeface="Cambria Math" panose="02040503050406030204" pitchFamily="18" charset="0"/>
                      </a:rPr>
                      <m:t>+</m:t>
                    </m:r>
                    <m:sSub>
                      <m:sSubPr>
                        <m:ctrlPr>
                          <a:rPr lang="en-BE" sz="2400" i="1">
                            <a:solidFill>
                              <a:schemeClr val="accent6"/>
                            </a:solidFill>
                            <a:latin typeface="Cambria Math" panose="02040503050406030204" pitchFamily="18" charset="0"/>
                          </a:rPr>
                        </m:ctrlPr>
                      </m:sSubPr>
                      <m:e>
                        <m:r>
                          <a:rPr lang="en-BE" sz="2400" i="1">
                            <a:solidFill>
                              <a:schemeClr val="accent6"/>
                            </a:solidFill>
                            <a:latin typeface="Cambria Math" panose="02040503050406030204" pitchFamily="18" charset="0"/>
                          </a:rPr>
                          <m:t>𝑏</m:t>
                        </m:r>
                      </m:e>
                      <m:sub>
                        <m:r>
                          <a:rPr lang="en-BE" sz="2400" b="0" i="1" smtClean="0">
                            <a:solidFill>
                              <a:schemeClr val="accent6"/>
                            </a:solidFill>
                            <a:latin typeface="Cambria Math" panose="02040503050406030204" pitchFamily="18" charset="0"/>
                          </a:rPr>
                          <m:t>1</m:t>
                        </m:r>
                      </m:sub>
                    </m:sSub>
                    <m:r>
                      <a:rPr lang="en-BE" sz="2400" b="0" i="1" smtClean="0">
                        <a:latin typeface="Cambria Math" panose="02040503050406030204" pitchFamily="18" charset="0"/>
                        <a:ea typeface="Cambria Math" panose="02040503050406030204" pitchFamily="18" charset="0"/>
                      </a:rPr>
                      <m:t>)</m:t>
                    </m:r>
                  </m:oMath>
                </a14:m>
                <a:r>
                  <a:rPr lang="en-BE" sz="2400"/>
                  <a:t> </a:t>
                </a:r>
              </a:p>
            </p:txBody>
          </p:sp>
        </mc:Choice>
        <mc:Fallback xmlns="">
          <p:sp>
            <p:nvSpPr>
              <p:cNvPr id="8" name="TextBox 7">
                <a:extLst>
                  <a:ext uri="{FF2B5EF4-FFF2-40B4-BE49-F238E27FC236}">
                    <a16:creationId xmlns:a16="http://schemas.microsoft.com/office/drawing/2014/main" id="{12FE59C7-4489-FCFC-BDDD-A54C5CA669C2}"/>
                  </a:ext>
                </a:extLst>
              </p:cNvPr>
              <p:cNvSpPr txBox="1">
                <a:spLocks noRot="1" noChangeAspect="1" noMove="1" noResize="1" noEditPoints="1" noAdjustHandles="1" noChangeArrowheads="1" noChangeShapeType="1" noTextEdit="1"/>
              </p:cNvSpPr>
              <p:nvPr/>
            </p:nvSpPr>
            <p:spPr>
              <a:xfrm>
                <a:off x="4491418" y="1958375"/>
                <a:ext cx="7255064" cy="399918"/>
              </a:xfrm>
              <a:prstGeom prst="rect">
                <a:avLst/>
              </a:prstGeom>
              <a:blipFill>
                <a:blip r:embed="rId14"/>
                <a:stretch>
                  <a:fillRect t="-18182" b="-424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377B8C0-2BBD-398B-FA34-916ED607E28C}"/>
                  </a:ext>
                </a:extLst>
              </p:cNvPr>
              <p:cNvSpPr txBox="1"/>
              <p:nvPr/>
            </p:nvSpPr>
            <p:spPr>
              <a:xfrm>
                <a:off x="4491418" y="3664623"/>
                <a:ext cx="7255064" cy="399918"/>
              </a:xfrm>
              <a:prstGeom prst="rect">
                <a:avLst/>
              </a:prstGeom>
              <a:noFill/>
            </p:spPr>
            <p:txBody>
              <a:bodyPr wrap="square" lIns="0" tIns="0" rIns="0" bIns="0" rtlCol="0">
                <a:spAutoFit/>
              </a:bodyPr>
              <a:lstStyle/>
              <a:p>
                <a:pPr algn="ctr"/>
                <a14:m>
                  <m:oMath xmlns:m="http://schemas.openxmlformats.org/officeDocument/2006/math">
                    <m:sSubSup>
                      <m:sSubSupPr>
                        <m:ctrlPr>
                          <a:rPr lang="en-BE" sz="2400" i="1">
                            <a:solidFill>
                              <a:schemeClr val="accent2"/>
                            </a:solidFill>
                            <a:latin typeface="Cambria Math" panose="02040503050406030204" pitchFamily="18" charset="0"/>
                          </a:rPr>
                        </m:ctrlPr>
                      </m:sSubSupPr>
                      <m:e>
                        <m:r>
                          <a:rPr lang="en-BE" sz="2400" i="1">
                            <a:solidFill>
                              <a:schemeClr val="accent2"/>
                            </a:solidFill>
                            <a:latin typeface="Cambria Math" panose="02040503050406030204" pitchFamily="18" charset="0"/>
                          </a:rPr>
                          <m:t>𝑎</m:t>
                        </m:r>
                      </m:e>
                      <m:sub>
                        <m:r>
                          <a:rPr lang="en-BE" sz="2400" b="0" i="1" smtClean="0">
                            <a:solidFill>
                              <a:schemeClr val="accent2"/>
                            </a:solidFill>
                            <a:latin typeface="Cambria Math" panose="02040503050406030204" pitchFamily="18" charset="0"/>
                          </a:rPr>
                          <m:t>𝑛</m:t>
                        </m:r>
                      </m:sub>
                      <m:sup>
                        <m:r>
                          <a:rPr lang="en-BE" sz="2400" b="0" i="1" smtClean="0">
                            <a:solidFill>
                              <a:schemeClr val="accent2"/>
                            </a:solidFill>
                            <a:latin typeface="Cambria Math" panose="02040503050406030204" pitchFamily="18" charset="0"/>
                          </a:rPr>
                          <m:t>1</m:t>
                        </m:r>
                      </m:sup>
                    </m:sSubSup>
                    <m:r>
                      <a:rPr lang="en-BE" sz="2400" b="0" i="1" smtClean="0">
                        <a:latin typeface="Cambria Math" panose="02040503050406030204" pitchFamily="18" charset="0"/>
                      </a:rPr>
                      <m:t>=</m:t>
                    </m:r>
                    <m:r>
                      <a:rPr lang="en-BE" sz="2400" b="0" i="1" smtClean="0">
                        <a:latin typeface="Cambria Math" panose="02040503050406030204" pitchFamily="18" charset="0"/>
                        <a:ea typeface="Cambria Math" panose="02040503050406030204" pitchFamily="18" charset="0"/>
                      </a:rPr>
                      <m:t>𝜎</m:t>
                    </m:r>
                    <m:r>
                      <a:rPr lang="en-BE" sz="2400" b="0" i="1" smtClean="0">
                        <a:latin typeface="Cambria Math" panose="02040503050406030204" pitchFamily="18" charset="0"/>
                        <a:ea typeface="Cambria Math" panose="02040503050406030204" pitchFamily="18" charset="0"/>
                      </a:rPr>
                      <m:t>(</m:t>
                    </m:r>
                    <m:sSub>
                      <m:sSubPr>
                        <m:ctrlPr>
                          <a:rPr lang="en-BE" sz="2400" i="1">
                            <a:solidFill>
                              <a:schemeClr val="accent1"/>
                            </a:solidFill>
                            <a:latin typeface="Cambria Math" panose="02040503050406030204" pitchFamily="18" charset="0"/>
                          </a:rPr>
                        </m:ctrlPr>
                      </m:sSubPr>
                      <m:e>
                        <m:r>
                          <a:rPr lang="en-BE" sz="2400" i="1">
                            <a:solidFill>
                              <a:schemeClr val="accent1"/>
                            </a:solidFill>
                            <a:latin typeface="Cambria Math" panose="02040503050406030204" pitchFamily="18" charset="0"/>
                          </a:rPr>
                          <m:t>𝑤</m:t>
                        </m:r>
                      </m:e>
                      <m:sub>
                        <m:r>
                          <a:rPr lang="en-BE" sz="2400" b="0" i="1" smtClean="0">
                            <a:solidFill>
                              <a:schemeClr val="accent1"/>
                            </a:solidFill>
                            <a:latin typeface="Cambria Math" panose="02040503050406030204" pitchFamily="18" charset="0"/>
                          </a:rPr>
                          <m:t>𝑘</m:t>
                        </m:r>
                        <m:r>
                          <a:rPr lang="en-BE" sz="2400" i="1">
                            <a:solidFill>
                              <a:schemeClr val="accent1"/>
                            </a:solidFill>
                            <a:latin typeface="Cambria Math" panose="02040503050406030204" pitchFamily="18" charset="0"/>
                          </a:rPr>
                          <m:t>,0</m:t>
                        </m:r>
                      </m:sub>
                    </m:sSub>
                    <m:r>
                      <a:rPr lang="en-BE" sz="2400" i="1" smtClean="0">
                        <a:latin typeface="Cambria Math" panose="02040503050406030204" pitchFamily="18" charset="0"/>
                        <a:ea typeface="Cambria Math" panose="02040503050406030204" pitchFamily="18" charset="0"/>
                      </a:rPr>
                      <m:t>∙</m:t>
                    </m:r>
                    <m:sSubSup>
                      <m:sSubSupPr>
                        <m:ctrlPr>
                          <a:rPr lang="en-BE" sz="2400" i="1">
                            <a:latin typeface="Cambria Math" panose="02040503050406030204" pitchFamily="18" charset="0"/>
                          </a:rPr>
                        </m:ctrlPr>
                      </m:sSubSupPr>
                      <m:e>
                        <m:r>
                          <a:rPr lang="en-BE" sz="2400" i="1">
                            <a:latin typeface="Cambria Math" panose="02040503050406030204" pitchFamily="18" charset="0"/>
                          </a:rPr>
                          <m:t>𝑎</m:t>
                        </m:r>
                      </m:e>
                      <m:sub>
                        <m:r>
                          <a:rPr lang="en-BE" sz="2400" i="1">
                            <a:latin typeface="Cambria Math" panose="02040503050406030204" pitchFamily="18" charset="0"/>
                          </a:rPr>
                          <m:t>0</m:t>
                        </m:r>
                      </m:sub>
                      <m:sup>
                        <m:r>
                          <a:rPr lang="en-BE" sz="2400" b="0" i="1" smtClean="0">
                            <a:latin typeface="Cambria Math" panose="02040503050406030204" pitchFamily="18" charset="0"/>
                          </a:rPr>
                          <m:t>0</m:t>
                        </m:r>
                      </m:sup>
                    </m:sSubSup>
                    <m:r>
                      <a:rPr lang="en-BE" sz="2400" b="0" i="1" smtClean="0">
                        <a:latin typeface="Cambria Math" panose="02040503050406030204" pitchFamily="18" charset="0"/>
                      </a:rPr>
                      <m:t>+</m:t>
                    </m:r>
                    <m:sSub>
                      <m:sSubPr>
                        <m:ctrlPr>
                          <a:rPr lang="en-BE" sz="2400" i="1">
                            <a:solidFill>
                              <a:schemeClr val="accent1"/>
                            </a:solidFill>
                            <a:latin typeface="Cambria Math" panose="02040503050406030204" pitchFamily="18" charset="0"/>
                          </a:rPr>
                        </m:ctrlPr>
                      </m:sSubPr>
                      <m:e>
                        <m:r>
                          <a:rPr lang="en-BE" sz="2400" i="1">
                            <a:solidFill>
                              <a:schemeClr val="accent1"/>
                            </a:solidFill>
                            <a:latin typeface="Cambria Math" panose="02040503050406030204" pitchFamily="18" charset="0"/>
                          </a:rPr>
                          <m:t>𝑤</m:t>
                        </m:r>
                      </m:e>
                      <m:sub>
                        <m:r>
                          <a:rPr lang="en-BE" sz="2400" b="0" i="1" smtClean="0">
                            <a:solidFill>
                              <a:schemeClr val="accent1"/>
                            </a:solidFill>
                            <a:latin typeface="Cambria Math" panose="02040503050406030204" pitchFamily="18" charset="0"/>
                          </a:rPr>
                          <m:t>𝑘</m:t>
                        </m:r>
                        <m:r>
                          <a:rPr lang="en-BE" sz="2400" i="1">
                            <a:solidFill>
                              <a:schemeClr val="accent1"/>
                            </a:solidFill>
                            <a:latin typeface="Cambria Math" panose="02040503050406030204" pitchFamily="18" charset="0"/>
                          </a:rPr>
                          <m:t>,1</m:t>
                        </m:r>
                      </m:sub>
                    </m:sSub>
                    <m:r>
                      <a:rPr lang="en-BE" sz="2400" i="1">
                        <a:latin typeface="Cambria Math" panose="02040503050406030204" pitchFamily="18" charset="0"/>
                        <a:ea typeface="Cambria Math" panose="02040503050406030204" pitchFamily="18" charset="0"/>
                      </a:rPr>
                      <m:t>∙</m:t>
                    </m:r>
                    <m:sSubSup>
                      <m:sSubSupPr>
                        <m:ctrlPr>
                          <a:rPr lang="en-BE" sz="2400" i="1">
                            <a:latin typeface="Cambria Math" panose="02040503050406030204" pitchFamily="18" charset="0"/>
                          </a:rPr>
                        </m:ctrlPr>
                      </m:sSubSupPr>
                      <m:e>
                        <m:r>
                          <a:rPr lang="en-BE" sz="2400" i="1">
                            <a:latin typeface="Cambria Math" panose="02040503050406030204" pitchFamily="18" charset="0"/>
                          </a:rPr>
                          <m:t>𝑎</m:t>
                        </m:r>
                      </m:e>
                      <m:sub>
                        <m:r>
                          <a:rPr lang="en-BE" sz="2400" i="1">
                            <a:latin typeface="Cambria Math" panose="02040503050406030204" pitchFamily="18" charset="0"/>
                          </a:rPr>
                          <m:t>1</m:t>
                        </m:r>
                      </m:sub>
                      <m:sup>
                        <m:r>
                          <a:rPr lang="en-BE" sz="2400" b="0" i="1" smtClean="0">
                            <a:latin typeface="Cambria Math" panose="02040503050406030204" pitchFamily="18" charset="0"/>
                          </a:rPr>
                          <m:t>0</m:t>
                        </m:r>
                      </m:sup>
                    </m:sSubSup>
                    <m:r>
                      <a:rPr lang="en-BE" sz="2400" b="0" i="1" smtClean="0">
                        <a:latin typeface="Cambria Math" panose="02040503050406030204" pitchFamily="18" charset="0"/>
                      </a:rPr>
                      <m:t>+ …+</m:t>
                    </m:r>
                    <m:sSub>
                      <m:sSubPr>
                        <m:ctrlPr>
                          <a:rPr lang="en-BE" sz="2400" i="1">
                            <a:solidFill>
                              <a:schemeClr val="accent1"/>
                            </a:solidFill>
                            <a:latin typeface="Cambria Math" panose="02040503050406030204" pitchFamily="18" charset="0"/>
                          </a:rPr>
                        </m:ctrlPr>
                      </m:sSubPr>
                      <m:e>
                        <m:r>
                          <a:rPr lang="en-BE" sz="2400" i="1">
                            <a:solidFill>
                              <a:schemeClr val="accent1"/>
                            </a:solidFill>
                            <a:latin typeface="Cambria Math" panose="02040503050406030204" pitchFamily="18" charset="0"/>
                          </a:rPr>
                          <m:t>𝑤</m:t>
                        </m:r>
                      </m:e>
                      <m:sub>
                        <m:r>
                          <a:rPr lang="en-BE" sz="2400" b="0" i="1" smtClean="0">
                            <a:solidFill>
                              <a:schemeClr val="accent1"/>
                            </a:solidFill>
                            <a:latin typeface="Cambria Math" panose="02040503050406030204" pitchFamily="18" charset="0"/>
                          </a:rPr>
                          <m:t>𝑘</m:t>
                        </m:r>
                        <m:r>
                          <a:rPr lang="en-BE" sz="2400" i="1">
                            <a:solidFill>
                              <a:schemeClr val="accent1"/>
                            </a:solidFill>
                            <a:latin typeface="Cambria Math" panose="02040503050406030204" pitchFamily="18" charset="0"/>
                          </a:rPr>
                          <m:t>,</m:t>
                        </m:r>
                        <m:r>
                          <a:rPr lang="en-BE" sz="2400" b="0" i="1" smtClean="0">
                            <a:solidFill>
                              <a:schemeClr val="accent1"/>
                            </a:solidFill>
                            <a:latin typeface="Cambria Math" panose="02040503050406030204" pitchFamily="18" charset="0"/>
                          </a:rPr>
                          <m:t>𝑛</m:t>
                        </m:r>
                      </m:sub>
                    </m:sSub>
                    <m:r>
                      <a:rPr lang="en-BE" sz="2400" i="1">
                        <a:latin typeface="Cambria Math" panose="02040503050406030204" pitchFamily="18" charset="0"/>
                        <a:ea typeface="Cambria Math" panose="02040503050406030204" pitchFamily="18" charset="0"/>
                      </a:rPr>
                      <m:t>∙</m:t>
                    </m:r>
                    <m:sSubSup>
                      <m:sSubSupPr>
                        <m:ctrlPr>
                          <a:rPr lang="en-BE" sz="2400" i="1">
                            <a:latin typeface="Cambria Math" panose="02040503050406030204" pitchFamily="18" charset="0"/>
                          </a:rPr>
                        </m:ctrlPr>
                      </m:sSubSupPr>
                      <m:e>
                        <m:r>
                          <a:rPr lang="en-BE" sz="2400" i="1">
                            <a:latin typeface="Cambria Math" panose="02040503050406030204" pitchFamily="18" charset="0"/>
                          </a:rPr>
                          <m:t>𝑎</m:t>
                        </m:r>
                      </m:e>
                      <m:sub>
                        <m:r>
                          <a:rPr lang="en-BE" sz="2400" b="0" i="1" smtClean="0">
                            <a:latin typeface="Cambria Math" panose="02040503050406030204" pitchFamily="18" charset="0"/>
                          </a:rPr>
                          <m:t>𝑛</m:t>
                        </m:r>
                      </m:sub>
                      <m:sup>
                        <m:r>
                          <a:rPr lang="en-BE" sz="2400" b="0" i="1" smtClean="0">
                            <a:latin typeface="Cambria Math" panose="02040503050406030204" pitchFamily="18" charset="0"/>
                          </a:rPr>
                          <m:t>0</m:t>
                        </m:r>
                      </m:sup>
                    </m:sSubSup>
                    <m:r>
                      <a:rPr lang="en-BE" sz="2400" b="0" i="1" smtClean="0">
                        <a:latin typeface="Cambria Math" panose="02040503050406030204" pitchFamily="18" charset="0"/>
                      </a:rPr>
                      <m:t>+</m:t>
                    </m:r>
                    <m:sSub>
                      <m:sSubPr>
                        <m:ctrlPr>
                          <a:rPr lang="en-BE" sz="2400" i="1">
                            <a:solidFill>
                              <a:schemeClr val="accent6"/>
                            </a:solidFill>
                            <a:latin typeface="Cambria Math" panose="02040503050406030204" pitchFamily="18" charset="0"/>
                          </a:rPr>
                        </m:ctrlPr>
                      </m:sSubPr>
                      <m:e>
                        <m:r>
                          <a:rPr lang="en-BE" sz="2400" i="1">
                            <a:solidFill>
                              <a:schemeClr val="accent6"/>
                            </a:solidFill>
                            <a:latin typeface="Cambria Math" panose="02040503050406030204" pitchFamily="18" charset="0"/>
                          </a:rPr>
                          <m:t>𝑏</m:t>
                        </m:r>
                      </m:e>
                      <m:sub>
                        <m:r>
                          <a:rPr lang="en-BE" sz="2400" b="0" i="1" smtClean="0">
                            <a:solidFill>
                              <a:schemeClr val="accent6"/>
                            </a:solidFill>
                            <a:latin typeface="Cambria Math" panose="02040503050406030204" pitchFamily="18" charset="0"/>
                          </a:rPr>
                          <m:t>𝑛</m:t>
                        </m:r>
                      </m:sub>
                    </m:sSub>
                    <m:r>
                      <a:rPr lang="en-BE" sz="2400" b="0" i="1" smtClean="0">
                        <a:latin typeface="Cambria Math" panose="02040503050406030204" pitchFamily="18" charset="0"/>
                        <a:ea typeface="Cambria Math" panose="02040503050406030204" pitchFamily="18" charset="0"/>
                      </a:rPr>
                      <m:t>)</m:t>
                    </m:r>
                  </m:oMath>
                </a14:m>
                <a:r>
                  <a:rPr lang="en-BE" sz="2400"/>
                  <a:t> </a:t>
                </a:r>
              </a:p>
            </p:txBody>
          </p:sp>
        </mc:Choice>
        <mc:Fallback xmlns="">
          <p:sp>
            <p:nvSpPr>
              <p:cNvPr id="9" name="TextBox 8">
                <a:extLst>
                  <a:ext uri="{FF2B5EF4-FFF2-40B4-BE49-F238E27FC236}">
                    <a16:creationId xmlns:a16="http://schemas.microsoft.com/office/drawing/2014/main" id="{0377B8C0-2BBD-398B-FA34-916ED607E28C}"/>
                  </a:ext>
                </a:extLst>
              </p:cNvPr>
              <p:cNvSpPr txBox="1">
                <a:spLocks noRot="1" noChangeAspect="1" noMove="1" noResize="1" noEditPoints="1" noAdjustHandles="1" noChangeArrowheads="1" noChangeShapeType="1" noTextEdit="1"/>
              </p:cNvSpPr>
              <p:nvPr/>
            </p:nvSpPr>
            <p:spPr>
              <a:xfrm>
                <a:off x="4491418" y="3664623"/>
                <a:ext cx="7255064" cy="399918"/>
              </a:xfrm>
              <a:prstGeom prst="rect">
                <a:avLst/>
              </a:prstGeom>
              <a:blipFill>
                <a:blip r:embed="rId15"/>
                <a:stretch>
                  <a:fillRect t="-18182" b="-424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F443683-0AE4-37E0-A8A9-AC5AA77E5096}"/>
                  </a:ext>
                </a:extLst>
              </p:cNvPr>
              <p:cNvSpPr txBox="1"/>
              <p:nvPr/>
            </p:nvSpPr>
            <p:spPr>
              <a:xfrm>
                <a:off x="4482352" y="2825301"/>
                <a:ext cx="7255064" cy="373564"/>
              </a:xfrm>
              <a:prstGeom prst="rect">
                <a:avLst/>
              </a:prstGeom>
              <a:noFill/>
            </p:spPr>
            <p:txBody>
              <a:bodyPr wrap="square" lIns="0" tIns="0" rIns="0" bIns="0" rtlCol="0">
                <a:spAutoFit/>
              </a:bodyPr>
              <a:lstStyle/>
              <a:p>
                <a:pPr algn="ctr"/>
                <a14:m>
                  <m:oMathPara xmlns:m="http://schemas.openxmlformats.org/officeDocument/2006/math">
                    <m:oMath>
                      <m:r>
                        <a:rPr lang="en-GB" sz="2400" b="0" i="1" smtClean="0">
                          <a:latin typeface="Cambria Math" panose="02040503050406030204" pitchFamily="18" charset="0"/>
                        </a:rPr>
                        <m:t>…</m:t>
                      </m:r>
                    </m:oMath>
                  </m:oMathPara>
                </a14:m>
                <a:endParaRPr lang="en-GB" sz="2400" b="0"/>
              </a:p>
            </p:txBody>
          </p:sp>
        </mc:Choice>
        <mc:Fallback xmlns="">
          <p:sp>
            <p:nvSpPr>
              <p:cNvPr id="10" name="TextBox 9">
                <a:extLst>
                  <a:ext uri="{FF2B5EF4-FFF2-40B4-BE49-F238E27FC236}">
                    <a16:creationId xmlns:a16="http://schemas.microsoft.com/office/drawing/2014/main" id="{6F443683-0AE4-37E0-A8A9-AC5AA77E5096}"/>
                  </a:ext>
                </a:extLst>
              </p:cNvPr>
              <p:cNvSpPr txBox="1">
                <a:spLocks noRot="1" noChangeAspect="1" noMove="1" noResize="1" noEditPoints="1" noAdjustHandles="1" noChangeArrowheads="1" noChangeShapeType="1" noTextEdit="1"/>
              </p:cNvSpPr>
              <p:nvPr/>
            </p:nvSpPr>
            <p:spPr>
              <a:xfrm>
                <a:off x="4482352" y="2825301"/>
                <a:ext cx="7255064" cy="373564"/>
              </a:xfrm>
              <a:prstGeom prst="rect">
                <a:avLst/>
              </a:prstGeom>
              <a:blipFill>
                <a:blip r:embed="rId16"/>
                <a:stretch>
                  <a:fillRect t="-24194" b="-46774"/>
                </a:stretch>
              </a:blipFill>
            </p:spPr>
            <p:txBody>
              <a:bodyPr/>
              <a:lstStyle/>
              <a:p>
                <a:r>
                  <a:rPr lang="en-US">
                    <a:noFill/>
                  </a:rPr>
                  <a:t> </a:t>
                </a:r>
              </a:p>
            </p:txBody>
          </p:sp>
        </mc:Fallback>
      </mc:AlternateContent>
      <p:sp>
        <p:nvSpPr>
          <p:cNvPr id="14" name="Title 1">
            <a:extLst>
              <a:ext uri="{FF2B5EF4-FFF2-40B4-BE49-F238E27FC236}">
                <a16:creationId xmlns:a16="http://schemas.microsoft.com/office/drawing/2014/main" id="{0B1EA895-43FB-4235-990A-3AD23D2E82E4}"/>
              </a:ext>
            </a:extLst>
          </p:cNvPr>
          <p:cNvSpPr>
            <a:spLocks noGrp="1"/>
          </p:cNvSpPr>
          <p:nvPr>
            <p:ph type="title"/>
          </p:nvPr>
        </p:nvSpPr>
        <p:spPr>
          <a:xfrm>
            <a:off x="433388" y="365125"/>
            <a:ext cx="11325225" cy="446084"/>
          </a:xfrm>
        </p:spPr>
        <p:txBody>
          <a:bodyPr/>
          <a:lstStyle/>
          <a:p>
            <a:r>
              <a:rPr lang="en-US" sz="3200">
                <a:ea typeface="Lato" panose="020B0604020202020204" pitchFamily="34" charset="0"/>
                <a:cs typeface="Helvetica" panose="020B0604020202020204" pitchFamily="34" charset="0"/>
              </a:rPr>
              <a:t>A neural network layer can be represented as a matrix</a:t>
            </a:r>
            <a:endParaRPr lang="en-BE"/>
          </a:p>
        </p:txBody>
      </p:sp>
      <p:sp>
        <p:nvSpPr>
          <p:cNvPr id="15" name="Slide Number Placeholder 14">
            <a:extLst>
              <a:ext uri="{FF2B5EF4-FFF2-40B4-BE49-F238E27FC236}">
                <a16:creationId xmlns:a16="http://schemas.microsoft.com/office/drawing/2014/main" id="{14FBA3F8-B4AE-CA0C-6641-D2B9EEC75C23}"/>
              </a:ext>
            </a:extLst>
          </p:cNvPr>
          <p:cNvSpPr>
            <a:spLocks noGrp="1"/>
          </p:cNvSpPr>
          <p:nvPr>
            <p:ph type="sldNum" sz="quarter" idx="12"/>
          </p:nvPr>
        </p:nvSpPr>
        <p:spPr/>
        <p:txBody>
          <a:bodyPr/>
          <a:lstStyle/>
          <a:p>
            <a:fld id="{94B3E216-A3C5-4E41-AE94-D003E76F1D3A}" type="slidenum">
              <a:rPr lang="en-BE" smtClean="0"/>
              <a:t>27</a:t>
            </a:fld>
            <a:endParaRPr lang="en-BE"/>
          </a:p>
        </p:txBody>
      </p:sp>
      <p:cxnSp>
        <p:nvCxnSpPr>
          <p:cNvPr id="11" name="Straight Arrow Connector 10">
            <a:extLst>
              <a:ext uri="{FF2B5EF4-FFF2-40B4-BE49-F238E27FC236}">
                <a16:creationId xmlns:a16="http://schemas.microsoft.com/office/drawing/2014/main" id="{A5F9313C-4C78-CC45-4601-5E08D0D8F3D2}"/>
              </a:ext>
            </a:extLst>
          </p:cNvPr>
          <p:cNvCxnSpPr>
            <a:cxnSpLocks/>
            <a:endCxn id="80" idx="2"/>
          </p:cNvCxnSpPr>
          <p:nvPr/>
        </p:nvCxnSpPr>
        <p:spPr>
          <a:xfrm flipV="1">
            <a:off x="1093097" y="1305210"/>
            <a:ext cx="2022282" cy="2559372"/>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EB9F9365-AC39-864C-D6F9-6D344D1ECB0C}"/>
              </a:ext>
            </a:extLst>
          </p:cNvPr>
          <p:cNvCxnSpPr>
            <a:cxnSpLocks/>
            <a:stCxn id="75" idx="3"/>
            <a:endCxn id="80" idx="2"/>
          </p:cNvCxnSpPr>
          <p:nvPr/>
        </p:nvCxnSpPr>
        <p:spPr>
          <a:xfrm flipV="1">
            <a:off x="1108634" y="1305210"/>
            <a:ext cx="2006745" cy="1702882"/>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201800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 name="Picture 2" descr="A rectangular speaker on a table&#10;&#10;Description automatically generated">
            <a:extLst>
              <a:ext uri="{FF2B5EF4-FFF2-40B4-BE49-F238E27FC236}">
                <a16:creationId xmlns:a16="http://schemas.microsoft.com/office/drawing/2014/main" id="{85721B92-A5E1-E3AC-38A2-E391BDC930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2500" y="0"/>
            <a:ext cx="10287000" cy="6858000"/>
          </a:xfrm>
          <a:prstGeom prst="rect">
            <a:avLst/>
          </a:prstGeom>
        </p:spPr>
      </p:pic>
    </p:spTree>
    <p:extLst>
      <p:ext uri="{BB962C8B-B14F-4D97-AF65-F5344CB8AC3E}">
        <p14:creationId xmlns:p14="http://schemas.microsoft.com/office/powerpoint/2010/main" val="24833372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462195F-B8ED-6E10-8230-089C9CD34676}"/>
              </a:ext>
            </a:extLst>
          </p:cNvPr>
          <p:cNvSpPr>
            <a:spLocks noGrp="1"/>
          </p:cNvSpPr>
          <p:nvPr>
            <p:ph type="title"/>
          </p:nvPr>
        </p:nvSpPr>
        <p:spPr/>
        <p:txBody>
          <a:bodyPr/>
          <a:lstStyle/>
          <a:p>
            <a:r>
              <a:rPr lang="en-US"/>
              <a:t>Recap</a:t>
            </a:r>
          </a:p>
        </p:txBody>
      </p:sp>
      <p:sp>
        <p:nvSpPr>
          <p:cNvPr id="7" name="Content Placeholder 6">
            <a:extLst>
              <a:ext uri="{FF2B5EF4-FFF2-40B4-BE49-F238E27FC236}">
                <a16:creationId xmlns:a16="http://schemas.microsoft.com/office/drawing/2014/main" id="{B307A43B-BB38-D6F8-79D8-55A2DB7E0063}"/>
              </a:ext>
            </a:extLst>
          </p:cNvPr>
          <p:cNvSpPr>
            <a:spLocks noGrp="1"/>
          </p:cNvSpPr>
          <p:nvPr>
            <p:ph idx="1"/>
          </p:nvPr>
        </p:nvSpPr>
        <p:spPr/>
        <p:txBody>
          <a:bodyPr/>
          <a:lstStyle/>
          <a:p>
            <a:r>
              <a:rPr lang="en-US"/>
              <a:t>Neural networks can be understood as layered stacks of logistic-regression-like units.</a:t>
            </a:r>
          </a:p>
          <a:p>
            <a:r>
              <a:rPr lang="en-US"/>
              <a:t>They can learn non-linear patterns through activation functions.</a:t>
            </a:r>
          </a:p>
          <a:p>
            <a:r>
              <a:rPr lang="en-US"/>
              <a:t>Deeper networks can learn more complex patterns, but require more data.</a:t>
            </a:r>
          </a:p>
          <a:p>
            <a:r>
              <a:rPr lang="en-US"/>
              <a:t>Backpropagation allows for gradient descent across many neural network layers.</a:t>
            </a:r>
          </a:p>
          <a:p>
            <a:r>
              <a:rPr lang="en-US"/>
              <a:t>Mini-batch gradient descent balances speed and stability.</a:t>
            </a:r>
          </a:p>
          <a:p>
            <a:r>
              <a:rPr lang="en-US"/>
              <a:t>Neural networks can be trained over many epochs.</a:t>
            </a:r>
          </a:p>
        </p:txBody>
      </p:sp>
      <p:sp>
        <p:nvSpPr>
          <p:cNvPr id="2" name="Slide Number Placeholder 1">
            <a:extLst>
              <a:ext uri="{FF2B5EF4-FFF2-40B4-BE49-F238E27FC236}">
                <a16:creationId xmlns:a16="http://schemas.microsoft.com/office/drawing/2014/main" id="{FF14186A-3801-8F69-B214-B7989B4B96F5}"/>
              </a:ext>
            </a:extLst>
          </p:cNvPr>
          <p:cNvSpPr>
            <a:spLocks noGrp="1"/>
          </p:cNvSpPr>
          <p:nvPr>
            <p:ph type="sldNum" sz="quarter" idx="12"/>
          </p:nvPr>
        </p:nvSpPr>
        <p:spPr/>
        <p:txBody>
          <a:bodyPr/>
          <a:lstStyle/>
          <a:p>
            <a:fld id="{94B3E216-A3C5-4E41-AE94-D003E76F1D3A}" type="slidenum">
              <a:rPr lang="en-BE" smtClean="0"/>
              <a:t>29</a:t>
            </a:fld>
            <a:endParaRPr lang="en-BE"/>
          </a:p>
        </p:txBody>
      </p:sp>
    </p:spTree>
    <p:extLst>
      <p:ext uri="{BB962C8B-B14F-4D97-AF65-F5344CB8AC3E}">
        <p14:creationId xmlns:p14="http://schemas.microsoft.com/office/powerpoint/2010/main" val="1861669318"/>
      </p:ext>
    </p:extLst>
  </p:cSld>
  <p:clrMapOvr>
    <a:masterClrMapping/>
  </p:clrMapOvr>
</p:sld>
</file>

<file path=ppt/theme/theme1.xml><?xml version="1.0" encoding="utf-8"?>
<a:theme xmlns:a="http://schemas.openxmlformats.org/drawingml/2006/main" name="1_Office Theme">
  <a:themeElements>
    <a:clrScheme name="CompOmics">
      <a:dk1>
        <a:srgbClr val="1B2944"/>
      </a:dk1>
      <a:lt1>
        <a:sysClr val="window" lastClr="FFFFFF"/>
      </a:lt1>
      <a:dk2>
        <a:srgbClr val="1B2944"/>
      </a:dk2>
      <a:lt2>
        <a:srgbClr val="FFFFFF"/>
      </a:lt2>
      <a:accent1>
        <a:srgbClr val="417ECE"/>
      </a:accent1>
      <a:accent2>
        <a:srgbClr val="C96461"/>
      </a:accent2>
      <a:accent3>
        <a:srgbClr val="59AD5D"/>
      </a:accent3>
      <a:accent4>
        <a:srgbClr val="DDAE56"/>
      </a:accent4>
      <a:accent5>
        <a:srgbClr val="53C7C5"/>
      </a:accent5>
      <a:accent6>
        <a:srgbClr val="9976B7"/>
      </a:accent6>
      <a:hlink>
        <a:srgbClr val="5DB7B1"/>
      </a:hlink>
      <a:folHlink>
        <a:srgbClr val="5DB7B1"/>
      </a:folHlink>
    </a:clrScheme>
    <a:fontScheme name="Open Sans">
      <a:majorFont>
        <a:latin typeface="Open Sans SemiBold"/>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nterview presentation.pptx" id="{73A6B151-6934-4922-905D-CCB785162CB4}" vid="{36CAFE94-F78C-4795-BBD4-F1813CFFC3B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92DD177-769E-476C-8AD6-B7077CC59EBF}">
  <we:reference id="wa200006038" version="1.0.0.4" store="en-US" storeType="OMEX"/>
  <we:alternateReferences>
    <we:reference id="wa200006038" version="1.0.0.4" store="en-US" storeType="OMEX"/>
  </we:alternateReferences>
  <we:properties>
    <we:property name="has-user-completed-add" value="true"/>
    <we:property name="pptx_export_from_biorender" value="false"/>
  </we:properties>
  <we:bindings/>
  <we:snapshot xmlns:r="http://schemas.openxmlformats.org/officeDocument/2006/relationships"/>
  <we:extLst>
    <a:ext xmlns:a="http://schemas.openxmlformats.org/drawingml/2006/main" uri="{0858819E-0033-43BF-8937-05EC82904868}">
      <we:backgroundApp state="1" runtimeId="Taskpane.Url"/>
    </a:ext>
  </we:extLst>
</we:webextension>
</file>

<file path=docProps/app.xml><?xml version="1.0" encoding="utf-8"?>
<Properties xmlns="http://schemas.openxmlformats.org/officeDocument/2006/extended-properties" xmlns:vt="http://schemas.openxmlformats.org/officeDocument/2006/docPropsVTypes">
  <Template>CompOmics</Template>
  <TotalTime>2</TotalTime>
  <Words>2034</Words>
  <Application>Microsoft Office PowerPoint</Application>
  <PresentationFormat>Widescreen</PresentationFormat>
  <Paragraphs>261</Paragraphs>
  <Slides>29</Slides>
  <Notes>29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29</vt:i4>
      </vt:variant>
    </vt:vector>
  </HeadingPairs>
  <TitlesOfParts>
    <vt:vector size="37" baseType="lpstr">
      <vt:lpstr>Cambria Math</vt:lpstr>
      <vt:lpstr>Aptos</vt:lpstr>
      <vt:lpstr>Open Sans SemiBold</vt:lpstr>
      <vt:lpstr>Arial</vt:lpstr>
      <vt:lpstr>Calibri</vt:lpstr>
      <vt:lpstr>Aptos SemiBold</vt:lpstr>
      <vt:lpstr>Lato</vt:lpstr>
      <vt:lpstr>1_Office Theme</vt:lpstr>
      <vt:lpstr>A quick recap on logistic regression</vt:lpstr>
      <vt:lpstr>Logistic regression could be visualized as a network of information, flowing from features and weights to the output</vt:lpstr>
      <vt:lpstr>Logistic regression could be visualized as a network of information, flowing from features and weights to the output</vt:lpstr>
      <vt:lpstr>A neural network is simply a layered stack of regression models</vt:lpstr>
      <vt:lpstr>A neural network is simply a layered stack of regression models</vt:lpstr>
      <vt:lpstr>A neural network is simply layered stacks of logistic regressions</vt:lpstr>
      <vt:lpstr>A deep neural network adds many layers to capture complex patterns</vt:lpstr>
      <vt:lpstr>A deep neural network adds many layers to capture complex patterns</vt:lpstr>
      <vt:lpstr>Activation functions can be added on the output of each node</vt:lpstr>
      <vt:lpstr>Do we need to go deeper?</vt:lpstr>
      <vt:lpstr>For complex tasks, deeper seems better…</vt:lpstr>
      <vt:lpstr>For complex tasks, deeper seems better…</vt:lpstr>
      <vt:lpstr>For complex tasks, deeper seems better…</vt:lpstr>
      <vt:lpstr>The loss function should be minimized to find the optimal model</vt:lpstr>
      <vt:lpstr>Neural nets also rely on gradient descent to minimize the loss</vt:lpstr>
      <vt:lpstr>The big trick is to use backpropagation to efficiently calculate gradients for each parameter across many layers</vt:lpstr>
      <vt:lpstr>PowerPoint Presentation</vt:lpstr>
      <vt:lpstr>PowerPoint Presentation</vt:lpstr>
      <vt:lpstr>PowerPoint Presentation</vt:lpstr>
      <vt:lpstr>PowerPoint Presentation</vt:lpstr>
      <vt:lpstr>The loss surface can be highly complex, with many local minima </vt:lpstr>
      <vt:lpstr>The loss surface can be highly complex, with many local minima </vt:lpstr>
      <vt:lpstr>Neural networks are trained over multiple epochs</vt:lpstr>
      <vt:lpstr>Neural networks are highly flexible</vt:lpstr>
      <vt:lpstr>A neural network layer can be represented as a matrix</vt:lpstr>
      <vt:lpstr>A neural network layer can be represented as a matrix</vt:lpstr>
      <vt:lpstr>A neural network layer can be represented as a matrix</vt:lpstr>
      <vt:lpstr>PowerPoint Presentation</vt:lpstr>
      <vt:lpstr>Recap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Ralf Gabriels</dc:creator>
  <cp:lastModifiedBy>Robbin Bouwmeester</cp:lastModifiedBy>
  <cp:revision>1</cp:revision>
  <cp:lastPrinted>2026-03-06T15:26:27Z</cp:lastPrinted>
  <dcterms:created xsi:type="dcterms:W3CDTF">2025-05-19T12:28:12Z</dcterms:created>
  <dcterms:modified xsi:type="dcterms:W3CDTF">2026-10-18T08:02:13Z</dcterms:modified>
  <cp:contentStatus/>
</cp:coreProperties>
</file>