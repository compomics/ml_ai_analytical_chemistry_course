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1"/>
  </p:notesMasterIdLst>
  <p:handoutMasterIdLst>
    <p:handoutMasterId r:id="rId22"/>
  </p:handoutMasterIdLst>
  <p:sldIdLst>
    <p:sldId id="279" r:id="rId2"/>
    <p:sldId id="282" r:id="rId3"/>
    <p:sldId id="280" r:id="rId4"/>
    <p:sldId id="281" r:id="rId5"/>
    <p:sldId id="260" r:id="rId6"/>
    <p:sldId id="262" r:id="rId7"/>
    <p:sldId id="277" r:id="rId8"/>
    <p:sldId id="278" r:id="rId9"/>
    <p:sldId id="261" r:id="rId10"/>
    <p:sldId id="263" r:id="rId11"/>
    <p:sldId id="268" r:id="rId12"/>
    <p:sldId id="264" r:id="rId13"/>
    <p:sldId id="265" r:id="rId14"/>
    <p:sldId id="266" r:id="rId15"/>
    <p:sldId id="272" r:id="rId16"/>
    <p:sldId id="273" r:id="rId17"/>
    <p:sldId id="283" r:id="rId18"/>
    <p:sldId id="285" r:id="rId19"/>
    <p:sldId id="284" r:id="rId20"/>
  </p:sldIdLst>
  <p:sldSz cx="12192000" cy="6858000"/>
  <p:notesSz cx="6858000" cy="9144000"/>
  <p:embeddedFontLst>
    <p:embeddedFont>
      <p:font typeface="Aptos SemiBold" panose="020B0004020202020204" pitchFamily="34" charset="0"/>
      <p:bold r:id="rId23"/>
      <p:boldItalic r:id="rId24"/>
    </p:embeddedFont>
    <p:embeddedFont>
      <p:font typeface="Cambria Math" panose="02040503050406030204" pitchFamily="18" charset="0"/>
      <p:regular r:id="rId25"/>
    </p:embeddedFont>
    <p:embeddedFont>
      <p:font typeface="Corbel" panose="020B0503020204020204" pitchFamily="34" charset="0"/>
      <p:regular r:id="rId26"/>
      <p:bold r:id="rId27"/>
      <p:italic r:id="rId28"/>
      <p:boldItalic r:id="rId29"/>
    </p:embeddedFont>
    <p:embeddedFont>
      <p:font typeface="Open Sans SemiBold" panose="020B0706030804020204" pitchFamily="34" charset="0"/>
      <p:bold r:id="rId30"/>
      <p:boldItalic r:id="rId31"/>
    </p:embeddedFont>
  </p:embeddedFontLst>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6"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4F6"/>
    <a:srgbClr val="FFFFFF"/>
    <a:srgbClr val="000000"/>
    <a:srgbClr val="59A14F"/>
    <a:srgbClr val="EDC948"/>
    <a:srgbClr val="E15759"/>
    <a:srgbClr val="417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469" autoAdjust="0"/>
    <p:restoredTop sz="93367" autoAdjust="0"/>
  </p:normalViewPr>
  <p:slideViewPr>
    <p:cSldViewPr snapToGrid="0" showGuides="1">
      <p:cViewPr varScale="1">
        <p:scale>
          <a:sx n="153" d="100"/>
          <a:sy n="153" d="100"/>
        </p:scale>
        <p:origin x="104" y="264"/>
      </p:cViewPr>
      <p:guideLst>
        <p:guide orient="horz" pos="2160"/>
        <p:guide pos="3840"/>
      </p:guideLst>
    </p:cSldViewPr>
  </p:slideViewPr>
  <p:notesTextViewPr>
    <p:cViewPr>
      <p:scale>
        <a:sx n="150" d="100"/>
        <a:sy n="150" d="100"/>
      </p:scale>
      <p:origin x="0" y="0"/>
    </p:cViewPr>
  </p:notesTextViewPr>
  <p:sorterViewPr>
    <p:cViewPr varScale="1">
      <p:scale>
        <a:sx n="1" d="1"/>
        <a:sy n="1" d="1"/>
      </p:scale>
      <p:origin x="0" y="0"/>
    </p:cViewPr>
  </p:sorterViewPr>
  <p:notesViewPr>
    <p:cSldViewPr snapToGrid="0" showGuides="1">
      <p:cViewPr varScale="1">
        <p:scale>
          <a:sx n="66" d="100"/>
          <a:sy n="66" d="100"/>
        </p:scale>
        <p:origin x="0" y="0"/>
      </p:cViewPr>
      <p:guideLst>
        <p:guide orient="horz" pos="2886"/>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bin Bouwmeester" userId="1dbfebabfc25a55a" providerId="LiveId" clId="{75D63595-F797-482E-A4A0-2F4889B74D4F}"/>
    <pc:docChg chg="undo custSel delSld modSld">
      <pc:chgData name="Robbin Bouwmeester" userId="1dbfebabfc25a55a" providerId="LiveId" clId="{75D63595-F797-482E-A4A0-2F4889B74D4F}" dt="2026-10-20T12:10:31.034" v="67" actId="113"/>
      <pc:docMkLst>
        <pc:docMk/>
      </pc:docMkLst>
      <pc:sldChg chg="modSp mod">
        <pc:chgData name="Robbin Bouwmeester" userId="1dbfebabfc25a55a" providerId="LiveId" clId="{75D63595-F797-482E-A4A0-2F4889B74D4F}" dt="2026-10-20T12:07:01.293" v="22" actId="113"/>
        <pc:sldMkLst>
          <pc:docMk/>
          <pc:sldMk cId="555769847" sldId="260"/>
        </pc:sldMkLst>
        <pc:spChg chg="mod">
          <ac:chgData name="Robbin Bouwmeester" userId="1dbfebabfc25a55a" providerId="LiveId" clId="{75D63595-F797-482E-A4A0-2F4889B74D4F}" dt="2026-10-20T12:07:01.293" v="22" actId="113"/>
          <ac:spMkLst>
            <pc:docMk/>
            <pc:sldMk cId="555769847" sldId="260"/>
            <ac:spMk id="8" creationId="{831395C6-6A0A-37D9-235B-EBAF28DFD3AA}"/>
          </ac:spMkLst>
        </pc:spChg>
      </pc:sldChg>
      <pc:sldChg chg="modSp mod">
        <pc:chgData name="Robbin Bouwmeester" userId="1dbfebabfc25a55a" providerId="LiveId" clId="{75D63595-F797-482E-A4A0-2F4889B74D4F}" dt="2026-10-20T12:08:10.087" v="33" actId="113"/>
        <pc:sldMkLst>
          <pc:docMk/>
          <pc:sldMk cId="1464076775" sldId="261"/>
        </pc:sldMkLst>
        <pc:spChg chg="mod">
          <ac:chgData name="Robbin Bouwmeester" userId="1dbfebabfc25a55a" providerId="LiveId" clId="{75D63595-F797-482E-A4A0-2F4889B74D4F}" dt="2026-10-20T12:08:10.087" v="33" actId="113"/>
          <ac:spMkLst>
            <pc:docMk/>
            <pc:sldMk cId="1464076775" sldId="261"/>
            <ac:spMk id="2" creationId="{6FEFF067-A1F8-6E66-9D66-A5F4414CD218}"/>
          </ac:spMkLst>
        </pc:spChg>
      </pc:sldChg>
      <pc:sldChg chg="modSp mod">
        <pc:chgData name="Robbin Bouwmeester" userId="1dbfebabfc25a55a" providerId="LiveId" clId="{75D63595-F797-482E-A4A0-2F4889B74D4F}" dt="2026-10-20T12:07:16.166" v="24" actId="113"/>
        <pc:sldMkLst>
          <pc:docMk/>
          <pc:sldMk cId="812906692" sldId="262"/>
        </pc:sldMkLst>
        <pc:spChg chg="mod">
          <ac:chgData name="Robbin Bouwmeester" userId="1dbfebabfc25a55a" providerId="LiveId" clId="{75D63595-F797-482E-A4A0-2F4889B74D4F}" dt="2026-10-20T12:07:16.166" v="24" actId="113"/>
          <ac:spMkLst>
            <pc:docMk/>
            <pc:sldMk cId="812906692" sldId="262"/>
            <ac:spMk id="2" creationId="{A6B42FFF-6B79-25A8-E5E3-001CD37801BE}"/>
          </ac:spMkLst>
        </pc:spChg>
      </pc:sldChg>
      <pc:sldChg chg="modSp mod">
        <pc:chgData name="Robbin Bouwmeester" userId="1dbfebabfc25a55a" providerId="LiveId" clId="{75D63595-F797-482E-A4A0-2F4889B74D4F}" dt="2026-10-20T12:08:17.486" v="35" actId="113"/>
        <pc:sldMkLst>
          <pc:docMk/>
          <pc:sldMk cId="3589170301" sldId="263"/>
        </pc:sldMkLst>
        <pc:spChg chg="mod">
          <ac:chgData name="Robbin Bouwmeester" userId="1dbfebabfc25a55a" providerId="LiveId" clId="{75D63595-F797-482E-A4A0-2F4889B74D4F}" dt="2026-10-20T12:08:17.486" v="35" actId="113"/>
          <ac:spMkLst>
            <pc:docMk/>
            <pc:sldMk cId="3589170301" sldId="263"/>
            <ac:spMk id="2" creationId="{2D2C0E5C-CE31-29FD-21EE-B19079DB6C82}"/>
          </ac:spMkLst>
        </pc:spChg>
      </pc:sldChg>
      <pc:sldChg chg="modSp mod">
        <pc:chgData name="Robbin Bouwmeester" userId="1dbfebabfc25a55a" providerId="LiveId" clId="{75D63595-F797-482E-A4A0-2F4889B74D4F}" dt="2026-10-20T12:08:32.517" v="39" actId="113"/>
        <pc:sldMkLst>
          <pc:docMk/>
          <pc:sldMk cId="573762368" sldId="264"/>
        </pc:sldMkLst>
        <pc:spChg chg="mod">
          <ac:chgData name="Robbin Bouwmeester" userId="1dbfebabfc25a55a" providerId="LiveId" clId="{75D63595-F797-482E-A4A0-2F4889B74D4F}" dt="2026-10-20T12:08:32.517" v="39" actId="113"/>
          <ac:spMkLst>
            <pc:docMk/>
            <pc:sldMk cId="573762368" sldId="264"/>
            <ac:spMk id="2" creationId="{A2B180F3-96D5-23DB-7080-B36E95033DB4}"/>
          </ac:spMkLst>
        </pc:spChg>
      </pc:sldChg>
      <pc:sldChg chg="modSp mod">
        <pc:chgData name="Robbin Bouwmeester" userId="1dbfebabfc25a55a" providerId="LiveId" clId="{75D63595-F797-482E-A4A0-2F4889B74D4F}" dt="2026-10-20T12:08:38.532" v="41" actId="2711"/>
        <pc:sldMkLst>
          <pc:docMk/>
          <pc:sldMk cId="2570570658" sldId="265"/>
        </pc:sldMkLst>
        <pc:spChg chg="mod">
          <ac:chgData name="Robbin Bouwmeester" userId="1dbfebabfc25a55a" providerId="LiveId" clId="{75D63595-F797-482E-A4A0-2F4889B74D4F}" dt="2026-10-20T12:08:38.532" v="41" actId="2711"/>
          <ac:spMkLst>
            <pc:docMk/>
            <pc:sldMk cId="2570570658" sldId="265"/>
            <ac:spMk id="2" creationId="{170F48CE-1A48-9DFB-52BC-C7CC65085F9F}"/>
          </ac:spMkLst>
        </pc:spChg>
      </pc:sldChg>
      <pc:sldChg chg="modSp mod">
        <pc:chgData name="Robbin Bouwmeester" userId="1dbfebabfc25a55a" providerId="LiveId" clId="{75D63595-F797-482E-A4A0-2F4889B74D4F}" dt="2026-10-20T12:08:45.298" v="43" actId="113"/>
        <pc:sldMkLst>
          <pc:docMk/>
          <pc:sldMk cId="1325727767" sldId="266"/>
        </pc:sldMkLst>
        <pc:spChg chg="mod">
          <ac:chgData name="Robbin Bouwmeester" userId="1dbfebabfc25a55a" providerId="LiveId" clId="{75D63595-F797-482E-A4A0-2F4889B74D4F}" dt="2026-10-20T12:08:45.298" v="43" actId="113"/>
          <ac:spMkLst>
            <pc:docMk/>
            <pc:sldMk cId="1325727767" sldId="266"/>
            <ac:spMk id="2" creationId="{17E292F0-B88B-F64B-840C-E88707F7E912}"/>
          </ac:spMkLst>
        </pc:spChg>
      </pc:sldChg>
      <pc:sldChg chg="modSp mod">
        <pc:chgData name="Robbin Bouwmeester" userId="1dbfebabfc25a55a" providerId="LiveId" clId="{75D63595-F797-482E-A4A0-2F4889B74D4F}" dt="2026-10-20T12:08:25.458" v="37" actId="2711"/>
        <pc:sldMkLst>
          <pc:docMk/>
          <pc:sldMk cId="2961940336" sldId="268"/>
        </pc:sldMkLst>
        <pc:spChg chg="mod">
          <ac:chgData name="Robbin Bouwmeester" userId="1dbfebabfc25a55a" providerId="LiveId" clId="{75D63595-F797-482E-A4A0-2F4889B74D4F}" dt="2026-10-20T12:08:25.458" v="37" actId="2711"/>
          <ac:spMkLst>
            <pc:docMk/>
            <pc:sldMk cId="2961940336" sldId="268"/>
            <ac:spMk id="2" creationId="{E932C6E4-D2D6-F487-3691-E8B818B36987}"/>
          </ac:spMkLst>
        </pc:spChg>
      </pc:sldChg>
      <pc:sldChg chg="modSp mod">
        <pc:chgData name="Robbin Bouwmeester" userId="1dbfebabfc25a55a" providerId="LiveId" clId="{75D63595-F797-482E-A4A0-2F4889B74D4F}" dt="2026-10-20T12:09:06.395" v="46" actId="113"/>
        <pc:sldMkLst>
          <pc:docMk/>
          <pc:sldMk cId="1144310301" sldId="272"/>
        </pc:sldMkLst>
        <pc:spChg chg="mod">
          <ac:chgData name="Robbin Bouwmeester" userId="1dbfebabfc25a55a" providerId="LiveId" clId="{75D63595-F797-482E-A4A0-2F4889B74D4F}" dt="2026-10-20T12:09:06.395" v="46" actId="113"/>
          <ac:spMkLst>
            <pc:docMk/>
            <pc:sldMk cId="1144310301" sldId="272"/>
            <ac:spMk id="2" creationId="{4E1D2B40-3897-14B5-448B-E8CAB4658653}"/>
          </ac:spMkLst>
        </pc:spChg>
      </pc:sldChg>
      <pc:sldChg chg="modSp mod">
        <pc:chgData name="Robbin Bouwmeester" userId="1dbfebabfc25a55a" providerId="LiveId" clId="{75D63595-F797-482E-A4A0-2F4889B74D4F}" dt="2026-10-20T12:09:40.227" v="58" actId="20577"/>
        <pc:sldMkLst>
          <pc:docMk/>
          <pc:sldMk cId="2926859702" sldId="273"/>
        </pc:sldMkLst>
        <pc:spChg chg="mod">
          <ac:chgData name="Robbin Bouwmeester" userId="1dbfebabfc25a55a" providerId="LiveId" clId="{75D63595-F797-482E-A4A0-2F4889B74D4F}" dt="2026-10-20T12:09:40.227" v="58" actId="20577"/>
          <ac:spMkLst>
            <pc:docMk/>
            <pc:sldMk cId="2926859702" sldId="273"/>
            <ac:spMk id="2" creationId="{3FAAEB09-66EE-045B-6580-2ADC38500E52}"/>
          </ac:spMkLst>
        </pc:spChg>
      </pc:sldChg>
      <pc:sldChg chg="modSp mod">
        <pc:chgData name="Robbin Bouwmeester" userId="1dbfebabfc25a55a" providerId="LiveId" clId="{75D63595-F797-482E-A4A0-2F4889B74D4F}" dt="2026-10-20T12:07:53.104" v="26" actId="113"/>
        <pc:sldMkLst>
          <pc:docMk/>
          <pc:sldMk cId="1279151095" sldId="277"/>
        </pc:sldMkLst>
        <pc:spChg chg="mod">
          <ac:chgData name="Robbin Bouwmeester" userId="1dbfebabfc25a55a" providerId="LiveId" clId="{75D63595-F797-482E-A4A0-2F4889B74D4F}" dt="2026-10-20T12:07:53.104" v="26" actId="113"/>
          <ac:spMkLst>
            <pc:docMk/>
            <pc:sldMk cId="1279151095" sldId="277"/>
            <ac:spMk id="2" creationId="{91FCAAC0-D22F-5B88-E619-FF6CAA1D5416}"/>
          </ac:spMkLst>
        </pc:spChg>
      </pc:sldChg>
      <pc:sldChg chg="modSp mod">
        <pc:chgData name="Robbin Bouwmeester" userId="1dbfebabfc25a55a" providerId="LiveId" clId="{75D63595-F797-482E-A4A0-2F4889B74D4F}" dt="2026-10-20T12:08:03.537" v="31" actId="113"/>
        <pc:sldMkLst>
          <pc:docMk/>
          <pc:sldMk cId="622120761" sldId="278"/>
        </pc:sldMkLst>
        <pc:spChg chg="mod">
          <ac:chgData name="Robbin Bouwmeester" userId="1dbfebabfc25a55a" providerId="LiveId" clId="{75D63595-F797-482E-A4A0-2F4889B74D4F}" dt="2026-10-20T12:08:03.537" v="31" actId="113"/>
          <ac:spMkLst>
            <pc:docMk/>
            <pc:sldMk cId="622120761" sldId="278"/>
            <ac:spMk id="2" creationId="{64CB02E8-7FE5-BAFF-5CDD-2F7CB1A551B8}"/>
          </ac:spMkLst>
        </pc:spChg>
      </pc:sldChg>
      <pc:sldChg chg="modSp mod">
        <pc:chgData name="Robbin Bouwmeester" userId="1dbfebabfc25a55a" providerId="LiveId" clId="{75D63595-F797-482E-A4A0-2F4889B74D4F}" dt="2026-10-20T12:06:17.776" v="7" actId="255"/>
        <pc:sldMkLst>
          <pc:docMk/>
          <pc:sldMk cId="435151617" sldId="279"/>
        </pc:sldMkLst>
        <pc:spChg chg="mod">
          <ac:chgData name="Robbin Bouwmeester" userId="1dbfebabfc25a55a" providerId="LiveId" clId="{75D63595-F797-482E-A4A0-2F4889B74D4F}" dt="2026-10-20T12:06:17.776" v="7" actId="255"/>
          <ac:spMkLst>
            <pc:docMk/>
            <pc:sldMk cId="435151617" sldId="279"/>
            <ac:spMk id="2" creationId="{0E771FB6-2A14-CBDC-3538-FE5DA1FEEBD6}"/>
          </ac:spMkLst>
        </pc:spChg>
      </pc:sldChg>
      <pc:sldChg chg="modSp mod">
        <pc:chgData name="Robbin Bouwmeester" userId="1dbfebabfc25a55a" providerId="LiveId" clId="{75D63595-F797-482E-A4A0-2F4889B74D4F}" dt="2026-10-20T12:06:41.012" v="17" actId="113"/>
        <pc:sldMkLst>
          <pc:docMk/>
          <pc:sldMk cId="2986209915" sldId="280"/>
        </pc:sldMkLst>
        <pc:spChg chg="mod">
          <ac:chgData name="Robbin Bouwmeester" userId="1dbfebabfc25a55a" providerId="LiveId" clId="{75D63595-F797-482E-A4A0-2F4889B74D4F}" dt="2026-10-20T12:06:41.012" v="17" actId="113"/>
          <ac:spMkLst>
            <pc:docMk/>
            <pc:sldMk cId="2986209915" sldId="280"/>
            <ac:spMk id="2" creationId="{2DA604A3-C1D1-47F1-F5DD-A5319E49C9C5}"/>
          </ac:spMkLst>
        </pc:spChg>
      </pc:sldChg>
      <pc:sldChg chg="modSp mod">
        <pc:chgData name="Robbin Bouwmeester" userId="1dbfebabfc25a55a" providerId="LiveId" clId="{75D63595-F797-482E-A4A0-2F4889B74D4F}" dt="2026-10-20T12:06:55.674" v="20" actId="255"/>
        <pc:sldMkLst>
          <pc:docMk/>
          <pc:sldMk cId="2980949531" sldId="281"/>
        </pc:sldMkLst>
        <pc:spChg chg="mod">
          <ac:chgData name="Robbin Bouwmeester" userId="1dbfebabfc25a55a" providerId="LiveId" clId="{75D63595-F797-482E-A4A0-2F4889B74D4F}" dt="2026-10-20T12:06:55.674" v="20" actId="255"/>
          <ac:spMkLst>
            <pc:docMk/>
            <pc:sldMk cId="2980949531" sldId="281"/>
            <ac:spMk id="2" creationId="{8DEDC55B-8DFB-86AC-CBFA-CADB67984565}"/>
          </ac:spMkLst>
        </pc:spChg>
      </pc:sldChg>
      <pc:sldChg chg="modSp mod">
        <pc:chgData name="Robbin Bouwmeester" userId="1dbfebabfc25a55a" providerId="LiveId" clId="{75D63595-F797-482E-A4A0-2F4889B74D4F}" dt="2026-10-20T12:06:31.067" v="14" actId="113"/>
        <pc:sldMkLst>
          <pc:docMk/>
          <pc:sldMk cId="605482727" sldId="282"/>
        </pc:sldMkLst>
        <pc:spChg chg="mod">
          <ac:chgData name="Robbin Bouwmeester" userId="1dbfebabfc25a55a" providerId="LiveId" clId="{75D63595-F797-482E-A4A0-2F4889B74D4F}" dt="2026-10-20T12:06:31.067" v="14" actId="113"/>
          <ac:spMkLst>
            <pc:docMk/>
            <pc:sldMk cId="605482727" sldId="282"/>
            <ac:spMk id="2" creationId="{F2F75396-8C43-2AD0-7776-52F9245DB902}"/>
          </ac:spMkLst>
        </pc:spChg>
      </pc:sldChg>
      <pc:sldChg chg="modSp mod">
        <pc:chgData name="Robbin Bouwmeester" userId="1dbfebabfc25a55a" providerId="LiveId" clId="{75D63595-F797-482E-A4A0-2F4889B74D4F}" dt="2026-10-20T12:09:53.744" v="61" actId="113"/>
        <pc:sldMkLst>
          <pc:docMk/>
          <pc:sldMk cId="2021803679" sldId="283"/>
        </pc:sldMkLst>
        <pc:spChg chg="mod">
          <ac:chgData name="Robbin Bouwmeester" userId="1dbfebabfc25a55a" providerId="LiveId" clId="{75D63595-F797-482E-A4A0-2F4889B74D4F}" dt="2026-10-20T12:09:53.744" v="61" actId="113"/>
          <ac:spMkLst>
            <pc:docMk/>
            <pc:sldMk cId="2021803679" sldId="283"/>
            <ac:spMk id="2" creationId="{7BD05065-505B-27D8-52F8-CA86B4C91213}"/>
          </ac:spMkLst>
        </pc:spChg>
      </pc:sldChg>
      <pc:sldChg chg="modSp mod">
        <pc:chgData name="Robbin Bouwmeester" userId="1dbfebabfc25a55a" providerId="LiveId" clId="{75D63595-F797-482E-A4A0-2F4889B74D4F}" dt="2026-10-20T12:10:31.034" v="67" actId="113"/>
        <pc:sldMkLst>
          <pc:docMk/>
          <pc:sldMk cId="2630662587" sldId="284"/>
        </pc:sldMkLst>
        <pc:spChg chg="mod">
          <ac:chgData name="Robbin Bouwmeester" userId="1dbfebabfc25a55a" providerId="LiveId" clId="{75D63595-F797-482E-A4A0-2F4889B74D4F}" dt="2026-10-20T12:10:31.034" v="67" actId="113"/>
          <ac:spMkLst>
            <pc:docMk/>
            <pc:sldMk cId="2630662587" sldId="284"/>
            <ac:spMk id="2" creationId="{B2F0E23E-897C-D518-9E74-3BA18E93E489}"/>
          </ac:spMkLst>
        </pc:spChg>
      </pc:sldChg>
      <pc:sldChg chg="modSp mod">
        <pc:chgData name="Robbin Bouwmeester" userId="1dbfebabfc25a55a" providerId="LiveId" clId="{75D63595-F797-482E-A4A0-2F4889B74D4F}" dt="2026-10-20T12:10:22.005" v="64" actId="113"/>
        <pc:sldMkLst>
          <pc:docMk/>
          <pc:sldMk cId="732964602" sldId="285"/>
        </pc:sldMkLst>
        <pc:spChg chg="mod">
          <ac:chgData name="Robbin Bouwmeester" userId="1dbfebabfc25a55a" providerId="LiveId" clId="{75D63595-F797-482E-A4A0-2F4889B74D4F}" dt="2026-10-20T12:10:22.005" v="64" actId="113"/>
          <ac:spMkLst>
            <pc:docMk/>
            <pc:sldMk cId="732964602" sldId="285"/>
            <ac:spMk id="2" creationId="{B110E768-EB37-B1FF-711B-2D88B097257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88EE1B-8E02-22BC-27D6-4A79C40AC6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998A83-ED40-9555-5C00-CB48C0FAD4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58BD91-980D-431E-84C7-4DE0DA81F003}" type="datetimeFigureOut">
              <a:rPr lang="en-US" smtClean="0"/>
              <a:t>10/20/2026</a:t>
            </a:fld>
            <a:endParaRPr lang="en-US"/>
          </a:p>
        </p:txBody>
      </p:sp>
      <p:sp>
        <p:nvSpPr>
          <p:cNvPr id="4" name="Footer Placeholder 3">
            <a:extLst>
              <a:ext uri="{FF2B5EF4-FFF2-40B4-BE49-F238E27FC236}">
                <a16:creationId xmlns:a16="http://schemas.microsoft.com/office/drawing/2014/main" id="{87A9C8C3-E4FB-88E4-2A18-2B8A75A7FE5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B543907-5418-E741-8CA6-D9DFEBE4A9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556B35-55D9-41D4-AF58-00310A1198CE}" type="slidenum">
              <a:rPr lang="en-US" smtClean="0"/>
              <a:t>‹#›</a:t>
            </a:fld>
            <a:endParaRPr lang="en-US"/>
          </a:p>
        </p:txBody>
      </p:sp>
    </p:spTree>
    <p:extLst>
      <p:ext uri="{BB962C8B-B14F-4D97-AF65-F5344CB8AC3E}">
        <p14:creationId xmlns:p14="http://schemas.microsoft.com/office/powerpoint/2010/main" val="425655844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1364C-957D-4A3E-AAEB-3C68A911999D}"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3C013A-CD70-4544-8384-B19ED78503EB}" type="slidenum">
              <a:rPr lang="en-US" smtClean="0"/>
              <a:t>‹#›</a:t>
            </a:fld>
            <a:endParaRPr lang="en-US"/>
          </a:p>
        </p:txBody>
      </p:sp>
    </p:spTree>
    <p:extLst>
      <p:ext uri="{BB962C8B-B14F-4D97-AF65-F5344CB8AC3E}">
        <p14:creationId xmlns:p14="http://schemas.microsoft.com/office/powerpoint/2010/main" val="3193348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computer vision, one important task is </a:t>
            </a:r>
            <a:r>
              <a:rPr lang="en-US" b="1" dirty="0"/>
              <a:t>image classification</a:t>
            </a:r>
            <a:r>
              <a:rPr lang="en-US" dirty="0"/>
              <a:t>, where the goal is to assign a single label to an entire image. In biomedical contexts, this could mean predicting whether an X-ray is normal or abnormal, or assigning an image to a disease category such as COVID-19 or pneumonia. The model does not indicate where the relevant pattern is located; it only predicts the overall class of the image.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1</a:t>
            </a:fld>
            <a:endParaRPr lang="en-US"/>
          </a:p>
        </p:txBody>
      </p:sp>
    </p:spTree>
    <p:extLst>
      <p:ext uri="{BB962C8B-B14F-4D97-AF65-F5344CB8AC3E}">
        <p14:creationId xmlns:p14="http://schemas.microsoft.com/office/powerpoint/2010/main" val="1497888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Computer vision tasks can also require more detailed outputs than a single class label. In </a:t>
            </a:r>
            <a:r>
              <a:rPr lang="en-US" b="1" dirty="0"/>
              <a:t>object detection</a:t>
            </a:r>
            <a:r>
              <a:rPr lang="en-US" dirty="0"/>
              <a:t>, the model identifies and localizes objects, typically with bounding boxes. In </a:t>
            </a:r>
            <a:r>
              <a:rPr lang="en-US" b="1" dirty="0"/>
              <a:t>segmentation</a:t>
            </a:r>
            <a:r>
              <a:rPr lang="en-US" dirty="0"/>
              <a:t>, the model predicts which individual pixels belong to which object or region. These tasks are especially important in biomedical imaging, where one may want to detect lesions, outline tumors, or separate cells from background tissue.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2</a:t>
            </a:fld>
            <a:endParaRPr lang="en-US"/>
          </a:p>
        </p:txBody>
      </p:sp>
    </p:spTree>
    <p:extLst>
      <p:ext uri="{BB962C8B-B14F-4D97-AF65-F5344CB8AC3E}">
        <p14:creationId xmlns:p14="http://schemas.microsoft.com/office/powerpoint/2010/main" val="327583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t>
            </a:r>
            <a:r>
              <a:rPr lang="en-US" b="1" dirty="0"/>
              <a:t>object detection</a:t>
            </a:r>
            <a:r>
              <a:rPr lang="en-US" dirty="0"/>
              <a:t>, determining where it is located can be useful in applications such as endoscopy, pathology, or radiology, where the location of a suspicious region matters as much as its presence. Detection therefore extends classification by adding spatial localization.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3</a:t>
            </a:fld>
            <a:endParaRPr lang="en-US"/>
          </a:p>
        </p:txBody>
      </p:sp>
    </p:spTree>
    <p:extLst>
      <p:ext uri="{BB962C8B-B14F-4D97-AF65-F5344CB8AC3E}">
        <p14:creationId xmlns:p14="http://schemas.microsoft.com/office/powerpoint/2010/main" val="2797726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computer vision problems involve following objects over time rather than analyzing a single static image. In </a:t>
            </a:r>
            <a:r>
              <a:rPr lang="en-US" b="1" dirty="0"/>
              <a:t>object tracking</a:t>
            </a:r>
            <a:r>
              <a:rPr lang="en-US" dirty="0"/>
              <a:t>, the model identifies the same object across consecutive frames of a video or time-lapse experiment. In biomedical research, this is commonly used to track cells, organelles, or other structures as they move, divide, or interact over time.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4</a:t>
            </a:fld>
            <a:endParaRPr lang="en-US"/>
          </a:p>
        </p:txBody>
      </p:sp>
    </p:spTree>
    <p:extLst>
      <p:ext uri="{BB962C8B-B14F-4D97-AF65-F5344CB8AC3E}">
        <p14:creationId xmlns:p14="http://schemas.microsoft.com/office/powerpoint/2010/main" val="618019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CNNs became dominant, image analysis often relied on </a:t>
            </a:r>
            <a:r>
              <a:rPr lang="en-US" b="1" dirty="0"/>
              <a:t>manual feature extraction</a:t>
            </a:r>
            <a:r>
              <a:rPr lang="en-US" dirty="0"/>
              <a:t>. Researchers designed features such as edges, gradients, textures, or shapes and then passed those features to a separate machine-learning model. This approach could work well, but it depended heavily on expert knowledge and on the assumption that the manually designed features captured the relevant biological or visual information.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5</a:t>
            </a:fld>
            <a:endParaRPr lang="en-US"/>
          </a:p>
        </p:txBody>
      </p:sp>
    </p:spTree>
    <p:extLst>
      <p:ext uri="{BB962C8B-B14F-4D97-AF65-F5344CB8AC3E}">
        <p14:creationId xmlns:p14="http://schemas.microsoft.com/office/powerpoint/2010/main" val="2805939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standard fully connected neural network can, in principle, learn from image pixels directly. However, it treats the image as a collection of input values rather than as a structured 2D object. As a result, it is sensitive to the exact position of patterns in the image. If an object shifts to another location, the network may respond very differently, even though the image content is biologically or visually the same.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6</a:t>
            </a:fld>
            <a:endParaRPr lang="en-US"/>
          </a:p>
        </p:txBody>
      </p:sp>
    </p:spTree>
    <p:extLst>
      <p:ext uri="{BB962C8B-B14F-4D97-AF65-F5344CB8AC3E}">
        <p14:creationId xmlns:p14="http://schemas.microsoft.com/office/powerpoint/2010/main" val="3804315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Real-world images vary in many ways. Objects can appear at different positions, sizes, orientations, or lighting conditions. These are called object </a:t>
            </a:r>
            <a:r>
              <a:rPr lang="en-US" b="1" dirty="0"/>
              <a:t>invariances</a:t>
            </a:r>
            <a:r>
              <a:rPr lang="en-US" b="0" dirty="0"/>
              <a:t>. A</a:t>
            </a:r>
            <a:r>
              <a:rPr lang="en-US" dirty="0"/>
              <a:t> useful image-recognition model must therefore be robust to such variations. In biomedical imaging, similar challenges arise because samples may differ in staining intensity, imaging angle, magnification, or acquisition conditions. CNNs were designed in part to better handle this type of variability.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7</a:t>
            </a:fld>
            <a:endParaRPr lang="en-US"/>
          </a:p>
        </p:txBody>
      </p:sp>
    </p:spTree>
    <p:extLst>
      <p:ext uri="{BB962C8B-B14F-4D97-AF65-F5344CB8AC3E}">
        <p14:creationId xmlns:p14="http://schemas.microsoft.com/office/powerpoint/2010/main" val="1051758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regular neural network requires the image to be </a:t>
            </a:r>
            <a:r>
              <a:rPr lang="en-US" b="1" dirty="0"/>
              <a:t>flattened</a:t>
            </a:r>
            <a:r>
              <a:rPr lang="en-US" dirty="0"/>
              <a:t> into a one-dimensional vector before it can be processed. This conversion removes the explicit spatial arrangement of neighboring pixels. Consequently, the model no longer naturally knows which pixels were adjacent in the original image, making it harder to recognize the same pattern when it appears in a different location.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8</a:t>
            </a:fld>
            <a:endParaRPr lang="en-US"/>
          </a:p>
        </p:txBody>
      </p:sp>
    </p:spTree>
    <p:extLst>
      <p:ext uri="{BB962C8B-B14F-4D97-AF65-F5344CB8AC3E}">
        <p14:creationId xmlns:p14="http://schemas.microsoft.com/office/powerpoint/2010/main" val="1846408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CNNs address this limitation by using </a:t>
            </a:r>
            <a:r>
              <a:rPr lang="en-US" b="1" dirty="0"/>
              <a:t>kernels</a:t>
            </a:r>
            <a:r>
              <a:rPr lang="en-US" dirty="0"/>
              <a:t>, also called </a:t>
            </a:r>
            <a:r>
              <a:rPr lang="en-US" b="1" dirty="0"/>
              <a:t>filters</a:t>
            </a:r>
            <a:r>
              <a:rPr lang="en-US" dirty="0"/>
              <a:t>, that slide across the image. A kernel applies the same small set of weights at many positions, allowing the model to detect the same local pattern wherever it appears. This idea is related to earlier image-processing methods such as edge-detection filters, but in CNNs the filters are learned from data rather than manually specified.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9</a:t>
            </a:fld>
            <a:endParaRPr lang="en-US"/>
          </a:p>
        </p:txBody>
      </p:sp>
    </p:spTree>
    <p:extLst>
      <p:ext uri="{BB962C8B-B14F-4D97-AF65-F5344CB8AC3E}">
        <p14:creationId xmlns:p14="http://schemas.microsoft.com/office/powerpoint/2010/main" val="650820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the same filter is applied across the entire image, a convolutional neural network can recognize a pattern even when it appears at different positions. This makes CNNs much more robust to </a:t>
            </a:r>
            <a:r>
              <a:rPr lang="en-US" b="1" dirty="0"/>
              <a:t>translation invariance</a:t>
            </a:r>
            <a:r>
              <a:rPr lang="en-US" dirty="0"/>
              <a:t> than standard fully connected networks. The model still learns from data, but it does so in a way that respects the </a:t>
            </a:r>
            <a:r>
              <a:rPr lang="en-US" b="1" dirty="0"/>
              <a:t>spatial structure </a:t>
            </a:r>
            <a:r>
              <a:rPr lang="en-US" dirty="0"/>
              <a:t>of images.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10</a:t>
            </a:fld>
            <a:endParaRPr lang="en-US"/>
          </a:p>
        </p:txBody>
      </p:sp>
    </p:spTree>
    <p:extLst>
      <p:ext uri="{BB962C8B-B14F-4D97-AF65-F5344CB8AC3E}">
        <p14:creationId xmlns:p14="http://schemas.microsoft.com/office/powerpoint/2010/main" val="3794618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kernel can be understood as a small window that scans over the image and computes a new value at each position. The output records how strongly the local image region matches the pattern encoded by the kernel. Repeating this operation over the whole image produces a </a:t>
            </a:r>
            <a:r>
              <a:rPr lang="en-US" b="1" dirty="0"/>
              <a:t>feature map</a:t>
            </a:r>
            <a:r>
              <a:rPr lang="en-US" dirty="0"/>
              <a:t>, which highlights where that visual pattern is present.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11</a:t>
            </a:fld>
            <a:endParaRPr lang="en-US"/>
          </a:p>
        </p:txBody>
      </p:sp>
    </p:spTree>
    <p:extLst>
      <p:ext uri="{BB962C8B-B14F-4D97-AF65-F5344CB8AC3E}">
        <p14:creationId xmlns:p14="http://schemas.microsoft.com/office/powerpoint/2010/main" val="1528935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 CNN, the values inside a kernel are not fixed by the user. They are </a:t>
            </a:r>
            <a:r>
              <a:rPr lang="en-US" b="1" dirty="0"/>
              <a:t>learnable parameters</a:t>
            </a:r>
            <a:r>
              <a:rPr lang="en-US" dirty="0"/>
              <a:t> that are optimized during training, just like weights in a dense neural-network layer. During learning, the model adjusts these filter values so that the resulting feature maps become useful for the prediction task. In this sense, a convolution is a local weighted combination of nearby pixels.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12</a:t>
            </a:fld>
            <a:endParaRPr lang="en-US"/>
          </a:p>
        </p:txBody>
      </p:sp>
    </p:spTree>
    <p:extLst>
      <p:ext uri="{BB962C8B-B14F-4D97-AF65-F5344CB8AC3E}">
        <p14:creationId xmlns:p14="http://schemas.microsoft.com/office/powerpoint/2010/main" val="2070839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CNNs become powerful because multiple convolutional </a:t>
            </a:r>
            <a:r>
              <a:rPr lang="en-US" b="1" dirty="0"/>
              <a:t>layers can be stacked</a:t>
            </a:r>
            <a:r>
              <a:rPr lang="en-US" dirty="0"/>
              <a:t>. Early layers often detect simple patterns such as edges or textures. Later layers combine these simpler patterns into more complex structures. In biomedical imaging, this hierarchy might progress from local contrast changes to tissue architecture, cell morphology, or lesion patterns. The final layers then use these learned representations for classification or another downstream task.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13</a:t>
            </a:fld>
            <a:endParaRPr lang="en-US"/>
          </a:p>
        </p:txBody>
      </p:sp>
    </p:spTree>
    <p:extLst>
      <p:ext uri="{BB962C8B-B14F-4D97-AF65-F5344CB8AC3E}">
        <p14:creationId xmlns:p14="http://schemas.microsoft.com/office/powerpoint/2010/main" val="1163145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Pooling</a:t>
            </a:r>
            <a:r>
              <a:rPr lang="en-US" dirty="0"/>
              <a:t> reduces the spatial size of a feature map by summarizing small local regions, for example by taking the maximum value. This makes the representation more compact and reduces computational cost. Pooling can also make the model less sensitive to small local shifts, because the exact pixel position becomes less important once nearby responses are aggregated.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14</a:t>
            </a:fld>
            <a:endParaRPr lang="en-US"/>
          </a:p>
        </p:txBody>
      </p:sp>
    </p:spTree>
    <p:extLst>
      <p:ext uri="{BB962C8B-B14F-4D97-AF65-F5344CB8AC3E}">
        <p14:creationId xmlns:p14="http://schemas.microsoft.com/office/powerpoint/2010/main" val="1072202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LeNet was one of the earliest successful convolutional neural networks and helped establish the basic CNN design: convolution, pooling, and fully connected classification layers. Its importance lies in showing that image-recognition features could be learned directly from data in an end-to-end manner, rather than being manually engineered in advance. </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15</a:t>
            </a:fld>
            <a:endParaRPr lang="en-US"/>
          </a:p>
        </p:txBody>
      </p:sp>
    </p:spTree>
    <p:extLst>
      <p:ext uri="{BB962C8B-B14F-4D97-AF65-F5344CB8AC3E}">
        <p14:creationId xmlns:p14="http://schemas.microsoft.com/office/powerpoint/2010/main" val="12700491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VGG showed that CNN performance could be improved by using a simple but much deeper architecture built from repeated small convolutional filters. Its design was influential because it demonstrated that depth itself was powerful, even without highly complicated architectural components. VGG also became a widely used backbone and feature extractor in many later computer-vision applications. </a:t>
            </a:r>
          </a:p>
          <a:p>
            <a:endParaRPr lang="en-US" dirty="0"/>
          </a:p>
          <a:p>
            <a:r>
              <a:rPr lang="en-US" dirty="0"/>
              <a:t>Note how the size of the feature maps decreases across layers (224 to 7), but the number of channels increases (64 to 512). This shows how the model is condensing spatial information into a non-spatial output.</a:t>
            </a:r>
          </a:p>
        </p:txBody>
      </p:sp>
      <p:sp>
        <p:nvSpPr>
          <p:cNvPr id="4" name="Slide Number Placeholder 3"/>
          <p:cNvSpPr>
            <a:spLocks noGrp="1"/>
          </p:cNvSpPr>
          <p:nvPr>
            <p:ph type="sldNum" sz="quarter" idx="5"/>
          </p:nvPr>
        </p:nvSpPr>
        <p:spPr/>
        <p:txBody>
          <a:bodyPr/>
          <a:lstStyle/>
          <a:p>
            <a:fld id="{953C013A-CD70-4544-8384-B19ED78503EB}" type="slidenum">
              <a:rPr lang="en-US" smtClean="0"/>
              <a:t>16</a:t>
            </a:fld>
            <a:endParaRPr lang="en-US"/>
          </a:p>
        </p:txBody>
      </p:sp>
    </p:spTree>
    <p:extLst>
      <p:ext uri="{BB962C8B-B14F-4D97-AF65-F5344CB8AC3E}">
        <p14:creationId xmlns:p14="http://schemas.microsoft.com/office/powerpoint/2010/main" val="4051828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example shows a landmark medical-imaging application of CNNs: skin-lesion classification. The study became highly influential because it suggested that deep neural networks could achieve expert-level performance on a clinically relevant image-recognition problem. More broadly, it helped establish deep learning as a serious approach in biomedical image analysis.</a:t>
            </a:r>
          </a:p>
          <a:p>
            <a:endParaRPr lang="en-US" dirty="0"/>
          </a:p>
        </p:txBody>
      </p:sp>
      <p:sp>
        <p:nvSpPr>
          <p:cNvPr id="4" name="Slide Number Placeholder 3"/>
          <p:cNvSpPr>
            <a:spLocks noGrp="1"/>
          </p:cNvSpPr>
          <p:nvPr>
            <p:ph type="sldNum" sz="quarter" idx="5"/>
          </p:nvPr>
        </p:nvSpPr>
        <p:spPr/>
        <p:txBody>
          <a:bodyPr/>
          <a:lstStyle/>
          <a:p>
            <a:fld id="{953C013A-CD70-4544-8384-B19ED78503EB}" type="slidenum">
              <a:rPr lang="en-US" smtClean="0"/>
              <a:t>17</a:t>
            </a:fld>
            <a:endParaRPr lang="en-US"/>
          </a:p>
        </p:txBody>
      </p:sp>
    </p:spTree>
    <p:extLst>
      <p:ext uri="{BB962C8B-B14F-4D97-AF65-F5344CB8AC3E}">
        <p14:creationId xmlns:p14="http://schemas.microsoft.com/office/powerpoint/2010/main" val="3702011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11807-CB90-D8F7-E09D-DEF9F29AA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8D5A5-556A-5732-3F38-911840DD3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4C08E2-A962-4DCF-02C6-4460B18C9D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214AA5-A60C-23A0-03BB-0DB18B94715C}"/>
              </a:ext>
            </a:extLst>
          </p:cNvPr>
          <p:cNvSpPr>
            <a:spLocks noGrp="1"/>
          </p:cNvSpPr>
          <p:nvPr>
            <p:ph type="sldNum" sz="quarter" idx="5"/>
          </p:nvPr>
        </p:nvSpPr>
        <p:spPr/>
        <p:txBody>
          <a:bodyPr/>
          <a:lstStyle/>
          <a:p>
            <a:fld id="{953C013A-CD70-4544-8384-B19ED78503EB}" type="slidenum">
              <a:rPr lang="en-US" smtClean="0"/>
              <a:t>18</a:t>
            </a:fld>
            <a:endParaRPr lang="en-US"/>
          </a:p>
        </p:txBody>
      </p:sp>
    </p:spTree>
    <p:extLst>
      <p:ext uri="{BB962C8B-B14F-4D97-AF65-F5344CB8AC3E}">
        <p14:creationId xmlns:p14="http://schemas.microsoft.com/office/powerpoint/2010/main" val="20592545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3C013A-CD70-4544-8384-B19ED78503EB}" type="slidenum">
              <a:rPr lang="en-US" smtClean="0"/>
              <a:t>19</a:t>
            </a:fld>
            <a:endParaRPr lang="en-US"/>
          </a:p>
        </p:txBody>
      </p:sp>
    </p:spTree>
    <p:extLst>
      <p:ext uri="{BB962C8B-B14F-4D97-AF65-F5344CB8AC3E}">
        <p14:creationId xmlns:p14="http://schemas.microsoft.com/office/powerpoint/2010/main" val="1758796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1D86-6751-25A3-035F-788E6079F5B5}"/>
              </a:ext>
            </a:extLst>
          </p:cNvPr>
          <p:cNvSpPr>
            <a:spLocks noGrp="1"/>
          </p:cNvSpPr>
          <p:nvPr>
            <p:ph type="ctrTitle"/>
          </p:nvPr>
        </p:nvSpPr>
        <p:spPr>
          <a:xfrm>
            <a:off x="445476" y="406400"/>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C36DFF0C-2793-CF74-39AD-128524A11BED}"/>
              </a:ext>
            </a:extLst>
          </p:cNvPr>
          <p:cNvSpPr>
            <a:spLocks noGrp="1"/>
          </p:cNvSpPr>
          <p:nvPr>
            <p:ph type="subTitle" idx="1"/>
          </p:nvPr>
        </p:nvSpPr>
        <p:spPr>
          <a:xfrm>
            <a:off x="445476" y="3094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Tree>
    <p:extLst>
      <p:ext uri="{BB962C8B-B14F-4D97-AF65-F5344CB8AC3E}">
        <p14:creationId xmlns:p14="http://schemas.microsoft.com/office/powerpoint/2010/main" val="46594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D792-7D3D-83C5-606E-EE2B07A316E5}"/>
              </a:ext>
            </a:extLst>
          </p:cNvPr>
          <p:cNvSpPr>
            <a:spLocks noGrp="1"/>
          </p:cNvSpPr>
          <p:nvPr>
            <p:ph type="title"/>
          </p:nvPr>
        </p:nvSpPr>
        <p:spPr>
          <a:xfrm>
            <a:off x="407988" y="365125"/>
            <a:ext cx="11376025" cy="418128"/>
          </a:xfrm>
        </p:spPr>
        <p:txBody>
          <a:bodyPr vert="horz" lIns="0" tIns="0" rIns="0" bIns="0" rtlCol="0" anchor="t">
            <a:noAutofit/>
          </a:bodyPr>
          <a:lstStyle>
            <a:lvl1pPr>
              <a:defRPr lang="en-BE"/>
            </a:lvl1pPr>
          </a:lstStyle>
          <a:p>
            <a:pPr lvl="0"/>
            <a:r>
              <a:rPr lang="en-US" dirty="0"/>
              <a:t>Click to edit Master title style</a:t>
            </a:r>
            <a:endParaRPr lang="en-BE" dirty="0"/>
          </a:p>
        </p:txBody>
      </p:sp>
      <p:sp>
        <p:nvSpPr>
          <p:cNvPr id="3" name="Content Placeholder 2">
            <a:extLst>
              <a:ext uri="{FF2B5EF4-FFF2-40B4-BE49-F238E27FC236}">
                <a16:creationId xmlns:a16="http://schemas.microsoft.com/office/drawing/2014/main" id="{BE8BEEF3-E6B4-333F-98A9-C13B32EDD254}"/>
              </a:ext>
            </a:extLst>
          </p:cNvPr>
          <p:cNvSpPr>
            <a:spLocks noGrp="1"/>
          </p:cNvSpPr>
          <p:nvPr>
            <p:ph idx="1"/>
          </p:nvPr>
        </p:nvSpPr>
        <p:spPr>
          <a:xfrm>
            <a:off x="407988" y="1196975"/>
            <a:ext cx="11376025" cy="5137837"/>
          </a:xfrm>
        </p:spPr>
        <p:txBody>
          <a:bodyPr/>
          <a:lstStyle>
            <a:lvl1pPr>
              <a:defRPr lang="en-GB"/>
            </a:lvl1pPr>
            <a:lvl2pPr>
              <a:defRPr lang="en-GB"/>
            </a:lvl2pPr>
            <a:lvl3pPr>
              <a:defRPr lang="en-GB"/>
            </a:lvl3pPr>
            <a:lvl4pPr>
              <a:defRPr lang="en-GB"/>
            </a:lvl4pPr>
            <a:lvl5pPr>
              <a:defRPr lang="en-BE"/>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Footer Placeholder 4">
            <a:extLst>
              <a:ext uri="{FF2B5EF4-FFF2-40B4-BE49-F238E27FC236}">
                <a16:creationId xmlns:a16="http://schemas.microsoft.com/office/drawing/2014/main" id="{D49552F3-5810-93F0-E468-78FD4AFC14F2}"/>
              </a:ext>
            </a:extLst>
          </p:cNvPr>
          <p:cNvSpPr>
            <a:spLocks noGrp="1"/>
          </p:cNvSpPr>
          <p:nvPr>
            <p:ph type="ftr" sz="quarter" idx="11"/>
          </p:nvPr>
        </p:nvSpPr>
        <p:spPr/>
        <p:txBody>
          <a:bodyPr vert="horz" lIns="0" tIns="0" rIns="0" bIns="0" rtlCol="0" anchor="ctr"/>
          <a:lstStyle>
            <a:lvl1pPr>
              <a:defRPr lang="en-US"/>
            </a:lvl1pPr>
          </a:lstStyle>
          <a:p>
            <a:endParaRPr lang="en-US"/>
          </a:p>
        </p:txBody>
      </p:sp>
      <p:sp>
        <p:nvSpPr>
          <p:cNvPr id="6" name="Slide Number Placeholder 5">
            <a:extLst>
              <a:ext uri="{FF2B5EF4-FFF2-40B4-BE49-F238E27FC236}">
                <a16:creationId xmlns:a16="http://schemas.microsoft.com/office/drawing/2014/main" id="{14F9C0B1-D794-36E8-AB68-2ACF514DDCD6}"/>
              </a:ext>
            </a:extLst>
          </p:cNvPr>
          <p:cNvSpPr>
            <a:spLocks noGrp="1"/>
          </p:cNvSpPr>
          <p:nvPr>
            <p:ph type="sldNum" sz="quarter" idx="12"/>
          </p:nvPr>
        </p:nvSpPr>
        <p:spPr/>
        <p:txBody>
          <a:bodyPr/>
          <a:lstStyle>
            <a:lvl1pPr>
              <a:defRPr lang="en-BE" smtClean="0"/>
            </a:lvl1pPr>
          </a:lstStyle>
          <a:p>
            <a:fld id="{94B3E216-A3C5-4E41-AE94-D003E76F1D3A}" type="slidenum">
              <a:rPr lang="en-US" smtClean="0"/>
              <a:pPr/>
              <a:t>‹#›</a:t>
            </a:fld>
            <a:endParaRPr lang="en-US"/>
          </a:p>
        </p:txBody>
      </p:sp>
    </p:spTree>
    <p:extLst>
      <p:ext uri="{BB962C8B-B14F-4D97-AF65-F5344CB8AC3E}">
        <p14:creationId xmlns:p14="http://schemas.microsoft.com/office/powerpoint/2010/main" val="38742563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5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29DC3-8AAE-DEDC-EB49-92CAD4E403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BA40AA02-1CBC-FFE6-61AD-45B18821D0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8201DE-6807-8F50-7C1D-6A9824254BAC}"/>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5" name="Footer Placeholder 4">
            <a:extLst>
              <a:ext uri="{FF2B5EF4-FFF2-40B4-BE49-F238E27FC236}">
                <a16:creationId xmlns:a16="http://schemas.microsoft.com/office/drawing/2014/main" id="{E7F08137-91F7-C16D-6848-DAF48904F5D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48073F0-040C-7AB4-0FBC-12E7740D353E}"/>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064854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5A02-220B-237D-9FE4-311584315A3B}"/>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93C927E6-BA8E-AB88-7421-757A268D9073}"/>
              </a:ext>
            </a:extLst>
          </p:cNvPr>
          <p:cNvSpPr>
            <a:spLocks noGrp="1"/>
          </p:cNvSpPr>
          <p:nvPr>
            <p:ph sz="half" idx="1"/>
          </p:nvPr>
        </p:nvSpPr>
        <p:spPr>
          <a:xfrm>
            <a:off x="433633" y="1253765"/>
            <a:ext cx="5586167" cy="5071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C92954B8-E4C9-4219-7811-8A1A1E0D647F}"/>
              </a:ext>
            </a:extLst>
          </p:cNvPr>
          <p:cNvSpPr>
            <a:spLocks noGrp="1"/>
          </p:cNvSpPr>
          <p:nvPr>
            <p:ph sz="half" idx="2"/>
          </p:nvPr>
        </p:nvSpPr>
        <p:spPr>
          <a:xfrm>
            <a:off x="6172199" y="1253764"/>
            <a:ext cx="5586167" cy="50716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D28B685C-61CC-0404-2995-D328F279993B}"/>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6" name="Footer Placeholder 5">
            <a:extLst>
              <a:ext uri="{FF2B5EF4-FFF2-40B4-BE49-F238E27FC236}">
                <a16:creationId xmlns:a16="http://schemas.microsoft.com/office/drawing/2014/main" id="{282CBF2C-7DC6-6CDB-599F-4D2531B7EFD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8FDAF82-8FCB-417A-9568-F2F4F799F4DE}"/>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465810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CE99-BFE2-D0D6-CF3C-997712D01BF9}"/>
              </a:ext>
            </a:extLst>
          </p:cNvPr>
          <p:cNvSpPr>
            <a:spLocks noGrp="1"/>
          </p:cNvSpPr>
          <p:nvPr>
            <p:ph type="title"/>
          </p:nvPr>
        </p:nvSpPr>
        <p:spPr>
          <a:xfrm>
            <a:off x="839788" y="365125"/>
            <a:ext cx="10515600" cy="1325563"/>
          </a:xfrm>
        </p:spPr>
        <p:txBody>
          <a:bodyPr anchor="t"/>
          <a:lstStyle/>
          <a:p>
            <a:r>
              <a:rPr lang="en-US"/>
              <a:t>Click to edit Master title style</a:t>
            </a:r>
            <a:endParaRPr lang="en-BE"/>
          </a:p>
        </p:txBody>
      </p:sp>
      <p:sp>
        <p:nvSpPr>
          <p:cNvPr id="3" name="Text Placeholder 2">
            <a:extLst>
              <a:ext uri="{FF2B5EF4-FFF2-40B4-BE49-F238E27FC236}">
                <a16:creationId xmlns:a16="http://schemas.microsoft.com/office/drawing/2014/main" id="{4C3DC899-0E87-4F3F-F936-290D33103A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FEB3DB-2664-F917-CC97-C5B24E74C7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B4911868-5A70-0FE7-1E9D-68B932AE69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FF1200-9003-F769-B17C-F8F3C04DB0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358DB5A2-AB44-8908-3FA7-91F34DAE9D2D}"/>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8" name="Footer Placeholder 7">
            <a:extLst>
              <a:ext uri="{FF2B5EF4-FFF2-40B4-BE49-F238E27FC236}">
                <a16:creationId xmlns:a16="http://schemas.microsoft.com/office/drawing/2014/main" id="{2C28D419-E8D9-CCD0-BC41-E27C3A63828E}"/>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6ECCCADE-35D4-F930-CD8D-095A3FD8E911}"/>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4238486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34C0-9FB6-1B1D-7010-75A1C0C308FB}"/>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E16E80C2-3008-6421-7948-4B8A47EE77C9}"/>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4" name="Footer Placeholder 3">
            <a:extLst>
              <a:ext uri="{FF2B5EF4-FFF2-40B4-BE49-F238E27FC236}">
                <a16:creationId xmlns:a16="http://schemas.microsoft.com/office/drawing/2014/main" id="{D19244BD-79F0-BDCF-7553-6F8AFC2CD80D}"/>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86D591E2-2A4F-E3FB-8C9D-1B1A0288CBBA}"/>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505817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A1A13D-2595-50CE-AC9F-F4BFCC2B2932}"/>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3" name="Footer Placeholder 2">
            <a:extLst>
              <a:ext uri="{FF2B5EF4-FFF2-40B4-BE49-F238E27FC236}">
                <a16:creationId xmlns:a16="http://schemas.microsoft.com/office/drawing/2014/main" id="{9B8B9CF6-FC22-FD6C-4EA2-D6275E678ABE}"/>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959B6BB4-2803-7AD3-3AF5-341799AD2DD1}"/>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440939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239E-4E74-98A7-CEBB-C260A3AF4F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06537D8C-0D6B-653A-8124-5AB48D636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EDF03FBA-5D49-1949-9A18-D4BE75F28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478A04-333D-D106-6228-7FE9A0078287}"/>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6" name="Footer Placeholder 5">
            <a:extLst>
              <a:ext uri="{FF2B5EF4-FFF2-40B4-BE49-F238E27FC236}">
                <a16:creationId xmlns:a16="http://schemas.microsoft.com/office/drawing/2014/main" id="{1EA43E89-05D8-2567-C96D-E29C27A729B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163B97D3-2B7D-A37C-9B19-A57DE8EE2AE5}"/>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879138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B9AA-1A3F-3172-C9EB-F2A54AB88B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BB4BD0E5-B450-8C62-44E6-26F791BBB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BE"/>
          </a:p>
        </p:txBody>
      </p:sp>
      <p:sp>
        <p:nvSpPr>
          <p:cNvPr id="4" name="Text Placeholder 3">
            <a:extLst>
              <a:ext uri="{FF2B5EF4-FFF2-40B4-BE49-F238E27FC236}">
                <a16:creationId xmlns:a16="http://schemas.microsoft.com/office/drawing/2014/main" id="{3EE99DC3-DB93-78D2-BF5E-A068C38B9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E20E9F-FBB8-46D9-CF71-30472851C116}"/>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6" name="Footer Placeholder 5">
            <a:extLst>
              <a:ext uri="{FF2B5EF4-FFF2-40B4-BE49-F238E27FC236}">
                <a16:creationId xmlns:a16="http://schemas.microsoft.com/office/drawing/2014/main" id="{A225BC26-F783-F721-E9E5-33FFCF66C90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6540B8E3-98A5-2761-9D49-F0B67C33B10D}"/>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37359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E4E1E-063B-AA21-912A-F83B72036528}"/>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F54D790A-2FB7-C21C-DAC0-C803D405C1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98AB05FD-34AF-3E35-8E94-C1712F94A67C}"/>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5" name="Footer Placeholder 4">
            <a:extLst>
              <a:ext uri="{FF2B5EF4-FFF2-40B4-BE49-F238E27FC236}">
                <a16:creationId xmlns:a16="http://schemas.microsoft.com/office/drawing/2014/main" id="{2877C186-A6B0-2478-EAEE-BD1E9840B0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E113B3B-9579-E887-FA90-DE28987E5A53}"/>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837954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020E95-7106-9B01-984D-25E5931682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7D19EB7B-37B5-0E28-DFA5-89543600AC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683CE053-5459-F91F-5969-D9B1B088B1B4}"/>
              </a:ext>
            </a:extLst>
          </p:cNvPr>
          <p:cNvSpPr>
            <a:spLocks noGrp="1"/>
          </p:cNvSpPr>
          <p:nvPr>
            <p:ph type="dt" sz="half" idx="10"/>
          </p:nvPr>
        </p:nvSpPr>
        <p:spPr>
          <a:xfrm>
            <a:off x="433633" y="6459767"/>
            <a:ext cx="3147767" cy="261708"/>
          </a:xfrm>
          <a:prstGeom prst="rect">
            <a:avLst/>
          </a:prstGeom>
        </p:spPr>
        <p:txBody>
          <a:bodyPr/>
          <a:lstStyle/>
          <a:p>
            <a:endParaRPr lang="en-BE"/>
          </a:p>
        </p:txBody>
      </p:sp>
      <p:sp>
        <p:nvSpPr>
          <p:cNvPr id="5" name="Footer Placeholder 4">
            <a:extLst>
              <a:ext uri="{FF2B5EF4-FFF2-40B4-BE49-F238E27FC236}">
                <a16:creationId xmlns:a16="http://schemas.microsoft.com/office/drawing/2014/main" id="{16DE4691-D5D8-3528-889E-CB34E4306F8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B2727E4E-9593-1FBC-3FF8-D6FA9E0327D6}"/>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1046800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B2D071-8136-59B1-D0A6-46F0A037C97D}"/>
              </a:ext>
            </a:extLst>
          </p:cNvPr>
          <p:cNvSpPr>
            <a:spLocks noGrp="1"/>
          </p:cNvSpPr>
          <p:nvPr>
            <p:ph type="title"/>
          </p:nvPr>
        </p:nvSpPr>
        <p:spPr>
          <a:xfrm>
            <a:off x="433633" y="365125"/>
            <a:ext cx="11324734" cy="418128"/>
          </a:xfrm>
          <a:prstGeom prst="rect">
            <a:avLst/>
          </a:prstGeom>
        </p:spPr>
        <p:txBody>
          <a:bodyPr vert="horz" lIns="0" tIns="0" rIns="0" bIns="0" rtlCol="0" anchor="t">
            <a:sp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124FF3CE-AB41-3DBA-F1EE-46716E1D2C02}"/>
              </a:ext>
            </a:extLst>
          </p:cNvPr>
          <p:cNvSpPr>
            <a:spLocks noGrp="1"/>
          </p:cNvSpPr>
          <p:nvPr>
            <p:ph type="body" idx="1"/>
          </p:nvPr>
        </p:nvSpPr>
        <p:spPr>
          <a:xfrm>
            <a:off x="407988" y="1196975"/>
            <a:ext cx="11376025" cy="51482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Footer Placeholder 4">
            <a:extLst>
              <a:ext uri="{FF2B5EF4-FFF2-40B4-BE49-F238E27FC236}">
                <a16:creationId xmlns:a16="http://schemas.microsoft.com/office/drawing/2014/main" id="{3DF3ED21-04A5-C9AD-0745-6D1BF969C464}"/>
              </a:ext>
            </a:extLst>
          </p:cNvPr>
          <p:cNvSpPr>
            <a:spLocks noGrp="1"/>
          </p:cNvSpPr>
          <p:nvPr>
            <p:ph type="ftr" sz="quarter" idx="3"/>
          </p:nvPr>
        </p:nvSpPr>
        <p:spPr>
          <a:xfrm>
            <a:off x="407988" y="6459767"/>
            <a:ext cx="10170651" cy="261708"/>
          </a:xfrm>
          <a:prstGeom prst="rect">
            <a:avLst/>
          </a:prstGeom>
        </p:spPr>
        <p:txBody>
          <a:bodyPr vert="horz" lIns="0" tIns="0" rIns="0" bIns="0" rtlCol="0" anchor="ctr"/>
          <a:lstStyle>
            <a:lvl1pPr algn="l">
              <a:defRPr sz="1050">
                <a:solidFill>
                  <a:schemeClr val="tx1">
                    <a:tint val="82000"/>
                  </a:schemeClr>
                </a:solidFill>
                <a:latin typeface="+mj-lt"/>
              </a:defRPr>
            </a:lvl1pPr>
          </a:lstStyle>
          <a:p>
            <a:endParaRPr lang="en-BE"/>
          </a:p>
        </p:txBody>
      </p:sp>
      <p:sp>
        <p:nvSpPr>
          <p:cNvPr id="6" name="Slide Number Placeholder 5">
            <a:extLst>
              <a:ext uri="{FF2B5EF4-FFF2-40B4-BE49-F238E27FC236}">
                <a16:creationId xmlns:a16="http://schemas.microsoft.com/office/drawing/2014/main" id="{EEE7EA51-DEF7-1B95-07B8-026BDF39496F}"/>
              </a:ext>
            </a:extLst>
          </p:cNvPr>
          <p:cNvSpPr>
            <a:spLocks noGrp="1"/>
          </p:cNvSpPr>
          <p:nvPr>
            <p:ph type="sldNum" sz="quarter" idx="4"/>
          </p:nvPr>
        </p:nvSpPr>
        <p:spPr>
          <a:xfrm>
            <a:off x="10684933" y="6459767"/>
            <a:ext cx="1099080" cy="261708"/>
          </a:xfrm>
          <a:prstGeom prst="rect">
            <a:avLst/>
          </a:prstGeom>
        </p:spPr>
        <p:txBody>
          <a:bodyPr vert="horz" lIns="0" tIns="0" rIns="0" bIns="0" rtlCol="0" anchor="ctr"/>
          <a:lstStyle>
            <a:lvl1pPr algn="r">
              <a:defRPr sz="1050">
                <a:solidFill>
                  <a:schemeClr val="tx1">
                    <a:tint val="82000"/>
                  </a:schemeClr>
                </a:solidFill>
                <a:latin typeface="+mj-lt"/>
              </a:defRPr>
            </a:lvl1pPr>
          </a:lstStyle>
          <a:p>
            <a:fld id="{94B3E216-A3C5-4E41-AE94-D003E76F1D3A}" type="slidenum">
              <a:rPr lang="en-BE" smtClean="0"/>
              <a:pPr/>
              <a:t>‹#›</a:t>
            </a:fld>
            <a:endParaRPr lang="en-BE" dirty="0"/>
          </a:p>
        </p:txBody>
      </p:sp>
    </p:spTree>
    <p:extLst>
      <p:ext uri="{BB962C8B-B14F-4D97-AF65-F5344CB8AC3E}">
        <p14:creationId xmlns:p14="http://schemas.microsoft.com/office/powerpoint/2010/main" val="24717835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000" kern="1200">
          <a:solidFill>
            <a:schemeClr val="tx1"/>
          </a:solidFill>
          <a:latin typeface="Aptos SemiBold"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423" userDrawn="1">
          <p15:clr>
            <a:srgbClr val="F26B43"/>
          </p15:clr>
        </p15:guide>
        <p15:guide id="4" pos="257" userDrawn="1">
          <p15:clr>
            <a:srgbClr val="F26B43"/>
          </p15:clr>
        </p15:guide>
        <p15:guide id="5" orient="horz" pos="754" userDrawn="1">
          <p15:clr>
            <a:srgbClr val="F26B43"/>
          </p15:clr>
        </p15:guide>
        <p15:guide id="6" orient="horz" pos="39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adamharley.com/nn_vis/mlp/2d.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gif"/></Relationships>
</file>

<file path=ppt/slides/_rels/slide10.xml.rels><?xml version="1.0" encoding="UTF-8" standalone="yes"?>
<Relationships xmlns="http://schemas.openxmlformats.org/package/2006/relationships"><Relationship Id="rId8" Type="http://schemas.openxmlformats.org/officeDocument/2006/relationships/hyperlink" Target="https://adamharley.com/nn_vis/cnn/2d.html" TargetMode="External"/><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adamharley.com/nn_vis/mlp/2d.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jpe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40.jpg"/></Relationships>
</file>

<file path=ppt/slides/_rels/slide1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1FB6-2A14-CBDC-3538-FE5DA1FEEBD6}"/>
              </a:ext>
            </a:extLst>
          </p:cNvPr>
          <p:cNvSpPr>
            <a:spLocks noGrp="1"/>
          </p:cNvSpPr>
          <p:nvPr>
            <p:ph type="title"/>
          </p:nvPr>
        </p:nvSpPr>
        <p:spPr/>
        <p:txBody>
          <a:bodyPr/>
          <a:lstStyle/>
          <a:p>
            <a:r>
              <a:rPr lang="en-US" sz="3200" b="1" dirty="0">
                <a:latin typeface="Corbel" panose="020B0503020204020204" pitchFamily="34" charset="0"/>
              </a:rPr>
              <a:t>There are various prediction tasks in computer vision: Classification</a:t>
            </a:r>
          </a:p>
        </p:txBody>
      </p:sp>
      <p:sp>
        <p:nvSpPr>
          <p:cNvPr id="4" name="Slide Number Placeholder 3">
            <a:extLst>
              <a:ext uri="{FF2B5EF4-FFF2-40B4-BE49-F238E27FC236}">
                <a16:creationId xmlns:a16="http://schemas.microsoft.com/office/drawing/2014/main" id="{AD28FF41-EC30-7227-9375-72A1F4455E5A}"/>
              </a:ext>
            </a:extLst>
          </p:cNvPr>
          <p:cNvSpPr>
            <a:spLocks noGrp="1"/>
          </p:cNvSpPr>
          <p:nvPr>
            <p:ph type="sldNum" sz="quarter" idx="12"/>
          </p:nvPr>
        </p:nvSpPr>
        <p:spPr/>
        <p:txBody>
          <a:bodyPr/>
          <a:lstStyle/>
          <a:p>
            <a:fld id="{94B3E216-A3C5-4E41-AE94-D003E76F1D3A}" type="slidenum">
              <a:rPr lang="en-US" smtClean="0"/>
              <a:pPr/>
              <a:t>1</a:t>
            </a:fld>
            <a:endParaRPr lang="en-US"/>
          </a:p>
        </p:txBody>
      </p:sp>
      <p:pic>
        <p:nvPicPr>
          <p:cNvPr id="5" name="Picture 4" descr="Applied Sciences | Free Full-Text | COVID-19 Chest X-ray Classification and  Severity Assessment Using Convolutional and Transformer Neural Networks">
            <a:extLst>
              <a:ext uri="{FF2B5EF4-FFF2-40B4-BE49-F238E27FC236}">
                <a16:creationId xmlns:a16="http://schemas.microsoft.com/office/drawing/2014/main" id="{D0ADC468-29F3-5548-B4BA-FCFE000BB6E5}"/>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2854344" y="1412972"/>
            <a:ext cx="6534111" cy="4932266"/>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52B90303-F9D5-E5E8-7945-6305163D6F3E}"/>
              </a:ext>
            </a:extLst>
          </p:cNvPr>
          <p:cNvSpPr>
            <a:spLocks noGrp="1"/>
          </p:cNvSpPr>
          <p:nvPr>
            <p:ph type="ftr" sz="quarter" idx="11"/>
          </p:nvPr>
        </p:nvSpPr>
        <p:spPr/>
        <p:txBody>
          <a:bodyPr/>
          <a:lstStyle/>
          <a:p>
            <a:r>
              <a:rPr lang="en-US"/>
              <a:t>Le Dinh, T, et al. COVID-19 Chest X-ray Classification and Severity Assessment Using Convolutional and Transformer Neural Networks. Appl. Sci. 2022, 12, 4861</a:t>
            </a:r>
          </a:p>
        </p:txBody>
      </p:sp>
    </p:spTree>
    <p:extLst>
      <p:ext uri="{BB962C8B-B14F-4D97-AF65-F5344CB8AC3E}">
        <p14:creationId xmlns:p14="http://schemas.microsoft.com/office/powerpoint/2010/main" val="435151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509B7-CB2B-2A75-BD17-ED1A4EE1F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75396-8C43-2AD0-7776-52F9245DB902}"/>
              </a:ext>
            </a:extLst>
          </p:cNvPr>
          <p:cNvSpPr>
            <a:spLocks noGrp="1"/>
          </p:cNvSpPr>
          <p:nvPr>
            <p:ph type="title"/>
          </p:nvPr>
        </p:nvSpPr>
        <p:spPr/>
        <p:txBody>
          <a:bodyPr/>
          <a:lstStyle/>
          <a:p>
            <a:r>
              <a:rPr lang="en-US" b="1" dirty="0">
                <a:latin typeface="Corbel" panose="020B0503020204020204" pitchFamily="34" charset="0"/>
              </a:rPr>
              <a:t>There are various prediction tasks in computer vision:</a:t>
            </a:r>
            <a:br>
              <a:rPr lang="en-US" b="1" dirty="0">
                <a:latin typeface="Corbel" panose="020B0503020204020204" pitchFamily="34" charset="0"/>
              </a:rPr>
            </a:br>
            <a:r>
              <a:rPr lang="en-US" b="1" dirty="0">
                <a:latin typeface="Corbel" panose="020B0503020204020204" pitchFamily="34" charset="0"/>
              </a:rPr>
              <a:t>Detection &amp; segmentation</a:t>
            </a:r>
          </a:p>
        </p:txBody>
      </p:sp>
      <p:sp>
        <p:nvSpPr>
          <p:cNvPr id="4" name="Slide Number Placeholder 3">
            <a:extLst>
              <a:ext uri="{FF2B5EF4-FFF2-40B4-BE49-F238E27FC236}">
                <a16:creationId xmlns:a16="http://schemas.microsoft.com/office/drawing/2014/main" id="{032C0347-7F2D-DEFA-45F7-103ABCA87581}"/>
              </a:ext>
            </a:extLst>
          </p:cNvPr>
          <p:cNvSpPr>
            <a:spLocks noGrp="1"/>
          </p:cNvSpPr>
          <p:nvPr>
            <p:ph type="sldNum" sz="quarter" idx="12"/>
          </p:nvPr>
        </p:nvSpPr>
        <p:spPr/>
        <p:txBody>
          <a:bodyPr/>
          <a:lstStyle/>
          <a:p>
            <a:fld id="{94B3E216-A3C5-4E41-AE94-D003E76F1D3A}" type="slidenum">
              <a:rPr lang="en-US" smtClean="0"/>
              <a:pPr/>
              <a:t>2</a:t>
            </a:fld>
            <a:endParaRPr lang="en-US"/>
          </a:p>
        </p:txBody>
      </p:sp>
      <p:sp>
        <p:nvSpPr>
          <p:cNvPr id="6" name="Footer Placeholder 5">
            <a:extLst>
              <a:ext uri="{FF2B5EF4-FFF2-40B4-BE49-F238E27FC236}">
                <a16:creationId xmlns:a16="http://schemas.microsoft.com/office/drawing/2014/main" id="{EAF1327C-71C3-A4D8-A8B7-F59CC9F92B7F}"/>
              </a:ext>
            </a:extLst>
          </p:cNvPr>
          <p:cNvSpPr>
            <a:spLocks noGrp="1"/>
          </p:cNvSpPr>
          <p:nvPr>
            <p:ph type="ftr" sz="quarter" idx="11"/>
          </p:nvPr>
        </p:nvSpPr>
        <p:spPr/>
        <p:txBody>
          <a:bodyPr/>
          <a:lstStyle/>
          <a:p>
            <a:r>
              <a:rPr lang="en-US"/>
              <a:t>Le Dinh, T, et al. COVID-19 Chest X-ray Classification and Severity Assessment Using Convolutional and Transformer Neural Networks. Appl. Sci. 2022, 12, 4861</a:t>
            </a:r>
          </a:p>
        </p:txBody>
      </p:sp>
      <p:pic>
        <p:nvPicPr>
          <p:cNvPr id="3" name="Picture 2" descr="Object Detection: Models, Architectures &amp; Tutorial [2023]">
            <a:extLst>
              <a:ext uri="{FF2B5EF4-FFF2-40B4-BE49-F238E27FC236}">
                <a16:creationId xmlns:a16="http://schemas.microsoft.com/office/drawing/2014/main" id="{B0C347AA-DA22-14D6-8D4F-D2AC706C9311}"/>
              </a:ext>
            </a:extLst>
          </p:cNvPr>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t="13219"/>
          <a:stretch>
            <a:fillRect/>
          </a:stretch>
        </p:blipFill>
        <p:spPr bwMode="auto">
          <a:xfrm>
            <a:off x="959181" y="2195270"/>
            <a:ext cx="4651678" cy="325534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5A44F14-E6C9-A78A-8DA1-94C20C6F8D6E}"/>
              </a:ext>
            </a:extLst>
          </p:cNvPr>
          <p:cNvPicPr>
            <a:picLocks noChangeAspect="1"/>
          </p:cNvPicPr>
          <p:nvPr/>
        </p:nvPicPr>
        <p:blipFill>
          <a:blip r:embed="rId4"/>
          <a:stretch>
            <a:fillRect/>
          </a:stretch>
        </p:blipFill>
        <p:spPr>
          <a:xfrm>
            <a:off x="6581142" y="2195270"/>
            <a:ext cx="4871716" cy="3255348"/>
          </a:xfrm>
          <a:prstGeom prst="rect">
            <a:avLst/>
          </a:prstGeom>
        </p:spPr>
      </p:pic>
    </p:spTree>
    <p:extLst>
      <p:ext uri="{BB962C8B-B14F-4D97-AF65-F5344CB8AC3E}">
        <p14:creationId xmlns:p14="http://schemas.microsoft.com/office/powerpoint/2010/main" val="605482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E9512-C6FC-7644-B151-6796502BB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604A3-C1D1-47F1-F5DD-A5319E49C9C5}"/>
              </a:ext>
            </a:extLst>
          </p:cNvPr>
          <p:cNvSpPr>
            <a:spLocks noGrp="1"/>
          </p:cNvSpPr>
          <p:nvPr>
            <p:ph type="title"/>
          </p:nvPr>
        </p:nvSpPr>
        <p:spPr/>
        <p:txBody>
          <a:bodyPr/>
          <a:lstStyle/>
          <a:p>
            <a:r>
              <a:rPr lang="en-US" b="1" dirty="0">
                <a:latin typeface="Corbel" panose="020B0503020204020204" pitchFamily="34" charset="0"/>
              </a:rPr>
              <a:t>There are various prediction tasks in computer vision:</a:t>
            </a:r>
            <a:br>
              <a:rPr lang="en-US" b="1" dirty="0">
                <a:latin typeface="Corbel" panose="020B0503020204020204" pitchFamily="34" charset="0"/>
              </a:rPr>
            </a:br>
            <a:r>
              <a:rPr lang="en-US" b="1" dirty="0">
                <a:latin typeface="Corbel" panose="020B0503020204020204" pitchFamily="34" charset="0"/>
              </a:rPr>
              <a:t>Object detection</a:t>
            </a:r>
          </a:p>
        </p:txBody>
      </p:sp>
      <p:sp>
        <p:nvSpPr>
          <p:cNvPr id="4" name="Slide Number Placeholder 3">
            <a:extLst>
              <a:ext uri="{FF2B5EF4-FFF2-40B4-BE49-F238E27FC236}">
                <a16:creationId xmlns:a16="http://schemas.microsoft.com/office/drawing/2014/main" id="{21253170-A7B7-4520-AAE2-217995394D6A}"/>
              </a:ext>
            </a:extLst>
          </p:cNvPr>
          <p:cNvSpPr>
            <a:spLocks noGrp="1"/>
          </p:cNvSpPr>
          <p:nvPr>
            <p:ph type="sldNum" sz="quarter" idx="12"/>
          </p:nvPr>
        </p:nvSpPr>
        <p:spPr/>
        <p:txBody>
          <a:bodyPr/>
          <a:lstStyle/>
          <a:p>
            <a:fld id="{94B3E216-A3C5-4E41-AE94-D003E76F1D3A}" type="slidenum">
              <a:rPr lang="en-US" smtClean="0"/>
              <a:pPr/>
              <a:t>3</a:t>
            </a:fld>
            <a:endParaRPr lang="en-US"/>
          </a:p>
        </p:txBody>
      </p:sp>
      <p:pic>
        <p:nvPicPr>
          <p:cNvPr id="3" name="endoscopy">
            <a:hlinkClick r:id="" action="ppaction://media"/>
            <a:extLst>
              <a:ext uri="{FF2B5EF4-FFF2-40B4-BE49-F238E27FC236}">
                <a16:creationId xmlns:a16="http://schemas.microsoft.com/office/drawing/2014/main" id="{6F2C2B5B-31FF-AB30-660B-43A04490DE21}"/>
              </a:ext>
            </a:extLst>
          </p:cNvPr>
          <p:cNvPicPr>
            <a:picLocks noChangeAspect="1"/>
          </p:cNvPicPr>
          <p:nvPr/>
        </p:nvPicPr>
        <p:blipFill>
          <a:blip r:embed="rId3"/>
          <a:stretch>
            <a:fillRect/>
          </a:stretch>
        </p:blipFill>
        <p:spPr>
          <a:xfrm>
            <a:off x="1882424" y="1393828"/>
            <a:ext cx="8427152" cy="4740272"/>
          </a:xfrm>
          <a:prstGeom prst="rect">
            <a:avLst/>
          </a:prstGeom>
        </p:spPr>
      </p:pic>
    </p:spTree>
    <p:extLst>
      <p:ext uri="{BB962C8B-B14F-4D97-AF65-F5344CB8AC3E}">
        <p14:creationId xmlns:p14="http://schemas.microsoft.com/office/powerpoint/2010/main" val="2986209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A709B-391F-18EC-431D-06D0C7850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DC55B-8DFB-86AC-CBFA-CADB67984565}"/>
              </a:ext>
            </a:extLst>
          </p:cNvPr>
          <p:cNvSpPr>
            <a:spLocks noGrp="1"/>
          </p:cNvSpPr>
          <p:nvPr>
            <p:ph type="title"/>
          </p:nvPr>
        </p:nvSpPr>
        <p:spPr/>
        <p:txBody>
          <a:bodyPr/>
          <a:lstStyle/>
          <a:p>
            <a:r>
              <a:rPr lang="en-US" b="1" dirty="0">
                <a:latin typeface="Corbel" panose="020B0503020204020204" pitchFamily="34" charset="0"/>
              </a:rPr>
              <a:t>There are various prediction tasks in computer vision:</a:t>
            </a:r>
            <a:br>
              <a:rPr lang="en-US" b="1" dirty="0">
                <a:latin typeface="Corbel" panose="020B0503020204020204" pitchFamily="34" charset="0"/>
              </a:rPr>
            </a:br>
            <a:r>
              <a:rPr lang="en-US" b="1" dirty="0">
                <a:latin typeface="Corbel" panose="020B0503020204020204" pitchFamily="34" charset="0"/>
              </a:rPr>
              <a:t>Object tracking</a:t>
            </a:r>
          </a:p>
        </p:txBody>
      </p:sp>
      <p:sp>
        <p:nvSpPr>
          <p:cNvPr id="4" name="Slide Number Placeholder 3">
            <a:extLst>
              <a:ext uri="{FF2B5EF4-FFF2-40B4-BE49-F238E27FC236}">
                <a16:creationId xmlns:a16="http://schemas.microsoft.com/office/drawing/2014/main" id="{31C427C1-1C54-EE3F-3758-A168051B6323}"/>
              </a:ext>
            </a:extLst>
          </p:cNvPr>
          <p:cNvSpPr>
            <a:spLocks noGrp="1"/>
          </p:cNvSpPr>
          <p:nvPr>
            <p:ph type="sldNum" sz="quarter" idx="12"/>
          </p:nvPr>
        </p:nvSpPr>
        <p:spPr/>
        <p:txBody>
          <a:bodyPr/>
          <a:lstStyle/>
          <a:p>
            <a:fld id="{94B3E216-A3C5-4E41-AE94-D003E76F1D3A}" type="slidenum">
              <a:rPr lang="en-US" smtClean="0"/>
              <a:pPr/>
              <a:t>4</a:t>
            </a:fld>
            <a:endParaRPr lang="en-US"/>
          </a:p>
        </p:txBody>
      </p:sp>
      <p:pic>
        <p:nvPicPr>
          <p:cNvPr id="5" name="Picture 4" descr="Cell Tracking | Laboratory of Mathematical Methods of Image Processing">
            <a:extLst>
              <a:ext uri="{FF2B5EF4-FFF2-40B4-BE49-F238E27FC236}">
                <a16:creationId xmlns:a16="http://schemas.microsoft.com/office/drawing/2014/main" id="{6752F694-7E42-D4FE-7EB3-D68F28F2A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468438"/>
            <a:ext cx="4876800" cy="4876800"/>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B10417C9-7D66-DF4E-CC8A-C6A00C15910F}"/>
              </a:ext>
            </a:extLst>
          </p:cNvPr>
          <p:cNvSpPr>
            <a:spLocks noGrp="1"/>
          </p:cNvSpPr>
          <p:nvPr>
            <p:ph type="ftr" sz="quarter" idx="11"/>
          </p:nvPr>
        </p:nvSpPr>
        <p:spPr/>
        <p:txBody>
          <a:bodyPr/>
          <a:lstStyle/>
          <a:p>
            <a:r>
              <a:rPr lang="en-US"/>
              <a:t>https://imaging.cs.msu.ru/en/research/cell-tracking</a:t>
            </a:r>
          </a:p>
        </p:txBody>
      </p:sp>
    </p:spTree>
    <p:extLst>
      <p:ext uri="{BB962C8B-B14F-4D97-AF65-F5344CB8AC3E}">
        <p14:creationId xmlns:p14="http://schemas.microsoft.com/office/powerpoint/2010/main" val="2980949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53E2C5A-D9E6-5248-6E61-20C10E41845F}"/>
              </a:ext>
            </a:extLst>
          </p:cNvPr>
          <p:cNvSpPr txBox="1">
            <a:spLocks/>
          </p:cNvSpPr>
          <p:nvPr/>
        </p:nvSpPr>
        <p:spPr>
          <a:xfrm>
            <a:off x="185984" y="111393"/>
            <a:ext cx="11966632" cy="12079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LID4096" dirty="0"/>
          </a:p>
        </p:txBody>
      </p:sp>
      <p:pic>
        <p:nvPicPr>
          <p:cNvPr id="3074" name="Picture 2" descr="Terminologies used In Face Detection with Haar Cascade Classifier: Open CV  | by Rashmi Ranu | Artificial Intelligence in Plain English">
            <a:extLst>
              <a:ext uri="{FF2B5EF4-FFF2-40B4-BE49-F238E27FC236}">
                <a16:creationId xmlns:a16="http://schemas.microsoft.com/office/drawing/2014/main" id="{8C490BD2-3837-B7AE-FBD9-521A42299F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5" r="3279"/>
          <a:stretch/>
        </p:blipFill>
        <p:spPr bwMode="auto">
          <a:xfrm>
            <a:off x="6373283" y="2000055"/>
            <a:ext cx="4607984" cy="310323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1F9200F-3BD2-D263-0229-20E85180791A}"/>
              </a:ext>
            </a:extLst>
          </p:cNvPr>
          <p:cNvSpPr txBox="1"/>
          <p:nvPr/>
        </p:nvSpPr>
        <p:spPr>
          <a:xfrm>
            <a:off x="1170763" y="5818077"/>
            <a:ext cx="4277538" cy="369332"/>
          </a:xfrm>
          <a:prstGeom prst="rect">
            <a:avLst/>
          </a:prstGeom>
          <a:noFill/>
        </p:spPr>
        <p:txBody>
          <a:bodyPr wrap="square" rtlCol="0">
            <a:spAutoFit/>
          </a:bodyPr>
          <a:lstStyle/>
          <a:p>
            <a:r>
              <a:rPr lang="en-US" dirty="0"/>
              <a:t>Histogram of oriented gradients</a:t>
            </a:r>
          </a:p>
        </p:txBody>
      </p:sp>
      <p:sp>
        <p:nvSpPr>
          <p:cNvPr id="7" name="TextBox 6">
            <a:extLst>
              <a:ext uri="{FF2B5EF4-FFF2-40B4-BE49-F238E27FC236}">
                <a16:creationId xmlns:a16="http://schemas.microsoft.com/office/drawing/2014/main" id="{C4433CF2-124F-57A9-FE47-6E4F54AB0D73}"/>
              </a:ext>
            </a:extLst>
          </p:cNvPr>
          <p:cNvSpPr txBox="1"/>
          <p:nvPr/>
        </p:nvSpPr>
        <p:spPr>
          <a:xfrm>
            <a:off x="8026401" y="5783994"/>
            <a:ext cx="2520950" cy="369332"/>
          </a:xfrm>
          <a:prstGeom prst="rect">
            <a:avLst/>
          </a:prstGeom>
          <a:noFill/>
        </p:spPr>
        <p:txBody>
          <a:bodyPr wrap="square" rtlCol="0">
            <a:spAutoFit/>
          </a:bodyPr>
          <a:lstStyle/>
          <a:p>
            <a:r>
              <a:rPr lang="en-US" dirty="0"/>
              <a:t>Edge detection</a:t>
            </a:r>
          </a:p>
        </p:txBody>
      </p:sp>
      <p:sp>
        <p:nvSpPr>
          <p:cNvPr id="8" name="Title 7">
            <a:extLst>
              <a:ext uri="{FF2B5EF4-FFF2-40B4-BE49-F238E27FC236}">
                <a16:creationId xmlns:a16="http://schemas.microsoft.com/office/drawing/2014/main" id="{831395C6-6A0A-37D9-235B-EBAF28DFD3AA}"/>
              </a:ext>
            </a:extLst>
          </p:cNvPr>
          <p:cNvSpPr>
            <a:spLocks noGrp="1"/>
          </p:cNvSpPr>
          <p:nvPr>
            <p:ph type="title"/>
          </p:nvPr>
        </p:nvSpPr>
        <p:spPr/>
        <p:txBody>
          <a:bodyPr/>
          <a:lstStyle/>
          <a:p>
            <a:r>
              <a:rPr lang="en-US" b="1" dirty="0">
                <a:latin typeface="Corbel" panose="020B0503020204020204" pitchFamily="34" charset="0"/>
              </a:rPr>
              <a:t>Methods before CNNs involved manual feature extraction</a:t>
            </a:r>
          </a:p>
        </p:txBody>
      </p:sp>
      <p:sp>
        <p:nvSpPr>
          <p:cNvPr id="10" name="Slide Number Placeholder 9">
            <a:extLst>
              <a:ext uri="{FF2B5EF4-FFF2-40B4-BE49-F238E27FC236}">
                <a16:creationId xmlns:a16="http://schemas.microsoft.com/office/drawing/2014/main" id="{74132EAD-99F5-9FF3-768E-A5FAEF28B0B4}"/>
              </a:ext>
            </a:extLst>
          </p:cNvPr>
          <p:cNvSpPr>
            <a:spLocks noGrp="1"/>
          </p:cNvSpPr>
          <p:nvPr>
            <p:ph type="sldNum" sz="quarter" idx="12"/>
          </p:nvPr>
        </p:nvSpPr>
        <p:spPr/>
        <p:txBody>
          <a:bodyPr/>
          <a:lstStyle/>
          <a:p>
            <a:fld id="{94B3E216-A3C5-4E41-AE94-D003E76F1D3A}" type="slidenum">
              <a:rPr lang="en-US" smtClean="0"/>
              <a:pPr/>
              <a:t>5</a:t>
            </a:fld>
            <a:endParaRPr lang="en-US"/>
          </a:p>
        </p:txBody>
      </p:sp>
      <p:grpSp>
        <p:nvGrpSpPr>
          <p:cNvPr id="11" name="Group 10">
            <a:extLst>
              <a:ext uri="{FF2B5EF4-FFF2-40B4-BE49-F238E27FC236}">
                <a16:creationId xmlns:a16="http://schemas.microsoft.com/office/drawing/2014/main" id="{4628C1A9-23BF-D429-CFF9-C6B5F72CEAED}"/>
              </a:ext>
            </a:extLst>
          </p:cNvPr>
          <p:cNvGrpSpPr/>
          <p:nvPr/>
        </p:nvGrpSpPr>
        <p:grpSpPr>
          <a:xfrm>
            <a:off x="599264" y="1427929"/>
            <a:ext cx="5420536" cy="4002142"/>
            <a:chOff x="599264" y="1379867"/>
            <a:chExt cx="5420536" cy="4002142"/>
          </a:xfrm>
        </p:grpSpPr>
        <p:pic>
          <p:nvPicPr>
            <p:cNvPr id="4" name="Picture 2" descr="HOG Cell Gradients represented on the image using arrows and numbers(values).">
              <a:extLst>
                <a:ext uri="{FF2B5EF4-FFF2-40B4-BE49-F238E27FC236}">
                  <a16:creationId xmlns:a16="http://schemas.microsoft.com/office/drawing/2014/main" id="{99B2EA86-05F1-DA34-00B8-B8B2ED30F9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393"/>
            <a:stretch/>
          </p:blipFill>
          <p:spPr bwMode="auto">
            <a:xfrm>
              <a:off x="599264" y="1379867"/>
              <a:ext cx="5420536" cy="318914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defined">
              <a:extLst>
                <a:ext uri="{FF2B5EF4-FFF2-40B4-BE49-F238E27FC236}">
                  <a16:creationId xmlns:a16="http://schemas.microsoft.com/office/drawing/2014/main" id="{2358D27C-09E6-3E8C-CF46-C149929A2C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8300" y="3877059"/>
              <a:ext cx="1143000" cy="150495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55769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42FFF-6B79-25A8-E5E3-001CD37801BE}"/>
              </a:ext>
            </a:extLst>
          </p:cNvPr>
          <p:cNvSpPr>
            <a:spLocks noGrp="1"/>
          </p:cNvSpPr>
          <p:nvPr>
            <p:ph type="title"/>
          </p:nvPr>
        </p:nvSpPr>
        <p:spPr/>
        <p:txBody>
          <a:bodyPr/>
          <a:lstStyle/>
          <a:p>
            <a:r>
              <a:rPr lang="en-US" b="1" dirty="0">
                <a:latin typeface="Corbel" panose="020B0503020204020204" pitchFamily="34" charset="0"/>
              </a:rPr>
              <a:t>What if neural networks could learn visual patterns instead?</a:t>
            </a:r>
          </a:p>
        </p:txBody>
      </p:sp>
      <p:sp>
        <p:nvSpPr>
          <p:cNvPr id="4" name="Slide Number Placeholder 3">
            <a:extLst>
              <a:ext uri="{FF2B5EF4-FFF2-40B4-BE49-F238E27FC236}">
                <a16:creationId xmlns:a16="http://schemas.microsoft.com/office/drawing/2014/main" id="{3B0CF575-67BC-8876-460E-4E1F208880D6}"/>
              </a:ext>
            </a:extLst>
          </p:cNvPr>
          <p:cNvSpPr>
            <a:spLocks noGrp="1"/>
          </p:cNvSpPr>
          <p:nvPr>
            <p:ph type="sldNum" sz="quarter" idx="12"/>
          </p:nvPr>
        </p:nvSpPr>
        <p:spPr/>
        <p:txBody>
          <a:bodyPr/>
          <a:lstStyle/>
          <a:p>
            <a:fld id="{94B3E216-A3C5-4E41-AE94-D003E76F1D3A}" type="slidenum">
              <a:rPr lang="en-US" smtClean="0"/>
              <a:pPr/>
              <a:t>6</a:t>
            </a:fld>
            <a:endParaRPr lang="en-US"/>
          </a:p>
        </p:txBody>
      </p:sp>
      <p:pic>
        <p:nvPicPr>
          <p:cNvPr id="5" name="Content Placeholder 13">
            <a:extLst>
              <a:ext uri="{FF2B5EF4-FFF2-40B4-BE49-F238E27FC236}">
                <a16:creationId xmlns:a16="http://schemas.microsoft.com/office/drawing/2014/main" id="{851AEEEC-422E-280F-92C7-A35411FF4067}"/>
              </a:ext>
            </a:extLst>
          </p:cNvPr>
          <p:cNvPicPr>
            <a:picLocks noGrp="1" noChangeAspect="1"/>
          </p:cNvPicPr>
          <p:nvPr>
            <p:ph idx="1"/>
          </p:nvPr>
        </p:nvPicPr>
        <p:blipFill>
          <a:blip r:embed="rId3"/>
          <a:stretch>
            <a:fillRect/>
          </a:stretch>
        </p:blipFill>
        <p:spPr>
          <a:xfrm>
            <a:off x="3707572" y="5000318"/>
            <a:ext cx="1629002" cy="638264"/>
          </a:xfrm>
          <a:prstGeom prst="rect">
            <a:avLst/>
          </a:prstGeom>
        </p:spPr>
      </p:pic>
      <p:pic>
        <p:nvPicPr>
          <p:cNvPr id="6" name="Picture 5">
            <a:hlinkClick r:id="rId4"/>
            <a:extLst>
              <a:ext uri="{FF2B5EF4-FFF2-40B4-BE49-F238E27FC236}">
                <a16:creationId xmlns:a16="http://schemas.microsoft.com/office/drawing/2014/main" id="{F444FB68-3DED-6F25-5C5F-4105445E39AC}"/>
              </a:ext>
            </a:extLst>
          </p:cNvPr>
          <p:cNvPicPr>
            <a:picLocks noChangeAspect="1"/>
          </p:cNvPicPr>
          <p:nvPr/>
        </p:nvPicPr>
        <p:blipFill>
          <a:blip r:embed="rId5"/>
          <a:stretch>
            <a:fillRect/>
          </a:stretch>
        </p:blipFill>
        <p:spPr>
          <a:xfrm>
            <a:off x="3505375" y="2136202"/>
            <a:ext cx="2033396" cy="2024339"/>
          </a:xfrm>
          <a:prstGeom prst="rect">
            <a:avLst/>
          </a:prstGeom>
        </p:spPr>
      </p:pic>
      <p:pic>
        <p:nvPicPr>
          <p:cNvPr id="7" name="Picture 6">
            <a:hlinkClick r:id="rId4"/>
            <a:extLst>
              <a:ext uri="{FF2B5EF4-FFF2-40B4-BE49-F238E27FC236}">
                <a16:creationId xmlns:a16="http://schemas.microsoft.com/office/drawing/2014/main" id="{2C92BC9A-F0A4-B412-DAA3-7D8C0FB2DC83}"/>
              </a:ext>
            </a:extLst>
          </p:cNvPr>
          <p:cNvPicPr>
            <a:picLocks noChangeAspect="1"/>
          </p:cNvPicPr>
          <p:nvPr/>
        </p:nvPicPr>
        <p:blipFill>
          <a:blip r:embed="rId6"/>
          <a:stretch>
            <a:fillRect/>
          </a:stretch>
        </p:blipFill>
        <p:spPr>
          <a:xfrm>
            <a:off x="679164" y="2136202"/>
            <a:ext cx="2042453" cy="2069626"/>
          </a:xfrm>
          <a:prstGeom prst="rect">
            <a:avLst/>
          </a:prstGeom>
        </p:spPr>
      </p:pic>
      <p:pic>
        <p:nvPicPr>
          <p:cNvPr id="8" name="Picture 7">
            <a:extLst>
              <a:ext uri="{FF2B5EF4-FFF2-40B4-BE49-F238E27FC236}">
                <a16:creationId xmlns:a16="http://schemas.microsoft.com/office/drawing/2014/main" id="{F494B149-CE35-09FF-3768-643467C59F4E}"/>
              </a:ext>
            </a:extLst>
          </p:cNvPr>
          <p:cNvPicPr>
            <a:picLocks noChangeAspect="1"/>
          </p:cNvPicPr>
          <p:nvPr/>
        </p:nvPicPr>
        <p:blipFill>
          <a:blip r:embed="rId7"/>
          <a:stretch>
            <a:fillRect/>
          </a:stretch>
        </p:blipFill>
        <p:spPr>
          <a:xfrm>
            <a:off x="852546" y="5003909"/>
            <a:ext cx="1695687" cy="657317"/>
          </a:xfrm>
          <a:prstGeom prst="rect">
            <a:avLst/>
          </a:prstGeom>
        </p:spPr>
      </p:pic>
      <p:cxnSp>
        <p:nvCxnSpPr>
          <p:cNvPr id="9" name="Straight Arrow Connector 8">
            <a:extLst>
              <a:ext uri="{FF2B5EF4-FFF2-40B4-BE49-F238E27FC236}">
                <a16:creationId xmlns:a16="http://schemas.microsoft.com/office/drawing/2014/main" id="{03784535-E439-C3B3-3DAC-40AC396A88EB}"/>
              </a:ext>
            </a:extLst>
          </p:cNvPr>
          <p:cNvCxnSpPr>
            <a:cxnSpLocks/>
          </p:cNvCxnSpPr>
          <p:nvPr/>
        </p:nvCxnSpPr>
        <p:spPr>
          <a:xfrm>
            <a:off x="4465382" y="4345617"/>
            <a:ext cx="0" cy="39357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761F0A0F-3378-6370-8B48-4C1860F7268D}"/>
              </a:ext>
            </a:extLst>
          </p:cNvPr>
          <p:cNvCxnSpPr>
            <a:cxnSpLocks/>
          </p:cNvCxnSpPr>
          <p:nvPr/>
        </p:nvCxnSpPr>
        <p:spPr>
          <a:xfrm>
            <a:off x="1638314" y="4345617"/>
            <a:ext cx="0" cy="39357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24533981-D500-354E-E09D-18588E3AC4F7}"/>
              </a:ext>
            </a:extLst>
          </p:cNvPr>
          <p:cNvSpPr txBox="1"/>
          <p:nvPr/>
        </p:nvSpPr>
        <p:spPr>
          <a:xfrm>
            <a:off x="679166" y="1581794"/>
            <a:ext cx="4869519" cy="369332"/>
          </a:xfrm>
          <a:prstGeom prst="rect">
            <a:avLst/>
          </a:prstGeom>
          <a:noFill/>
        </p:spPr>
        <p:txBody>
          <a:bodyPr wrap="square" rtlCol="0">
            <a:spAutoFit/>
          </a:bodyPr>
          <a:lstStyle/>
          <a:p>
            <a:pPr algn="ctr"/>
            <a:r>
              <a:rPr lang="en-US" dirty="0"/>
              <a:t>Regular neural network</a:t>
            </a:r>
            <a:endParaRPr lang="en-BE" dirty="0"/>
          </a:p>
        </p:txBody>
      </p:sp>
      <p:sp>
        <p:nvSpPr>
          <p:cNvPr id="20" name="TextBox 19">
            <a:extLst>
              <a:ext uri="{FF2B5EF4-FFF2-40B4-BE49-F238E27FC236}">
                <a16:creationId xmlns:a16="http://schemas.microsoft.com/office/drawing/2014/main" id="{CF9EE073-CD24-0B96-C349-B10B20762349}"/>
              </a:ext>
            </a:extLst>
          </p:cNvPr>
          <p:cNvSpPr txBox="1"/>
          <p:nvPr/>
        </p:nvSpPr>
        <p:spPr>
          <a:xfrm>
            <a:off x="6643317" y="1581794"/>
            <a:ext cx="4869519" cy="4079432"/>
          </a:xfrm>
          <a:prstGeom prst="rect">
            <a:avLst/>
          </a:prstGeom>
          <a:noFill/>
        </p:spPr>
        <p:txBody>
          <a:bodyPr wrap="square" rtlCol="0" anchor="ctr">
            <a:noAutofit/>
          </a:bodyPr>
          <a:lstStyle/>
          <a:p>
            <a:pPr marL="449263" indent="-449263">
              <a:tabLst>
                <a:tab pos="449263" algn="l"/>
              </a:tabLst>
            </a:pPr>
            <a:r>
              <a:rPr lang="en-US" dirty="0"/>
              <a:t>✅	Can learn visual patterns itself!</a:t>
            </a:r>
          </a:p>
          <a:p>
            <a:pPr marL="449263" indent="-449263">
              <a:tabLst>
                <a:tab pos="449263" algn="l"/>
              </a:tabLst>
            </a:pPr>
            <a:endParaRPr lang="en-US" dirty="0"/>
          </a:p>
          <a:p>
            <a:pPr marL="449263" indent="-449263">
              <a:tabLst>
                <a:tab pos="449263" algn="l"/>
              </a:tabLst>
            </a:pPr>
            <a:r>
              <a:rPr lang="en-US" dirty="0"/>
              <a:t>❌	Expects the image to stay in the same location (not robust against translation invariance).</a:t>
            </a:r>
            <a:endParaRPr lang="en-BE" dirty="0"/>
          </a:p>
        </p:txBody>
      </p:sp>
      <p:sp>
        <p:nvSpPr>
          <p:cNvPr id="21" name="TextBox 20">
            <a:extLst>
              <a:ext uri="{FF2B5EF4-FFF2-40B4-BE49-F238E27FC236}">
                <a16:creationId xmlns:a16="http://schemas.microsoft.com/office/drawing/2014/main" id="{8B1AE0B9-8688-36A7-E95B-321156CF07C3}"/>
              </a:ext>
            </a:extLst>
          </p:cNvPr>
          <p:cNvSpPr txBox="1"/>
          <p:nvPr/>
        </p:nvSpPr>
        <p:spPr>
          <a:xfrm>
            <a:off x="433634" y="5767682"/>
            <a:ext cx="2580499" cy="461665"/>
          </a:xfrm>
          <a:prstGeom prst="rect">
            <a:avLst/>
          </a:prstGeom>
          <a:noFill/>
        </p:spPr>
        <p:txBody>
          <a:bodyPr wrap="square" rtlCol="0">
            <a:spAutoFit/>
          </a:bodyPr>
          <a:lstStyle/>
          <a:p>
            <a:pPr algn="ctr"/>
            <a:r>
              <a:rPr lang="en-US" sz="1200" b="1" dirty="0"/>
              <a:t>When digit is centered:</a:t>
            </a:r>
          </a:p>
          <a:p>
            <a:pPr algn="ctr"/>
            <a:r>
              <a:rPr lang="en-US" sz="1200" b="1" dirty="0"/>
              <a:t>good prediction</a:t>
            </a:r>
            <a:endParaRPr lang="en-BE" sz="1200" b="1" dirty="0"/>
          </a:p>
        </p:txBody>
      </p:sp>
      <p:sp>
        <p:nvSpPr>
          <p:cNvPr id="22" name="TextBox 21">
            <a:extLst>
              <a:ext uri="{FF2B5EF4-FFF2-40B4-BE49-F238E27FC236}">
                <a16:creationId xmlns:a16="http://schemas.microsoft.com/office/drawing/2014/main" id="{512BEA62-2DD2-3B83-F34E-C7A3AC23B4EC}"/>
              </a:ext>
            </a:extLst>
          </p:cNvPr>
          <p:cNvSpPr txBox="1"/>
          <p:nvPr/>
        </p:nvSpPr>
        <p:spPr>
          <a:xfrm>
            <a:off x="3231823" y="5767682"/>
            <a:ext cx="2580499" cy="461665"/>
          </a:xfrm>
          <a:prstGeom prst="rect">
            <a:avLst/>
          </a:prstGeom>
          <a:noFill/>
        </p:spPr>
        <p:txBody>
          <a:bodyPr wrap="square" rtlCol="0">
            <a:spAutoFit/>
          </a:bodyPr>
          <a:lstStyle/>
          <a:p>
            <a:pPr algn="ctr"/>
            <a:r>
              <a:rPr lang="en-US" sz="1200" b="1" dirty="0"/>
              <a:t>When digit is NOT centered:</a:t>
            </a:r>
          </a:p>
          <a:p>
            <a:pPr algn="ctr"/>
            <a:r>
              <a:rPr lang="en-US" sz="1200" b="1" dirty="0"/>
              <a:t>bad prediction</a:t>
            </a:r>
            <a:endParaRPr lang="en-BE" sz="1200" b="1" dirty="0"/>
          </a:p>
        </p:txBody>
      </p:sp>
      <p:sp>
        <p:nvSpPr>
          <p:cNvPr id="23" name="Footer Placeholder 22">
            <a:extLst>
              <a:ext uri="{FF2B5EF4-FFF2-40B4-BE49-F238E27FC236}">
                <a16:creationId xmlns:a16="http://schemas.microsoft.com/office/drawing/2014/main" id="{42BF18B8-E3C1-4D8D-5004-893FE85E9DDF}"/>
              </a:ext>
            </a:extLst>
          </p:cNvPr>
          <p:cNvSpPr>
            <a:spLocks noGrp="1"/>
          </p:cNvSpPr>
          <p:nvPr>
            <p:ph type="ftr" sz="quarter" idx="11"/>
          </p:nvPr>
        </p:nvSpPr>
        <p:spPr/>
        <p:txBody>
          <a:bodyPr/>
          <a:lstStyle/>
          <a:p>
            <a:r>
              <a:rPr lang="en-US" dirty="0">
                <a:hlinkClick r:id="rId4"/>
              </a:rPr>
              <a:t>https://adamharley.com/nn_vis/mlp/2d.html</a:t>
            </a:r>
            <a:r>
              <a:rPr lang="en-US" dirty="0"/>
              <a:t> </a:t>
            </a:r>
          </a:p>
        </p:txBody>
      </p:sp>
    </p:spTree>
    <p:extLst>
      <p:ext uri="{BB962C8B-B14F-4D97-AF65-F5344CB8AC3E}">
        <p14:creationId xmlns:p14="http://schemas.microsoft.com/office/powerpoint/2010/main" val="812906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AAC0-D22F-5B88-E619-FF6CAA1D5416}"/>
              </a:ext>
            </a:extLst>
          </p:cNvPr>
          <p:cNvSpPr>
            <a:spLocks noGrp="1"/>
          </p:cNvSpPr>
          <p:nvPr>
            <p:ph type="title"/>
          </p:nvPr>
        </p:nvSpPr>
        <p:spPr/>
        <p:txBody>
          <a:bodyPr/>
          <a:lstStyle/>
          <a:p>
            <a:r>
              <a:rPr lang="en-US" b="1" dirty="0">
                <a:latin typeface="Corbel" panose="020B0503020204020204" pitchFamily="34" charset="0"/>
              </a:rPr>
              <a:t>Image recognition must be robust against variances</a:t>
            </a:r>
          </a:p>
        </p:txBody>
      </p:sp>
      <p:sp>
        <p:nvSpPr>
          <p:cNvPr id="4" name="Slide Number Placeholder 3">
            <a:extLst>
              <a:ext uri="{FF2B5EF4-FFF2-40B4-BE49-F238E27FC236}">
                <a16:creationId xmlns:a16="http://schemas.microsoft.com/office/drawing/2014/main" id="{CA7E0FAD-3393-0840-7DA5-D586FE908500}"/>
              </a:ext>
            </a:extLst>
          </p:cNvPr>
          <p:cNvSpPr>
            <a:spLocks noGrp="1"/>
          </p:cNvSpPr>
          <p:nvPr>
            <p:ph type="sldNum" sz="quarter" idx="12"/>
          </p:nvPr>
        </p:nvSpPr>
        <p:spPr/>
        <p:txBody>
          <a:bodyPr/>
          <a:lstStyle/>
          <a:p>
            <a:fld id="{94B3E216-A3C5-4E41-AE94-D003E76F1D3A}" type="slidenum">
              <a:rPr lang="en-US" smtClean="0"/>
              <a:pPr/>
              <a:t>7</a:t>
            </a:fld>
            <a:endParaRPr lang="en-US"/>
          </a:p>
        </p:txBody>
      </p:sp>
      <p:pic>
        <p:nvPicPr>
          <p:cNvPr id="5" name="Picture 4">
            <a:extLst>
              <a:ext uri="{FF2B5EF4-FFF2-40B4-BE49-F238E27FC236}">
                <a16:creationId xmlns:a16="http://schemas.microsoft.com/office/drawing/2014/main" id="{1CBE7C87-39AB-6F04-523A-E1529B3CDE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4762"/>
          <a:stretch>
            <a:fillRect/>
          </a:stretch>
        </p:blipFill>
        <p:spPr bwMode="auto">
          <a:xfrm>
            <a:off x="1154295" y="2171701"/>
            <a:ext cx="4573528" cy="34266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0504BC5-4DB2-32E5-773D-4783DA8EDC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238"/>
          <a:stretch>
            <a:fillRect/>
          </a:stretch>
        </p:blipFill>
        <p:spPr bwMode="auto">
          <a:xfrm>
            <a:off x="6660947" y="2407736"/>
            <a:ext cx="4573526" cy="2776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151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B02E8-7FE5-BAFF-5CDD-2F7CB1A551B8}"/>
              </a:ext>
            </a:extLst>
          </p:cNvPr>
          <p:cNvSpPr>
            <a:spLocks noGrp="1"/>
          </p:cNvSpPr>
          <p:nvPr>
            <p:ph type="title"/>
          </p:nvPr>
        </p:nvSpPr>
        <p:spPr/>
        <p:txBody>
          <a:bodyPr/>
          <a:lstStyle/>
          <a:p>
            <a:r>
              <a:rPr lang="en-US" b="1" dirty="0">
                <a:latin typeface="Corbel" panose="020B0503020204020204" pitchFamily="34" charset="0"/>
              </a:rPr>
              <a:t>A regular neural network requires flattening of the 2D image,</a:t>
            </a:r>
            <a:br>
              <a:rPr lang="en-US" b="1" dirty="0">
                <a:latin typeface="Corbel" panose="020B0503020204020204" pitchFamily="34" charset="0"/>
              </a:rPr>
            </a:br>
            <a:r>
              <a:rPr lang="en-US" b="1" dirty="0">
                <a:latin typeface="Corbel" panose="020B0503020204020204" pitchFamily="34" charset="0"/>
              </a:rPr>
              <a:t>rendering the model not robust against translation invariance</a:t>
            </a:r>
          </a:p>
        </p:txBody>
      </p:sp>
      <p:sp>
        <p:nvSpPr>
          <p:cNvPr id="4" name="Slide Number Placeholder 3">
            <a:extLst>
              <a:ext uri="{FF2B5EF4-FFF2-40B4-BE49-F238E27FC236}">
                <a16:creationId xmlns:a16="http://schemas.microsoft.com/office/drawing/2014/main" id="{54CC77F3-EE01-3792-748B-75F7190F1BF4}"/>
              </a:ext>
            </a:extLst>
          </p:cNvPr>
          <p:cNvSpPr>
            <a:spLocks noGrp="1"/>
          </p:cNvSpPr>
          <p:nvPr>
            <p:ph type="sldNum" sz="quarter" idx="12"/>
          </p:nvPr>
        </p:nvSpPr>
        <p:spPr/>
        <p:txBody>
          <a:bodyPr/>
          <a:lstStyle/>
          <a:p>
            <a:fld id="{94B3E216-A3C5-4E41-AE94-D003E76F1D3A}" type="slidenum">
              <a:rPr lang="en-US" smtClean="0"/>
              <a:pPr/>
              <a:t>8</a:t>
            </a:fld>
            <a:endParaRPr lang="en-US"/>
          </a:p>
        </p:txBody>
      </p:sp>
      <p:pic>
        <p:nvPicPr>
          <p:cNvPr id="5" name="Afbeelding 6">
            <a:extLst>
              <a:ext uri="{FF2B5EF4-FFF2-40B4-BE49-F238E27FC236}">
                <a16:creationId xmlns:a16="http://schemas.microsoft.com/office/drawing/2014/main" id="{4300704B-3345-41F5-B9EE-FD60CBB4180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71938" y="2093912"/>
            <a:ext cx="4048125" cy="3343275"/>
          </a:xfrm>
          <a:prstGeom prst="rect">
            <a:avLst/>
          </a:prstGeom>
        </p:spPr>
      </p:pic>
    </p:spTree>
    <p:extLst>
      <p:ext uri="{BB962C8B-B14F-4D97-AF65-F5344CB8AC3E}">
        <p14:creationId xmlns:p14="http://schemas.microsoft.com/office/powerpoint/2010/main" val="622120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FF067-A1F8-6E66-9D66-A5F4414CD218}"/>
              </a:ext>
            </a:extLst>
          </p:cNvPr>
          <p:cNvSpPr>
            <a:spLocks noGrp="1"/>
          </p:cNvSpPr>
          <p:nvPr>
            <p:ph type="title"/>
          </p:nvPr>
        </p:nvSpPr>
        <p:spPr/>
        <p:txBody>
          <a:bodyPr/>
          <a:lstStyle/>
          <a:p>
            <a:r>
              <a:rPr lang="en-US" b="1" dirty="0">
                <a:latin typeface="Corbel" panose="020B0503020204020204" pitchFamily="34" charset="0"/>
              </a:rPr>
              <a:t>Kernels (aka filters) solve the problem of translation invariance</a:t>
            </a:r>
          </a:p>
        </p:txBody>
      </p:sp>
      <p:sp>
        <p:nvSpPr>
          <p:cNvPr id="4" name="Slide Number Placeholder 3">
            <a:extLst>
              <a:ext uri="{FF2B5EF4-FFF2-40B4-BE49-F238E27FC236}">
                <a16:creationId xmlns:a16="http://schemas.microsoft.com/office/drawing/2014/main" id="{3DFB48CC-59A7-4932-A9D4-27F358A9D4F9}"/>
              </a:ext>
            </a:extLst>
          </p:cNvPr>
          <p:cNvSpPr>
            <a:spLocks noGrp="1"/>
          </p:cNvSpPr>
          <p:nvPr>
            <p:ph type="sldNum" sz="quarter" idx="12"/>
          </p:nvPr>
        </p:nvSpPr>
        <p:spPr/>
        <p:txBody>
          <a:bodyPr/>
          <a:lstStyle/>
          <a:p>
            <a:fld id="{94B3E216-A3C5-4E41-AE94-D003E76F1D3A}" type="slidenum">
              <a:rPr lang="en-US" smtClean="0"/>
              <a:pPr/>
              <a:t>9</a:t>
            </a:fld>
            <a:endParaRPr lang="en-US"/>
          </a:p>
        </p:txBody>
      </p:sp>
      <p:grpSp>
        <p:nvGrpSpPr>
          <p:cNvPr id="13" name="Group 12">
            <a:extLst>
              <a:ext uri="{FF2B5EF4-FFF2-40B4-BE49-F238E27FC236}">
                <a16:creationId xmlns:a16="http://schemas.microsoft.com/office/drawing/2014/main" id="{4839530E-5AD6-216F-A777-C8076167861A}"/>
              </a:ext>
            </a:extLst>
          </p:cNvPr>
          <p:cNvGrpSpPr/>
          <p:nvPr/>
        </p:nvGrpSpPr>
        <p:grpSpPr>
          <a:xfrm>
            <a:off x="6096000" y="1497125"/>
            <a:ext cx="5688013" cy="4222108"/>
            <a:chOff x="6096000" y="1497125"/>
            <a:chExt cx="5688013" cy="4222108"/>
          </a:xfrm>
        </p:grpSpPr>
        <p:pic>
          <p:nvPicPr>
            <p:cNvPr id="1026" name="Picture 2" descr="Convolutional networks">
              <a:extLst>
                <a:ext uri="{FF2B5EF4-FFF2-40B4-BE49-F238E27FC236}">
                  <a16:creationId xmlns:a16="http://schemas.microsoft.com/office/drawing/2014/main" id="{979F140C-80ED-9729-B233-AE8CEA9712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4691"/>
            <a:stretch>
              <a:fillRect/>
            </a:stretch>
          </p:blipFill>
          <p:spPr bwMode="auto">
            <a:xfrm>
              <a:off x="6321611" y="2334749"/>
              <a:ext cx="5236790" cy="338448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32973F3-9AAA-6C4B-CFDE-3708B8C0C695}"/>
                </a:ext>
              </a:extLst>
            </p:cNvPr>
            <p:cNvSpPr txBox="1"/>
            <p:nvPr/>
          </p:nvSpPr>
          <p:spPr>
            <a:xfrm>
              <a:off x="6096000" y="1497125"/>
              <a:ext cx="5688013" cy="646331"/>
            </a:xfrm>
            <a:prstGeom prst="rect">
              <a:avLst/>
            </a:prstGeom>
            <a:noFill/>
          </p:spPr>
          <p:txBody>
            <a:bodyPr wrap="square" rtlCol="0">
              <a:spAutoFit/>
            </a:bodyPr>
            <a:lstStyle/>
            <a:p>
              <a:pPr algn="ctr"/>
              <a:r>
                <a:rPr lang="en-US" dirty="0"/>
                <a:t>Have been used for manual feature engineering, for instance, for edge detection</a:t>
              </a:r>
              <a:endParaRPr lang="en-BE" dirty="0"/>
            </a:p>
          </p:txBody>
        </p:sp>
      </p:grpSp>
      <p:grpSp>
        <p:nvGrpSpPr>
          <p:cNvPr id="14" name="Group 13">
            <a:extLst>
              <a:ext uri="{FF2B5EF4-FFF2-40B4-BE49-F238E27FC236}">
                <a16:creationId xmlns:a16="http://schemas.microsoft.com/office/drawing/2014/main" id="{351EE6B1-D54A-F2FA-D4F5-32CB6F6FCE1C}"/>
              </a:ext>
            </a:extLst>
          </p:cNvPr>
          <p:cNvGrpSpPr/>
          <p:nvPr/>
        </p:nvGrpSpPr>
        <p:grpSpPr>
          <a:xfrm>
            <a:off x="407989" y="1497125"/>
            <a:ext cx="5688011" cy="3863750"/>
            <a:chOff x="407989" y="1497125"/>
            <a:chExt cx="5688011" cy="3863750"/>
          </a:xfrm>
        </p:grpSpPr>
        <p:pic>
          <p:nvPicPr>
            <p:cNvPr id="10" name="Picture 9" descr="Overview of Convolutional Neural Network in Image Classification">
              <a:extLst>
                <a:ext uri="{FF2B5EF4-FFF2-40B4-BE49-F238E27FC236}">
                  <a16:creationId xmlns:a16="http://schemas.microsoft.com/office/drawing/2014/main" id="{49CD6E29-791A-D545-1C96-79CE7AA50D6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8298" b="16956"/>
            <a:stretch/>
          </p:blipFill>
          <p:spPr bwMode="auto">
            <a:xfrm>
              <a:off x="929878" y="2348367"/>
              <a:ext cx="4644232" cy="30125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034F6F1-58A6-02E9-62B2-8BD81CC58613}"/>
                </a:ext>
              </a:extLst>
            </p:cNvPr>
            <p:cNvSpPr txBox="1"/>
            <p:nvPr/>
          </p:nvSpPr>
          <p:spPr>
            <a:xfrm>
              <a:off x="407989" y="1497125"/>
              <a:ext cx="5688011" cy="369332"/>
            </a:xfrm>
            <a:prstGeom prst="rect">
              <a:avLst/>
            </a:prstGeom>
            <a:noFill/>
          </p:spPr>
          <p:txBody>
            <a:bodyPr wrap="square" rtlCol="0">
              <a:spAutoFit/>
            </a:bodyPr>
            <a:lstStyle/>
            <a:p>
              <a:pPr algn="ctr"/>
              <a:r>
                <a:rPr lang="en-US" dirty="0"/>
                <a:t>Kernels ‘convolve’ over the image</a:t>
              </a:r>
              <a:endParaRPr lang="en-BE" dirty="0"/>
            </a:p>
          </p:txBody>
        </p:sp>
      </p:grpSp>
      <p:sp>
        <p:nvSpPr>
          <p:cNvPr id="12" name="Footer Placeholder 11">
            <a:extLst>
              <a:ext uri="{FF2B5EF4-FFF2-40B4-BE49-F238E27FC236}">
                <a16:creationId xmlns:a16="http://schemas.microsoft.com/office/drawing/2014/main" id="{880462B3-F197-4F6E-8D26-642EB1F35C98}"/>
              </a:ext>
            </a:extLst>
          </p:cNvPr>
          <p:cNvSpPr>
            <a:spLocks noGrp="1"/>
          </p:cNvSpPr>
          <p:nvPr>
            <p:ph type="ftr" sz="quarter" idx="11"/>
          </p:nvPr>
        </p:nvSpPr>
        <p:spPr/>
        <p:txBody>
          <a:bodyPr/>
          <a:lstStyle/>
          <a:p>
            <a:r>
              <a:rPr lang="en-US"/>
              <a:t>Manual edge detection figure: https://octopusinvitro.gitlab.io/blog/machine-learning/convolutional-networks</a:t>
            </a:r>
          </a:p>
        </p:txBody>
      </p:sp>
    </p:spTree>
    <p:extLst>
      <p:ext uri="{BB962C8B-B14F-4D97-AF65-F5344CB8AC3E}">
        <p14:creationId xmlns:p14="http://schemas.microsoft.com/office/powerpoint/2010/main" val="1464076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C0E5C-CE31-29FD-21EE-B19079DB6C82}"/>
              </a:ext>
            </a:extLst>
          </p:cNvPr>
          <p:cNvSpPr>
            <a:spLocks noGrp="1"/>
          </p:cNvSpPr>
          <p:nvPr>
            <p:ph type="title"/>
          </p:nvPr>
        </p:nvSpPr>
        <p:spPr/>
        <p:txBody>
          <a:bodyPr/>
          <a:lstStyle/>
          <a:p>
            <a:r>
              <a:rPr lang="en-US" b="1" dirty="0">
                <a:latin typeface="Corbel" panose="020B0503020204020204" pitchFamily="34" charset="0"/>
              </a:rPr>
              <a:t>Kernels (aka filters) solve the problem of translation invariance</a:t>
            </a:r>
          </a:p>
        </p:txBody>
      </p:sp>
      <p:sp>
        <p:nvSpPr>
          <p:cNvPr id="4" name="Slide Number Placeholder 3">
            <a:extLst>
              <a:ext uri="{FF2B5EF4-FFF2-40B4-BE49-F238E27FC236}">
                <a16:creationId xmlns:a16="http://schemas.microsoft.com/office/drawing/2014/main" id="{F7DC3171-1ED1-02F5-EADD-272E6E35ECF3}"/>
              </a:ext>
            </a:extLst>
          </p:cNvPr>
          <p:cNvSpPr>
            <a:spLocks noGrp="1"/>
          </p:cNvSpPr>
          <p:nvPr>
            <p:ph type="sldNum" sz="quarter" idx="12"/>
          </p:nvPr>
        </p:nvSpPr>
        <p:spPr/>
        <p:txBody>
          <a:bodyPr/>
          <a:lstStyle/>
          <a:p>
            <a:fld id="{94B3E216-A3C5-4E41-AE94-D003E76F1D3A}" type="slidenum">
              <a:rPr lang="en-US" smtClean="0"/>
              <a:pPr/>
              <a:t>10</a:t>
            </a:fld>
            <a:endParaRPr lang="en-US"/>
          </a:p>
        </p:txBody>
      </p:sp>
      <p:pic>
        <p:nvPicPr>
          <p:cNvPr id="11" name="Content Placeholder 13">
            <a:extLst>
              <a:ext uri="{FF2B5EF4-FFF2-40B4-BE49-F238E27FC236}">
                <a16:creationId xmlns:a16="http://schemas.microsoft.com/office/drawing/2014/main" id="{83C46587-496B-E633-113B-719E64546A8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51556" y="5000318"/>
            <a:ext cx="1541033" cy="638264"/>
          </a:xfrm>
          <a:prstGeom prst="rect">
            <a:avLst/>
          </a:prstGeom>
        </p:spPr>
      </p:pic>
      <p:pic>
        <p:nvPicPr>
          <p:cNvPr id="12" name="Picture 11">
            <a:hlinkClick r:id="rId4"/>
            <a:extLst>
              <a:ext uri="{FF2B5EF4-FFF2-40B4-BE49-F238E27FC236}">
                <a16:creationId xmlns:a16="http://schemas.microsoft.com/office/drawing/2014/main" id="{A44E16B7-147F-95C8-9C26-5E5EB84138C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505374" y="2166420"/>
            <a:ext cx="2033396" cy="2009188"/>
          </a:xfrm>
          <a:prstGeom prst="rect">
            <a:avLst/>
          </a:prstGeom>
        </p:spPr>
      </p:pic>
      <p:pic>
        <p:nvPicPr>
          <p:cNvPr id="13" name="Picture 12">
            <a:hlinkClick r:id="rId4"/>
            <a:extLst>
              <a:ext uri="{FF2B5EF4-FFF2-40B4-BE49-F238E27FC236}">
                <a16:creationId xmlns:a16="http://schemas.microsoft.com/office/drawing/2014/main" id="{FE4CDF44-4652-326C-413A-558E143BA52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79164" y="2146749"/>
            <a:ext cx="2042453" cy="2048531"/>
          </a:xfrm>
          <a:prstGeom prst="rect">
            <a:avLst/>
          </a:prstGeom>
        </p:spPr>
      </p:pic>
      <p:pic>
        <p:nvPicPr>
          <p:cNvPr id="14" name="Picture 13">
            <a:extLst>
              <a:ext uri="{FF2B5EF4-FFF2-40B4-BE49-F238E27FC236}">
                <a16:creationId xmlns:a16="http://schemas.microsoft.com/office/drawing/2014/main" id="{A7A989C3-08A6-91EC-5362-03B80615C36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2546" y="5008672"/>
            <a:ext cx="1695687" cy="647790"/>
          </a:xfrm>
          <a:prstGeom prst="rect">
            <a:avLst/>
          </a:prstGeom>
        </p:spPr>
      </p:pic>
      <p:cxnSp>
        <p:nvCxnSpPr>
          <p:cNvPr id="15" name="Straight Arrow Connector 14">
            <a:extLst>
              <a:ext uri="{FF2B5EF4-FFF2-40B4-BE49-F238E27FC236}">
                <a16:creationId xmlns:a16="http://schemas.microsoft.com/office/drawing/2014/main" id="{0EB2DA6B-2FA0-11BC-606B-9A0CEE6EDA4B}"/>
              </a:ext>
            </a:extLst>
          </p:cNvPr>
          <p:cNvCxnSpPr>
            <a:cxnSpLocks/>
          </p:cNvCxnSpPr>
          <p:nvPr/>
        </p:nvCxnSpPr>
        <p:spPr>
          <a:xfrm>
            <a:off x="4522072" y="4345617"/>
            <a:ext cx="0" cy="39357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7857D946-9E5C-F2D0-9FD0-00066DE761F1}"/>
              </a:ext>
            </a:extLst>
          </p:cNvPr>
          <p:cNvCxnSpPr>
            <a:cxnSpLocks/>
          </p:cNvCxnSpPr>
          <p:nvPr/>
        </p:nvCxnSpPr>
        <p:spPr>
          <a:xfrm>
            <a:off x="1638314" y="4345617"/>
            <a:ext cx="0" cy="39357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95A564BF-87C6-6647-EACC-4E7F8169C4BE}"/>
              </a:ext>
            </a:extLst>
          </p:cNvPr>
          <p:cNvSpPr txBox="1"/>
          <p:nvPr/>
        </p:nvSpPr>
        <p:spPr>
          <a:xfrm>
            <a:off x="679166" y="1581794"/>
            <a:ext cx="4869519" cy="369332"/>
          </a:xfrm>
          <a:prstGeom prst="rect">
            <a:avLst/>
          </a:prstGeom>
          <a:noFill/>
        </p:spPr>
        <p:txBody>
          <a:bodyPr wrap="square" rtlCol="0">
            <a:spAutoFit/>
          </a:bodyPr>
          <a:lstStyle/>
          <a:p>
            <a:pPr algn="ctr"/>
            <a:r>
              <a:rPr lang="en-US" dirty="0"/>
              <a:t>Convolutional neural network</a:t>
            </a:r>
            <a:endParaRPr lang="en-BE" dirty="0"/>
          </a:p>
        </p:txBody>
      </p:sp>
      <p:sp>
        <p:nvSpPr>
          <p:cNvPr id="18" name="TextBox 17">
            <a:extLst>
              <a:ext uri="{FF2B5EF4-FFF2-40B4-BE49-F238E27FC236}">
                <a16:creationId xmlns:a16="http://schemas.microsoft.com/office/drawing/2014/main" id="{AE0F2CBA-9043-7B1D-67C6-C8FF83C12BB0}"/>
              </a:ext>
            </a:extLst>
          </p:cNvPr>
          <p:cNvSpPr txBox="1"/>
          <p:nvPr/>
        </p:nvSpPr>
        <p:spPr>
          <a:xfrm>
            <a:off x="6643317" y="1581794"/>
            <a:ext cx="4869519" cy="4079432"/>
          </a:xfrm>
          <a:prstGeom prst="rect">
            <a:avLst/>
          </a:prstGeom>
          <a:noFill/>
        </p:spPr>
        <p:txBody>
          <a:bodyPr wrap="square" rtlCol="0" anchor="ctr">
            <a:noAutofit/>
          </a:bodyPr>
          <a:lstStyle/>
          <a:p>
            <a:pPr marL="449263" indent="-449263">
              <a:tabLst>
                <a:tab pos="449263" algn="l"/>
              </a:tabLst>
            </a:pPr>
            <a:r>
              <a:rPr lang="en-US" dirty="0"/>
              <a:t>✅	Can learn visual patterns itself!</a:t>
            </a:r>
          </a:p>
          <a:p>
            <a:pPr marL="449263" indent="-449263">
              <a:tabLst>
                <a:tab pos="449263" algn="l"/>
              </a:tabLst>
            </a:pPr>
            <a:endParaRPr lang="en-US" dirty="0"/>
          </a:p>
          <a:p>
            <a:pPr marL="449263" indent="-449263">
              <a:tabLst>
                <a:tab pos="449263" algn="l"/>
              </a:tabLst>
            </a:pPr>
            <a:r>
              <a:rPr lang="en-US" dirty="0"/>
              <a:t>✅	Is robust against translation invariance</a:t>
            </a:r>
            <a:endParaRPr lang="en-BE" dirty="0"/>
          </a:p>
        </p:txBody>
      </p:sp>
      <p:sp>
        <p:nvSpPr>
          <p:cNvPr id="19" name="TextBox 18">
            <a:extLst>
              <a:ext uri="{FF2B5EF4-FFF2-40B4-BE49-F238E27FC236}">
                <a16:creationId xmlns:a16="http://schemas.microsoft.com/office/drawing/2014/main" id="{3BBBB711-386E-F1CD-930E-400D0A5A24B8}"/>
              </a:ext>
            </a:extLst>
          </p:cNvPr>
          <p:cNvSpPr txBox="1"/>
          <p:nvPr/>
        </p:nvSpPr>
        <p:spPr>
          <a:xfrm>
            <a:off x="679164" y="5767682"/>
            <a:ext cx="4869521" cy="276999"/>
          </a:xfrm>
          <a:prstGeom prst="rect">
            <a:avLst/>
          </a:prstGeom>
          <a:noFill/>
        </p:spPr>
        <p:txBody>
          <a:bodyPr wrap="square" rtlCol="0">
            <a:spAutoFit/>
          </a:bodyPr>
          <a:lstStyle/>
          <a:p>
            <a:pPr algn="ctr"/>
            <a:r>
              <a:rPr lang="en-US" sz="1200" b="1" dirty="0"/>
              <a:t>Good prediction independently of object location</a:t>
            </a:r>
            <a:endParaRPr lang="en-BE" sz="1200" b="1" dirty="0"/>
          </a:p>
        </p:txBody>
      </p:sp>
      <p:sp>
        <p:nvSpPr>
          <p:cNvPr id="21" name="Footer Placeholder 20">
            <a:extLst>
              <a:ext uri="{FF2B5EF4-FFF2-40B4-BE49-F238E27FC236}">
                <a16:creationId xmlns:a16="http://schemas.microsoft.com/office/drawing/2014/main" id="{A6C3FB93-CE0D-31F5-49F1-05A23B1F26F3}"/>
              </a:ext>
            </a:extLst>
          </p:cNvPr>
          <p:cNvSpPr>
            <a:spLocks noGrp="1"/>
          </p:cNvSpPr>
          <p:nvPr>
            <p:ph type="ftr" sz="quarter" idx="11"/>
          </p:nvPr>
        </p:nvSpPr>
        <p:spPr/>
        <p:txBody>
          <a:bodyPr/>
          <a:lstStyle/>
          <a:p>
            <a:r>
              <a:rPr lang="en-US" dirty="0">
                <a:hlinkClick r:id="rId8"/>
              </a:rPr>
              <a:t>https://adamharley.com/nn_vis/cnn/2d.html</a:t>
            </a:r>
            <a:r>
              <a:rPr lang="en-US" dirty="0"/>
              <a:t> </a:t>
            </a:r>
          </a:p>
        </p:txBody>
      </p:sp>
    </p:spTree>
    <p:extLst>
      <p:ext uri="{BB962C8B-B14F-4D97-AF65-F5344CB8AC3E}">
        <p14:creationId xmlns:p14="http://schemas.microsoft.com/office/powerpoint/2010/main" val="3589170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2C6E4-D2D6-F487-3691-E8B818B36987}"/>
              </a:ext>
            </a:extLst>
          </p:cNvPr>
          <p:cNvSpPr>
            <a:spLocks noGrp="1"/>
          </p:cNvSpPr>
          <p:nvPr>
            <p:ph type="title"/>
          </p:nvPr>
        </p:nvSpPr>
        <p:spPr/>
        <p:txBody>
          <a:bodyPr/>
          <a:lstStyle/>
          <a:p>
            <a:r>
              <a:rPr lang="en-US" b="1" dirty="0">
                <a:latin typeface="Corbel" panose="020B0503020204020204" pitchFamily="34" charset="0"/>
              </a:rPr>
              <a:t>Kernels, simplified</a:t>
            </a:r>
          </a:p>
        </p:txBody>
      </p:sp>
      <p:sp>
        <p:nvSpPr>
          <p:cNvPr id="4" name="Slide Number Placeholder 3">
            <a:extLst>
              <a:ext uri="{FF2B5EF4-FFF2-40B4-BE49-F238E27FC236}">
                <a16:creationId xmlns:a16="http://schemas.microsoft.com/office/drawing/2014/main" id="{95BF970B-9A79-59ED-338F-0D1DC499C2A3}"/>
              </a:ext>
            </a:extLst>
          </p:cNvPr>
          <p:cNvSpPr>
            <a:spLocks noGrp="1"/>
          </p:cNvSpPr>
          <p:nvPr>
            <p:ph type="sldNum" sz="quarter" idx="12"/>
          </p:nvPr>
        </p:nvSpPr>
        <p:spPr/>
        <p:txBody>
          <a:bodyPr/>
          <a:lstStyle/>
          <a:p>
            <a:fld id="{94B3E216-A3C5-4E41-AE94-D003E76F1D3A}" type="slidenum">
              <a:rPr lang="en-US" smtClean="0"/>
              <a:pPr/>
              <a:t>11</a:t>
            </a:fld>
            <a:endParaRPr lang="en-US"/>
          </a:p>
        </p:txBody>
      </p:sp>
      <p:pic>
        <p:nvPicPr>
          <p:cNvPr id="5" name="Picture 2">
            <a:extLst>
              <a:ext uri="{FF2B5EF4-FFF2-40B4-BE49-F238E27FC236}">
                <a16:creationId xmlns:a16="http://schemas.microsoft.com/office/drawing/2014/main" id="{388881F1-DF97-F4E9-6B54-D9D24DA716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5772" y="2328996"/>
            <a:ext cx="6691908" cy="2731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940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80F3-96D5-23DB-7080-B36E95033DB4}"/>
              </a:ext>
            </a:extLst>
          </p:cNvPr>
          <p:cNvSpPr>
            <a:spLocks noGrp="1"/>
          </p:cNvSpPr>
          <p:nvPr>
            <p:ph type="title"/>
          </p:nvPr>
        </p:nvSpPr>
        <p:spPr/>
        <p:txBody>
          <a:bodyPr/>
          <a:lstStyle/>
          <a:p>
            <a:r>
              <a:rPr lang="en-US" b="1" dirty="0">
                <a:latin typeface="Corbel" panose="020B0503020204020204" pitchFamily="34" charset="0"/>
              </a:rPr>
              <a:t>In CNNs, kernels values are learnable parameters of the model</a:t>
            </a:r>
          </a:p>
        </p:txBody>
      </p:sp>
      <p:sp>
        <p:nvSpPr>
          <p:cNvPr id="4" name="Slide Number Placeholder 3">
            <a:extLst>
              <a:ext uri="{FF2B5EF4-FFF2-40B4-BE49-F238E27FC236}">
                <a16:creationId xmlns:a16="http://schemas.microsoft.com/office/drawing/2014/main" id="{9D63FB2F-C813-7EAE-8A03-507DD265A9CE}"/>
              </a:ext>
            </a:extLst>
          </p:cNvPr>
          <p:cNvSpPr>
            <a:spLocks noGrp="1"/>
          </p:cNvSpPr>
          <p:nvPr>
            <p:ph type="sldNum" sz="quarter" idx="12"/>
          </p:nvPr>
        </p:nvSpPr>
        <p:spPr/>
        <p:txBody>
          <a:bodyPr/>
          <a:lstStyle/>
          <a:p>
            <a:fld id="{94B3E216-A3C5-4E41-AE94-D003E76F1D3A}" type="slidenum">
              <a:rPr lang="en-US" smtClean="0"/>
              <a:pPr/>
              <a:t>12</a:t>
            </a:fld>
            <a:endParaRPr lang="en-US"/>
          </a:p>
        </p:txBody>
      </p:sp>
      <p:pic>
        <p:nvPicPr>
          <p:cNvPr id="8" name="Picture 6">
            <a:extLst>
              <a:ext uri="{FF2B5EF4-FFF2-40B4-BE49-F238E27FC236}">
                <a16:creationId xmlns:a16="http://schemas.microsoft.com/office/drawing/2014/main" id="{6A24ABEE-50F6-0973-822C-742E9D33C0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920" y="1882239"/>
            <a:ext cx="4567680" cy="3524202"/>
          </a:xfrm>
          <a:prstGeom prst="rect">
            <a:avLst/>
          </a:prstGeom>
          <a:noFill/>
          <a:extLst>
            <a:ext uri="{909E8E84-426E-40DD-AFC4-6F175D3DCCD1}">
              <a14:hiddenFill xmlns:a14="http://schemas.microsoft.com/office/drawing/2010/main">
                <a:solidFill>
                  <a:srgbClr val="FFFFFF"/>
                </a:solidFill>
              </a14:hiddenFill>
            </a:ext>
          </a:extLst>
        </p:spPr>
      </p:pic>
      <p:grpSp>
        <p:nvGrpSpPr>
          <p:cNvPr id="59" name="Group 58">
            <a:extLst>
              <a:ext uri="{FF2B5EF4-FFF2-40B4-BE49-F238E27FC236}">
                <a16:creationId xmlns:a16="http://schemas.microsoft.com/office/drawing/2014/main" id="{B24CEFC0-0AB1-2616-4CCD-6CC25D118B43}"/>
              </a:ext>
            </a:extLst>
          </p:cNvPr>
          <p:cNvGrpSpPr/>
          <p:nvPr/>
        </p:nvGrpSpPr>
        <p:grpSpPr>
          <a:xfrm>
            <a:off x="6207955" y="2040061"/>
            <a:ext cx="4630423" cy="3456061"/>
            <a:chOff x="6207955" y="2040061"/>
            <a:chExt cx="4630423" cy="3456061"/>
          </a:xfrm>
        </p:grpSpPr>
        <p:sp>
          <p:nvSpPr>
            <p:cNvPr id="33" name="Oval 32">
              <a:extLst>
                <a:ext uri="{FF2B5EF4-FFF2-40B4-BE49-F238E27FC236}">
                  <a16:creationId xmlns:a16="http://schemas.microsoft.com/office/drawing/2014/main" id="{4FBD1581-7EB7-95D8-909A-631B2406FD5F}"/>
                </a:ext>
              </a:extLst>
            </p:cNvPr>
            <p:cNvSpPr/>
            <p:nvPr/>
          </p:nvSpPr>
          <p:spPr>
            <a:xfrm>
              <a:off x="8684544" y="2776373"/>
              <a:ext cx="557724" cy="5577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400">
                <a:ln>
                  <a:solidFill>
                    <a:schemeClr val="tx1"/>
                  </a:solidFill>
                </a:ln>
                <a:noFill/>
              </a:endParaRPr>
            </a:p>
          </p:txBody>
        </p:sp>
        <p:sp>
          <p:nvSpPr>
            <p:cNvPr id="34" name="Oval 33">
              <a:extLst>
                <a:ext uri="{FF2B5EF4-FFF2-40B4-BE49-F238E27FC236}">
                  <a16:creationId xmlns:a16="http://schemas.microsoft.com/office/drawing/2014/main" id="{2593F1BB-6731-0D71-D967-BCF33062A231}"/>
                </a:ext>
              </a:extLst>
            </p:cNvPr>
            <p:cNvSpPr/>
            <p:nvPr/>
          </p:nvSpPr>
          <p:spPr>
            <a:xfrm>
              <a:off x="6395631" y="2040061"/>
              <a:ext cx="557724" cy="5577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400">
                <a:ln>
                  <a:solidFill>
                    <a:schemeClr val="tx1"/>
                  </a:solidFill>
                </a:ln>
                <a:noFill/>
              </a:endParaRPr>
            </a:p>
          </p:txBody>
        </p:sp>
        <p:sp>
          <p:nvSpPr>
            <p:cNvPr id="35" name="Oval 34">
              <a:extLst>
                <a:ext uri="{FF2B5EF4-FFF2-40B4-BE49-F238E27FC236}">
                  <a16:creationId xmlns:a16="http://schemas.microsoft.com/office/drawing/2014/main" id="{AD668FCC-7C77-E587-0FC0-8EDE2B7FFDC8}"/>
                </a:ext>
              </a:extLst>
            </p:cNvPr>
            <p:cNvSpPr/>
            <p:nvPr/>
          </p:nvSpPr>
          <p:spPr>
            <a:xfrm>
              <a:off x="6405459" y="2776373"/>
              <a:ext cx="557724" cy="5577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400">
                <a:ln>
                  <a:solidFill>
                    <a:schemeClr val="tx1"/>
                  </a:solidFill>
                </a:ln>
                <a:noFill/>
              </a:endParaRPr>
            </a:p>
          </p:txBody>
        </p:sp>
        <p:sp>
          <p:nvSpPr>
            <p:cNvPr id="36" name="Oval 35">
              <a:extLst>
                <a:ext uri="{FF2B5EF4-FFF2-40B4-BE49-F238E27FC236}">
                  <a16:creationId xmlns:a16="http://schemas.microsoft.com/office/drawing/2014/main" id="{9DB2D625-5909-3FEF-C9C8-FE07721F429F}"/>
                </a:ext>
              </a:extLst>
            </p:cNvPr>
            <p:cNvSpPr/>
            <p:nvPr/>
          </p:nvSpPr>
          <p:spPr>
            <a:xfrm>
              <a:off x="6405459" y="3508423"/>
              <a:ext cx="557724" cy="5577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400">
                <a:ln>
                  <a:solidFill>
                    <a:schemeClr val="tx1"/>
                  </a:solidFill>
                </a:ln>
                <a:noFill/>
              </a:endParaRPr>
            </a:p>
          </p:txBody>
        </p:sp>
        <p:sp>
          <p:nvSpPr>
            <p:cNvPr id="37" name="Oval 36">
              <a:extLst>
                <a:ext uri="{FF2B5EF4-FFF2-40B4-BE49-F238E27FC236}">
                  <a16:creationId xmlns:a16="http://schemas.microsoft.com/office/drawing/2014/main" id="{14D19A8F-A8A3-F63B-C3CC-07EAAD909299}"/>
                </a:ext>
              </a:extLst>
            </p:cNvPr>
            <p:cNvSpPr/>
            <p:nvPr/>
          </p:nvSpPr>
          <p:spPr>
            <a:xfrm>
              <a:off x="6395631" y="4240474"/>
              <a:ext cx="557724" cy="5577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400">
                <a:ln>
                  <a:solidFill>
                    <a:schemeClr val="tx1"/>
                  </a:solidFill>
                </a:ln>
                <a:noFill/>
              </a:endParaRPr>
            </a:p>
          </p:txBody>
        </p:sp>
        <p:cxnSp>
          <p:nvCxnSpPr>
            <p:cNvPr id="38" name="Straight Arrow Connector 37">
              <a:extLst>
                <a:ext uri="{FF2B5EF4-FFF2-40B4-BE49-F238E27FC236}">
                  <a16:creationId xmlns:a16="http://schemas.microsoft.com/office/drawing/2014/main" id="{4F5F95DB-F276-D0D8-7B7C-CBA5B9587491}"/>
                </a:ext>
              </a:extLst>
            </p:cNvPr>
            <p:cNvCxnSpPr>
              <a:stCxn id="34" idx="6"/>
              <a:endCxn id="33" idx="2"/>
            </p:cNvCxnSpPr>
            <p:nvPr/>
          </p:nvCxnSpPr>
          <p:spPr>
            <a:xfrm>
              <a:off x="6953356" y="2318923"/>
              <a:ext cx="1731188" cy="736312"/>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DF3F47B-C360-6296-6E56-77C9DEB116C2}"/>
                </a:ext>
              </a:extLst>
            </p:cNvPr>
            <p:cNvCxnSpPr>
              <a:stCxn id="35" idx="6"/>
              <a:endCxn id="33" idx="2"/>
            </p:cNvCxnSpPr>
            <p:nvPr/>
          </p:nvCxnSpPr>
          <p:spPr>
            <a:xfrm>
              <a:off x="6963183" y="3055235"/>
              <a:ext cx="1721360"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A7B8B1C-C255-E081-BC9A-359CAC3F978D}"/>
                </a:ext>
              </a:extLst>
            </p:cNvPr>
            <p:cNvCxnSpPr>
              <a:stCxn id="36" idx="6"/>
              <a:endCxn id="33" idx="2"/>
            </p:cNvCxnSpPr>
            <p:nvPr/>
          </p:nvCxnSpPr>
          <p:spPr>
            <a:xfrm flipV="1">
              <a:off x="6963183" y="3055235"/>
              <a:ext cx="1721360" cy="732051"/>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FF9827A-53F8-EFCE-E019-C255E3FA1C4E}"/>
                </a:ext>
              </a:extLst>
            </p:cNvPr>
            <p:cNvCxnSpPr>
              <a:stCxn id="37" idx="6"/>
              <a:endCxn id="33" idx="2"/>
            </p:cNvCxnSpPr>
            <p:nvPr/>
          </p:nvCxnSpPr>
          <p:spPr>
            <a:xfrm flipV="1">
              <a:off x="6953356" y="3055235"/>
              <a:ext cx="1731188" cy="1464101"/>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4B0A212-3572-4497-C8F8-28F4CEE5196A}"/>
                </a:ext>
              </a:extLst>
            </p:cNvPr>
            <p:cNvCxnSpPr>
              <a:cxnSpLocks/>
            </p:cNvCxnSpPr>
            <p:nvPr/>
          </p:nvCxnSpPr>
          <p:spPr>
            <a:xfrm>
              <a:off x="9244229" y="3050830"/>
              <a:ext cx="678858"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02F257F-E73F-57ED-0D57-BD0C6A08141F}"/>
                    </a:ext>
                  </a:extLst>
                </p:cNvPr>
                <p:cNvSpPr txBox="1"/>
                <p:nvPr/>
              </p:nvSpPr>
              <p:spPr>
                <a:xfrm>
                  <a:off x="6452589" y="2117923"/>
                  <a:ext cx="514099" cy="276999"/>
                </a:xfrm>
                <a:prstGeom prst="rect">
                  <a:avLst/>
                </a:prstGeom>
                <a:noFill/>
              </p:spPr>
              <p:txBody>
                <a:bodyPr wrap="squar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0</m:t>
                            </m:r>
                          </m:sub>
                        </m:sSub>
                      </m:oMath>
                    </m:oMathPara>
                  </a14:m>
                  <a:endParaRPr lang="en-GB" sz="1400" b="0"/>
                </a:p>
              </p:txBody>
            </p:sp>
          </mc:Choice>
          <mc:Fallback xmlns="">
            <p:sp>
              <p:nvSpPr>
                <p:cNvPr id="43" name="TextBox 42">
                  <a:extLst>
                    <a:ext uri="{FF2B5EF4-FFF2-40B4-BE49-F238E27FC236}">
                      <a16:creationId xmlns:a16="http://schemas.microsoft.com/office/drawing/2014/main" id="{702F257F-E73F-57ED-0D57-BD0C6A08141F}"/>
                    </a:ext>
                  </a:extLst>
                </p:cNvPr>
                <p:cNvSpPr txBox="1">
                  <a:spLocks noRot="1" noChangeAspect="1" noMove="1" noResize="1" noEditPoints="1" noAdjustHandles="1" noChangeArrowheads="1" noChangeShapeType="1" noTextEdit="1"/>
                </p:cNvSpPr>
                <p:nvPr/>
              </p:nvSpPr>
              <p:spPr>
                <a:xfrm>
                  <a:off x="6452589" y="2117923"/>
                  <a:ext cx="514099" cy="276999"/>
                </a:xfrm>
                <a:prstGeom prst="rect">
                  <a:avLst/>
                </a:prstGeom>
                <a:blipFill>
                  <a:blip r:embed="rId4"/>
                  <a:stretch>
                    <a:fillRect t="-28261" r="-10588"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43F534E-D4E5-707C-C8CC-9CDA613F2408}"/>
                    </a:ext>
                  </a:extLst>
                </p:cNvPr>
                <p:cNvSpPr txBox="1"/>
                <p:nvPr/>
              </p:nvSpPr>
              <p:spPr>
                <a:xfrm>
                  <a:off x="6452589" y="2862706"/>
                  <a:ext cx="514099" cy="276999"/>
                </a:xfrm>
                <a:prstGeom prst="rect">
                  <a:avLst/>
                </a:prstGeom>
                <a:noFill/>
              </p:spPr>
              <p:txBody>
                <a:bodyPr wrap="squar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oMath>
                    </m:oMathPara>
                  </a14:m>
                  <a:endParaRPr lang="en-GB" sz="1400" b="0"/>
                </a:p>
              </p:txBody>
            </p:sp>
          </mc:Choice>
          <mc:Fallback xmlns="">
            <p:sp>
              <p:nvSpPr>
                <p:cNvPr id="44" name="TextBox 43">
                  <a:extLst>
                    <a:ext uri="{FF2B5EF4-FFF2-40B4-BE49-F238E27FC236}">
                      <a16:creationId xmlns:a16="http://schemas.microsoft.com/office/drawing/2014/main" id="{443F534E-D4E5-707C-C8CC-9CDA613F2408}"/>
                    </a:ext>
                  </a:extLst>
                </p:cNvPr>
                <p:cNvSpPr txBox="1">
                  <a:spLocks noRot="1" noChangeAspect="1" noMove="1" noResize="1" noEditPoints="1" noAdjustHandles="1" noChangeArrowheads="1" noChangeShapeType="1" noTextEdit="1"/>
                </p:cNvSpPr>
                <p:nvPr/>
              </p:nvSpPr>
              <p:spPr>
                <a:xfrm>
                  <a:off x="6452589" y="2862706"/>
                  <a:ext cx="514099" cy="276999"/>
                </a:xfrm>
                <a:prstGeom prst="rect">
                  <a:avLst/>
                </a:prstGeom>
                <a:blipFill>
                  <a:blip r:embed="rId5"/>
                  <a:stretch>
                    <a:fillRect t="-28889" r="-10588"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6DD6D94-E45B-EEB8-F5E7-2D6E97C85FF1}"/>
                    </a:ext>
                  </a:extLst>
                </p:cNvPr>
                <p:cNvSpPr txBox="1"/>
                <p:nvPr/>
              </p:nvSpPr>
              <p:spPr>
                <a:xfrm>
                  <a:off x="6465984" y="3599162"/>
                  <a:ext cx="514099" cy="276999"/>
                </a:xfrm>
                <a:prstGeom prst="rect">
                  <a:avLst/>
                </a:prstGeom>
                <a:noFill/>
              </p:spPr>
              <p:txBody>
                <a:bodyPr wrap="squar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oMath>
                    </m:oMathPara>
                  </a14:m>
                  <a:endParaRPr lang="en-GB" sz="1400" b="0"/>
                </a:p>
              </p:txBody>
            </p:sp>
          </mc:Choice>
          <mc:Fallback xmlns="">
            <p:sp>
              <p:nvSpPr>
                <p:cNvPr id="45" name="TextBox 44">
                  <a:extLst>
                    <a:ext uri="{FF2B5EF4-FFF2-40B4-BE49-F238E27FC236}">
                      <a16:creationId xmlns:a16="http://schemas.microsoft.com/office/drawing/2014/main" id="{76DD6D94-E45B-EEB8-F5E7-2D6E97C85FF1}"/>
                    </a:ext>
                  </a:extLst>
                </p:cNvPr>
                <p:cNvSpPr txBox="1">
                  <a:spLocks noRot="1" noChangeAspect="1" noMove="1" noResize="1" noEditPoints="1" noAdjustHandles="1" noChangeArrowheads="1" noChangeShapeType="1" noTextEdit="1"/>
                </p:cNvSpPr>
                <p:nvPr/>
              </p:nvSpPr>
              <p:spPr>
                <a:xfrm>
                  <a:off x="6465984" y="3599162"/>
                  <a:ext cx="514099" cy="276999"/>
                </a:xfrm>
                <a:prstGeom prst="rect">
                  <a:avLst/>
                </a:prstGeom>
                <a:blipFill>
                  <a:blip r:embed="rId6"/>
                  <a:stretch>
                    <a:fillRect t="-28261" r="-10714"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2362024-BFE5-1435-2D90-6F30BDB7451B}"/>
                    </a:ext>
                  </a:extLst>
                </p:cNvPr>
                <p:cNvSpPr txBox="1"/>
                <p:nvPr/>
              </p:nvSpPr>
              <p:spPr>
                <a:xfrm>
                  <a:off x="6456156" y="4322943"/>
                  <a:ext cx="514099" cy="276999"/>
                </a:xfrm>
                <a:prstGeom prst="rect">
                  <a:avLst/>
                </a:prstGeom>
                <a:noFill/>
              </p:spPr>
              <p:txBody>
                <a:bodyPr wrap="squar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3</m:t>
                            </m:r>
                          </m:sub>
                        </m:sSub>
                      </m:oMath>
                    </m:oMathPara>
                  </a14:m>
                  <a:endParaRPr lang="en-GB" sz="1400" b="0"/>
                </a:p>
              </p:txBody>
            </p:sp>
          </mc:Choice>
          <mc:Fallback xmlns="">
            <p:sp>
              <p:nvSpPr>
                <p:cNvPr id="46" name="TextBox 45">
                  <a:extLst>
                    <a:ext uri="{FF2B5EF4-FFF2-40B4-BE49-F238E27FC236}">
                      <a16:creationId xmlns:a16="http://schemas.microsoft.com/office/drawing/2014/main" id="{82362024-BFE5-1435-2D90-6F30BDB7451B}"/>
                    </a:ext>
                  </a:extLst>
                </p:cNvPr>
                <p:cNvSpPr txBox="1">
                  <a:spLocks noRot="1" noChangeAspect="1" noMove="1" noResize="1" noEditPoints="1" noAdjustHandles="1" noChangeArrowheads="1" noChangeShapeType="1" noTextEdit="1"/>
                </p:cNvSpPr>
                <p:nvPr/>
              </p:nvSpPr>
              <p:spPr>
                <a:xfrm>
                  <a:off x="6456156" y="4322943"/>
                  <a:ext cx="514099" cy="276999"/>
                </a:xfrm>
                <a:prstGeom prst="rect">
                  <a:avLst/>
                </a:prstGeom>
                <a:blipFill>
                  <a:blip r:embed="rId7"/>
                  <a:stretch>
                    <a:fillRect t="-28261" r="-1190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D1E868B-9FB5-2CD8-9468-2E891475F1F5}"/>
                    </a:ext>
                  </a:extLst>
                </p:cNvPr>
                <p:cNvSpPr txBox="1"/>
                <p:nvPr/>
              </p:nvSpPr>
              <p:spPr>
                <a:xfrm>
                  <a:off x="8726513" y="2901508"/>
                  <a:ext cx="451578" cy="279628"/>
                </a:xfrm>
                <a:prstGeom prst="rect">
                  <a:avLst/>
                </a:prstGeom>
                <a:noFill/>
              </p:spPr>
              <p:txBody>
                <a:bodyPr wrap="square" lIns="0" tIns="0" rIns="0" bIns="0" rtlCol="0">
                  <a:spAutoFit/>
                </a:bodyPr>
                <a:lstStyle/>
                <a:p>
                  <a:pPr/>
                  <a14:m>
                    <m:oMathPara xmlns:m="http://schemas.openxmlformats.org/officeDocument/2006/math">
                      <m:o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𝑎</m:t>
                            </m:r>
                          </m:e>
                          <m:sub>
                            <m:r>
                              <a:rPr lang="en-GB" b="0" i="1" smtClean="0">
                                <a:latin typeface="Cambria Math" panose="02040503050406030204" pitchFamily="18" charset="0"/>
                              </a:rPr>
                              <m:t>1</m:t>
                            </m:r>
                          </m:sub>
                          <m:sup>
                            <m:r>
                              <a:rPr lang="en-GB" b="0" i="1" smtClean="0">
                                <a:latin typeface="Cambria Math" panose="02040503050406030204" pitchFamily="18" charset="0"/>
                              </a:rPr>
                              <m:t>1</m:t>
                            </m:r>
                          </m:sup>
                        </m:sSubSup>
                      </m:oMath>
                    </m:oMathPara>
                  </a14:m>
                  <a:endParaRPr lang="en-GB" b="0" dirty="0"/>
                </a:p>
              </p:txBody>
            </p:sp>
          </mc:Choice>
          <mc:Fallback xmlns="">
            <p:sp>
              <p:nvSpPr>
                <p:cNvPr id="47" name="TextBox 46">
                  <a:extLst>
                    <a:ext uri="{FF2B5EF4-FFF2-40B4-BE49-F238E27FC236}">
                      <a16:creationId xmlns:a16="http://schemas.microsoft.com/office/drawing/2014/main" id="{9D1E868B-9FB5-2CD8-9468-2E891475F1F5}"/>
                    </a:ext>
                  </a:extLst>
                </p:cNvPr>
                <p:cNvSpPr txBox="1">
                  <a:spLocks noRot="1" noChangeAspect="1" noMove="1" noResize="1" noEditPoints="1" noAdjustHandles="1" noChangeArrowheads="1" noChangeShapeType="1" noTextEdit="1"/>
                </p:cNvSpPr>
                <p:nvPr/>
              </p:nvSpPr>
              <p:spPr>
                <a:xfrm>
                  <a:off x="8726513" y="2901508"/>
                  <a:ext cx="451578" cy="279628"/>
                </a:xfrm>
                <a:prstGeom prst="rect">
                  <a:avLst/>
                </a:prstGeom>
                <a:blipFill>
                  <a:blip r:embed="rId8"/>
                  <a:stretch>
                    <a:fillRect t="-26087" r="-20270"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28EC014-4210-0C77-7316-40EB636A9ACC}"/>
                    </a:ext>
                  </a:extLst>
                </p:cNvPr>
                <p:cNvSpPr txBox="1"/>
                <p:nvPr/>
              </p:nvSpPr>
              <p:spPr>
                <a:xfrm>
                  <a:off x="10023457" y="2904137"/>
                  <a:ext cx="73860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oMath>
                    </m:oMathPara>
                  </a14:m>
                  <a:endParaRPr lang="LID4096" dirty="0"/>
                </a:p>
              </p:txBody>
            </p:sp>
          </mc:Choice>
          <mc:Fallback xmlns="">
            <p:sp>
              <p:nvSpPr>
                <p:cNvPr id="48" name="TextBox 47">
                  <a:extLst>
                    <a:ext uri="{FF2B5EF4-FFF2-40B4-BE49-F238E27FC236}">
                      <a16:creationId xmlns:a16="http://schemas.microsoft.com/office/drawing/2014/main" id="{D28EC014-4210-0C77-7316-40EB636A9ACC}"/>
                    </a:ext>
                  </a:extLst>
                </p:cNvPr>
                <p:cNvSpPr txBox="1">
                  <a:spLocks noRot="1" noChangeAspect="1" noMove="1" noResize="1" noEditPoints="1" noAdjustHandles="1" noChangeArrowheads="1" noChangeShapeType="1" noTextEdit="1"/>
                </p:cNvSpPr>
                <p:nvPr/>
              </p:nvSpPr>
              <p:spPr>
                <a:xfrm>
                  <a:off x="10023457" y="2904137"/>
                  <a:ext cx="738600" cy="276999"/>
                </a:xfrm>
                <a:prstGeom prst="rect">
                  <a:avLst/>
                </a:prstGeom>
                <a:blipFill>
                  <a:blip r:embed="rId9"/>
                  <a:stretch>
                    <a:fillRect l="-10744" t="-28261" r="-23140"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6EF33A4-901D-1E7D-1625-D52307461241}"/>
                    </a:ext>
                  </a:extLst>
                </p:cNvPr>
                <p:cNvSpPr txBox="1"/>
                <p:nvPr/>
              </p:nvSpPr>
              <p:spPr>
                <a:xfrm>
                  <a:off x="7377423" y="2370162"/>
                  <a:ext cx="288348" cy="276999"/>
                </a:xfrm>
                <a:prstGeom prst="rect">
                  <a:avLst/>
                </a:prstGeom>
                <a:solidFill>
                  <a:schemeClr val="bg1"/>
                </a:solid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0</m:t>
                            </m:r>
                          </m:sub>
                        </m:sSub>
                      </m:oMath>
                    </m:oMathPara>
                  </a14:m>
                  <a:endParaRPr lang="en-GB" sz="1400" b="0"/>
                </a:p>
              </p:txBody>
            </p:sp>
          </mc:Choice>
          <mc:Fallback xmlns="">
            <p:sp>
              <p:nvSpPr>
                <p:cNvPr id="49" name="TextBox 48">
                  <a:extLst>
                    <a:ext uri="{FF2B5EF4-FFF2-40B4-BE49-F238E27FC236}">
                      <a16:creationId xmlns:a16="http://schemas.microsoft.com/office/drawing/2014/main" id="{C6EF33A4-901D-1E7D-1625-D52307461241}"/>
                    </a:ext>
                  </a:extLst>
                </p:cNvPr>
                <p:cNvSpPr txBox="1">
                  <a:spLocks noRot="1" noChangeAspect="1" noMove="1" noResize="1" noEditPoints="1" noAdjustHandles="1" noChangeArrowheads="1" noChangeShapeType="1" noTextEdit="1"/>
                </p:cNvSpPr>
                <p:nvPr/>
              </p:nvSpPr>
              <p:spPr>
                <a:xfrm>
                  <a:off x="7377423" y="2370162"/>
                  <a:ext cx="288348" cy="276999"/>
                </a:xfrm>
                <a:prstGeom prst="rect">
                  <a:avLst/>
                </a:prstGeom>
                <a:blipFill>
                  <a:blip r:embed="rId10"/>
                  <a:stretch>
                    <a:fillRect l="-16667" t="-28889" r="-58333"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B193AF9-02DA-7377-94C3-0FF1B7D9D8CE}"/>
                    </a:ext>
                  </a:extLst>
                </p:cNvPr>
                <p:cNvSpPr txBox="1"/>
                <p:nvPr/>
              </p:nvSpPr>
              <p:spPr>
                <a:xfrm>
                  <a:off x="7377423" y="2862706"/>
                  <a:ext cx="283026" cy="276999"/>
                </a:xfrm>
                <a:prstGeom prst="rect">
                  <a:avLst/>
                </a:prstGeom>
                <a:solidFill>
                  <a:schemeClr val="bg1"/>
                </a:solid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1</m:t>
                            </m:r>
                          </m:sub>
                        </m:sSub>
                      </m:oMath>
                    </m:oMathPara>
                  </a14:m>
                  <a:endParaRPr lang="en-GB" sz="1400" b="0"/>
                </a:p>
              </p:txBody>
            </p:sp>
          </mc:Choice>
          <mc:Fallback xmlns="">
            <p:sp>
              <p:nvSpPr>
                <p:cNvPr id="50" name="TextBox 49">
                  <a:extLst>
                    <a:ext uri="{FF2B5EF4-FFF2-40B4-BE49-F238E27FC236}">
                      <a16:creationId xmlns:a16="http://schemas.microsoft.com/office/drawing/2014/main" id="{CB193AF9-02DA-7377-94C3-0FF1B7D9D8CE}"/>
                    </a:ext>
                  </a:extLst>
                </p:cNvPr>
                <p:cNvSpPr txBox="1">
                  <a:spLocks noRot="1" noChangeAspect="1" noMove="1" noResize="1" noEditPoints="1" noAdjustHandles="1" noChangeArrowheads="1" noChangeShapeType="1" noTextEdit="1"/>
                </p:cNvSpPr>
                <p:nvPr/>
              </p:nvSpPr>
              <p:spPr>
                <a:xfrm>
                  <a:off x="7377423" y="2862706"/>
                  <a:ext cx="283026" cy="276999"/>
                </a:xfrm>
                <a:prstGeom prst="rect">
                  <a:avLst/>
                </a:prstGeom>
                <a:blipFill>
                  <a:blip r:embed="rId11"/>
                  <a:stretch>
                    <a:fillRect l="-17021" t="-28889" r="-59574"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F4A16F8-3675-E06A-31D9-F7F8526DDF46}"/>
                    </a:ext>
                  </a:extLst>
                </p:cNvPr>
                <p:cNvSpPr txBox="1"/>
                <p:nvPr/>
              </p:nvSpPr>
              <p:spPr>
                <a:xfrm>
                  <a:off x="7377423" y="3333581"/>
                  <a:ext cx="288348" cy="276999"/>
                </a:xfrm>
                <a:prstGeom prst="rect">
                  <a:avLst/>
                </a:prstGeom>
                <a:solidFill>
                  <a:schemeClr val="bg1"/>
                </a:solid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2</m:t>
                            </m:r>
                          </m:sub>
                        </m:sSub>
                      </m:oMath>
                    </m:oMathPara>
                  </a14:m>
                  <a:endParaRPr lang="en-GB" sz="1400" b="0"/>
                </a:p>
              </p:txBody>
            </p:sp>
          </mc:Choice>
          <mc:Fallback xmlns="">
            <p:sp>
              <p:nvSpPr>
                <p:cNvPr id="51" name="TextBox 50">
                  <a:extLst>
                    <a:ext uri="{FF2B5EF4-FFF2-40B4-BE49-F238E27FC236}">
                      <a16:creationId xmlns:a16="http://schemas.microsoft.com/office/drawing/2014/main" id="{0F4A16F8-3675-E06A-31D9-F7F8526DDF46}"/>
                    </a:ext>
                  </a:extLst>
                </p:cNvPr>
                <p:cNvSpPr txBox="1">
                  <a:spLocks noRot="1" noChangeAspect="1" noMove="1" noResize="1" noEditPoints="1" noAdjustHandles="1" noChangeArrowheads="1" noChangeShapeType="1" noTextEdit="1"/>
                </p:cNvSpPr>
                <p:nvPr/>
              </p:nvSpPr>
              <p:spPr>
                <a:xfrm>
                  <a:off x="7377423" y="3333581"/>
                  <a:ext cx="288348" cy="276999"/>
                </a:xfrm>
                <a:prstGeom prst="rect">
                  <a:avLst/>
                </a:prstGeom>
                <a:blipFill>
                  <a:blip r:embed="rId12"/>
                  <a:stretch>
                    <a:fillRect l="-16667" t="-28889" r="-58333"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38BF430-7EC2-4DA0-1CF4-F217BF228A8A}"/>
                    </a:ext>
                  </a:extLst>
                </p:cNvPr>
                <p:cNvSpPr txBox="1"/>
                <p:nvPr/>
              </p:nvSpPr>
              <p:spPr>
                <a:xfrm>
                  <a:off x="7379399" y="3858118"/>
                  <a:ext cx="288348" cy="276999"/>
                </a:xfrm>
                <a:prstGeom prst="rect">
                  <a:avLst/>
                </a:prstGeom>
                <a:solidFill>
                  <a:schemeClr val="bg1"/>
                </a:solidFill>
                <a:ln>
                  <a:solidFill>
                    <a:schemeClr val="bg1"/>
                  </a:solidFill>
                </a:ln>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3</m:t>
                            </m:r>
                          </m:sub>
                        </m:sSub>
                      </m:oMath>
                    </m:oMathPara>
                  </a14:m>
                  <a:endParaRPr lang="en-GB" sz="1400" b="0"/>
                </a:p>
              </p:txBody>
            </p:sp>
          </mc:Choice>
          <mc:Fallback xmlns="">
            <p:sp>
              <p:nvSpPr>
                <p:cNvPr id="52" name="TextBox 51">
                  <a:extLst>
                    <a:ext uri="{FF2B5EF4-FFF2-40B4-BE49-F238E27FC236}">
                      <a16:creationId xmlns:a16="http://schemas.microsoft.com/office/drawing/2014/main" id="{138BF430-7EC2-4DA0-1CF4-F217BF228A8A}"/>
                    </a:ext>
                  </a:extLst>
                </p:cNvPr>
                <p:cNvSpPr txBox="1">
                  <a:spLocks noRot="1" noChangeAspect="1" noMove="1" noResize="1" noEditPoints="1" noAdjustHandles="1" noChangeArrowheads="1" noChangeShapeType="1" noTextEdit="1"/>
                </p:cNvSpPr>
                <p:nvPr/>
              </p:nvSpPr>
              <p:spPr>
                <a:xfrm>
                  <a:off x="7379399" y="3858118"/>
                  <a:ext cx="288348" cy="276999"/>
                </a:xfrm>
                <a:prstGeom prst="rect">
                  <a:avLst/>
                </a:prstGeom>
                <a:blipFill>
                  <a:blip r:embed="rId13"/>
                  <a:stretch>
                    <a:fillRect l="-16327" t="-25532" r="-55102" b="-46809"/>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2556996-A7C3-3C2A-17F0-62A394C7E22D}"/>
                    </a:ext>
                  </a:extLst>
                </p:cNvPr>
                <p:cNvSpPr txBox="1"/>
                <p:nvPr/>
              </p:nvSpPr>
              <p:spPr>
                <a:xfrm>
                  <a:off x="8156274" y="2921628"/>
                  <a:ext cx="528158" cy="276999"/>
                </a:xfrm>
                <a:prstGeom prst="rect">
                  <a:avLst/>
                </a:prstGeom>
                <a:solidFill>
                  <a:schemeClr val="bg1"/>
                </a:solidFill>
              </p:spPr>
              <p:txBody>
                <a:bodyPr wrap="none" lIns="0" tIns="0" rIns="0" bIns="0" rtlCol="0">
                  <a:spAutoFit/>
                </a:bodyPr>
                <a:lstStyle/>
                <a:p>
                  <a14:m>
                    <m:oMath xmlns:m="http://schemas.openxmlformats.org/officeDocument/2006/math">
                      <m:r>
                        <a:rPr lang="en-GB" b="0" i="1" smtClean="0">
                          <a:latin typeface="Cambria Math" panose="02040503050406030204" pitchFamily="18" charset="0"/>
                        </a:rPr>
                        <m:t>𝑔</m:t>
                      </m:r>
                      <m:r>
                        <a:rPr lang="en-GB" b="0" i="1" smtClean="0">
                          <a:latin typeface="Cambria Math" panose="02040503050406030204" pitchFamily="18" charset="0"/>
                        </a:rPr>
                        <m:t>()</m:t>
                      </m:r>
                    </m:oMath>
                  </a14:m>
                  <a:r>
                    <a:rPr lang="en-GB"/>
                    <a:t> =</a:t>
                  </a:r>
                  <a:endParaRPr lang="LID4096"/>
                </a:p>
              </p:txBody>
            </p:sp>
          </mc:Choice>
          <mc:Fallback xmlns="">
            <p:sp>
              <p:nvSpPr>
                <p:cNvPr id="53" name="TextBox 52">
                  <a:extLst>
                    <a:ext uri="{FF2B5EF4-FFF2-40B4-BE49-F238E27FC236}">
                      <a16:creationId xmlns:a16="http://schemas.microsoft.com/office/drawing/2014/main" id="{52556996-A7C3-3C2A-17F0-62A394C7E22D}"/>
                    </a:ext>
                  </a:extLst>
                </p:cNvPr>
                <p:cNvSpPr txBox="1">
                  <a:spLocks noRot="1" noChangeAspect="1" noMove="1" noResize="1" noEditPoints="1" noAdjustHandles="1" noChangeArrowheads="1" noChangeShapeType="1" noTextEdit="1"/>
                </p:cNvSpPr>
                <p:nvPr/>
              </p:nvSpPr>
              <p:spPr>
                <a:xfrm>
                  <a:off x="8156274" y="2921628"/>
                  <a:ext cx="528158" cy="276999"/>
                </a:xfrm>
                <a:prstGeom prst="rect">
                  <a:avLst/>
                </a:prstGeom>
                <a:blipFill>
                  <a:blip r:embed="rId14"/>
                  <a:stretch>
                    <a:fillRect l="-16092" t="-28261" r="-37931" b="-50000"/>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0F69679B-1DBE-1E36-820A-794944951C4B}"/>
                </a:ext>
              </a:extLst>
            </p:cNvPr>
            <p:cNvSpPr txBox="1"/>
            <p:nvPr/>
          </p:nvSpPr>
          <p:spPr>
            <a:xfrm>
              <a:off x="6207955" y="4972902"/>
              <a:ext cx="941105" cy="523220"/>
            </a:xfrm>
            <a:prstGeom prst="rect">
              <a:avLst/>
            </a:prstGeom>
            <a:noFill/>
          </p:spPr>
          <p:txBody>
            <a:bodyPr wrap="square" rtlCol="0">
              <a:spAutoFit/>
            </a:bodyPr>
            <a:lstStyle/>
            <a:p>
              <a:pPr algn="ctr"/>
              <a:r>
                <a:rPr lang="en-US" sz="1400" i="1" dirty="0"/>
                <a:t>source pixel</a:t>
              </a:r>
              <a:endParaRPr lang="en-BE" sz="1400" i="1" dirty="0"/>
            </a:p>
          </p:txBody>
        </p:sp>
        <p:sp>
          <p:nvSpPr>
            <p:cNvPr id="56" name="TextBox 55">
              <a:extLst>
                <a:ext uri="{FF2B5EF4-FFF2-40B4-BE49-F238E27FC236}">
                  <a16:creationId xmlns:a16="http://schemas.microsoft.com/office/drawing/2014/main" id="{A74BEF6D-30B3-39DA-AE8D-F308F6D5AED7}"/>
                </a:ext>
              </a:extLst>
            </p:cNvPr>
            <p:cNvSpPr txBox="1"/>
            <p:nvPr/>
          </p:nvSpPr>
          <p:spPr>
            <a:xfrm>
              <a:off x="7149060" y="4972902"/>
              <a:ext cx="891242" cy="523220"/>
            </a:xfrm>
            <a:prstGeom prst="rect">
              <a:avLst/>
            </a:prstGeom>
            <a:noFill/>
          </p:spPr>
          <p:txBody>
            <a:bodyPr wrap="square" rtlCol="0">
              <a:spAutoFit/>
            </a:bodyPr>
            <a:lstStyle/>
            <a:p>
              <a:pPr algn="ctr"/>
              <a:r>
                <a:rPr lang="en-US" sz="1400" i="1" dirty="0"/>
                <a:t>kernel values</a:t>
              </a:r>
              <a:endParaRPr lang="en-BE" sz="1400" i="1" dirty="0"/>
            </a:p>
          </p:txBody>
        </p:sp>
        <p:sp>
          <p:nvSpPr>
            <p:cNvPr id="58" name="TextBox 57">
              <a:extLst>
                <a:ext uri="{FF2B5EF4-FFF2-40B4-BE49-F238E27FC236}">
                  <a16:creationId xmlns:a16="http://schemas.microsoft.com/office/drawing/2014/main" id="{12D1370D-B5A8-04C1-2347-648CEA8E32E2}"/>
                </a:ext>
              </a:extLst>
            </p:cNvPr>
            <p:cNvSpPr txBox="1"/>
            <p:nvPr/>
          </p:nvSpPr>
          <p:spPr>
            <a:xfrm>
              <a:off x="9947136" y="4972902"/>
              <a:ext cx="891242" cy="523220"/>
            </a:xfrm>
            <a:prstGeom prst="rect">
              <a:avLst/>
            </a:prstGeom>
            <a:noFill/>
          </p:spPr>
          <p:txBody>
            <a:bodyPr wrap="square" rtlCol="0">
              <a:spAutoFit/>
            </a:bodyPr>
            <a:lstStyle/>
            <a:p>
              <a:pPr algn="ctr"/>
              <a:r>
                <a:rPr lang="en-US" sz="1400" i="1" dirty="0"/>
                <a:t>new pixel</a:t>
              </a:r>
              <a:endParaRPr lang="en-BE" sz="1400" i="1" dirty="0"/>
            </a:p>
          </p:txBody>
        </p:sp>
      </p:grpSp>
    </p:spTree>
    <p:extLst>
      <p:ext uri="{BB962C8B-B14F-4D97-AF65-F5344CB8AC3E}">
        <p14:creationId xmlns:p14="http://schemas.microsoft.com/office/powerpoint/2010/main" val="57376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53AE4-89D0-CD4F-0B00-5F569F11C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F48CE-1A48-9DFB-52BC-C7CC65085F9F}"/>
              </a:ext>
            </a:extLst>
          </p:cNvPr>
          <p:cNvSpPr>
            <a:spLocks noGrp="1"/>
          </p:cNvSpPr>
          <p:nvPr>
            <p:ph type="title"/>
          </p:nvPr>
        </p:nvSpPr>
        <p:spPr/>
        <p:txBody>
          <a:bodyPr/>
          <a:lstStyle/>
          <a:p>
            <a:r>
              <a:rPr lang="en-US" b="1" dirty="0">
                <a:latin typeface="Corbel" panose="020B0503020204020204" pitchFamily="34" charset="0"/>
              </a:rPr>
              <a:t>Multiple convolutions can be stacked in layers</a:t>
            </a:r>
          </a:p>
        </p:txBody>
      </p:sp>
      <p:sp>
        <p:nvSpPr>
          <p:cNvPr id="4" name="Slide Number Placeholder 3">
            <a:extLst>
              <a:ext uri="{FF2B5EF4-FFF2-40B4-BE49-F238E27FC236}">
                <a16:creationId xmlns:a16="http://schemas.microsoft.com/office/drawing/2014/main" id="{D65B54BF-3EDF-A295-3A8A-20DA429B83A9}"/>
              </a:ext>
            </a:extLst>
          </p:cNvPr>
          <p:cNvSpPr>
            <a:spLocks noGrp="1"/>
          </p:cNvSpPr>
          <p:nvPr>
            <p:ph type="sldNum" sz="quarter" idx="12"/>
          </p:nvPr>
        </p:nvSpPr>
        <p:spPr/>
        <p:txBody>
          <a:bodyPr/>
          <a:lstStyle/>
          <a:p>
            <a:fld id="{94B3E216-A3C5-4E41-AE94-D003E76F1D3A}" type="slidenum">
              <a:rPr lang="en-US" smtClean="0"/>
              <a:pPr/>
              <a:t>13</a:t>
            </a:fld>
            <a:endParaRPr lang="en-US"/>
          </a:p>
        </p:txBody>
      </p:sp>
      <p:sp>
        <p:nvSpPr>
          <p:cNvPr id="3" name="Footer Placeholder 2">
            <a:extLst>
              <a:ext uri="{FF2B5EF4-FFF2-40B4-BE49-F238E27FC236}">
                <a16:creationId xmlns:a16="http://schemas.microsoft.com/office/drawing/2014/main" id="{A54D1E0C-95E3-42A9-F3C7-DA7513C08D11}"/>
              </a:ext>
            </a:extLst>
          </p:cNvPr>
          <p:cNvSpPr>
            <a:spLocks noGrp="1"/>
          </p:cNvSpPr>
          <p:nvPr>
            <p:ph type="ftr" sz="quarter" idx="11"/>
          </p:nvPr>
        </p:nvSpPr>
        <p:spPr/>
        <p:txBody>
          <a:bodyPr/>
          <a:lstStyle/>
          <a:p>
            <a:r>
              <a:rPr lang="en-US" dirty="0"/>
              <a:t>Image from developersbreach.com</a:t>
            </a:r>
            <a:endParaRPr lang="en-BE" dirty="0"/>
          </a:p>
        </p:txBody>
      </p:sp>
      <p:pic>
        <p:nvPicPr>
          <p:cNvPr id="3074" name="Picture 2" descr="Convolutional Neural Networks | fully connected layer">
            <a:extLst>
              <a:ext uri="{FF2B5EF4-FFF2-40B4-BE49-F238E27FC236}">
                <a16:creationId xmlns:a16="http://schemas.microsoft.com/office/drawing/2014/main" id="{177F6734-DBC8-E343-4F0D-823E2695F6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648"/>
          <a:stretch>
            <a:fillRect/>
          </a:stretch>
        </p:blipFill>
        <p:spPr bwMode="auto">
          <a:xfrm>
            <a:off x="381000" y="1422400"/>
            <a:ext cx="11430000" cy="469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570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292F0-B88B-F64B-840C-E88707F7E912}"/>
              </a:ext>
            </a:extLst>
          </p:cNvPr>
          <p:cNvSpPr>
            <a:spLocks noGrp="1"/>
          </p:cNvSpPr>
          <p:nvPr>
            <p:ph type="title"/>
          </p:nvPr>
        </p:nvSpPr>
        <p:spPr/>
        <p:txBody>
          <a:bodyPr/>
          <a:lstStyle/>
          <a:p>
            <a:r>
              <a:rPr lang="en-US" b="1" dirty="0">
                <a:latin typeface="Corbel" panose="020B0503020204020204" pitchFamily="34" charset="0"/>
              </a:rPr>
              <a:t>Pooling operations downscale the feature map (or image)</a:t>
            </a:r>
          </a:p>
        </p:txBody>
      </p:sp>
      <p:sp>
        <p:nvSpPr>
          <p:cNvPr id="3" name="Slide Number Placeholder 2">
            <a:extLst>
              <a:ext uri="{FF2B5EF4-FFF2-40B4-BE49-F238E27FC236}">
                <a16:creationId xmlns:a16="http://schemas.microsoft.com/office/drawing/2014/main" id="{AEBF4F28-4906-7886-DE5D-8B2713386777}"/>
              </a:ext>
            </a:extLst>
          </p:cNvPr>
          <p:cNvSpPr>
            <a:spLocks noGrp="1"/>
          </p:cNvSpPr>
          <p:nvPr>
            <p:ph type="sldNum" sz="quarter" idx="12"/>
          </p:nvPr>
        </p:nvSpPr>
        <p:spPr/>
        <p:txBody>
          <a:bodyPr/>
          <a:lstStyle/>
          <a:p>
            <a:fld id="{94B3E216-A3C5-4E41-AE94-D003E76F1D3A}" type="slidenum">
              <a:rPr lang="en-BE" smtClean="0"/>
              <a:t>14</a:t>
            </a:fld>
            <a:endParaRPr lang="en-BE"/>
          </a:p>
        </p:txBody>
      </p:sp>
      <p:pic>
        <p:nvPicPr>
          <p:cNvPr id="4" name="Picture 3">
            <a:extLst>
              <a:ext uri="{FF2B5EF4-FFF2-40B4-BE49-F238E27FC236}">
                <a16:creationId xmlns:a16="http://schemas.microsoft.com/office/drawing/2014/main" id="{8DD08504-AE3D-F822-E42A-5347561C72D9}"/>
              </a:ext>
            </a:extLst>
          </p:cNvPr>
          <p:cNvPicPr>
            <a:picLocks noChangeAspect="1"/>
          </p:cNvPicPr>
          <p:nvPr/>
        </p:nvPicPr>
        <p:blipFill>
          <a:blip r:embed="rId3"/>
          <a:srcRect b="9939"/>
          <a:stretch>
            <a:fillRect/>
          </a:stretch>
        </p:blipFill>
        <p:spPr>
          <a:xfrm>
            <a:off x="908724" y="1733441"/>
            <a:ext cx="5068967" cy="3892660"/>
          </a:xfrm>
          <a:prstGeom prst="rect">
            <a:avLst/>
          </a:prstGeom>
        </p:spPr>
      </p:pic>
      <p:pic>
        <p:nvPicPr>
          <p:cNvPr id="5" name="Picture 4">
            <a:extLst>
              <a:ext uri="{FF2B5EF4-FFF2-40B4-BE49-F238E27FC236}">
                <a16:creationId xmlns:a16="http://schemas.microsoft.com/office/drawing/2014/main" id="{883B4634-7E40-CE43-17EF-DF24DF2B7D76}"/>
              </a:ext>
            </a:extLst>
          </p:cNvPr>
          <p:cNvPicPr>
            <a:picLocks noChangeAspect="1"/>
          </p:cNvPicPr>
          <p:nvPr/>
        </p:nvPicPr>
        <p:blipFill>
          <a:blip r:embed="rId4"/>
          <a:srcRect l="278" t="705" r="74711" b="12286"/>
          <a:stretch>
            <a:fillRect/>
          </a:stretch>
        </p:blipFill>
        <p:spPr>
          <a:xfrm>
            <a:off x="6815557" y="2781165"/>
            <a:ext cx="1572793" cy="1568585"/>
          </a:xfrm>
          <a:prstGeom prst="rect">
            <a:avLst/>
          </a:prstGeom>
        </p:spPr>
      </p:pic>
      <p:pic>
        <p:nvPicPr>
          <p:cNvPr id="6" name="Picture 5">
            <a:extLst>
              <a:ext uri="{FF2B5EF4-FFF2-40B4-BE49-F238E27FC236}">
                <a16:creationId xmlns:a16="http://schemas.microsoft.com/office/drawing/2014/main" id="{E6B0D871-60F1-4CC5-A844-7178B04AD592}"/>
              </a:ext>
            </a:extLst>
          </p:cNvPr>
          <p:cNvPicPr>
            <a:picLocks noChangeAspect="1"/>
          </p:cNvPicPr>
          <p:nvPr/>
        </p:nvPicPr>
        <p:blipFill>
          <a:blip r:embed="rId4"/>
          <a:srcRect l="74750" t="881" r="239" b="12111"/>
          <a:stretch>
            <a:fillRect/>
          </a:stretch>
        </p:blipFill>
        <p:spPr>
          <a:xfrm>
            <a:off x="9584157" y="2781164"/>
            <a:ext cx="1572793" cy="1568585"/>
          </a:xfrm>
          <a:prstGeom prst="rect">
            <a:avLst/>
          </a:prstGeom>
        </p:spPr>
      </p:pic>
      <p:cxnSp>
        <p:nvCxnSpPr>
          <p:cNvPr id="7" name="Straight Arrow Connector 6">
            <a:extLst>
              <a:ext uri="{FF2B5EF4-FFF2-40B4-BE49-F238E27FC236}">
                <a16:creationId xmlns:a16="http://schemas.microsoft.com/office/drawing/2014/main" id="{05E0DD89-7FB2-0AE0-22AD-4FF9133D36C2}"/>
              </a:ext>
            </a:extLst>
          </p:cNvPr>
          <p:cNvCxnSpPr>
            <a:cxnSpLocks/>
          </p:cNvCxnSpPr>
          <p:nvPr/>
        </p:nvCxnSpPr>
        <p:spPr>
          <a:xfrm>
            <a:off x="8793505" y="3617484"/>
            <a:ext cx="392828"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68750805-85B0-4802-2268-5F5E78E5990A}"/>
              </a:ext>
            </a:extLst>
          </p:cNvPr>
          <p:cNvSpPr txBox="1"/>
          <p:nvPr/>
        </p:nvSpPr>
        <p:spPr>
          <a:xfrm>
            <a:off x="6341478" y="4619828"/>
            <a:ext cx="2520950" cy="369332"/>
          </a:xfrm>
          <a:prstGeom prst="rect">
            <a:avLst/>
          </a:prstGeom>
          <a:noFill/>
        </p:spPr>
        <p:txBody>
          <a:bodyPr wrap="square" rtlCol="0">
            <a:spAutoFit/>
          </a:bodyPr>
          <a:lstStyle/>
          <a:p>
            <a:pPr algn="ctr"/>
            <a:r>
              <a:rPr lang="en-US" dirty="0"/>
              <a:t>original image</a:t>
            </a:r>
          </a:p>
        </p:txBody>
      </p:sp>
      <p:sp>
        <p:nvSpPr>
          <p:cNvPr id="10" name="TextBox 9">
            <a:extLst>
              <a:ext uri="{FF2B5EF4-FFF2-40B4-BE49-F238E27FC236}">
                <a16:creationId xmlns:a16="http://schemas.microsoft.com/office/drawing/2014/main" id="{11888B00-D3B0-78AA-85F8-32D2629AE973}"/>
              </a:ext>
            </a:extLst>
          </p:cNvPr>
          <p:cNvSpPr txBox="1"/>
          <p:nvPr/>
        </p:nvSpPr>
        <p:spPr>
          <a:xfrm>
            <a:off x="9110078" y="4619828"/>
            <a:ext cx="2520950" cy="369332"/>
          </a:xfrm>
          <a:prstGeom prst="rect">
            <a:avLst/>
          </a:prstGeom>
          <a:noFill/>
        </p:spPr>
        <p:txBody>
          <a:bodyPr wrap="square" rtlCol="0">
            <a:spAutoFit/>
          </a:bodyPr>
          <a:lstStyle/>
          <a:p>
            <a:pPr algn="ctr"/>
            <a:r>
              <a:rPr lang="en-US" dirty="0"/>
              <a:t>after max pooling</a:t>
            </a:r>
          </a:p>
        </p:txBody>
      </p:sp>
    </p:spTree>
    <p:extLst>
      <p:ext uri="{BB962C8B-B14F-4D97-AF65-F5344CB8AC3E}">
        <p14:creationId xmlns:p14="http://schemas.microsoft.com/office/powerpoint/2010/main" val="1325727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B7F99-D57D-96E8-CD66-FC45C3FD3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D2B40-3897-14B5-448B-E8CAB4658653}"/>
              </a:ext>
            </a:extLst>
          </p:cNvPr>
          <p:cNvSpPr>
            <a:spLocks noGrp="1"/>
          </p:cNvSpPr>
          <p:nvPr>
            <p:ph type="title"/>
          </p:nvPr>
        </p:nvSpPr>
        <p:spPr>
          <a:xfrm>
            <a:off x="433633" y="365125"/>
            <a:ext cx="11324734" cy="830997"/>
          </a:xfrm>
        </p:spPr>
        <p:txBody>
          <a:bodyPr/>
          <a:lstStyle/>
          <a:p>
            <a:r>
              <a:rPr lang="en-US" b="1" dirty="0">
                <a:latin typeface="Corbel" panose="020B0503020204020204" pitchFamily="34" charset="0"/>
              </a:rPr>
              <a:t>Some noteworthy architectures throughout the years…</a:t>
            </a:r>
            <a:br>
              <a:rPr lang="en-US" b="1" dirty="0">
                <a:latin typeface="Corbel" panose="020B0503020204020204" pitchFamily="34" charset="0"/>
              </a:rPr>
            </a:br>
            <a:r>
              <a:rPr lang="en-US" b="1" i="1" dirty="0">
                <a:latin typeface="Corbel" panose="020B0503020204020204" pitchFamily="34" charset="0"/>
              </a:rPr>
              <a:t>LeNet</a:t>
            </a:r>
            <a:r>
              <a:rPr lang="en-US" b="1" dirty="0">
                <a:latin typeface="Corbel" panose="020B0503020204020204" pitchFamily="34" charset="0"/>
              </a:rPr>
              <a:t> introduced end-to-end CNN-based image recognition</a:t>
            </a:r>
          </a:p>
        </p:txBody>
      </p:sp>
      <p:sp>
        <p:nvSpPr>
          <p:cNvPr id="4" name="Slide Number Placeholder 3">
            <a:extLst>
              <a:ext uri="{FF2B5EF4-FFF2-40B4-BE49-F238E27FC236}">
                <a16:creationId xmlns:a16="http://schemas.microsoft.com/office/drawing/2014/main" id="{9B10682C-3BCE-DE17-7474-0095B51E8E23}"/>
              </a:ext>
            </a:extLst>
          </p:cNvPr>
          <p:cNvSpPr>
            <a:spLocks noGrp="1"/>
          </p:cNvSpPr>
          <p:nvPr>
            <p:ph type="sldNum" sz="quarter" idx="12"/>
          </p:nvPr>
        </p:nvSpPr>
        <p:spPr/>
        <p:txBody>
          <a:bodyPr/>
          <a:lstStyle/>
          <a:p>
            <a:fld id="{94B3E216-A3C5-4E41-AE94-D003E76F1D3A}" type="slidenum">
              <a:rPr lang="en-US" smtClean="0"/>
              <a:pPr/>
              <a:t>15</a:t>
            </a:fld>
            <a:endParaRPr lang="en-US"/>
          </a:p>
        </p:txBody>
      </p:sp>
      <p:sp>
        <p:nvSpPr>
          <p:cNvPr id="3" name="Footer Placeholder 2">
            <a:extLst>
              <a:ext uri="{FF2B5EF4-FFF2-40B4-BE49-F238E27FC236}">
                <a16:creationId xmlns:a16="http://schemas.microsoft.com/office/drawing/2014/main" id="{1BC32ECD-0FF8-8D14-CCE3-D987509F82AB}"/>
              </a:ext>
            </a:extLst>
          </p:cNvPr>
          <p:cNvSpPr>
            <a:spLocks noGrp="1"/>
          </p:cNvSpPr>
          <p:nvPr>
            <p:ph type="ftr" sz="quarter" idx="11"/>
          </p:nvPr>
        </p:nvSpPr>
        <p:spPr/>
        <p:txBody>
          <a:bodyPr/>
          <a:lstStyle/>
          <a:p>
            <a:r>
              <a:rPr lang="en-US" dirty="0"/>
              <a:t>Y. LeCun, et al. Backpropagation Applied to Handwritten Zip Code Recognition. Neural </a:t>
            </a:r>
            <a:r>
              <a:rPr lang="en-US" dirty="0" err="1"/>
              <a:t>Comput</a:t>
            </a:r>
            <a:r>
              <a:rPr lang="en-US" dirty="0"/>
              <a:t> (19</a:t>
            </a:r>
            <a:r>
              <a:rPr lang="en-BE" dirty="0"/>
              <a:t>98</a:t>
            </a:r>
            <a:r>
              <a:rPr lang="en-US" dirty="0"/>
              <a:t>) doi:10.1162/neco.1989.1.4.541</a:t>
            </a:r>
            <a:endParaRPr lang="en-BE" dirty="0"/>
          </a:p>
        </p:txBody>
      </p:sp>
      <p:pic>
        <p:nvPicPr>
          <p:cNvPr id="5" name="Picture 2" descr="A Comprehensive Guide to Convolutional Neural Networks — the ELI5 way">
            <a:extLst>
              <a:ext uri="{FF2B5EF4-FFF2-40B4-BE49-F238E27FC236}">
                <a16:creationId xmlns:a16="http://schemas.microsoft.com/office/drawing/2014/main" id="{F7DC58AF-275C-84C5-ACF8-51544EDF11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43" b="3559"/>
          <a:stretch/>
        </p:blipFill>
        <p:spPr bwMode="auto">
          <a:xfrm>
            <a:off x="1333500" y="1474891"/>
            <a:ext cx="9525000" cy="4708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310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91C57-3AF6-016B-3705-4C28CFCE0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AEB09-66EE-045B-6580-2ADC38500E52}"/>
              </a:ext>
            </a:extLst>
          </p:cNvPr>
          <p:cNvSpPr>
            <a:spLocks noGrp="1"/>
          </p:cNvSpPr>
          <p:nvPr>
            <p:ph type="title"/>
          </p:nvPr>
        </p:nvSpPr>
        <p:spPr>
          <a:xfrm>
            <a:off x="433633" y="365125"/>
            <a:ext cx="11324734" cy="830997"/>
          </a:xfrm>
        </p:spPr>
        <p:txBody>
          <a:bodyPr/>
          <a:lstStyle/>
          <a:p>
            <a:r>
              <a:rPr lang="en-US" b="1" dirty="0">
                <a:latin typeface="Corbel" panose="020B0503020204020204" pitchFamily="34" charset="0"/>
              </a:rPr>
              <a:t>Some noteworthy architectures throughout the years…</a:t>
            </a:r>
            <a:br>
              <a:rPr lang="en-US" b="1" dirty="0">
                <a:latin typeface="Corbel" panose="020B0503020204020204" pitchFamily="34" charset="0"/>
              </a:rPr>
            </a:br>
            <a:r>
              <a:rPr lang="en-US" b="1" i="1" dirty="0">
                <a:latin typeface="Corbel" panose="020B0503020204020204" pitchFamily="34" charset="0"/>
              </a:rPr>
              <a:t>VGG</a:t>
            </a:r>
            <a:r>
              <a:rPr lang="en-US" b="1" dirty="0">
                <a:latin typeface="Corbel" panose="020B0503020204020204" pitchFamily="34" charset="0"/>
              </a:rPr>
              <a:t> showed that deeper CNNs greatly improved accuracy</a:t>
            </a:r>
          </a:p>
        </p:txBody>
      </p:sp>
      <p:sp>
        <p:nvSpPr>
          <p:cNvPr id="4" name="Slide Number Placeholder 3">
            <a:extLst>
              <a:ext uri="{FF2B5EF4-FFF2-40B4-BE49-F238E27FC236}">
                <a16:creationId xmlns:a16="http://schemas.microsoft.com/office/drawing/2014/main" id="{AD07437F-8C88-BE1B-ABBB-26343E1DB726}"/>
              </a:ext>
            </a:extLst>
          </p:cNvPr>
          <p:cNvSpPr>
            <a:spLocks noGrp="1"/>
          </p:cNvSpPr>
          <p:nvPr>
            <p:ph type="sldNum" sz="quarter" idx="12"/>
          </p:nvPr>
        </p:nvSpPr>
        <p:spPr/>
        <p:txBody>
          <a:bodyPr/>
          <a:lstStyle/>
          <a:p>
            <a:fld id="{94B3E216-A3C5-4E41-AE94-D003E76F1D3A}" type="slidenum">
              <a:rPr lang="en-US" smtClean="0"/>
              <a:pPr/>
              <a:t>16</a:t>
            </a:fld>
            <a:endParaRPr lang="en-US"/>
          </a:p>
        </p:txBody>
      </p:sp>
      <p:sp>
        <p:nvSpPr>
          <p:cNvPr id="3" name="Footer Placeholder 2">
            <a:extLst>
              <a:ext uri="{FF2B5EF4-FFF2-40B4-BE49-F238E27FC236}">
                <a16:creationId xmlns:a16="http://schemas.microsoft.com/office/drawing/2014/main" id="{86954055-B09A-7236-FCF7-1EC2E36C2A17}"/>
              </a:ext>
            </a:extLst>
          </p:cNvPr>
          <p:cNvSpPr>
            <a:spLocks noGrp="1"/>
          </p:cNvSpPr>
          <p:nvPr>
            <p:ph type="ftr" sz="quarter" idx="11"/>
          </p:nvPr>
        </p:nvSpPr>
        <p:spPr/>
        <p:txBody>
          <a:bodyPr/>
          <a:lstStyle/>
          <a:p>
            <a:r>
              <a:rPr lang="en-US" dirty="0"/>
              <a:t>K Simonyan &amp; A Zisserman. </a:t>
            </a:r>
            <a:r>
              <a:rPr lang="en-US" b="1" dirty="0"/>
              <a:t>Very Deep Convolutional Networks for Large-Scale Image Recognition</a:t>
            </a:r>
            <a:r>
              <a:rPr lang="en-US" dirty="0"/>
              <a:t>. </a:t>
            </a:r>
            <a:r>
              <a:rPr lang="en-US" dirty="0" err="1"/>
              <a:t>arXiv</a:t>
            </a:r>
            <a:r>
              <a:rPr lang="en-US" dirty="0"/>
              <a:t>  (2014) doi:10.48550/arXiv.1409.1556</a:t>
            </a:r>
            <a:endParaRPr lang="en-BE" dirty="0"/>
          </a:p>
        </p:txBody>
      </p:sp>
      <p:pic>
        <p:nvPicPr>
          <p:cNvPr id="8194" name="Picture 2" descr="卷积神经网络(CNN)系列介绍之一 (LeNet-5 / AlexNet / GoogLeNet / VGGNet / BNInception ...">
            <a:extLst>
              <a:ext uri="{FF2B5EF4-FFF2-40B4-BE49-F238E27FC236}">
                <a16:creationId xmlns:a16="http://schemas.microsoft.com/office/drawing/2014/main" id="{DC5BA7F4-DB4B-2B92-9E0D-BD88AF6793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9014" y="1269738"/>
            <a:ext cx="7672386" cy="4978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859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A0AFB-973D-8345-8E42-19236C102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05065-505B-27D8-52F8-CA86B4C91213}"/>
              </a:ext>
            </a:extLst>
          </p:cNvPr>
          <p:cNvSpPr>
            <a:spLocks noGrp="1"/>
          </p:cNvSpPr>
          <p:nvPr>
            <p:ph type="title"/>
          </p:nvPr>
        </p:nvSpPr>
        <p:spPr>
          <a:xfrm>
            <a:off x="433633" y="365125"/>
            <a:ext cx="11324734" cy="830997"/>
          </a:xfrm>
        </p:spPr>
        <p:txBody>
          <a:bodyPr/>
          <a:lstStyle/>
          <a:p>
            <a:r>
              <a:rPr lang="en-US" b="1" dirty="0">
                <a:latin typeface="Corbel" panose="020B0503020204020204" pitchFamily="34" charset="0"/>
              </a:rPr>
              <a:t>Our dataset for this afternoon: Skin lesions with CNNs</a:t>
            </a:r>
            <a:br>
              <a:rPr lang="en-US" b="1" dirty="0">
                <a:latin typeface="Corbel" panose="020B0503020204020204" pitchFamily="34" charset="0"/>
              </a:rPr>
            </a:br>
            <a:r>
              <a:rPr lang="en-US" b="1" dirty="0">
                <a:latin typeface="Corbel" panose="020B0503020204020204" pitchFamily="34" charset="0"/>
              </a:rPr>
              <a:t>One of the first CNNs that reached expert-level performance</a:t>
            </a:r>
          </a:p>
        </p:txBody>
      </p:sp>
      <p:sp>
        <p:nvSpPr>
          <p:cNvPr id="4" name="Slide Number Placeholder 3">
            <a:extLst>
              <a:ext uri="{FF2B5EF4-FFF2-40B4-BE49-F238E27FC236}">
                <a16:creationId xmlns:a16="http://schemas.microsoft.com/office/drawing/2014/main" id="{CD31F000-F84D-5E4B-328B-6C19B53F8CE0}"/>
              </a:ext>
            </a:extLst>
          </p:cNvPr>
          <p:cNvSpPr>
            <a:spLocks noGrp="1"/>
          </p:cNvSpPr>
          <p:nvPr>
            <p:ph type="sldNum" sz="quarter" idx="12"/>
          </p:nvPr>
        </p:nvSpPr>
        <p:spPr/>
        <p:txBody>
          <a:bodyPr/>
          <a:lstStyle/>
          <a:p>
            <a:fld id="{94B3E216-A3C5-4E41-AE94-D003E76F1D3A}" type="slidenum">
              <a:rPr lang="en-US" smtClean="0"/>
              <a:pPr/>
              <a:t>17</a:t>
            </a:fld>
            <a:endParaRPr lang="en-US"/>
          </a:p>
        </p:txBody>
      </p:sp>
      <p:sp>
        <p:nvSpPr>
          <p:cNvPr id="3" name="Footer Placeholder 2">
            <a:extLst>
              <a:ext uri="{FF2B5EF4-FFF2-40B4-BE49-F238E27FC236}">
                <a16:creationId xmlns:a16="http://schemas.microsoft.com/office/drawing/2014/main" id="{5AA3066A-7FC9-93B2-7E40-C68848E577DD}"/>
              </a:ext>
            </a:extLst>
          </p:cNvPr>
          <p:cNvSpPr>
            <a:spLocks noGrp="1"/>
          </p:cNvSpPr>
          <p:nvPr>
            <p:ph type="ftr" sz="quarter" idx="11"/>
          </p:nvPr>
        </p:nvSpPr>
        <p:spPr/>
        <p:txBody>
          <a:bodyPr/>
          <a:lstStyle/>
          <a:p>
            <a:r>
              <a:rPr lang="en-US" dirty="0"/>
              <a:t>Esteva et al., Dermatologist-level classification of skin cancer with deep neural networks, Nature (2017)</a:t>
            </a:r>
          </a:p>
        </p:txBody>
      </p:sp>
      <p:pic>
        <p:nvPicPr>
          <p:cNvPr id="5" name="Afbeelding 4">
            <a:extLst>
              <a:ext uri="{FF2B5EF4-FFF2-40B4-BE49-F238E27FC236}">
                <a16:creationId xmlns:a16="http://schemas.microsoft.com/office/drawing/2014/main" id="{C6212B5A-FE48-4B58-90EA-776649964982}"/>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07987" y="1391982"/>
            <a:ext cx="3643301" cy="4790941"/>
          </a:xfrm>
          <a:prstGeom prst="rect">
            <a:avLst/>
          </a:prstGeom>
        </p:spPr>
      </p:pic>
      <p:pic>
        <p:nvPicPr>
          <p:cNvPr id="6" name="Afbeelding 6">
            <a:extLst>
              <a:ext uri="{FF2B5EF4-FFF2-40B4-BE49-F238E27FC236}">
                <a16:creationId xmlns:a16="http://schemas.microsoft.com/office/drawing/2014/main" id="{DCF6801F-F1E2-4B31-8B6B-6F232D9DA6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3695" y="1686396"/>
            <a:ext cx="7160318" cy="4202114"/>
          </a:xfrm>
          <a:prstGeom prst="rect">
            <a:avLst/>
          </a:prstGeom>
        </p:spPr>
      </p:pic>
    </p:spTree>
    <p:extLst>
      <p:ext uri="{BB962C8B-B14F-4D97-AF65-F5344CB8AC3E}">
        <p14:creationId xmlns:p14="http://schemas.microsoft.com/office/powerpoint/2010/main" val="2021803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BEC6F-9111-A6D1-1AF4-D576FEF82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0E768-EB37-B1FF-711B-2D88B097257D}"/>
              </a:ext>
            </a:extLst>
          </p:cNvPr>
          <p:cNvSpPr>
            <a:spLocks noGrp="1"/>
          </p:cNvSpPr>
          <p:nvPr>
            <p:ph type="title"/>
          </p:nvPr>
        </p:nvSpPr>
        <p:spPr>
          <a:xfrm>
            <a:off x="433633" y="365125"/>
            <a:ext cx="11324734" cy="830997"/>
          </a:xfrm>
        </p:spPr>
        <p:txBody>
          <a:bodyPr/>
          <a:lstStyle/>
          <a:p>
            <a:r>
              <a:rPr lang="en-US" b="1" dirty="0">
                <a:latin typeface="Corbel" panose="020B0503020204020204" pitchFamily="34" charset="0"/>
              </a:rPr>
              <a:t>Our dataset for this afternoon: Skin lesions with CNNs</a:t>
            </a:r>
            <a:br>
              <a:rPr lang="en-US" b="1" dirty="0">
                <a:latin typeface="Corbel" panose="020B0503020204020204" pitchFamily="34" charset="0"/>
              </a:rPr>
            </a:br>
            <a:r>
              <a:rPr lang="en-US" b="1" dirty="0">
                <a:latin typeface="Corbel" panose="020B0503020204020204" pitchFamily="34" charset="0"/>
              </a:rPr>
              <a:t>One of the first CNNs that reached expert-level performance</a:t>
            </a:r>
          </a:p>
        </p:txBody>
      </p:sp>
      <p:sp>
        <p:nvSpPr>
          <p:cNvPr id="4" name="Slide Number Placeholder 3">
            <a:extLst>
              <a:ext uri="{FF2B5EF4-FFF2-40B4-BE49-F238E27FC236}">
                <a16:creationId xmlns:a16="http://schemas.microsoft.com/office/drawing/2014/main" id="{F5568570-D55B-F486-B87F-529EAFE78FE1}"/>
              </a:ext>
            </a:extLst>
          </p:cNvPr>
          <p:cNvSpPr>
            <a:spLocks noGrp="1"/>
          </p:cNvSpPr>
          <p:nvPr>
            <p:ph type="sldNum" sz="quarter" idx="12"/>
          </p:nvPr>
        </p:nvSpPr>
        <p:spPr/>
        <p:txBody>
          <a:bodyPr/>
          <a:lstStyle/>
          <a:p>
            <a:fld id="{94B3E216-A3C5-4E41-AE94-D003E76F1D3A}" type="slidenum">
              <a:rPr lang="en-US" smtClean="0"/>
              <a:pPr/>
              <a:t>18</a:t>
            </a:fld>
            <a:endParaRPr lang="en-US"/>
          </a:p>
        </p:txBody>
      </p:sp>
      <p:sp>
        <p:nvSpPr>
          <p:cNvPr id="3" name="Footer Placeholder 2">
            <a:extLst>
              <a:ext uri="{FF2B5EF4-FFF2-40B4-BE49-F238E27FC236}">
                <a16:creationId xmlns:a16="http://schemas.microsoft.com/office/drawing/2014/main" id="{ECE85621-8AD0-EBD7-7F5C-96BD5DCE8AC1}"/>
              </a:ext>
            </a:extLst>
          </p:cNvPr>
          <p:cNvSpPr>
            <a:spLocks noGrp="1"/>
          </p:cNvSpPr>
          <p:nvPr>
            <p:ph type="ftr" sz="quarter" idx="11"/>
          </p:nvPr>
        </p:nvSpPr>
        <p:spPr/>
        <p:txBody>
          <a:bodyPr/>
          <a:lstStyle/>
          <a:p>
            <a:r>
              <a:rPr lang="en-US" dirty="0"/>
              <a:t>Esteva et al., Dermatologist-level classification of skin cancer with deep neural networks, Nature (2017)</a:t>
            </a:r>
          </a:p>
        </p:txBody>
      </p:sp>
      <p:pic>
        <p:nvPicPr>
          <p:cNvPr id="10242" name="Picture 2" descr="Figure 1: Deep CNN layout.">
            <a:extLst>
              <a:ext uri="{FF2B5EF4-FFF2-40B4-BE49-F238E27FC236}">
                <a16:creationId xmlns:a16="http://schemas.microsoft.com/office/drawing/2014/main" id="{F6B1CBDD-4FDC-54B6-87CC-A0B9114EFE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88" y="2369593"/>
            <a:ext cx="11376024" cy="2753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964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3A15E-986B-2BE7-368D-6FF2A5907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0E23E-897C-D518-9E74-3BA18E93E489}"/>
              </a:ext>
            </a:extLst>
          </p:cNvPr>
          <p:cNvSpPr>
            <a:spLocks noGrp="1"/>
          </p:cNvSpPr>
          <p:nvPr>
            <p:ph type="title"/>
          </p:nvPr>
        </p:nvSpPr>
        <p:spPr>
          <a:xfrm>
            <a:off x="433633" y="365125"/>
            <a:ext cx="11324734" cy="830997"/>
          </a:xfrm>
        </p:spPr>
        <p:txBody>
          <a:bodyPr/>
          <a:lstStyle/>
          <a:p>
            <a:r>
              <a:rPr lang="en-US" b="1" dirty="0">
                <a:latin typeface="Corbel" panose="020B0503020204020204" pitchFamily="34" charset="0"/>
              </a:rPr>
              <a:t>Our dataset for this afternoon: Skin lesions with CNNs</a:t>
            </a:r>
            <a:br>
              <a:rPr lang="en-US" b="1" dirty="0">
                <a:latin typeface="Corbel" panose="020B0503020204020204" pitchFamily="34" charset="0"/>
              </a:rPr>
            </a:br>
            <a:r>
              <a:rPr lang="en-US" b="1" dirty="0">
                <a:latin typeface="Corbel" panose="020B0503020204020204" pitchFamily="34" charset="0"/>
              </a:rPr>
              <a:t>One of the first CNNs that reached expert-level performance</a:t>
            </a:r>
          </a:p>
        </p:txBody>
      </p:sp>
      <p:sp>
        <p:nvSpPr>
          <p:cNvPr id="4" name="Slide Number Placeholder 3">
            <a:extLst>
              <a:ext uri="{FF2B5EF4-FFF2-40B4-BE49-F238E27FC236}">
                <a16:creationId xmlns:a16="http://schemas.microsoft.com/office/drawing/2014/main" id="{5703657A-D6CD-8F68-F9D4-3BE030C4C363}"/>
              </a:ext>
            </a:extLst>
          </p:cNvPr>
          <p:cNvSpPr>
            <a:spLocks noGrp="1"/>
          </p:cNvSpPr>
          <p:nvPr>
            <p:ph type="sldNum" sz="quarter" idx="12"/>
          </p:nvPr>
        </p:nvSpPr>
        <p:spPr/>
        <p:txBody>
          <a:bodyPr/>
          <a:lstStyle/>
          <a:p>
            <a:fld id="{94B3E216-A3C5-4E41-AE94-D003E76F1D3A}" type="slidenum">
              <a:rPr lang="en-US" smtClean="0"/>
              <a:pPr/>
              <a:t>19</a:t>
            </a:fld>
            <a:endParaRPr lang="en-US"/>
          </a:p>
        </p:txBody>
      </p:sp>
      <p:sp>
        <p:nvSpPr>
          <p:cNvPr id="3" name="Footer Placeholder 2">
            <a:extLst>
              <a:ext uri="{FF2B5EF4-FFF2-40B4-BE49-F238E27FC236}">
                <a16:creationId xmlns:a16="http://schemas.microsoft.com/office/drawing/2014/main" id="{4C1171E2-0A29-E0DD-0EDC-EE89A4B14C79}"/>
              </a:ext>
            </a:extLst>
          </p:cNvPr>
          <p:cNvSpPr>
            <a:spLocks noGrp="1"/>
          </p:cNvSpPr>
          <p:nvPr>
            <p:ph type="ftr" sz="quarter" idx="11"/>
          </p:nvPr>
        </p:nvSpPr>
        <p:spPr/>
        <p:txBody>
          <a:bodyPr/>
          <a:lstStyle/>
          <a:p>
            <a:r>
              <a:rPr lang="en-US" dirty="0"/>
              <a:t>Esteva et al., Dermatologist-level classification of skin cancer with deep neural networks, Nature (2017)</a:t>
            </a:r>
          </a:p>
        </p:txBody>
      </p:sp>
      <p:pic>
        <p:nvPicPr>
          <p:cNvPr id="7" name="Picture 6">
            <a:extLst>
              <a:ext uri="{FF2B5EF4-FFF2-40B4-BE49-F238E27FC236}">
                <a16:creationId xmlns:a16="http://schemas.microsoft.com/office/drawing/2014/main" id="{663497A3-2DCD-47BE-93FA-E7CEFDF30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396" y="1956360"/>
            <a:ext cx="10225208" cy="3478679"/>
          </a:xfrm>
          <a:prstGeom prst="rect">
            <a:avLst/>
          </a:prstGeom>
        </p:spPr>
      </p:pic>
    </p:spTree>
    <p:extLst>
      <p:ext uri="{BB962C8B-B14F-4D97-AF65-F5344CB8AC3E}">
        <p14:creationId xmlns:p14="http://schemas.microsoft.com/office/powerpoint/2010/main" val="2630662587"/>
      </p:ext>
    </p:extLst>
  </p:cSld>
  <p:clrMapOvr>
    <a:masterClrMapping/>
  </p:clrMapOvr>
</p:sld>
</file>

<file path=ppt/theme/theme1.xml><?xml version="1.0" encoding="utf-8"?>
<a:theme xmlns:a="http://schemas.openxmlformats.org/drawingml/2006/main" name="1_Office Theme">
  <a:themeElements>
    <a:clrScheme name="CompOmics">
      <a:dk1>
        <a:srgbClr val="1B2944"/>
      </a:dk1>
      <a:lt1>
        <a:sysClr val="window" lastClr="FFFFFF"/>
      </a:lt1>
      <a:dk2>
        <a:srgbClr val="1B2944"/>
      </a:dk2>
      <a:lt2>
        <a:srgbClr val="FFFFFF"/>
      </a:lt2>
      <a:accent1>
        <a:srgbClr val="417ECE"/>
      </a:accent1>
      <a:accent2>
        <a:srgbClr val="C96461"/>
      </a:accent2>
      <a:accent3>
        <a:srgbClr val="59AD5D"/>
      </a:accent3>
      <a:accent4>
        <a:srgbClr val="DDAE56"/>
      </a:accent4>
      <a:accent5>
        <a:srgbClr val="53C7C5"/>
      </a:accent5>
      <a:accent6>
        <a:srgbClr val="9976B7"/>
      </a:accent6>
      <a:hlink>
        <a:srgbClr val="5DB7B1"/>
      </a:hlink>
      <a:folHlink>
        <a:srgbClr val="5DB7B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0FA6BB9-2591-40EC-BA1E-7364BEFA7918}" vid="{CD9236EE-BB87-4AEE-9BD4-75EDF93FC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92DD177-769E-476C-8AD6-B7077CC59EBF}">
  <we:reference id="wa200006038" version="1.0.0.4" store="en-US" storeType="OMEX"/>
  <we:alternateReferences>
    <we:reference id="wa200006038" version="1.0.0.4" store="en-US" storeType="OMEX"/>
  </we:alternateReferences>
  <we:properties>
    <we:property name="has-user-completed-add" value="true"/>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docProps/app.xml><?xml version="1.0" encoding="utf-8"?>
<Properties xmlns="http://schemas.openxmlformats.org/officeDocument/2006/extended-properties" xmlns:vt="http://schemas.openxmlformats.org/officeDocument/2006/docPropsVTypes">
  <Template/>
  <TotalTime>5</TotalTime>
  <Words>1795</Words>
  <Application>Microsoft Office PowerPoint</Application>
  <PresentationFormat>Widescreen</PresentationFormat>
  <Paragraphs>121</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 SemiBold</vt:lpstr>
      <vt:lpstr>Corbel</vt:lpstr>
      <vt:lpstr>Cambria Math</vt:lpstr>
      <vt:lpstr>Aptos</vt:lpstr>
      <vt:lpstr>Open Sans SemiBold</vt:lpstr>
      <vt:lpstr>Arial</vt:lpstr>
      <vt:lpstr>1_Office Theme</vt:lpstr>
      <vt:lpstr>There are various prediction tasks in computer vision: Classification</vt:lpstr>
      <vt:lpstr>There are various prediction tasks in computer vision: Detection &amp; segmentation</vt:lpstr>
      <vt:lpstr>There are various prediction tasks in computer vision: Object detection</vt:lpstr>
      <vt:lpstr>There are various prediction tasks in computer vision: Object tracking</vt:lpstr>
      <vt:lpstr>Methods before CNNs involved manual feature extraction</vt:lpstr>
      <vt:lpstr>What if neural networks could learn visual patterns instead?</vt:lpstr>
      <vt:lpstr>Image recognition must be robust against variances</vt:lpstr>
      <vt:lpstr>A regular neural network requires flattening of the 2D image, rendering the model not robust against translation invariance</vt:lpstr>
      <vt:lpstr>Kernels (aka filters) solve the problem of translation invariance</vt:lpstr>
      <vt:lpstr>Kernels (aka filters) solve the problem of translation invariance</vt:lpstr>
      <vt:lpstr>Kernels, simplified</vt:lpstr>
      <vt:lpstr>In CNNs, kernels values are learnable parameters of the model</vt:lpstr>
      <vt:lpstr>Multiple convolutions can be stacked in layers</vt:lpstr>
      <vt:lpstr>Pooling operations downscale the feature map (or image)</vt:lpstr>
      <vt:lpstr>Some noteworthy architectures throughout the years… LeNet introduced end-to-end CNN-based image recognition</vt:lpstr>
      <vt:lpstr>Some noteworthy architectures throughout the years… VGG showed that deeper CNNs greatly improved accuracy</vt:lpstr>
      <vt:lpstr>Our dataset for this afternoon: Skin lesions with CNNs One of the first CNNs that reached expert-level performance</vt:lpstr>
      <vt:lpstr>Our dataset for this afternoon: Skin lesions with CNNs One of the first CNNs that reached expert-level performance</vt:lpstr>
      <vt:lpstr>Our dataset for this afternoon: Skin lesions with CNNs One of the first CNNs that reached expert-level 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Ralf Gabriels</dc:creator>
  <cp:lastModifiedBy>Robbin Bouwmeester</cp:lastModifiedBy>
  <cp:revision>1</cp:revision>
  <cp:lastPrinted>2026-03-06T15:26:27Z</cp:lastPrinted>
  <dcterms:created xsi:type="dcterms:W3CDTF">2026-03-09T15:36:39Z</dcterms:created>
  <dcterms:modified xsi:type="dcterms:W3CDTF">2026-10-20T12:10:36Z</dcterms:modified>
  <cp:contentStatus/>
</cp:coreProperties>
</file>